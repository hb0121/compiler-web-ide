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69"/>
  </p:notesMasterIdLst>
  <p:sldIdLst>
    <p:sldId id="256" r:id="rId2"/>
    <p:sldId id="307" r:id="rId3"/>
    <p:sldId id="435" r:id="rId4"/>
    <p:sldId id="308" r:id="rId5"/>
    <p:sldId id="437" r:id="rId6"/>
    <p:sldId id="436" r:id="rId7"/>
    <p:sldId id="440" r:id="rId8"/>
    <p:sldId id="442" r:id="rId9"/>
    <p:sldId id="443" r:id="rId10"/>
    <p:sldId id="309" r:id="rId11"/>
    <p:sldId id="313" r:id="rId12"/>
    <p:sldId id="314" r:id="rId13"/>
    <p:sldId id="315" r:id="rId14"/>
    <p:sldId id="316" r:id="rId15"/>
    <p:sldId id="317" r:id="rId16"/>
    <p:sldId id="318" r:id="rId17"/>
    <p:sldId id="319" r:id="rId18"/>
    <p:sldId id="320" r:id="rId19"/>
    <p:sldId id="321" r:id="rId20"/>
    <p:sldId id="322" r:id="rId21"/>
    <p:sldId id="323" r:id="rId22"/>
    <p:sldId id="324" r:id="rId23"/>
    <p:sldId id="325" r:id="rId24"/>
    <p:sldId id="326" r:id="rId25"/>
    <p:sldId id="327" r:id="rId26"/>
    <p:sldId id="328" r:id="rId27"/>
    <p:sldId id="434" r:id="rId28"/>
    <p:sldId id="433" r:id="rId29"/>
    <p:sldId id="329" r:id="rId30"/>
    <p:sldId id="330" r:id="rId31"/>
    <p:sldId id="444" r:id="rId32"/>
    <p:sldId id="331" r:id="rId33"/>
    <p:sldId id="332" r:id="rId34"/>
    <p:sldId id="446" r:id="rId35"/>
    <p:sldId id="333" r:id="rId36"/>
    <p:sldId id="334" r:id="rId37"/>
    <p:sldId id="336" r:id="rId38"/>
    <p:sldId id="335" r:id="rId39"/>
    <p:sldId id="337" r:id="rId40"/>
    <p:sldId id="338" r:id="rId41"/>
    <p:sldId id="448" r:id="rId42"/>
    <p:sldId id="340" r:id="rId43"/>
    <p:sldId id="339" r:id="rId44"/>
    <p:sldId id="341" r:id="rId45"/>
    <p:sldId id="342" r:id="rId46"/>
    <p:sldId id="449" r:id="rId47"/>
    <p:sldId id="343" r:id="rId48"/>
    <p:sldId id="452" r:id="rId49"/>
    <p:sldId id="344" r:id="rId50"/>
    <p:sldId id="345" r:id="rId51"/>
    <p:sldId id="450" r:id="rId52"/>
    <p:sldId id="346" r:id="rId53"/>
    <p:sldId id="347" r:id="rId54"/>
    <p:sldId id="348" r:id="rId55"/>
    <p:sldId id="462" r:id="rId56"/>
    <p:sldId id="463" r:id="rId57"/>
    <p:sldId id="464" r:id="rId58"/>
    <p:sldId id="465" r:id="rId59"/>
    <p:sldId id="466" r:id="rId60"/>
    <p:sldId id="349" r:id="rId61"/>
    <p:sldId id="350" r:id="rId62"/>
    <p:sldId id="453" r:id="rId63"/>
    <p:sldId id="352" r:id="rId64"/>
    <p:sldId id="357" r:id="rId65"/>
    <p:sldId id="358" r:id="rId66"/>
    <p:sldId id="359" r:id="rId67"/>
    <p:sldId id="507" r:id="rId68"/>
    <p:sldId id="454" r:id="rId69"/>
    <p:sldId id="360" r:id="rId70"/>
    <p:sldId id="458" r:id="rId71"/>
    <p:sldId id="459" r:id="rId72"/>
    <p:sldId id="362" r:id="rId73"/>
    <p:sldId id="517" r:id="rId74"/>
    <p:sldId id="455" r:id="rId75"/>
    <p:sldId id="469" r:id="rId76"/>
    <p:sldId id="364" r:id="rId77"/>
    <p:sldId id="365" r:id="rId78"/>
    <p:sldId id="470" r:id="rId79"/>
    <p:sldId id="366" r:id="rId80"/>
    <p:sldId id="367" r:id="rId81"/>
    <p:sldId id="368" r:id="rId82"/>
    <p:sldId id="471" r:id="rId83"/>
    <p:sldId id="369" r:id="rId84"/>
    <p:sldId id="370" r:id="rId85"/>
    <p:sldId id="372" r:id="rId86"/>
    <p:sldId id="371" r:id="rId87"/>
    <p:sldId id="373" r:id="rId88"/>
    <p:sldId id="375" r:id="rId89"/>
    <p:sldId id="374" r:id="rId90"/>
    <p:sldId id="376" r:id="rId91"/>
    <p:sldId id="377" r:id="rId92"/>
    <p:sldId id="472" r:id="rId93"/>
    <p:sldId id="378" r:id="rId94"/>
    <p:sldId id="380" r:id="rId95"/>
    <p:sldId id="379" r:id="rId96"/>
    <p:sldId id="501" r:id="rId97"/>
    <p:sldId id="502" r:id="rId98"/>
    <p:sldId id="473" r:id="rId99"/>
    <p:sldId id="382" r:id="rId100"/>
    <p:sldId id="381" r:id="rId101"/>
    <p:sldId id="383" r:id="rId102"/>
    <p:sldId id="384" r:id="rId103"/>
    <p:sldId id="385" r:id="rId104"/>
    <p:sldId id="386" r:id="rId105"/>
    <p:sldId id="474" r:id="rId106"/>
    <p:sldId id="389" r:id="rId107"/>
    <p:sldId id="390" r:id="rId108"/>
    <p:sldId id="391" r:id="rId109"/>
    <p:sldId id="476" r:id="rId110"/>
    <p:sldId id="392" r:id="rId111"/>
    <p:sldId id="475" r:id="rId112"/>
    <p:sldId id="477" r:id="rId113"/>
    <p:sldId id="393" r:id="rId114"/>
    <p:sldId id="394" r:id="rId115"/>
    <p:sldId id="395" r:id="rId116"/>
    <p:sldId id="503" r:id="rId117"/>
    <p:sldId id="478" r:id="rId118"/>
    <p:sldId id="397" r:id="rId119"/>
    <p:sldId id="398" r:id="rId120"/>
    <p:sldId id="480" r:id="rId121"/>
    <p:sldId id="481" r:id="rId122"/>
    <p:sldId id="399" r:id="rId123"/>
    <p:sldId id="482" r:id="rId124"/>
    <p:sldId id="483" r:id="rId125"/>
    <p:sldId id="401" r:id="rId126"/>
    <p:sldId id="484" r:id="rId127"/>
    <p:sldId id="402" r:id="rId128"/>
    <p:sldId id="486" r:id="rId129"/>
    <p:sldId id="403" r:id="rId130"/>
    <p:sldId id="488" r:id="rId131"/>
    <p:sldId id="404" r:id="rId132"/>
    <p:sldId id="405" r:id="rId133"/>
    <p:sldId id="406" r:id="rId134"/>
    <p:sldId id="489" r:id="rId135"/>
    <p:sldId id="407" r:id="rId136"/>
    <p:sldId id="490" r:id="rId137"/>
    <p:sldId id="408" r:id="rId138"/>
    <p:sldId id="409" r:id="rId139"/>
    <p:sldId id="410" r:id="rId140"/>
    <p:sldId id="491" r:id="rId141"/>
    <p:sldId id="493" r:id="rId142"/>
    <p:sldId id="411" r:id="rId143"/>
    <p:sldId id="412" r:id="rId144"/>
    <p:sldId id="413" r:id="rId145"/>
    <p:sldId id="414" r:id="rId146"/>
    <p:sldId id="492" r:id="rId147"/>
    <p:sldId id="494" r:id="rId148"/>
    <p:sldId id="415" r:id="rId149"/>
    <p:sldId id="416" r:id="rId150"/>
    <p:sldId id="417" r:id="rId151"/>
    <p:sldId id="418" r:id="rId152"/>
    <p:sldId id="419" r:id="rId153"/>
    <p:sldId id="420" r:id="rId154"/>
    <p:sldId id="496" r:id="rId155"/>
    <p:sldId id="421" r:id="rId156"/>
    <p:sldId id="422" r:id="rId157"/>
    <p:sldId id="423" r:id="rId158"/>
    <p:sldId id="424" r:id="rId159"/>
    <p:sldId id="425" r:id="rId160"/>
    <p:sldId id="500" r:id="rId161"/>
    <p:sldId id="426" r:id="rId162"/>
    <p:sldId id="428" r:id="rId163"/>
    <p:sldId id="427" r:id="rId164"/>
    <p:sldId id="429" r:id="rId165"/>
    <p:sldId id="498" r:id="rId166"/>
    <p:sldId id="430" r:id="rId167"/>
    <p:sldId id="431" r:id="rId168"/>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FF"/>
    <a:srgbClr val="0000FF"/>
    <a:srgbClr val="D0EBB3"/>
    <a:srgbClr val="DFF1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1" autoAdjust="0"/>
    <p:restoredTop sz="93447" autoAdjust="0"/>
  </p:normalViewPr>
  <p:slideViewPr>
    <p:cSldViewPr>
      <p:cViewPr varScale="1">
        <p:scale>
          <a:sx n="81" d="100"/>
          <a:sy n="81" d="100"/>
        </p:scale>
        <p:origin x="82" y="11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image" Target="../media/image40.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47.png"/></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image" Target="../media/image53.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5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3FB6CE-4A83-4EA5-8A28-5A2599315B17}" type="datetimeFigureOut">
              <a:rPr lang="zh-CN" altLang="en-US" smtClean="0"/>
              <a:t>2026/4/14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99E8391-A7AA-438B-8953-8185EA502C58}" type="slidenum">
              <a:rPr lang="zh-CN" altLang="en-US" smtClean="0"/>
              <a:t>‹#›</a:t>
            </a:fld>
            <a:endParaRPr lang="zh-CN" altLang="en-US"/>
          </a:p>
        </p:txBody>
      </p:sp>
    </p:spTree>
    <p:extLst>
      <p:ext uri="{BB962C8B-B14F-4D97-AF65-F5344CB8AC3E}">
        <p14:creationId xmlns:p14="http://schemas.microsoft.com/office/powerpoint/2010/main" val="3539896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85D6833B-344E-4E8C-94BF-7FC0142499E5}" type="slidenum">
              <a:rPr lang="en-US" altLang="zh-CN" smtClean="0"/>
              <a:pPr>
                <a:spcBef>
                  <a:spcPct val="0"/>
                </a:spcBef>
              </a:pPr>
              <a:t>2</a:t>
            </a:fld>
            <a:endParaRPr lang="en-US" altLang="zh-CN"/>
          </a:p>
        </p:txBody>
      </p:sp>
      <p:sp>
        <p:nvSpPr>
          <p:cNvPr id="133123" name="Rectangle 2"/>
          <p:cNvSpPr>
            <a:spLocks noGrp="1" noRot="1" noChangeAspect="1" noChangeArrowheads="1" noTextEdit="1"/>
          </p:cNvSpPr>
          <p:nvPr>
            <p:ph type="sldImg"/>
          </p:nvPr>
        </p:nvSpPr>
        <p:spPr>
          <a:ln cap="flat"/>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84AC38B9-7E0E-4AE7-8E58-B7FCFD5D81A8}" type="slidenum">
              <a:rPr lang="en-US" altLang="zh-CN" smtClean="0"/>
              <a:pPr>
                <a:spcBef>
                  <a:spcPct val="0"/>
                </a:spcBef>
              </a:pPr>
              <a:t>4</a:t>
            </a:fld>
            <a:endParaRPr lang="en-US" altLang="zh-CN"/>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5747AFA-4663-45E7-9878-17225BA2801A}" type="slidenum">
              <a:rPr lang="en-US" altLang="zh-CN" smtClean="0"/>
              <a:pPr>
                <a:spcBef>
                  <a:spcPct val="0"/>
                </a:spcBef>
              </a:pPr>
              <a:t>10</a:t>
            </a:fld>
            <a:endParaRPr lang="en-US" altLang="zh-CN"/>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5847DA7E-E413-4153-A85F-B15624CFEE32}" type="slidenum">
              <a:rPr lang="en-US" altLang="zh-CN" smtClean="0"/>
              <a:pPr>
                <a:spcBef>
                  <a:spcPct val="0"/>
                </a:spcBef>
              </a:pPr>
              <a:t>11</a:t>
            </a:fld>
            <a:endParaRPr lang="en-US" altLang="zh-CN"/>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595FD226-6D3B-4BC3-999F-97C24F9F6AFC}" type="slidenum">
              <a:rPr lang="en-US" altLang="zh-CN" smtClean="0"/>
              <a:pPr>
                <a:spcBef>
                  <a:spcPct val="0"/>
                </a:spcBef>
              </a:pPr>
              <a:t>12</a:t>
            </a:fld>
            <a:endParaRPr lang="en-US" altLang="zh-CN"/>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CE371F08-CA4E-4B93-9609-A093A0E60E23}" type="slidenum">
              <a:rPr lang="en-US" altLang="zh-CN" smtClean="0"/>
              <a:pPr>
                <a:spcBef>
                  <a:spcPct val="0"/>
                </a:spcBef>
              </a:pPr>
              <a:t>13</a:t>
            </a:fld>
            <a:endParaRPr lang="en-US" altLang="zh-CN"/>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81EDB502-EF9A-4FFF-9816-64C016F71479}" type="slidenum">
              <a:rPr lang="en-US" altLang="zh-CN" smtClean="0"/>
              <a:pPr>
                <a:spcBef>
                  <a:spcPct val="0"/>
                </a:spcBef>
              </a:pPr>
              <a:t>14</a:t>
            </a:fld>
            <a:endParaRPr lang="en-US" altLang="zh-CN"/>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6241CA59-A1A6-48F5-9B59-F0ECFD90DCB5}" type="slidenum">
              <a:rPr lang="en-US" altLang="zh-CN" smtClean="0"/>
              <a:pPr>
                <a:spcBef>
                  <a:spcPct val="0"/>
                </a:spcBef>
              </a:pPr>
              <a:t>16</a:t>
            </a:fld>
            <a:endParaRPr lang="en-US" altLang="zh-CN"/>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FE711964-E064-4399-A72D-C62DCFFC5AF1}" type="slidenum">
              <a:rPr lang="en-US" altLang="zh-CN" smtClean="0"/>
              <a:pPr>
                <a:spcBef>
                  <a:spcPct val="0"/>
                </a:spcBef>
              </a:pPr>
              <a:t>19</a:t>
            </a:fld>
            <a:endParaRPr lang="en-US" altLang="zh-CN"/>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E923C8E-4AEF-4F50-8276-73CC4A09B430}" type="slidenum">
              <a:rPr lang="en-US" altLang="zh-CN" smtClean="0"/>
              <a:pPr>
                <a:spcBef>
                  <a:spcPct val="0"/>
                </a:spcBef>
              </a:pPr>
              <a:t>26</a:t>
            </a:fld>
            <a:endParaRPr lang="en-US" altLang="zh-CN"/>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CC5485E2-496A-4006-9115-58075B1AF599}" type="slidenum">
              <a:rPr lang="en-US" altLang="zh-CN" smtClean="0"/>
              <a:pPr>
                <a:spcBef>
                  <a:spcPct val="0"/>
                </a:spcBef>
              </a:pPr>
              <a:t>29</a:t>
            </a:fld>
            <a:endParaRPr lang="en-US" altLang="zh-CN"/>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61F2AF22-D6DD-4415-A993-4A77EBD1F736}" type="slidenum">
              <a:rPr lang="en-US" altLang="zh-CN" smtClean="0"/>
              <a:pPr>
                <a:spcBef>
                  <a:spcPct val="0"/>
                </a:spcBef>
              </a:pPr>
              <a:t>30</a:t>
            </a:fld>
            <a:endParaRPr lang="en-US" altLang="zh-CN"/>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61F2AF22-D6DD-4415-A993-4A77EBD1F736}" type="slidenum">
              <a:rPr lang="en-US" altLang="zh-CN" smtClean="0"/>
              <a:pPr>
                <a:spcBef>
                  <a:spcPct val="0"/>
                </a:spcBef>
              </a:pPr>
              <a:t>31</a:t>
            </a:fld>
            <a:endParaRPr lang="en-US" altLang="zh-CN"/>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F4E07915-BCA4-447B-9F30-7E99381A8CC6}" type="slidenum">
              <a:rPr lang="en-US" altLang="zh-CN" smtClean="0"/>
              <a:pPr>
                <a:spcBef>
                  <a:spcPct val="0"/>
                </a:spcBef>
              </a:pPr>
              <a:t>32</a:t>
            </a:fld>
            <a:endParaRPr lang="en-US" altLang="zh-CN"/>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4F94CA32-BA95-4AEE-956D-FC93842E0300}" type="slidenum">
              <a:rPr lang="en-US" altLang="zh-CN" smtClean="0"/>
              <a:pPr>
                <a:spcBef>
                  <a:spcPct val="0"/>
                </a:spcBef>
              </a:pPr>
              <a:t>36</a:t>
            </a:fld>
            <a:endParaRPr lang="en-US" altLang="zh-CN"/>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E674B059-8BD1-4BA0-8DB6-B2DB9D5056FA}" type="slidenum">
              <a:rPr lang="en-US" altLang="zh-CN" smtClean="0"/>
              <a:pPr>
                <a:spcBef>
                  <a:spcPct val="0"/>
                </a:spcBef>
              </a:pPr>
              <a:t>37</a:t>
            </a:fld>
            <a:endParaRPr lang="en-US" altLang="zh-CN"/>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4A9263C3-BA45-4011-AA09-0DC899C3F4F3}" type="slidenum">
              <a:rPr lang="en-US" altLang="zh-CN" smtClean="0"/>
              <a:pPr>
                <a:spcBef>
                  <a:spcPct val="0"/>
                </a:spcBef>
              </a:pPr>
              <a:t>40</a:t>
            </a:fld>
            <a:endParaRPr lang="en-US" altLang="zh-CN"/>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9A65DA25-267B-4DB2-9C48-2D7A2C90CDB9}" type="slidenum">
              <a:rPr lang="en-US" altLang="zh-CN" smtClean="0"/>
              <a:pPr>
                <a:spcBef>
                  <a:spcPct val="0"/>
                </a:spcBef>
              </a:pPr>
              <a:t>42</a:t>
            </a:fld>
            <a:endParaRPr lang="en-US" altLang="zh-CN"/>
          </a:p>
        </p:txBody>
      </p:sp>
      <p:sp>
        <p:nvSpPr>
          <p:cNvPr id="153603" name="Rectangle 2"/>
          <p:cNvSpPr>
            <a:spLocks noGrp="1" noRot="1" noChangeAspect="1" noChangeArrowheads="1" noTextEdit="1"/>
          </p:cNvSpPr>
          <p:nvPr>
            <p:ph type="sldImg"/>
          </p:nvPr>
        </p:nvSpPr>
        <p:spPr>
          <a:ln cap="flat"/>
        </p:spPr>
      </p:sp>
      <p:sp>
        <p:nvSpPr>
          <p:cNvPr id="153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7411EF59-74FB-47AF-8C52-F8190B51314F}" type="slidenum">
              <a:rPr lang="en-US" altLang="zh-CN" smtClean="0"/>
              <a:pPr>
                <a:spcBef>
                  <a:spcPct val="0"/>
                </a:spcBef>
              </a:pPr>
              <a:t>43</a:t>
            </a:fld>
            <a:endParaRPr lang="en-US" altLang="zh-CN"/>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DE1B3ACA-72D2-46BD-802B-F89ECF01A84E}" type="slidenum">
              <a:rPr lang="en-US" altLang="zh-CN" smtClean="0"/>
              <a:pPr>
                <a:spcBef>
                  <a:spcPct val="0"/>
                </a:spcBef>
              </a:pPr>
              <a:t>54</a:t>
            </a:fld>
            <a:endParaRPr lang="en-US" altLang="zh-CN"/>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40CE8D8D-0E07-4343-80BD-26269748C42A}" type="slidenum">
              <a:rPr lang="en-US" altLang="zh-CN" smtClean="0"/>
              <a:pPr>
                <a:spcBef>
                  <a:spcPct val="0"/>
                </a:spcBef>
              </a:pPr>
              <a:t>60</a:t>
            </a:fld>
            <a:endParaRPr lang="en-US" altLang="zh-CN"/>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0B07A128-CDD5-462B-BAF1-E8A1D9063002}" type="slidenum">
              <a:rPr lang="en-US" altLang="zh-CN" smtClean="0"/>
              <a:pPr>
                <a:spcBef>
                  <a:spcPct val="0"/>
                </a:spcBef>
              </a:pPr>
              <a:t>61</a:t>
            </a:fld>
            <a:endParaRPr lang="en-US" altLang="zh-CN"/>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2"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64CB77DC-56FC-4F82-9F25-53AFB121024E}" type="slidenum">
              <a:rPr lang="en-US" altLang="zh-CN" smtClean="0"/>
              <a:pPr>
                <a:spcBef>
                  <a:spcPct val="0"/>
                </a:spcBef>
              </a:pPr>
              <a:t>62</a:t>
            </a:fld>
            <a:endParaRPr lang="en-US" altLang="zh-CN"/>
          </a:p>
        </p:txBody>
      </p:sp>
      <p:sp>
        <p:nvSpPr>
          <p:cNvPr id="1048913" name="Rectangle 2"/>
          <p:cNvSpPr>
            <a:spLocks noGrp="1" noRot="1" noChangeAspect="1" noChangeArrowheads="1" noTextEdit="1"/>
          </p:cNvSpPr>
          <p:nvPr>
            <p:ph type="sldImg"/>
          </p:nvPr>
        </p:nvSpPr>
        <p:spPr/>
      </p:sp>
      <p:sp>
        <p:nvSpPr>
          <p:cNvPr id="104891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B32C406-DA73-4F16-9309-6375F28043B2}" type="slidenum">
              <a:rPr lang="en-US" altLang="zh-CN" smtClean="0"/>
              <a:pPr>
                <a:spcBef>
                  <a:spcPct val="0"/>
                </a:spcBef>
              </a:pPr>
              <a:t>63</a:t>
            </a:fld>
            <a:endParaRPr lang="en-US" altLang="zh-CN"/>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3B059F46-FE73-4661-9093-4341DAC58B2D}" type="slidenum">
              <a:rPr lang="en-US" altLang="zh-CN" smtClean="0"/>
              <a:pPr>
                <a:spcBef>
                  <a:spcPct val="0"/>
                </a:spcBef>
              </a:pPr>
              <a:t>64</a:t>
            </a:fld>
            <a:endParaRPr lang="en-US" altLang="zh-CN"/>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8D8F1EBF-9964-4749-B734-2BF2BB3A9E92}" type="slidenum">
              <a:rPr lang="en-US" altLang="zh-CN" smtClean="0"/>
              <a:pPr>
                <a:spcBef>
                  <a:spcPct val="0"/>
                </a:spcBef>
              </a:pPr>
              <a:t>65</a:t>
            </a:fld>
            <a:endParaRPr lang="en-US" altLang="zh-CN"/>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58A71607-1480-4B88-B455-AFC54F6D7341}" type="slidenum">
              <a:rPr lang="en-US" altLang="zh-CN" smtClean="0"/>
              <a:pPr>
                <a:spcBef>
                  <a:spcPct val="0"/>
                </a:spcBef>
              </a:pPr>
              <a:t>66</a:t>
            </a:fld>
            <a:endParaRPr lang="en-US" altLang="zh-CN"/>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1271BA17-6E35-4415-9FE6-031AE6AA367F}" type="slidenum">
              <a:rPr lang="en-US" altLang="zh-CN" smtClean="0"/>
              <a:pPr>
                <a:spcBef>
                  <a:spcPct val="0"/>
                </a:spcBef>
              </a:pPr>
              <a:t>76</a:t>
            </a:fld>
            <a:endParaRPr lang="en-US" altLang="zh-CN"/>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DA3FF4E0-F13E-486F-8DE8-CB2FD1B992FE}" type="slidenum">
              <a:rPr lang="en-US" altLang="zh-CN" smtClean="0"/>
              <a:pPr>
                <a:spcBef>
                  <a:spcPct val="0"/>
                </a:spcBef>
              </a:pPr>
              <a:t>77</a:t>
            </a:fld>
            <a:endParaRPr lang="en-US" altLang="zh-CN"/>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6E2635EE-09B6-40AB-B045-8468DAE943B5}" type="slidenum">
              <a:rPr lang="en-US" altLang="zh-CN" smtClean="0"/>
              <a:pPr>
                <a:spcBef>
                  <a:spcPct val="0"/>
                </a:spcBef>
              </a:pPr>
              <a:t>79</a:t>
            </a:fld>
            <a:endParaRPr lang="en-US" altLang="zh-CN"/>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17655910-244C-46CD-B6F8-D24D5BE9D335}" type="slidenum">
              <a:rPr lang="en-US" altLang="zh-CN" smtClean="0"/>
              <a:pPr>
                <a:spcBef>
                  <a:spcPct val="0"/>
                </a:spcBef>
              </a:pPr>
              <a:t>81</a:t>
            </a:fld>
            <a:endParaRPr lang="en-US" altLang="zh-CN"/>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964D6FA6-19A7-4FE3-8DAD-4B0676572C96}" type="slidenum">
              <a:rPr lang="en-US" altLang="zh-CN" smtClean="0"/>
              <a:pPr>
                <a:spcBef>
                  <a:spcPct val="0"/>
                </a:spcBef>
              </a:pPr>
              <a:t>83</a:t>
            </a:fld>
            <a:endParaRPr lang="en-US" altLang="zh-CN"/>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6120AD1-EAAC-45F1-B81B-F966BF4D46F7}" type="slidenum">
              <a:rPr lang="en-US" altLang="zh-CN" smtClean="0"/>
              <a:pPr>
                <a:spcBef>
                  <a:spcPct val="0"/>
                </a:spcBef>
              </a:pPr>
              <a:t>84</a:t>
            </a:fld>
            <a:endParaRPr lang="en-US" altLang="zh-CN"/>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ED329F65-F034-4DAC-A1AA-844AB9A725D5}" type="slidenum">
              <a:rPr lang="en-US" altLang="zh-CN" smtClean="0"/>
              <a:pPr>
                <a:spcBef>
                  <a:spcPct val="0"/>
                </a:spcBef>
              </a:pPr>
              <a:t>91</a:t>
            </a:fld>
            <a:endParaRPr lang="en-US" altLang="zh-CN"/>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99E8391-A7AA-438B-8953-8185EA502C58}" type="slidenum">
              <a:rPr lang="zh-CN" altLang="en-US" smtClean="0"/>
              <a:t>94</a:t>
            </a:fld>
            <a:endParaRPr lang="zh-CN" altLang="en-US"/>
          </a:p>
        </p:txBody>
      </p:sp>
    </p:spTree>
    <p:extLst>
      <p:ext uri="{BB962C8B-B14F-4D97-AF65-F5344CB8AC3E}">
        <p14:creationId xmlns:p14="http://schemas.microsoft.com/office/powerpoint/2010/main" val="31787051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99E8391-A7AA-438B-8953-8185EA502C58}" type="slidenum">
              <a:rPr lang="zh-CN" altLang="en-US" smtClean="0"/>
              <a:t>96</a:t>
            </a:fld>
            <a:endParaRPr lang="zh-CN" altLang="en-US"/>
          </a:p>
        </p:txBody>
      </p:sp>
    </p:spTree>
    <p:extLst>
      <p:ext uri="{BB962C8B-B14F-4D97-AF65-F5344CB8AC3E}">
        <p14:creationId xmlns:p14="http://schemas.microsoft.com/office/powerpoint/2010/main" val="31787051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8A3E9229-021F-4344-817A-1A6B676978B0}" type="slidenum">
              <a:rPr lang="en-US" altLang="zh-CN" smtClean="0"/>
              <a:pPr>
                <a:spcBef>
                  <a:spcPct val="0"/>
                </a:spcBef>
              </a:pPr>
              <a:t>101</a:t>
            </a:fld>
            <a:endParaRPr lang="en-US" altLang="zh-CN"/>
          </a:p>
        </p:txBody>
      </p:sp>
      <p:sp>
        <p:nvSpPr>
          <p:cNvPr id="173059" name="Rectangle 2"/>
          <p:cNvSpPr>
            <a:spLocks noGrp="1" noRot="1" noChangeAspect="1" noChangeArrowheads="1" noTextEdit="1"/>
          </p:cNvSpPr>
          <p:nvPr>
            <p:ph type="sldImg"/>
          </p:nvPr>
        </p:nvSpPr>
        <p:spPr>
          <a:ln/>
        </p:spPr>
      </p:sp>
      <p:sp>
        <p:nvSpPr>
          <p:cNvPr id="173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F51E6D88-A09F-44B9-8CF5-ABE80882225A}" type="slidenum">
              <a:rPr lang="en-US" altLang="zh-CN" smtClean="0"/>
              <a:pPr>
                <a:spcBef>
                  <a:spcPct val="0"/>
                </a:spcBef>
              </a:pPr>
              <a:t>102</a:t>
            </a:fld>
            <a:endParaRPr lang="en-US" altLang="zh-CN"/>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D71AEE0C-648A-40F3-ACC1-454DC560DEF7}" type="slidenum">
              <a:rPr lang="en-US" altLang="zh-CN" smtClean="0"/>
              <a:pPr>
                <a:spcBef>
                  <a:spcPct val="0"/>
                </a:spcBef>
              </a:pPr>
              <a:t>103</a:t>
            </a:fld>
            <a:endParaRPr lang="en-US" altLang="zh-CN"/>
          </a:p>
        </p:txBody>
      </p:sp>
      <p:sp>
        <p:nvSpPr>
          <p:cNvPr id="175107" name="Rectangle 2"/>
          <p:cNvSpPr>
            <a:spLocks noGrp="1" noRot="1" noChangeAspect="1" noChangeArrowheads="1" noTextEdit="1"/>
          </p:cNvSpPr>
          <p:nvPr>
            <p:ph type="sldImg"/>
          </p:nvPr>
        </p:nvSpPr>
        <p:spPr>
          <a:ln/>
        </p:spPr>
      </p:sp>
      <p:sp>
        <p:nvSpPr>
          <p:cNvPr id="175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9EA5C9B5-79BA-41C6-8506-8DA8D38CF8D4}" type="slidenum">
              <a:rPr lang="en-US" altLang="zh-CN" smtClean="0"/>
              <a:pPr>
                <a:spcBef>
                  <a:spcPct val="0"/>
                </a:spcBef>
              </a:pPr>
              <a:t>104</a:t>
            </a:fld>
            <a:endParaRPr lang="en-US" altLang="zh-CN"/>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171D1A00-6799-482D-A4E6-207EC8B6E391}" type="slidenum">
              <a:rPr lang="en-US" altLang="zh-CN" smtClean="0"/>
              <a:pPr>
                <a:spcBef>
                  <a:spcPct val="0"/>
                </a:spcBef>
              </a:pPr>
              <a:t>106</a:t>
            </a:fld>
            <a:endParaRPr lang="en-US" altLang="zh-CN"/>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43946B4F-4E0A-4C09-9350-E485E09EBFBE}" type="slidenum">
              <a:rPr lang="en-US" altLang="zh-CN" smtClean="0"/>
              <a:pPr>
                <a:spcBef>
                  <a:spcPct val="0"/>
                </a:spcBef>
              </a:pPr>
              <a:t>114</a:t>
            </a:fld>
            <a:endParaRPr lang="en-US" altLang="zh-CN"/>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C7B83D56-F748-4B61-9719-8A07BBED2580}" type="slidenum">
              <a:rPr lang="en-US" altLang="zh-CN" smtClean="0"/>
              <a:pPr>
                <a:spcBef>
                  <a:spcPct val="0"/>
                </a:spcBef>
              </a:pPr>
              <a:t>115</a:t>
            </a:fld>
            <a:endParaRPr lang="en-US" altLang="zh-CN"/>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C7B83D56-F748-4B61-9719-8A07BBED2580}" type="slidenum">
              <a:rPr lang="en-US" altLang="zh-CN" smtClean="0"/>
              <a:pPr>
                <a:spcBef>
                  <a:spcPct val="0"/>
                </a:spcBef>
              </a:pPr>
              <a:t>116</a:t>
            </a:fld>
            <a:endParaRPr lang="en-US" altLang="zh-CN"/>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D854042E-2CB9-4D98-ADBB-83C3AB120EF4}" type="slidenum">
              <a:rPr lang="en-US" altLang="zh-CN" smtClean="0"/>
              <a:pPr>
                <a:spcBef>
                  <a:spcPct val="0"/>
                </a:spcBef>
              </a:pPr>
              <a:t>118</a:t>
            </a:fld>
            <a:endParaRPr lang="en-US" altLang="zh-CN"/>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ED401CFA-F709-4F07-9D89-45B437F9195A}" type="slidenum">
              <a:rPr lang="en-US" altLang="zh-CN" smtClean="0"/>
              <a:pPr>
                <a:spcBef>
                  <a:spcPct val="0"/>
                </a:spcBef>
              </a:pPr>
              <a:t>119</a:t>
            </a:fld>
            <a:endParaRPr lang="en-US" altLang="zh-CN"/>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ED401CFA-F709-4F07-9D89-45B437F9195A}" type="slidenum">
              <a:rPr lang="en-US" altLang="zh-CN" smtClean="0"/>
              <a:pPr>
                <a:spcBef>
                  <a:spcPct val="0"/>
                </a:spcBef>
              </a:pPr>
              <a:t>120</a:t>
            </a:fld>
            <a:endParaRPr lang="en-US" altLang="zh-CN"/>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ED401CFA-F709-4F07-9D89-45B437F9195A}" type="slidenum">
              <a:rPr lang="en-US" altLang="zh-CN" smtClean="0"/>
              <a:pPr>
                <a:spcBef>
                  <a:spcPct val="0"/>
                </a:spcBef>
              </a:pPr>
              <a:t>121</a:t>
            </a:fld>
            <a:endParaRPr lang="en-US" altLang="zh-CN"/>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07364986-45A2-47F8-BEF4-9FA55082152C}" type="slidenum">
              <a:rPr lang="en-US" altLang="zh-CN" smtClean="0"/>
              <a:pPr>
                <a:spcBef>
                  <a:spcPct val="0"/>
                </a:spcBef>
              </a:pPr>
              <a:t>122</a:t>
            </a:fld>
            <a:endParaRPr lang="en-US" altLang="zh-CN"/>
          </a:p>
        </p:txBody>
      </p:sp>
      <p:sp>
        <p:nvSpPr>
          <p:cNvPr id="185347" name="Rectangle 2"/>
          <p:cNvSpPr>
            <a:spLocks noGrp="1" noRot="1" noChangeAspect="1" noChangeArrowheads="1" noTextEdit="1"/>
          </p:cNvSpPr>
          <p:nvPr>
            <p:ph type="sldImg"/>
          </p:nvPr>
        </p:nvSpPr>
        <p:spPr>
          <a:ln/>
        </p:spPr>
      </p:sp>
      <p:sp>
        <p:nvSpPr>
          <p:cNvPr id="185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6215E480-BC40-4D06-9437-0030A8FCF640}" type="slidenum">
              <a:rPr lang="en-US" altLang="zh-CN" smtClean="0"/>
              <a:pPr>
                <a:spcBef>
                  <a:spcPct val="0"/>
                </a:spcBef>
              </a:pPr>
              <a:t>123</a:t>
            </a:fld>
            <a:endParaRPr lang="en-US" altLang="zh-CN"/>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6215E480-BC40-4D06-9437-0030A8FCF640}" type="slidenum">
              <a:rPr lang="en-US" altLang="zh-CN" smtClean="0"/>
              <a:pPr>
                <a:spcBef>
                  <a:spcPct val="0"/>
                </a:spcBef>
              </a:pPr>
              <a:t>124</a:t>
            </a:fld>
            <a:endParaRPr lang="en-US" altLang="zh-CN"/>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4A266186-A88B-4832-B2AE-40A7301A70FC}" type="slidenum">
              <a:rPr lang="en-US" altLang="zh-CN" smtClean="0"/>
              <a:pPr>
                <a:spcBef>
                  <a:spcPct val="0"/>
                </a:spcBef>
              </a:pPr>
              <a:t>125</a:t>
            </a:fld>
            <a:endParaRPr lang="en-US" altLang="zh-CN"/>
          </a:p>
        </p:txBody>
      </p:sp>
      <p:sp>
        <p:nvSpPr>
          <p:cNvPr id="187395" name="Rectangle 2"/>
          <p:cNvSpPr>
            <a:spLocks noGrp="1" noRot="1" noChangeAspect="1" noChangeArrowheads="1" noTextEdit="1"/>
          </p:cNvSpPr>
          <p:nvPr>
            <p:ph type="sldImg"/>
          </p:nvPr>
        </p:nvSpPr>
        <p:spPr>
          <a:ln/>
        </p:spPr>
      </p:sp>
      <p:sp>
        <p:nvSpPr>
          <p:cNvPr id="187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4A266186-A88B-4832-B2AE-40A7301A70FC}" type="slidenum">
              <a:rPr lang="en-US" altLang="zh-CN" smtClean="0"/>
              <a:pPr>
                <a:spcBef>
                  <a:spcPct val="0"/>
                </a:spcBef>
              </a:pPr>
              <a:t>126</a:t>
            </a:fld>
            <a:endParaRPr lang="en-US" altLang="zh-CN"/>
          </a:p>
        </p:txBody>
      </p:sp>
      <p:sp>
        <p:nvSpPr>
          <p:cNvPr id="187395" name="Rectangle 2"/>
          <p:cNvSpPr>
            <a:spLocks noGrp="1" noRot="1" noChangeAspect="1" noChangeArrowheads="1" noTextEdit="1"/>
          </p:cNvSpPr>
          <p:nvPr>
            <p:ph type="sldImg"/>
          </p:nvPr>
        </p:nvSpPr>
        <p:spPr>
          <a:ln/>
        </p:spPr>
      </p:sp>
      <p:sp>
        <p:nvSpPr>
          <p:cNvPr id="187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75B0435B-2E5E-4FEE-963D-8BFAB0AB462A}" type="slidenum">
              <a:rPr lang="en-US" altLang="zh-CN" smtClean="0"/>
              <a:pPr>
                <a:spcBef>
                  <a:spcPct val="0"/>
                </a:spcBef>
              </a:pPr>
              <a:t>127</a:t>
            </a:fld>
            <a:endParaRPr lang="en-US" altLang="zh-CN"/>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DA5F8CAC-AAE0-4EBE-9C7A-2F495B28AF9B}" type="slidenum">
              <a:rPr lang="en-US" altLang="zh-CN" smtClean="0"/>
              <a:pPr>
                <a:spcBef>
                  <a:spcPct val="0"/>
                </a:spcBef>
              </a:pPr>
              <a:t>129</a:t>
            </a:fld>
            <a:endParaRPr lang="en-US" altLang="zh-CN"/>
          </a:p>
        </p:txBody>
      </p:sp>
      <p:sp>
        <p:nvSpPr>
          <p:cNvPr id="189443" name="Rectangle 2"/>
          <p:cNvSpPr>
            <a:spLocks noGrp="1" noRot="1" noChangeAspect="1" noChangeArrowheads="1" noTextEdit="1"/>
          </p:cNvSpPr>
          <p:nvPr>
            <p:ph type="sldImg"/>
          </p:nvPr>
        </p:nvSpPr>
        <p:spPr>
          <a:ln/>
        </p:spPr>
      </p:sp>
      <p:sp>
        <p:nvSpPr>
          <p:cNvPr id="189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7E2535BB-D92A-4720-A317-9EF6B32E9874}" type="slidenum">
              <a:rPr lang="en-US" altLang="zh-CN" smtClean="0"/>
              <a:pPr>
                <a:spcBef>
                  <a:spcPct val="0"/>
                </a:spcBef>
              </a:pPr>
              <a:t>130</a:t>
            </a:fld>
            <a:endParaRPr lang="en-US" altLang="zh-CN"/>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7E2535BB-D92A-4720-A317-9EF6B32E9874}" type="slidenum">
              <a:rPr lang="en-US" altLang="zh-CN" smtClean="0"/>
              <a:pPr>
                <a:spcBef>
                  <a:spcPct val="0"/>
                </a:spcBef>
              </a:pPr>
              <a:t>131</a:t>
            </a:fld>
            <a:endParaRPr lang="en-US" altLang="zh-CN"/>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EFEF53B7-AD99-4068-B914-5E01A5B05052}" type="slidenum">
              <a:rPr lang="en-US" altLang="zh-CN" smtClean="0"/>
              <a:pPr>
                <a:spcBef>
                  <a:spcPct val="0"/>
                </a:spcBef>
              </a:pPr>
              <a:t>133</a:t>
            </a:fld>
            <a:endParaRPr lang="en-US" altLang="zh-CN"/>
          </a:p>
        </p:txBody>
      </p:sp>
      <p:sp>
        <p:nvSpPr>
          <p:cNvPr id="191491" name="Rectangle 2"/>
          <p:cNvSpPr>
            <a:spLocks noGrp="1" noRot="1" noChangeAspect="1" noChangeArrowheads="1" noTextEdit="1"/>
          </p:cNvSpPr>
          <p:nvPr>
            <p:ph type="sldImg"/>
          </p:nvPr>
        </p:nvSpPr>
        <p:spPr>
          <a:ln/>
        </p:spPr>
      </p:sp>
      <p:sp>
        <p:nvSpPr>
          <p:cNvPr id="191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EFEF53B7-AD99-4068-B914-5E01A5B05052}" type="slidenum">
              <a:rPr lang="en-US" altLang="zh-CN" smtClean="0"/>
              <a:pPr>
                <a:spcBef>
                  <a:spcPct val="0"/>
                </a:spcBef>
              </a:pPr>
              <a:t>134</a:t>
            </a:fld>
            <a:endParaRPr lang="en-US" altLang="zh-CN"/>
          </a:p>
        </p:txBody>
      </p:sp>
      <p:sp>
        <p:nvSpPr>
          <p:cNvPr id="191491" name="Rectangle 2"/>
          <p:cNvSpPr>
            <a:spLocks noGrp="1" noRot="1" noChangeAspect="1" noChangeArrowheads="1" noTextEdit="1"/>
          </p:cNvSpPr>
          <p:nvPr>
            <p:ph type="sldImg"/>
          </p:nvPr>
        </p:nvSpPr>
        <p:spPr>
          <a:ln/>
        </p:spPr>
      </p:sp>
      <p:sp>
        <p:nvSpPr>
          <p:cNvPr id="191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1A74F90A-4211-494B-9266-D591E37BBBFE}" type="slidenum">
              <a:rPr lang="en-US" altLang="zh-CN" smtClean="0"/>
              <a:pPr>
                <a:spcBef>
                  <a:spcPct val="0"/>
                </a:spcBef>
              </a:pPr>
              <a:t>135</a:t>
            </a:fld>
            <a:endParaRPr lang="en-US" altLang="zh-CN"/>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CF7757C3-007A-4E7E-B919-99A756F3ED32}" type="slidenum">
              <a:rPr lang="en-US" altLang="zh-CN" smtClean="0"/>
              <a:pPr>
                <a:spcBef>
                  <a:spcPct val="0"/>
                </a:spcBef>
              </a:pPr>
              <a:t>137</a:t>
            </a:fld>
            <a:endParaRPr lang="en-US" altLang="zh-CN"/>
          </a:p>
        </p:txBody>
      </p:sp>
      <p:sp>
        <p:nvSpPr>
          <p:cNvPr id="193539" name="Rectangle 2"/>
          <p:cNvSpPr>
            <a:spLocks noGrp="1" noRot="1" noChangeAspect="1" noChangeArrowheads="1" noTextEdit="1"/>
          </p:cNvSpPr>
          <p:nvPr>
            <p:ph type="sldImg"/>
          </p:nvPr>
        </p:nvSpPr>
        <p:spPr>
          <a:ln/>
        </p:spPr>
      </p:sp>
      <p:sp>
        <p:nvSpPr>
          <p:cNvPr id="193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5D34570D-5423-4D50-B9ED-781541CD4FE5}" type="slidenum">
              <a:rPr lang="en-US" altLang="zh-CN" smtClean="0"/>
              <a:pPr>
                <a:spcBef>
                  <a:spcPct val="0"/>
                </a:spcBef>
              </a:pPr>
              <a:t>138</a:t>
            </a:fld>
            <a:endParaRPr lang="en-US" altLang="zh-CN"/>
          </a:p>
        </p:txBody>
      </p:sp>
      <p:sp>
        <p:nvSpPr>
          <p:cNvPr id="194563" name="Rectangle 2"/>
          <p:cNvSpPr>
            <a:spLocks noGrp="1" noRot="1" noChangeAspect="1" noChangeArrowheads="1" noTextEdit="1"/>
          </p:cNvSpPr>
          <p:nvPr>
            <p:ph type="sldImg"/>
          </p:nvPr>
        </p:nvSpPr>
        <p:spPr>
          <a:ln/>
        </p:spPr>
      </p:sp>
      <p:sp>
        <p:nvSpPr>
          <p:cNvPr id="194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119369C9-8D97-4A1A-B544-A7F4178EC39B}" type="slidenum">
              <a:rPr lang="en-US" altLang="zh-CN" smtClean="0"/>
              <a:pPr>
                <a:spcBef>
                  <a:spcPct val="0"/>
                </a:spcBef>
              </a:pPr>
              <a:t>142</a:t>
            </a:fld>
            <a:endParaRPr lang="en-US" altLang="zh-CN"/>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B39570AA-D245-4501-A9C3-CA380D34570D}" type="slidenum">
              <a:rPr lang="en-US" altLang="zh-CN" smtClean="0"/>
              <a:pPr>
                <a:spcBef>
                  <a:spcPct val="0"/>
                </a:spcBef>
              </a:pPr>
              <a:t>143</a:t>
            </a:fld>
            <a:endParaRPr lang="en-US" altLang="zh-CN"/>
          </a:p>
        </p:txBody>
      </p:sp>
      <p:sp>
        <p:nvSpPr>
          <p:cNvPr id="196611" name="Rectangle 2"/>
          <p:cNvSpPr>
            <a:spLocks noGrp="1" noRot="1" noChangeAspect="1" noChangeArrowheads="1" noTextEdit="1"/>
          </p:cNvSpPr>
          <p:nvPr>
            <p:ph type="sldImg"/>
          </p:nvPr>
        </p:nvSpPr>
        <p:spPr>
          <a:ln/>
        </p:spPr>
      </p:sp>
      <p:sp>
        <p:nvSpPr>
          <p:cNvPr id="196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F179B3A3-F71E-42AD-8EBF-8A0460011119}" type="slidenum">
              <a:rPr lang="en-US" altLang="zh-CN" smtClean="0"/>
              <a:pPr>
                <a:spcBef>
                  <a:spcPct val="0"/>
                </a:spcBef>
              </a:pPr>
              <a:t>144</a:t>
            </a:fld>
            <a:endParaRPr lang="en-US" altLang="zh-CN"/>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B7FC3304-592A-479C-8C7D-4C5C156B5493}" type="slidenum">
              <a:rPr lang="en-US" altLang="zh-CN" smtClean="0"/>
              <a:pPr>
                <a:spcBef>
                  <a:spcPct val="0"/>
                </a:spcBef>
              </a:pPr>
              <a:t>145</a:t>
            </a:fld>
            <a:endParaRPr lang="en-US" altLang="zh-CN"/>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B7FC3304-592A-479C-8C7D-4C5C156B5493}" type="slidenum">
              <a:rPr lang="en-US" altLang="zh-CN" smtClean="0"/>
              <a:pPr>
                <a:spcBef>
                  <a:spcPct val="0"/>
                </a:spcBef>
              </a:pPr>
              <a:t>146</a:t>
            </a:fld>
            <a:endParaRPr lang="en-US" altLang="zh-CN"/>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89D5DCAE-EE8B-4C12-8822-F7D6DB135EAF}" type="slidenum">
              <a:rPr lang="en-US" altLang="zh-CN" smtClean="0"/>
              <a:pPr>
                <a:spcBef>
                  <a:spcPct val="0"/>
                </a:spcBef>
              </a:pPr>
              <a:t>161</a:t>
            </a:fld>
            <a:endParaRPr lang="en-US" altLang="zh-CN"/>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96F15C0E-1E98-4960-AEA2-0677BD95E6C5}" type="slidenum">
              <a:rPr lang="en-US" altLang="zh-CN" smtClean="0"/>
              <a:pPr>
                <a:spcBef>
                  <a:spcPct val="0"/>
                </a:spcBef>
              </a:pPr>
              <a:t>162</a:t>
            </a:fld>
            <a:endParaRPr lang="en-US" altLang="zh-CN"/>
          </a:p>
        </p:txBody>
      </p:sp>
      <p:sp>
        <p:nvSpPr>
          <p:cNvPr id="200707" name="Rectangle 2"/>
          <p:cNvSpPr>
            <a:spLocks noGrp="1" noRot="1" noChangeAspect="1" noChangeArrowheads="1" noTextEdit="1"/>
          </p:cNvSpPr>
          <p:nvPr>
            <p:ph type="sldImg"/>
          </p:nvPr>
        </p:nvSpPr>
        <p:spPr>
          <a:ln/>
        </p:spPr>
      </p:sp>
      <p:sp>
        <p:nvSpPr>
          <p:cNvPr id="200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EBA4E9FB-99CC-4F77-8A3B-B19BDC4423EE}" type="slidenum">
              <a:rPr lang="en-US" altLang="zh-CN" smtClean="0"/>
              <a:pPr>
                <a:spcBef>
                  <a:spcPct val="0"/>
                </a:spcBef>
              </a:pPr>
              <a:t>164</a:t>
            </a:fld>
            <a:endParaRPr lang="en-US" altLang="zh-CN"/>
          </a:p>
        </p:txBody>
      </p:sp>
      <p:sp>
        <p:nvSpPr>
          <p:cNvPr id="201731" name="Rectangle 2"/>
          <p:cNvSpPr>
            <a:spLocks noGrp="1" noRot="1" noChangeAspect="1" noChangeArrowheads="1" noTextEdit="1"/>
          </p:cNvSpPr>
          <p:nvPr>
            <p:ph type="sldImg"/>
          </p:nvPr>
        </p:nvSpPr>
        <p:spPr>
          <a:ln/>
        </p:spPr>
      </p:sp>
      <p:sp>
        <p:nvSpPr>
          <p:cNvPr id="201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19EB9429-2695-4FAB-BF53-B6E40D5F193D}" type="slidenum">
              <a:rPr lang="en-US" altLang="zh-CN" smtClean="0"/>
              <a:pPr>
                <a:spcBef>
                  <a:spcPct val="0"/>
                </a:spcBef>
              </a:pPr>
              <a:t>166</a:t>
            </a:fld>
            <a:endParaRPr lang="en-US" altLang="zh-CN"/>
          </a:p>
        </p:txBody>
      </p:sp>
      <p:sp>
        <p:nvSpPr>
          <p:cNvPr id="202755" name="Rectangle 2"/>
          <p:cNvSpPr>
            <a:spLocks noGrp="1" noRot="1" noChangeAspect="1" noChangeArrowheads="1" noTextEdit="1"/>
          </p:cNvSpPr>
          <p:nvPr>
            <p:ph type="sldImg"/>
          </p:nvPr>
        </p:nvSpPr>
        <p:spPr>
          <a:ln/>
        </p:spPr>
      </p:sp>
      <p:sp>
        <p:nvSpPr>
          <p:cNvPr id="202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pitchFamily="2" charset="-122"/>
              </a:defRPr>
            </a:lvl1pPr>
            <a:lvl2pPr marL="742950" indent="-285750">
              <a:spcBef>
                <a:spcPct val="30000"/>
              </a:spcBef>
              <a:defRPr sz="1200">
                <a:solidFill>
                  <a:schemeClr val="tx1"/>
                </a:solidFill>
                <a:latin typeface="Arial" charset="0"/>
                <a:ea typeface="宋体" pitchFamily="2" charset="-122"/>
              </a:defRPr>
            </a:lvl2pPr>
            <a:lvl3pPr marL="1143000" indent="-228600">
              <a:spcBef>
                <a:spcPct val="30000"/>
              </a:spcBef>
              <a:defRPr sz="1200">
                <a:solidFill>
                  <a:schemeClr val="tx1"/>
                </a:solidFill>
                <a:latin typeface="Arial" charset="0"/>
                <a:ea typeface="宋体" pitchFamily="2" charset="-122"/>
              </a:defRPr>
            </a:lvl3pPr>
            <a:lvl4pPr marL="1600200" indent="-228600">
              <a:spcBef>
                <a:spcPct val="30000"/>
              </a:spcBef>
              <a:defRPr sz="1200">
                <a:solidFill>
                  <a:schemeClr val="tx1"/>
                </a:solidFill>
                <a:latin typeface="Arial" charset="0"/>
                <a:ea typeface="宋体" pitchFamily="2" charset="-122"/>
              </a:defRPr>
            </a:lvl4pPr>
            <a:lvl5pPr marL="2057400" indent="-228600">
              <a:spcBef>
                <a:spcPct val="30000"/>
              </a:spcBef>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spcBef>
                <a:spcPct val="0"/>
              </a:spcBef>
            </a:pPr>
            <a:fld id="{2760EA52-8CF6-44B5-880D-09A3973E4724}" type="slidenum">
              <a:rPr lang="en-US" altLang="zh-CN" smtClean="0"/>
              <a:pPr>
                <a:spcBef>
                  <a:spcPct val="0"/>
                </a:spcBef>
              </a:pPr>
              <a:t>167</a:t>
            </a:fld>
            <a:endParaRPr lang="en-US" altLang="zh-CN"/>
          </a:p>
        </p:txBody>
      </p:sp>
      <p:sp>
        <p:nvSpPr>
          <p:cNvPr id="203779" name="Rectangle 2"/>
          <p:cNvSpPr>
            <a:spLocks noGrp="1" noRot="1" noChangeAspect="1" noChangeArrowheads="1" noTextEdit="1"/>
          </p:cNvSpPr>
          <p:nvPr>
            <p:ph type="sldImg"/>
          </p:nvPr>
        </p:nvSpPr>
        <p:spPr>
          <a:ln/>
        </p:spPr>
      </p:sp>
      <p:sp>
        <p:nvSpPr>
          <p:cNvPr id="203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直角三角形 9"/>
          <p:cNvSpPr/>
          <p:nvPr/>
        </p:nvSpPr>
        <p:spPr>
          <a:xfrm>
            <a:off x="-2" y="3498110"/>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314451"/>
            <a:ext cx="7772400" cy="137232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zh-CN" altLang="en-US"/>
              <a:t>单击此处编辑母版标题样式</a:t>
            </a:r>
            <a:endParaRPr kumimoji="0" lang="en-US" dirty="0"/>
          </a:p>
        </p:txBody>
      </p:sp>
      <p:sp>
        <p:nvSpPr>
          <p:cNvPr id="17" name="副标题 16"/>
          <p:cNvSpPr>
            <a:spLocks noGrp="1"/>
          </p:cNvSpPr>
          <p:nvPr>
            <p:ph type="subTitle" idx="1"/>
          </p:nvPr>
        </p:nvSpPr>
        <p:spPr>
          <a:xfrm>
            <a:off x="685800" y="2708705"/>
            <a:ext cx="7772400" cy="899778"/>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grpSp>
        <p:nvGrpSpPr>
          <p:cNvPr id="2" name="组合 1"/>
          <p:cNvGrpSpPr/>
          <p:nvPr/>
        </p:nvGrpSpPr>
        <p:grpSpPr>
          <a:xfrm>
            <a:off x="-3765" y="3714750"/>
            <a:ext cx="9147765" cy="1434066"/>
            <a:chOff x="-3765" y="4832896"/>
            <a:chExt cx="9147765" cy="2032192"/>
          </a:xfrm>
        </p:grpSpPr>
        <p:sp>
          <p:nvSpPr>
            <p:cNvPr id="7" name="任意多边形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extLst/>
          </a:lstStyle>
          <a:p>
            <a:fld id="{222983CD-40B6-4A0F-A754-6514ADAC0847}" type="datetimeFigureOut">
              <a:rPr lang="zh-CN" altLang="en-US" smtClean="0"/>
              <a:t>2026/4/14</a:t>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extLst/>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extLst/>
          </a:lstStyle>
          <a:p>
            <a:fld id="{48ABA68F-732D-4838-AEEE-E87A7C2BC0F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lvl1pPr>
              <a:defRPr sz="2400">
                <a:latin typeface="宋体" panose="02010600030101010101" pitchFamily="2" charset="-122"/>
                <a:ea typeface="宋体" panose="02010600030101010101" pitchFamily="2" charset="-122"/>
              </a:defRPr>
            </a:lvl1pPr>
            <a:lvl2pPr>
              <a:defRPr sz="2200">
                <a:latin typeface="宋体" panose="02010600030101010101" pitchFamily="2" charset="-122"/>
                <a:ea typeface="宋体" panose="02010600030101010101" pitchFamily="2" charset="-122"/>
              </a:defRPr>
            </a:lvl2pPr>
            <a:lvl3pPr>
              <a:defRPr sz="2000">
                <a:latin typeface="宋体" panose="02010600030101010101" pitchFamily="2" charset="-122"/>
                <a:ea typeface="宋体" panose="02010600030101010101" pitchFamily="2" charset="-122"/>
              </a:defRPr>
            </a:lvl3pPr>
            <a:lvl4pPr>
              <a:defRPr sz="2000">
                <a:latin typeface="宋体" panose="02010600030101010101" pitchFamily="2" charset="-122"/>
                <a:ea typeface="宋体" panose="02010600030101010101" pitchFamily="2" charset="-122"/>
              </a:defRPr>
            </a:lvl4pPr>
            <a:lvl5pPr>
              <a:defRPr sz="2000">
                <a:latin typeface="宋体" panose="02010600030101010101" pitchFamily="2" charset="-122"/>
                <a:ea typeface="宋体" panose="02010600030101010101" pitchFamily="2" charset="-122"/>
              </a:defRPr>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4" name="日期占位符 3"/>
          <p:cNvSpPr>
            <a:spLocks noGrp="1"/>
          </p:cNvSpPr>
          <p:nvPr>
            <p:ph type="dt" sz="half" idx="10"/>
          </p:nvPr>
        </p:nvSpPr>
        <p:spPr/>
        <p:txBody>
          <a:bodyPr/>
          <a:lstStyle/>
          <a:p>
            <a:fld id="{222983CD-40B6-4A0F-A754-6514ADAC0847}" type="datetimeFigureOut">
              <a:rPr lang="zh-CN" altLang="en-US" smtClean="0"/>
              <a:t>2026/4/14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ABA68F-732D-4838-AEEE-E87A7C2BC0FD}" type="slidenum">
              <a:rPr lang="zh-CN" altLang="en-US" smtClean="0"/>
              <a:t>‹#›</a:t>
            </a:fld>
            <a:endParaRPr lang="zh-CN" altLang="en-US"/>
          </a:p>
        </p:txBody>
      </p:sp>
      <p:sp>
        <p:nvSpPr>
          <p:cNvPr id="7" name="标题 6"/>
          <p:cNvSpPr>
            <a:spLocks noGrp="1"/>
          </p:cNvSpPr>
          <p:nvPr>
            <p:ph type="title"/>
          </p:nvPr>
        </p:nvSpPr>
        <p:spPr>
          <a:xfrm>
            <a:off x="107504" y="123478"/>
            <a:ext cx="8229600" cy="576064"/>
          </a:xfrm>
        </p:spPr>
        <p:txBody>
          <a:bodyPr rtlCol="0">
            <a:normAutofit/>
          </a:bodyPr>
          <a:lstStyle>
            <a:lvl1pPr>
              <a:defRPr sz="3600">
                <a:latin typeface="隶书" panose="02010509060101010101" pitchFamily="49" charset="-122"/>
                <a:ea typeface="隶书" panose="02010509060101010101" pitchFamily="49" charset="-122"/>
              </a:defRPr>
            </a:lvl1pPr>
            <a:extLst/>
          </a:lstStyle>
          <a:p>
            <a:r>
              <a:rPr kumimoji="0" lang="zh-CN" altLang="en-US"/>
              <a:t>单击此处编辑母版标题样式</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8229600" cy="857250"/>
          </a:xfrm>
        </p:spPr>
        <p:txBody>
          <a:bodyPr anchor="ctr">
            <a:normAutofit/>
          </a:bodyPr>
          <a:lstStyle>
            <a:lvl1pPr>
              <a:defRPr sz="3600"/>
            </a:lvl1pPr>
            <a:extLst/>
          </a:lstStyle>
          <a:p>
            <a:r>
              <a:rPr kumimoji="0" lang="zh-CN" altLang="en-US"/>
              <a:t>单击此处编辑母版标题样式</a:t>
            </a:r>
            <a:endParaRPr kumimoji="0" lang="en-US" dirty="0"/>
          </a:p>
        </p:txBody>
      </p:sp>
      <p:sp>
        <p:nvSpPr>
          <p:cNvPr id="3" name="文本占位符 2"/>
          <p:cNvSpPr>
            <a:spLocks noGrp="1"/>
          </p:cNvSpPr>
          <p:nvPr>
            <p:ph type="body" idx="1"/>
          </p:nvPr>
        </p:nvSpPr>
        <p:spPr>
          <a:xfrm>
            <a:off x="457200" y="4057650"/>
            <a:ext cx="4040188"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45027" y="4057650"/>
            <a:ext cx="4041775"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1083221"/>
            <a:ext cx="4040188" cy="2956322"/>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6" name="内容占位符 5"/>
          <p:cNvSpPr>
            <a:spLocks noGrp="1"/>
          </p:cNvSpPr>
          <p:nvPr>
            <p:ph sz="quarter" idx="4"/>
          </p:nvPr>
        </p:nvSpPr>
        <p:spPr>
          <a:xfrm>
            <a:off x="4645026" y="1083221"/>
            <a:ext cx="4041775" cy="2956322"/>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7" name="日期占位符 6"/>
          <p:cNvSpPr>
            <a:spLocks noGrp="1"/>
          </p:cNvSpPr>
          <p:nvPr>
            <p:ph type="dt" sz="half" idx="10"/>
          </p:nvPr>
        </p:nvSpPr>
        <p:spPr/>
        <p:txBody>
          <a:bodyPr/>
          <a:lstStyle/>
          <a:p>
            <a:fld id="{222983CD-40B6-4A0F-A754-6514ADAC0847}" type="datetimeFigureOut">
              <a:rPr lang="zh-CN" altLang="en-US" smtClean="0"/>
              <a:t>2026/4/14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8ABA68F-732D-4838-AEEE-E87A7C2BC0FD}"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p>
            <a:r>
              <a:rPr lang="zh-CN" altLang="en-US"/>
              <a:t>单击此处编辑母版标题样式</a:t>
            </a:r>
          </a:p>
        </p:txBody>
      </p:sp>
      <p:sp>
        <p:nvSpPr>
          <p:cNvPr id="3" name="表格占位符 2"/>
          <p:cNvSpPr>
            <a:spLocks noGrp="1"/>
          </p:cNvSpPr>
          <p:nvPr>
            <p:ph type="tbl" idx="1"/>
          </p:nvPr>
        </p:nvSpPr>
        <p:spPr>
          <a:xfrm>
            <a:off x="457200" y="1200151"/>
            <a:ext cx="8229600" cy="3394472"/>
          </a:xfrm>
        </p:spPr>
        <p:txBody>
          <a:bodyPr/>
          <a:lstStyle/>
          <a:p>
            <a:pPr lvl="0"/>
            <a:endParaRPr lang="zh-CN" alt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F39732F-343D-48F6-96A9-51E54973D662}" type="slidenum">
              <a:rPr lang="en-US" altLang="zh-CN"/>
              <a:pPr>
                <a:defRPr/>
              </a:pPr>
              <a:t>‹#›</a:t>
            </a:fld>
            <a:endParaRPr lang="en-US" altLang="zh-CN"/>
          </a:p>
        </p:txBody>
      </p:sp>
    </p:spTree>
    <p:extLst>
      <p:ext uri="{BB962C8B-B14F-4D97-AF65-F5344CB8AC3E}">
        <p14:creationId xmlns:p14="http://schemas.microsoft.com/office/powerpoint/2010/main" val="3707216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200151"/>
            <a:ext cx="4038600" cy="339447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E7E09A14-47B4-4687-AAD4-ADF11DA55541}" type="slidenum">
              <a:rPr lang="en-US" altLang="zh-CN"/>
              <a:pPr>
                <a:defRPr/>
              </a:pPr>
              <a:t>‹#›</a:t>
            </a:fld>
            <a:endParaRPr lang="en-US" altLang="zh-CN"/>
          </a:p>
        </p:txBody>
      </p:sp>
    </p:spTree>
    <p:extLst>
      <p:ext uri="{BB962C8B-B14F-4D97-AF65-F5344CB8AC3E}">
        <p14:creationId xmlns:p14="http://schemas.microsoft.com/office/powerpoint/2010/main" val="3367436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05979"/>
            <a:ext cx="8229600" cy="438864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A01B3803-90B0-47D7-A26B-35F313672F49}" type="slidenum">
              <a:rPr lang="en-US" altLang="zh-CN"/>
              <a:pPr>
                <a:defRPr/>
              </a:pPr>
              <a:t>‹#›</a:t>
            </a:fld>
            <a:endParaRPr lang="en-US" altLang="zh-CN"/>
          </a:p>
        </p:txBody>
      </p:sp>
    </p:spTree>
    <p:extLst>
      <p:ext uri="{BB962C8B-B14F-4D97-AF65-F5344CB8AC3E}">
        <p14:creationId xmlns:p14="http://schemas.microsoft.com/office/powerpoint/2010/main" val="3186317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561BA5C5-5CFD-4A8D-A881-B9D76C95B39D}" type="slidenum">
              <a:rPr lang="en-US" altLang="zh-CN"/>
              <a:pPr>
                <a:defRPr/>
              </a:pPr>
              <a:t>‹#›</a:t>
            </a:fld>
            <a:endParaRPr lang="en-US" altLang="zh-CN"/>
          </a:p>
        </p:txBody>
      </p:sp>
    </p:spTree>
    <p:extLst>
      <p:ext uri="{BB962C8B-B14F-4D97-AF65-F5344CB8AC3E}">
        <p14:creationId xmlns:p14="http://schemas.microsoft.com/office/powerpoint/2010/main" val="3767094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F8235B0-6C2E-420F-B3B3-DB02510B741C}" type="slidenum">
              <a:rPr lang="en-US" altLang="zh-CN"/>
              <a:pPr>
                <a:defRPr/>
              </a:pPr>
              <a:t>‹#›</a:t>
            </a:fld>
            <a:endParaRPr lang="en-US" altLang="zh-CN"/>
          </a:p>
        </p:txBody>
      </p:sp>
    </p:spTree>
    <p:extLst>
      <p:ext uri="{BB962C8B-B14F-4D97-AF65-F5344CB8AC3E}">
        <p14:creationId xmlns:p14="http://schemas.microsoft.com/office/powerpoint/2010/main" val="4045262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200151"/>
            <a:ext cx="4038600" cy="339447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200150"/>
            <a:ext cx="4038600" cy="163949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2953942"/>
            <a:ext cx="4038600" cy="164068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ABACE399-6762-4B28-862F-3DEB42754C07}" type="slidenum">
              <a:rPr lang="en-US" altLang="zh-CN"/>
              <a:pPr>
                <a:defRPr/>
              </a:pPr>
              <a:t>‹#›</a:t>
            </a:fld>
            <a:endParaRPr lang="en-US" altLang="zh-CN"/>
          </a:p>
        </p:txBody>
      </p:sp>
    </p:spTree>
    <p:extLst>
      <p:ext uri="{BB962C8B-B14F-4D97-AF65-F5344CB8AC3E}">
        <p14:creationId xmlns:p14="http://schemas.microsoft.com/office/powerpoint/2010/main" val="898531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a:spLocks/>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a:spLocks/>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直角三角形 13"/>
          <p:cNvSpPr>
            <a:spLocks/>
          </p:cNvSpPr>
          <p:nvPr/>
        </p:nvSpPr>
        <p:spPr bwMode="auto">
          <a:xfrm>
            <a:off x="-6042" y="4343440"/>
            <a:ext cx="3402314" cy="810651"/>
          </a:xfrm>
          <a:prstGeom prst="rtTriangle">
            <a:avLst/>
          </a:prstGeom>
          <a:blipFill>
            <a:blip r:embed="rId11">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直接连接符 14"/>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05979"/>
            <a:ext cx="8229600" cy="85725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dirty="0"/>
              <a:t>单击此处编辑母版标题样式</a:t>
            </a:r>
            <a:endParaRPr kumimoji="0" lang="en-US" dirty="0"/>
          </a:p>
        </p:txBody>
      </p:sp>
      <p:sp>
        <p:nvSpPr>
          <p:cNvPr id="30" name="文本占位符 29"/>
          <p:cNvSpPr>
            <a:spLocks noGrp="1"/>
          </p:cNvSpPr>
          <p:nvPr>
            <p:ph type="body" idx="1"/>
          </p:nvPr>
        </p:nvSpPr>
        <p:spPr>
          <a:xfrm>
            <a:off x="457200" y="1110997"/>
            <a:ext cx="8229600" cy="3394472"/>
          </a:xfrm>
          <a:prstGeom prst="rect">
            <a:avLst/>
          </a:prstGeom>
        </p:spPr>
        <p:txBody>
          <a:bodyPr vert="horz">
            <a:normAutofit/>
          </a:bodyPr>
          <a:lstStyle/>
          <a:p>
            <a:pPr lvl="0" eaLnBrk="1" latinLnBrk="0" hangingPunct="1"/>
            <a:r>
              <a:rPr kumimoji="0" lang="zh-CN" altLang="en-US" dirty="0"/>
              <a:t>单击此处编辑母版文本样式</a:t>
            </a:r>
          </a:p>
          <a:p>
            <a:pPr lvl="1" eaLnBrk="1" latinLnBrk="0" hangingPunct="1"/>
            <a:r>
              <a:rPr kumimoji="0" lang="zh-CN" altLang="en-US" dirty="0"/>
              <a:t>第二级</a:t>
            </a:r>
          </a:p>
          <a:p>
            <a:pPr lvl="2" eaLnBrk="1" latinLnBrk="0" hangingPunct="1"/>
            <a:r>
              <a:rPr kumimoji="0" lang="zh-CN" altLang="en-US" dirty="0"/>
              <a:t>第三级</a:t>
            </a:r>
          </a:p>
          <a:p>
            <a:pPr lvl="3" eaLnBrk="1" latinLnBrk="0" hangingPunct="1"/>
            <a:r>
              <a:rPr kumimoji="0" lang="zh-CN" altLang="en-US" dirty="0"/>
              <a:t>第四级</a:t>
            </a:r>
          </a:p>
          <a:p>
            <a:pPr lvl="4" eaLnBrk="1" latinLnBrk="0" hangingPunct="1"/>
            <a:r>
              <a:rPr kumimoji="0" lang="zh-CN" altLang="en-US" dirty="0"/>
              <a:t>第五级</a:t>
            </a:r>
            <a:endParaRPr kumimoji="0" lang="en-US" dirty="0"/>
          </a:p>
        </p:txBody>
      </p:sp>
      <p:sp>
        <p:nvSpPr>
          <p:cNvPr id="10" name="日期占位符 9"/>
          <p:cNvSpPr>
            <a:spLocks noGrp="1"/>
          </p:cNvSpPr>
          <p:nvPr>
            <p:ph type="dt" sz="half" idx="2"/>
          </p:nvPr>
        </p:nvSpPr>
        <p:spPr>
          <a:xfrm>
            <a:off x="6727032" y="4805958"/>
            <a:ext cx="1920240" cy="274320"/>
          </a:xfrm>
          <a:prstGeom prst="rect">
            <a:avLst/>
          </a:prstGeom>
        </p:spPr>
        <p:txBody>
          <a:bodyPr vert="horz" anchor="b"/>
          <a:lstStyle>
            <a:lvl1pPr algn="l" eaLnBrk="1" latinLnBrk="0" hangingPunct="1">
              <a:defRPr kumimoji="0" sz="1000">
                <a:solidFill>
                  <a:schemeClr val="tx1"/>
                </a:solidFill>
              </a:defRPr>
            </a:lvl1pPr>
            <a:extLst/>
          </a:lstStyle>
          <a:p>
            <a:fld id="{222983CD-40B6-4A0F-A754-6514ADAC0847}" type="datetimeFigureOut">
              <a:rPr lang="zh-CN" altLang="en-US" smtClean="0"/>
              <a:t>2026/4/14</a:t>
            </a:fld>
            <a:endParaRPr lang="zh-CN" altLang="en-US"/>
          </a:p>
        </p:txBody>
      </p:sp>
      <p:sp>
        <p:nvSpPr>
          <p:cNvPr id="22" name="页脚占位符 21"/>
          <p:cNvSpPr>
            <a:spLocks noGrp="1"/>
          </p:cNvSpPr>
          <p:nvPr>
            <p:ph type="ftr" sz="quarter" idx="3"/>
          </p:nvPr>
        </p:nvSpPr>
        <p:spPr>
          <a:xfrm>
            <a:off x="4380073" y="4805958"/>
            <a:ext cx="2350681" cy="273844"/>
          </a:xfrm>
          <a:prstGeom prst="rect">
            <a:avLst/>
          </a:prstGeom>
        </p:spPr>
        <p:txBody>
          <a:bodyPr vert="horz" anchor="b"/>
          <a:lstStyle>
            <a:lvl1pPr algn="r" eaLnBrk="1" latinLnBrk="0" hangingPunct="1">
              <a:defRPr kumimoji="0" sz="1000">
                <a:solidFill>
                  <a:schemeClr val="tx1"/>
                </a:solidFill>
              </a:defRPr>
            </a:lvl1pPr>
            <a:extLst/>
          </a:lstStyle>
          <a:p>
            <a:endParaRPr lang="zh-CN" altLang="en-US"/>
          </a:p>
        </p:txBody>
      </p:sp>
      <p:sp>
        <p:nvSpPr>
          <p:cNvPr id="18" name="灯片编号占位符 17"/>
          <p:cNvSpPr>
            <a:spLocks noGrp="1"/>
          </p:cNvSpPr>
          <p:nvPr>
            <p:ph type="sldNum" sz="quarter" idx="4"/>
          </p:nvPr>
        </p:nvSpPr>
        <p:spPr>
          <a:xfrm>
            <a:off x="8647272" y="4805958"/>
            <a:ext cx="365760" cy="273844"/>
          </a:xfrm>
          <a:prstGeom prst="rect">
            <a:avLst/>
          </a:prstGeom>
        </p:spPr>
        <p:txBody>
          <a:bodyPr vert="horz" anchor="b"/>
          <a:lstStyle>
            <a:lvl1pPr algn="r" eaLnBrk="1" latinLnBrk="0" hangingPunct="1">
              <a:defRPr kumimoji="0" sz="1000" b="0">
                <a:solidFill>
                  <a:schemeClr val="tx1"/>
                </a:solidFill>
              </a:defRPr>
            </a:lvl1pPr>
            <a:extLst/>
          </a:lstStyle>
          <a:p>
            <a:fld id="{48ABA68F-732D-4838-AEEE-E87A7C2BC0F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5" r:id="rId3"/>
    <p:sldLayoutId id="2147483726" r:id="rId4"/>
    <p:sldLayoutId id="2147483727" r:id="rId5"/>
    <p:sldLayoutId id="2147483728" r:id="rId6"/>
    <p:sldLayoutId id="2147483729" r:id="rId7"/>
    <p:sldLayoutId id="2147483732" r:id="rId8"/>
    <p:sldLayoutId id="2147483733" r:id="rId9"/>
  </p:sldLayoutIdLst>
  <p:txStyles>
    <p:title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emf"/><Relationship Id="rId5" Type="http://schemas.openxmlformats.org/officeDocument/2006/relationships/oleObject" Target="../embeddings/oleObject3.bin"/><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9.emf"/><Relationship Id="rId5" Type="http://schemas.openxmlformats.org/officeDocument/2006/relationships/oleObject" Target="../embeddings/oleObject7.bin"/><Relationship Id="rId4" Type="http://schemas.openxmlformats.org/officeDocument/2006/relationships/image" Target="../media/image8.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3.emf"/><Relationship Id="rId5" Type="http://schemas.openxmlformats.org/officeDocument/2006/relationships/oleObject" Target="../embeddings/oleObject9.bin"/><Relationship Id="rId4" Type="http://schemas.openxmlformats.org/officeDocument/2006/relationships/image" Target="../media/image12.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jp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2.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vmlDrawing" Target="../drawings/vmlDrawing8.vml"/><Relationship Id="rId5" Type="http://schemas.openxmlformats.org/officeDocument/2006/relationships/image" Target="../media/image23.emf"/><Relationship Id="rId4" Type="http://schemas.openxmlformats.org/officeDocument/2006/relationships/oleObject" Target="../embeddings/oleObject11.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24.emf"/><Relationship Id="rId4" Type="http://schemas.openxmlformats.org/officeDocument/2006/relationships/oleObject" Target="../embeddings/oleObject12.bin"/></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5.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6.e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6.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25.e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27.emf"/></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8.xml"/><Relationship Id="rId1" Type="http://schemas.openxmlformats.org/officeDocument/2006/relationships/vmlDrawing" Target="../drawings/vmlDrawing15.vml"/><Relationship Id="rId4" Type="http://schemas.openxmlformats.org/officeDocument/2006/relationships/image" Target="../media/image32.emf"/></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5.xml"/><Relationship Id="rId1" Type="http://schemas.openxmlformats.org/officeDocument/2006/relationships/vmlDrawing" Target="../drawings/vmlDrawing16.vml"/><Relationship Id="rId4" Type="http://schemas.openxmlformats.org/officeDocument/2006/relationships/image" Target="../media/image33.em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34.emf"/><Relationship Id="rId4" Type="http://schemas.openxmlformats.org/officeDocument/2006/relationships/oleObject" Target="../embeddings/oleObject20.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35.emf"/><Relationship Id="rId4" Type="http://schemas.openxmlformats.org/officeDocument/2006/relationships/oleObject" Target="../embeddings/oleObject21.bin"/></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36.emf"/><Relationship Id="rId4" Type="http://schemas.openxmlformats.org/officeDocument/2006/relationships/oleObject" Target="../embeddings/oleObject22.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37.emf"/><Relationship Id="rId4" Type="http://schemas.openxmlformats.org/officeDocument/2006/relationships/oleObject" Target="../embeddings/oleObject23.bin"/></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8.xml"/><Relationship Id="rId1" Type="http://schemas.openxmlformats.org/officeDocument/2006/relationships/vmlDrawing" Target="../drawings/vmlDrawing21.vml"/><Relationship Id="rId5" Type="http://schemas.openxmlformats.org/officeDocument/2006/relationships/image" Target="../media/image38.emf"/><Relationship Id="rId4" Type="http://schemas.openxmlformats.org/officeDocument/2006/relationships/oleObject" Target="../embeddings/oleObject24.bin"/></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46.xml"/><Relationship Id="rId7" Type="http://schemas.openxmlformats.org/officeDocument/2006/relationships/image" Target="../media/image41.emf"/><Relationship Id="rId2" Type="http://schemas.openxmlformats.org/officeDocument/2006/relationships/slideLayout" Target="../slideLayouts/slideLayout8.xml"/><Relationship Id="rId1" Type="http://schemas.openxmlformats.org/officeDocument/2006/relationships/vmlDrawing" Target="../drawings/vmlDrawing22.vml"/><Relationship Id="rId6" Type="http://schemas.openxmlformats.org/officeDocument/2006/relationships/oleObject" Target="../embeddings/oleObject26.bin"/><Relationship Id="rId5" Type="http://schemas.openxmlformats.org/officeDocument/2006/relationships/image" Target="../media/image40.emf"/><Relationship Id="rId4" Type="http://schemas.openxmlformats.org/officeDocument/2006/relationships/oleObject" Target="../embeddings/oleObject25.bin"/></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8.xml"/><Relationship Id="rId1" Type="http://schemas.openxmlformats.org/officeDocument/2006/relationships/vmlDrawing" Target="../drawings/vmlDrawing23.vml"/><Relationship Id="rId5" Type="http://schemas.openxmlformats.org/officeDocument/2006/relationships/image" Target="../media/image40.emf"/><Relationship Id="rId4" Type="http://schemas.openxmlformats.org/officeDocument/2006/relationships/oleObject" Target="../embeddings/oleObject27.bin"/></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8.xml"/><Relationship Id="rId1" Type="http://schemas.openxmlformats.org/officeDocument/2006/relationships/vmlDrawing" Target="../drawings/vmlDrawing24.vml"/><Relationship Id="rId5" Type="http://schemas.openxmlformats.org/officeDocument/2006/relationships/image" Target="../media/image41.emf"/><Relationship Id="rId4" Type="http://schemas.openxmlformats.org/officeDocument/2006/relationships/oleObject" Target="../embeddings/oleObject28.bin"/></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vmlDrawing" Target="../drawings/vmlDrawing25.vml"/><Relationship Id="rId5" Type="http://schemas.openxmlformats.org/officeDocument/2006/relationships/image" Target="../media/image42.emf"/><Relationship Id="rId4" Type="http://schemas.openxmlformats.org/officeDocument/2006/relationships/oleObject" Target="../embeddings/oleObject29.bin"/></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vmlDrawing" Target="../drawings/vmlDrawing26.vml"/><Relationship Id="rId5" Type="http://schemas.openxmlformats.org/officeDocument/2006/relationships/image" Target="../media/image43.emf"/><Relationship Id="rId4" Type="http://schemas.openxmlformats.org/officeDocument/2006/relationships/oleObject" Target="../embeddings/oleObject30.bin"/></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5.xml"/><Relationship Id="rId1" Type="http://schemas.openxmlformats.org/officeDocument/2006/relationships/vmlDrawing" Target="../drawings/vmlDrawing27.vml"/><Relationship Id="rId5" Type="http://schemas.openxmlformats.org/officeDocument/2006/relationships/image" Target="../media/image44.emf"/><Relationship Id="rId4" Type="http://schemas.openxmlformats.org/officeDocument/2006/relationships/oleObject" Target="../embeddings/oleObject31.bin"/></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5.xml"/><Relationship Id="rId1" Type="http://schemas.openxmlformats.org/officeDocument/2006/relationships/vmlDrawing" Target="../drawings/vmlDrawing28.vml"/><Relationship Id="rId5" Type="http://schemas.openxmlformats.org/officeDocument/2006/relationships/image" Target="../media/image45.emf"/><Relationship Id="rId4" Type="http://schemas.openxmlformats.org/officeDocument/2006/relationships/oleObject" Target="../embeddings/oleObject32.bin"/></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9.xml"/><Relationship Id="rId1" Type="http://schemas.openxmlformats.org/officeDocument/2006/relationships/vmlDrawing" Target="../drawings/vmlDrawing29.vml"/><Relationship Id="rId5" Type="http://schemas.openxmlformats.org/officeDocument/2006/relationships/image" Target="../media/image46.emf"/><Relationship Id="rId4" Type="http://schemas.openxmlformats.org/officeDocument/2006/relationships/oleObject" Target="../embeddings/oleObject33.bin"/></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5.xml"/><Relationship Id="rId1" Type="http://schemas.openxmlformats.org/officeDocument/2006/relationships/vmlDrawing" Target="../drawings/vmlDrawing30.vml"/><Relationship Id="rId5" Type="http://schemas.openxmlformats.org/officeDocument/2006/relationships/image" Target="../media/image47.png"/><Relationship Id="rId4" Type="http://schemas.openxmlformats.org/officeDocument/2006/relationships/oleObject" Target="../embeddings/oleObject34.bin"/></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9.xml"/></Relationships>
</file>

<file path=ppt/slides/_rels/slide1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vmlDrawing" Target="../drawings/vmlDrawing31.vml"/><Relationship Id="rId5" Type="http://schemas.openxmlformats.org/officeDocument/2006/relationships/image" Target="../media/image49.emf"/><Relationship Id="rId4" Type="http://schemas.openxmlformats.org/officeDocument/2006/relationships/oleObject" Target="../embeddings/oleObject35.bin"/></Relationships>
</file>

<file path=ppt/slides/_rels/slide143.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4.xml"/><Relationship Id="rId1" Type="http://schemas.openxmlformats.org/officeDocument/2006/relationships/vmlDrawing" Target="../drawings/vmlDrawing32.vml"/><Relationship Id="rId5" Type="http://schemas.openxmlformats.org/officeDocument/2006/relationships/image" Target="../media/image49.emf"/><Relationship Id="rId4" Type="http://schemas.openxmlformats.org/officeDocument/2006/relationships/oleObject" Target="../embeddings/oleObject36.bin"/></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4.xml"/><Relationship Id="rId1" Type="http://schemas.openxmlformats.org/officeDocument/2006/relationships/vmlDrawing" Target="../drawings/vmlDrawing33.vml"/><Relationship Id="rId5" Type="http://schemas.openxmlformats.org/officeDocument/2006/relationships/image" Target="../media/image49.emf"/><Relationship Id="rId4" Type="http://schemas.openxmlformats.org/officeDocument/2006/relationships/oleObject" Target="../embeddings/oleObject37.bin"/></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9.xml"/></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9.xml"/><Relationship Id="rId1" Type="http://schemas.openxmlformats.org/officeDocument/2006/relationships/vmlDrawing" Target="../drawings/vmlDrawing34.vml"/><Relationship Id="rId5" Type="http://schemas.openxmlformats.org/officeDocument/2006/relationships/image" Target="../media/image50.emf"/><Relationship Id="rId4" Type="http://schemas.openxmlformats.org/officeDocument/2006/relationships/oleObject" Target="../embeddings/oleObject38.bin"/></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7.xml"/><Relationship Id="rId1" Type="http://schemas.openxmlformats.org/officeDocument/2006/relationships/vmlDrawing" Target="../drawings/vmlDrawing35.vml"/><Relationship Id="rId4" Type="http://schemas.openxmlformats.org/officeDocument/2006/relationships/image" Target="../media/image51.emf"/></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36.vml"/><Relationship Id="rId4" Type="http://schemas.openxmlformats.org/officeDocument/2006/relationships/image" Target="../media/image52.emf"/></Relationships>
</file>

<file path=ppt/slides/_rels/slide156.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image" Target="../media/image54.emf"/><Relationship Id="rId5" Type="http://schemas.openxmlformats.org/officeDocument/2006/relationships/oleObject" Target="../embeddings/oleObject42.bin"/><Relationship Id="rId4" Type="http://schemas.openxmlformats.org/officeDocument/2006/relationships/image" Target="../media/image53.emf"/></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vmlDrawing" Target="../drawings/vmlDrawing38.vml"/><Relationship Id="rId5" Type="http://schemas.openxmlformats.org/officeDocument/2006/relationships/image" Target="../media/image55.emf"/><Relationship Id="rId4" Type="http://schemas.openxmlformats.org/officeDocument/2006/relationships/oleObject" Target="../embeddings/oleObject43.bin"/></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39.vml"/><Relationship Id="rId4" Type="http://schemas.openxmlformats.org/officeDocument/2006/relationships/image" Target="../media/image56.emf"/></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9.xml"/></Relationships>
</file>

<file path=ppt/slides/_rels/slide165.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40.vml"/><Relationship Id="rId4" Type="http://schemas.openxmlformats.org/officeDocument/2006/relationships/image" Target="../media/image57.emf"/></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55576" y="2139702"/>
            <a:ext cx="6840760" cy="742950"/>
          </a:xfrm>
        </p:spPr>
        <p:txBody>
          <a:bodyPr>
            <a:noAutofit/>
          </a:bodyPr>
          <a:lstStyle/>
          <a:p>
            <a:pPr algn="l"/>
            <a:r>
              <a:rPr kumimoji="1" lang="zh-CN" altLang="en-US" dirty="0">
                <a:solidFill>
                  <a:srgbClr val="663399"/>
                </a:solidFill>
                <a:latin typeface="Times New Roman" pitchFamily="18" charset="0"/>
              </a:rPr>
              <a:t>第五章  中间代码生成</a:t>
            </a:r>
            <a:endParaRPr lang="zh-CN" alt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9164638" cy="1621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7396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95536" y="0"/>
            <a:ext cx="8229600" cy="857250"/>
          </a:xfrm>
        </p:spPr>
        <p:txBody>
          <a:bodyPr>
            <a:normAutofit fontScale="90000"/>
          </a:bodyPr>
          <a:lstStyle/>
          <a:p>
            <a:pPr eaLnBrk="1" hangingPunct="1"/>
            <a:r>
              <a:rPr lang="zh-CN" altLang="en-US" sz="5400" b="1" dirty="0">
                <a:solidFill>
                  <a:srgbClr val="663399"/>
                </a:solidFill>
                <a:ea typeface="隶书" pitchFamily="49" charset="-122"/>
              </a:rPr>
              <a:t>本章要求</a:t>
            </a:r>
            <a:endParaRPr lang="zh-CN" altLang="en-US" sz="5400" dirty="0">
              <a:solidFill>
                <a:srgbClr val="000000"/>
              </a:solidFill>
            </a:endParaRPr>
          </a:p>
        </p:txBody>
      </p:sp>
      <p:sp>
        <p:nvSpPr>
          <p:cNvPr id="3075" name="Rectangle 3"/>
          <p:cNvSpPr>
            <a:spLocks noGrp="1" noChangeArrowheads="1"/>
          </p:cNvSpPr>
          <p:nvPr>
            <p:ph type="body" idx="1"/>
          </p:nvPr>
        </p:nvSpPr>
        <p:spPr>
          <a:xfrm>
            <a:off x="611560" y="1203598"/>
            <a:ext cx="7705725" cy="3402806"/>
          </a:xfrm>
        </p:spPr>
        <p:txBody>
          <a:bodyPr>
            <a:normAutofit fontScale="92500" lnSpcReduction="10000"/>
          </a:bodyPr>
          <a:lstStyle/>
          <a:p>
            <a:pPr eaLnBrk="1" hangingPunct="1">
              <a:lnSpc>
                <a:spcPct val="90000"/>
              </a:lnSpc>
              <a:spcBef>
                <a:spcPct val="30000"/>
              </a:spcBef>
            </a:pPr>
            <a:r>
              <a:rPr kumimoji="1" lang="zh-CN" altLang="en-US" sz="2800" b="1" dirty="0">
                <a:solidFill>
                  <a:srgbClr val="FF0000"/>
                </a:solidFill>
              </a:rPr>
              <a:t>主要内容</a:t>
            </a:r>
            <a:r>
              <a:rPr lang="zh-CN" altLang="en-US" sz="2800" dirty="0"/>
              <a:t>：</a:t>
            </a:r>
            <a:endParaRPr lang="en-US" altLang="zh-CN" sz="2800" dirty="0"/>
          </a:p>
          <a:p>
            <a:pPr lvl="1" eaLnBrk="1" hangingPunct="1">
              <a:lnSpc>
                <a:spcPct val="90000"/>
              </a:lnSpc>
              <a:spcBef>
                <a:spcPct val="30000"/>
              </a:spcBef>
            </a:pPr>
            <a:r>
              <a:rPr lang="zh-CN" altLang="zh-CN" sz="2400" b="1" dirty="0">
                <a:latin typeface="宋体" pitchFamily="2" charset="-122"/>
              </a:rPr>
              <a:t>中间代码的</a:t>
            </a:r>
            <a:r>
              <a:rPr lang="zh-CN" altLang="en-US" sz="2400" b="1" dirty="0">
                <a:latin typeface="宋体" pitchFamily="2" charset="-122"/>
              </a:rPr>
              <a:t>表示</a:t>
            </a:r>
            <a:r>
              <a:rPr lang="zh-CN" altLang="zh-CN" sz="2400" b="1" dirty="0">
                <a:latin typeface="宋体" pitchFamily="2" charset="-122"/>
              </a:rPr>
              <a:t>形式</a:t>
            </a:r>
            <a:endParaRPr lang="en-US" altLang="zh-CN" sz="2400" b="1" dirty="0">
              <a:latin typeface="宋体" pitchFamily="2" charset="-122"/>
            </a:endParaRPr>
          </a:p>
          <a:p>
            <a:pPr lvl="1" eaLnBrk="1" hangingPunct="1">
              <a:lnSpc>
                <a:spcPct val="90000"/>
              </a:lnSpc>
              <a:spcBef>
                <a:spcPct val="30000"/>
              </a:spcBef>
            </a:pPr>
            <a:r>
              <a:rPr lang="zh-CN" altLang="en-US" sz="2400" b="1" dirty="0">
                <a:latin typeface="宋体" pitchFamily="2" charset="-122"/>
              </a:rPr>
              <a:t>属性文法</a:t>
            </a:r>
            <a:r>
              <a:rPr lang="en-US" altLang="zh-CN" sz="2400" b="1" dirty="0">
                <a:latin typeface="宋体" pitchFamily="2" charset="-122"/>
              </a:rPr>
              <a:t>——</a:t>
            </a:r>
            <a:r>
              <a:rPr lang="zh-CN" altLang="zh-CN" sz="2400" b="1" dirty="0">
                <a:latin typeface="宋体" pitchFamily="2" charset="-122"/>
              </a:rPr>
              <a:t>高级语言（或者其中的语法单位）的语义</a:t>
            </a:r>
            <a:r>
              <a:rPr lang="zh-CN" altLang="en-US" sz="2400" b="1" dirty="0">
                <a:latin typeface="宋体" pitchFamily="2" charset="-122"/>
              </a:rPr>
              <a:t>描述</a:t>
            </a:r>
            <a:endParaRPr lang="en-US" altLang="zh-CN" sz="2400" b="1" dirty="0">
              <a:latin typeface="宋体" pitchFamily="2" charset="-122"/>
            </a:endParaRPr>
          </a:p>
          <a:p>
            <a:pPr lvl="1" eaLnBrk="1" hangingPunct="1">
              <a:lnSpc>
                <a:spcPct val="90000"/>
              </a:lnSpc>
              <a:spcBef>
                <a:spcPct val="30000"/>
              </a:spcBef>
            </a:pPr>
            <a:r>
              <a:rPr lang="zh-CN" altLang="en-US" sz="2400" b="1" dirty="0">
                <a:latin typeface="宋体" pitchFamily="2" charset="-122"/>
              </a:rPr>
              <a:t>语法制导的翻译方法</a:t>
            </a:r>
            <a:endParaRPr lang="en-US" altLang="zh-CN" sz="2400" b="1" dirty="0">
              <a:latin typeface="宋体" pitchFamily="2" charset="-122"/>
            </a:endParaRPr>
          </a:p>
          <a:p>
            <a:pPr lvl="1" eaLnBrk="1" hangingPunct="1">
              <a:lnSpc>
                <a:spcPct val="90000"/>
              </a:lnSpc>
              <a:spcBef>
                <a:spcPct val="30000"/>
              </a:spcBef>
            </a:pPr>
            <a:r>
              <a:rPr lang="zh-CN" altLang="en-US" sz="2400" b="1" dirty="0">
                <a:latin typeface="宋体" pitchFamily="2" charset="-122"/>
              </a:rPr>
              <a:t>各种语句的</a:t>
            </a:r>
            <a:r>
              <a:rPr lang="zh-CN" altLang="zh-CN" sz="2400" b="1" dirty="0">
                <a:latin typeface="宋体" pitchFamily="2" charset="-122"/>
              </a:rPr>
              <a:t>翻译方法</a:t>
            </a:r>
            <a:endParaRPr lang="en-US" altLang="zh-CN" sz="2400" b="1" dirty="0">
              <a:latin typeface="宋体" pitchFamily="2" charset="-122"/>
            </a:endParaRPr>
          </a:p>
          <a:p>
            <a:pPr lvl="1" eaLnBrk="1" hangingPunct="1">
              <a:lnSpc>
                <a:spcPct val="90000"/>
              </a:lnSpc>
              <a:spcBef>
                <a:spcPct val="30000"/>
              </a:spcBef>
            </a:pPr>
            <a:r>
              <a:rPr lang="zh-CN" altLang="en-US" sz="2400" b="1" dirty="0">
                <a:latin typeface="宋体" pitchFamily="2" charset="-122"/>
              </a:rPr>
              <a:t>中间代码生成器的设计</a:t>
            </a:r>
          </a:p>
          <a:p>
            <a:pPr eaLnBrk="1" hangingPunct="1">
              <a:lnSpc>
                <a:spcPct val="90000"/>
              </a:lnSpc>
              <a:spcBef>
                <a:spcPct val="30000"/>
              </a:spcBef>
            </a:pPr>
            <a:r>
              <a:rPr kumimoji="1" lang="zh-CN" altLang="en-US" sz="2800" b="1" dirty="0">
                <a:solidFill>
                  <a:srgbClr val="FF0000"/>
                </a:solidFill>
              </a:rPr>
              <a:t>重点掌握：</a:t>
            </a:r>
            <a:endParaRPr kumimoji="1" lang="en-US" altLang="zh-CN" sz="2800" b="1" dirty="0">
              <a:solidFill>
                <a:srgbClr val="FF0000"/>
              </a:solidFill>
            </a:endParaRPr>
          </a:p>
          <a:p>
            <a:pPr lvl="1" eaLnBrk="1" hangingPunct="1">
              <a:lnSpc>
                <a:spcPct val="90000"/>
              </a:lnSpc>
              <a:spcBef>
                <a:spcPct val="30000"/>
              </a:spcBef>
            </a:pPr>
            <a:r>
              <a:rPr lang="zh-CN" altLang="en-US" sz="2400" b="1" dirty="0">
                <a:latin typeface="宋体" pitchFamily="2" charset="-122"/>
              </a:rPr>
              <a:t>属性文法和语法制导的翻译方法</a:t>
            </a:r>
          </a:p>
        </p:txBody>
      </p:sp>
    </p:spTree>
    <p:extLst>
      <p:ext uri="{BB962C8B-B14F-4D97-AF65-F5344CB8AC3E}">
        <p14:creationId xmlns:p14="http://schemas.microsoft.com/office/powerpoint/2010/main" val="3145189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5634876" cy="769441"/>
          </a:xfrm>
          <a:prstGeom prst="rect">
            <a:avLst/>
          </a:prstGeom>
        </p:spPr>
        <p:txBody>
          <a:bodyPr wrap="none">
            <a:spAutoFit/>
          </a:bodyPr>
          <a:lstStyle/>
          <a:p>
            <a:r>
              <a:rPr lang="en-US" altLang="zh-CN" sz="4400" b="1" dirty="0">
                <a:solidFill>
                  <a:srgbClr val="CC0099"/>
                </a:solidFill>
                <a:ea typeface="隶书" pitchFamily="49" charset="-122"/>
              </a:rPr>
              <a:t>1</a:t>
            </a:r>
            <a:r>
              <a:rPr lang="zh-CN" altLang="en-US" sz="4400" b="1" dirty="0">
                <a:solidFill>
                  <a:srgbClr val="CC0099"/>
                </a:solidFill>
                <a:ea typeface="隶书" pitchFamily="49" charset="-122"/>
              </a:rPr>
              <a:t>、中间代码生成概述</a:t>
            </a:r>
            <a:endParaRPr lang="zh-CN" altLang="en-US" sz="4400" dirty="0"/>
          </a:p>
        </p:txBody>
      </p:sp>
    </p:spTree>
    <p:extLst>
      <p:ext uri="{BB962C8B-B14F-4D97-AF65-F5344CB8AC3E}">
        <p14:creationId xmlns:p14="http://schemas.microsoft.com/office/powerpoint/2010/main" val="4120492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0"/>
            <a:ext cx="7342188" cy="628650"/>
          </a:xfrm>
        </p:spPr>
        <p:txBody>
          <a:bodyPr>
            <a:normAutofit fontScale="90000"/>
          </a:bodyPr>
          <a:lstStyle/>
          <a:p>
            <a:pPr algn="l" eaLnBrk="1" hangingPunct="1"/>
            <a:r>
              <a:rPr lang="zh-CN" altLang="en-US" sz="4000" b="1">
                <a:solidFill>
                  <a:srgbClr val="0000CC"/>
                </a:solidFill>
                <a:ea typeface="楷体_GB2312" pitchFamily="49" charset="-122"/>
              </a:rPr>
              <a:t>中间代码生成程序所处的位置：</a:t>
            </a:r>
          </a:p>
        </p:txBody>
      </p:sp>
      <p:sp>
        <p:nvSpPr>
          <p:cNvPr id="4099" name="Rectangle 3"/>
          <p:cNvSpPr>
            <a:spLocks noGrp="1" noChangeArrowheads="1"/>
          </p:cNvSpPr>
          <p:nvPr>
            <p:ph type="body" idx="1"/>
          </p:nvPr>
        </p:nvSpPr>
        <p:spPr>
          <a:xfrm>
            <a:off x="457200" y="4336256"/>
            <a:ext cx="8229600" cy="258366"/>
          </a:xfrm>
        </p:spPr>
        <p:txBody>
          <a:bodyPr>
            <a:normAutofit fontScale="55000" lnSpcReduction="20000"/>
          </a:bodyPr>
          <a:lstStyle/>
          <a:p>
            <a:pPr eaLnBrk="1" hangingPunct="1"/>
            <a:endParaRPr lang="zh-CN" altLang="zh-CN"/>
          </a:p>
        </p:txBody>
      </p:sp>
      <p:sp>
        <p:nvSpPr>
          <p:cNvPr id="4100" name="Rectangle 21"/>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800"/>
          </a:p>
        </p:txBody>
      </p:sp>
      <p:sp>
        <p:nvSpPr>
          <p:cNvPr id="4101" name="Rectangle 23"/>
          <p:cNvSpPr>
            <a:spLocks noChangeArrowheads="1"/>
          </p:cNvSpPr>
          <p:nvPr/>
        </p:nvSpPr>
        <p:spPr bwMode="auto">
          <a:xfrm>
            <a:off x="0" y="-2616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800"/>
          </a:p>
        </p:txBody>
      </p:sp>
      <p:graphicFrame>
        <p:nvGraphicFramePr>
          <p:cNvPr id="4102" name="对象 5"/>
          <p:cNvGraphicFramePr>
            <a:graphicFrameLocks noChangeAspect="1"/>
          </p:cNvGraphicFramePr>
          <p:nvPr>
            <p:extLst>
              <p:ext uri="{D42A27DB-BD31-4B8C-83A1-F6EECF244321}">
                <p14:modId xmlns:p14="http://schemas.microsoft.com/office/powerpoint/2010/main" val="1895956591"/>
              </p:ext>
            </p:extLst>
          </p:nvPr>
        </p:nvGraphicFramePr>
        <p:xfrm>
          <a:off x="58739" y="991766"/>
          <a:ext cx="8670925" cy="3380184"/>
        </p:xfrm>
        <a:graphic>
          <a:graphicData uri="http://schemas.openxmlformats.org/presentationml/2006/ole">
            <mc:AlternateContent xmlns:mc="http://schemas.openxmlformats.org/markup-compatibility/2006">
              <mc:Choice xmlns:v="urn:schemas-microsoft-com:vml" Requires="v">
                <p:oleObj spid="_x0000_s1029" name="Visio" r:id="rId4" imgW="3775629" imgH="1962078" progId="Visio.Drawing.11">
                  <p:embed/>
                </p:oleObj>
              </mc:Choice>
              <mc:Fallback>
                <p:oleObj name="Visio" r:id="rId4" imgW="3775629" imgH="1962078" progId="Visio.Drawing.11">
                  <p:embed/>
                  <p:pic>
                    <p:nvPicPr>
                      <p:cNvPr id="4102"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9" y="991766"/>
                        <a:ext cx="8670925" cy="3380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1"/>
          <p:cNvGrpSpPr>
            <a:grpSpLocks/>
          </p:cNvGrpSpPr>
          <p:nvPr/>
        </p:nvGrpSpPr>
        <p:grpSpPr bwMode="auto">
          <a:xfrm>
            <a:off x="20638" y="1458491"/>
            <a:ext cx="8755062" cy="2430065"/>
            <a:chOff x="20340" y="1556792"/>
            <a:chExt cx="8755360" cy="3240360"/>
          </a:xfrm>
        </p:grpSpPr>
        <p:sp>
          <p:nvSpPr>
            <p:cNvPr id="4104" name="Rectangle 20"/>
            <p:cNvSpPr>
              <a:spLocks noChangeArrowheads="1"/>
            </p:cNvSpPr>
            <p:nvPr/>
          </p:nvSpPr>
          <p:spPr bwMode="auto">
            <a:xfrm>
              <a:off x="5580003" y="1725613"/>
              <a:ext cx="3195697" cy="3071539"/>
            </a:xfrm>
            <a:prstGeom prst="rect">
              <a:avLst/>
            </a:prstGeom>
            <a:solidFill>
              <a:srgbClr val="FFFFCC">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0"/>
                </a:spcBef>
                <a:buFontTx/>
                <a:buNone/>
              </a:pPr>
              <a:endParaRPr lang="zh-CN" altLang="en-US" sz="2800"/>
            </a:p>
          </p:txBody>
        </p:sp>
        <p:sp>
          <p:nvSpPr>
            <p:cNvPr id="4105" name="Rectangle 20"/>
            <p:cNvSpPr>
              <a:spLocks noChangeArrowheads="1"/>
            </p:cNvSpPr>
            <p:nvPr/>
          </p:nvSpPr>
          <p:spPr bwMode="auto">
            <a:xfrm>
              <a:off x="20340" y="1556792"/>
              <a:ext cx="3903423" cy="3096344"/>
            </a:xfrm>
            <a:prstGeom prst="rect">
              <a:avLst/>
            </a:prstGeom>
            <a:solidFill>
              <a:srgbClr val="FFFFCC">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0"/>
                </a:spcBef>
                <a:buFontTx/>
                <a:buNone/>
              </a:pPr>
              <a:endParaRPr lang="zh-CN" altLang="en-US" sz="2800"/>
            </a:p>
          </p:txBody>
        </p:sp>
      </p:grpSp>
    </p:spTree>
    <p:extLst>
      <p:ext uri="{BB962C8B-B14F-4D97-AF65-F5344CB8AC3E}">
        <p14:creationId xmlns:p14="http://schemas.microsoft.com/office/powerpoint/2010/main" val="389567208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1560" y="1491630"/>
            <a:ext cx="8229600" cy="1100713"/>
          </a:xfrm>
        </p:spPr>
        <p:txBody>
          <a:bodyPr>
            <a:normAutofit/>
          </a:bodyPr>
          <a:lstStyle/>
          <a:p>
            <a:r>
              <a:rPr lang="zh-CN" altLang="en-US" sz="2000" dirty="0"/>
              <a:t>上一节介绍过，在语法分析之后，静态语义检查、建立符号表和中间代码生成这三个部分的工作有可能交叉进行，但我们仍然按照各个部分独立工作来介绍</a:t>
            </a:r>
          </a:p>
        </p:txBody>
      </p:sp>
      <p:sp>
        <p:nvSpPr>
          <p:cNvPr id="3" name="标题 2"/>
          <p:cNvSpPr>
            <a:spLocks noGrp="1"/>
          </p:cNvSpPr>
          <p:nvPr>
            <p:ph type="title"/>
          </p:nvPr>
        </p:nvSpPr>
        <p:spPr/>
        <p:txBody>
          <a:bodyPr>
            <a:noAutofit/>
          </a:bodyPr>
          <a:lstStyle/>
          <a:p>
            <a:r>
              <a:rPr kumimoji="1" lang="zh-CN" altLang="zh-CN" sz="4400" dirty="0">
                <a:solidFill>
                  <a:srgbClr val="CC0099"/>
                </a:solidFill>
                <a:latin typeface="Times New Roman" pitchFamily="18" charset="0"/>
              </a:rPr>
              <a:t>概述</a:t>
            </a:r>
            <a:endParaRPr lang="zh-CN" altLang="en-US" sz="4400" dirty="0"/>
          </a:p>
        </p:txBody>
      </p:sp>
      <p:graphicFrame>
        <p:nvGraphicFramePr>
          <p:cNvPr id="4" name="对象 3"/>
          <p:cNvGraphicFramePr>
            <a:graphicFrameLocks noChangeAspect="1"/>
          </p:cNvGraphicFramePr>
          <p:nvPr>
            <p:extLst>
              <p:ext uri="{D42A27DB-BD31-4B8C-83A1-F6EECF244321}">
                <p14:modId xmlns:p14="http://schemas.microsoft.com/office/powerpoint/2010/main" val="4274049902"/>
              </p:ext>
            </p:extLst>
          </p:nvPr>
        </p:nvGraphicFramePr>
        <p:xfrm>
          <a:off x="2290261" y="133747"/>
          <a:ext cx="6875463" cy="1285875"/>
        </p:xfrm>
        <a:graphic>
          <a:graphicData uri="http://schemas.openxmlformats.org/presentationml/2006/ole">
            <mc:AlternateContent xmlns:mc="http://schemas.openxmlformats.org/markup-compatibility/2006">
              <mc:Choice xmlns:v="urn:schemas-microsoft-com:vml" Requires="v">
                <p:oleObj spid="_x0000_s2056" name="Visio" r:id="rId3" imgW="4688417" imgH="976104" progId="Visio.Drawing.11">
                  <p:embed/>
                </p:oleObj>
              </mc:Choice>
              <mc:Fallback>
                <p:oleObj name="Visio" r:id="rId3" imgW="4688417" imgH="976104" progId="Visio.Drawing.11">
                  <p:embed/>
                  <p:pic>
                    <p:nvPicPr>
                      <p:cNvPr id="4" name="对象 3"/>
                      <p:cNvPicPr>
                        <a:picLocks noChangeAspect="1" noChangeArrowheads="1"/>
                      </p:cNvPicPr>
                      <p:nvPr/>
                    </p:nvPicPr>
                    <p:blipFill>
                      <a:blip r:embed="rId4"/>
                      <a:srcRect/>
                      <a:stretch>
                        <a:fillRect/>
                      </a:stretch>
                    </p:blipFill>
                    <p:spPr bwMode="auto">
                      <a:xfrm>
                        <a:off x="2290261" y="133747"/>
                        <a:ext cx="6875463" cy="1285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内容占位符 1"/>
          <p:cNvSpPr txBox="1">
            <a:spLocks/>
          </p:cNvSpPr>
          <p:nvPr/>
        </p:nvSpPr>
        <p:spPr>
          <a:xfrm>
            <a:off x="611560" y="2499742"/>
            <a:ext cx="8229600" cy="1296144"/>
          </a:xfrm>
          <a:prstGeom prst="rect">
            <a:avLst/>
          </a:prstGeom>
        </p:spPr>
        <p:txBody>
          <a:bodyPr vert="horz">
            <a:normAutofit lnSpcReduction="10000"/>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zh-CN" altLang="en-US" sz="2200" dirty="0"/>
              <a:t>中间代码生成这一阶段在编译过程中可以没有，直接产生目标代码</a:t>
            </a:r>
          </a:p>
          <a:p>
            <a:pPr lvl="1"/>
            <a:r>
              <a:rPr lang="zh-CN" altLang="en-US" sz="2000" dirty="0"/>
              <a:t>优点是编译时间短且无须中间代码到目标代码的翻译，但这样生成的目标代码执行效率和质量都较低，移植性差。</a:t>
            </a:r>
          </a:p>
        </p:txBody>
      </p:sp>
      <p:graphicFrame>
        <p:nvGraphicFramePr>
          <p:cNvPr id="9" name="对象 8"/>
          <p:cNvGraphicFramePr>
            <a:graphicFrameLocks noChangeAspect="1"/>
          </p:cNvGraphicFramePr>
          <p:nvPr>
            <p:extLst>
              <p:ext uri="{D42A27DB-BD31-4B8C-83A1-F6EECF244321}">
                <p14:modId xmlns:p14="http://schemas.microsoft.com/office/powerpoint/2010/main" val="154884232"/>
              </p:ext>
            </p:extLst>
          </p:nvPr>
        </p:nvGraphicFramePr>
        <p:xfrm>
          <a:off x="1952108" y="3795886"/>
          <a:ext cx="6875462" cy="1285875"/>
        </p:xfrm>
        <a:graphic>
          <a:graphicData uri="http://schemas.openxmlformats.org/presentationml/2006/ole">
            <mc:AlternateContent xmlns:mc="http://schemas.openxmlformats.org/markup-compatibility/2006">
              <mc:Choice xmlns:v="urn:schemas-microsoft-com:vml" Requires="v">
                <p:oleObj spid="_x0000_s2057" name="Visio" r:id="rId5" imgW="4688417" imgH="976104" progId="Visio.Drawing.11">
                  <p:embed/>
                </p:oleObj>
              </mc:Choice>
              <mc:Fallback>
                <p:oleObj name="Visio" r:id="rId5" imgW="4688417" imgH="976104" progId="Visio.Drawing.11">
                  <p:embed/>
                  <p:pic>
                    <p:nvPicPr>
                      <p:cNvPr id="9" name="对象 8"/>
                      <p:cNvPicPr>
                        <a:picLocks noChangeAspect="1" noChangeArrowheads="1"/>
                      </p:cNvPicPr>
                      <p:nvPr/>
                    </p:nvPicPr>
                    <p:blipFill>
                      <a:blip r:embed="rId6"/>
                      <a:srcRect/>
                      <a:stretch>
                        <a:fillRect/>
                      </a:stretch>
                    </p:blipFill>
                    <p:spPr bwMode="auto">
                      <a:xfrm>
                        <a:off x="1952108" y="3795886"/>
                        <a:ext cx="6875462" cy="1285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00741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8"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0"/>
            <a:ext cx="8229600" cy="576064"/>
          </a:xfrm>
        </p:spPr>
        <p:txBody>
          <a:bodyPr>
            <a:noAutofit/>
          </a:bodyPr>
          <a:lstStyle/>
          <a:p>
            <a:r>
              <a:rPr kumimoji="1" lang="zh-CN" altLang="zh-CN" sz="4400" dirty="0">
                <a:solidFill>
                  <a:srgbClr val="CC0099"/>
                </a:solidFill>
                <a:latin typeface="Times New Roman" pitchFamily="18" charset="0"/>
              </a:rPr>
              <a:t>概述</a:t>
            </a:r>
            <a:endParaRPr lang="zh-CN" altLang="en-US" sz="4400" dirty="0"/>
          </a:p>
        </p:txBody>
      </p:sp>
      <p:sp>
        <p:nvSpPr>
          <p:cNvPr id="7" name="矩形 6"/>
          <p:cNvSpPr/>
          <p:nvPr/>
        </p:nvSpPr>
        <p:spPr>
          <a:xfrm>
            <a:off x="539552" y="2355726"/>
            <a:ext cx="7920880" cy="369332"/>
          </a:xfrm>
          <a:prstGeom prst="rect">
            <a:avLst/>
          </a:prstGeom>
          <a:solidFill>
            <a:schemeClr val="bg1"/>
          </a:solidFill>
        </p:spPr>
        <p:txBody>
          <a:bodyPr wrap="square">
            <a:spAutoFit/>
          </a:bodyPr>
          <a:lstStyle/>
          <a:p>
            <a:pPr marL="285750" indent="-285750">
              <a:buFont typeface="Arial" panose="020B0604020202020204" pitchFamily="34" charset="0"/>
              <a:buChar char="•"/>
            </a:pPr>
            <a:endParaRPr lang="zh-CN" altLang="zh-CN" dirty="0">
              <a:latin typeface="宋体" panose="02010600030101010101" pitchFamily="2" charset="-122"/>
              <a:ea typeface="宋体" panose="02010600030101010101" pitchFamily="2" charset="-122"/>
            </a:endParaRPr>
          </a:p>
        </p:txBody>
      </p:sp>
      <p:sp>
        <p:nvSpPr>
          <p:cNvPr id="8" name="内容占位符 7"/>
          <p:cNvSpPr>
            <a:spLocks noGrp="1"/>
          </p:cNvSpPr>
          <p:nvPr>
            <p:ph idx="1"/>
          </p:nvPr>
        </p:nvSpPr>
        <p:spPr>
          <a:xfrm>
            <a:off x="385192" y="771551"/>
            <a:ext cx="8229600" cy="2592288"/>
          </a:xfrm>
        </p:spPr>
        <p:txBody>
          <a:bodyPr>
            <a:noAutofit/>
          </a:bodyPr>
          <a:lstStyle/>
          <a:p>
            <a:pPr marL="285750" indent="-285750">
              <a:buFont typeface="Arial" panose="020B0604020202020204" pitchFamily="34" charset="0"/>
              <a:buChar char="•"/>
            </a:pPr>
            <a:r>
              <a:rPr lang="zh-CN" altLang="zh-CN" dirty="0"/>
              <a:t>生成中间代码的好处：</a:t>
            </a:r>
          </a:p>
          <a:p>
            <a:pPr marL="742950" lvl="1" indent="-285750">
              <a:buFont typeface="Arial" panose="020B0604020202020204" pitchFamily="34" charset="0"/>
              <a:buChar char="•"/>
            </a:pPr>
            <a:r>
              <a:rPr lang="zh-CN" altLang="zh-CN" sz="2000" dirty="0"/>
              <a:t>（</a:t>
            </a:r>
            <a:r>
              <a:rPr lang="en-US" altLang="zh-CN" sz="2000" dirty="0"/>
              <a:t>1</a:t>
            </a:r>
            <a:r>
              <a:rPr lang="zh-CN" altLang="zh-CN" sz="2000" dirty="0"/>
              <a:t>）便于进行与机器无关的代码优化工作，提高目标代码的效率</a:t>
            </a:r>
          </a:p>
          <a:p>
            <a:pPr marL="742950" lvl="1" indent="-285750">
              <a:buFont typeface="Arial" panose="020B0604020202020204" pitchFamily="34" charset="0"/>
              <a:buChar char="•"/>
            </a:pPr>
            <a:r>
              <a:rPr lang="zh-CN" altLang="zh-CN" sz="2000" dirty="0"/>
              <a:t>（</a:t>
            </a:r>
            <a:r>
              <a:rPr lang="en-US" altLang="zh-CN" sz="2000" dirty="0"/>
              <a:t>2</a:t>
            </a:r>
            <a:r>
              <a:rPr lang="zh-CN" altLang="zh-CN" sz="2000" dirty="0"/>
              <a:t>）使编译程序改变目标机更容易</a:t>
            </a:r>
          </a:p>
          <a:p>
            <a:pPr marL="742950" lvl="1" indent="-285750">
              <a:buFont typeface="Arial" panose="020B0604020202020204" pitchFamily="34" charset="0"/>
              <a:buChar char="•"/>
            </a:pPr>
            <a:r>
              <a:rPr lang="zh-CN" altLang="zh-CN" sz="2000" dirty="0"/>
              <a:t>（</a:t>
            </a:r>
            <a:r>
              <a:rPr lang="en-US" altLang="zh-CN" sz="2000" dirty="0"/>
              <a:t>3</a:t>
            </a:r>
            <a:r>
              <a:rPr lang="zh-CN" altLang="zh-CN" sz="2000" dirty="0"/>
              <a:t>）使编译程序的结构在逻辑上更为简单明确。以中间语言为界面，编译前端和后端的接口更清晰，也更易于生成不同语言在不同机器上的编译程序</a:t>
            </a:r>
          </a:p>
          <a:p>
            <a:endParaRPr lang="zh-CN" altLang="en-US" dirty="0"/>
          </a:p>
        </p:txBody>
      </p:sp>
      <p:graphicFrame>
        <p:nvGraphicFramePr>
          <p:cNvPr id="9" name="对象 8"/>
          <p:cNvGraphicFramePr>
            <a:graphicFrameLocks noChangeAspect="1"/>
          </p:cNvGraphicFramePr>
          <p:nvPr>
            <p:extLst>
              <p:ext uri="{D42A27DB-BD31-4B8C-83A1-F6EECF244321}">
                <p14:modId xmlns:p14="http://schemas.microsoft.com/office/powerpoint/2010/main" val="459354375"/>
              </p:ext>
            </p:extLst>
          </p:nvPr>
        </p:nvGraphicFramePr>
        <p:xfrm>
          <a:off x="1380222" y="2931790"/>
          <a:ext cx="7619762" cy="2018423"/>
        </p:xfrm>
        <a:graphic>
          <a:graphicData uri="http://schemas.openxmlformats.org/presentationml/2006/ole">
            <mc:AlternateContent xmlns:mc="http://schemas.openxmlformats.org/markup-compatibility/2006">
              <mc:Choice xmlns:v="urn:schemas-microsoft-com:vml" Requires="v">
                <p:oleObj spid="_x0000_s3077" name="Visio" r:id="rId3" imgW="4427746" imgH="1173528" progId="Visio.Drawing.11">
                  <p:embed/>
                </p:oleObj>
              </mc:Choice>
              <mc:Fallback>
                <p:oleObj name="Visio" r:id="rId3" imgW="4427746" imgH="1173528" progId="Visio.Drawing.11">
                  <p:embed/>
                  <p:pic>
                    <p:nvPicPr>
                      <p:cNvPr id="9"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0222" y="2931790"/>
                        <a:ext cx="7619762" cy="2018423"/>
                      </a:xfrm>
                      <a:prstGeom prst="rect">
                        <a:avLst/>
                      </a:prstGeom>
                      <a:noFill/>
                      <a:ln>
                        <a:noFill/>
                      </a:ln>
                    </p:spPr>
                  </p:pic>
                </p:oleObj>
              </mc:Fallback>
            </mc:AlternateContent>
          </a:graphicData>
        </a:graphic>
      </p:graphicFrame>
      <p:sp>
        <p:nvSpPr>
          <p:cNvPr id="11"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36795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生成中间代码是为了缩小高级语言和机器语言之间的语义鸿沟，如果有必要，可以设计多层中间语言，采取逐层翻译为不同的中间语言的方式</a:t>
            </a:r>
            <a:endParaRPr lang="zh-CN" altLang="en-US" dirty="0"/>
          </a:p>
          <a:p>
            <a:pPr marL="109728" indent="0">
              <a:buNone/>
            </a:pPr>
            <a:endParaRPr lang="zh-CN" altLang="en-US" dirty="0"/>
          </a:p>
        </p:txBody>
      </p:sp>
      <p:sp>
        <p:nvSpPr>
          <p:cNvPr id="3" name="标题 2"/>
          <p:cNvSpPr>
            <a:spLocks noGrp="1"/>
          </p:cNvSpPr>
          <p:nvPr>
            <p:ph type="title"/>
          </p:nvPr>
        </p:nvSpPr>
        <p:spPr/>
        <p:txBody>
          <a:bodyPr>
            <a:noAutofit/>
          </a:bodyPr>
          <a:lstStyle/>
          <a:p>
            <a:r>
              <a:rPr kumimoji="1" lang="zh-CN" altLang="zh-CN" sz="4400" dirty="0">
                <a:solidFill>
                  <a:srgbClr val="CC0099"/>
                </a:solidFill>
                <a:latin typeface="Times New Roman" pitchFamily="18" charset="0"/>
              </a:rPr>
              <a:t>概述</a:t>
            </a:r>
            <a:endParaRPr lang="zh-CN" altLang="en-US" sz="4400" dirty="0"/>
          </a:p>
        </p:txBody>
      </p:sp>
      <p:graphicFrame>
        <p:nvGraphicFramePr>
          <p:cNvPr id="4" name="对象 3"/>
          <p:cNvGraphicFramePr>
            <a:graphicFrameLocks noChangeAspect="1"/>
          </p:cNvGraphicFramePr>
          <p:nvPr>
            <p:extLst>
              <p:ext uri="{D42A27DB-BD31-4B8C-83A1-F6EECF244321}">
                <p14:modId xmlns:p14="http://schemas.microsoft.com/office/powerpoint/2010/main" val="1810360936"/>
              </p:ext>
            </p:extLst>
          </p:nvPr>
        </p:nvGraphicFramePr>
        <p:xfrm>
          <a:off x="1403648" y="2859782"/>
          <a:ext cx="7150100" cy="1347787"/>
        </p:xfrm>
        <a:graphic>
          <a:graphicData uri="http://schemas.openxmlformats.org/presentationml/2006/ole">
            <mc:AlternateContent xmlns:mc="http://schemas.openxmlformats.org/markup-compatibility/2006">
              <mc:Choice xmlns:v="urn:schemas-microsoft-com:vml" Requires="v">
                <p:oleObj spid="_x0000_s4101" name="Visio" r:id="rId3" imgW="3521629" imgH="659705" progId="Visio.Drawing.11">
                  <p:embed/>
                </p:oleObj>
              </mc:Choice>
              <mc:Fallback>
                <p:oleObj name="Visio" r:id="rId3" imgW="3521629" imgH="659705" progId="Visio.Drawing.11">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2859782"/>
                        <a:ext cx="7150100" cy="1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35883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46856" y="771550"/>
            <a:ext cx="8229600" cy="1532761"/>
          </a:xfrm>
        </p:spPr>
        <p:txBody>
          <a:bodyPr/>
          <a:lstStyle/>
          <a:p>
            <a:r>
              <a:rPr lang="zh-CN" altLang="zh-CN" dirty="0"/>
              <a:t>在上一章中明确了各个语法单位的含义，但都是使用自然语言来描述的，这种自然语言的描述只能帮助人来理解，无法用计算机精确表示并据此进行翻译。</a:t>
            </a:r>
            <a:endParaRPr lang="zh-CN" altLang="en-US" dirty="0"/>
          </a:p>
        </p:txBody>
      </p:sp>
      <p:sp>
        <p:nvSpPr>
          <p:cNvPr id="3" name="标题 2"/>
          <p:cNvSpPr>
            <a:spLocks noGrp="1"/>
          </p:cNvSpPr>
          <p:nvPr>
            <p:ph type="title"/>
          </p:nvPr>
        </p:nvSpPr>
        <p:spPr/>
        <p:txBody>
          <a:bodyPr>
            <a:noAutofit/>
          </a:bodyPr>
          <a:lstStyle/>
          <a:p>
            <a:r>
              <a:rPr lang="zh-CN" altLang="en-US" sz="4000" dirty="0">
                <a:solidFill>
                  <a:srgbClr val="CC00FF"/>
                </a:solidFill>
              </a:rPr>
              <a:t>概述</a:t>
            </a:r>
          </a:p>
        </p:txBody>
      </p:sp>
      <p:sp>
        <p:nvSpPr>
          <p:cNvPr id="4" name="内容占位符 2"/>
          <p:cNvSpPr txBox="1">
            <a:spLocks/>
          </p:cNvSpPr>
          <p:nvPr/>
        </p:nvSpPr>
        <p:spPr>
          <a:xfrm>
            <a:off x="323850" y="2787774"/>
            <a:ext cx="3960118" cy="2267842"/>
          </a:xfrm>
          <a:prstGeom prst="rect">
            <a:avLst/>
          </a:prstGeom>
        </p:spPr>
        <p:style>
          <a:lnRef idx="2">
            <a:schemeClr val="accent1"/>
          </a:lnRef>
          <a:fillRef idx="1">
            <a:schemeClr val="lt1"/>
          </a:fillRef>
          <a:effectRef idx="0">
            <a:schemeClr val="accent1"/>
          </a:effectRef>
          <a:fontRef idx="minor">
            <a:schemeClr val="dk1"/>
          </a:fontRef>
        </p:style>
        <p:txBody>
          <a:bodyPr vert="horz">
            <a:normAutofit lnSpcReduction="10000"/>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en-US" altLang="zh-CN" dirty="0"/>
              <a:t>while</a:t>
            </a:r>
            <a:r>
              <a:rPr lang="zh-CN" altLang="zh-CN" dirty="0"/>
              <a:t>语句的</a:t>
            </a:r>
            <a:r>
              <a:rPr lang="zh-CN" altLang="zh-CN" dirty="0">
                <a:solidFill>
                  <a:srgbClr val="FF0000"/>
                </a:solidFill>
              </a:rPr>
              <a:t>语义</a:t>
            </a:r>
            <a:r>
              <a:rPr lang="zh-CN" altLang="zh-CN" dirty="0"/>
              <a:t>：</a:t>
            </a:r>
            <a:endParaRPr lang="en-US" altLang="zh-CN" dirty="0"/>
          </a:p>
          <a:p>
            <a:pPr lvl="1"/>
            <a:r>
              <a:rPr lang="zh-CN" altLang="en-US" dirty="0"/>
              <a:t>先执行表达式</a:t>
            </a:r>
            <a:endParaRPr lang="en-US" altLang="zh-CN" dirty="0"/>
          </a:p>
          <a:p>
            <a:pPr lvl="1"/>
            <a:r>
              <a:rPr lang="zh-CN" altLang="zh-CN" dirty="0"/>
              <a:t>如果表达式的结果为真</a:t>
            </a:r>
            <a:endParaRPr lang="en-US" altLang="zh-CN" dirty="0"/>
          </a:p>
          <a:p>
            <a:pPr lvl="2"/>
            <a:r>
              <a:rPr lang="zh-CN" altLang="zh-CN" dirty="0"/>
              <a:t>执行后面的循环语句</a:t>
            </a:r>
            <a:endParaRPr lang="en-US" altLang="zh-CN" dirty="0"/>
          </a:p>
          <a:p>
            <a:pPr lvl="2"/>
            <a:r>
              <a:rPr lang="zh-CN" altLang="en-US" dirty="0"/>
              <a:t>否则</a:t>
            </a:r>
            <a:r>
              <a:rPr lang="zh-CN" altLang="zh-CN" dirty="0"/>
              <a:t>退出</a:t>
            </a:r>
            <a:endParaRPr lang="en-US" altLang="zh-CN" dirty="0"/>
          </a:p>
          <a:p>
            <a:pPr lvl="1"/>
            <a:r>
              <a:rPr lang="zh-CN" altLang="en-US" dirty="0"/>
              <a:t>返回第一步</a:t>
            </a:r>
            <a:endParaRPr lang="zh-CN" altLang="zh-CN" dirty="0"/>
          </a:p>
        </p:txBody>
      </p:sp>
      <p:sp>
        <p:nvSpPr>
          <p:cNvPr id="5" name="矩形 4"/>
          <p:cNvSpPr/>
          <p:nvPr/>
        </p:nvSpPr>
        <p:spPr>
          <a:xfrm>
            <a:off x="2915816" y="2107353"/>
            <a:ext cx="5571404" cy="400110"/>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defRPr/>
            </a:pPr>
            <a:r>
              <a:rPr lang="en-US" altLang="zh-CN" sz="2000" dirty="0"/>
              <a:t>&lt;while</a:t>
            </a:r>
            <a:r>
              <a:rPr lang="zh-CN" altLang="zh-CN" sz="2000" dirty="0"/>
              <a:t>语句</a:t>
            </a:r>
            <a:r>
              <a:rPr lang="en-US" altLang="zh-CN" sz="2000" dirty="0"/>
              <a:t>&gt;</a:t>
            </a:r>
            <a:r>
              <a:rPr lang="zh-CN" altLang="zh-CN" sz="2000" dirty="0"/>
              <a:t>→</a:t>
            </a:r>
            <a:r>
              <a:rPr lang="en-US" altLang="zh-CN" sz="2000" dirty="0"/>
              <a:t>while (&lt;</a:t>
            </a:r>
            <a:r>
              <a:rPr lang="zh-CN" altLang="zh-CN" sz="2000" dirty="0"/>
              <a:t>表达式</a:t>
            </a:r>
            <a:r>
              <a:rPr lang="en-US" altLang="zh-CN" sz="2000" dirty="0"/>
              <a:t>&gt;)&lt;</a:t>
            </a:r>
            <a:r>
              <a:rPr lang="zh-CN" altLang="zh-CN" sz="2000" dirty="0"/>
              <a:t>循环语句</a:t>
            </a:r>
            <a:r>
              <a:rPr lang="en-US" altLang="zh-CN" sz="2000" dirty="0"/>
              <a:t>&gt;</a:t>
            </a:r>
            <a:endParaRPr lang="zh-CN" altLang="zh-CN" sz="2000" dirty="0"/>
          </a:p>
        </p:txBody>
      </p:sp>
    </p:spTree>
    <p:extLst>
      <p:ext uri="{BB962C8B-B14F-4D97-AF65-F5344CB8AC3E}">
        <p14:creationId xmlns:p14="http://schemas.microsoft.com/office/powerpoint/2010/main" val="2056344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3371436" cy="769441"/>
          </a:xfrm>
          <a:prstGeom prst="rect">
            <a:avLst/>
          </a:prstGeom>
        </p:spPr>
        <p:txBody>
          <a:bodyPr wrap="none">
            <a:spAutoFit/>
          </a:bodyPr>
          <a:lstStyle/>
          <a:p>
            <a:r>
              <a:rPr lang="en-US" altLang="zh-CN" sz="4400" b="1" dirty="0">
                <a:solidFill>
                  <a:srgbClr val="CC0099"/>
                </a:solidFill>
                <a:ea typeface="隶书" pitchFamily="49" charset="-122"/>
              </a:rPr>
              <a:t>2</a:t>
            </a:r>
            <a:r>
              <a:rPr lang="zh-CN" altLang="en-US" sz="4400" b="1" dirty="0">
                <a:solidFill>
                  <a:srgbClr val="CC0099"/>
                </a:solidFill>
                <a:ea typeface="隶书" pitchFamily="49" charset="-122"/>
              </a:rPr>
              <a:t>、中间代码</a:t>
            </a:r>
            <a:endParaRPr lang="zh-CN" altLang="en-US" sz="4400" dirty="0"/>
          </a:p>
        </p:txBody>
      </p:sp>
    </p:spTree>
    <p:extLst>
      <p:ext uri="{BB962C8B-B14F-4D97-AF65-F5344CB8AC3E}">
        <p14:creationId xmlns:p14="http://schemas.microsoft.com/office/powerpoint/2010/main" val="1932135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500063" y="160735"/>
            <a:ext cx="8229600" cy="683419"/>
          </a:xfrm>
        </p:spPr>
        <p:txBody>
          <a:bodyPr>
            <a:noAutofit/>
          </a:bodyPr>
          <a:lstStyle/>
          <a:p>
            <a:pPr eaLnBrk="1" hangingPunct="1"/>
            <a:r>
              <a:rPr kumimoji="1" lang="zh-CN" altLang="zh-CN" sz="4400" b="1" dirty="0">
                <a:solidFill>
                  <a:srgbClr val="CC0099"/>
                </a:solidFill>
                <a:latin typeface="Times New Roman" pitchFamily="18" charset="0"/>
                <a:ea typeface="隶书" pitchFamily="49" charset="-122"/>
              </a:rPr>
              <a:t>概述</a:t>
            </a:r>
          </a:p>
        </p:txBody>
      </p:sp>
      <p:sp>
        <p:nvSpPr>
          <p:cNvPr id="23555" name="Rectangle 3"/>
          <p:cNvSpPr>
            <a:spLocks noGrp="1" noChangeArrowheads="1"/>
          </p:cNvSpPr>
          <p:nvPr>
            <p:ph type="body" idx="1"/>
          </p:nvPr>
        </p:nvSpPr>
        <p:spPr>
          <a:xfrm>
            <a:off x="501650" y="858441"/>
            <a:ext cx="8229600" cy="3981450"/>
          </a:xfrm>
        </p:spPr>
        <p:txBody>
          <a:bodyPr>
            <a:normAutofit fontScale="85000" lnSpcReduction="20000"/>
          </a:bodyPr>
          <a:lstStyle/>
          <a:p>
            <a:pPr marL="0" indent="0" eaLnBrk="1" hangingPunct="1">
              <a:lnSpc>
                <a:spcPct val="150000"/>
              </a:lnSpc>
              <a:buFontTx/>
              <a:buNone/>
              <a:defRPr/>
            </a:pPr>
            <a:r>
              <a:rPr lang="zh-CN" altLang="zh-CN" sz="2800" dirty="0"/>
              <a:t>将高级语言翻译为中间代码，必须解决以下问题：</a:t>
            </a:r>
            <a:endParaRPr lang="en-US" altLang="zh-CN" sz="2800" dirty="0"/>
          </a:p>
          <a:p>
            <a:pPr eaLnBrk="1" hangingPunct="1">
              <a:lnSpc>
                <a:spcPct val="150000"/>
              </a:lnSpc>
              <a:buFont typeface="Wingdings" panose="05000000000000000000" pitchFamily="2" charset="2"/>
              <a:buChar char="ü"/>
              <a:defRPr/>
            </a:pPr>
            <a:r>
              <a:rPr lang="zh-CN" altLang="zh-CN" sz="2800" dirty="0"/>
              <a:t>中间代码的形式是什么样的</a:t>
            </a:r>
            <a:r>
              <a:rPr lang="zh-CN" altLang="en-US" sz="2800" dirty="0"/>
              <a:t>？</a:t>
            </a:r>
            <a:endParaRPr lang="en-US" altLang="zh-CN" sz="2800" dirty="0"/>
          </a:p>
          <a:p>
            <a:pPr marL="0" lvl="1" indent="0" eaLnBrk="1" hangingPunct="1">
              <a:lnSpc>
                <a:spcPct val="150000"/>
              </a:lnSpc>
              <a:buFontTx/>
              <a:buNone/>
              <a:defRPr/>
            </a:pPr>
            <a:r>
              <a:rPr lang="en-US" altLang="zh-CN" sz="2400" dirty="0">
                <a:solidFill>
                  <a:srgbClr val="0070C0"/>
                </a:solidFill>
                <a:cs typeface="+mn-cs"/>
              </a:rPr>
              <a:t>     </a:t>
            </a:r>
            <a:r>
              <a:rPr lang="zh-CN" altLang="zh-CN" sz="2400" dirty="0">
                <a:solidFill>
                  <a:srgbClr val="0070C0"/>
                </a:solidFill>
                <a:cs typeface="+mn-cs"/>
              </a:rPr>
              <a:t>后缀式（逆波兰式）、三地址代码（包括三元式和四元式）</a:t>
            </a:r>
            <a:endParaRPr lang="en-US" altLang="zh-CN" sz="2400" dirty="0">
              <a:solidFill>
                <a:srgbClr val="0070C0"/>
              </a:solidFill>
              <a:cs typeface="+mn-cs"/>
            </a:endParaRPr>
          </a:p>
          <a:p>
            <a:pPr marL="0" lvl="1" indent="0" eaLnBrk="1" hangingPunct="1">
              <a:lnSpc>
                <a:spcPct val="150000"/>
              </a:lnSpc>
              <a:buFontTx/>
              <a:buNone/>
              <a:defRPr/>
            </a:pPr>
            <a:r>
              <a:rPr lang="en-US" altLang="zh-CN" sz="2400" dirty="0">
                <a:solidFill>
                  <a:srgbClr val="0070C0"/>
                </a:solidFill>
              </a:rPr>
              <a:t>      </a:t>
            </a:r>
            <a:r>
              <a:rPr lang="zh-CN" altLang="zh-CN" sz="2400" dirty="0">
                <a:solidFill>
                  <a:srgbClr val="0070C0"/>
                </a:solidFill>
                <a:cs typeface="+mn-cs"/>
              </a:rPr>
              <a:t>抽象语法树、有向无环图</a:t>
            </a:r>
            <a:endParaRPr lang="en-US" altLang="zh-CN" sz="2400" dirty="0">
              <a:solidFill>
                <a:srgbClr val="0070C0"/>
              </a:solidFill>
              <a:cs typeface="+mn-cs"/>
            </a:endParaRPr>
          </a:p>
          <a:p>
            <a:pPr eaLnBrk="1" hangingPunct="1">
              <a:lnSpc>
                <a:spcPct val="150000"/>
              </a:lnSpc>
              <a:buFont typeface="Wingdings" panose="05000000000000000000" pitchFamily="2" charset="2"/>
              <a:buChar char="ü"/>
              <a:defRPr/>
            </a:pPr>
            <a:r>
              <a:rPr lang="zh-CN" altLang="zh-CN" sz="2800" dirty="0"/>
              <a:t>高级语言的语义如何表示</a:t>
            </a:r>
            <a:r>
              <a:rPr lang="zh-CN" altLang="en-US" sz="2800" dirty="0"/>
              <a:t>？</a:t>
            </a:r>
            <a:endParaRPr lang="en-US" altLang="zh-CN" sz="2800" dirty="0"/>
          </a:p>
          <a:p>
            <a:pPr marL="0" indent="0" eaLnBrk="1" hangingPunct="1">
              <a:lnSpc>
                <a:spcPct val="150000"/>
              </a:lnSpc>
              <a:buFontTx/>
              <a:buNone/>
              <a:defRPr/>
            </a:pPr>
            <a:r>
              <a:rPr lang="zh-CN" altLang="en-US" sz="2400" dirty="0">
                <a:solidFill>
                  <a:srgbClr val="0070C0"/>
                </a:solidFill>
              </a:rPr>
              <a:t>      属性文法</a:t>
            </a:r>
            <a:endParaRPr lang="en-US" altLang="zh-CN" sz="2400" dirty="0">
              <a:solidFill>
                <a:srgbClr val="0070C0"/>
              </a:solidFill>
            </a:endParaRPr>
          </a:p>
          <a:p>
            <a:pPr eaLnBrk="1" hangingPunct="1">
              <a:lnSpc>
                <a:spcPct val="150000"/>
              </a:lnSpc>
              <a:buFont typeface="Wingdings" panose="05000000000000000000" pitchFamily="2" charset="2"/>
              <a:buChar char="ü"/>
              <a:defRPr/>
            </a:pPr>
            <a:r>
              <a:rPr lang="zh-CN" altLang="zh-CN" sz="2800" dirty="0"/>
              <a:t>翻译方法是什么</a:t>
            </a:r>
            <a:r>
              <a:rPr lang="zh-CN" altLang="en-US" sz="2800" dirty="0"/>
              <a:t>？</a:t>
            </a:r>
            <a:endParaRPr lang="en-US" altLang="zh-CN" sz="2800" dirty="0"/>
          </a:p>
          <a:p>
            <a:pPr marL="0" indent="0" eaLnBrk="1" hangingPunct="1">
              <a:lnSpc>
                <a:spcPct val="150000"/>
              </a:lnSpc>
              <a:buFontTx/>
              <a:buNone/>
              <a:defRPr/>
            </a:pPr>
            <a:r>
              <a:rPr kumimoji="1" lang="zh-CN" altLang="en-US" sz="2400" dirty="0">
                <a:solidFill>
                  <a:srgbClr val="0070C0"/>
                </a:solidFill>
              </a:rPr>
              <a:t>      语法制导翻译</a:t>
            </a:r>
            <a:endParaRPr kumimoji="1" lang="en-US" altLang="zh-CN" sz="2400" dirty="0">
              <a:solidFill>
                <a:srgbClr val="0070C0"/>
              </a:solidFill>
            </a:endParaRPr>
          </a:p>
        </p:txBody>
      </p:sp>
    </p:spTree>
    <p:extLst>
      <p:ext uri="{BB962C8B-B14F-4D97-AF65-F5344CB8AC3E}">
        <p14:creationId xmlns:p14="http://schemas.microsoft.com/office/powerpoint/2010/main" val="38727934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355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3555">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3555">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55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23555">
                                            <p:txEl>
                                              <p:pRg st="5" end="5"/>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2355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3"/>
          <p:cNvSpPr>
            <a:spLocks noGrp="1" noChangeArrowheads="1"/>
          </p:cNvSpPr>
          <p:nvPr>
            <p:ph type="body" idx="1"/>
          </p:nvPr>
        </p:nvSpPr>
        <p:spPr>
          <a:xfrm>
            <a:off x="153955" y="753071"/>
            <a:ext cx="8915400" cy="1968103"/>
          </a:xfrm>
        </p:spPr>
        <p:txBody>
          <a:bodyPr>
            <a:normAutofit/>
          </a:bodyPr>
          <a:lstStyle/>
          <a:p>
            <a:pPr lvl="1" eaLnBrk="1" hangingPunct="1">
              <a:spcBef>
                <a:spcPct val="0"/>
              </a:spcBef>
            </a:pPr>
            <a:r>
              <a:rPr lang="zh-CN" altLang="en-US" dirty="0">
                <a:latin typeface="宋体" pitchFamily="2" charset="-122"/>
              </a:rPr>
              <a:t>运算对象写在前，运算符写在后</a:t>
            </a:r>
            <a:r>
              <a:rPr lang="en-US" altLang="zh-CN" dirty="0">
                <a:latin typeface="宋体" pitchFamily="2" charset="-122"/>
              </a:rPr>
              <a:t>(</a:t>
            </a:r>
            <a:r>
              <a:rPr lang="zh-CN" altLang="en-US" b="1" dirty="0">
                <a:solidFill>
                  <a:srgbClr val="0033CC"/>
                </a:solidFill>
                <a:latin typeface="宋体" pitchFamily="2" charset="-122"/>
              </a:rPr>
              <a:t>后缀</a:t>
            </a:r>
            <a:r>
              <a:rPr lang="zh-CN" altLang="en-US" dirty="0">
                <a:latin typeface="宋体" pitchFamily="2" charset="-122"/>
              </a:rPr>
              <a:t>表示形式</a:t>
            </a:r>
            <a:r>
              <a:rPr lang="en-US" altLang="zh-CN" dirty="0">
                <a:latin typeface="宋体" pitchFamily="2" charset="-122"/>
              </a:rPr>
              <a:t>)</a:t>
            </a:r>
          </a:p>
          <a:p>
            <a:pPr lvl="1" eaLnBrk="1" hangingPunct="1">
              <a:spcBef>
                <a:spcPct val="0"/>
              </a:spcBef>
              <a:buFontTx/>
              <a:buNone/>
            </a:pPr>
            <a:r>
              <a:rPr lang="zh-CN" altLang="en-US" dirty="0">
                <a:latin typeface="宋体" pitchFamily="2" charset="-122"/>
              </a:rPr>
              <a:t>例：</a:t>
            </a:r>
            <a:r>
              <a:rPr lang="en-US" altLang="zh-CN" dirty="0" err="1">
                <a:latin typeface="宋体" pitchFamily="2" charset="-122"/>
              </a:rPr>
              <a:t>a+b</a:t>
            </a:r>
            <a:r>
              <a:rPr lang="en-US" altLang="zh-CN" dirty="0">
                <a:latin typeface="宋体" pitchFamily="2" charset="-122"/>
              </a:rPr>
              <a:t> </a:t>
            </a:r>
            <a:r>
              <a:rPr lang="en-US" altLang="zh-CN" dirty="0">
                <a:latin typeface="宋体" pitchFamily="2" charset="-122"/>
                <a:sym typeface="Wingdings" pitchFamily="2" charset="2"/>
              </a:rPr>
              <a:t>         </a:t>
            </a:r>
            <a:r>
              <a:rPr lang="en-US" altLang="zh-CN" dirty="0">
                <a:latin typeface="宋体" pitchFamily="2" charset="-122"/>
              </a:rPr>
              <a:t>ab+ </a:t>
            </a:r>
          </a:p>
          <a:p>
            <a:pPr lvl="1" eaLnBrk="1" hangingPunct="1">
              <a:spcBef>
                <a:spcPct val="0"/>
              </a:spcBef>
              <a:buFontTx/>
              <a:buNone/>
            </a:pPr>
            <a:r>
              <a:rPr lang="zh-CN" altLang="en-US" dirty="0">
                <a:latin typeface="宋体" pitchFamily="2" charset="-122"/>
              </a:rPr>
              <a:t>　　</a:t>
            </a:r>
            <a:r>
              <a:rPr lang="en-US" altLang="zh-CN" dirty="0">
                <a:latin typeface="宋体" pitchFamily="2" charset="-122"/>
              </a:rPr>
              <a:t>(</a:t>
            </a:r>
            <a:r>
              <a:rPr lang="en-US" altLang="zh-CN" dirty="0" err="1">
                <a:latin typeface="宋体" pitchFamily="2" charset="-122"/>
              </a:rPr>
              <a:t>a+b</a:t>
            </a:r>
            <a:r>
              <a:rPr lang="en-US" altLang="zh-CN" dirty="0">
                <a:latin typeface="宋体" pitchFamily="2" charset="-122"/>
              </a:rPr>
              <a:t>)*c </a:t>
            </a:r>
            <a:r>
              <a:rPr lang="en-US" altLang="zh-CN" dirty="0">
                <a:latin typeface="宋体" pitchFamily="2" charset="-122"/>
                <a:sym typeface="Wingdings" pitchFamily="2" charset="2"/>
              </a:rPr>
              <a:t>     </a:t>
            </a:r>
            <a:r>
              <a:rPr lang="en-US" altLang="zh-CN" dirty="0" err="1">
                <a:latin typeface="宋体" pitchFamily="2" charset="-122"/>
              </a:rPr>
              <a:t>ab+c</a:t>
            </a:r>
            <a:r>
              <a:rPr lang="en-US" altLang="zh-CN" dirty="0">
                <a:latin typeface="宋体" pitchFamily="2" charset="-122"/>
              </a:rPr>
              <a:t>*</a:t>
            </a:r>
          </a:p>
          <a:p>
            <a:pPr lvl="1" eaLnBrk="1" hangingPunct="1">
              <a:spcBef>
                <a:spcPct val="0"/>
              </a:spcBef>
              <a:buFontTx/>
              <a:buNone/>
            </a:pPr>
            <a:r>
              <a:rPr lang="zh-CN" altLang="en-US" dirty="0">
                <a:latin typeface="宋体" pitchFamily="2" charset="-122"/>
              </a:rPr>
              <a:t>　　</a:t>
            </a:r>
            <a:r>
              <a:rPr lang="en-US" altLang="zh-CN" dirty="0" err="1">
                <a:latin typeface="宋体" pitchFamily="2" charset="-122"/>
              </a:rPr>
              <a:t>a+b</a:t>
            </a:r>
            <a:r>
              <a:rPr lang="en-US" altLang="zh-CN" dirty="0">
                <a:latin typeface="宋体" pitchFamily="2" charset="-122"/>
              </a:rPr>
              <a:t>*c </a:t>
            </a:r>
            <a:r>
              <a:rPr lang="en-US" altLang="zh-CN" dirty="0">
                <a:latin typeface="宋体" pitchFamily="2" charset="-122"/>
                <a:sym typeface="Wingdings" pitchFamily="2" charset="2"/>
              </a:rPr>
              <a:t>       </a:t>
            </a:r>
            <a:r>
              <a:rPr lang="en-US" altLang="zh-CN" dirty="0" err="1">
                <a:latin typeface="宋体" pitchFamily="2" charset="-122"/>
              </a:rPr>
              <a:t>abc</a:t>
            </a:r>
            <a:r>
              <a:rPr lang="en-US" altLang="zh-CN" dirty="0">
                <a:latin typeface="宋体" pitchFamily="2" charset="-122"/>
              </a:rPr>
              <a:t>*+</a:t>
            </a:r>
          </a:p>
          <a:p>
            <a:pPr lvl="1" eaLnBrk="1" hangingPunct="1">
              <a:spcBef>
                <a:spcPct val="0"/>
              </a:spcBef>
              <a:buFontTx/>
              <a:buNone/>
            </a:pPr>
            <a:r>
              <a:rPr lang="zh-CN" altLang="en-US" dirty="0">
                <a:latin typeface="宋体" pitchFamily="2" charset="-122"/>
              </a:rPr>
              <a:t>　　</a:t>
            </a:r>
            <a:r>
              <a:rPr lang="en-US" altLang="zh-CN" dirty="0">
                <a:latin typeface="宋体" pitchFamily="2" charset="-122"/>
              </a:rPr>
              <a:t>a=b*</a:t>
            </a:r>
            <a:r>
              <a:rPr lang="en-US" altLang="zh-CN" dirty="0" err="1">
                <a:latin typeface="宋体" pitchFamily="2" charset="-122"/>
              </a:rPr>
              <a:t>c+b</a:t>
            </a:r>
            <a:r>
              <a:rPr lang="en-US" altLang="zh-CN" dirty="0">
                <a:latin typeface="宋体" pitchFamily="2" charset="-122"/>
              </a:rPr>
              <a:t>*d </a:t>
            </a:r>
            <a:r>
              <a:rPr lang="en-US" altLang="zh-CN" dirty="0">
                <a:latin typeface="宋体" pitchFamily="2" charset="-122"/>
                <a:sym typeface="Wingdings" pitchFamily="2" charset="2"/>
              </a:rPr>
              <a:t></a:t>
            </a:r>
            <a:r>
              <a:rPr lang="en-US" altLang="zh-CN" dirty="0">
                <a:latin typeface="宋体" pitchFamily="2" charset="-122"/>
              </a:rPr>
              <a:t>  </a:t>
            </a:r>
            <a:r>
              <a:rPr lang="en-US" altLang="zh-CN" dirty="0" err="1">
                <a:latin typeface="宋体" pitchFamily="2" charset="-122"/>
              </a:rPr>
              <a:t>abc</a:t>
            </a:r>
            <a:r>
              <a:rPr lang="en-US" altLang="zh-CN" dirty="0">
                <a:latin typeface="宋体" pitchFamily="2" charset="-122"/>
              </a:rPr>
              <a:t>*</a:t>
            </a:r>
            <a:r>
              <a:rPr lang="en-US" altLang="zh-CN" dirty="0" err="1">
                <a:latin typeface="宋体" pitchFamily="2" charset="-122"/>
              </a:rPr>
              <a:t>bd</a:t>
            </a:r>
            <a:r>
              <a:rPr lang="en-US" altLang="zh-CN" dirty="0">
                <a:latin typeface="宋体" pitchFamily="2" charset="-122"/>
              </a:rPr>
              <a:t>*+=</a:t>
            </a:r>
          </a:p>
        </p:txBody>
      </p:sp>
      <p:grpSp>
        <p:nvGrpSpPr>
          <p:cNvPr id="2" name="Group 11"/>
          <p:cNvGrpSpPr>
            <a:grpSpLocks/>
          </p:cNvGrpSpPr>
          <p:nvPr/>
        </p:nvGrpSpPr>
        <p:grpSpPr bwMode="auto">
          <a:xfrm>
            <a:off x="6813550" y="1419226"/>
            <a:ext cx="1447800" cy="1563291"/>
            <a:chOff x="4320" y="614"/>
            <a:chExt cx="912" cy="1313"/>
          </a:xfrm>
        </p:grpSpPr>
        <p:sp>
          <p:nvSpPr>
            <p:cNvPr id="9222" name="Line 7"/>
            <p:cNvSpPr>
              <a:spLocks noChangeShapeType="1"/>
            </p:cNvSpPr>
            <p:nvPr/>
          </p:nvSpPr>
          <p:spPr bwMode="auto">
            <a:xfrm flipH="1">
              <a:off x="4464" y="1008"/>
              <a:ext cx="192"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9223" name="Line 8"/>
            <p:cNvSpPr>
              <a:spLocks noChangeShapeType="1"/>
            </p:cNvSpPr>
            <p:nvPr/>
          </p:nvSpPr>
          <p:spPr bwMode="auto">
            <a:xfrm>
              <a:off x="4704" y="1008"/>
              <a:ext cx="240" cy="5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9224" name="Text Box 9"/>
            <p:cNvSpPr txBox="1">
              <a:spLocks noChangeArrowheads="1"/>
            </p:cNvSpPr>
            <p:nvPr/>
          </p:nvSpPr>
          <p:spPr bwMode="auto">
            <a:xfrm>
              <a:off x="4560" y="614"/>
              <a:ext cx="240"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buFontTx/>
                <a:buNone/>
              </a:pPr>
              <a:r>
                <a:rPr lang="en-US" altLang="zh-CN" sz="2800" dirty="0"/>
                <a:t>+</a:t>
              </a:r>
            </a:p>
          </p:txBody>
        </p:sp>
        <p:sp>
          <p:nvSpPr>
            <p:cNvPr id="9225" name="Text Box 10"/>
            <p:cNvSpPr txBox="1">
              <a:spLocks noChangeArrowheads="1"/>
            </p:cNvSpPr>
            <p:nvPr/>
          </p:nvSpPr>
          <p:spPr bwMode="auto">
            <a:xfrm>
              <a:off x="4320" y="1488"/>
              <a:ext cx="912"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buFontTx/>
                <a:buNone/>
              </a:pPr>
              <a:r>
                <a:rPr lang="en-US" altLang="zh-CN" sz="2800"/>
                <a:t>a      b</a:t>
              </a:r>
            </a:p>
          </p:txBody>
        </p:sp>
      </p:grpSp>
      <p:sp>
        <p:nvSpPr>
          <p:cNvPr id="12300" name="Rectangle 12"/>
          <p:cNvSpPr>
            <a:spLocks noChangeArrowheads="1"/>
          </p:cNvSpPr>
          <p:nvPr/>
        </p:nvSpPr>
        <p:spPr bwMode="auto">
          <a:xfrm>
            <a:off x="323850" y="2895600"/>
            <a:ext cx="8305800" cy="1969770"/>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buFontTx/>
              <a:buChar char="–"/>
            </a:pPr>
            <a:r>
              <a:rPr lang="zh-CN" altLang="en-US" sz="2200" dirty="0">
                <a:latin typeface="宋体" pitchFamily="2" charset="-122"/>
              </a:rPr>
              <a:t>优点：易于计算机处理</a:t>
            </a:r>
          </a:p>
          <a:p>
            <a:pPr marL="635000" lvl="1" indent="-187325">
              <a:buFont typeface="Arial" panose="020B0604020202020204" pitchFamily="34" charset="0"/>
              <a:buChar char="•"/>
            </a:pPr>
            <a:r>
              <a:rPr lang="zh-CN" altLang="en-US" sz="2000" dirty="0">
                <a:solidFill>
                  <a:srgbClr val="0070C0"/>
                </a:solidFill>
                <a:latin typeface="宋体" pitchFamily="2" charset="-122"/>
              </a:rPr>
              <a:t>利用栈，将扫描到的运算对象入栈，碰到运算符：</a:t>
            </a:r>
          </a:p>
          <a:p>
            <a:pPr marL="635000" lvl="1" indent="-187325">
              <a:buFont typeface="Arial" panose="020B0604020202020204" pitchFamily="34" charset="0"/>
              <a:buChar char="•"/>
            </a:pPr>
            <a:r>
              <a:rPr lang="zh-CN" altLang="en-US" sz="2000" dirty="0">
                <a:solidFill>
                  <a:srgbClr val="0070C0"/>
                </a:solidFill>
                <a:latin typeface="宋体" pitchFamily="2" charset="-122"/>
              </a:rPr>
              <a:t>若是双目运算符，则对栈顶的两个运算对象实施该运算并将运算结果代替这两个运算对象进栈；</a:t>
            </a:r>
          </a:p>
          <a:p>
            <a:pPr marL="635000" lvl="1" indent="-187325">
              <a:buFont typeface="Arial" panose="020B0604020202020204" pitchFamily="34" charset="0"/>
              <a:buChar char="•"/>
            </a:pPr>
            <a:r>
              <a:rPr lang="zh-CN" altLang="en-US" sz="2000" dirty="0">
                <a:solidFill>
                  <a:srgbClr val="0070C0"/>
                </a:solidFill>
                <a:latin typeface="宋体" pitchFamily="2" charset="-122"/>
              </a:rPr>
              <a:t>若是单目运算符，对栈顶元素，执行该运算，将运算结果代替该元素进栈，最后结果即栈顶元素。</a:t>
            </a:r>
          </a:p>
        </p:txBody>
      </p:sp>
      <p:sp>
        <p:nvSpPr>
          <p:cNvPr id="3" name="标题 2"/>
          <p:cNvSpPr>
            <a:spLocks noGrp="1"/>
          </p:cNvSpPr>
          <p:nvPr>
            <p:ph type="title"/>
          </p:nvPr>
        </p:nvSpPr>
        <p:spPr/>
        <p:txBody>
          <a:bodyPr>
            <a:normAutofit fontScale="90000"/>
          </a:bodyPr>
          <a:lstStyle/>
          <a:p>
            <a:r>
              <a:rPr lang="en-US" altLang="zh-CN" dirty="0">
                <a:solidFill>
                  <a:srgbClr val="FF3300"/>
                </a:solidFill>
                <a:latin typeface="宋体" pitchFamily="2" charset="-122"/>
              </a:rPr>
              <a:t>1</a:t>
            </a:r>
            <a:r>
              <a:rPr lang="zh-CN" altLang="en-US" dirty="0">
                <a:solidFill>
                  <a:srgbClr val="FF3300"/>
                </a:solidFill>
                <a:latin typeface="宋体" pitchFamily="2" charset="-122"/>
              </a:rPr>
              <a:t>、逆波兰式</a:t>
            </a:r>
            <a:endParaRPr lang="zh-CN" altLang="en-US" dirty="0"/>
          </a:p>
        </p:txBody>
      </p:sp>
    </p:spTree>
    <p:extLst>
      <p:ext uri="{BB962C8B-B14F-4D97-AF65-F5344CB8AC3E}">
        <p14:creationId xmlns:p14="http://schemas.microsoft.com/office/powerpoint/2010/main" val="11846101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3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0"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p:cNvSpPr>
            <a:spLocks noGrp="1" noChangeArrowheads="1"/>
          </p:cNvSpPr>
          <p:nvPr>
            <p:ph type="title"/>
          </p:nvPr>
        </p:nvSpPr>
        <p:spPr>
          <a:xfrm>
            <a:off x="533400" y="0"/>
            <a:ext cx="8229600" cy="857250"/>
          </a:xfrm>
        </p:spPr>
        <p:txBody>
          <a:bodyPr/>
          <a:lstStyle/>
          <a:p>
            <a:pPr eaLnBrk="1" hangingPunct="1"/>
            <a:r>
              <a:rPr lang="zh-CN" altLang="en-US" sz="4000" b="1" dirty="0">
                <a:ea typeface="楷体_GB2312" pitchFamily="49" charset="-122"/>
              </a:rPr>
              <a:t>练习</a:t>
            </a:r>
          </a:p>
        </p:txBody>
      </p:sp>
      <p:sp>
        <p:nvSpPr>
          <p:cNvPr id="9219" name="Rectangle 1027"/>
          <p:cNvSpPr>
            <a:spLocks noGrp="1" noChangeArrowheads="1"/>
          </p:cNvSpPr>
          <p:nvPr>
            <p:ph type="body" idx="1"/>
          </p:nvPr>
        </p:nvSpPr>
        <p:spPr>
          <a:xfrm>
            <a:off x="457200" y="800100"/>
            <a:ext cx="8305800" cy="1771650"/>
          </a:xfrm>
        </p:spPr>
        <p:txBody>
          <a:bodyPr/>
          <a:lstStyle/>
          <a:p>
            <a:pPr marL="609600" indent="-609600" eaLnBrk="1" hangingPunct="1">
              <a:defRPr/>
            </a:pPr>
            <a:r>
              <a:rPr lang="zh-CN" altLang="en-US" dirty="0"/>
              <a:t>写出下列算式的逆波兰表示</a:t>
            </a:r>
          </a:p>
          <a:p>
            <a:pPr marL="990600" lvl="1" indent="-533400" eaLnBrk="1" hangingPunct="1">
              <a:buFontTx/>
              <a:buNone/>
              <a:defRPr/>
            </a:pPr>
            <a:r>
              <a:rPr lang="en-US" altLang="zh-CN" dirty="0" err="1"/>
              <a:t>a+b</a:t>
            </a:r>
            <a:r>
              <a:rPr lang="en-US" altLang="zh-CN" dirty="0"/>
              <a:t>*(</a:t>
            </a:r>
            <a:r>
              <a:rPr lang="en-US" altLang="zh-CN" dirty="0" err="1"/>
              <a:t>c+d</a:t>
            </a:r>
            <a:r>
              <a:rPr lang="en-US" altLang="zh-CN" dirty="0"/>
              <a:t>/e)</a:t>
            </a:r>
          </a:p>
          <a:p>
            <a:pPr marL="609600" indent="-609600" eaLnBrk="1" hangingPunct="1">
              <a:buFont typeface="Wingdings" pitchFamily="2" charset="2"/>
              <a:buNone/>
              <a:defRPr/>
            </a:pPr>
            <a:r>
              <a:rPr lang="en-US" altLang="zh-CN" b="1" dirty="0">
                <a:latin typeface="宋体" pitchFamily="2" charset="-122"/>
              </a:rPr>
              <a:t>  </a:t>
            </a:r>
            <a:r>
              <a:rPr lang="en-US" altLang="zh-CN" b="1" dirty="0">
                <a:solidFill>
                  <a:schemeClr val="bg1">
                    <a:lumMod val="65000"/>
                  </a:schemeClr>
                </a:solidFill>
                <a:latin typeface="宋体" pitchFamily="2" charset="-122"/>
              </a:rPr>
              <a:t>a=b*(-c)+b *(-34)</a:t>
            </a:r>
          </a:p>
          <a:p>
            <a:pPr marL="990600" lvl="1" indent="-533400" eaLnBrk="1" hangingPunct="1">
              <a:buFontTx/>
              <a:buNone/>
              <a:defRPr/>
            </a:pPr>
            <a:r>
              <a:rPr lang="en-US" altLang="zh-CN" dirty="0">
                <a:solidFill>
                  <a:schemeClr val="bg1">
                    <a:lumMod val="65000"/>
                  </a:schemeClr>
                </a:solidFill>
              </a:rPr>
              <a:t>not A or not (C or not D)</a:t>
            </a:r>
          </a:p>
        </p:txBody>
      </p:sp>
      <p:sp>
        <p:nvSpPr>
          <p:cNvPr id="133125" name="Text Box 1029"/>
          <p:cNvSpPr txBox="1">
            <a:spLocks noChangeArrowheads="1"/>
          </p:cNvSpPr>
          <p:nvPr/>
        </p:nvSpPr>
        <p:spPr bwMode="auto">
          <a:xfrm>
            <a:off x="792584" y="2612746"/>
            <a:ext cx="5867400" cy="1815882"/>
          </a:xfrm>
          <a:prstGeom prst="rect">
            <a:avLst/>
          </a:prstGeom>
          <a:noFill/>
          <a:ln w="12700">
            <a:noFill/>
            <a:miter lim="800000"/>
            <a:headEnd type="none" w="sm" len="sm"/>
            <a:tailEnd type="none" w="sm" len="sm"/>
          </a:ln>
          <a:effectLst/>
        </p:spPr>
        <p:txBody>
          <a:bodyPr>
            <a:spAutoFit/>
          </a:bodyPr>
          <a:lstStyle/>
          <a:p>
            <a:pPr marL="342900" indent="-342900" eaLnBrk="1" hangingPunct="1">
              <a:lnSpc>
                <a:spcPct val="100000"/>
              </a:lnSpc>
              <a:spcBef>
                <a:spcPct val="50000"/>
              </a:spcBef>
              <a:buFontTx/>
              <a:buNone/>
              <a:defRPr/>
            </a:pPr>
            <a:r>
              <a:rPr lang="en-US" altLang="zh-CN" sz="3200" dirty="0" err="1"/>
              <a:t>abcde</a:t>
            </a:r>
            <a:r>
              <a:rPr lang="en-US" altLang="zh-CN" sz="3200" dirty="0"/>
              <a:t>/+*+</a:t>
            </a:r>
          </a:p>
          <a:p>
            <a:pPr marL="342900" indent="-342900" eaLnBrk="1" hangingPunct="1">
              <a:lnSpc>
                <a:spcPct val="100000"/>
              </a:lnSpc>
              <a:buClr>
                <a:srgbClr val="996633"/>
              </a:buClr>
              <a:buSzPct val="70000"/>
              <a:buFont typeface="Wingdings" pitchFamily="2" charset="2"/>
              <a:buNone/>
              <a:defRPr/>
            </a:pPr>
            <a:r>
              <a:rPr kumimoji="1" lang="en-US" altLang="zh-CN" sz="3200" b="1" dirty="0">
                <a:solidFill>
                  <a:schemeClr val="bg1">
                    <a:lumMod val="65000"/>
                  </a:schemeClr>
                </a:solidFill>
                <a:effectLst>
                  <a:outerShdw blurRad="38100" dist="38100" dir="2700000" algn="tl">
                    <a:srgbClr val="C0C0C0"/>
                  </a:outerShdw>
                </a:effectLst>
                <a:latin typeface="宋体" pitchFamily="2" charset="-122"/>
              </a:rPr>
              <a:t>a b c - * b 34 - * + =</a:t>
            </a:r>
          </a:p>
          <a:p>
            <a:pPr marL="342900" indent="-342900" eaLnBrk="1" hangingPunct="1">
              <a:lnSpc>
                <a:spcPct val="100000"/>
              </a:lnSpc>
              <a:spcBef>
                <a:spcPct val="50000"/>
              </a:spcBef>
              <a:buFontTx/>
              <a:buNone/>
              <a:defRPr/>
            </a:pPr>
            <a:r>
              <a:rPr lang="en-US" altLang="zh-CN" sz="3200" dirty="0">
                <a:solidFill>
                  <a:schemeClr val="bg1">
                    <a:lumMod val="65000"/>
                  </a:schemeClr>
                </a:solidFill>
              </a:rPr>
              <a:t>A not C D not or not or</a:t>
            </a:r>
          </a:p>
        </p:txBody>
      </p:sp>
      <p:grpSp>
        <p:nvGrpSpPr>
          <p:cNvPr id="2" name="Group 1040"/>
          <p:cNvGrpSpPr>
            <a:grpSpLocks/>
          </p:cNvGrpSpPr>
          <p:nvPr/>
        </p:nvGrpSpPr>
        <p:grpSpPr bwMode="auto">
          <a:xfrm>
            <a:off x="5364088" y="1181712"/>
            <a:ext cx="3563888" cy="2862068"/>
            <a:chOff x="2880" y="1392"/>
            <a:chExt cx="2736" cy="2600"/>
          </a:xfrm>
        </p:grpSpPr>
        <p:sp>
          <p:nvSpPr>
            <p:cNvPr id="10246" name="Text Box 1030"/>
            <p:cNvSpPr txBox="1">
              <a:spLocks noChangeArrowheads="1"/>
            </p:cNvSpPr>
            <p:nvPr/>
          </p:nvSpPr>
          <p:spPr bwMode="auto">
            <a:xfrm>
              <a:off x="2880" y="1392"/>
              <a:ext cx="2736" cy="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0"/>
                </a:spcBef>
                <a:buFontTx/>
                <a:buNone/>
              </a:pPr>
              <a:r>
                <a:rPr lang="en-US" altLang="zh-CN" sz="2000" b="1" dirty="0"/>
                <a:t>+</a:t>
              </a:r>
            </a:p>
            <a:p>
              <a:pPr algn="ctr" eaLnBrk="1" hangingPunct="1">
                <a:lnSpc>
                  <a:spcPct val="100000"/>
                </a:lnSpc>
                <a:spcBef>
                  <a:spcPct val="0"/>
                </a:spcBef>
                <a:buFontTx/>
                <a:buNone/>
              </a:pPr>
              <a:endParaRPr lang="en-US" altLang="zh-CN" sz="2000" b="1" dirty="0"/>
            </a:p>
            <a:p>
              <a:pPr algn="ctr" eaLnBrk="1" hangingPunct="1">
                <a:lnSpc>
                  <a:spcPct val="100000"/>
                </a:lnSpc>
                <a:spcBef>
                  <a:spcPct val="0"/>
                </a:spcBef>
                <a:buFontTx/>
                <a:buNone/>
              </a:pPr>
              <a:r>
                <a:rPr lang="en-US" altLang="zh-CN" sz="2000" b="1" dirty="0"/>
                <a:t>  a      *</a:t>
              </a:r>
            </a:p>
            <a:p>
              <a:pPr algn="ctr" eaLnBrk="1" hangingPunct="1">
                <a:lnSpc>
                  <a:spcPct val="100000"/>
                </a:lnSpc>
                <a:spcBef>
                  <a:spcPct val="0"/>
                </a:spcBef>
                <a:buFontTx/>
                <a:buNone/>
              </a:pPr>
              <a:endParaRPr lang="en-US" altLang="zh-CN" sz="2000" b="1" dirty="0"/>
            </a:p>
            <a:p>
              <a:pPr algn="ctr" eaLnBrk="1" hangingPunct="1">
                <a:lnSpc>
                  <a:spcPct val="100000"/>
                </a:lnSpc>
                <a:spcBef>
                  <a:spcPct val="0"/>
                </a:spcBef>
                <a:buFontTx/>
                <a:buNone/>
              </a:pPr>
              <a:r>
                <a:rPr lang="en-US" altLang="zh-CN" sz="2000" b="1" dirty="0"/>
                <a:t>             b        +</a:t>
              </a:r>
            </a:p>
            <a:p>
              <a:pPr algn="ctr" eaLnBrk="1" hangingPunct="1">
                <a:lnSpc>
                  <a:spcPct val="100000"/>
                </a:lnSpc>
                <a:spcBef>
                  <a:spcPct val="0"/>
                </a:spcBef>
                <a:buFontTx/>
                <a:buNone/>
              </a:pPr>
              <a:endParaRPr lang="en-US" altLang="zh-CN" sz="2000" b="1" dirty="0"/>
            </a:p>
            <a:p>
              <a:pPr algn="ctr" eaLnBrk="1" hangingPunct="1">
                <a:lnSpc>
                  <a:spcPct val="100000"/>
                </a:lnSpc>
                <a:spcBef>
                  <a:spcPct val="0"/>
                </a:spcBef>
                <a:buFontTx/>
                <a:buNone/>
              </a:pPr>
              <a:r>
                <a:rPr lang="en-US" altLang="zh-CN" sz="2000" b="1" dirty="0"/>
                <a:t>                         c        /</a:t>
              </a:r>
            </a:p>
            <a:p>
              <a:pPr algn="ctr" eaLnBrk="1" hangingPunct="1">
                <a:lnSpc>
                  <a:spcPct val="100000"/>
                </a:lnSpc>
                <a:spcBef>
                  <a:spcPct val="0"/>
                </a:spcBef>
                <a:buFontTx/>
                <a:buNone/>
              </a:pPr>
              <a:endParaRPr lang="en-US" altLang="zh-CN" sz="2000" b="1" dirty="0"/>
            </a:p>
            <a:p>
              <a:pPr algn="ctr" eaLnBrk="1" hangingPunct="1">
                <a:lnSpc>
                  <a:spcPct val="100000"/>
                </a:lnSpc>
                <a:spcBef>
                  <a:spcPct val="0"/>
                </a:spcBef>
                <a:buFontTx/>
                <a:buNone/>
              </a:pPr>
              <a:r>
                <a:rPr lang="en-US" altLang="zh-CN" sz="2000" b="1" dirty="0"/>
                <a:t>                                    d       e</a:t>
              </a:r>
            </a:p>
          </p:txBody>
        </p:sp>
        <p:sp>
          <p:nvSpPr>
            <p:cNvPr id="10247" name="Line 1031"/>
            <p:cNvSpPr>
              <a:spLocks noChangeShapeType="1"/>
            </p:cNvSpPr>
            <p:nvPr/>
          </p:nvSpPr>
          <p:spPr bwMode="auto">
            <a:xfrm flipH="1">
              <a:off x="4065" y="1698"/>
              <a:ext cx="192" cy="31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400"/>
            </a:p>
          </p:txBody>
        </p:sp>
        <p:sp>
          <p:nvSpPr>
            <p:cNvPr id="10248" name="Line 1032"/>
            <p:cNvSpPr>
              <a:spLocks noChangeShapeType="1"/>
            </p:cNvSpPr>
            <p:nvPr/>
          </p:nvSpPr>
          <p:spPr bwMode="auto">
            <a:xfrm>
              <a:off x="4258" y="1700"/>
              <a:ext cx="240" cy="26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400"/>
            </a:p>
          </p:txBody>
        </p:sp>
        <p:sp>
          <p:nvSpPr>
            <p:cNvPr id="10249" name="Line 1033"/>
            <p:cNvSpPr>
              <a:spLocks noChangeShapeType="1"/>
            </p:cNvSpPr>
            <p:nvPr/>
          </p:nvSpPr>
          <p:spPr bwMode="auto">
            <a:xfrm flipH="1">
              <a:off x="4320" y="2173"/>
              <a:ext cx="192" cy="42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400"/>
            </a:p>
          </p:txBody>
        </p:sp>
        <p:sp>
          <p:nvSpPr>
            <p:cNvPr id="10250" name="Line 1034"/>
            <p:cNvSpPr>
              <a:spLocks noChangeShapeType="1"/>
            </p:cNvSpPr>
            <p:nvPr/>
          </p:nvSpPr>
          <p:spPr bwMode="auto">
            <a:xfrm>
              <a:off x="4512" y="2175"/>
              <a:ext cx="288" cy="37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400"/>
            </a:p>
          </p:txBody>
        </p:sp>
        <p:sp>
          <p:nvSpPr>
            <p:cNvPr id="10251" name="Line 1035"/>
            <p:cNvSpPr>
              <a:spLocks noChangeShapeType="1"/>
            </p:cNvSpPr>
            <p:nvPr/>
          </p:nvSpPr>
          <p:spPr bwMode="auto">
            <a:xfrm flipH="1">
              <a:off x="4704" y="2776"/>
              <a:ext cx="144"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400"/>
            </a:p>
          </p:txBody>
        </p:sp>
        <p:sp>
          <p:nvSpPr>
            <p:cNvPr id="10252" name="Line 1036"/>
            <p:cNvSpPr>
              <a:spLocks noChangeShapeType="1"/>
            </p:cNvSpPr>
            <p:nvPr/>
          </p:nvSpPr>
          <p:spPr bwMode="auto">
            <a:xfrm>
              <a:off x="4896" y="2776"/>
              <a:ext cx="240"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400"/>
            </a:p>
          </p:txBody>
        </p:sp>
        <p:sp>
          <p:nvSpPr>
            <p:cNvPr id="10253" name="Line 1037"/>
            <p:cNvSpPr>
              <a:spLocks noChangeShapeType="1"/>
            </p:cNvSpPr>
            <p:nvPr/>
          </p:nvSpPr>
          <p:spPr bwMode="auto">
            <a:xfrm flipH="1">
              <a:off x="5012" y="3352"/>
              <a:ext cx="192"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400"/>
            </a:p>
          </p:txBody>
        </p:sp>
        <p:sp>
          <p:nvSpPr>
            <p:cNvPr id="10254" name="Line 1038"/>
            <p:cNvSpPr>
              <a:spLocks noChangeShapeType="1"/>
            </p:cNvSpPr>
            <p:nvPr/>
          </p:nvSpPr>
          <p:spPr bwMode="auto">
            <a:xfrm>
              <a:off x="5205" y="3352"/>
              <a:ext cx="240"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400"/>
            </a:p>
          </p:txBody>
        </p:sp>
      </p:grpSp>
    </p:spTree>
    <p:extLst>
      <p:ext uri="{BB962C8B-B14F-4D97-AF65-F5344CB8AC3E}">
        <p14:creationId xmlns:p14="http://schemas.microsoft.com/office/powerpoint/2010/main" val="17936837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1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5"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fontScale="90000"/>
          </a:bodyPr>
          <a:lstStyle/>
          <a:p>
            <a:pPr eaLnBrk="1" hangingPunct="1"/>
            <a:r>
              <a:rPr lang="zh-CN" altLang="en-US" sz="4000" b="1">
                <a:ea typeface="楷体_GB2312" pitchFamily="49" charset="-122"/>
              </a:rPr>
              <a:t>后缀式的推广</a:t>
            </a:r>
          </a:p>
        </p:txBody>
      </p:sp>
      <p:sp>
        <p:nvSpPr>
          <p:cNvPr id="11267" name="Rectangle 3"/>
          <p:cNvSpPr>
            <a:spLocks noGrp="1" noChangeArrowheads="1"/>
          </p:cNvSpPr>
          <p:nvPr>
            <p:ph type="body" idx="1"/>
          </p:nvPr>
        </p:nvSpPr>
        <p:spPr>
          <a:xfrm>
            <a:off x="457200" y="1200150"/>
            <a:ext cx="8229600" cy="1943100"/>
          </a:xfrm>
        </p:spPr>
        <p:txBody>
          <a:bodyPr/>
          <a:lstStyle/>
          <a:p>
            <a:pPr eaLnBrk="1" hangingPunct="1"/>
            <a:r>
              <a:rPr lang="en-US" altLang="zh-CN" sz="2800" dirty="0"/>
              <a:t>(1)</a:t>
            </a:r>
            <a:r>
              <a:rPr lang="zh-CN" altLang="en-US" sz="2800" dirty="0"/>
              <a:t>赋值语句</a:t>
            </a:r>
            <a:r>
              <a:rPr lang="en-US" altLang="zh-CN" sz="2800" dirty="0"/>
              <a:t>A=E</a:t>
            </a:r>
            <a:r>
              <a:rPr lang="zh-CN" altLang="en-US" sz="2800" dirty="0"/>
              <a:t>，后缀式为：</a:t>
            </a:r>
            <a:r>
              <a:rPr lang="en-US" altLang="zh-CN" sz="2800" dirty="0"/>
              <a:t>AE=</a:t>
            </a:r>
          </a:p>
          <a:p>
            <a:pPr eaLnBrk="1" hangingPunct="1"/>
            <a:r>
              <a:rPr lang="en-US" altLang="zh-CN" sz="2800" dirty="0"/>
              <a:t>(2)</a:t>
            </a:r>
            <a:r>
              <a:rPr lang="zh-CN" altLang="en-US" sz="2800" dirty="0"/>
              <a:t>转向语句</a:t>
            </a:r>
            <a:r>
              <a:rPr lang="en-US" altLang="zh-CN" sz="2800" dirty="0"/>
              <a:t>GOTO L</a:t>
            </a:r>
            <a:r>
              <a:rPr lang="zh-CN" altLang="en-US" sz="2800" dirty="0"/>
              <a:t>的后缀式为：</a:t>
            </a:r>
            <a:r>
              <a:rPr lang="en-US" altLang="zh-CN" sz="2800" dirty="0" err="1"/>
              <a:t>L’jmp</a:t>
            </a:r>
            <a:endParaRPr lang="en-US" altLang="zh-CN" sz="2800" dirty="0"/>
          </a:p>
          <a:p>
            <a:pPr eaLnBrk="1" hangingPunct="1"/>
            <a:r>
              <a:rPr lang="en-US" altLang="zh-CN" sz="2800" dirty="0"/>
              <a:t>(3)</a:t>
            </a:r>
            <a:r>
              <a:rPr lang="zh-CN" altLang="en-US" sz="2800" dirty="0"/>
              <a:t>条件语句</a:t>
            </a:r>
            <a:r>
              <a:rPr lang="en-US" altLang="zh-CN" sz="2800" dirty="0"/>
              <a:t>if x&gt;y then m=x else m=y</a:t>
            </a:r>
          </a:p>
          <a:p>
            <a:pPr eaLnBrk="1" hangingPunct="1"/>
            <a:endParaRPr lang="en-US" altLang="zh-CN" sz="2800" dirty="0"/>
          </a:p>
        </p:txBody>
      </p:sp>
      <p:sp>
        <p:nvSpPr>
          <p:cNvPr id="11268" name="Rectangle 4"/>
          <p:cNvSpPr>
            <a:spLocks noChangeArrowheads="1"/>
          </p:cNvSpPr>
          <p:nvPr/>
        </p:nvSpPr>
        <p:spPr bwMode="auto">
          <a:xfrm>
            <a:off x="762000" y="742950"/>
            <a:ext cx="79248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0"/>
              </a:spcBef>
              <a:buFontTx/>
              <a:buNone/>
            </a:pPr>
            <a:endParaRPr lang="zh-CN" altLang="zh-CN" sz="4400">
              <a:solidFill>
                <a:schemeClr val="tx2"/>
              </a:solidFill>
            </a:endParaRPr>
          </a:p>
        </p:txBody>
      </p:sp>
      <p:sp>
        <p:nvSpPr>
          <p:cNvPr id="139269" name="Rectangle 5"/>
          <p:cNvSpPr>
            <a:spLocks noChangeArrowheads="1"/>
          </p:cNvSpPr>
          <p:nvPr/>
        </p:nvSpPr>
        <p:spPr bwMode="auto">
          <a:xfrm>
            <a:off x="762000" y="1737122"/>
            <a:ext cx="792480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pPr>
            <a:endParaRPr lang="zh-CN" altLang="zh-CN"/>
          </a:p>
        </p:txBody>
      </p:sp>
      <p:graphicFrame>
        <p:nvGraphicFramePr>
          <p:cNvPr id="139320" name="Group 56"/>
          <p:cNvGraphicFramePr>
            <a:graphicFrameLocks noGrp="1"/>
          </p:cNvGraphicFramePr>
          <p:nvPr>
            <p:extLst>
              <p:ext uri="{D42A27DB-BD31-4B8C-83A1-F6EECF244321}">
                <p14:modId xmlns:p14="http://schemas.microsoft.com/office/powerpoint/2010/main" val="641364202"/>
              </p:ext>
            </p:extLst>
          </p:nvPr>
        </p:nvGraphicFramePr>
        <p:xfrm>
          <a:off x="684213" y="3274219"/>
          <a:ext cx="8153400" cy="838200"/>
        </p:xfrm>
        <a:graphic>
          <a:graphicData uri="http://schemas.openxmlformats.org/drawingml/2006/table">
            <a:tbl>
              <a:tblPr/>
              <a:tblGrid>
                <a:gridCol w="582612">
                  <a:extLst>
                    <a:ext uri="{9D8B030D-6E8A-4147-A177-3AD203B41FA5}">
                      <a16:colId xmlns:a16="http://schemas.microsoft.com/office/drawing/2014/main" val="20000"/>
                    </a:ext>
                  </a:extLst>
                </a:gridCol>
                <a:gridCol w="619125">
                  <a:extLst>
                    <a:ext uri="{9D8B030D-6E8A-4147-A177-3AD203B41FA5}">
                      <a16:colId xmlns:a16="http://schemas.microsoft.com/office/drawing/2014/main" val="20001"/>
                    </a:ext>
                  </a:extLst>
                </a:gridCol>
                <a:gridCol w="546100">
                  <a:extLst>
                    <a:ext uri="{9D8B030D-6E8A-4147-A177-3AD203B41FA5}">
                      <a16:colId xmlns:a16="http://schemas.microsoft.com/office/drawing/2014/main" val="20002"/>
                    </a:ext>
                  </a:extLst>
                </a:gridCol>
                <a:gridCol w="581025">
                  <a:extLst>
                    <a:ext uri="{9D8B030D-6E8A-4147-A177-3AD203B41FA5}">
                      <a16:colId xmlns:a16="http://schemas.microsoft.com/office/drawing/2014/main" val="20003"/>
                    </a:ext>
                  </a:extLst>
                </a:gridCol>
                <a:gridCol w="582613">
                  <a:extLst>
                    <a:ext uri="{9D8B030D-6E8A-4147-A177-3AD203B41FA5}">
                      <a16:colId xmlns:a16="http://schemas.microsoft.com/office/drawing/2014/main" val="20004"/>
                    </a:ext>
                  </a:extLst>
                </a:gridCol>
                <a:gridCol w="582612">
                  <a:extLst>
                    <a:ext uri="{9D8B030D-6E8A-4147-A177-3AD203B41FA5}">
                      <a16:colId xmlns:a16="http://schemas.microsoft.com/office/drawing/2014/main" val="20005"/>
                    </a:ext>
                  </a:extLst>
                </a:gridCol>
                <a:gridCol w="582613">
                  <a:extLst>
                    <a:ext uri="{9D8B030D-6E8A-4147-A177-3AD203B41FA5}">
                      <a16:colId xmlns:a16="http://schemas.microsoft.com/office/drawing/2014/main" val="20006"/>
                    </a:ext>
                  </a:extLst>
                </a:gridCol>
                <a:gridCol w="582612">
                  <a:extLst>
                    <a:ext uri="{9D8B030D-6E8A-4147-A177-3AD203B41FA5}">
                      <a16:colId xmlns:a16="http://schemas.microsoft.com/office/drawing/2014/main" val="20007"/>
                    </a:ext>
                  </a:extLst>
                </a:gridCol>
                <a:gridCol w="582613">
                  <a:extLst>
                    <a:ext uri="{9D8B030D-6E8A-4147-A177-3AD203B41FA5}">
                      <a16:colId xmlns:a16="http://schemas.microsoft.com/office/drawing/2014/main" val="20008"/>
                    </a:ext>
                  </a:extLst>
                </a:gridCol>
                <a:gridCol w="582612">
                  <a:extLst>
                    <a:ext uri="{9D8B030D-6E8A-4147-A177-3AD203B41FA5}">
                      <a16:colId xmlns:a16="http://schemas.microsoft.com/office/drawing/2014/main" val="20009"/>
                    </a:ext>
                  </a:extLst>
                </a:gridCol>
                <a:gridCol w="581025">
                  <a:extLst>
                    <a:ext uri="{9D8B030D-6E8A-4147-A177-3AD203B41FA5}">
                      <a16:colId xmlns:a16="http://schemas.microsoft.com/office/drawing/2014/main" val="20010"/>
                    </a:ext>
                  </a:extLst>
                </a:gridCol>
                <a:gridCol w="582613">
                  <a:extLst>
                    <a:ext uri="{9D8B030D-6E8A-4147-A177-3AD203B41FA5}">
                      <a16:colId xmlns:a16="http://schemas.microsoft.com/office/drawing/2014/main" val="20011"/>
                    </a:ext>
                  </a:extLst>
                </a:gridCol>
                <a:gridCol w="582612">
                  <a:extLst>
                    <a:ext uri="{9D8B030D-6E8A-4147-A177-3AD203B41FA5}">
                      <a16:colId xmlns:a16="http://schemas.microsoft.com/office/drawing/2014/main" val="20012"/>
                    </a:ext>
                  </a:extLst>
                </a:gridCol>
                <a:gridCol w="582613">
                  <a:extLst>
                    <a:ext uri="{9D8B030D-6E8A-4147-A177-3AD203B41FA5}">
                      <a16:colId xmlns:a16="http://schemas.microsoft.com/office/drawing/2014/main" val="20013"/>
                    </a:ext>
                  </a:extLst>
                </a:gridCol>
              </a:tblGrid>
              <a:tr h="419100">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5</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6</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7</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8</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9</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11</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12</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13</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14</a:t>
                      </a: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9100">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x</a:t>
                      </a: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y</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&gt;</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11</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jnz</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m</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x</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14</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j</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m</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y</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cxnSp>
        <p:nvCxnSpPr>
          <p:cNvPr id="139317" name="AutoShape 53"/>
          <p:cNvCxnSpPr>
            <a:cxnSpLocks noChangeShapeType="1"/>
          </p:cNvCxnSpPr>
          <p:nvPr/>
        </p:nvCxnSpPr>
        <p:spPr bwMode="auto">
          <a:xfrm rot="5400000" flipV="1">
            <a:off x="4760318" y="1236464"/>
            <a:ext cx="1191" cy="4076700"/>
          </a:xfrm>
          <a:prstGeom prst="bentConnector3">
            <a:avLst>
              <a:gd name="adj1" fmla="val -14400005"/>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39318" name="AutoShape 54"/>
          <p:cNvCxnSpPr>
            <a:cxnSpLocks noChangeShapeType="1"/>
          </p:cNvCxnSpPr>
          <p:nvPr/>
        </p:nvCxnSpPr>
        <p:spPr bwMode="auto">
          <a:xfrm rot="16200000" flipH="1">
            <a:off x="7090768" y="2657277"/>
            <a:ext cx="1191" cy="2911475"/>
          </a:xfrm>
          <a:prstGeom prst="bentConnector3">
            <a:avLst>
              <a:gd name="adj1" fmla="val 14400005"/>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5993943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499"/>
                                          </p:stCondLst>
                                        </p:cTn>
                                        <p:tgtEl>
                                          <p:spTgt spid="13926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nodeType="clickEffect">
                                  <p:stCondLst>
                                    <p:cond delay="0"/>
                                  </p:stCondLst>
                                  <p:childTnLst>
                                    <p:set>
                                      <p:cBhvr>
                                        <p:cTn id="10" dur="1" fill="hold">
                                          <p:stCondLst>
                                            <p:cond delay="0"/>
                                          </p:stCondLst>
                                        </p:cTn>
                                        <p:tgtEl>
                                          <p:spTgt spid="139320"/>
                                        </p:tgtEl>
                                        <p:attrNameLst>
                                          <p:attrName>style.visibility</p:attrName>
                                        </p:attrNameLst>
                                      </p:cBhvr>
                                      <p:to>
                                        <p:strVal val="visible"/>
                                      </p:to>
                                    </p:set>
                                    <p:animEffect transition="in" filter="dissolve">
                                      <p:cBhvr>
                                        <p:cTn id="11" dur="500"/>
                                        <p:tgtEl>
                                          <p:spTgt spid="13932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1" fill="hold" nodeType="clickEffect">
                                  <p:stCondLst>
                                    <p:cond delay="0"/>
                                  </p:stCondLst>
                                  <p:childTnLst>
                                    <p:set>
                                      <p:cBhvr>
                                        <p:cTn id="15" dur="1" fill="hold">
                                          <p:stCondLst>
                                            <p:cond delay="0"/>
                                          </p:stCondLst>
                                        </p:cTn>
                                        <p:tgtEl>
                                          <p:spTgt spid="139317"/>
                                        </p:tgtEl>
                                        <p:attrNameLst>
                                          <p:attrName>style.visibility</p:attrName>
                                        </p:attrNameLst>
                                      </p:cBhvr>
                                      <p:to>
                                        <p:strVal val="visible"/>
                                      </p:to>
                                    </p:set>
                                    <p:animEffect transition="in" filter="slide(fromTop)">
                                      <p:cBhvr>
                                        <p:cTn id="16" dur="500"/>
                                        <p:tgtEl>
                                          <p:spTgt spid="13931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nodeType="clickEffect">
                                  <p:stCondLst>
                                    <p:cond delay="0"/>
                                  </p:stCondLst>
                                  <p:childTnLst>
                                    <p:set>
                                      <p:cBhvr>
                                        <p:cTn id="20" dur="1" fill="hold">
                                          <p:stCondLst>
                                            <p:cond delay="0"/>
                                          </p:stCondLst>
                                        </p:cTn>
                                        <p:tgtEl>
                                          <p:spTgt spid="139318"/>
                                        </p:tgtEl>
                                        <p:attrNameLst>
                                          <p:attrName>style.visibility</p:attrName>
                                        </p:attrNameLst>
                                      </p:cBhvr>
                                      <p:to>
                                        <p:strVal val="visible"/>
                                      </p:to>
                                    </p:set>
                                    <p:animEffect transition="in" filter="slide(fromBottom)">
                                      <p:cBhvr>
                                        <p:cTn id="21" dur="500"/>
                                        <p:tgtEl>
                                          <p:spTgt spid="139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9"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fontScale="90000"/>
          </a:bodyPr>
          <a:lstStyle/>
          <a:p>
            <a:pPr>
              <a:lnSpc>
                <a:spcPct val="90000"/>
              </a:lnSpc>
            </a:pPr>
            <a:r>
              <a:rPr lang="en-US" altLang="zh-CN" dirty="0">
                <a:solidFill>
                  <a:srgbClr val="FF3300"/>
                </a:solidFill>
                <a:latin typeface="宋体" pitchFamily="2" charset="-122"/>
              </a:rPr>
              <a:t>2</a:t>
            </a:r>
            <a:r>
              <a:rPr lang="zh-CN" altLang="en-US" dirty="0">
                <a:solidFill>
                  <a:srgbClr val="FF3300"/>
                </a:solidFill>
                <a:latin typeface="宋体" pitchFamily="2" charset="-122"/>
              </a:rPr>
              <a:t>、三地址码</a:t>
            </a:r>
            <a:endParaRPr lang="en-US" altLang="zh-CN" dirty="0">
              <a:solidFill>
                <a:srgbClr val="FF3300"/>
              </a:solidFill>
              <a:latin typeface="宋体" pitchFamily="2" charset="-122"/>
            </a:endParaRPr>
          </a:p>
        </p:txBody>
      </p:sp>
      <p:sp>
        <p:nvSpPr>
          <p:cNvPr id="12291" name="Rectangle 3"/>
          <p:cNvSpPr>
            <a:spLocks noGrp="1" noChangeArrowheads="1"/>
          </p:cNvSpPr>
          <p:nvPr>
            <p:ph type="body" idx="1"/>
          </p:nvPr>
        </p:nvSpPr>
        <p:spPr>
          <a:xfrm>
            <a:off x="468313" y="1017985"/>
            <a:ext cx="8229600" cy="2273845"/>
          </a:xfrm>
        </p:spPr>
        <p:txBody>
          <a:bodyPr>
            <a:normAutofit/>
          </a:bodyPr>
          <a:lstStyle/>
          <a:p>
            <a:pPr marL="342900" indent="-342900">
              <a:spcBef>
                <a:spcPts val="0"/>
              </a:spcBef>
            </a:pPr>
            <a:r>
              <a:rPr lang="zh-CN" altLang="zh-CN" sz="2200" dirty="0"/>
              <a:t>三地址代码（</a:t>
            </a:r>
            <a:r>
              <a:rPr lang="en-US" altLang="zh-CN" sz="2200" dirty="0"/>
              <a:t>Three </a:t>
            </a:r>
            <a:r>
              <a:rPr lang="en-US" altLang="zh-CN" sz="2200" dirty="0" err="1"/>
              <a:t>Adress</a:t>
            </a:r>
            <a:r>
              <a:rPr lang="en-US" altLang="zh-CN" sz="2200" dirty="0"/>
              <a:t> Code</a:t>
            </a:r>
            <a:r>
              <a:rPr lang="zh-CN" altLang="zh-CN" sz="2200" dirty="0"/>
              <a:t>，简称</a:t>
            </a:r>
            <a:r>
              <a:rPr lang="en-US" altLang="zh-CN" sz="2200" dirty="0"/>
              <a:t>TAC</a:t>
            </a:r>
            <a:r>
              <a:rPr lang="zh-CN" altLang="zh-CN" sz="2200" dirty="0"/>
              <a:t>）是指每条代码包含一个运算</a:t>
            </a:r>
            <a:r>
              <a:rPr lang="zh-CN" altLang="en-US" sz="2200" dirty="0"/>
              <a:t>符</a:t>
            </a:r>
            <a:r>
              <a:rPr lang="zh-CN" altLang="zh-CN" sz="2200" dirty="0"/>
              <a:t>和三个地址，两个地址用于存放运算对象，一个地址用于存放运算结果，一般形式为：</a:t>
            </a:r>
          </a:p>
          <a:p>
            <a:pPr marL="0" indent="0">
              <a:spcBef>
                <a:spcPts val="0"/>
              </a:spcBef>
              <a:buNone/>
            </a:pPr>
            <a:r>
              <a:rPr lang="en-US" altLang="zh-CN" sz="2800" b="1" dirty="0"/>
              <a:t>               </a:t>
            </a:r>
            <a:r>
              <a:rPr lang="en-US" altLang="zh-CN" sz="3200" b="1" dirty="0">
                <a:solidFill>
                  <a:srgbClr val="FF0000"/>
                </a:solidFill>
              </a:rPr>
              <a:t>x = y op z</a:t>
            </a:r>
            <a:endParaRPr lang="en-US" altLang="zh-CN" b="1" dirty="0">
              <a:solidFill>
                <a:srgbClr val="FF0000"/>
              </a:solidFill>
            </a:endParaRPr>
          </a:p>
          <a:p>
            <a:pPr marL="342900" indent="-342900">
              <a:spcBef>
                <a:spcPts val="0"/>
              </a:spcBef>
            </a:pPr>
            <a:r>
              <a:rPr lang="en-US" altLang="zh-CN" sz="2200" dirty="0"/>
              <a:t>y</a:t>
            </a:r>
            <a:r>
              <a:rPr lang="zh-CN" altLang="zh-CN" sz="2200" dirty="0"/>
              <a:t>和</a:t>
            </a:r>
            <a:r>
              <a:rPr lang="en-US" altLang="zh-CN" sz="2200" dirty="0"/>
              <a:t>z</a:t>
            </a:r>
            <a:r>
              <a:rPr lang="zh-CN" altLang="zh-CN" sz="2200" dirty="0"/>
              <a:t>为名字、常量或编译时产生的临时变量，</a:t>
            </a:r>
            <a:r>
              <a:rPr lang="en-US" altLang="zh-CN" sz="2200" dirty="0"/>
              <a:t>x</a:t>
            </a:r>
            <a:r>
              <a:rPr lang="zh-CN" altLang="zh-CN" sz="2200" dirty="0"/>
              <a:t>为名字或临时变量；</a:t>
            </a:r>
            <a:r>
              <a:rPr lang="en-US" altLang="zh-CN" sz="2200" dirty="0"/>
              <a:t>op</a:t>
            </a:r>
            <a:r>
              <a:rPr lang="zh-CN" altLang="zh-CN" sz="2200" dirty="0"/>
              <a:t>为运算符</a:t>
            </a:r>
            <a:r>
              <a:rPr lang="zh-CN" altLang="en-US" sz="2200" dirty="0"/>
              <a:t>。</a:t>
            </a:r>
            <a:endParaRPr lang="en-US" altLang="zh-CN" sz="2200" b="1" dirty="0">
              <a:solidFill>
                <a:srgbClr val="FF3300"/>
              </a:solidFill>
            </a:endParaRPr>
          </a:p>
        </p:txBody>
      </p:sp>
      <p:sp>
        <p:nvSpPr>
          <p:cNvPr id="11269" name="Text Box 5"/>
          <p:cNvSpPr txBox="1">
            <a:spLocks noChangeArrowheads="1"/>
          </p:cNvSpPr>
          <p:nvPr/>
        </p:nvSpPr>
        <p:spPr bwMode="auto">
          <a:xfrm>
            <a:off x="512366" y="3795886"/>
            <a:ext cx="7948066" cy="110799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marL="342900" indent="-342900">
              <a:lnSpc>
                <a:spcPct val="100000"/>
              </a:lnSpc>
              <a:buFont typeface="Arial" panose="020B0604020202020204" pitchFamily="34" charset="0"/>
              <a:buChar char="•"/>
              <a:defRPr/>
            </a:pPr>
            <a:r>
              <a:rPr lang="zh-CN" altLang="en-US" sz="2200" dirty="0">
                <a:solidFill>
                  <a:srgbClr val="0070C0"/>
                </a:solidFill>
              </a:rPr>
              <a:t>类似于机器指令系统中的三地址指令：</a:t>
            </a:r>
            <a:endParaRPr lang="en-US" altLang="zh-CN" sz="2200" dirty="0">
              <a:solidFill>
                <a:srgbClr val="0070C0"/>
              </a:solidFill>
            </a:endParaRPr>
          </a:p>
          <a:p>
            <a:pPr>
              <a:lnSpc>
                <a:spcPct val="100000"/>
              </a:lnSpc>
              <a:buFontTx/>
              <a:buNone/>
              <a:defRPr/>
            </a:pPr>
            <a:r>
              <a:rPr lang="zh-CN" altLang="en-US" sz="2200" dirty="0">
                <a:solidFill>
                  <a:srgbClr val="FF0000"/>
                </a:solidFill>
              </a:rPr>
              <a:t>            一个运算符，两个运算对象，一个结果</a:t>
            </a:r>
          </a:p>
          <a:p>
            <a:pPr marL="342900" indent="-342900">
              <a:lnSpc>
                <a:spcPct val="100000"/>
              </a:lnSpc>
              <a:buFont typeface="Arial" panose="020B0604020202020204" pitchFamily="34" charset="0"/>
              <a:buChar char="•"/>
              <a:defRPr/>
            </a:pPr>
            <a:r>
              <a:rPr lang="zh-CN" altLang="en-US" sz="2200" dirty="0">
                <a:solidFill>
                  <a:srgbClr val="0070C0"/>
                </a:solidFill>
              </a:rPr>
              <a:t>具体写法上有四元式、三元式、间接三元式等</a:t>
            </a:r>
          </a:p>
        </p:txBody>
      </p:sp>
      <p:sp>
        <p:nvSpPr>
          <p:cNvPr id="2" name="TextBox 1"/>
          <p:cNvSpPr txBox="1"/>
          <p:nvPr/>
        </p:nvSpPr>
        <p:spPr>
          <a:xfrm>
            <a:off x="6660232" y="3291830"/>
            <a:ext cx="1872208" cy="369332"/>
          </a:xfrm>
          <a:prstGeom prst="rect">
            <a:avLst/>
          </a:prstGeom>
          <a:noFill/>
        </p:spPr>
        <p:txBody>
          <a:bodyPr wrap="square" rtlCol="0">
            <a:spAutoFit/>
          </a:bodyPr>
          <a:lstStyle/>
          <a:p>
            <a:r>
              <a:rPr lang="en-US" altLang="zh-CN" dirty="0"/>
              <a:t>ADD R1 R2 R3</a:t>
            </a:r>
            <a:endParaRPr lang="zh-CN" altLang="en-US" dirty="0"/>
          </a:p>
        </p:txBody>
      </p:sp>
    </p:spTree>
    <p:extLst>
      <p:ext uri="{BB962C8B-B14F-4D97-AF65-F5344CB8AC3E}">
        <p14:creationId xmlns:p14="http://schemas.microsoft.com/office/powerpoint/2010/main" val="783965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26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P spid="11269" grpId="0" animBg="1"/>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750" y="519113"/>
            <a:ext cx="8229600" cy="3276773"/>
          </a:xfrm>
        </p:spPr>
        <p:txBody>
          <a:bodyPr>
            <a:normAutofit/>
          </a:bodyPr>
          <a:lstStyle/>
          <a:p>
            <a:pPr marL="0" indent="0">
              <a:buFontTx/>
              <a:buNone/>
              <a:defRPr/>
            </a:pPr>
            <a:r>
              <a:rPr lang="zh-CN" altLang="zh-CN" sz="2200" dirty="0"/>
              <a:t>常用的三地址代码有以下几种。</a:t>
            </a:r>
          </a:p>
          <a:p>
            <a:pPr marL="0" indent="0">
              <a:buFontTx/>
              <a:buNone/>
              <a:defRPr/>
            </a:pPr>
            <a:r>
              <a:rPr lang="zh-CN" altLang="zh-CN" sz="2200" dirty="0">
                <a:solidFill>
                  <a:srgbClr val="FF0000"/>
                </a:solidFill>
              </a:rPr>
              <a:t>（</a:t>
            </a:r>
            <a:r>
              <a:rPr lang="en-US" altLang="zh-CN" sz="2200" dirty="0">
                <a:solidFill>
                  <a:srgbClr val="FF0000"/>
                </a:solidFill>
              </a:rPr>
              <a:t>1</a:t>
            </a:r>
            <a:r>
              <a:rPr lang="zh-CN" altLang="zh-CN" sz="2200" dirty="0">
                <a:solidFill>
                  <a:srgbClr val="FF0000"/>
                </a:solidFill>
              </a:rPr>
              <a:t>）</a:t>
            </a:r>
            <a:r>
              <a:rPr lang="en-US" altLang="zh-CN" sz="2200" dirty="0">
                <a:solidFill>
                  <a:srgbClr val="FF0000"/>
                </a:solidFill>
              </a:rPr>
              <a:t>x = y op z</a:t>
            </a:r>
          </a:p>
          <a:p>
            <a:pPr marL="0" indent="0">
              <a:buFontTx/>
              <a:buNone/>
              <a:defRPr/>
            </a:pPr>
            <a:r>
              <a:rPr lang="zh-CN" altLang="zh-CN" sz="2200" dirty="0">
                <a:solidFill>
                  <a:srgbClr val="FF0000"/>
                </a:solidFill>
              </a:rPr>
              <a:t>（</a:t>
            </a:r>
            <a:r>
              <a:rPr lang="en-US" altLang="zh-CN" sz="2200" dirty="0">
                <a:solidFill>
                  <a:srgbClr val="FF0000"/>
                </a:solidFill>
              </a:rPr>
              <a:t>2</a:t>
            </a:r>
            <a:r>
              <a:rPr lang="zh-CN" altLang="zh-CN" sz="2200" dirty="0">
                <a:solidFill>
                  <a:srgbClr val="FF0000"/>
                </a:solidFill>
              </a:rPr>
              <a:t>）</a:t>
            </a:r>
            <a:r>
              <a:rPr lang="en-US" altLang="zh-CN" sz="2200" dirty="0">
                <a:solidFill>
                  <a:srgbClr val="FF0000"/>
                </a:solidFill>
              </a:rPr>
              <a:t>x = op z</a:t>
            </a:r>
          </a:p>
          <a:p>
            <a:pPr marL="0" indent="0">
              <a:buFontTx/>
              <a:buNone/>
              <a:defRPr/>
            </a:pPr>
            <a:r>
              <a:rPr lang="zh-CN" altLang="zh-CN" sz="2200" dirty="0">
                <a:solidFill>
                  <a:srgbClr val="FF0000"/>
                </a:solidFill>
              </a:rPr>
              <a:t>（</a:t>
            </a:r>
            <a:r>
              <a:rPr lang="en-US" altLang="zh-CN" sz="2200" dirty="0">
                <a:solidFill>
                  <a:srgbClr val="FF0000"/>
                </a:solidFill>
              </a:rPr>
              <a:t>3</a:t>
            </a:r>
            <a:r>
              <a:rPr lang="zh-CN" altLang="zh-CN" sz="2200" dirty="0">
                <a:solidFill>
                  <a:srgbClr val="FF0000"/>
                </a:solidFill>
              </a:rPr>
              <a:t>）</a:t>
            </a:r>
            <a:r>
              <a:rPr lang="en-US" altLang="zh-CN" sz="2200" dirty="0">
                <a:solidFill>
                  <a:srgbClr val="FF0000"/>
                </a:solidFill>
              </a:rPr>
              <a:t>x = y</a:t>
            </a:r>
            <a:endParaRPr lang="zh-CN" altLang="zh-CN" sz="2200" dirty="0">
              <a:solidFill>
                <a:srgbClr val="FF0000"/>
              </a:solidFill>
            </a:endParaRPr>
          </a:p>
          <a:p>
            <a:pPr marL="0" indent="0">
              <a:buFontTx/>
              <a:buNone/>
              <a:defRPr/>
            </a:pPr>
            <a:r>
              <a:rPr lang="zh-CN" altLang="zh-CN" sz="2200" dirty="0">
                <a:solidFill>
                  <a:srgbClr val="FF0000"/>
                </a:solidFill>
              </a:rPr>
              <a:t>（</a:t>
            </a:r>
            <a:r>
              <a:rPr lang="en-US" altLang="zh-CN" sz="2200" dirty="0">
                <a:solidFill>
                  <a:srgbClr val="FF0000"/>
                </a:solidFill>
              </a:rPr>
              <a:t>4</a:t>
            </a:r>
            <a:r>
              <a:rPr lang="zh-CN" altLang="zh-CN" sz="2200" dirty="0">
                <a:solidFill>
                  <a:srgbClr val="FF0000"/>
                </a:solidFill>
              </a:rPr>
              <a:t>）无条件转移</a:t>
            </a:r>
            <a:r>
              <a:rPr lang="zh-CN" altLang="en-US" sz="2200" dirty="0">
                <a:solidFill>
                  <a:srgbClr val="FF0000"/>
                </a:solidFill>
              </a:rPr>
              <a:t>：</a:t>
            </a:r>
            <a:r>
              <a:rPr lang="en-US" altLang="zh-CN" sz="2200" dirty="0" err="1">
                <a:solidFill>
                  <a:srgbClr val="FF0000"/>
                </a:solidFill>
              </a:rPr>
              <a:t>goto</a:t>
            </a:r>
            <a:r>
              <a:rPr lang="en-US" altLang="zh-CN" sz="2200" dirty="0">
                <a:solidFill>
                  <a:srgbClr val="FF0000"/>
                </a:solidFill>
              </a:rPr>
              <a:t> L</a:t>
            </a:r>
            <a:endParaRPr lang="zh-CN" altLang="zh-CN" sz="2200" dirty="0">
              <a:solidFill>
                <a:srgbClr val="FF0000"/>
              </a:solidFill>
            </a:endParaRPr>
          </a:p>
          <a:p>
            <a:pPr marL="0" indent="0">
              <a:buFontTx/>
              <a:buNone/>
              <a:defRPr/>
            </a:pPr>
            <a:r>
              <a:rPr lang="zh-CN" altLang="zh-CN" sz="2200" dirty="0">
                <a:solidFill>
                  <a:srgbClr val="FF0000"/>
                </a:solidFill>
              </a:rPr>
              <a:t>（</a:t>
            </a:r>
            <a:r>
              <a:rPr lang="en-US" altLang="zh-CN" sz="2200" dirty="0">
                <a:solidFill>
                  <a:srgbClr val="FF0000"/>
                </a:solidFill>
              </a:rPr>
              <a:t>5</a:t>
            </a:r>
            <a:r>
              <a:rPr lang="zh-CN" altLang="zh-CN" sz="2200" dirty="0">
                <a:solidFill>
                  <a:srgbClr val="FF0000"/>
                </a:solidFill>
              </a:rPr>
              <a:t>）条件转移</a:t>
            </a:r>
            <a:r>
              <a:rPr lang="zh-CN" altLang="en-US" sz="2200" dirty="0">
                <a:solidFill>
                  <a:srgbClr val="FF0000"/>
                </a:solidFill>
              </a:rPr>
              <a:t>：</a:t>
            </a:r>
            <a:r>
              <a:rPr lang="en-US" altLang="zh-CN" sz="2200" dirty="0">
                <a:solidFill>
                  <a:srgbClr val="FF0000"/>
                </a:solidFill>
              </a:rPr>
              <a:t>if x </a:t>
            </a:r>
            <a:r>
              <a:rPr lang="en-US" altLang="zh-CN" sz="2200" dirty="0" err="1">
                <a:solidFill>
                  <a:srgbClr val="FF0000"/>
                </a:solidFill>
              </a:rPr>
              <a:t>rop</a:t>
            </a:r>
            <a:r>
              <a:rPr lang="en-US" altLang="zh-CN" sz="2200" dirty="0">
                <a:solidFill>
                  <a:srgbClr val="FF0000"/>
                </a:solidFill>
              </a:rPr>
              <a:t> y </a:t>
            </a:r>
            <a:r>
              <a:rPr lang="en-US" altLang="zh-CN" sz="2200" dirty="0" err="1">
                <a:solidFill>
                  <a:srgbClr val="FF0000"/>
                </a:solidFill>
              </a:rPr>
              <a:t>goto</a:t>
            </a:r>
            <a:r>
              <a:rPr lang="en-US" altLang="zh-CN" sz="2200" dirty="0">
                <a:solidFill>
                  <a:srgbClr val="FF0000"/>
                </a:solidFill>
              </a:rPr>
              <a:t> L </a:t>
            </a:r>
            <a:r>
              <a:rPr lang="zh-CN" altLang="zh-CN" sz="2200" dirty="0"/>
              <a:t>或</a:t>
            </a:r>
            <a:r>
              <a:rPr lang="en-US" altLang="zh-CN" sz="2200" dirty="0">
                <a:solidFill>
                  <a:srgbClr val="FF0000"/>
                </a:solidFill>
              </a:rPr>
              <a:t> if a </a:t>
            </a:r>
            <a:r>
              <a:rPr lang="en-US" altLang="zh-CN" sz="2200" dirty="0" err="1">
                <a:solidFill>
                  <a:srgbClr val="FF0000"/>
                </a:solidFill>
              </a:rPr>
              <a:t>goto</a:t>
            </a:r>
            <a:r>
              <a:rPr lang="en-US" altLang="zh-CN" sz="2200" dirty="0">
                <a:solidFill>
                  <a:srgbClr val="FF0000"/>
                </a:solidFill>
              </a:rPr>
              <a:t> L</a:t>
            </a:r>
            <a:r>
              <a:rPr lang="zh-CN" altLang="zh-CN" sz="2200" dirty="0">
                <a:solidFill>
                  <a:srgbClr val="FF0000"/>
                </a:solidFill>
              </a:rPr>
              <a:t>。</a:t>
            </a:r>
            <a:endParaRPr lang="en-US" altLang="zh-CN" sz="2200" dirty="0">
              <a:solidFill>
                <a:srgbClr val="FF0000"/>
              </a:solidFill>
            </a:endParaRPr>
          </a:p>
          <a:p>
            <a:pPr marL="0" indent="449263">
              <a:buFontTx/>
              <a:buNone/>
              <a:defRPr/>
            </a:pPr>
            <a:r>
              <a:rPr lang="en-US" altLang="zh-CN" sz="2200" dirty="0" err="1"/>
              <a:t>rop</a:t>
            </a:r>
            <a:r>
              <a:rPr lang="zh-CN" altLang="zh-CN" sz="2200" dirty="0"/>
              <a:t>为关系运算符（如</a:t>
            </a:r>
            <a:r>
              <a:rPr lang="en-US" altLang="zh-CN" sz="2200" dirty="0"/>
              <a:t>&lt;</a:t>
            </a:r>
            <a:r>
              <a:rPr lang="zh-CN" altLang="zh-CN" sz="2200" dirty="0"/>
              <a:t>、</a:t>
            </a:r>
            <a:r>
              <a:rPr lang="en-US" altLang="zh-CN" sz="2200" dirty="0"/>
              <a:t>&lt;=</a:t>
            </a:r>
            <a:r>
              <a:rPr lang="zh-CN" altLang="zh-CN" sz="2200" dirty="0"/>
              <a:t>、</a:t>
            </a:r>
            <a:r>
              <a:rPr lang="en-US" altLang="zh-CN" sz="2200" dirty="0"/>
              <a:t>==</a:t>
            </a:r>
            <a:r>
              <a:rPr lang="zh-CN" altLang="zh-CN" sz="2200" dirty="0"/>
              <a:t>、</a:t>
            </a:r>
            <a:r>
              <a:rPr lang="en-US" altLang="zh-CN" sz="2200" dirty="0"/>
              <a:t>&lt;&gt;</a:t>
            </a:r>
            <a:r>
              <a:rPr lang="zh-CN" altLang="zh-CN" sz="2200" dirty="0"/>
              <a:t>、</a:t>
            </a:r>
            <a:r>
              <a:rPr lang="en-US" altLang="zh-CN" sz="2200" dirty="0"/>
              <a:t>&gt;</a:t>
            </a:r>
            <a:r>
              <a:rPr lang="zh-CN" altLang="zh-CN" sz="2200" dirty="0"/>
              <a:t>和</a:t>
            </a:r>
            <a:r>
              <a:rPr lang="en-US" altLang="zh-CN" sz="2200" dirty="0"/>
              <a:t>&gt;=</a:t>
            </a:r>
          </a:p>
          <a:p>
            <a:pPr marL="0" indent="449263">
              <a:buFontTx/>
              <a:buNone/>
              <a:defRPr/>
            </a:pPr>
            <a:r>
              <a:rPr lang="en-US" altLang="zh-CN" sz="2200" dirty="0"/>
              <a:t>a</a:t>
            </a:r>
            <a:r>
              <a:rPr lang="zh-CN" altLang="zh-CN" sz="2200" dirty="0"/>
              <a:t>为布尔变量或常量</a:t>
            </a:r>
            <a:endParaRPr lang="en-US" altLang="zh-CN" sz="2200" dirty="0"/>
          </a:p>
        </p:txBody>
      </p:sp>
      <p:sp>
        <p:nvSpPr>
          <p:cNvPr id="2" name="矩形 1"/>
          <p:cNvSpPr/>
          <p:nvPr/>
        </p:nvSpPr>
        <p:spPr>
          <a:xfrm>
            <a:off x="6948264" y="151439"/>
            <a:ext cx="1880467" cy="5232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800" dirty="0"/>
              <a:t>x + y * z</a:t>
            </a:r>
            <a:endParaRPr lang="zh-CN" altLang="en-US" sz="2800" dirty="0"/>
          </a:p>
        </p:txBody>
      </p:sp>
      <p:sp>
        <p:nvSpPr>
          <p:cNvPr id="4" name="矩形 3"/>
          <p:cNvSpPr/>
          <p:nvPr/>
        </p:nvSpPr>
        <p:spPr>
          <a:xfrm>
            <a:off x="6948264" y="1524729"/>
            <a:ext cx="1880467" cy="83099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400" dirty="0"/>
              <a:t>T</a:t>
            </a:r>
            <a:r>
              <a:rPr lang="en-US" altLang="zh-CN" sz="2400" baseline="-25000" dirty="0"/>
              <a:t>1 </a:t>
            </a:r>
            <a:r>
              <a:rPr lang="en-US" altLang="zh-CN" sz="2400" dirty="0"/>
              <a:t>= y * z</a:t>
            </a:r>
            <a:endParaRPr lang="zh-CN" altLang="zh-CN" sz="2400" dirty="0"/>
          </a:p>
          <a:p>
            <a:r>
              <a:rPr lang="en-US" altLang="zh-CN" sz="2400" dirty="0"/>
              <a:t>T</a:t>
            </a:r>
            <a:r>
              <a:rPr lang="en-US" altLang="zh-CN" sz="2400" baseline="-25000" dirty="0"/>
              <a:t>2 </a:t>
            </a:r>
            <a:r>
              <a:rPr lang="en-US" altLang="zh-CN" sz="2400" dirty="0"/>
              <a:t>= x + T</a:t>
            </a:r>
            <a:r>
              <a:rPr lang="en-US" altLang="zh-CN" sz="2400" baseline="-25000" dirty="0"/>
              <a:t>1</a:t>
            </a:r>
            <a:endParaRPr lang="zh-CN" altLang="en-US" sz="2400" dirty="0"/>
          </a:p>
        </p:txBody>
      </p:sp>
      <p:sp>
        <p:nvSpPr>
          <p:cNvPr id="5" name="下箭头 4"/>
          <p:cNvSpPr/>
          <p:nvPr/>
        </p:nvSpPr>
        <p:spPr>
          <a:xfrm>
            <a:off x="7888496" y="746667"/>
            <a:ext cx="211896" cy="706054"/>
          </a:xfrm>
          <a:prstGeom prst="down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6" name="矩形 5"/>
          <p:cNvSpPr/>
          <p:nvPr/>
        </p:nvSpPr>
        <p:spPr>
          <a:xfrm>
            <a:off x="539552" y="4106565"/>
            <a:ext cx="7992888" cy="76944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zh-CN" altLang="zh-CN" sz="2200" dirty="0"/>
              <a:t>三地址代码是中间代码的一种抽象形式。</a:t>
            </a:r>
            <a:endParaRPr lang="en-US" altLang="zh-CN" sz="2200" dirty="0"/>
          </a:p>
          <a:p>
            <a:pPr>
              <a:defRPr/>
            </a:pPr>
            <a:r>
              <a:rPr lang="zh-CN" altLang="zh-CN" sz="2200" dirty="0"/>
              <a:t>编译程序中，三地址代码的具体实现通常有</a:t>
            </a:r>
            <a:r>
              <a:rPr lang="zh-CN" altLang="zh-CN" sz="2200" b="1" dirty="0">
                <a:solidFill>
                  <a:srgbClr val="FF0000"/>
                </a:solidFill>
              </a:rPr>
              <a:t>四元式</a:t>
            </a:r>
            <a:r>
              <a:rPr lang="zh-CN" altLang="zh-CN" sz="2200" dirty="0"/>
              <a:t>和</a:t>
            </a:r>
            <a:r>
              <a:rPr lang="zh-CN" altLang="zh-CN" sz="2200" b="1" dirty="0">
                <a:solidFill>
                  <a:srgbClr val="FF0000"/>
                </a:solidFill>
              </a:rPr>
              <a:t>三元式</a:t>
            </a:r>
            <a:r>
              <a:rPr lang="zh-CN" altLang="zh-CN" sz="2200" dirty="0"/>
              <a:t>。</a:t>
            </a:r>
            <a:endParaRPr lang="zh-CN" altLang="en-US" sz="2200" dirty="0"/>
          </a:p>
        </p:txBody>
      </p:sp>
    </p:spTree>
    <p:extLst>
      <p:ext uri="{BB962C8B-B14F-4D97-AF65-F5344CB8AC3E}">
        <p14:creationId xmlns:p14="http://schemas.microsoft.com/office/powerpoint/2010/main" val="1898124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06400" y="2246411"/>
            <a:ext cx="7766050" cy="138499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lvl1pPr marL="342900" indent="-342900">
              <a:defRPr sz="24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defRPr sz="2400">
                <a:solidFill>
                  <a:schemeClr val="tx1"/>
                </a:solidFill>
                <a:latin typeface="Arial" charset="0"/>
                <a:ea typeface="宋体" pitchFamily="2" charset="-122"/>
              </a:defRPr>
            </a:lvl4pPr>
            <a:lvl5pPr marL="2057400" indent="-228600">
              <a:defRPr sz="2400">
                <a:solidFill>
                  <a:schemeClr val="tx1"/>
                </a:solidFill>
                <a:latin typeface="Arial" charset="0"/>
                <a:ea typeface="宋体" pitchFamily="2" charset="-122"/>
              </a:defRPr>
            </a:lvl5pPr>
            <a:lvl6pPr marL="2514600" indent="-228600" eaLnBrk="0" fontAlgn="base" hangingPunct="0">
              <a:lnSpc>
                <a:spcPct val="80000"/>
              </a:lnSpc>
              <a:spcBef>
                <a:spcPct val="20000"/>
              </a:spcBef>
              <a:spcAft>
                <a:spcPct val="0"/>
              </a:spcAft>
              <a:buChar char="•"/>
              <a:defRPr sz="2400">
                <a:solidFill>
                  <a:schemeClr val="tx1"/>
                </a:solidFill>
                <a:latin typeface="Arial" charset="0"/>
                <a:ea typeface="宋体" pitchFamily="2" charset="-122"/>
              </a:defRPr>
            </a:lvl6pPr>
            <a:lvl7pPr marL="2971800" indent="-228600" eaLnBrk="0" fontAlgn="base" hangingPunct="0">
              <a:lnSpc>
                <a:spcPct val="80000"/>
              </a:lnSpc>
              <a:spcBef>
                <a:spcPct val="20000"/>
              </a:spcBef>
              <a:spcAft>
                <a:spcPct val="0"/>
              </a:spcAft>
              <a:buChar char="•"/>
              <a:defRPr sz="2400">
                <a:solidFill>
                  <a:schemeClr val="tx1"/>
                </a:solidFill>
                <a:latin typeface="Arial" charset="0"/>
                <a:ea typeface="宋体" pitchFamily="2" charset="-122"/>
              </a:defRPr>
            </a:lvl7pPr>
            <a:lvl8pPr marL="3429000" indent="-228600" eaLnBrk="0" fontAlgn="base" hangingPunct="0">
              <a:lnSpc>
                <a:spcPct val="80000"/>
              </a:lnSpc>
              <a:spcBef>
                <a:spcPct val="20000"/>
              </a:spcBef>
              <a:spcAft>
                <a:spcPct val="0"/>
              </a:spcAft>
              <a:buChar char="•"/>
              <a:defRPr sz="2400">
                <a:solidFill>
                  <a:schemeClr val="tx1"/>
                </a:solidFill>
                <a:latin typeface="Arial" charset="0"/>
                <a:ea typeface="宋体" pitchFamily="2" charset="-122"/>
              </a:defRPr>
            </a:lvl8pPr>
            <a:lvl9pPr marL="3886200" indent="-228600" eaLnBrk="0" fontAlgn="base" hangingPunct="0">
              <a:lnSpc>
                <a:spcPct val="80000"/>
              </a:lnSpc>
              <a:spcBef>
                <a:spcPct val="20000"/>
              </a:spcBef>
              <a:spcAft>
                <a:spcPct val="0"/>
              </a:spcAft>
              <a:buChar char="•"/>
              <a:defRPr sz="2400">
                <a:solidFill>
                  <a:schemeClr val="tx1"/>
                </a:solidFill>
                <a:latin typeface="Arial" charset="0"/>
                <a:ea typeface="宋体" pitchFamily="2" charset="-122"/>
              </a:defRPr>
            </a:lvl9pPr>
          </a:lstStyle>
          <a:p>
            <a:pPr eaLnBrk="1" hangingPunct="1">
              <a:lnSpc>
                <a:spcPct val="100000"/>
              </a:lnSpc>
              <a:buFontTx/>
              <a:buNone/>
              <a:defRPr/>
            </a:pPr>
            <a:r>
              <a:rPr lang="en-US" altLang="zh-CN" sz="2800" dirty="0">
                <a:solidFill>
                  <a:srgbClr val="000000"/>
                </a:solidFill>
                <a:latin typeface="宋体" pitchFamily="2" charset="-122"/>
              </a:rPr>
              <a:t>    </a:t>
            </a:r>
            <a:r>
              <a:rPr lang="zh-CN" altLang="en-US" sz="2800" dirty="0">
                <a:solidFill>
                  <a:srgbClr val="000000"/>
                </a:solidFill>
                <a:latin typeface="宋体" pitchFamily="2" charset="-122"/>
              </a:rPr>
              <a:t>写成三地址代码的形式：</a:t>
            </a:r>
          </a:p>
          <a:p>
            <a:pPr lvl="1" eaLnBrk="1" hangingPunct="1">
              <a:lnSpc>
                <a:spcPct val="100000"/>
              </a:lnSpc>
              <a:buFontTx/>
              <a:buNone/>
              <a:defRPr/>
            </a:pPr>
            <a:r>
              <a:rPr lang="en-US" altLang="zh-CN" sz="2800" dirty="0">
                <a:solidFill>
                  <a:srgbClr val="000000"/>
                </a:solidFill>
                <a:latin typeface="宋体" pitchFamily="2" charset="-122"/>
              </a:rPr>
              <a:t>   (1)t</a:t>
            </a:r>
            <a:r>
              <a:rPr lang="en-US" altLang="zh-CN" sz="2800" baseline="-25000" dirty="0">
                <a:solidFill>
                  <a:srgbClr val="000000"/>
                </a:solidFill>
                <a:latin typeface="宋体" pitchFamily="2" charset="-122"/>
              </a:rPr>
              <a:t>1</a:t>
            </a:r>
            <a:r>
              <a:rPr lang="en-US" altLang="zh-CN" sz="2800" dirty="0">
                <a:solidFill>
                  <a:srgbClr val="000000"/>
                </a:solidFill>
                <a:latin typeface="宋体" pitchFamily="2" charset="-122"/>
              </a:rPr>
              <a:t>=b*c      </a:t>
            </a:r>
            <a:r>
              <a:rPr lang="zh-CN" altLang="en-US" sz="2800" dirty="0">
                <a:solidFill>
                  <a:srgbClr val="000000"/>
                </a:solidFill>
                <a:latin typeface="宋体" pitchFamily="2" charset="-122"/>
              </a:rPr>
              <a:t>　</a:t>
            </a:r>
            <a:r>
              <a:rPr lang="en-US" altLang="zh-CN" sz="2800" dirty="0">
                <a:solidFill>
                  <a:srgbClr val="000000"/>
                </a:solidFill>
                <a:latin typeface="宋体" pitchFamily="2" charset="-122"/>
              </a:rPr>
              <a:t>(2)t</a:t>
            </a:r>
            <a:r>
              <a:rPr lang="en-US" altLang="zh-CN" sz="2800" baseline="-25000" dirty="0">
                <a:solidFill>
                  <a:srgbClr val="000000"/>
                </a:solidFill>
                <a:latin typeface="宋体" pitchFamily="2" charset="-122"/>
              </a:rPr>
              <a:t>2</a:t>
            </a:r>
            <a:r>
              <a:rPr lang="en-US" altLang="zh-CN" sz="2800" dirty="0">
                <a:solidFill>
                  <a:srgbClr val="000000"/>
                </a:solidFill>
                <a:latin typeface="宋体" pitchFamily="2" charset="-122"/>
              </a:rPr>
              <a:t>=b*d</a:t>
            </a:r>
          </a:p>
          <a:p>
            <a:pPr lvl="1" eaLnBrk="1" hangingPunct="1">
              <a:lnSpc>
                <a:spcPct val="100000"/>
              </a:lnSpc>
              <a:buFontTx/>
              <a:buNone/>
              <a:defRPr/>
            </a:pPr>
            <a:r>
              <a:rPr lang="en-US" altLang="zh-CN" sz="2800" dirty="0">
                <a:solidFill>
                  <a:srgbClr val="000000"/>
                </a:solidFill>
                <a:latin typeface="宋体" pitchFamily="2" charset="-122"/>
              </a:rPr>
              <a:t>   (3)t</a:t>
            </a:r>
            <a:r>
              <a:rPr lang="en-US" altLang="zh-CN" sz="2800" baseline="-25000" dirty="0">
                <a:solidFill>
                  <a:srgbClr val="000000"/>
                </a:solidFill>
                <a:latin typeface="宋体" pitchFamily="2" charset="-122"/>
              </a:rPr>
              <a:t>3</a:t>
            </a:r>
            <a:r>
              <a:rPr lang="en-US" altLang="zh-CN" sz="2800" dirty="0">
                <a:solidFill>
                  <a:srgbClr val="000000"/>
                </a:solidFill>
                <a:latin typeface="宋体" pitchFamily="2" charset="-122"/>
              </a:rPr>
              <a:t>=t</a:t>
            </a:r>
            <a:r>
              <a:rPr lang="en-US" altLang="zh-CN" sz="2800" baseline="-25000" dirty="0">
                <a:solidFill>
                  <a:srgbClr val="000000"/>
                </a:solidFill>
                <a:latin typeface="宋体" pitchFamily="2" charset="-122"/>
              </a:rPr>
              <a:t>1</a:t>
            </a:r>
            <a:r>
              <a:rPr lang="en-US" altLang="zh-CN" sz="2800" dirty="0">
                <a:solidFill>
                  <a:srgbClr val="000000"/>
                </a:solidFill>
                <a:latin typeface="宋体" pitchFamily="2" charset="-122"/>
              </a:rPr>
              <a:t>+t</a:t>
            </a:r>
            <a:r>
              <a:rPr lang="en-US" altLang="zh-CN" sz="2800" baseline="-25000" dirty="0">
                <a:solidFill>
                  <a:srgbClr val="000000"/>
                </a:solidFill>
                <a:latin typeface="宋体" pitchFamily="2" charset="-122"/>
              </a:rPr>
              <a:t>2</a:t>
            </a:r>
            <a:r>
              <a:rPr lang="en-US" altLang="zh-CN" sz="2800" dirty="0">
                <a:solidFill>
                  <a:srgbClr val="000000"/>
                </a:solidFill>
                <a:latin typeface="宋体" pitchFamily="2" charset="-122"/>
              </a:rPr>
              <a:t>     </a:t>
            </a:r>
            <a:r>
              <a:rPr lang="en-US" altLang="zh-CN" sz="2000" dirty="0">
                <a:solidFill>
                  <a:srgbClr val="000000"/>
                </a:solidFill>
                <a:latin typeface="宋体" pitchFamily="2" charset="-122"/>
              </a:rPr>
              <a:t> </a:t>
            </a:r>
            <a:r>
              <a:rPr lang="en-US" altLang="zh-CN" sz="2800" dirty="0">
                <a:solidFill>
                  <a:srgbClr val="000000"/>
                </a:solidFill>
                <a:latin typeface="宋体" pitchFamily="2" charset="-122"/>
              </a:rPr>
              <a:t> (4)a=t</a:t>
            </a:r>
            <a:r>
              <a:rPr lang="en-US" altLang="zh-CN" sz="2800" baseline="-25000" dirty="0">
                <a:solidFill>
                  <a:srgbClr val="000000"/>
                </a:solidFill>
                <a:latin typeface="宋体" pitchFamily="2" charset="-122"/>
              </a:rPr>
              <a:t>3</a:t>
            </a:r>
          </a:p>
        </p:txBody>
      </p:sp>
      <p:sp>
        <p:nvSpPr>
          <p:cNvPr id="3" name="矩形 2"/>
          <p:cNvSpPr/>
          <p:nvPr/>
        </p:nvSpPr>
        <p:spPr>
          <a:xfrm>
            <a:off x="406400" y="1470383"/>
            <a:ext cx="7766050" cy="7078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742950" lvl="1" indent="-285750" eaLnBrk="1" hangingPunct="1">
              <a:lnSpc>
                <a:spcPct val="100000"/>
              </a:lnSpc>
              <a:buFontTx/>
              <a:buNone/>
              <a:defRPr/>
            </a:pPr>
            <a:r>
              <a:rPr lang="zh-CN" altLang="en-US" sz="3600" kern="0" dirty="0">
                <a:solidFill>
                  <a:srgbClr val="000000"/>
                </a:solidFill>
                <a:latin typeface="宋体" pitchFamily="2" charset="-122"/>
              </a:rPr>
              <a:t>例：</a:t>
            </a:r>
            <a:r>
              <a:rPr lang="en-US" altLang="zh-CN" sz="4000" b="1" kern="0" dirty="0">
                <a:solidFill>
                  <a:srgbClr val="FF3300"/>
                </a:solidFill>
                <a:latin typeface="宋体" pitchFamily="2" charset="-122"/>
              </a:rPr>
              <a:t>a=b*</a:t>
            </a:r>
            <a:r>
              <a:rPr lang="en-US" altLang="zh-CN" sz="4000" b="1" kern="0" dirty="0" err="1">
                <a:solidFill>
                  <a:srgbClr val="FF3300"/>
                </a:solidFill>
                <a:latin typeface="宋体" pitchFamily="2" charset="-122"/>
              </a:rPr>
              <a:t>c+b</a:t>
            </a:r>
            <a:r>
              <a:rPr lang="en-US" altLang="zh-CN" sz="4000" b="1" kern="0" dirty="0">
                <a:solidFill>
                  <a:srgbClr val="FF3300"/>
                </a:solidFill>
                <a:latin typeface="宋体" pitchFamily="2" charset="-122"/>
              </a:rPr>
              <a:t>*d</a:t>
            </a:r>
          </a:p>
        </p:txBody>
      </p:sp>
      <p:sp>
        <p:nvSpPr>
          <p:cNvPr id="4" name="矩形 3"/>
          <p:cNvSpPr/>
          <p:nvPr/>
        </p:nvSpPr>
        <p:spPr>
          <a:xfrm>
            <a:off x="406400" y="3707035"/>
            <a:ext cx="7766051" cy="1384995"/>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a:spAutoFit/>
          </a:bodyPr>
          <a:lstStyle>
            <a:lvl1pPr marL="342900" indent="-342900">
              <a:defRPr sz="24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defRPr sz="2400">
                <a:solidFill>
                  <a:schemeClr val="tx1"/>
                </a:solidFill>
                <a:latin typeface="Arial" charset="0"/>
                <a:ea typeface="宋体" pitchFamily="2" charset="-122"/>
              </a:defRPr>
            </a:lvl4pPr>
            <a:lvl5pPr marL="2057400" indent="-228600">
              <a:defRPr sz="2400">
                <a:solidFill>
                  <a:schemeClr val="tx1"/>
                </a:solidFill>
                <a:latin typeface="Arial" charset="0"/>
                <a:ea typeface="宋体" pitchFamily="2" charset="-122"/>
              </a:defRPr>
            </a:lvl5pPr>
            <a:lvl6pPr marL="2514600" indent="-228600" eaLnBrk="0" fontAlgn="base" hangingPunct="0">
              <a:lnSpc>
                <a:spcPct val="80000"/>
              </a:lnSpc>
              <a:spcBef>
                <a:spcPct val="20000"/>
              </a:spcBef>
              <a:spcAft>
                <a:spcPct val="0"/>
              </a:spcAft>
              <a:buChar char="•"/>
              <a:defRPr sz="2400">
                <a:solidFill>
                  <a:schemeClr val="tx1"/>
                </a:solidFill>
                <a:latin typeface="Arial" charset="0"/>
                <a:ea typeface="宋体" pitchFamily="2" charset="-122"/>
              </a:defRPr>
            </a:lvl6pPr>
            <a:lvl7pPr marL="2971800" indent="-228600" eaLnBrk="0" fontAlgn="base" hangingPunct="0">
              <a:lnSpc>
                <a:spcPct val="80000"/>
              </a:lnSpc>
              <a:spcBef>
                <a:spcPct val="20000"/>
              </a:spcBef>
              <a:spcAft>
                <a:spcPct val="0"/>
              </a:spcAft>
              <a:buChar char="•"/>
              <a:defRPr sz="2400">
                <a:solidFill>
                  <a:schemeClr val="tx1"/>
                </a:solidFill>
                <a:latin typeface="Arial" charset="0"/>
                <a:ea typeface="宋体" pitchFamily="2" charset="-122"/>
              </a:defRPr>
            </a:lvl7pPr>
            <a:lvl8pPr marL="3429000" indent="-228600" eaLnBrk="0" fontAlgn="base" hangingPunct="0">
              <a:lnSpc>
                <a:spcPct val="80000"/>
              </a:lnSpc>
              <a:spcBef>
                <a:spcPct val="20000"/>
              </a:spcBef>
              <a:spcAft>
                <a:spcPct val="0"/>
              </a:spcAft>
              <a:buChar char="•"/>
              <a:defRPr sz="2400">
                <a:solidFill>
                  <a:schemeClr val="tx1"/>
                </a:solidFill>
                <a:latin typeface="Arial" charset="0"/>
                <a:ea typeface="宋体" pitchFamily="2" charset="-122"/>
              </a:defRPr>
            </a:lvl8pPr>
            <a:lvl9pPr marL="3886200" indent="-228600" eaLnBrk="0" fontAlgn="base" hangingPunct="0">
              <a:lnSpc>
                <a:spcPct val="80000"/>
              </a:lnSpc>
              <a:spcBef>
                <a:spcPct val="20000"/>
              </a:spcBef>
              <a:spcAft>
                <a:spcPct val="0"/>
              </a:spcAft>
              <a:buChar char="•"/>
              <a:defRPr sz="2400">
                <a:solidFill>
                  <a:schemeClr val="tx1"/>
                </a:solidFill>
                <a:latin typeface="Arial" charset="0"/>
                <a:ea typeface="宋体" pitchFamily="2" charset="-122"/>
              </a:defRPr>
            </a:lvl9pPr>
          </a:lstStyle>
          <a:p>
            <a:pPr lvl="1" eaLnBrk="1" hangingPunct="1">
              <a:lnSpc>
                <a:spcPct val="100000"/>
              </a:lnSpc>
              <a:buFontTx/>
              <a:buNone/>
              <a:defRPr/>
            </a:pPr>
            <a:r>
              <a:rPr lang="zh-CN" altLang="en-US" sz="2800" dirty="0">
                <a:solidFill>
                  <a:srgbClr val="000000"/>
                </a:solidFill>
                <a:latin typeface="宋体" pitchFamily="2" charset="-122"/>
              </a:rPr>
              <a:t> 写成四元式形式如下：</a:t>
            </a:r>
            <a:endParaRPr lang="zh-CN" altLang="en-US" sz="2800" dirty="0">
              <a:solidFill>
                <a:srgbClr val="000000"/>
              </a:solidFill>
            </a:endParaRPr>
          </a:p>
          <a:p>
            <a:pPr lvl="1" eaLnBrk="1" hangingPunct="1">
              <a:lnSpc>
                <a:spcPct val="100000"/>
              </a:lnSpc>
              <a:buFontTx/>
              <a:buNone/>
              <a:defRPr/>
            </a:pPr>
            <a:r>
              <a:rPr lang="zh-CN" altLang="en-US" sz="2800" dirty="0">
                <a:solidFill>
                  <a:srgbClr val="000000"/>
                </a:solidFill>
                <a:latin typeface="宋体" pitchFamily="2" charset="-122"/>
              </a:rPr>
              <a:t>　 </a:t>
            </a:r>
            <a:r>
              <a:rPr lang="en-US" altLang="zh-CN" sz="2800" dirty="0">
                <a:solidFill>
                  <a:srgbClr val="000000"/>
                </a:solidFill>
                <a:latin typeface="宋体" pitchFamily="2" charset="-122"/>
              </a:rPr>
              <a:t>(1)(*,b,c,t</a:t>
            </a:r>
            <a:r>
              <a:rPr lang="en-US" altLang="zh-CN" sz="2800" baseline="-25000" dirty="0">
                <a:solidFill>
                  <a:srgbClr val="000000"/>
                </a:solidFill>
                <a:latin typeface="宋体" pitchFamily="2" charset="-122"/>
              </a:rPr>
              <a:t>1</a:t>
            </a:r>
            <a:r>
              <a:rPr lang="en-US" altLang="zh-CN" sz="2800" dirty="0">
                <a:solidFill>
                  <a:srgbClr val="000000"/>
                </a:solidFill>
                <a:latin typeface="宋体" pitchFamily="2" charset="-122"/>
              </a:rPr>
              <a:t>)   </a:t>
            </a:r>
            <a:r>
              <a:rPr lang="zh-CN" altLang="en-US" sz="2800" dirty="0">
                <a:solidFill>
                  <a:srgbClr val="000000"/>
                </a:solidFill>
                <a:latin typeface="宋体" pitchFamily="2" charset="-122"/>
              </a:rPr>
              <a:t>　 </a:t>
            </a:r>
            <a:r>
              <a:rPr lang="en-US" altLang="zh-CN" sz="2800" dirty="0">
                <a:solidFill>
                  <a:srgbClr val="000000"/>
                </a:solidFill>
                <a:latin typeface="宋体" pitchFamily="2" charset="-122"/>
              </a:rPr>
              <a:t>(2)(*,b,d,t</a:t>
            </a:r>
            <a:r>
              <a:rPr lang="en-US" altLang="zh-CN" sz="2800" baseline="-25000" dirty="0">
                <a:solidFill>
                  <a:srgbClr val="000000"/>
                </a:solidFill>
                <a:latin typeface="宋体" pitchFamily="2" charset="-122"/>
              </a:rPr>
              <a:t>2</a:t>
            </a:r>
            <a:r>
              <a:rPr lang="en-US" altLang="zh-CN" sz="2800" dirty="0">
                <a:solidFill>
                  <a:srgbClr val="000000"/>
                </a:solidFill>
                <a:latin typeface="宋体" pitchFamily="2" charset="-122"/>
              </a:rPr>
              <a:t>)</a:t>
            </a:r>
          </a:p>
          <a:p>
            <a:pPr lvl="1" eaLnBrk="1" hangingPunct="1">
              <a:lnSpc>
                <a:spcPct val="100000"/>
              </a:lnSpc>
              <a:buFontTx/>
              <a:buNone/>
              <a:defRPr/>
            </a:pPr>
            <a:r>
              <a:rPr lang="zh-CN" altLang="en-US" sz="2800" dirty="0">
                <a:solidFill>
                  <a:srgbClr val="000000"/>
                </a:solidFill>
                <a:latin typeface="宋体" pitchFamily="2" charset="-122"/>
              </a:rPr>
              <a:t>　 </a:t>
            </a:r>
            <a:r>
              <a:rPr lang="en-US" altLang="zh-CN" sz="2800" dirty="0">
                <a:solidFill>
                  <a:srgbClr val="000000"/>
                </a:solidFill>
                <a:latin typeface="宋体" pitchFamily="2" charset="-122"/>
              </a:rPr>
              <a:t>(3)(+,t</a:t>
            </a:r>
            <a:r>
              <a:rPr lang="en-US" altLang="zh-CN" sz="2800" baseline="-25000" dirty="0">
                <a:solidFill>
                  <a:srgbClr val="000000"/>
                </a:solidFill>
                <a:latin typeface="宋体" pitchFamily="2" charset="-122"/>
              </a:rPr>
              <a:t>1</a:t>
            </a:r>
            <a:r>
              <a:rPr lang="en-US" altLang="zh-CN" sz="2800" dirty="0">
                <a:solidFill>
                  <a:srgbClr val="000000"/>
                </a:solidFill>
                <a:latin typeface="宋体" pitchFamily="2" charset="-122"/>
              </a:rPr>
              <a:t>,t</a:t>
            </a:r>
            <a:r>
              <a:rPr lang="en-US" altLang="zh-CN" sz="2800" baseline="-25000" dirty="0">
                <a:solidFill>
                  <a:srgbClr val="000000"/>
                </a:solidFill>
                <a:latin typeface="宋体" pitchFamily="2" charset="-122"/>
              </a:rPr>
              <a:t>2</a:t>
            </a:r>
            <a:r>
              <a:rPr lang="en-US" altLang="zh-CN" sz="2800" dirty="0">
                <a:solidFill>
                  <a:srgbClr val="000000"/>
                </a:solidFill>
                <a:latin typeface="宋体" pitchFamily="2" charset="-122"/>
              </a:rPr>
              <a:t>,t</a:t>
            </a:r>
            <a:r>
              <a:rPr lang="en-US" altLang="zh-CN" sz="2800" baseline="-25000" dirty="0">
                <a:solidFill>
                  <a:srgbClr val="000000"/>
                </a:solidFill>
                <a:latin typeface="宋体" pitchFamily="2" charset="-122"/>
              </a:rPr>
              <a:t>3</a:t>
            </a:r>
            <a:r>
              <a:rPr lang="en-US" altLang="zh-CN" sz="2800" dirty="0">
                <a:solidFill>
                  <a:srgbClr val="000000"/>
                </a:solidFill>
                <a:latin typeface="宋体" pitchFamily="2" charset="-122"/>
              </a:rPr>
              <a:t>) </a:t>
            </a:r>
            <a:r>
              <a:rPr lang="zh-CN" altLang="en-US" sz="2800" dirty="0">
                <a:solidFill>
                  <a:srgbClr val="000000"/>
                </a:solidFill>
                <a:latin typeface="宋体" pitchFamily="2" charset="-122"/>
              </a:rPr>
              <a:t>　 </a:t>
            </a:r>
            <a:r>
              <a:rPr lang="en-US" altLang="zh-CN" sz="2800" dirty="0">
                <a:solidFill>
                  <a:srgbClr val="000000"/>
                </a:solidFill>
                <a:latin typeface="宋体" pitchFamily="2" charset="-122"/>
              </a:rPr>
              <a:t>(4)(=,t</a:t>
            </a:r>
            <a:r>
              <a:rPr lang="en-US" altLang="zh-CN" sz="2800" baseline="-25000" dirty="0">
                <a:solidFill>
                  <a:srgbClr val="000000"/>
                </a:solidFill>
                <a:latin typeface="宋体" pitchFamily="2" charset="-122"/>
              </a:rPr>
              <a:t>3</a:t>
            </a:r>
            <a:r>
              <a:rPr lang="en-US" altLang="zh-CN" sz="2800" dirty="0">
                <a:solidFill>
                  <a:srgbClr val="000000"/>
                </a:solidFill>
                <a:latin typeface="宋体" pitchFamily="2" charset="-122"/>
              </a:rPr>
              <a:t>, ,a)</a:t>
            </a:r>
            <a:endParaRPr lang="zh-CN" altLang="en-US" dirty="0">
              <a:solidFill>
                <a:srgbClr val="FFFFFF"/>
              </a:solidFill>
            </a:endParaRPr>
          </a:p>
        </p:txBody>
      </p:sp>
      <p:sp>
        <p:nvSpPr>
          <p:cNvPr id="5" name="矩形 4"/>
          <p:cNvSpPr/>
          <p:nvPr/>
        </p:nvSpPr>
        <p:spPr>
          <a:xfrm>
            <a:off x="406400" y="250031"/>
            <a:ext cx="7766050" cy="1200329"/>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342900" indent="-342900" eaLnBrk="1" hangingPunct="1">
              <a:lnSpc>
                <a:spcPct val="100000"/>
              </a:lnSpc>
              <a:defRPr/>
            </a:pPr>
            <a:r>
              <a:rPr lang="zh-CN" altLang="en-US" sz="2400" b="1" kern="0" dirty="0">
                <a:solidFill>
                  <a:srgbClr val="FF3300"/>
                </a:solidFill>
                <a:latin typeface="宋体" pitchFamily="2" charset="-122"/>
              </a:rPr>
              <a:t>四元式</a:t>
            </a:r>
          </a:p>
          <a:p>
            <a:pPr marL="342900" indent="-342900" eaLnBrk="1" hangingPunct="1">
              <a:lnSpc>
                <a:spcPct val="100000"/>
              </a:lnSpc>
              <a:buFontTx/>
              <a:buNone/>
              <a:defRPr/>
            </a:pPr>
            <a:r>
              <a:rPr lang="zh-CN" altLang="en-US" sz="2400" kern="0" dirty="0">
                <a:solidFill>
                  <a:srgbClr val="000000"/>
                </a:solidFill>
                <a:latin typeface="宋体" pitchFamily="2" charset="-122"/>
              </a:rPr>
              <a:t>  是目前最常用的中间代码形式</a:t>
            </a:r>
            <a:r>
              <a:rPr lang="en-US" altLang="zh-CN" sz="2400" kern="0" dirty="0">
                <a:solidFill>
                  <a:srgbClr val="000000"/>
                </a:solidFill>
                <a:latin typeface="宋体" pitchFamily="2" charset="-122"/>
              </a:rPr>
              <a:t>:</a:t>
            </a:r>
          </a:p>
          <a:p>
            <a:pPr marL="342900" indent="-342900" eaLnBrk="1" hangingPunct="1">
              <a:lnSpc>
                <a:spcPct val="100000"/>
              </a:lnSpc>
              <a:buFontTx/>
              <a:buNone/>
              <a:defRPr/>
            </a:pPr>
            <a:r>
              <a:rPr lang="en-US" altLang="zh-CN" sz="2400" kern="0" dirty="0">
                <a:solidFill>
                  <a:srgbClr val="000000"/>
                </a:solidFill>
                <a:latin typeface="宋体" pitchFamily="2" charset="-122"/>
              </a:rPr>
              <a:t>	</a:t>
            </a:r>
            <a:r>
              <a:rPr lang="en-US" altLang="zh-CN" sz="2400" b="1" kern="0" dirty="0">
                <a:solidFill>
                  <a:srgbClr val="0033CC"/>
                </a:solidFill>
                <a:latin typeface="宋体" pitchFamily="2" charset="-122"/>
              </a:rPr>
              <a:t>(</a:t>
            </a:r>
            <a:r>
              <a:rPr lang="zh-CN" altLang="en-US" sz="2400" b="1" kern="0" dirty="0">
                <a:solidFill>
                  <a:srgbClr val="0033CC"/>
                </a:solidFill>
                <a:latin typeface="宋体" pitchFamily="2" charset="-122"/>
              </a:rPr>
              <a:t>运算符，第一运算对象，第二运算对象，结果</a:t>
            </a:r>
            <a:r>
              <a:rPr lang="en-US" altLang="zh-CN" sz="2400" b="1" kern="0" dirty="0">
                <a:solidFill>
                  <a:srgbClr val="0033CC"/>
                </a:solidFill>
                <a:latin typeface="宋体" pitchFamily="2" charset="-122"/>
              </a:rPr>
              <a:t>)</a:t>
            </a:r>
          </a:p>
        </p:txBody>
      </p:sp>
    </p:spTree>
    <p:extLst>
      <p:ext uri="{BB962C8B-B14F-4D97-AF65-F5344CB8AC3E}">
        <p14:creationId xmlns:p14="http://schemas.microsoft.com/office/powerpoint/2010/main" val="38763681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zh-CN" altLang="en-US"/>
              <a:t>三地址代码与四元式的对应关系 </a:t>
            </a:r>
          </a:p>
        </p:txBody>
      </p:sp>
      <p:graphicFrame>
        <p:nvGraphicFramePr>
          <p:cNvPr id="205928" name="Group 104"/>
          <p:cNvGraphicFramePr>
            <a:graphicFrameLocks noGrp="1"/>
          </p:cNvGraphicFramePr>
          <p:nvPr>
            <p:ph idx="1"/>
            <p:extLst>
              <p:ext uri="{D42A27DB-BD31-4B8C-83A1-F6EECF244321}">
                <p14:modId xmlns:p14="http://schemas.microsoft.com/office/powerpoint/2010/main" val="23610779"/>
              </p:ext>
            </p:extLst>
          </p:nvPr>
        </p:nvGraphicFramePr>
        <p:xfrm>
          <a:off x="395536" y="1347614"/>
          <a:ext cx="8229600" cy="2451497"/>
        </p:xfrm>
        <a:graphic>
          <a:graphicData uri="http://schemas.openxmlformats.org/drawingml/2006/table">
            <a:tbl>
              <a:tblPr/>
              <a:tblGrid>
                <a:gridCol w="1909763">
                  <a:extLst>
                    <a:ext uri="{9D8B030D-6E8A-4147-A177-3AD203B41FA5}">
                      <a16:colId xmlns:a16="http://schemas.microsoft.com/office/drawing/2014/main" val="20000"/>
                    </a:ext>
                  </a:extLst>
                </a:gridCol>
                <a:gridCol w="1976437">
                  <a:extLst>
                    <a:ext uri="{9D8B030D-6E8A-4147-A177-3AD203B41FA5}">
                      <a16:colId xmlns:a16="http://schemas.microsoft.com/office/drawing/2014/main" val="20001"/>
                    </a:ext>
                  </a:extLst>
                </a:gridCol>
                <a:gridCol w="2244824">
                  <a:extLst>
                    <a:ext uri="{9D8B030D-6E8A-4147-A177-3AD203B41FA5}">
                      <a16:colId xmlns:a16="http://schemas.microsoft.com/office/drawing/2014/main" val="20002"/>
                    </a:ext>
                  </a:extLst>
                </a:gridCol>
                <a:gridCol w="2098576">
                  <a:extLst>
                    <a:ext uri="{9D8B030D-6E8A-4147-A177-3AD203B41FA5}">
                      <a16:colId xmlns:a16="http://schemas.microsoft.com/office/drawing/2014/main" val="20003"/>
                    </a:ext>
                  </a:extLst>
                </a:gridCol>
              </a:tblGrid>
              <a:tr h="613172">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三地址代码</a:t>
                      </a:r>
                      <a:endParaRPr kumimoji="0" lang="zh-CN" altLang="en-US" sz="24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四元式</a:t>
                      </a:r>
                      <a:endParaRPr kumimoji="0" lang="zh-CN" altLang="en-US" sz="24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三地址代码</a:t>
                      </a:r>
                      <a:endParaRPr kumimoji="0" lang="zh-CN" altLang="en-US" sz="24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四元式</a:t>
                      </a:r>
                      <a:endParaRPr kumimoji="0" lang="zh-CN" altLang="en-US" sz="24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3172">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x=y op z    </a:t>
                      </a:r>
                      <a:endParaRPr kumimoji="0" lang="en-US" altLang="zh-CN" sz="2400" b="0" i="0" u="none" strike="noStrike" cap="none" normalizeH="0" baseline="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(op, y, z, x)</a:t>
                      </a:r>
                      <a:endParaRPr kumimoji="0" lang="en-US" altLang="zh-CN" sz="24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goto</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L          </a:t>
                      </a:r>
                      <a:endParaRPr kumimoji="0" lang="en-US" altLang="zh-CN" sz="24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(j,  ,  , L)</a:t>
                      </a:r>
                      <a:endParaRPr kumimoji="0" lang="en-US" altLang="zh-CN" sz="24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1981">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x=op z         </a:t>
                      </a:r>
                      <a:endParaRPr kumimoji="0" lang="en-US" altLang="zh-CN" sz="2400" b="0" i="0" u="none" strike="noStrike" cap="none" normalizeH="0" baseline="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(op, z,  , x)</a:t>
                      </a:r>
                      <a:endParaRPr kumimoji="0" lang="en-US" altLang="zh-CN" sz="24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if x </a:t>
                      </a:r>
                      <a:r>
                        <a:rPr kumimoji="0" lang="en-US" altLang="zh-CN" sz="24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rop</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y </a:t>
                      </a:r>
                      <a:r>
                        <a:rPr kumimoji="0" lang="en-US" altLang="zh-CN" sz="24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goto</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L  </a:t>
                      </a:r>
                      <a:endParaRPr kumimoji="0" lang="en-US" altLang="zh-CN" sz="24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4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jrop</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x, y, L)</a:t>
                      </a:r>
                      <a:endParaRPr kumimoji="0" lang="en-US" altLang="zh-CN" sz="24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3172">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x=y           </a:t>
                      </a:r>
                      <a:endParaRPr kumimoji="0" lang="en-US" altLang="zh-CN" sz="2400" b="0" i="0" u="none" strike="noStrike" cap="none" normalizeH="0" baseline="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y,  , x)</a:t>
                      </a:r>
                      <a:endParaRPr kumimoji="0" lang="en-US" altLang="zh-CN" sz="24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if x </a:t>
                      </a:r>
                      <a:r>
                        <a:rPr kumimoji="0" lang="en-US" altLang="zh-CN" sz="24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goto</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L</a:t>
                      </a:r>
                      <a:endParaRPr kumimoji="0" lang="en-US" altLang="zh-CN" sz="24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24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jnz</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x,  , L)</a:t>
                      </a:r>
                      <a:endParaRPr kumimoji="0" lang="en-US" altLang="zh-CN" sz="24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714049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内容占位符 2"/>
          <p:cNvSpPr>
            <a:spLocks noGrp="1"/>
          </p:cNvSpPr>
          <p:nvPr>
            <p:ph idx="1"/>
          </p:nvPr>
        </p:nvSpPr>
        <p:spPr>
          <a:xfrm>
            <a:off x="457200" y="1923677"/>
            <a:ext cx="8229600" cy="2304257"/>
          </a:xfrm>
        </p:spPr>
        <p:txBody>
          <a:bodyPr>
            <a:normAutofit/>
          </a:bodyPr>
          <a:lstStyle/>
          <a:p>
            <a:pPr lvl="1" eaLnBrk="1" hangingPunct="1">
              <a:lnSpc>
                <a:spcPct val="90000"/>
              </a:lnSpc>
              <a:buFontTx/>
              <a:buNone/>
            </a:pPr>
            <a:r>
              <a:rPr lang="zh-CN" altLang="en-US" sz="2800" dirty="0">
                <a:latin typeface="宋体" pitchFamily="2" charset="-122"/>
              </a:rPr>
              <a:t>三元式形式为：</a:t>
            </a:r>
            <a:endParaRPr lang="en-US" altLang="zh-CN" sz="2800" dirty="0">
              <a:latin typeface="宋体" pitchFamily="2" charset="-122"/>
            </a:endParaRPr>
          </a:p>
          <a:p>
            <a:pPr lvl="1" eaLnBrk="1" hangingPunct="1">
              <a:lnSpc>
                <a:spcPct val="90000"/>
              </a:lnSpc>
              <a:buFontTx/>
              <a:buNone/>
            </a:pPr>
            <a:r>
              <a:rPr lang="en-US" altLang="zh-CN" sz="2800" dirty="0">
                <a:latin typeface="宋体" pitchFamily="2" charset="-122"/>
              </a:rPr>
              <a:t>		(1)</a:t>
            </a:r>
            <a:r>
              <a:rPr lang="zh-CN" altLang="en-US" sz="2800" dirty="0">
                <a:latin typeface="宋体" pitchFamily="2" charset="-122"/>
              </a:rPr>
              <a:t>（*，</a:t>
            </a:r>
            <a:r>
              <a:rPr lang="en-US" altLang="zh-CN" sz="2800" dirty="0">
                <a:latin typeface="宋体" pitchFamily="2" charset="-122"/>
              </a:rPr>
              <a:t>b</a:t>
            </a:r>
            <a:r>
              <a:rPr lang="zh-CN" altLang="en-US" sz="2800" dirty="0">
                <a:latin typeface="宋体" pitchFamily="2" charset="-122"/>
              </a:rPr>
              <a:t>，</a:t>
            </a:r>
            <a:r>
              <a:rPr lang="en-US" altLang="zh-CN" sz="2800" dirty="0">
                <a:latin typeface="宋体" pitchFamily="2" charset="-122"/>
              </a:rPr>
              <a:t>c</a:t>
            </a:r>
            <a:r>
              <a:rPr lang="zh-CN" altLang="en-US" sz="2800" dirty="0">
                <a:latin typeface="宋体" pitchFamily="2" charset="-122"/>
              </a:rPr>
              <a:t>）</a:t>
            </a:r>
          </a:p>
          <a:p>
            <a:pPr lvl="1" eaLnBrk="1" hangingPunct="1">
              <a:lnSpc>
                <a:spcPct val="90000"/>
              </a:lnSpc>
              <a:buFontTx/>
              <a:buNone/>
            </a:pPr>
            <a:r>
              <a:rPr lang="zh-CN" altLang="en-US" sz="2800" dirty="0">
                <a:latin typeface="宋体" pitchFamily="2" charset="-122"/>
              </a:rPr>
              <a:t>		</a:t>
            </a:r>
            <a:r>
              <a:rPr lang="en-US" altLang="zh-CN" sz="2800" dirty="0">
                <a:latin typeface="宋体" pitchFamily="2" charset="-122"/>
              </a:rPr>
              <a:t>(2)</a:t>
            </a:r>
            <a:r>
              <a:rPr lang="zh-CN" altLang="en-US" sz="2800" dirty="0">
                <a:latin typeface="宋体" pitchFamily="2" charset="-122"/>
              </a:rPr>
              <a:t>（*，</a:t>
            </a:r>
            <a:r>
              <a:rPr lang="en-US" altLang="zh-CN" sz="2800" dirty="0">
                <a:latin typeface="宋体" pitchFamily="2" charset="-122"/>
              </a:rPr>
              <a:t>b</a:t>
            </a:r>
            <a:r>
              <a:rPr lang="zh-CN" altLang="en-US" sz="2800" dirty="0">
                <a:latin typeface="宋体" pitchFamily="2" charset="-122"/>
              </a:rPr>
              <a:t>，</a:t>
            </a:r>
            <a:r>
              <a:rPr lang="en-US" altLang="zh-CN" sz="2800" dirty="0">
                <a:latin typeface="宋体" pitchFamily="2" charset="-122"/>
              </a:rPr>
              <a:t>d</a:t>
            </a:r>
            <a:r>
              <a:rPr lang="zh-CN" altLang="en-US" sz="2800" dirty="0">
                <a:latin typeface="宋体" pitchFamily="2" charset="-122"/>
              </a:rPr>
              <a:t>）</a:t>
            </a:r>
          </a:p>
          <a:p>
            <a:pPr lvl="1" eaLnBrk="1" hangingPunct="1">
              <a:lnSpc>
                <a:spcPct val="90000"/>
              </a:lnSpc>
              <a:buFontTx/>
              <a:buNone/>
            </a:pPr>
            <a:r>
              <a:rPr lang="zh-CN" altLang="en-US" sz="2800" dirty="0">
                <a:latin typeface="宋体" pitchFamily="2" charset="-122"/>
              </a:rPr>
              <a:t>		</a:t>
            </a:r>
            <a:r>
              <a:rPr lang="en-US" altLang="zh-CN" sz="2800" dirty="0">
                <a:latin typeface="宋体" pitchFamily="2" charset="-122"/>
              </a:rPr>
              <a:t>(3)</a:t>
            </a:r>
            <a:r>
              <a:rPr lang="zh-CN" altLang="en-US" sz="2800" dirty="0">
                <a:latin typeface="宋体" pitchFamily="2" charset="-122"/>
              </a:rPr>
              <a:t>（</a:t>
            </a:r>
            <a:r>
              <a:rPr lang="en-US" altLang="zh-CN" sz="2800" dirty="0">
                <a:latin typeface="宋体" pitchFamily="2" charset="-122"/>
              </a:rPr>
              <a:t>+</a:t>
            </a:r>
            <a:r>
              <a:rPr lang="zh-CN" altLang="en-US" sz="2800" dirty="0">
                <a:latin typeface="宋体" pitchFamily="2" charset="-122"/>
              </a:rPr>
              <a:t>，</a:t>
            </a:r>
            <a:r>
              <a:rPr lang="en-US" altLang="zh-CN" sz="2800" dirty="0">
                <a:latin typeface="宋体" pitchFamily="2" charset="-122"/>
              </a:rPr>
              <a:t>(1)</a:t>
            </a:r>
            <a:r>
              <a:rPr lang="zh-CN" altLang="en-US" sz="2800" dirty="0">
                <a:latin typeface="宋体" pitchFamily="2" charset="-122"/>
              </a:rPr>
              <a:t>，</a:t>
            </a:r>
            <a:r>
              <a:rPr lang="en-US" altLang="zh-CN" sz="2800" dirty="0">
                <a:latin typeface="宋体" pitchFamily="2" charset="-122"/>
              </a:rPr>
              <a:t>(2)</a:t>
            </a:r>
            <a:r>
              <a:rPr lang="zh-CN" altLang="en-US" sz="2800" dirty="0">
                <a:latin typeface="宋体" pitchFamily="2" charset="-122"/>
              </a:rPr>
              <a:t>）</a:t>
            </a:r>
          </a:p>
          <a:p>
            <a:pPr lvl="1" eaLnBrk="1" hangingPunct="1">
              <a:lnSpc>
                <a:spcPct val="90000"/>
              </a:lnSpc>
              <a:buFontTx/>
              <a:buNone/>
            </a:pPr>
            <a:r>
              <a:rPr lang="zh-CN" altLang="en-US" sz="2800" dirty="0">
                <a:latin typeface="宋体" pitchFamily="2" charset="-122"/>
              </a:rPr>
              <a:t>		</a:t>
            </a:r>
            <a:r>
              <a:rPr lang="en-US" altLang="zh-CN" sz="2800" dirty="0">
                <a:latin typeface="宋体" pitchFamily="2" charset="-122"/>
              </a:rPr>
              <a:t>(4)</a:t>
            </a:r>
            <a:r>
              <a:rPr lang="zh-CN" altLang="en-US" sz="2800" dirty="0">
                <a:latin typeface="宋体" pitchFamily="2" charset="-122"/>
              </a:rPr>
              <a:t>（</a:t>
            </a:r>
            <a:r>
              <a:rPr lang="en-US" altLang="zh-CN" sz="2800" dirty="0">
                <a:latin typeface="宋体" pitchFamily="2" charset="-122"/>
              </a:rPr>
              <a:t>=</a:t>
            </a:r>
            <a:r>
              <a:rPr lang="zh-CN" altLang="en-US" sz="2800" dirty="0">
                <a:latin typeface="宋体" pitchFamily="2" charset="-122"/>
              </a:rPr>
              <a:t>，</a:t>
            </a:r>
            <a:r>
              <a:rPr lang="en-US" altLang="zh-CN" sz="2800" dirty="0">
                <a:latin typeface="宋体" pitchFamily="2" charset="-122"/>
              </a:rPr>
              <a:t>(3)</a:t>
            </a:r>
            <a:r>
              <a:rPr lang="zh-CN" altLang="en-US" sz="2800" dirty="0">
                <a:latin typeface="宋体" pitchFamily="2" charset="-122"/>
              </a:rPr>
              <a:t>，</a:t>
            </a:r>
            <a:r>
              <a:rPr lang="en-US" altLang="zh-CN" sz="2800" dirty="0">
                <a:latin typeface="宋体" pitchFamily="2" charset="-122"/>
              </a:rPr>
              <a:t>a</a:t>
            </a:r>
            <a:r>
              <a:rPr lang="zh-CN" altLang="en-US" sz="2800" dirty="0">
                <a:latin typeface="宋体" pitchFamily="2" charset="-122"/>
              </a:rPr>
              <a:t>）</a:t>
            </a:r>
          </a:p>
        </p:txBody>
      </p:sp>
      <p:sp>
        <p:nvSpPr>
          <p:cNvPr id="2" name="矩形 1"/>
          <p:cNvSpPr/>
          <p:nvPr/>
        </p:nvSpPr>
        <p:spPr>
          <a:xfrm>
            <a:off x="284164" y="303610"/>
            <a:ext cx="8320087" cy="75713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342900" indent="-342900" eaLnBrk="1" hangingPunct="1">
              <a:lnSpc>
                <a:spcPct val="90000"/>
              </a:lnSpc>
              <a:defRPr/>
            </a:pPr>
            <a:r>
              <a:rPr lang="zh-CN" altLang="en-US" sz="2400" b="1" kern="0" dirty="0">
                <a:solidFill>
                  <a:srgbClr val="FF3300"/>
                </a:solidFill>
                <a:latin typeface="宋体" pitchFamily="2" charset="-122"/>
              </a:rPr>
              <a:t>三元式</a:t>
            </a:r>
          </a:p>
          <a:p>
            <a:pPr marL="742950" lvl="1" indent="-285750" eaLnBrk="1" hangingPunct="1">
              <a:lnSpc>
                <a:spcPct val="90000"/>
              </a:lnSpc>
              <a:buFontTx/>
              <a:buChar char="–"/>
              <a:defRPr/>
            </a:pPr>
            <a:r>
              <a:rPr lang="zh-CN" altLang="en-US" sz="2400" b="1" kern="0" dirty="0">
                <a:solidFill>
                  <a:srgbClr val="0033CC"/>
                </a:solidFill>
                <a:latin typeface="宋体" pitchFamily="2" charset="-122"/>
              </a:rPr>
              <a:t>编号（运算符，第一运算对象，第二运算对象）</a:t>
            </a:r>
          </a:p>
        </p:txBody>
      </p:sp>
      <p:sp>
        <p:nvSpPr>
          <p:cNvPr id="3" name="矩形 2"/>
          <p:cNvSpPr/>
          <p:nvPr/>
        </p:nvSpPr>
        <p:spPr>
          <a:xfrm>
            <a:off x="284164" y="4299942"/>
            <a:ext cx="8572304" cy="7078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742950" lvl="1" indent="-285750" eaLnBrk="1" hangingPunct="1">
              <a:buFontTx/>
              <a:buChar char="–"/>
              <a:defRPr/>
            </a:pPr>
            <a:r>
              <a:rPr lang="zh-CN" altLang="en-US" sz="2000" b="1" kern="0" dirty="0">
                <a:solidFill>
                  <a:srgbClr val="0033CC"/>
                </a:solidFill>
                <a:latin typeface="宋体" pitchFamily="2" charset="-122"/>
              </a:rPr>
              <a:t>对于单目运算符，只有一个运算对象，另一个为空</a:t>
            </a:r>
          </a:p>
          <a:p>
            <a:pPr marL="742950" lvl="1" indent="-285750" eaLnBrk="1" hangingPunct="1">
              <a:buFontTx/>
              <a:buChar char="–"/>
              <a:defRPr/>
            </a:pPr>
            <a:r>
              <a:rPr lang="zh-CN" altLang="en-US" sz="2000" b="1" kern="0" dirty="0">
                <a:solidFill>
                  <a:srgbClr val="0033CC"/>
                </a:solidFill>
                <a:latin typeface="宋体" pitchFamily="2" charset="-122"/>
              </a:rPr>
              <a:t>注意：在三元式中的编号既代表了序号，又代表了结果的存放位置。</a:t>
            </a:r>
            <a:endParaRPr lang="zh-CN" altLang="en-US" sz="3200" kern="0" dirty="0">
              <a:solidFill>
                <a:srgbClr val="000000"/>
              </a:solidFill>
            </a:endParaRPr>
          </a:p>
        </p:txBody>
      </p:sp>
      <p:sp>
        <p:nvSpPr>
          <p:cNvPr id="5" name="矩形 4"/>
          <p:cNvSpPr/>
          <p:nvPr/>
        </p:nvSpPr>
        <p:spPr>
          <a:xfrm>
            <a:off x="284163" y="1116440"/>
            <a:ext cx="8320087" cy="7078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742950" lvl="1" indent="-285750" eaLnBrk="1" hangingPunct="1">
              <a:lnSpc>
                <a:spcPct val="100000"/>
              </a:lnSpc>
              <a:buFontTx/>
              <a:buNone/>
              <a:defRPr/>
            </a:pPr>
            <a:r>
              <a:rPr lang="zh-CN" altLang="en-US" sz="3600" kern="0" dirty="0">
                <a:solidFill>
                  <a:srgbClr val="000000"/>
                </a:solidFill>
                <a:latin typeface="宋体" pitchFamily="2" charset="-122"/>
              </a:rPr>
              <a:t>例：</a:t>
            </a:r>
            <a:r>
              <a:rPr lang="en-US" altLang="zh-CN" sz="4000" b="1" kern="0" dirty="0">
                <a:solidFill>
                  <a:srgbClr val="FF3300"/>
                </a:solidFill>
                <a:latin typeface="宋体" pitchFamily="2" charset="-122"/>
              </a:rPr>
              <a:t>a=b*</a:t>
            </a:r>
            <a:r>
              <a:rPr lang="en-US" altLang="zh-CN" sz="4000" b="1" kern="0" dirty="0" err="1">
                <a:solidFill>
                  <a:srgbClr val="FF3300"/>
                </a:solidFill>
                <a:latin typeface="宋体" pitchFamily="2" charset="-122"/>
              </a:rPr>
              <a:t>c+b</a:t>
            </a:r>
            <a:r>
              <a:rPr lang="en-US" altLang="zh-CN" sz="4000" b="1" kern="0" dirty="0">
                <a:solidFill>
                  <a:srgbClr val="FF3300"/>
                </a:solidFill>
                <a:latin typeface="宋体" pitchFamily="2" charset="-122"/>
              </a:rPr>
              <a:t>*d</a:t>
            </a:r>
          </a:p>
        </p:txBody>
      </p:sp>
      <p:sp>
        <p:nvSpPr>
          <p:cNvPr id="4" name="矩形 3"/>
          <p:cNvSpPr/>
          <p:nvPr/>
        </p:nvSpPr>
        <p:spPr>
          <a:xfrm>
            <a:off x="5692655" y="1996317"/>
            <a:ext cx="2944419" cy="181588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182563" lvl="1">
              <a:defRPr/>
            </a:pPr>
            <a:r>
              <a:rPr lang="en-US" altLang="zh-CN" sz="2800" dirty="0">
                <a:solidFill>
                  <a:srgbClr val="000000"/>
                </a:solidFill>
                <a:latin typeface="宋体" pitchFamily="2" charset="-122"/>
              </a:rPr>
              <a:t>(1)(*,b,c,t</a:t>
            </a:r>
            <a:r>
              <a:rPr lang="en-US" altLang="zh-CN" sz="2800" baseline="-25000" dirty="0">
                <a:solidFill>
                  <a:srgbClr val="000000"/>
                </a:solidFill>
                <a:latin typeface="宋体" pitchFamily="2" charset="-122"/>
              </a:rPr>
              <a:t>1</a:t>
            </a:r>
            <a:r>
              <a:rPr lang="en-US" altLang="zh-CN" sz="2800" dirty="0">
                <a:solidFill>
                  <a:srgbClr val="000000"/>
                </a:solidFill>
                <a:latin typeface="宋体" pitchFamily="2" charset="-122"/>
              </a:rPr>
              <a:t>)   </a:t>
            </a:r>
            <a:r>
              <a:rPr lang="zh-CN" altLang="en-US" sz="2800" dirty="0">
                <a:solidFill>
                  <a:srgbClr val="000000"/>
                </a:solidFill>
                <a:latin typeface="宋体" pitchFamily="2" charset="-122"/>
              </a:rPr>
              <a:t>　 </a:t>
            </a:r>
            <a:r>
              <a:rPr lang="en-US" altLang="zh-CN" sz="2800" dirty="0">
                <a:solidFill>
                  <a:srgbClr val="000000"/>
                </a:solidFill>
                <a:latin typeface="宋体" pitchFamily="2" charset="-122"/>
              </a:rPr>
              <a:t>(2)(*,b,d,t</a:t>
            </a:r>
            <a:r>
              <a:rPr lang="en-US" altLang="zh-CN" sz="2800" baseline="-25000" dirty="0">
                <a:solidFill>
                  <a:srgbClr val="000000"/>
                </a:solidFill>
                <a:latin typeface="宋体" pitchFamily="2" charset="-122"/>
              </a:rPr>
              <a:t>2</a:t>
            </a:r>
            <a:r>
              <a:rPr lang="en-US" altLang="zh-CN" sz="2800" dirty="0">
                <a:solidFill>
                  <a:srgbClr val="000000"/>
                </a:solidFill>
                <a:latin typeface="宋体" pitchFamily="2" charset="-122"/>
              </a:rPr>
              <a:t>)</a:t>
            </a:r>
          </a:p>
          <a:p>
            <a:pPr marL="182563" lvl="1">
              <a:defRPr/>
            </a:pPr>
            <a:r>
              <a:rPr lang="en-US" altLang="zh-CN" sz="2800" dirty="0">
                <a:solidFill>
                  <a:srgbClr val="000000"/>
                </a:solidFill>
                <a:latin typeface="宋体" pitchFamily="2" charset="-122"/>
              </a:rPr>
              <a:t>(3)(+,t</a:t>
            </a:r>
            <a:r>
              <a:rPr lang="en-US" altLang="zh-CN" sz="2800" baseline="-25000" dirty="0">
                <a:solidFill>
                  <a:srgbClr val="000000"/>
                </a:solidFill>
                <a:latin typeface="宋体" pitchFamily="2" charset="-122"/>
              </a:rPr>
              <a:t>1</a:t>
            </a:r>
            <a:r>
              <a:rPr lang="en-US" altLang="zh-CN" sz="2800" dirty="0">
                <a:solidFill>
                  <a:srgbClr val="000000"/>
                </a:solidFill>
                <a:latin typeface="宋体" pitchFamily="2" charset="-122"/>
              </a:rPr>
              <a:t>,t</a:t>
            </a:r>
            <a:r>
              <a:rPr lang="en-US" altLang="zh-CN" sz="2800" baseline="-25000" dirty="0">
                <a:solidFill>
                  <a:srgbClr val="000000"/>
                </a:solidFill>
                <a:latin typeface="宋体" pitchFamily="2" charset="-122"/>
              </a:rPr>
              <a:t>2</a:t>
            </a:r>
            <a:r>
              <a:rPr lang="en-US" altLang="zh-CN" sz="2800" dirty="0">
                <a:solidFill>
                  <a:srgbClr val="000000"/>
                </a:solidFill>
                <a:latin typeface="宋体" pitchFamily="2" charset="-122"/>
              </a:rPr>
              <a:t>,t</a:t>
            </a:r>
            <a:r>
              <a:rPr lang="en-US" altLang="zh-CN" sz="2800" baseline="-25000" dirty="0">
                <a:solidFill>
                  <a:srgbClr val="000000"/>
                </a:solidFill>
                <a:latin typeface="宋体" pitchFamily="2" charset="-122"/>
              </a:rPr>
              <a:t>3</a:t>
            </a:r>
            <a:r>
              <a:rPr lang="en-US" altLang="zh-CN" sz="2800" dirty="0">
                <a:solidFill>
                  <a:srgbClr val="000000"/>
                </a:solidFill>
                <a:latin typeface="宋体" pitchFamily="2" charset="-122"/>
              </a:rPr>
              <a:t>) </a:t>
            </a:r>
            <a:r>
              <a:rPr lang="zh-CN" altLang="en-US" sz="2800" dirty="0">
                <a:solidFill>
                  <a:srgbClr val="000000"/>
                </a:solidFill>
                <a:latin typeface="宋体" pitchFamily="2" charset="-122"/>
              </a:rPr>
              <a:t>　 </a:t>
            </a:r>
            <a:r>
              <a:rPr lang="en-US" altLang="zh-CN" sz="2800" dirty="0">
                <a:solidFill>
                  <a:srgbClr val="000000"/>
                </a:solidFill>
                <a:latin typeface="宋体" pitchFamily="2" charset="-122"/>
              </a:rPr>
              <a:t>(4)(=,t</a:t>
            </a:r>
            <a:r>
              <a:rPr lang="en-US" altLang="zh-CN" sz="2800" baseline="-25000" dirty="0">
                <a:solidFill>
                  <a:srgbClr val="000000"/>
                </a:solidFill>
                <a:latin typeface="宋体" pitchFamily="2" charset="-122"/>
              </a:rPr>
              <a:t>3</a:t>
            </a:r>
            <a:r>
              <a:rPr lang="en-US" altLang="zh-CN" sz="2800" dirty="0">
                <a:solidFill>
                  <a:srgbClr val="000000"/>
                </a:solidFill>
                <a:latin typeface="宋体" pitchFamily="2" charset="-122"/>
              </a:rPr>
              <a:t>, ,a)</a:t>
            </a:r>
            <a:endParaRPr lang="zh-CN" altLang="en-US" dirty="0">
              <a:solidFill>
                <a:srgbClr val="FFFFFF"/>
              </a:solidFill>
            </a:endParaRPr>
          </a:p>
        </p:txBody>
      </p:sp>
    </p:spTree>
    <p:extLst>
      <p:ext uri="{BB962C8B-B14F-4D97-AF65-F5344CB8AC3E}">
        <p14:creationId xmlns:p14="http://schemas.microsoft.com/office/powerpoint/2010/main" val="923013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6">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386">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38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38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p:bldP spid="3" grpId="0" animBg="1"/>
      <p:bldP spid="5" grpId="0" animBg="1"/>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p:cNvSpPr>
            <a:spLocks noGrp="1" noChangeArrowheads="1"/>
          </p:cNvSpPr>
          <p:nvPr>
            <p:ph type="title"/>
          </p:nvPr>
        </p:nvSpPr>
        <p:spPr/>
        <p:txBody>
          <a:bodyPr>
            <a:normAutofit fontScale="90000"/>
          </a:bodyPr>
          <a:lstStyle/>
          <a:p>
            <a:pPr eaLnBrk="1" hangingPunct="1"/>
            <a:r>
              <a:rPr lang="zh-CN" altLang="en-US" sz="4000" b="1">
                <a:ea typeface="楷体_GB2312" pitchFamily="49" charset="-122"/>
              </a:rPr>
              <a:t>练习</a:t>
            </a:r>
          </a:p>
        </p:txBody>
      </p:sp>
      <p:sp>
        <p:nvSpPr>
          <p:cNvPr id="17411" name="Rectangle 1027"/>
          <p:cNvSpPr>
            <a:spLocks noGrp="1" noChangeArrowheads="1"/>
          </p:cNvSpPr>
          <p:nvPr>
            <p:ph type="body" idx="1"/>
          </p:nvPr>
        </p:nvSpPr>
        <p:spPr>
          <a:xfrm>
            <a:off x="457200" y="1257300"/>
            <a:ext cx="8229600" cy="971550"/>
          </a:xfrm>
        </p:spPr>
        <p:txBody>
          <a:bodyPr/>
          <a:lstStyle/>
          <a:p>
            <a:pPr eaLnBrk="1" hangingPunct="1"/>
            <a:r>
              <a:rPr lang="zh-CN" altLang="en-US">
                <a:latin typeface="宋体" pitchFamily="2" charset="-122"/>
              </a:rPr>
              <a:t>求 </a:t>
            </a:r>
            <a:r>
              <a:rPr lang="en-US" altLang="zh-CN" b="1">
                <a:solidFill>
                  <a:srgbClr val="0033CC"/>
                </a:solidFill>
                <a:latin typeface="宋体" pitchFamily="2" charset="-122"/>
              </a:rPr>
              <a:t>-B+C*D</a:t>
            </a:r>
            <a:r>
              <a:rPr lang="en-US" altLang="zh-CN">
                <a:solidFill>
                  <a:srgbClr val="00FF00"/>
                </a:solidFill>
                <a:latin typeface="宋体" pitchFamily="2" charset="-122"/>
              </a:rPr>
              <a:t> </a:t>
            </a:r>
            <a:r>
              <a:rPr lang="zh-CN" altLang="en-US">
                <a:latin typeface="宋体" pitchFamily="2" charset="-122"/>
              </a:rPr>
              <a:t>的逆波兰表示形式、三元式和四元式</a:t>
            </a:r>
            <a:endParaRPr lang="zh-CN" altLang="en-US"/>
          </a:p>
        </p:txBody>
      </p:sp>
      <p:grpSp>
        <p:nvGrpSpPr>
          <p:cNvPr id="2" name="Group 1031"/>
          <p:cNvGrpSpPr>
            <a:grpSpLocks/>
          </p:cNvGrpSpPr>
          <p:nvPr/>
        </p:nvGrpSpPr>
        <p:grpSpPr bwMode="auto">
          <a:xfrm>
            <a:off x="684213" y="2139554"/>
            <a:ext cx="7696200" cy="2915840"/>
            <a:chOff x="240" y="2160"/>
            <a:chExt cx="4848" cy="2449"/>
          </a:xfrm>
        </p:grpSpPr>
        <p:sp>
          <p:nvSpPr>
            <p:cNvPr id="17413" name="Rectangle 1028"/>
            <p:cNvSpPr>
              <a:spLocks noChangeArrowheads="1"/>
            </p:cNvSpPr>
            <p:nvPr/>
          </p:nvSpPr>
          <p:spPr bwMode="auto">
            <a:xfrm>
              <a:off x="1248" y="2160"/>
              <a:ext cx="2640" cy="439"/>
            </a:xfrm>
            <a:prstGeom prst="rect">
              <a:avLst/>
            </a:prstGeom>
            <a:solidFill>
              <a:srgbClr val="0033CC"/>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30000"/>
                </a:spcBef>
                <a:buFontTx/>
                <a:buNone/>
              </a:pPr>
              <a:r>
                <a:rPr lang="zh-CN" altLang="en-US" sz="2800">
                  <a:solidFill>
                    <a:srgbClr val="FFFF00"/>
                  </a:solidFill>
                  <a:latin typeface="宋体" pitchFamily="2" charset="-122"/>
                </a:rPr>
                <a:t>逆波兰：</a:t>
              </a:r>
              <a:r>
                <a:rPr lang="en-US" altLang="zh-CN" sz="2800">
                  <a:solidFill>
                    <a:srgbClr val="FFFF00"/>
                  </a:solidFill>
                </a:rPr>
                <a:t>B – C D * +</a:t>
              </a:r>
            </a:p>
          </p:txBody>
        </p:sp>
        <p:sp>
          <p:nvSpPr>
            <p:cNvPr id="17414" name="Rectangle 1029"/>
            <p:cNvSpPr>
              <a:spLocks noChangeArrowheads="1"/>
            </p:cNvSpPr>
            <p:nvPr/>
          </p:nvSpPr>
          <p:spPr bwMode="auto">
            <a:xfrm>
              <a:off x="240" y="2758"/>
              <a:ext cx="2208" cy="1851"/>
            </a:xfrm>
            <a:prstGeom prst="rect">
              <a:avLst/>
            </a:prstGeom>
            <a:solidFill>
              <a:srgbClr val="0033CC"/>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30000"/>
                </a:spcBef>
                <a:buFontTx/>
                <a:buNone/>
              </a:pPr>
              <a:r>
                <a:rPr lang="zh-CN" altLang="en-US" sz="2800">
                  <a:solidFill>
                    <a:srgbClr val="FFFF00"/>
                  </a:solidFill>
                  <a:latin typeface="宋体" pitchFamily="2" charset="-122"/>
                </a:rPr>
                <a:t>三元式：</a:t>
              </a:r>
            </a:p>
            <a:p>
              <a:pPr eaLnBrk="1" hangingPunct="1">
                <a:lnSpc>
                  <a:spcPct val="100000"/>
                </a:lnSpc>
                <a:spcBef>
                  <a:spcPct val="30000"/>
                </a:spcBef>
                <a:buFontTx/>
                <a:buNone/>
              </a:pPr>
              <a:r>
                <a:rPr lang="en-US" altLang="zh-CN" sz="2800">
                  <a:solidFill>
                    <a:srgbClr val="FFFF00"/>
                  </a:solidFill>
                  <a:latin typeface="宋体" pitchFamily="2" charset="-122"/>
                </a:rPr>
                <a:t>(1) (-,</a:t>
              </a:r>
              <a:r>
                <a:rPr lang="en-US" altLang="zh-CN" sz="2400">
                  <a:solidFill>
                    <a:srgbClr val="FFFF00"/>
                  </a:solidFill>
                </a:rPr>
                <a:t>B, ) </a:t>
              </a:r>
            </a:p>
            <a:p>
              <a:pPr eaLnBrk="1" hangingPunct="1">
                <a:lnSpc>
                  <a:spcPct val="100000"/>
                </a:lnSpc>
                <a:spcBef>
                  <a:spcPct val="30000"/>
                </a:spcBef>
                <a:buFontTx/>
                <a:buNone/>
              </a:pPr>
              <a:r>
                <a:rPr lang="en-US" altLang="zh-CN" sz="2800">
                  <a:solidFill>
                    <a:srgbClr val="FFFF00"/>
                  </a:solidFill>
                  <a:latin typeface="宋体" pitchFamily="2" charset="-122"/>
                </a:rPr>
                <a:t>(2) (*,C,D)</a:t>
              </a:r>
            </a:p>
            <a:p>
              <a:pPr eaLnBrk="1" hangingPunct="1">
                <a:lnSpc>
                  <a:spcPct val="100000"/>
                </a:lnSpc>
                <a:spcBef>
                  <a:spcPct val="30000"/>
                </a:spcBef>
                <a:buFontTx/>
                <a:buNone/>
              </a:pPr>
              <a:r>
                <a:rPr lang="en-US" altLang="zh-CN" sz="2800">
                  <a:solidFill>
                    <a:srgbClr val="FFFF00"/>
                  </a:solidFill>
                  <a:latin typeface="宋体" pitchFamily="2" charset="-122"/>
                </a:rPr>
                <a:t>(3) (+,(1),(2))</a:t>
              </a:r>
            </a:p>
          </p:txBody>
        </p:sp>
        <p:sp>
          <p:nvSpPr>
            <p:cNvPr id="17415" name="Rectangle 1030"/>
            <p:cNvSpPr>
              <a:spLocks noChangeArrowheads="1"/>
            </p:cNvSpPr>
            <p:nvPr/>
          </p:nvSpPr>
          <p:spPr bwMode="auto">
            <a:xfrm>
              <a:off x="2880" y="2758"/>
              <a:ext cx="2208" cy="1525"/>
            </a:xfrm>
            <a:prstGeom prst="rect">
              <a:avLst/>
            </a:prstGeom>
            <a:solidFill>
              <a:srgbClr val="0033CC"/>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30000"/>
                </a:spcBef>
                <a:buFontTx/>
                <a:buNone/>
              </a:pPr>
              <a:r>
                <a:rPr lang="zh-CN" altLang="en-US" sz="2800">
                  <a:solidFill>
                    <a:srgbClr val="FFFF00"/>
                  </a:solidFill>
                  <a:latin typeface="宋体" pitchFamily="2" charset="-122"/>
                </a:rPr>
                <a:t>四元式：</a:t>
              </a:r>
            </a:p>
            <a:p>
              <a:pPr eaLnBrk="1" hangingPunct="1">
                <a:lnSpc>
                  <a:spcPct val="100000"/>
                </a:lnSpc>
                <a:spcBef>
                  <a:spcPct val="0"/>
                </a:spcBef>
                <a:buFontTx/>
                <a:buNone/>
              </a:pPr>
              <a:r>
                <a:rPr lang="en-US" altLang="zh-CN" sz="2800">
                  <a:solidFill>
                    <a:srgbClr val="FFFF00"/>
                  </a:solidFill>
                  <a:latin typeface="宋体" pitchFamily="2" charset="-122"/>
                </a:rPr>
                <a:t>(1) (-,</a:t>
              </a:r>
              <a:r>
                <a:rPr lang="en-US" altLang="zh-CN" sz="2400">
                  <a:solidFill>
                    <a:srgbClr val="FFFF00"/>
                  </a:solidFill>
                </a:rPr>
                <a:t>B,  , t</a:t>
              </a:r>
              <a:r>
                <a:rPr lang="en-US" altLang="zh-CN" sz="2800" baseline="-25000">
                  <a:solidFill>
                    <a:srgbClr val="FFFF00"/>
                  </a:solidFill>
                  <a:latin typeface="宋体" pitchFamily="2" charset="-122"/>
                </a:rPr>
                <a:t>1</a:t>
              </a:r>
              <a:r>
                <a:rPr lang="en-US" altLang="zh-CN" sz="2400">
                  <a:solidFill>
                    <a:srgbClr val="FFFF00"/>
                  </a:solidFill>
                </a:rPr>
                <a:t>) </a:t>
              </a:r>
            </a:p>
            <a:p>
              <a:pPr eaLnBrk="1" hangingPunct="1">
                <a:lnSpc>
                  <a:spcPct val="100000"/>
                </a:lnSpc>
                <a:spcBef>
                  <a:spcPct val="0"/>
                </a:spcBef>
                <a:buFontTx/>
                <a:buNone/>
              </a:pPr>
              <a:r>
                <a:rPr lang="en-US" altLang="zh-CN" sz="2800">
                  <a:solidFill>
                    <a:srgbClr val="FFFF00"/>
                  </a:solidFill>
                  <a:latin typeface="宋体" pitchFamily="2" charset="-122"/>
                </a:rPr>
                <a:t>(2) (*,C,D</a:t>
              </a:r>
              <a:r>
                <a:rPr lang="en-US" altLang="zh-CN" sz="2800" baseline="-25000">
                  <a:solidFill>
                    <a:srgbClr val="FFFF00"/>
                  </a:solidFill>
                  <a:latin typeface="宋体" pitchFamily="2" charset="-122"/>
                </a:rPr>
                <a:t>,</a:t>
              </a:r>
              <a:r>
                <a:rPr lang="en-US" altLang="zh-CN" sz="2800">
                  <a:solidFill>
                    <a:srgbClr val="FFFF00"/>
                  </a:solidFill>
                  <a:latin typeface="宋体" pitchFamily="2" charset="-122"/>
                </a:rPr>
                <a:t>t</a:t>
              </a:r>
              <a:r>
                <a:rPr lang="en-US" altLang="zh-CN" sz="2800" baseline="-25000">
                  <a:solidFill>
                    <a:srgbClr val="FFFF00"/>
                  </a:solidFill>
                  <a:latin typeface="宋体" pitchFamily="2" charset="-122"/>
                </a:rPr>
                <a:t>2</a:t>
              </a:r>
              <a:r>
                <a:rPr lang="en-US" altLang="zh-CN" sz="2800">
                  <a:solidFill>
                    <a:srgbClr val="FFFF00"/>
                  </a:solidFill>
                  <a:latin typeface="宋体" pitchFamily="2" charset="-122"/>
                </a:rPr>
                <a:t>)</a:t>
              </a:r>
            </a:p>
            <a:p>
              <a:pPr eaLnBrk="1" hangingPunct="1">
                <a:lnSpc>
                  <a:spcPct val="100000"/>
                </a:lnSpc>
                <a:spcBef>
                  <a:spcPct val="0"/>
                </a:spcBef>
                <a:buFontTx/>
                <a:buNone/>
              </a:pPr>
              <a:r>
                <a:rPr lang="en-US" altLang="zh-CN" sz="2800">
                  <a:solidFill>
                    <a:srgbClr val="FFFF00"/>
                  </a:solidFill>
                  <a:latin typeface="宋体" pitchFamily="2" charset="-122"/>
                </a:rPr>
                <a:t>(3) (+,t</a:t>
              </a:r>
              <a:r>
                <a:rPr lang="en-US" altLang="zh-CN" sz="2800" baseline="-25000">
                  <a:solidFill>
                    <a:srgbClr val="FFFF00"/>
                  </a:solidFill>
                  <a:latin typeface="宋体" pitchFamily="2" charset="-122"/>
                </a:rPr>
                <a:t>1</a:t>
              </a:r>
              <a:r>
                <a:rPr lang="en-US" altLang="zh-CN" sz="2800">
                  <a:solidFill>
                    <a:srgbClr val="FFFF00"/>
                  </a:solidFill>
                  <a:latin typeface="宋体" pitchFamily="2" charset="-122"/>
                </a:rPr>
                <a:t>,t</a:t>
              </a:r>
              <a:r>
                <a:rPr lang="en-US" altLang="zh-CN" sz="2800" baseline="-25000">
                  <a:solidFill>
                    <a:srgbClr val="FFFF00"/>
                  </a:solidFill>
                  <a:latin typeface="宋体" pitchFamily="2" charset="-122"/>
                </a:rPr>
                <a:t>2</a:t>
              </a:r>
              <a:r>
                <a:rPr lang="en-US" altLang="zh-CN" sz="2800">
                  <a:solidFill>
                    <a:srgbClr val="FFFF00"/>
                  </a:solidFill>
                  <a:latin typeface="宋体" pitchFamily="2" charset="-122"/>
                </a:rPr>
                <a:t>,t</a:t>
              </a:r>
              <a:r>
                <a:rPr lang="en-US" altLang="zh-CN" sz="2800" baseline="-25000">
                  <a:solidFill>
                    <a:srgbClr val="FFFF00"/>
                  </a:solidFill>
                  <a:latin typeface="宋体" pitchFamily="2" charset="-122"/>
                </a:rPr>
                <a:t>3</a:t>
              </a:r>
              <a:r>
                <a:rPr lang="en-US" altLang="zh-CN" sz="2800">
                  <a:solidFill>
                    <a:srgbClr val="FFFF00"/>
                  </a:solidFill>
                  <a:latin typeface="宋体" pitchFamily="2" charset="-122"/>
                </a:rPr>
                <a:t>)</a:t>
              </a:r>
            </a:p>
          </p:txBody>
        </p:sp>
      </p:grpSp>
    </p:spTree>
    <p:extLst>
      <p:ext uri="{BB962C8B-B14F-4D97-AF65-F5344CB8AC3E}">
        <p14:creationId xmlns:p14="http://schemas.microsoft.com/office/powerpoint/2010/main" val="18839377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normAutofit fontScale="90000"/>
          </a:bodyPr>
          <a:lstStyle/>
          <a:p>
            <a:r>
              <a:rPr lang="en-US" altLang="zh-CN" dirty="0">
                <a:solidFill>
                  <a:srgbClr val="FF0000"/>
                </a:solidFill>
              </a:rPr>
              <a:t>3</a:t>
            </a:r>
            <a:r>
              <a:rPr lang="zh-CN" altLang="en-US" dirty="0">
                <a:solidFill>
                  <a:srgbClr val="FF0000"/>
                </a:solidFill>
              </a:rPr>
              <a:t>、</a:t>
            </a:r>
            <a:r>
              <a:rPr lang="zh-CN" altLang="zh-CN" dirty="0">
                <a:solidFill>
                  <a:srgbClr val="FF0000"/>
                </a:solidFill>
              </a:rPr>
              <a:t>抽象语法树</a:t>
            </a:r>
            <a:endParaRPr lang="en-US" altLang="zh-CN" dirty="0">
              <a:solidFill>
                <a:srgbClr val="FF0000"/>
              </a:solidFill>
            </a:endParaRPr>
          </a:p>
        </p:txBody>
      </p:sp>
      <p:sp>
        <p:nvSpPr>
          <p:cNvPr id="18435" name="内容占位符 2"/>
          <p:cNvSpPr>
            <a:spLocks noGrp="1"/>
          </p:cNvSpPr>
          <p:nvPr>
            <p:ph idx="1"/>
          </p:nvPr>
        </p:nvSpPr>
        <p:spPr>
          <a:xfrm>
            <a:off x="505856" y="843558"/>
            <a:ext cx="8229600" cy="1872208"/>
          </a:xfrm>
        </p:spPr>
        <p:txBody>
          <a:bodyPr>
            <a:normAutofit/>
          </a:bodyPr>
          <a:lstStyle/>
          <a:p>
            <a:r>
              <a:rPr lang="zh-CN" altLang="zh-CN" sz="2200" dirty="0"/>
              <a:t>抽象语法树（</a:t>
            </a:r>
            <a:r>
              <a:rPr lang="en-US" altLang="zh-CN" sz="2200" dirty="0"/>
              <a:t>Abstract Syntax Code</a:t>
            </a:r>
            <a:r>
              <a:rPr lang="zh-CN" altLang="zh-CN" sz="2200" dirty="0"/>
              <a:t>，</a:t>
            </a:r>
            <a:r>
              <a:rPr lang="en-US" altLang="zh-CN" sz="2200" dirty="0"/>
              <a:t>AST</a:t>
            </a:r>
            <a:r>
              <a:rPr lang="zh-CN" altLang="zh-CN" sz="2200" dirty="0"/>
              <a:t>）是语法树的一种简化形式，是源程序的抽象语法结构的树状表示，树的每个节点都表示源代码中的一种结构。</a:t>
            </a:r>
            <a:endParaRPr lang="en-US" altLang="zh-CN" sz="2200" dirty="0"/>
          </a:p>
          <a:p>
            <a:r>
              <a:rPr lang="zh-CN" altLang="zh-CN" sz="2200" dirty="0"/>
              <a:t>运算符和关键字都作为树的内部结点，运算对象作为树的叶子结点出现</a:t>
            </a:r>
          </a:p>
        </p:txBody>
      </p:sp>
      <p:sp>
        <p:nvSpPr>
          <p:cNvPr id="18436" name="Rectangle 2"/>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18437" name="Object 1"/>
          <p:cNvGraphicFramePr>
            <a:graphicFrameLocks noChangeAspect="1"/>
          </p:cNvGraphicFramePr>
          <p:nvPr>
            <p:extLst>
              <p:ext uri="{D42A27DB-BD31-4B8C-83A1-F6EECF244321}">
                <p14:modId xmlns:p14="http://schemas.microsoft.com/office/powerpoint/2010/main" val="3851874851"/>
              </p:ext>
            </p:extLst>
          </p:nvPr>
        </p:nvGraphicFramePr>
        <p:xfrm>
          <a:off x="900114" y="2856234"/>
          <a:ext cx="3532187" cy="1339454"/>
        </p:xfrm>
        <a:graphic>
          <a:graphicData uri="http://schemas.openxmlformats.org/presentationml/2006/ole">
            <mc:AlternateContent xmlns:mc="http://schemas.openxmlformats.org/markup-compatibility/2006">
              <mc:Choice xmlns:v="urn:schemas-microsoft-com:vml" Requires="v">
                <p:oleObj spid="_x0000_s5128" name="Visio" r:id="rId3" imgW="1703637" imgH="857681" progId="Visio.Drawing.11">
                  <p:embed/>
                </p:oleObj>
              </mc:Choice>
              <mc:Fallback>
                <p:oleObj name="Visio" r:id="rId3" imgW="1703637" imgH="857681" progId="Visio.Drawing.11">
                  <p:embed/>
                  <p:pic>
                    <p:nvPicPr>
                      <p:cNvPr id="18437"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4" y="2856234"/>
                        <a:ext cx="3532187" cy="1339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38" name="Rectangle 4"/>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18439" name="Object 3"/>
          <p:cNvGraphicFramePr>
            <a:graphicFrameLocks noChangeAspect="1"/>
          </p:cNvGraphicFramePr>
          <p:nvPr>
            <p:extLst>
              <p:ext uri="{D42A27DB-BD31-4B8C-83A1-F6EECF244321}">
                <p14:modId xmlns:p14="http://schemas.microsoft.com/office/powerpoint/2010/main" val="880672640"/>
              </p:ext>
            </p:extLst>
          </p:nvPr>
        </p:nvGraphicFramePr>
        <p:xfrm>
          <a:off x="5219701" y="2747888"/>
          <a:ext cx="3432175" cy="1768078"/>
        </p:xfrm>
        <a:graphic>
          <a:graphicData uri="http://schemas.openxmlformats.org/presentationml/2006/ole">
            <mc:AlternateContent xmlns:mc="http://schemas.openxmlformats.org/markup-compatibility/2006">
              <mc:Choice xmlns:v="urn:schemas-microsoft-com:vml" Requires="v">
                <p:oleObj spid="_x0000_s5129" name="Visio" r:id="rId5" imgW="1577610" imgH="1094908" progId="Visio.Drawing.11">
                  <p:embed/>
                </p:oleObj>
              </mc:Choice>
              <mc:Fallback>
                <p:oleObj name="Visio" r:id="rId5" imgW="1577610" imgH="1094908" progId="Visio.Drawing.11">
                  <p:embed/>
                  <p:pic>
                    <p:nvPicPr>
                      <p:cNvPr id="1843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9701" y="2747888"/>
                        <a:ext cx="3432175" cy="176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8631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fontScale="90000"/>
          </a:bodyPr>
          <a:lstStyle/>
          <a:p>
            <a:r>
              <a:rPr lang="zh-CN" altLang="en-US"/>
              <a:t>抽象语法树的建立过程 </a:t>
            </a:r>
          </a:p>
        </p:txBody>
      </p:sp>
      <p:sp>
        <p:nvSpPr>
          <p:cNvPr id="19459" name="Rectangle 3"/>
          <p:cNvSpPr>
            <a:spLocks noGrp="1" noChangeArrowheads="1"/>
          </p:cNvSpPr>
          <p:nvPr>
            <p:ph type="body" idx="1"/>
          </p:nvPr>
        </p:nvSpPr>
        <p:spPr>
          <a:xfrm>
            <a:off x="467544" y="699542"/>
            <a:ext cx="8229600" cy="3888432"/>
          </a:xfrm>
        </p:spPr>
        <p:txBody>
          <a:bodyPr>
            <a:noAutofit/>
          </a:bodyPr>
          <a:lstStyle/>
          <a:p>
            <a:pPr>
              <a:lnSpc>
                <a:spcPct val="110000"/>
              </a:lnSpc>
              <a:spcBef>
                <a:spcPts val="0"/>
              </a:spcBef>
            </a:pPr>
            <a:r>
              <a:rPr lang="zh-CN" altLang="en-US" sz="2200" dirty="0"/>
              <a:t>对</a:t>
            </a:r>
            <a:r>
              <a:rPr lang="zh-CN" altLang="en-US" sz="2200" dirty="0">
                <a:solidFill>
                  <a:srgbClr val="FF0000"/>
                </a:solidFill>
              </a:rPr>
              <a:t>运算符和运算分量</a:t>
            </a:r>
            <a:r>
              <a:rPr lang="zh-CN" altLang="en-US" sz="2200" dirty="0"/>
              <a:t>都建立一个结点</a:t>
            </a:r>
            <a:endParaRPr lang="en-US" altLang="zh-CN" sz="2200" dirty="0"/>
          </a:p>
          <a:p>
            <a:pPr lvl="1">
              <a:lnSpc>
                <a:spcPct val="110000"/>
              </a:lnSpc>
              <a:spcBef>
                <a:spcPts val="0"/>
              </a:spcBef>
            </a:pPr>
            <a:r>
              <a:rPr lang="zh-CN" altLang="en-US" dirty="0"/>
              <a:t>运算符结点：作为内部结点</a:t>
            </a:r>
            <a:endParaRPr lang="en-US" altLang="zh-CN" dirty="0"/>
          </a:p>
          <a:p>
            <a:pPr lvl="1">
              <a:lnSpc>
                <a:spcPct val="110000"/>
              </a:lnSpc>
              <a:spcBef>
                <a:spcPts val="0"/>
              </a:spcBef>
            </a:pPr>
            <a:r>
              <a:rPr lang="zh-CN" altLang="en-US" dirty="0"/>
              <a:t>运算对象结点：作为叶子结点。</a:t>
            </a:r>
            <a:endParaRPr lang="en-US" altLang="zh-CN" dirty="0"/>
          </a:p>
          <a:p>
            <a:pPr lvl="1">
              <a:lnSpc>
                <a:spcPct val="110000"/>
              </a:lnSpc>
              <a:spcBef>
                <a:spcPts val="0"/>
              </a:spcBef>
            </a:pPr>
            <a:r>
              <a:rPr lang="zh-CN" altLang="en-US" dirty="0"/>
              <a:t>中间的运算分量是带运算符的子表达式，也可以是单个运算对象（常数和标识符），作为运算符结点的的子树的根</a:t>
            </a:r>
            <a:endParaRPr lang="en-US" altLang="zh-CN" dirty="0"/>
          </a:p>
          <a:p>
            <a:pPr>
              <a:lnSpc>
                <a:spcPct val="110000"/>
              </a:lnSpc>
              <a:spcBef>
                <a:spcPts val="0"/>
              </a:spcBef>
            </a:pPr>
            <a:r>
              <a:rPr lang="zh-CN" altLang="en-US" sz="2200" dirty="0"/>
              <a:t>不同的结点中包含的信息是不同的，可以用不同的结构来表示：</a:t>
            </a:r>
            <a:endParaRPr lang="en-US" altLang="zh-CN" sz="2200" dirty="0"/>
          </a:p>
          <a:p>
            <a:pPr lvl="1">
              <a:lnSpc>
                <a:spcPct val="110000"/>
              </a:lnSpc>
              <a:spcBef>
                <a:spcPts val="0"/>
              </a:spcBef>
            </a:pPr>
            <a:r>
              <a:rPr lang="zh-CN" altLang="en-US" dirty="0"/>
              <a:t>运算符结点至少应包含运算符和指向左右子树根的指针</a:t>
            </a:r>
            <a:endParaRPr lang="en-US" altLang="zh-CN" dirty="0"/>
          </a:p>
          <a:p>
            <a:pPr lvl="1">
              <a:lnSpc>
                <a:spcPct val="110000"/>
              </a:lnSpc>
              <a:spcBef>
                <a:spcPts val="0"/>
              </a:spcBef>
            </a:pPr>
            <a:r>
              <a:rPr lang="zh-CN" altLang="en-US" dirty="0"/>
              <a:t>运算对象结点至少应该包含常数的词法值或者标识符指向符号表的入口</a:t>
            </a:r>
            <a:endParaRPr lang="en-US" altLang="zh-CN" dirty="0"/>
          </a:p>
          <a:p>
            <a:pPr>
              <a:lnSpc>
                <a:spcPct val="110000"/>
              </a:lnSpc>
              <a:spcBef>
                <a:spcPts val="0"/>
              </a:spcBef>
            </a:pPr>
            <a:r>
              <a:rPr lang="zh-CN" altLang="en-US" dirty="0">
                <a:solidFill>
                  <a:srgbClr val="FF0000"/>
                </a:solidFill>
              </a:rPr>
              <a:t>可以使用一些函数来实现抽象语法树的建立</a:t>
            </a:r>
            <a:r>
              <a:rPr lang="zh-CN" altLang="en-US" dirty="0"/>
              <a:t>。每一个函数都返回一个指向新建立的结点的指针。</a:t>
            </a:r>
          </a:p>
          <a:p>
            <a:pPr>
              <a:lnSpc>
                <a:spcPct val="110000"/>
              </a:lnSpc>
              <a:spcBef>
                <a:spcPts val="0"/>
              </a:spcBef>
            </a:pPr>
            <a:endParaRPr lang="zh-CN" altLang="en-US" dirty="0"/>
          </a:p>
        </p:txBody>
      </p:sp>
    </p:spTree>
    <p:extLst>
      <p:ext uri="{BB962C8B-B14F-4D97-AF65-F5344CB8AC3E}">
        <p14:creationId xmlns:p14="http://schemas.microsoft.com/office/powerpoint/2010/main" val="2371417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5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45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45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17516" y="0"/>
            <a:ext cx="8229600" cy="483518"/>
          </a:xfrm>
        </p:spPr>
        <p:txBody>
          <a:bodyPr>
            <a:normAutofit fontScale="90000"/>
          </a:bodyPr>
          <a:lstStyle/>
          <a:p>
            <a:r>
              <a:rPr lang="zh-CN" altLang="en-US" dirty="0"/>
              <a:t>抽象语法树的建立过程 </a:t>
            </a:r>
          </a:p>
        </p:txBody>
      </p:sp>
      <p:sp>
        <p:nvSpPr>
          <p:cNvPr id="18435" name="Rectangle 3"/>
          <p:cNvSpPr>
            <a:spLocks noGrp="1" noChangeArrowheads="1"/>
          </p:cNvSpPr>
          <p:nvPr>
            <p:ph type="body" idx="1"/>
          </p:nvPr>
        </p:nvSpPr>
        <p:spPr>
          <a:xfrm>
            <a:off x="469992" y="592312"/>
            <a:ext cx="8229600" cy="1269976"/>
          </a:xfrm>
        </p:spPr>
        <p:txBody>
          <a:bodyPr>
            <a:noAutofit/>
          </a:bodyPr>
          <a:lstStyle/>
          <a:p>
            <a:pPr marL="285750" indent="-285750">
              <a:spcBef>
                <a:spcPts val="0"/>
              </a:spcBef>
              <a:defRPr/>
            </a:pPr>
            <a:r>
              <a:rPr lang="zh-CN" altLang="en-US" sz="2200" dirty="0"/>
              <a:t>（</a:t>
            </a:r>
            <a:r>
              <a:rPr lang="en-US" altLang="zh-CN" sz="2200" dirty="0"/>
              <a:t>1</a:t>
            </a:r>
            <a:r>
              <a:rPr lang="zh-CN" altLang="en-US" sz="2200" dirty="0"/>
              <a:t>）</a:t>
            </a:r>
            <a:r>
              <a:rPr lang="en-US" altLang="zh-CN" sz="2200" dirty="0" err="1"/>
              <a:t>mknode</a:t>
            </a:r>
            <a:r>
              <a:rPr lang="en-US" altLang="zh-CN" sz="2200" dirty="0"/>
              <a:t>(op, left, right)</a:t>
            </a:r>
            <a:r>
              <a:rPr lang="zh-CN" altLang="en-US" sz="2200" dirty="0"/>
              <a:t>，建立一个</a:t>
            </a:r>
            <a:r>
              <a:rPr lang="zh-CN" altLang="en-US" sz="2200" dirty="0">
                <a:solidFill>
                  <a:srgbClr val="FF0000"/>
                </a:solidFill>
              </a:rPr>
              <a:t>运算符结点</a:t>
            </a:r>
            <a:endParaRPr lang="en-US" altLang="zh-CN" sz="2200" dirty="0"/>
          </a:p>
          <a:p>
            <a:pPr marL="285750" indent="-285750">
              <a:spcBef>
                <a:spcPts val="0"/>
              </a:spcBef>
              <a:defRPr/>
            </a:pPr>
            <a:r>
              <a:rPr lang="zh-CN" altLang="en-US" sz="2200" dirty="0"/>
              <a:t>（</a:t>
            </a:r>
            <a:r>
              <a:rPr lang="en-US" altLang="zh-CN" sz="2200" dirty="0"/>
              <a:t>2</a:t>
            </a:r>
            <a:r>
              <a:rPr lang="zh-CN" altLang="en-US" sz="2200" dirty="0"/>
              <a:t>）</a:t>
            </a:r>
            <a:r>
              <a:rPr lang="en-US" altLang="zh-CN" sz="2200" dirty="0" err="1"/>
              <a:t>mkleaf</a:t>
            </a:r>
            <a:r>
              <a:rPr lang="en-US" altLang="zh-CN" sz="2200" dirty="0"/>
              <a:t>(id, entry),</a:t>
            </a:r>
            <a:r>
              <a:rPr lang="zh-CN" altLang="en-US" sz="2200" dirty="0"/>
              <a:t>建立一个</a:t>
            </a:r>
            <a:r>
              <a:rPr lang="zh-CN" altLang="en-US" sz="2200" dirty="0">
                <a:solidFill>
                  <a:srgbClr val="FF0000"/>
                </a:solidFill>
              </a:rPr>
              <a:t>标识符结点</a:t>
            </a:r>
            <a:endParaRPr lang="en-US" altLang="zh-CN" sz="2200" dirty="0"/>
          </a:p>
          <a:p>
            <a:pPr marL="285750" indent="-285750">
              <a:spcBef>
                <a:spcPts val="0"/>
              </a:spcBef>
              <a:defRPr/>
            </a:pPr>
            <a:r>
              <a:rPr lang="zh-CN" altLang="en-US" sz="2200" dirty="0"/>
              <a:t>（</a:t>
            </a:r>
            <a:r>
              <a:rPr lang="en-US" altLang="zh-CN" sz="2200" dirty="0"/>
              <a:t>3</a:t>
            </a:r>
            <a:r>
              <a:rPr lang="zh-CN" altLang="en-US" sz="2200" dirty="0"/>
              <a:t>）</a:t>
            </a:r>
            <a:r>
              <a:rPr lang="en-US" altLang="zh-CN" sz="2200" dirty="0" err="1"/>
              <a:t>mkleaf</a:t>
            </a:r>
            <a:r>
              <a:rPr lang="en-US" altLang="zh-CN" sz="2200" dirty="0"/>
              <a:t>(</a:t>
            </a:r>
            <a:r>
              <a:rPr lang="en-US" altLang="zh-CN" sz="2200" dirty="0" err="1"/>
              <a:t>num</a:t>
            </a:r>
            <a:r>
              <a:rPr lang="en-US" altLang="zh-CN" sz="2200" dirty="0"/>
              <a:t>, </a:t>
            </a:r>
            <a:r>
              <a:rPr lang="en-US" altLang="zh-CN" sz="2200" dirty="0" err="1"/>
              <a:t>val</a:t>
            </a:r>
            <a:r>
              <a:rPr lang="en-US" altLang="zh-CN" sz="2200" dirty="0"/>
              <a:t>),</a:t>
            </a:r>
            <a:r>
              <a:rPr lang="zh-CN" altLang="en-US" sz="2200" dirty="0"/>
              <a:t>建立一个</a:t>
            </a:r>
            <a:r>
              <a:rPr lang="zh-CN" altLang="en-US" sz="2200" dirty="0">
                <a:solidFill>
                  <a:srgbClr val="FF0000"/>
                </a:solidFill>
              </a:rPr>
              <a:t>常数结点</a:t>
            </a:r>
            <a:endParaRPr lang="zh-CN" altLang="en-US" sz="2200" dirty="0"/>
          </a:p>
        </p:txBody>
      </p:sp>
      <p:sp>
        <p:nvSpPr>
          <p:cNvPr id="20484" name="Rectangle 4"/>
          <p:cNvSpPr>
            <a:spLocks noChangeArrowheads="1"/>
          </p:cNvSpPr>
          <p:nvPr/>
        </p:nvSpPr>
        <p:spPr bwMode="auto">
          <a:xfrm>
            <a:off x="305646" y="1877675"/>
            <a:ext cx="665919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r>
              <a:rPr lang="zh-CN" altLang="en-US" sz="2200" dirty="0"/>
              <a:t>例</a:t>
            </a:r>
            <a:r>
              <a:rPr lang="en-US" altLang="zh-CN" sz="2200" dirty="0"/>
              <a:t>5.5 </a:t>
            </a:r>
            <a:r>
              <a:rPr lang="zh-CN" altLang="en-US" sz="2200" dirty="0"/>
              <a:t>使用上述几个函数</a:t>
            </a:r>
            <a:r>
              <a:rPr lang="zh-CN" altLang="en-US" sz="2200"/>
              <a:t>为表达式建立</a:t>
            </a:r>
            <a:r>
              <a:rPr lang="zh-CN" altLang="en-US" sz="2200" dirty="0"/>
              <a:t>抽象语法树。 </a:t>
            </a:r>
          </a:p>
        </p:txBody>
      </p:sp>
      <p:sp>
        <p:nvSpPr>
          <p:cNvPr id="20485" name="Rectangle 7"/>
          <p:cNvSpPr>
            <a:spLocks noChangeArrowheads="1"/>
          </p:cNvSpPr>
          <p:nvPr/>
        </p:nvSpPr>
        <p:spPr bwMode="auto">
          <a:xfrm>
            <a:off x="0" y="186228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endParaRPr lang="zh-CN" altLang="en-US" sz="2400"/>
          </a:p>
        </p:txBody>
      </p:sp>
      <p:sp>
        <p:nvSpPr>
          <p:cNvPr id="20487" name="Rectangle 8"/>
          <p:cNvSpPr>
            <a:spLocks noChangeArrowheads="1"/>
          </p:cNvSpPr>
          <p:nvPr/>
        </p:nvSpPr>
        <p:spPr bwMode="auto">
          <a:xfrm>
            <a:off x="755576" y="2571750"/>
            <a:ext cx="4104456" cy="2308324"/>
          </a:xfrm>
          <a:prstGeom prst="rect">
            <a:avLst/>
          </a:prstGeom>
          <a:ln/>
        </p:spPr>
        <p:style>
          <a:lnRef idx="2">
            <a:schemeClr val="accent1"/>
          </a:lnRef>
          <a:fillRef idx="1">
            <a:schemeClr val="lt1"/>
          </a:fillRef>
          <a:effectRef idx="0">
            <a:schemeClr val="accent1"/>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80000"/>
              </a:lnSpc>
              <a:spcBef>
                <a:spcPct val="0"/>
              </a:spcBef>
              <a:buFontTx/>
              <a:buNone/>
            </a:pPr>
            <a:r>
              <a:rPr lang="zh-CN" altLang="en-US" sz="2000" dirty="0"/>
              <a:t>（</a:t>
            </a:r>
            <a:r>
              <a:rPr lang="en-US" altLang="zh-CN" sz="2000" dirty="0"/>
              <a:t>1</a:t>
            </a:r>
            <a:r>
              <a:rPr lang="zh-CN" altLang="en-US" sz="2000" dirty="0"/>
              <a:t>）</a:t>
            </a:r>
            <a:r>
              <a:rPr lang="en-US" altLang="zh-CN" sz="2000" dirty="0"/>
              <a:t>p1 = </a:t>
            </a:r>
            <a:r>
              <a:rPr lang="en-US" altLang="zh-CN" sz="2000" dirty="0" err="1"/>
              <a:t>mkleaf</a:t>
            </a:r>
            <a:r>
              <a:rPr lang="en-US" altLang="zh-CN" sz="2000" dirty="0"/>
              <a:t>(id, </a:t>
            </a:r>
            <a:r>
              <a:rPr lang="en-US" altLang="zh-CN" sz="2000" dirty="0" err="1"/>
              <a:t>entrya</a:t>
            </a:r>
            <a:r>
              <a:rPr lang="en-US" altLang="zh-CN" sz="2000" dirty="0"/>
              <a:t>)</a:t>
            </a:r>
          </a:p>
          <a:p>
            <a:pPr>
              <a:lnSpc>
                <a:spcPct val="80000"/>
              </a:lnSpc>
              <a:spcBef>
                <a:spcPct val="0"/>
              </a:spcBef>
              <a:buFontTx/>
              <a:buNone/>
            </a:pPr>
            <a:endParaRPr lang="en-US" altLang="zh-CN" sz="2000" dirty="0"/>
          </a:p>
          <a:p>
            <a:pPr>
              <a:lnSpc>
                <a:spcPct val="80000"/>
              </a:lnSpc>
              <a:spcBef>
                <a:spcPct val="0"/>
              </a:spcBef>
              <a:buFontTx/>
              <a:buNone/>
            </a:pPr>
            <a:endParaRPr lang="en-US" altLang="zh-CN" sz="2000" dirty="0"/>
          </a:p>
          <a:p>
            <a:pPr>
              <a:lnSpc>
                <a:spcPct val="80000"/>
              </a:lnSpc>
              <a:spcBef>
                <a:spcPct val="0"/>
              </a:spcBef>
              <a:buFontTx/>
              <a:buNone/>
            </a:pPr>
            <a:endParaRPr lang="en-US" altLang="zh-CN" sz="2000" dirty="0"/>
          </a:p>
          <a:p>
            <a:pPr>
              <a:lnSpc>
                <a:spcPct val="80000"/>
              </a:lnSpc>
              <a:spcBef>
                <a:spcPct val="0"/>
              </a:spcBef>
              <a:buFontTx/>
              <a:buNone/>
            </a:pPr>
            <a:endParaRPr lang="en-US" altLang="zh-CN" sz="2000" dirty="0"/>
          </a:p>
          <a:p>
            <a:pPr>
              <a:lnSpc>
                <a:spcPct val="80000"/>
              </a:lnSpc>
              <a:spcBef>
                <a:spcPct val="0"/>
              </a:spcBef>
              <a:buFontTx/>
              <a:buNone/>
            </a:pPr>
            <a:endParaRPr lang="en-US" altLang="zh-CN" sz="2000" dirty="0"/>
          </a:p>
          <a:p>
            <a:pPr>
              <a:lnSpc>
                <a:spcPct val="80000"/>
              </a:lnSpc>
              <a:spcBef>
                <a:spcPct val="0"/>
              </a:spcBef>
              <a:buFontTx/>
              <a:buNone/>
            </a:pPr>
            <a:endParaRPr lang="en-US" altLang="zh-CN" sz="2000" dirty="0"/>
          </a:p>
          <a:p>
            <a:pPr>
              <a:lnSpc>
                <a:spcPct val="80000"/>
              </a:lnSpc>
              <a:spcBef>
                <a:spcPct val="0"/>
              </a:spcBef>
              <a:buFontTx/>
              <a:buNone/>
            </a:pPr>
            <a:endParaRPr lang="en-US" altLang="zh-CN" sz="2000" dirty="0"/>
          </a:p>
          <a:p>
            <a:pPr>
              <a:lnSpc>
                <a:spcPct val="80000"/>
              </a:lnSpc>
              <a:spcBef>
                <a:spcPct val="0"/>
              </a:spcBef>
              <a:buFontTx/>
              <a:buNone/>
            </a:pPr>
            <a:endParaRPr lang="zh-CN" altLang="en-US" sz="2000" dirty="0"/>
          </a:p>
        </p:txBody>
      </p:sp>
      <p:sp>
        <p:nvSpPr>
          <p:cNvPr id="2" name="TextBox 1"/>
          <p:cNvSpPr txBox="1"/>
          <p:nvPr/>
        </p:nvSpPr>
        <p:spPr>
          <a:xfrm>
            <a:off x="6611211" y="4083918"/>
            <a:ext cx="432048" cy="369332"/>
          </a:xfrm>
          <a:prstGeom prst="rect">
            <a:avLst/>
          </a:prstGeom>
          <a:noFill/>
        </p:spPr>
        <p:txBody>
          <a:bodyPr wrap="square" rtlCol="0">
            <a:spAutoFit/>
          </a:bodyPr>
          <a:lstStyle/>
          <a:p>
            <a:r>
              <a:rPr lang="en-US" altLang="zh-CN" dirty="0"/>
              <a:t>a</a:t>
            </a:r>
            <a:endParaRPr lang="zh-CN" altLang="en-US" dirty="0"/>
          </a:p>
        </p:txBody>
      </p:sp>
      <p:sp>
        <p:nvSpPr>
          <p:cNvPr id="9" name="TextBox 8"/>
          <p:cNvSpPr txBox="1"/>
          <p:nvPr/>
        </p:nvSpPr>
        <p:spPr>
          <a:xfrm>
            <a:off x="7884368" y="4083918"/>
            <a:ext cx="432048" cy="369332"/>
          </a:xfrm>
          <a:prstGeom prst="rect">
            <a:avLst/>
          </a:prstGeom>
          <a:noFill/>
        </p:spPr>
        <p:txBody>
          <a:bodyPr wrap="square" rtlCol="0">
            <a:spAutoFit/>
          </a:bodyPr>
          <a:lstStyle/>
          <a:p>
            <a:r>
              <a:rPr lang="en-US" altLang="zh-CN" dirty="0"/>
              <a:t>1</a:t>
            </a:r>
            <a:endParaRPr lang="zh-CN" altLang="en-US" dirty="0"/>
          </a:p>
        </p:txBody>
      </p:sp>
      <p:sp>
        <p:nvSpPr>
          <p:cNvPr id="10" name="TextBox 9"/>
          <p:cNvSpPr txBox="1"/>
          <p:nvPr/>
        </p:nvSpPr>
        <p:spPr>
          <a:xfrm>
            <a:off x="7225391" y="3611220"/>
            <a:ext cx="432048" cy="369332"/>
          </a:xfrm>
          <a:prstGeom prst="rect">
            <a:avLst/>
          </a:prstGeom>
          <a:noFill/>
        </p:spPr>
        <p:txBody>
          <a:bodyPr wrap="square" rtlCol="0">
            <a:spAutoFit/>
          </a:bodyPr>
          <a:lstStyle/>
          <a:p>
            <a:r>
              <a:rPr lang="en-US" altLang="zh-CN" dirty="0"/>
              <a:t>-</a:t>
            </a:r>
            <a:endParaRPr lang="zh-CN" altLang="en-US" dirty="0"/>
          </a:p>
        </p:txBody>
      </p:sp>
      <p:sp>
        <p:nvSpPr>
          <p:cNvPr id="11" name="TextBox 10"/>
          <p:cNvSpPr txBox="1"/>
          <p:nvPr/>
        </p:nvSpPr>
        <p:spPr>
          <a:xfrm>
            <a:off x="6012160" y="3611220"/>
            <a:ext cx="432048" cy="369332"/>
          </a:xfrm>
          <a:prstGeom prst="rect">
            <a:avLst/>
          </a:prstGeom>
          <a:noFill/>
        </p:spPr>
        <p:txBody>
          <a:bodyPr wrap="square" rtlCol="0">
            <a:spAutoFit/>
          </a:bodyPr>
          <a:lstStyle/>
          <a:p>
            <a:r>
              <a:rPr lang="en-US" altLang="zh-CN" dirty="0"/>
              <a:t>3</a:t>
            </a:r>
            <a:endParaRPr lang="zh-CN" altLang="en-US" dirty="0"/>
          </a:p>
        </p:txBody>
      </p:sp>
      <p:sp>
        <p:nvSpPr>
          <p:cNvPr id="12" name="TextBox 11"/>
          <p:cNvSpPr txBox="1"/>
          <p:nvPr/>
        </p:nvSpPr>
        <p:spPr>
          <a:xfrm>
            <a:off x="6660232" y="3066514"/>
            <a:ext cx="432048" cy="369332"/>
          </a:xfrm>
          <a:prstGeom prst="rect">
            <a:avLst/>
          </a:prstGeom>
          <a:noFill/>
        </p:spPr>
        <p:txBody>
          <a:bodyPr wrap="square" rtlCol="0">
            <a:spAutoFit/>
          </a:bodyPr>
          <a:lstStyle/>
          <a:p>
            <a:r>
              <a:rPr lang="zh-CN" altLang="en-US" dirty="0"/>
              <a:t>*</a:t>
            </a:r>
          </a:p>
        </p:txBody>
      </p:sp>
      <p:sp>
        <p:nvSpPr>
          <p:cNvPr id="13" name="TextBox 12"/>
          <p:cNvSpPr txBox="1"/>
          <p:nvPr/>
        </p:nvSpPr>
        <p:spPr>
          <a:xfrm>
            <a:off x="7884368" y="3066514"/>
            <a:ext cx="432048" cy="369332"/>
          </a:xfrm>
          <a:prstGeom prst="rect">
            <a:avLst/>
          </a:prstGeom>
          <a:noFill/>
        </p:spPr>
        <p:txBody>
          <a:bodyPr wrap="square" rtlCol="0">
            <a:spAutoFit/>
          </a:bodyPr>
          <a:lstStyle/>
          <a:p>
            <a:r>
              <a:rPr lang="en-US" altLang="zh-CN" dirty="0"/>
              <a:t>c</a:t>
            </a:r>
            <a:endParaRPr lang="zh-CN" altLang="en-US" dirty="0"/>
          </a:p>
        </p:txBody>
      </p:sp>
      <p:sp>
        <p:nvSpPr>
          <p:cNvPr id="14" name="TextBox 13"/>
          <p:cNvSpPr txBox="1"/>
          <p:nvPr/>
        </p:nvSpPr>
        <p:spPr>
          <a:xfrm>
            <a:off x="7153383" y="2499742"/>
            <a:ext cx="432048" cy="369332"/>
          </a:xfrm>
          <a:prstGeom prst="rect">
            <a:avLst/>
          </a:prstGeom>
          <a:noFill/>
        </p:spPr>
        <p:txBody>
          <a:bodyPr wrap="square" rtlCol="0">
            <a:spAutoFit/>
          </a:bodyPr>
          <a:lstStyle/>
          <a:p>
            <a:r>
              <a:rPr lang="en-US" altLang="zh-CN" dirty="0"/>
              <a:t>+</a:t>
            </a:r>
            <a:endParaRPr lang="zh-CN" altLang="en-US" dirty="0"/>
          </a:p>
        </p:txBody>
      </p:sp>
      <p:cxnSp>
        <p:nvCxnSpPr>
          <p:cNvPr id="4" name="直接连接符 3"/>
          <p:cNvCxnSpPr/>
          <p:nvPr/>
        </p:nvCxnSpPr>
        <p:spPr>
          <a:xfrm flipH="1">
            <a:off x="6910148" y="3867894"/>
            <a:ext cx="398156"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7525130" y="3827244"/>
            <a:ext cx="432048" cy="2566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6295114" y="3291830"/>
            <a:ext cx="398156"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434412" y="2763385"/>
            <a:ext cx="463802" cy="35539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804248" y="2737546"/>
            <a:ext cx="445044" cy="3812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868103" y="3311645"/>
            <a:ext cx="368193" cy="299575"/>
          </a:xfrm>
          <a:prstGeom prst="line">
            <a:avLst/>
          </a:prstGeom>
        </p:spPr>
        <p:style>
          <a:lnRef idx="1">
            <a:schemeClr val="accent1"/>
          </a:lnRef>
          <a:fillRef idx="0">
            <a:schemeClr val="accent1"/>
          </a:fillRef>
          <a:effectRef idx="0">
            <a:schemeClr val="accent1"/>
          </a:effectRef>
          <a:fontRef idx="minor">
            <a:schemeClr val="tx1"/>
          </a:fontRef>
        </p:style>
      </p:cxnSp>
      <p:sp>
        <p:nvSpPr>
          <p:cNvPr id="40" name="Rectangle 8"/>
          <p:cNvSpPr>
            <a:spLocks noChangeArrowheads="1"/>
          </p:cNvSpPr>
          <p:nvPr/>
        </p:nvSpPr>
        <p:spPr bwMode="auto">
          <a:xfrm>
            <a:off x="757073" y="2883851"/>
            <a:ext cx="4104456" cy="3385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80000"/>
              </a:lnSpc>
              <a:spcBef>
                <a:spcPct val="0"/>
              </a:spcBef>
              <a:buFontTx/>
              <a:buNone/>
            </a:pPr>
            <a:r>
              <a:rPr lang="zh-CN" altLang="en-US" sz="2000" dirty="0"/>
              <a:t>（</a:t>
            </a:r>
            <a:r>
              <a:rPr lang="en-US" altLang="zh-CN" sz="2000" dirty="0"/>
              <a:t>2</a:t>
            </a:r>
            <a:r>
              <a:rPr lang="zh-CN" altLang="en-US" sz="2000" dirty="0"/>
              <a:t>）</a:t>
            </a:r>
            <a:r>
              <a:rPr lang="en-US" altLang="zh-CN" sz="2000" dirty="0"/>
              <a:t>p2 = </a:t>
            </a:r>
            <a:r>
              <a:rPr lang="en-US" altLang="zh-CN" sz="2000" dirty="0" err="1"/>
              <a:t>mkleaf</a:t>
            </a:r>
            <a:r>
              <a:rPr lang="en-US" altLang="zh-CN" sz="2000" dirty="0"/>
              <a:t>(</a:t>
            </a:r>
            <a:r>
              <a:rPr lang="en-US" altLang="zh-CN" sz="2000" dirty="0" err="1"/>
              <a:t>num</a:t>
            </a:r>
            <a:r>
              <a:rPr lang="en-US" altLang="zh-CN" sz="2000" dirty="0"/>
              <a:t>, 1)</a:t>
            </a:r>
          </a:p>
        </p:txBody>
      </p:sp>
      <p:sp>
        <p:nvSpPr>
          <p:cNvPr id="41" name="Rectangle 8"/>
          <p:cNvSpPr>
            <a:spLocks noChangeArrowheads="1"/>
          </p:cNvSpPr>
          <p:nvPr/>
        </p:nvSpPr>
        <p:spPr bwMode="auto">
          <a:xfrm>
            <a:off x="755576" y="3232873"/>
            <a:ext cx="4104456" cy="3385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80000"/>
              </a:lnSpc>
              <a:spcBef>
                <a:spcPct val="0"/>
              </a:spcBef>
              <a:buFontTx/>
              <a:buNone/>
            </a:pPr>
            <a:r>
              <a:rPr lang="zh-CN" altLang="en-US" sz="2000" dirty="0"/>
              <a:t>（</a:t>
            </a:r>
            <a:r>
              <a:rPr lang="en-US" altLang="zh-CN" sz="2000" dirty="0"/>
              <a:t>3</a:t>
            </a:r>
            <a:r>
              <a:rPr lang="zh-CN" altLang="en-US" sz="2000" dirty="0"/>
              <a:t>）</a:t>
            </a:r>
            <a:r>
              <a:rPr lang="en-US" altLang="zh-CN" sz="2000" dirty="0"/>
              <a:t>p3 = </a:t>
            </a:r>
            <a:r>
              <a:rPr lang="en-US" altLang="zh-CN" sz="2000" dirty="0" err="1"/>
              <a:t>mknode</a:t>
            </a:r>
            <a:r>
              <a:rPr lang="en-US" altLang="zh-CN" sz="2000" dirty="0"/>
              <a:t>(“-”, p1,p2)</a:t>
            </a:r>
          </a:p>
        </p:txBody>
      </p:sp>
      <p:sp>
        <p:nvSpPr>
          <p:cNvPr id="42" name="Rectangle 8"/>
          <p:cNvSpPr>
            <a:spLocks noChangeArrowheads="1"/>
          </p:cNvSpPr>
          <p:nvPr/>
        </p:nvSpPr>
        <p:spPr bwMode="auto">
          <a:xfrm>
            <a:off x="757073" y="3571427"/>
            <a:ext cx="4104456" cy="3385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80000"/>
              </a:lnSpc>
              <a:spcBef>
                <a:spcPct val="0"/>
              </a:spcBef>
              <a:buFontTx/>
              <a:buNone/>
            </a:pPr>
            <a:r>
              <a:rPr lang="zh-CN" altLang="en-US" sz="2000" dirty="0"/>
              <a:t>（</a:t>
            </a:r>
            <a:r>
              <a:rPr lang="en-US" altLang="zh-CN" sz="2000" dirty="0"/>
              <a:t>4</a:t>
            </a:r>
            <a:r>
              <a:rPr lang="zh-CN" altLang="en-US" sz="2000" dirty="0"/>
              <a:t>）</a:t>
            </a:r>
            <a:r>
              <a:rPr lang="en-US" altLang="zh-CN" sz="2000" dirty="0"/>
              <a:t>p4 = </a:t>
            </a:r>
            <a:r>
              <a:rPr lang="en-US" altLang="zh-CN" sz="2000" dirty="0" err="1"/>
              <a:t>mkleaf</a:t>
            </a:r>
            <a:r>
              <a:rPr lang="en-US" altLang="zh-CN" sz="2000" dirty="0"/>
              <a:t>(</a:t>
            </a:r>
            <a:r>
              <a:rPr lang="en-US" altLang="zh-CN" sz="2000" dirty="0" err="1"/>
              <a:t>num</a:t>
            </a:r>
            <a:r>
              <a:rPr lang="en-US" altLang="zh-CN" sz="2000" dirty="0"/>
              <a:t>, 3)</a:t>
            </a:r>
          </a:p>
        </p:txBody>
      </p:sp>
      <p:sp>
        <p:nvSpPr>
          <p:cNvPr id="43" name="Rectangle 8"/>
          <p:cNvSpPr>
            <a:spLocks noChangeArrowheads="1"/>
          </p:cNvSpPr>
          <p:nvPr/>
        </p:nvSpPr>
        <p:spPr bwMode="auto">
          <a:xfrm>
            <a:off x="757073" y="3882671"/>
            <a:ext cx="4104456" cy="3385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80000"/>
              </a:lnSpc>
              <a:spcBef>
                <a:spcPct val="0"/>
              </a:spcBef>
              <a:buFontTx/>
              <a:buNone/>
            </a:pPr>
            <a:r>
              <a:rPr lang="zh-CN" altLang="en-US" sz="2000" dirty="0"/>
              <a:t>（</a:t>
            </a:r>
            <a:r>
              <a:rPr lang="en-US" altLang="zh-CN" sz="2000" dirty="0"/>
              <a:t>5</a:t>
            </a:r>
            <a:r>
              <a:rPr lang="zh-CN" altLang="en-US" sz="2000" dirty="0"/>
              <a:t>）</a:t>
            </a:r>
            <a:r>
              <a:rPr lang="en-US" altLang="zh-CN" sz="2000" dirty="0"/>
              <a:t>p5 = </a:t>
            </a:r>
            <a:r>
              <a:rPr lang="en-US" altLang="zh-CN" sz="2000" dirty="0" err="1"/>
              <a:t>mknode</a:t>
            </a:r>
            <a:r>
              <a:rPr lang="en-US" altLang="zh-CN" sz="2000" dirty="0"/>
              <a:t>(“*”, p4,p3)</a:t>
            </a:r>
          </a:p>
        </p:txBody>
      </p:sp>
      <p:sp>
        <p:nvSpPr>
          <p:cNvPr id="44" name="Rectangle 8"/>
          <p:cNvSpPr>
            <a:spLocks noChangeArrowheads="1"/>
          </p:cNvSpPr>
          <p:nvPr/>
        </p:nvSpPr>
        <p:spPr bwMode="auto">
          <a:xfrm>
            <a:off x="757073" y="4159994"/>
            <a:ext cx="4104456" cy="3385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80000"/>
              </a:lnSpc>
              <a:spcBef>
                <a:spcPct val="0"/>
              </a:spcBef>
              <a:buFontTx/>
              <a:buNone/>
            </a:pPr>
            <a:r>
              <a:rPr lang="zh-CN" altLang="en-US" sz="2000" dirty="0"/>
              <a:t>（</a:t>
            </a:r>
            <a:r>
              <a:rPr lang="en-US" altLang="zh-CN" sz="2000" dirty="0"/>
              <a:t>6</a:t>
            </a:r>
            <a:r>
              <a:rPr lang="zh-CN" altLang="en-US" sz="2000" dirty="0"/>
              <a:t>）</a:t>
            </a:r>
            <a:r>
              <a:rPr lang="en-US" altLang="zh-CN" sz="2000" dirty="0"/>
              <a:t>p6 = </a:t>
            </a:r>
            <a:r>
              <a:rPr lang="en-US" altLang="zh-CN" sz="2000" dirty="0" err="1"/>
              <a:t>mkleaf</a:t>
            </a:r>
            <a:r>
              <a:rPr lang="en-US" altLang="zh-CN" sz="2000" dirty="0"/>
              <a:t>(id, </a:t>
            </a:r>
            <a:r>
              <a:rPr lang="en-US" altLang="zh-CN" sz="2000" dirty="0" err="1"/>
              <a:t>entryc</a:t>
            </a:r>
            <a:r>
              <a:rPr lang="en-US" altLang="zh-CN" sz="2000" dirty="0"/>
              <a:t>)</a:t>
            </a:r>
          </a:p>
        </p:txBody>
      </p:sp>
      <p:sp>
        <p:nvSpPr>
          <p:cNvPr id="45" name="Rectangle 8"/>
          <p:cNvSpPr>
            <a:spLocks noChangeArrowheads="1"/>
          </p:cNvSpPr>
          <p:nvPr/>
        </p:nvSpPr>
        <p:spPr bwMode="auto">
          <a:xfrm>
            <a:off x="755576" y="4465444"/>
            <a:ext cx="4104456" cy="3385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80000"/>
              </a:lnSpc>
              <a:spcBef>
                <a:spcPct val="0"/>
              </a:spcBef>
              <a:buFontTx/>
              <a:buNone/>
            </a:pPr>
            <a:r>
              <a:rPr lang="zh-CN" altLang="en-US" sz="2000" dirty="0"/>
              <a:t>（</a:t>
            </a:r>
            <a:r>
              <a:rPr lang="en-US" altLang="zh-CN" sz="2000" dirty="0"/>
              <a:t>7</a:t>
            </a:r>
            <a:r>
              <a:rPr lang="zh-CN" altLang="en-US" sz="2000" dirty="0"/>
              <a:t>）</a:t>
            </a:r>
            <a:r>
              <a:rPr lang="en-US" altLang="zh-CN" sz="2000" dirty="0"/>
              <a:t>p7 = </a:t>
            </a:r>
            <a:r>
              <a:rPr lang="en-US" altLang="zh-CN" sz="2000" dirty="0" err="1"/>
              <a:t>mknode</a:t>
            </a:r>
            <a:r>
              <a:rPr lang="en-US" altLang="zh-CN" sz="2000" dirty="0"/>
              <a:t>(“+”, p5,p6) </a:t>
            </a:r>
          </a:p>
        </p:txBody>
      </p:sp>
      <p:sp>
        <p:nvSpPr>
          <p:cNvPr id="46" name="矩形 7"/>
          <p:cNvSpPr>
            <a:spLocks noChangeArrowheads="1"/>
          </p:cNvSpPr>
          <p:nvPr/>
        </p:nvSpPr>
        <p:spPr bwMode="auto">
          <a:xfrm>
            <a:off x="4491839" y="4743390"/>
            <a:ext cx="47525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zh-CN" altLang="zh-CN" sz="2000" b="1" dirty="0">
                <a:solidFill>
                  <a:srgbClr val="C00000"/>
                </a:solidFill>
              </a:rPr>
              <a:t>逆波兰式是抽象语法树的线性表示形式</a:t>
            </a:r>
            <a:endParaRPr lang="zh-CN" altLang="en-US" sz="2000" b="1" dirty="0">
              <a:solidFill>
                <a:srgbClr val="C00000"/>
              </a:solidFill>
            </a:endParaRPr>
          </a:p>
        </p:txBody>
      </p:sp>
    </p:spTree>
    <p:extLst>
      <p:ext uri="{BB962C8B-B14F-4D97-AF65-F5344CB8AC3E}">
        <p14:creationId xmlns:p14="http://schemas.microsoft.com/office/powerpoint/2010/main" val="4176071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48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P spid="20484" grpId="0"/>
      <p:bldP spid="20487" grpId="0" animBg="1"/>
      <p:bldP spid="2" grpId="0"/>
      <p:bldP spid="9" grpId="0"/>
      <p:bldP spid="10" grpId="0"/>
      <p:bldP spid="11" grpId="0"/>
      <p:bldP spid="12" grpId="0"/>
      <p:bldP spid="13" grpId="0"/>
      <p:bldP spid="14" grpId="0"/>
      <p:bldP spid="40" grpId="0"/>
      <p:bldP spid="41" grpId="0"/>
      <p:bldP spid="42" grpId="0"/>
      <p:bldP spid="43" grpId="0"/>
      <p:bldP spid="44" grpId="0"/>
      <p:bldP spid="45" grpId="0"/>
      <p:bldP spid="4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107950" y="86916"/>
            <a:ext cx="8229600" cy="594122"/>
          </a:xfrm>
        </p:spPr>
        <p:txBody>
          <a:bodyPr/>
          <a:lstStyle/>
          <a:p>
            <a:pPr algn="l"/>
            <a:r>
              <a:rPr lang="zh-CN" altLang="en-US" sz="3200"/>
              <a:t>例 算术表达式 </a:t>
            </a:r>
            <a:r>
              <a:rPr lang="en-US" altLang="zh-CN" sz="3200"/>
              <a:t>A+B*(C-D)+E/(C-D)/N</a:t>
            </a:r>
            <a:endParaRPr lang="zh-CN" altLang="en-US" sz="3200"/>
          </a:p>
        </p:txBody>
      </p:sp>
      <p:sp>
        <p:nvSpPr>
          <p:cNvPr id="3" name="内容占位符 2"/>
          <p:cNvSpPr>
            <a:spLocks noGrp="1"/>
          </p:cNvSpPr>
          <p:nvPr>
            <p:ph idx="1"/>
          </p:nvPr>
        </p:nvSpPr>
        <p:spPr>
          <a:xfrm>
            <a:off x="169863" y="3274219"/>
            <a:ext cx="4572000" cy="917972"/>
          </a:xfrm>
        </p:spPr>
        <p:txBody>
          <a:bodyPr>
            <a:normAutofit lnSpcReduction="10000"/>
          </a:bodyPr>
          <a:lstStyle/>
          <a:p>
            <a:r>
              <a:rPr lang="zh-CN" altLang="en-US" sz="2800"/>
              <a:t>思考：如果表达式是</a:t>
            </a:r>
            <a:endParaRPr lang="en-US" altLang="zh-CN" sz="2800"/>
          </a:p>
          <a:p>
            <a:r>
              <a:rPr lang="en-US" altLang="zh-CN" sz="2800"/>
              <a:t>A+B*(C-D)+E/(C-D)||N</a:t>
            </a:r>
          </a:p>
        </p:txBody>
      </p:sp>
      <p:sp>
        <p:nvSpPr>
          <p:cNvPr id="6" name="内容占位符 2"/>
          <p:cNvSpPr txBox="1">
            <a:spLocks/>
          </p:cNvSpPr>
          <p:nvPr/>
        </p:nvSpPr>
        <p:spPr bwMode="auto">
          <a:xfrm>
            <a:off x="5148064" y="987574"/>
            <a:ext cx="3995937" cy="1224136"/>
          </a:xfrm>
          <a:prstGeom prst="rect">
            <a:avLst/>
          </a:prstGeom>
          <a:ln/>
        </p:spPr>
        <p:style>
          <a:lnRef idx="1">
            <a:schemeClr val="accent2"/>
          </a:lnRef>
          <a:fillRef idx="2">
            <a:schemeClr val="accent2"/>
          </a:fillRef>
          <a:effectRef idx="1">
            <a:schemeClr val="accent2"/>
          </a:effectRef>
          <a:fontRef idx="minor">
            <a:schemeClr val="dk1"/>
          </a:fontRef>
        </p:style>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lnSpc>
                <a:spcPct val="100000"/>
              </a:lnSpc>
              <a:buFontTx/>
              <a:buNone/>
              <a:defRPr/>
            </a:pPr>
            <a:r>
              <a:rPr lang="zh-CN" altLang="en-US" sz="2400" kern="0" dirty="0"/>
              <a:t>**注意，优先级越高越先计算，在树中越处于下层，相同优先级看结合性</a:t>
            </a:r>
            <a:endParaRPr lang="en-US" altLang="zh-CN" sz="2400" kern="0" dirty="0"/>
          </a:p>
        </p:txBody>
      </p:sp>
      <p:pic>
        <p:nvPicPr>
          <p:cNvPr id="2140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00088"/>
            <a:ext cx="4572000" cy="1921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140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01" y="2589610"/>
            <a:ext cx="4143375" cy="2321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41924626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40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140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p:cNvSpPr>
            <a:spLocks noGrp="1"/>
          </p:cNvSpPr>
          <p:nvPr>
            <p:ph idx="1"/>
          </p:nvPr>
        </p:nvSpPr>
        <p:spPr>
          <a:xfrm>
            <a:off x="539750" y="699542"/>
            <a:ext cx="8229600" cy="1620440"/>
          </a:xfrm>
        </p:spPr>
        <p:txBody>
          <a:bodyPr>
            <a:normAutofit/>
          </a:bodyPr>
          <a:lstStyle/>
          <a:p>
            <a:r>
              <a:rPr lang="zh-CN" altLang="zh-CN" sz="2200" dirty="0"/>
              <a:t>有向无环图（</a:t>
            </a:r>
            <a:r>
              <a:rPr lang="en-US" altLang="zh-CN" sz="2200" dirty="0"/>
              <a:t>Directed Acyclic Graph</a:t>
            </a:r>
            <a:r>
              <a:rPr lang="zh-CN" altLang="zh-CN" sz="2200" dirty="0"/>
              <a:t>，简称</a:t>
            </a:r>
            <a:r>
              <a:rPr lang="en-US" altLang="zh-CN" sz="2200" dirty="0"/>
              <a:t>DAG</a:t>
            </a:r>
            <a:r>
              <a:rPr lang="zh-CN" altLang="zh-CN" sz="2200" dirty="0"/>
              <a:t>）对表达式中的每个子表达式都有一个结点，内部结点表示运算符，它的孩子代表运算分量。</a:t>
            </a:r>
            <a:r>
              <a:rPr lang="en-US" altLang="zh-CN" sz="2200" dirty="0"/>
              <a:t>DAG</a:t>
            </a:r>
            <a:r>
              <a:rPr lang="zh-CN" altLang="zh-CN" sz="2200" dirty="0"/>
              <a:t>中代表</a:t>
            </a:r>
            <a:r>
              <a:rPr lang="zh-CN" altLang="zh-CN" sz="2200" dirty="0">
                <a:solidFill>
                  <a:srgbClr val="C00000"/>
                </a:solidFill>
              </a:rPr>
              <a:t>公共子表达式的结点只出现一次</a:t>
            </a:r>
            <a:r>
              <a:rPr lang="zh-CN" altLang="zh-CN" sz="2200" dirty="0"/>
              <a:t>，具有多个父结点。</a:t>
            </a:r>
            <a:endParaRPr lang="zh-CN" altLang="en-US" sz="2200" b="1" dirty="0">
              <a:solidFill>
                <a:srgbClr val="C00000"/>
              </a:solidFill>
            </a:endParaRPr>
          </a:p>
        </p:txBody>
      </p:sp>
      <p:sp>
        <p:nvSpPr>
          <p:cNvPr id="22531" name="Rectangle 2"/>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22532" name="Object 1"/>
          <p:cNvGraphicFramePr>
            <a:graphicFrameLocks noChangeAspect="1"/>
          </p:cNvGraphicFramePr>
          <p:nvPr/>
        </p:nvGraphicFramePr>
        <p:xfrm>
          <a:off x="5795963" y="2518173"/>
          <a:ext cx="2857500" cy="2155031"/>
        </p:xfrm>
        <a:graphic>
          <a:graphicData uri="http://schemas.openxmlformats.org/presentationml/2006/ole">
            <mc:AlternateContent xmlns:mc="http://schemas.openxmlformats.org/markup-compatibility/2006">
              <mc:Choice xmlns:v="urn:schemas-microsoft-com:vml" Requires="v">
                <p:oleObj spid="_x0000_s6152" name="Visio" r:id="rId3" imgW="1741467" imgH="1749006" progId="Visio.Drawing.11">
                  <p:embed/>
                </p:oleObj>
              </mc:Choice>
              <mc:Fallback>
                <p:oleObj name="Visio" r:id="rId3" imgW="1741467" imgH="1749006" progId="Visio.Drawing.11">
                  <p:embed/>
                  <p:pic>
                    <p:nvPicPr>
                      <p:cNvPr id="2253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2518173"/>
                        <a:ext cx="2857500" cy="2155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3" name="Rectangle 4"/>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22534" name="Object 3"/>
          <p:cNvGraphicFramePr>
            <a:graphicFrameLocks noChangeAspect="1"/>
          </p:cNvGraphicFramePr>
          <p:nvPr/>
        </p:nvGraphicFramePr>
        <p:xfrm>
          <a:off x="661989" y="2383632"/>
          <a:ext cx="3857625" cy="2269331"/>
        </p:xfrm>
        <a:graphic>
          <a:graphicData uri="http://schemas.openxmlformats.org/presentationml/2006/ole">
            <mc:AlternateContent xmlns:mc="http://schemas.openxmlformats.org/markup-compatibility/2006">
              <mc:Choice xmlns:v="urn:schemas-microsoft-com:vml" Requires="v">
                <p:oleObj spid="_x0000_s6153" name="Visio" r:id="rId5" imgW="2207530" imgH="1723558" progId="Visio.Drawing.11">
                  <p:embed/>
                </p:oleObj>
              </mc:Choice>
              <mc:Fallback>
                <p:oleObj name="Visio" r:id="rId5" imgW="2207530" imgH="1723558" progId="Visio.Drawing.11">
                  <p:embed/>
                  <p:pic>
                    <p:nvPicPr>
                      <p:cNvPr id="22534"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1989" y="2383632"/>
                        <a:ext cx="3857625" cy="226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5" name="矩形 7"/>
          <p:cNvSpPr>
            <a:spLocks noChangeArrowheads="1"/>
          </p:cNvSpPr>
          <p:nvPr/>
        </p:nvSpPr>
        <p:spPr bwMode="auto">
          <a:xfrm>
            <a:off x="5364163" y="4743451"/>
            <a:ext cx="35221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en-US" altLang="zh-CN" sz="2400" dirty="0" err="1"/>
              <a:t>x+x</a:t>
            </a:r>
            <a:r>
              <a:rPr lang="en-US" altLang="zh-CN" sz="2400" dirty="0"/>
              <a:t>*(a-b)+(a-b)*y</a:t>
            </a:r>
            <a:r>
              <a:rPr lang="zh-CN" altLang="zh-CN" sz="2400" dirty="0"/>
              <a:t>的</a:t>
            </a:r>
            <a:r>
              <a:rPr lang="en-US" altLang="zh-CN" sz="2400" dirty="0"/>
              <a:t>DAG</a:t>
            </a:r>
            <a:endParaRPr lang="zh-CN" altLang="en-US" sz="2400" dirty="0"/>
          </a:p>
        </p:txBody>
      </p:sp>
      <p:sp>
        <p:nvSpPr>
          <p:cNvPr id="22536" name="矩形 8"/>
          <p:cNvSpPr>
            <a:spLocks noChangeArrowheads="1"/>
          </p:cNvSpPr>
          <p:nvPr/>
        </p:nvSpPr>
        <p:spPr bwMode="auto">
          <a:xfrm>
            <a:off x="233363" y="4731990"/>
            <a:ext cx="4572000" cy="461665"/>
          </a:xfrm>
          <a:prstGeom prst="rect">
            <a:avLst/>
          </a:prstGeom>
          <a:solidFill>
            <a:schemeClr val="bg1"/>
          </a:solidFill>
          <a:ln>
            <a:noFill/>
          </a:ln>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en-US" altLang="zh-CN" sz="2400" dirty="0" err="1"/>
              <a:t>x+x</a:t>
            </a:r>
            <a:r>
              <a:rPr lang="en-US" altLang="zh-CN" sz="2400" dirty="0"/>
              <a:t>*(a-b)+(a-b)*y</a:t>
            </a:r>
            <a:r>
              <a:rPr lang="zh-CN" altLang="zh-CN" sz="2400" dirty="0"/>
              <a:t>的抽象语法树</a:t>
            </a:r>
            <a:endParaRPr lang="zh-CN" altLang="en-US" sz="2400" dirty="0"/>
          </a:p>
        </p:txBody>
      </p:sp>
      <p:sp>
        <p:nvSpPr>
          <p:cNvPr id="22537" name="标题 1"/>
          <p:cNvSpPr>
            <a:spLocks noGrp="1"/>
          </p:cNvSpPr>
          <p:nvPr>
            <p:ph type="title"/>
          </p:nvPr>
        </p:nvSpPr>
        <p:spPr>
          <a:xfrm>
            <a:off x="468313" y="0"/>
            <a:ext cx="8229600" cy="627534"/>
          </a:xfrm>
        </p:spPr>
        <p:txBody>
          <a:bodyPr>
            <a:normAutofit fontScale="90000"/>
          </a:bodyPr>
          <a:lstStyle/>
          <a:p>
            <a:r>
              <a:rPr lang="en-US" altLang="zh-CN" dirty="0">
                <a:solidFill>
                  <a:srgbClr val="C00000"/>
                </a:solidFill>
              </a:rPr>
              <a:t>4</a:t>
            </a:r>
            <a:r>
              <a:rPr lang="zh-CN" altLang="en-US" dirty="0">
                <a:solidFill>
                  <a:srgbClr val="C00000"/>
                </a:solidFill>
              </a:rPr>
              <a:t>、</a:t>
            </a:r>
            <a:r>
              <a:rPr lang="en-US" altLang="zh-CN" dirty="0">
                <a:solidFill>
                  <a:srgbClr val="C00000"/>
                </a:solidFill>
              </a:rPr>
              <a:t>DAG</a:t>
            </a:r>
            <a:r>
              <a:rPr lang="zh-CN" altLang="zh-CN" dirty="0">
                <a:solidFill>
                  <a:srgbClr val="C00000"/>
                </a:solidFill>
              </a:rPr>
              <a:t>表示</a:t>
            </a:r>
            <a:endParaRPr lang="en-US" altLang="zh-CN" dirty="0">
              <a:solidFill>
                <a:srgbClr val="C00000"/>
              </a:solidFill>
            </a:endParaRPr>
          </a:p>
        </p:txBody>
      </p:sp>
    </p:spTree>
    <p:extLst>
      <p:ext uri="{BB962C8B-B14F-4D97-AF65-F5344CB8AC3E}">
        <p14:creationId xmlns:p14="http://schemas.microsoft.com/office/powerpoint/2010/main" val="2754574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5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5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5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p:bldP spid="2253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179512" y="14350"/>
            <a:ext cx="8229600" cy="529828"/>
          </a:xfrm>
        </p:spPr>
        <p:txBody>
          <a:bodyPr>
            <a:normAutofit fontScale="90000"/>
          </a:bodyPr>
          <a:lstStyle/>
          <a:p>
            <a:r>
              <a:rPr lang="en-US" altLang="zh-CN" sz="4000" b="1">
                <a:solidFill>
                  <a:srgbClr val="C00000"/>
                </a:solidFill>
              </a:rPr>
              <a:t>DAG</a:t>
            </a:r>
            <a:r>
              <a:rPr lang="zh-CN" altLang="zh-CN" sz="4000" b="1">
                <a:solidFill>
                  <a:srgbClr val="C00000"/>
                </a:solidFill>
              </a:rPr>
              <a:t>表示</a:t>
            </a:r>
            <a:endParaRPr lang="zh-CN" altLang="en-US" sz="4000" b="1">
              <a:solidFill>
                <a:srgbClr val="C00000"/>
              </a:solidFill>
            </a:endParaRPr>
          </a:p>
        </p:txBody>
      </p:sp>
      <p:sp>
        <p:nvSpPr>
          <p:cNvPr id="23555" name="内容占位符 2"/>
          <p:cNvSpPr>
            <a:spLocks noGrp="1"/>
          </p:cNvSpPr>
          <p:nvPr>
            <p:ph idx="1"/>
          </p:nvPr>
        </p:nvSpPr>
        <p:spPr>
          <a:xfrm>
            <a:off x="347064" y="627534"/>
            <a:ext cx="8229600" cy="4497244"/>
          </a:xfrm>
          <a:solidFill>
            <a:schemeClr val="bg1"/>
          </a:solidFill>
        </p:spPr>
        <p:txBody>
          <a:bodyPr>
            <a:normAutofit/>
          </a:bodyPr>
          <a:lstStyle/>
          <a:p>
            <a:pPr marL="0" indent="0">
              <a:spcBef>
                <a:spcPts val="0"/>
              </a:spcBef>
              <a:buFontTx/>
              <a:buNone/>
            </a:pPr>
            <a:r>
              <a:rPr lang="en-US" altLang="zh-CN" sz="2200" b="1" dirty="0">
                <a:solidFill>
                  <a:srgbClr val="FF3300"/>
                </a:solidFill>
              </a:rPr>
              <a:t>DAG</a:t>
            </a:r>
            <a:r>
              <a:rPr lang="zh-CN" altLang="zh-CN" sz="2200" b="1" dirty="0">
                <a:solidFill>
                  <a:srgbClr val="FF3300"/>
                </a:solidFill>
              </a:rPr>
              <a:t>的特点</a:t>
            </a:r>
            <a:r>
              <a:rPr lang="zh-CN" altLang="en-US" sz="2200" b="1" dirty="0">
                <a:solidFill>
                  <a:srgbClr val="FF3300"/>
                </a:solidFill>
              </a:rPr>
              <a:t>：</a:t>
            </a:r>
            <a:r>
              <a:rPr lang="zh-CN" altLang="zh-CN" sz="2200" dirty="0"/>
              <a:t>每个结点都带上各自的标记：</a:t>
            </a:r>
          </a:p>
          <a:p>
            <a:pPr marL="0" indent="0">
              <a:spcBef>
                <a:spcPts val="0"/>
              </a:spcBef>
              <a:buFontTx/>
              <a:buNone/>
            </a:pPr>
            <a:r>
              <a:rPr lang="zh-CN" altLang="zh-CN" sz="2200" dirty="0"/>
              <a:t>（</a:t>
            </a:r>
            <a:r>
              <a:rPr lang="en-US" altLang="zh-CN" sz="2200" dirty="0"/>
              <a:t>1</a:t>
            </a:r>
            <a:r>
              <a:rPr lang="zh-CN" altLang="zh-CN" sz="2200" dirty="0"/>
              <a:t>）图中叶子结点是变量名，或者是常数。根据作用到一个名字上的算符可以决定需要的是一个名字的左值还是右值。大多数叶子结点代表右值，叶子结点代表名字的初始值。</a:t>
            </a:r>
          </a:p>
          <a:p>
            <a:pPr marL="0" indent="0">
              <a:spcBef>
                <a:spcPts val="0"/>
              </a:spcBef>
              <a:buFontTx/>
              <a:buNone/>
            </a:pPr>
            <a:r>
              <a:rPr lang="zh-CN" altLang="zh-CN" sz="2200" dirty="0"/>
              <a:t>（</a:t>
            </a:r>
            <a:r>
              <a:rPr lang="en-US" altLang="zh-CN" sz="2200" dirty="0"/>
              <a:t>2</a:t>
            </a:r>
            <a:r>
              <a:rPr lang="zh-CN" altLang="zh-CN" sz="2200" dirty="0"/>
              <a:t>）图的内部结点由运算符标记，代表进行这种运算和计算出来的值。</a:t>
            </a:r>
          </a:p>
          <a:p>
            <a:pPr marL="0" indent="0">
              <a:spcBef>
                <a:spcPts val="0"/>
              </a:spcBef>
              <a:buFontTx/>
              <a:buNone/>
            </a:pPr>
            <a:r>
              <a:rPr lang="zh-CN" altLang="zh-CN" sz="2200" dirty="0"/>
              <a:t>（</a:t>
            </a:r>
            <a:r>
              <a:rPr lang="en-US" altLang="zh-CN" sz="2200" dirty="0"/>
              <a:t>3</a:t>
            </a:r>
            <a:r>
              <a:rPr lang="zh-CN" altLang="zh-CN" sz="2200" dirty="0"/>
              <a:t>）图中各个结点可能附加一个或多个标识符，表示这些标识符都具有该结点所代表的值。</a:t>
            </a:r>
            <a:endParaRPr lang="zh-CN" altLang="en-US" sz="2200" dirty="0"/>
          </a:p>
        </p:txBody>
      </p:sp>
      <p:sp>
        <p:nvSpPr>
          <p:cNvPr id="23556" name="Rectangle 5"/>
          <p:cNvSpPr>
            <a:spLocks noChangeArrowheads="1"/>
          </p:cNvSpPr>
          <p:nvPr/>
        </p:nvSpPr>
        <p:spPr bwMode="auto">
          <a:xfrm>
            <a:off x="323528" y="3430420"/>
            <a:ext cx="8135937"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r>
              <a:rPr lang="zh-CN" altLang="en-US" sz="2200" b="1" dirty="0">
                <a:solidFill>
                  <a:srgbClr val="FF3300"/>
                </a:solidFill>
              </a:rPr>
              <a:t>构造</a:t>
            </a:r>
            <a:r>
              <a:rPr lang="en-US" altLang="zh-CN" sz="2200" b="1" dirty="0">
                <a:solidFill>
                  <a:srgbClr val="FF3300"/>
                </a:solidFill>
              </a:rPr>
              <a:t>DAG</a:t>
            </a:r>
            <a:r>
              <a:rPr lang="zh-CN" altLang="en-US" sz="2200" b="1" dirty="0">
                <a:solidFill>
                  <a:srgbClr val="FF3300"/>
                </a:solidFill>
              </a:rPr>
              <a:t>：</a:t>
            </a:r>
            <a:r>
              <a:rPr lang="zh-CN" altLang="en-US" sz="2200" dirty="0"/>
              <a:t>方法与构造抽象语法树的方法类似：表达式的每个子表达式对应</a:t>
            </a:r>
            <a:r>
              <a:rPr lang="en-US" altLang="zh-CN" sz="2200" dirty="0"/>
              <a:t>DAG</a:t>
            </a:r>
            <a:r>
              <a:rPr lang="zh-CN" altLang="en-US" sz="2200" dirty="0"/>
              <a:t>中的一个结点，内部结点代表运算符，其左右孩子代表运算对象。注意每次构造结点之前需要</a:t>
            </a:r>
            <a:r>
              <a:rPr lang="zh-CN" altLang="en-US" sz="2200" b="1" dirty="0">
                <a:solidFill>
                  <a:srgbClr val="FF3300"/>
                </a:solidFill>
              </a:rPr>
              <a:t>查找该结点是否已经构建过</a:t>
            </a:r>
            <a:r>
              <a:rPr lang="zh-CN" altLang="en-US" sz="2200" dirty="0"/>
              <a:t>。（相同标识的结点在</a:t>
            </a:r>
            <a:r>
              <a:rPr lang="en-US" altLang="zh-CN" sz="2200" dirty="0"/>
              <a:t>DAG</a:t>
            </a:r>
            <a:r>
              <a:rPr lang="zh-CN" altLang="en-US" sz="2200" dirty="0"/>
              <a:t>中只出现一次） </a:t>
            </a:r>
          </a:p>
        </p:txBody>
      </p:sp>
    </p:spTree>
    <p:extLst>
      <p:ext uri="{BB962C8B-B14F-4D97-AF65-F5344CB8AC3E}">
        <p14:creationId xmlns:p14="http://schemas.microsoft.com/office/powerpoint/2010/main" val="3777408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Grp="1" noChangeArrowheads="1"/>
          </p:cNvSpPr>
          <p:nvPr>
            <p:ph type="title"/>
          </p:nvPr>
        </p:nvSpPr>
        <p:spPr>
          <a:xfrm>
            <a:off x="827088" y="514351"/>
            <a:ext cx="7859712" cy="1678781"/>
          </a:xfrm>
        </p:spPr>
        <p:txBody>
          <a:bodyPr/>
          <a:lstStyle/>
          <a:p>
            <a:pPr algn="l" eaLnBrk="1" hangingPunct="1"/>
            <a:r>
              <a:rPr lang="zh-CN" altLang="en-US" sz="3200" b="1">
                <a:solidFill>
                  <a:srgbClr val="0033CC"/>
                </a:solidFill>
              </a:rPr>
              <a:t>到目前为止，已知  </a:t>
            </a:r>
            <a:r>
              <a:rPr lang="zh-CN" altLang="en-US" sz="3200" b="1">
                <a:solidFill>
                  <a:srgbClr val="FF3300"/>
                </a:solidFill>
              </a:rPr>
              <a:t>输入的语法单位</a:t>
            </a:r>
            <a:r>
              <a:rPr lang="zh-CN" altLang="en-US" sz="3200" b="1">
                <a:solidFill>
                  <a:srgbClr val="0033CC"/>
                </a:solidFill>
              </a:rPr>
              <a:t>，</a:t>
            </a:r>
            <a:br>
              <a:rPr lang="zh-CN" altLang="en-US" sz="3200" b="1">
                <a:solidFill>
                  <a:srgbClr val="0033CC"/>
                </a:solidFill>
              </a:rPr>
            </a:br>
            <a:r>
              <a:rPr lang="zh-CN" altLang="en-US" sz="3200" b="1">
                <a:solidFill>
                  <a:srgbClr val="0033CC"/>
                </a:solidFill>
              </a:rPr>
              <a:t>又知道     </a:t>
            </a:r>
            <a:r>
              <a:rPr lang="zh-CN" altLang="en-US" sz="3200" b="1">
                <a:solidFill>
                  <a:srgbClr val="FF3300"/>
                </a:solidFill>
              </a:rPr>
              <a:t>要翻译的结果的形式</a:t>
            </a:r>
            <a:r>
              <a:rPr lang="zh-CN" altLang="en-US" sz="3200" b="1">
                <a:solidFill>
                  <a:srgbClr val="0033CC"/>
                </a:solidFill>
              </a:rPr>
              <a:t>，</a:t>
            </a:r>
            <a:br>
              <a:rPr lang="zh-CN" altLang="en-US" sz="3200" b="1">
                <a:solidFill>
                  <a:srgbClr val="0033CC"/>
                </a:solidFill>
              </a:rPr>
            </a:br>
            <a:r>
              <a:rPr lang="zh-CN" altLang="en-US" sz="3200" b="1">
                <a:solidFill>
                  <a:srgbClr val="FF3300"/>
                </a:solidFill>
              </a:rPr>
              <a:t>翻译的方法</a:t>
            </a:r>
            <a:r>
              <a:rPr lang="zh-CN" altLang="en-US" sz="3200" b="1">
                <a:solidFill>
                  <a:srgbClr val="0033CC"/>
                </a:solidFill>
              </a:rPr>
              <a:t>是什么？</a:t>
            </a:r>
          </a:p>
        </p:txBody>
      </p:sp>
      <p:sp>
        <p:nvSpPr>
          <p:cNvPr id="24579" name="Rectangle 1027"/>
          <p:cNvSpPr>
            <a:spLocks noGrp="1" noChangeArrowheads="1"/>
          </p:cNvSpPr>
          <p:nvPr>
            <p:ph type="body" idx="1"/>
          </p:nvPr>
        </p:nvSpPr>
        <p:spPr>
          <a:xfrm>
            <a:off x="827089" y="2625328"/>
            <a:ext cx="7489825" cy="1556147"/>
          </a:xfrm>
        </p:spPr>
        <p:txBody>
          <a:bodyPr/>
          <a:lstStyle/>
          <a:p>
            <a:pPr eaLnBrk="1" hangingPunct="1"/>
            <a:r>
              <a:rPr lang="zh-CN" altLang="en-US" sz="2800" dirty="0"/>
              <a:t>语义表示和翻译的方法：语义表示较流行的方法仍然是</a:t>
            </a:r>
            <a:r>
              <a:rPr lang="zh-CN" altLang="en-US" sz="2800" b="1" dirty="0">
                <a:solidFill>
                  <a:srgbClr val="0033CC"/>
                </a:solidFill>
              </a:rPr>
              <a:t>属性文法，翻译方法是语法制导的翻译</a:t>
            </a:r>
            <a:r>
              <a:rPr lang="zh-CN" altLang="en-US" sz="2800" dirty="0"/>
              <a:t>。</a:t>
            </a:r>
          </a:p>
        </p:txBody>
      </p:sp>
    </p:spTree>
    <p:extLst>
      <p:ext uri="{BB962C8B-B14F-4D97-AF65-F5344CB8AC3E}">
        <p14:creationId xmlns:p14="http://schemas.microsoft.com/office/powerpoint/2010/main" val="3420849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3371436" cy="769441"/>
          </a:xfrm>
          <a:prstGeom prst="rect">
            <a:avLst/>
          </a:prstGeom>
        </p:spPr>
        <p:txBody>
          <a:bodyPr wrap="none">
            <a:spAutoFit/>
          </a:bodyPr>
          <a:lstStyle/>
          <a:p>
            <a:r>
              <a:rPr lang="en-US" altLang="zh-CN" sz="4400" b="1" dirty="0">
                <a:solidFill>
                  <a:srgbClr val="CC0099"/>
                </a:solidFill>
                <a:ea typeface="隶书" pitchFamily="49" charset="-122"/>
              </a:rPr>
              <a:t>3</a:t>
            </a:r>
            <a:r>
              <a:rPr lang="zh-CN" altLang="en-US" sz="4400" b="1" dirty="0">
                <a:solidFill>
                  <a:srgbClr val="CC0099"/>
                </a:solidFill>
                <a:ea typeface="隶书" pitchFamily="49" charset="-122"/>
              </a:rPr>
              <a:t>、属性文法</a:t>
            </a:r>
            <a:endParaRPr lang="zh-CN" altLang="en-US" sz="4400" dirty="0"/>
          </a:p>
        </p:txBody>
      </p:sp>
    </p:spTree>
    <p:extLst>
      <p:ext uri="{BB962C8B-B14F-4D97-AF65-F5344CB8AC3E}">
        <p14:creationId xmlns:p14="http://schemas.microsoft.com/office/powerpoint/2010/main" val="24725034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7504" y="921724"/>
            <a:ext cx="4054061" cy="1368152"/>
          </a:xfrm>
        </p:spPr>
        <p:txBody>
          <a:bodyPr>
            <a:normAutofit/>
          </a:bodyPr>
          <a:lstStyle/>
          <a:p>
            <a:r>
              <a:rPr lang="en-US" altLang="zh-CN" dirty="0" err="1"/>
              <a:t>D.E.knuth</a:t>
            </a:r>
            <a:r>
              <a:rPr lang="en-US" altLang="zh-CN" dirty="0"/>
              <a:t> 1968</a:t>
            </a:r>
            <a:r>
              <a:rPr lang="zh-CN" altLang="en-US" dirty="0"/>
              <a:t>年提出</a:t>
            </a:r>
            <a:endParaRPr lang="en-US" altLang="zh-CN" dirty="0"/>
          </a:p>
          <a:p>
            <a:r>
              <a:rPr lang="en-US" altLang="zh-CN" dirty="0"/>
              <a:t>《</a:t>
            </a:r>
            <a:r>
              <a:rPr lang="zh-CN" altLang="en-US" dirty="0"/>
              <a:t>计算机程序设计艺术</a:t>
            </a:r>
            <a:r>
              <a:rPr lang="en-US" altLang="zh-CN" dirty="0"/>
              <a:t>》</a:t>
            </a:r>
          </a:p>
          <a:p>
            <a:r>
              <a:rPr lang="zh-CN" altLang="en-US" dirty="0"/>
              <a:t>本章会介绍相关原理</a:t>
            </a:r>
          </a:p>
        </p:txBody>
      </p:sp>
      <p:sp>
        <p:nvSpPr>
          <p:cNvPr id="3" name="标题 2"/>
          <p:cNvSpPr>
            <a:spLocks noGrp="1"/>
          </p:cNvSpPr>
          <p:nvPr>
            <p:ph type="title"/>
          </p:nvPr>
        </p:nvSpPr>
        <p:spPr>
          <a:xfrm>
            <a:off x="1" y="180347"/>
            <a:ext cx="8229600" cy="576064"/>
          </a:xfrm>
        </p:spPr>
        <p:txBody>
          <a:bodyPr>
            <a:noAutofit/>
          </a:bodyPr>
          <a:lstStyle/>
          <a:p>
            <a:r>
              <a:rPr lang="zh-CN" altLang="en-US" dirty="0"/>
              <a:t>属性文法</a:t>
            </a:r>
          </a:p>
        </p:txBody>
      </p:sp>
      <p:pic>
        <p:nvPicPr>
          <p:cNvPr id="28674" name="Picture 2" descr="https://timgsa.baidu.com/timg?image&amp;quality=80&amp;size=b9999_10000&amp;sec=1584935790625&amp;di=223968481de4ff51861df47de1662e58&amp;imgtype=0&amp;src=http%3A%2F%2Fpic1.zhimg.com%2F50%2Fv2-9795b22a6cbad999f5b5c3c9d826257c_h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0558" y="2617058"/>
            <a:ext cx="3491881" cy="2401295"/>
          </a:xfrm>
          <a:prstGeom prst="rect">
            <a:avLst/>
          </a:prstGeom>
          <a:noFill/>
          <a:extLst>
            <a:ext uri="{909E8E84-426E-40DD-AFC4-6F175D3DCCD1}">
              <a14:hiddenFill xmlns:a14="http://schemas.microsoft.com/office/drawing/2010/main">
                <a:solidFill>
                  <a:srgbClr val="FFFFFF"/>
                </a:solidFill>
              </a14:hiddenFill>
            </a:ext>
          </a:extLst>
        </p:spPr>
      </p:pic>
      <p:pic>
        <p:nvPicPr>
          <p:cNvPr id="28676" name="Picture 4" descr="https://timgsa.baidu.com/timg?image&amp;quality=80&amp;size=b9999_10000&amp;sec=1584935790625&amp;di=0333376694ef59289a490a47ee00f6e1&amp;imgtype=0&amp;src=http%3A%2F%2Fpic4.zhimg.com%2Fv2-bbb13a9f49fe7f4c73097e4b81e698c3_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2617058"/>
            <a:ext cx="3443359" cy="2367927"/>
          </a:xfrm>
          <a:prstGeom prst="rect">
            <a:avLst/>
          </a:prstGeom>
          <a:noFill/>
          <a:extLst>
            <a:ext uri="{909E8E84-426E-40DD-AFC4-6F175D3DCCD1}">
              <a14:hiddenFill xmlns:a14="http://schemas.microsoft.com/office/drawing/2010/main">
                <a:solidFill>
                  <a:srgbClr val="FFFFFF"/>
                </a:solidFill>
              </a14:hiddenFill>
            </a:ext>
          </a:extLst>
        </p:spPr>
      </p:pic>
      <p:pic>
        <p:nvPicPr>
          <p:cNvPr id="28680" name="Picture 8" descr="https://timgsa.baidu.com/timg?image&amp;quality=80&amp;size=b9999_10000&amp;sec=1584936104513&amp;di=c12a4dab3d2601334994632964eafc74&amp;imgtype=0&amp;src=http%3A%2F%2Fpic2.zhimg.com%2Fv2-f7b33c3c899f14aeb78bcc7bb4da0fbd_b.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552" y="2602065"/>
            <a:ext cx="3540249" cy="2434556"/>
          </a:xfrm>
          <a:prstGeom prst="rect">
            <a:avLst/>
          </a:prstGeom>
          <a:noFill/>
          <a:extLst>
            <a:ext uri="{909E8E84-426E-40DD-AFC4-6F175D3DCCD1}">
              <a14:hiddenFill xmlns:a14="http://schemas.microsoft.com/office/drawing/2010/main">
                <a:solidFill>
                  <a:srgbClr val="FFFFFF"/>
                </a:solidFill>
              </a14:hiddenFill>
            </a:ext>
          </a:extLst>
        </p:spPr>
      </p:pic>
      <p:pic>
        <p:nvPicPr>
          <p:cNvPr id="28682" name="Picture 10" descr="https://ss1.bdstatic.com/70cFvXSh_Q1YnxGkpoWK1HF6hhy/it/u=315877498,4102939927&amp;fm=26&amp;gp=0.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8083" y="1645663"/>
            <a:ext cx="2052069" cy="800307"/>
          </a:xfrm>
          <a:prstGeom prst="rect">
            <a:avLst/>
          </a:prstGeom>
          <a:noFill/>
          <a:extLst>
            <a:ext uri="{909E8E84-426E-40DD-AFC4-6F175D3DCCD1}">
              <a14:hiddenFill xmlns:a14="http://schemas.microsoft.com/office/drawing/2010/main">
                <a:solidFill>
                  <a:srgbClr val="FFFFFF"/>
                </a:solidFill>
              </a14:hiddenFill>
            </a:ext>
          </a:extLst>
        </p:spPr>
      </p:pic>
      <p:pic>
        <p:nvPicPr>
          <p:cNvPr id="28684" name="Picture 12" descr="https://ss2.bdstatic.com/70cFvnSh_Q1YnxGkpoWK1HF6hhy/it/u=516300429,765405839&amp;fm=26&amp;gp=0.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04845" y="701400"/>
            <a:ext cx="1418547" cy="78867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2CE9DAC7-E0DF-C7F1-BE8D-E3D1B2552A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04248" y="400274"/>
            <a:ext cx="1817671" cy="2149705"/>
          </a:xfrm>
          <a:prstGeom prst="rect">
            <a:avLst/>
          </a:prstGeom>
        </p:spPr>
      </p:pic>
      <p:sp>
        <p:nvSpPr>
          <p:cNvPr id="7" name="文本框 6">
            <a:extLst>
              <a:ext uri="{FF2B5EF4-FFF2-40B4-BE49-F238E27FC236}">
                <a16:creationId xmlns:a16="http://schemas.microsoft.com/office/drawing/2014/main" id="{AE69EF77-89D9-E6FE-A5E7-13C1268CDC5D}"/>
              </a:ext>
            </a:extLst>
          </p:cNvPr>
          <p:cNvSpPr txBox="1"/>
          <p:nvPr/>
        </p:nvSpPr>
        <p:spPr>
          <a:xfrm>
            <a:off x="5927127" y="2593522"/>
            <a:ext cx="3244092" cy="2492990"/>
          </a:xfrm>
          <a:prstGeom prst="rect">
            <a:avLst/>
          </a:prstGeom>
          <a:noFill/>
        </p:spPr>
        <p:txBody>
          <a:bodyPr wrap="square">
            <a:spAutoFit/>
          </a:bodyPr>
          <a:lstStyle/>
          <a:p>
            <a:r>
              <a:rPr lang="en-US" altLang="zh-CN" sz="1200" b="0" i="0" dirty="0" err="1">
                <a:solidFill>
                  <a:srgbClr val="FF0000"/>
                </a:solidFill>
                <a:effectLst/>
                <a:latin typeface="sans serif"/>
              </a:rPr>
              <a:t>LaTex</a:t>
            </a:r>
            <a:r>
              <a:rPr lang="zh-CN" altLang="en-US" sz="1200" b="0" i="0" dirty="0">
                <a:solidFill>
                  <a:srgbClr val="FF0000"/>
                </a:solidFill>
                <a:effectLst/>
                <a:latin typeface="sans serif"/>
              </a:rPr>
              <a:t>是一款非常专业的基于</a:t>
            </a:r>
            <a:r>
              <a:rPr lang="en-US" altLang="zh-CN" sz="1200" b="0" i="0" dirty="0" err="1">
                <a:solidFill>
                  <a:srgbClr val="FF0000"/>
                </a:solidFill>
                <a:effectLst/>
                <a:latin typeface="sans serif"/>
              </a:rPr>
              <a:t>TeX</a:t>
            </a:r>
            <a:r>
              <a:rPr lang="zh-CN" altLang="en-US" sz="1200" b="0" i="0" dirty="0">
                <a:solidFill>
                  <a:srgbClr val="FF0000"/>
                </a:solidFill>
                <a:effectLst/>
                <a:latin typeface="sans serif"/>
              </a:rPr>
              <a:t>的排版系统</a:t>
            </a:r>
            <a:r>
              <a:rPr lang="zh-CN" altLang="en-US" sz="1200" b="0" i="0" dirty="0">
                <a:solidFill>
                  <a:srgbClr val="000000"/>
                </a:solidFill>
                <a:effectLst/>
                <a:latin typeface="sans serif"/>
              </a:rPr>
              <a:t>，本身并不是一个独立的排版程序，而是运行在 </a:t>
            </a:r>
            <a:r>
              <a:rPr lang="en-US" altLang="zh-CN" sz="1200" b="0" i="0" dirty="0">
                <a:solidFill>
                  <a:srgbClr val="000000"/>
                </a:solidFill>
                <a:effectLst/>
                <a:latin typeface="sans serif"/>
              </a:rPr>
              <a:t>Donald E. Knuth </a:t>
            </a:r>
            <a:r>
              <a:rPr lang="zh-CN" altLang="en-US" sz="1200" b="0" i="0" dirty="0">
                <a:solidFill>
                  <a:srgbClr val="000000"/>
                </a:solidFill>
                <a:effectLst/>
                <a:latin typeface="sans serif"/>
              </a:rPr>
              <a:t>的 </a:t>
            </a:r>
            <a:r>
              <a:rPr lang="en-US" altLang="zh-CN" sz="1200" b="0" i="0" dirty="0" err="1">
                <a:solidFill>
                  <a:srgbClr val="000000"/>
                </a:solidFill>
                <a:effectLst/>
                <a:latin typeface="sans serif"/>
              </a:rPr>
              <a:t>TeX</a:t>
            </a:r>
            <a:r>
              <a:rPr lang="en-US" altLang="zh-CN" sz="1200" b="0" i="0" dirty="0">
                <a:solidFill>
                  <a:srgbClr val="000000"/>
                </a:solidFill>
                <a:effectLst/>
                <a:latin typeface="sans serif"/>
              </a:rPr>
              <a:t> </a:t>
            </a:r>
            <a:r>
              <a:rPr lang="zh-CN" altLang="en-US" sz="1200" b="0" i="0" dirty="0">
                <a:solidFill>
                  <a:srgbClr val="000000"/>
                </a:solidFill>
                <a:effectLst/>
                <a:latin typeface="sans serif"/>
              </a:rPr>
              <a:t>排版系统之上的文档准备软件。</a:t>
            </a:r>
            <a:r>
              <a:rPr lang="en-US" altLang="zh-CN" sz="1200" b="0" i="0" dirty="0">
                <a:solidFill>
                  <a:srgbClr val="000000"/>
                </a:solidFill>
                <a:effectLst/>
                <a:latin typeface="sans serif"/>
              </a:rPr>
              <a:t>Latex</a:t>
            </a:r>
            <a:r>
              <a:rPr lang="zh-CN" altLang="en-US" sz="1200" b="0" i="0" dirty="0">
                <a:solidFill>
                  <a:srgbClr val="000000"/>
                </a:solidFill>
                <a:effectLst/>
                <a:latin typeface="sans serif"/>
              </a:rPr>
              <a:t>包括一个文本编辑器</a:t>
            </a:r>
            <a:r>
              <a:rPr lang="en-US" altLang="zh-CN" sz="1200" b="0" i="0" dirty="0">
                <a:solidFill>
                  <a:srgbClr val="000000"/>
                </a:solidFill>
                <a:effectLst/>
                <a:latin typeface="sans serif"/>
              </a:rPr>
              <a:t>(</a:t>
            </a:r>
            <a:r>
              <a:rPr lang="en-US" altLang="zh-CN" sz="1200" b="0" i="0" dirty="0" err="1">
                <a:solidFill>
                  <a:srgbClr val="000000"/>
                </a:solidFill>
                <a:effectLst/>
                <a:latin typeface="sans serif"/>
              </a:rPr>
              <a:t>TeXworks</a:t>
            </a:r>
            <a:r>
              <a:rPr lang="en-US" altLang="zh-CN" sz="1200" b="0" i="0" dirty="0">
                <a:solidFill>
                  <a:srgbClr val="000000"/>
                </a:solidFill>
                <a:effectLst/>
                <a:latin typeface="sans serif"/>
              </a:rPr>
              <a:t> editor,</a:t>
            </a:r>
            <a:r>
              <a:rPr lang="zh-CN" altLang="en-US" sz="1200" b="0" i="0" dirty="0">
                <a:solidFill>
                  <a:srgbClr val="000000"/>
                </a:solidFill>
                <a:effectLst/>
                <a:latin typeface="sans serif"/>
              </a:rPr>
              <a:t>类似于</a:t>
            </a:r>
            <a:r>
              <a:rPr lang="en-US" altLang="zh-CN" sz="1200" b="0" i="0" dirty="0">
                <a:solidFill>
                  <a:srgbClr val="000000"/>
                </a:solidFill>
                <a:effectLst/>
                <a:latin typeface="sans serif"/>
              </a:rPr>
              <a:t>word), Latex</a:t>
            </a:r>
            <a:r>
              <a:rPr lang="zh-CN" altLang="en-US" sz="1200" b="0" i="0" dirty="0">
                <a:solidFill>
                  <a:srgbClr val="000000"/>
                </a:solidFill>
                <a:effectLst/>
                <a:latin typeface="sans serif"/>
              </a:rPr>
              <a:t>编译器</a:t>
            </a:r>
            <a:r>
              <a:rPr lang="en-US" altLang="zh-CN" sz="1200" b="0" i="0" dirty="0">
                <a:solidFill>
                  <a:srgbClr val="000000"/>
                </a:solidFill>
                <a:effectLst/>
                <a:latin typeface="sans serif"/>
              </a:rPr>
              <a:t>, </a:t>
            </a:r>
            <a:r>
              <a:rPr lang="zh-CN" altLang="en-US" sz="1200" b="0" i="0" dirty="0">
                <a:solidFill>
                  <a:srgbClr val="000000"/>
                </a:solidFill>
                <a:effectLst/>
                <a:latin typeface="sans serif"/>
              </a:rPr>
              <a:t>一套</a:t>
            </a:r>
            <a:r>
              <a:rPr lang="en-US" altLang="zh-CN" sz="1200" b="0" i="0" dirty="0">
                <a:solidFill>
                  <a:srgbClr val="000000"/>
                </a:solidFill>
                <a:effectLst/>
                <a:latin typeface="sans serif"/>
              </a:rPr>
              <a:t>Latex</a:t>
            </a:r>
            <a:r>
              <a:rPr lang="zh-CN" altLang="en-US" sz="1200" b="0" i="0" dirty="0">
                <a:solidFill>
                  <a:srgbClr val="000000"/>
                </a:solidFill>
                <a:effectLst/>
                <a:latin typeface="sans serif"/>
              </a:rPr>
              <a:t>编译器认可的语法。</a:t>
            </a:r>
            <a:r>
              <a:rPr lang="en-US" altLang="zh-CN" sz="1200" b="0" i="0" dirty="0" err="1">
                <a:solidFill>
                  <a:srgbClr val="FF0000"/>
                </a:solidFill>
                <a:effectLst/>
                <a:latin typeface="sans serif"/>
              </a:rPr>
              <a:t>Tex</a:t>
            </a:r>
            <a:r>
              <a:rPr lang="zh-CN" altLang="en-US" sz="1200" dirty="0">
                <a:solidFill>
                  <a:srgbClr val="FF0000"/>
                </a:solidFill>
                <a:latin typeface="sans serif"/>
              </a:rPr>
              <a:t>系统是基于属性文法的。</a:t>
            </a:r>
            <a:br>
              <a:rPr lang="zh-CN" altLang="en-US" sz="1200" dirty="0"/>
            </a:br>
            <a:r>
              <a:rPr lang="en-US" altLang="zh-CN" sz="1200" b="0" i="0" dirty="0">
                <a:solidFill>
                  <a:srgbClr val="000000"/>
                </a:solidFill>
                <a:effectLst/>
                <a:latin typeface="sans serif"/>
              </a:rPr>
              <a:t>Donald E. Knuth</a:t>
            </a:r>
            <a:r>
              <a:rPr lang="zh-CN" altLang="en-US" sz="1200" b="0" i="0" dirty="0">
                <a:solidFill>
                  <a:srgbClr val="000000"/>
                </a:solidFill>
                <a:effectLst/>
                <a:latin typeface="sans serif"/>
              </a:rPr>
              <a:t>是排版软件</a:t>
            </a:r>
            <a:r>
              <a:rPr lang="en-US" altLang="zh-CN" sz="1200" b="0" i="0" dirty="0" err="1">
                <a:solidFill>
                  <a:srgbClr val="000000"/>
                </a:solidFill>
                <a:effectLst/>
                <a:latin typeface="sans serif"/>
              </a:rPr>
              <a:t>TeX</a:t>
            </a:r>
            <a:r>
              <a:rPr lang="zh-CN" altLang="en-US" sz="1200" b="0" i="0" dirty="0">
                <a:solidFill>
                  <a:srgbClr val="000000"/>
                </a:solidFill>
                <a:effectLst/>
                <a:latin typeface="sans serif"/>
              </a:rPr>
              <a:t>和字型设计系统</a:t>
            </a:r>
            <a:r>
              <a:rPr lang="en-US" altLang="zh-CN" sz="1200" b="0" i="0" dirty="0">
                <a:solidFill>
                  <a:srgbClr val="000000"/>
                </a:solidFill>
                <a:effectLst/>
                <a:latin typeface="sans serif"/>
              </a:rPr>
              <a:t>METAFONT</a:t>
            </a:r>
            <a:r>
              <a:rPr lang="zh-CN" altLang="en-US" sz="1200" b="0" i="0" dirty="0">
                <a:solidFill>
                  <a:srgbClr val="000000"/>
                </a:solidFill>
                <a:effectLst/>
                <a:latin typeface="sans serif"/>
              </a:rPr>
              <a:t>发明人，获得</a:t>
            </a:r>
            <a:r>
              <a:rPr lang="en-US" altLang="zh-CN" sz="1200" b="0" i="0" dirty="0">
                <a:solidFill>
                  <a:srgbClr val="FF0000"/>
                </a:solidFill>
                <a:effectLst/>
                <a:latin typeface="sans serif"/>
              </a:rPr>
              <a:t>1974</a:t>
            </a:r>
            <a:r>
              <a:rPr lang="zh-CN" altLang="en-US" sz="1200" b="0" i="0" dirty="0">
                <a:solidFill>
                  <a:srgbClr val="FF0000"/>
                </a:solidFill>
                <a:effectLst/>
                <a:latin typeface="sans serif"/>
              </a:rPr>
              <a:t>年的图灵奖</a:t>
            </a:r>
            <a:r>
              <a:rPr lang="zh-CN" altLang="en-US" sz="1200" b="0" i="0" dirty="0">
                <a:solidFill>
                  <a:srgbClr val="000000"/>
                </a:solidFill>
                <a:effectLst/>
                <a:latin typeface="sans serif"/>
              </a:rPr>
              <a:t>，所著描述基本算法与数据结构的巨作</a:t>
            </a:r>
            <a:r>
              <a:rPr lang="en-US" altLang="zh-CN" sz="1200" b="0" i="0" dirty="0">
                <a:solidFill>
                  <a:srgbClr val="FF0000"/>
                </a:solidFill>
                <a:effectLst/>
                <a:latin typeface="sans serif"/>
              </a:rPr>
              <a:t>《</a:t>
            </a:r>
            <a:r>
              <a:rPr lang="zh-CN" altLang="en-US" sz="1200" b="0" i="0" dirty="0">
                <a:solidFill>
                  <a:srgbClr val="FF0000"/>
                </a:solidFill>
                <a:effectLst/>
                <a:latin typeface="sans serif"/>
              </a:rPr>
              <a:t>计算机程序设计的艺术</a:t>
            </a:r>
            <a:r>
              <a:rPr lang="en-US" altLang="zh-CN" sz="1200" b="0" i="0" dirty="0">
                <a:solidFill>
                  <a:srgbClr val="FF0000"/>
                </a:solidFill>
                <a:effectLst/>
                <a:latin typeface="sans serif"/>
              </a:rPr>
              <a:t>》</a:t>
            </a:r>
            <a:r>
              <a:rPr lang="zh-CN" altLang="en-US" sz="1200" b="0" i="0" dirty="0">
                <a:solidFill>
                  <a:srgbClr val="000000"/>
                </a:solidFill>
                <a:effectLst/>
                <a:latin typeface="sans serif"/>
              </a:rPr>
              <a:t>被</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美国科学家</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杂志列为</a:t>
            </a:r>
            <a:r>
              <a:rPr lang="en-US" altLang="zh-CN" sz="1200" b="0" i="0" dirty="0">
                <a:solidFill>
                  <a:srgbClr val="FF0000"/>
                </a:solidFill>
                <a:effectLst/>
                <a:latin typeface="sans serif"/>
              </a:rPr>
              <a:t>20</a:t>
            </a:r>
            <a:r>
              <a:rPr lang="zh-CN" altLang="en-US" sz="1200" b="0" i="0" dirty="0">
                <a:solidFill>
                  <a:srgbClr val="FF0000"/>
                </a:solidFill>
                <a:effectLst/>
                <a:latin typeface="sans serif"/>
              </a:rPr>
              <a:t>世纪最重要的</a:t>
            </a:r>
            <a:r>
              <a:rPr lang="en-US" altLang="zh-CN" sz="1200" b="0" i="0" dirty="0">
                <a:solidFill>
                  <a:srgbClr val="FF0000"/>
                </a:solidFill>
                <a:effectLst/>
                <a:latin typeface="sans serif"/>
              </a:rPr>
              <a:t>12</a:t>
            </a:r>
            <a:r>
              <a:rPr lang="zh-CN" altLang="en-US" sz="1200" b="0" i="0" dirty="0">
                <a:solidFill>
                  <a:srgbClr val="FF0000"/>
                </a:solidFill>
                <a:effectLst/>
                <a:latin typeface="sans serif"/>
              </a:rPr>
              <a:t>本物理科学类专著之一</a:t>
            </a:r>
            <a:r>
              <a:rPr lang="zh-CN" altLang="en-US" sz="1200" b="0" i="0" dirty="0">
                <a:solidFill>
                  <a:srgbClr val="000000"/>
                </a:solidFill>
                <a:effectLst/>
                <a:latin typeface="sans serif"/>
              </a:rPr>
              <a:t>，与爱因斯坦</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相对论</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、狄拉克</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量子力学</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、理查</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费曼</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量子电动力学</a:t>
            </a:r>
            <a:r>
              <a:rPr lang="en-US" altLang="zh-CN" sz="1200" b="0" i="0" dirty="0">
                <a:solidFill>
                  <a:srgbClr val="000000"/>
                </a:solidFill>
                <a:effectLst/>
                <a:latin typeface="sans serif"/>
              </a:rPr>
              <a:t>》</a:t>
            </a:r>
            <a:r>
              <a:rPr lang="zh-CN" altLang="en-US" sz="1200" b="0" i="0" dirty="0">
                <a:solidFill>
                  <a:srgbClr val="000000"/>
                </a:solidFill>
                <a:effectLst/>
                <a:latin typeface="sans serif"/>
              </a:rPr>
              <a:t>等经典比肩而立。</a:t>
            </a:r>
            <a:endParaRPr lang="zh-CN" altLang="en-US" sz="1200" dirty="0"/>
          </a:p>
        </p:txBody>
      </p:sp>
    </p:spTree>
    <p:extLst>
      <p:ext uri="{BB962C8B-B14F-4D97-AF65-F5344CB8AC3E}">
        <p14:creationId xmlns:p14="http://schemas.microsoft.com/office/powerpoint/2010/main" val="214039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6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67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6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51520" y="0"/>
            <a:ext cx="5328592" cy="857250"/>
          </a:xfrm>
        </p:spPr>
        <p:txBody>
          <a:bodyPr/>
          <a:lstStyle/>
          <a:p>
            <a:pPr eaLnBrk="1" hangingPunct="1"/>
            <a:r>
              <a:rPr kumimoji="1" lang="zh-CN" altLang="en-US" b="1" dirty="0">
                <a:solidFill>
                  <a:srgbClr val="CC0099"/>
                </a:solidFill>
                <a:latin typeface="Times New Roman" pitchFamily="18" charset="0"/>
                <a:ea typeface="隶书" pitchFamily="49" charset="-122"/>
              </a:rPr>
              <a:t>属性文法</a:t>
            </a:r>
          </a:p>
        </p:txBody>
      </p:sp>
      <p:sp>
        <p:nvSpPr>
          <p:cNvPr id="123907" name="Rectangle 3"/>
          <p:cNvSpPr>
            <a:spLocks noGrp="1" noChangeArrowheads="1"/>
          </p:cNvSpPr>
          <p:nvPr>
            <p:ph type="body" idx="1"/>
          </p:nvPr>
        </p:nvSpPr>
        <p:spPr>
          <a:xfrm>
            <a:off x="323528" y="689672"/>
            <a:ext cx="5256584" cy="4103260"/>
          </a:xfrm>
          <a:solidFill>
            <a:schemeClr val="bg1"/>
          </a:solidFill>
          <a:ln w="28575">
            <a:solidFill>
              <a:srgbClr val="0000FF"/>
            </a:solidFill>
            <a:miter lim="800000"/>
            <a:headEnd/>
            <a:tailEnd/>
          </a:ln>
        </p:spPr>
        <p:txBody>
          <a:bodyPr>
            <a:normAutofit fontScale="85000" lnSpcReduction="20000"/>
          </a:bodyPr>
          <a:lstStyle/>
          <a:p>
            <a:pPr>
              <a:lnSpc>
                <a:spcPct val="120000"/>
              </a:lnSpc>
              <a:spcBef>
                <a:spcPts val="0"/>
              </a:spcBef>
            </a:pPr>
            <a:r>
              <a:rPr lang="zh-CN" altLang="zh-CN" dirty="0"/>
              <a:t>用来描述有关的语义信息及其语义的计算</a:t>
            </a:r>
            <a:r>
              <a:rPr lang="zh-CN" altLang="en-US" dirty="0"/>
              <a:t>规则</a:t>
            </a:r>
            <a:endParaRPr lang="en-US" altLang="zh-CN" dirty="0"/>
          </a:p>
          <a:p>
            <a:pPr>
              <a:lnSpc>
                <a:spcPct val="120000"/>
              </a:lnSpc>
              <a:spcBef>
                <a:spcPts val="0"/>
              </a:spcBef>
            </a:pPr>
            <a:r>
              <a:rPr lang="zh-CN" altLang="en-US" b="1" dirty="0">
                <a:solidFill>
                  <a:srgbClr val="0033CC"/>
                </a:solidFill>
              </a:rPr>
              <a:t>属性文法</a:t>
            </a:r>
            <a:r>
              <a:rPr lang="zh-CN" altLang="en-US" dirty="0"/>
              <a:t>：在上下文无关文法的基础上，为每个文法符号</a:t>
            </a:r>
            <a:r>
              <a:rPr lang="en-US" altLang="zh-CN" dirty="0"/>
              <a:t>(</a:t>
            </a:r>
            <a:r>
              <a:rPr lang="zh-CN" altLang="en-US" dirty="0"/>
              <a:t>含终结符和非终结符</a:t>
            </a:r>
            <a:r>
              <a:rPr lang="en-US" altLang="zh-CN" dirty="0"/>
              <a:t>)</a:t>
            </a:r>
            <a:r>
              <a:rPr lang="zh-CN" altLang="en-US" dirty="0"/>
              <a:t>配备若干个</a:t>
            </a:r>
            <a:r>
              <a:rPr lang="zh-CN" altLang="en-US" b="1" dirty="0">
                <a:solidFill>
                  <a:srgbClr val="0033CC"/>
                </a:solidFill>
              </a:rPr>
              <a:t>属性</a:t>
            </a:r>
            <a:r>
              <a:rPr lang="en-US" altLang="zh-CN" b="1" dirty="0">
                <a:solidFill>
                  <a:srgbClr val="0033CC"/>
                </a:solidFill>
              </a:rPr>
              <a:t>,</a:t>
            </a:r>
            <a:r>
              <a:rPr lang="zh-CN" altLang="en-US" dirty="0"/>
              <a:t>对文法的每个产生式都配备了一组属性计算规则</a:t>
            </a:r>
            <a:r>
              <a:rPr lang="en-US" altLang="zh-CN" dirty="0"/>
              <a:t>(</a:t>
            </a:r>
            <a:r>
              <a:rPr lang="zh-CN" altLang="en-US" dirty="0"/>
              <a:t>称为</a:t>
            </a:r>
            <a:r>
              <a:rPr lang="zh-CN" altLang="en-US" b="1" dirty="0">
                <a:solidFill>
                  <a:srgbClr val="0033CC"/>
                </a:solidFill>
              </a:rPr>
              <a:t>语义规则</a:t>
            </a:r>
            <a:r>
              <a:rPr lang="en-US" altLang="zh-CN" dirty="0"/>
              <a:t>)</a:t>
            </a:r>
          </a:p>
          <a:p>
            <a:pPr>
              <a:lnSpc>
                <a:spcPct val="120000"/>
              </a:lnSpc>
              <a:spcBef>
                <a:spcPts val="0"/>
              </a:spcBef>
            </a:pPr>
            <a:r>
              <a:rPr lang="zh-CN" altLang="en-US" b="1" dirty="0">
                <a:solidFill>
                  <a:srgbClr val="0033CC"/>
                </a:solidFill>
              </a:rPr>
              <a:t>属性</a:t>
            </a:r>
            <a:r>
              <a:rPr lang="zh-CN" altLang="en-US" dirty="0"/>
              <a:t>：与文法符号相关的信息，如类型、值、代码序列、符号表的内容等。可以进行计算和传递</a:t>
            </a:r>
            <a:endParaRPr lang="en-US" altLang="zh-CN" dirty="0"/>
          </a:p>
          <a:p>
            <a:pPr>
              <a:lnSpc>
                <a:spcPct val="120000"/>
              </a:lnSpc>
              <a:spcBef>
                <a:spcPts val="0"/>
              </a:spcBef>
            </a:pPr>
            <a:r>
              <a:rPr lang="zh-CN" altLang="en-US" dirty="0"/>
              <a:t>，属性的加工过程就是语义的处理过程</a:t>
            </a:r>
            <a:endParaRPr lang="en-US" altLang="zh-CN" dirty="0"/>
          </a:p>
          <a:p>
            <a:pPr>
              <a:lnSpc>
                <a:spcPct val="120000"/>
              </a:lnSpc>
              <a:spcBef>
                <a:spcPts val="0"/>
              </a:spcBef>
            </a:pPr>
            <a:r>
              <a:rPr lang="zh-CN" altLang="en-US" b="1" dirty="0">
                <a:solidFill>
                  <a:srgbClr val="0033CC"/>
                </a:solidFill>
              </a:rPr>
              <a:t>语义规则</a:t>
            </a:r>
            <a:r>
              <a:rPr lang="en-US" altLang="zh-CN" b="1" dirty="0">
                <a:solidFill>
                  <a:srgbClr val="0033CC"/>
                </a:solidFill>
              </a:rPr>
              <a:t>:</a:t>
            </a:r>
            <a:r>
              <a:rPr lang="zh-CN" altLang="en-US" kern="0" dirty="0">
                <a:solidFill>
                  <a:srgbClr val="000000"/>
                </a:solidFill>
              </a:rPr>
              <a:t>对属性进行计算和传递的规则</a:t>
            </a:r>
            <a:endParaRPr lang="en-US" altLang="zh-CN" kern="0" dirty="0">
              <a:solidFill>
                <a:srgbClr val="000000"/>
              </a:solidFill>
            </a:endParaRPr>
          </a:p>
          <a:p>
            <a:pPr>
              <a:lnSpc>
                <a:spcPct val="120000"/>
              </a:lnSpc>
              <a:spcBef>
                <a:spcPts val="0"/>
              </a:spcBef>
            </a:pPr>
            <a:r>
              <a:rPr lang="zh-CN" altLang="en-US" sz="2400" dirty="0">
                <a:latin typeface="宋体" pitchFamily="2" charset="-122"/>
              </a:rPr>
              <a:t>在语法分析过程中，完成语义规则所描述的动作，从而实现语义处理。</a:t>
            </a:r>
          </a:p>
          <a:p>
            <a:pPr eaLnBrk="1" hangingPunct="1">
              <a:lnSpc>
                <a:spcPct val="120000"/>
              </a:lnSpc>
              <a:spcBef>
                <a:spcPts val="0"/>
              </a:spcBef>
            </a:pPr>
            <a:endParaRPr lang="zh-CN" altLang="en-US" sz="2400" dirty="0"/>
          </a:p>
        </p:txBody>
      </p:sp>
      <p:sp>
        <p:nvSpPr>
          <p:cNvPr id="4" name="Rectangle 5"/>
          <p:cNvSpPr>
            <a:spLocks noChangeArrowheads="1"/>
          </p:cNvSpPr>
          <p:nvPr/>
        </p:nvSpPr>
        <p:spPr bwMode="auto">
          <a:xfrm>
            <a:off x="5796136" y="771550"/>
            <a:ext cx="1685077" cy="1754326"/>
          </a:xfrm>
          <a:prstGeom prst="rect">
            <a:avLst/>
          </a:prstGeom>
          <a:ln/>
        </p:spPr>
        <p:style>
          <a:lnRef idx="1">
            <a:schemeClr val="dk1"/>
          </a:lnRef>
          <a:fillRef idx="2">
            <a:schemeClr val="dk1"/>
          </a:fillRef>
          <a:effectRef idx="1">
            <a:schemeClr val="dk1"/>
          </a:effectRef>
          <a:fontRef idx="minor">
            <a:schemeClr val="dk1"/>
          </a:fontRef>
        </p:style>
        <p:txBody>
          <a:bodyPr wrap="none" anchor="ctr">
            <a:spAutoFit/>
          </a:bodyPr>
          <a:lstStyle/>
          <a:p>
            <a:pPr>
              <a:lnSpc>
                <a:spcPct val="100000"/>
              </a:lnSpc>
              <a:spcBef>
                <a:spcPct val="0"/>
              </a:spcBef>
              <a:buFontTx/>
              <a:buNone/>
              <a:defRPr/>
            </a:pPr>
            <a:r>
              <a:rPr lang="zh-CN" altLang="fr-FR" dirty="0"/>
              <a:t>（</a:t>
            </a:r>
            <a:r>
              <a:rPr lang="fr-FR" altLang="zh-CN" dirty="0"/>
              <a:t>1</a:t>
            </a:r>
            <a:r>
              <a:rPr lang="zh-CN" altLang="fr-FR" dirty="0"/>
              <a:t>）</a:t>
            </a:r>
            <a:r>
              <a:rPr lang="fr-FR" altLang="zh-CN" dirty="0"/>
              <a:t>E→E</a:t>
            </a:r>
            <a:r>
              <a:rPr lang="fr-FR" altLang="zh-CN" baseline="-25000" dirty="0"/>
              <a:t>1</a:t>
            </a:r>
            <a:r>
              <a:rPr lang="fr-FR" altLang="zh-CN" dirty="0"/>
              <a:t>+T</a:t>
            </a:r>
          </a:p>
          <a:p>
            <a:pPr>
              <a:lnSpc>
                <a:spcPct val="100000"/>
              </a:lnSpc>
              <a:spcBef>
                <a:spcPct val="0"/>
              </a:spcBef>
              <a:buFontTx/>
              <a:buNone/>
              <a:defRPr/>
            </a:pPr>
            <a:r>
              <a:rPr lang="zh-CN" altLang="fr-FR" dirty="0"/>
              <a:t>（</a:t>
            </a:r>
            <a:r>
              <a:rPr lang="fr-FR" altLang="zh-CN" dirty="0"/>
              <a:t>2</a:t>
            </a:r>
            <a:r>
              <a:rPr lang="zh-CN" altLang="fr-FR" dirty="0"/>
              <a:t>）</a:t>
            </a:r>
            <a:r>
              <a:rPr lang="fr-FR" altLang="zh-CN" dirty="0"/>
              <a:t>E→T</a:t>
            </a:r>
          </a:p>
          <a:p>
            <a:pPr>
              <a:lnSpc>
                <a:spcPct val="100000"/>
              </a:lnSpc>
              <a:spcBef>
                <a:spcPct val="0"/>
              </a:spcBef>
              <a:buFontTx/>
              <a:buNone/>
              <a:defRPr/>
            </a:pPr>
            <a:r>
              <a:rPr lang="zh-CN" altLang="fr-FR" dirty="0"/>
              <a:t>（</a:t>
            </a:r>
            <a:r>
              <a:rPr lang="fr-FR" altLang="zh-CN" dirty="0"/>
              <a:t>3</a:t>
            </a:r>
            <a:r>
              <a:rPr lang="zh-CN" altLang="fr-FR" dirty="0"/>
              <a:t>）</a:t>
            </a:r>
            <a:r>
              <a:rPr lang="fr-FR" altLang="zh-CN" dirty="0"/>
              <a:t>T→T</a:t>
            </a:r>
            <a:r>
              <a:rPr lang="fr-FR" altLang="zh-CN" baseline="-25000" dirty="0"/>
              <a:t>1</a:t>
            </a:r>
            <a:r>
              <a:rPr lang="fr-FR" altLang="zh-CN" dirty="0"/>
              <a:t>*F</a:t>
            </a:r>
          </a:p>
          <a:p>
            <a:pPr>
              <a:lnSpc>
                <a:spcPct val="100000"/>
              </a:lnSpc>
              <a:spcBef>
                <a:spcPct val="0"/>
              </a:spcBef>
              <a:buFontTx/>
              <a:buNone/>
              <a:defRPr/>
            </a:pPr>
            <a:r>
              <a:rPr lang="zh-CN" altLang="fr-FR" dirty="0"/>
              <a:t>（</a:t>
            </a:r>
            <a:r>
              <a:rPr lang="fr-FR" altLang="zh-CN" dirty="0"/>
              <a:t>4</a:t>
            </a:r>
            <a:r>
              <a:rPr lang="zh-CN" altLang="fr-FR" dirty="0"/>
              <a:t>）</a:t>
            </a:r>
            <a:r>
              <a:rPr lang="fr-FR" altLang="zh-CN" dirty="0"/>
              <a:t>T→F</a:t>
            </a:r>
          </a:p>
          <a:p>
            <a:pPr>
              <a:lnSpc>
                <a:spcPct val="100000"/>
              </a:lnSpc>
              <a:spcBef>
                <a:spcPct val="0"/>
              </a:spcBef>
              <a:buFontTx/>
              <a:buNone/>
              <a:defRPr/>
            </a:pPr>
            <a:r>
              <a:rPr lang="zh-CN" altLang="fr-FR" dirty="0"/>
              <a:t>（</a:t>
            </a:r>
            <a:r>
              <a:rPr lang="fr-FR" altLang="zh-CN" dirty="0"/>
              <a:t>5</a:t>
            </a:r>
            <a:r>
              <a:rPr lang="zh-CN" altLang="fr-FR" dirty="0"/>
              <a:t>）</a:t>
            </a:r>
            <a:r>
              <a:rPr lang="fr-FR" altLang="zh-CN" dirty="0"/>
              <a:t>F→(E)</a:t>
            </a:r>
          </a:p>
          <a:p>
            <a:pPr>
              <a:lnSpc>
                <a:spcPct val="100000"/>
              </a:lnSpc>
              <a:spcBef>
                <a:spcPct val="0"/>
              </a:spcBef>
              <a:buFontTx/>
              <a:buNone/>
              <a:defRPr/>
            </a:pPr>
            <a:r>
              <a:rPr lang="zh-CN" altLang="fr-FR" dirty="0"/>
              <a:t>（</a:t>
            </a:r>
            <a:r>
              <a:rPr lang="fr-FR" altLang="zh-CN" dirty="0"/>
              <a:t>6</a:t>
            </a:r>
            <a:r>
              <a:rPr lang="zh-CN" altLang="fr-FR" dirty="0"/>
              <a:t>）</a:t>
            </a:r>
            <a:r>
              <a:rPr lang="fr-FR" altLang="zh-CN" dirty="0"/>
              <a:t>F→</a:t>
            </a:r>
            <a:r>
              <a:rPr lang="en-US" altLang="zh-CN" dirty="0" err="1"/>
              <a:t>i</a:t>
            </a:r>
            <a:endParaRPr lang="fr-FR" altLang="zh-CN" dirty="0"/>
          </a:p>
        </p:txBody>
      </p:sp>
      <p:sp>
        <p:nvSpPr>
          <p:cNvPr id="2" name="线形标注 1(带边框和强调线) 1"/>
          <p:cNvSpPr/>
          <p:nvPr/>
        </p:nvSpPr>
        <p:spPr>
          <a:xfrm>
            <a:off x="6278634" y="2948061"/>
            <a:ext cx="720080" cy="504056"/>
          </a:xfrm>
          <a:prstGeom prst="accentBorderCallout1">
            <a:avLst>
              <a:gd name="adj1" fmla="val 18750"/>
              <a:gd name="adj2" fmla="val -8333"/>
              <a:gd name="adj3" fmla="val -108860"/>
              <a:gd name="adj4" fmla="val 41214"/>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err="1"/>
              <a:t>F.val</a:t>
            </a:r>
            <a:endParaRPr lang="zh-CN" altLang="en-US" dirty="0"/>
          </a:p>
        </p:txBody>
      </p:sp>
      <p:sp>
        <p:nvSpPr>
          <p:cNvPr id="3" name="TextBox 2"/>
          <p:cNvSpPr txBox="1"/>
          <p:nvPr/>
        </p:nvSpPr>
        <p:spPr>
          <a:xfrm>
            <a:off x="5652120" y="3651870"/>
            <a:ext cx="3491880" cy="646331"/>
          </a:xfrm>
          <a:prstGeom prst="rect">
            <a:avLst/>
          </a:prstGeom>
          <a:noFill/>
        </p:spPr>
        <p:txBody>
          <a:bodyPr wrap="square" rtlCol="0">
            <a:spAutoFit/>
          </a:bodyPr>
          <a:lstStyle/>
          <a:p>
            <a:r>
              <a:rPr lang="zh-CN" altLang="en-US" dirty="0"/>
              <a:t>词法分析的结果是二元形式：</a:t>
            </a:r>
            <a:endParaRPr lang="en-US" altLang="zh-CN" dirty="0"/>
          </a:p>
          <a:p>
            <a:r>
              <a:rPr lang="en-US" altLang="zh-CN" dirty="0">
                <a:solidFill>
                  <a:srgbClr val="FF0000"/>
                </a:solidFill>
              </a:rPr>
              <a:t>(</a:t>
            </a:r>
            <a:r>
              <a:rPr lang="zh-CN" altLang="en-US" dirty="0">
                <a:solidFill>
                  <a:srgbClr val="FF0000"/>
                </a:solidFill>
              </a:rPr>
              <a:t>单词的种别码，单词自身的值</a:t>
            </a:r>
            <a:r>
              <a:rPr lang="en-US" altLang="zh-CN" dirty="0">
                <a:solidFill>
                  <a:srgbClr val="FF0000"/>
                </a:solidFill>
              </a:rPr>
              <a:t>)</a:t>
            </a:r>
            <a:endParaRPr lang="zh-CN" altLang="en-US" dirty="0">
              <a:solidFill>
                <a:srgbClr val="FF0000"/>
              </a:solidFill>
            </a:endParaRPr>
          </a:p>
        </p:txBody>
      </p:sp>
      <p:sp>
        <p:nvSpPr>
          <p:cNvPr id="8" name="线形标注 1(带边框和强调线) 7"/>
          <p:cNvSpPr/>
          <p:nvPr/>
        </p:nvSpPr>
        <p:spPr>
          <a:xfrm>
            <a:off x="5724128" y="4540904"/>
            <a:ext cx="1673932" cy="504056"/>
          </a:xfrm>
          <a:prstGeom prst="accentBorderCallout1">
            <a:avLst>
              <a:gd name="adj1" fmla="val 5397"/>
              <a:gd name="adj2" fmla="val 521"/>
              <a:gd name="adj3" fmla="val -77124"/>
              <a:gd name="adj4" fmla="val 8771"/>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t>语法分析使用</a:t>
            </a:r>
          </a:p>
        </p:txBody>
      </p:sp>
      <p:sp>
        <p:nvSpPr>
          <p:cNvPr id="9" name="线形标注 1(带边框和强调线) 8"/>
          <p:cNvSpPr/>
          <p:nvPr/>
        </p:nvSpPr>
        <p:spPr>
          <a:xfrm>
            <a:off x="7596336" y="4515966"/>
            <a:ext cx="1584176" cy="504056"/>
          </a:xfrm>
          <a:prstGeom prst="accentBorderCallout1">
            <a:avLst>
              <a:gd name="adj1" fmla="val 5397"/>
              <a:gd name="adj2" fmla="val 521"/>
              <a:gd name="adj3" fmla="val -77124"/>
              <a:gd name="adj4" fmla="val 8771"/>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t>语义分析使用</a:t>
            </a:r>
          </a:p>
        </p:txBody>
      </p:sp>
      <p:sp>
        <p:nvSpPr>
          <p:cNvPr id="10" name="线形标注 1(带边框和强调线) 9"/>
          <p:cNvSpPr/>
          <p:nvPr/>
        </p:nvSpPr>
        <p:spPr>
          <a:xfrm>
            <a:off x="7740352" y="2871395"/>
            <a:ext cx="1131097" cy="504056"/>
          </a:xfrm>
          <a:prstGeom prst="accentBorderCallout1">
            <a:avLst>
              <a:gd name="adj1" fmla="val 18750"/>
              <a:gd name="adj2" fmla="val -8333"/>
              <a:gd name="adj3" fmla="val -88423"/>
              <a:gd name="adj4" fmla="val -76948"/>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err="1"/>
              <a:t>i.lexval</a:t>
            </a:r>
            <a:endParaRPr lang="zh-CN" altLang="en-US" dirty="0"/>
          </a:p>
        </p:txBody>
      </p:sp>
      <p:sp>
        <p:nvSpPr>
          <p:cNvPr id="5" name="TextBox 4"/>
          <p:cNvSpPr txBox="1"/>
          <p:nvPr/>
        </p:nvSpPr>
        <p:spPr>
          <a:xfrm>
            <a:off x="6948264" y="2141810"/>
            <a:ext cx="2069766" cy="369332"/>
          </a:xfrm>
          <a:prstGeom prst="rect">
            <a:avLst/>
          </a:prstGeom>
          <a:solidFill>
            <a:srgbClr val="92D050"/>
          </a:solidFill>
        </p:spPr>
        <p:txBody>
          <a:bodyPr wrap="square" rtlCol="0">
            <a:spAutoFit/>
          </a:bodyPr>
          <a:lstStyle/>
          <a:p>
            <a:r>
              <a:rPr lang="en-US" altLang="zh-CN" dirty="0"/>
              <a:t>{</a:t>
            </a:r>
            <a:r>
              <a:rPr lang="en-US" altLang="zh-CN" dirty="0" err="1"/>
              <a:t>F.val</a:t>
            </a:r>
            <a:r>
              <a:rPr lang="en-US" altLang="zh-CN" dirty="0"/>
              <a:t> = </a:t>
            </a:r>
            <a:r>
              <a:rPr lang="en-US" altLang="zh-CN" dirty="0" err="1"/>
              <a:t>i.lexval</a:t>
            </a:r>
            <a:r>
              <a:rPr lang="en-US" altLang="zh-CN" dirty="0"/>
              <a:t> }</a:t>
            </a:r>
            <a:endParaRPr lang="zh-CN" altLang="en-US" dirty="0"/>
          </a:p>
        </p:txBody>
      </p:sp>
    </p:spTree>
    <p:extLst>
      <p:ext uri="{BB962C8B-B14F-4D97-AF65-F5344CB8AC3E}">
        <p14:creationId xmlns:p14="http://schemas.microsoft.com/office/powerpoint/2010/main" val="41109839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39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39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23907">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23907">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23907">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23907">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uiExpand="1" build="p" autoUpdateAnimBg="0"/>
      <p:bldP spid="4" grpId="0" animBg="1"/>
      <p:bldP spid="2" grpId="0" animBg="1"/>
      <p:bldP spid="3" grpId="0"/>
      <p:bldP spid="8" grpId="0" animBg="1"/>
      <p:bldP spid="9" grpId="0" animBg="1"/>
      <p:bldP spid="10" grpId="0" animBg="1"/>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1026"/>
          <p:cNvSpPr>
            <a:spLocks noGrp="1" noChangeArrowheads="1"/>
          </p:cNvSpPr>
          <p:nvPr>
            <p:ph type="title"/>
          </p:nvPr>
        </p:nvSpPr>
        <p:spPr>
          <a:xfrm>
            <a:off x="457200" y="205977"/>
            <a:ext cx="8229600" cy="394097"/>
          </a:xfrm>
        </p:spPr>
        <p:txBody>
          <a:bodyPr>
            <a:normAutofit fontScale="90000"/>
          </a:bodyPr>
          <a:lstStyle/>
          <a:p>
            <a:pPr eaLnBrk="1" hangingPunct="1"/>
            <a:r>
              <a:rPr lang="zh-CN" altLang="en-US" dirty="0"/>
              <a:t>综合属性和继承属性</a:t>
            </a:r>
            <a:endParaRPr lang="zh-CN" altLang="zh-CN" dirty="0"/>
          </a:p>
        </p:txBody>
      </p:sp>
      <p:sp>
        <p:nvSpPr>
          <p:cNvPr id="125955" name="Rectangle 1027"/>
          <p:cNvSpPr>
            <a:spLocks noGrp="1" noChangeArrowheads="1"/>
          </p:cNvSpPr>
          <p:nvPr>
            <p:ph type="body" idx="1"/>
          </p:nvPr>
        </p:nvSpPr>
        <p:spPr>
          <a:xfrm>
            <a:off x="323528" y="880416"/>
            <a:ext cx="5283695" cy="4067597"/>
          </a:xfrm>
        </p:spPr>
        <p:style>
          <a:lnRef idx="2">
            <a:schemeClr val="accent4"/>
          </a:lnRef>
          <a:fillRef idx="1">
            <a:schemeClr val="lt1"/>
          </a:fillRef>
          <a:effectRef idx="0">
            <a:schemeClr val="accent4"/>
          </a:effectRef>
          <a:fontRef idx="minor">
            <a:schemeClr val="dk1"/>
          </a:fontRef>
        </p:style>
        <p:txBody>
          <a:bodyPr>
            <a:normAutofit fontScale="92500" lnSpcReduction="10000"/>
          </a:bodyPr>
          <a:lstStyle/>
          <a:p>
            <a:pPr eaLnBrk="1" hangingPunct="1"/>
            <a:r>
              <a:rPr lang="zh-CN" altLang="en-US" sz="2800" dirty="0"/>
              <a:t>属性分两类：</a:t>
            </a:r>
          </a:p>
          <a:p>
            <a:pPr lvl="1" eaLnBrk="1" hangingPunct="1"/>
            <a:r>
              <a:rPr lang="zh-CN" altLang="en-US" sz="2400" dirty="0"/>
              <a:t>综合属性：</a:t>
            </a:r>
            <a:endParaRPr lang="en-US" altLang="zh-CN" sz="2400" dirty="0"/>
          </a:p>
          <a:p>
            <a:pPr lvl="2"/>
            <a:r>
              <a:rPr lang="en-US" altLang="zh-CN" dirty="0"/>
              <a:t>b</a:t>
            </a:r>
            <a:r>
              <a:rPr lang="zh-CN" altLang="zh-CN" dirty="0"/>
              <a:t>是</a:t>
            </a:r>
            <a:r>
              <a:rPr lang="en-US" altLang="zh-CN" dirty="0"/>
              <a:t>A</a:t>
            </a:r>
            <a:r>
              <a:rPr lang="zh-CN" altLang="zh-CN" dirty="0"/>
              <a:t>的一个属性，且</a:t>
            </a:r>
            <a:r>
              <a:rPr lang="en-US" altLang="zh-CN" dirty="0"/>
              <a:t>c</a:t>
            </a:r>
            <a:r>
              <a:rPr lang="en-US" altLang="zh-CN" baseline="-25000" dirty="0"/>
              <a:t>1</a:t>
            </a:r>
            <a:r>
              <a:rPr lang="zh-CN" altLang="zh-CN" dirty="0"/>
              <a:t>、</a:t>
            </a:r>
            <a:r>
              <a:rPr lang="en-US" altLang="zh-CN" dirty="0"/>
              <a:t>c</a:t>
            </a:r>
            <a:r>
              <a:rPr lang="en-US" altLang="zh-CN" baseline="-25000" dirty="0"/>
              <a:t>2</a:t>
            </a:r>
            <a:r>
              <a:rPr lang="zh-CN" altLang="zh-CN" dirty="0"/>
              <a:t>、…、</a:t>
            </a:r>
            <a:r>
              <a:rPr lang="en-US" altLang="zh-CN" dirty="0" err="1"/>
              <a:t>c</a:t>
            </a:r>
            <a:r>
              <a:rPr lang="en-US" altLang="zh-CN" baseline="-25000" dirty="0" err="1"/>
              <a:t>k</a:t>
            </a:r>
            <a:r>
              <a:rPr lang="zh-CN" altLang="zh-CN" dirty="0"/>
              <a:t>是产生式右部文法符号α的属性，或者是</a:t>
            </a:r>
            <a:r>
              <a:rPr lang="en-US" altLang="zh-CN" dirty="0"/>
              <a:t>A</a:t>
            </a:r>
            <a:r>
              <a:rPr lang="zh-CN" altLang="zh-CN" dirty="0"/>
              <a:t>的其他属性</a:t>
            </a:r>
            <a:endParaRPr lang="en-US" altLang="zh-CN" dirty="0"/>
          </a:p>
          <a:p>
            <a:pPr lvl="2"/>
            <a:r>
              <a:rPr lang="zh-CN" altLang="en-US" dirty="0"/>
              <a:t>直观上看，通过右部计算左部符号的属性</a:t>
            </a:r>
          </a:p>
          <a:p>
            <a:pPr lvl="1" eaLnBrk="1" hangingPunct="1"/>
            <a:r>
              <a:rPr lang="zh-CN" altLang="en-US" sz="2400" dirty="0"/>
              <a:t>继承属性：</a:t>
            </a:r>
            <a:endParaRPr lang="en-US" altLang="zh-CN" sz="2400" dirty="0"/>
          </a:p>
          <a:p>
            <a:pPr lvl="2"/>
            <a:r>
              <a:rPr lang="en-US" altLang="zh-CN" dirty="0"/>
              <a:t>b</a:t>
            </a:r>
            <a:r>
              <a:rPr lang="zh-CN" altLang="zh-CN" dirty="0"/>
              <a:t>是产生式右部某个文法符号</a:t>
            </a:r>
            <a:r>
              <a:rPr lang="en-US" altLang="zh-CN" dirty="0"/>
              <a:t>X</a:t>
            </a:r>
            <a:r>
              <a:rPr lang="zh-CN" altLang="zh-CN" dirty="0"/>
              <a:t>的一个属性，</a:t>
            </a:r>
            <a:r>
              <a:rPr lang="en-US" altLang="zh-CN" dirty="0"/>
              <a:t>c</a:t>
            </a:r>
            <a:r>
              <a:rPr lang="en-US" altLang="zh-CN" baseline="-25000" dirty="0"/>
              <a:t>1</a:t>
            </a:r>
            <a:r>
              <a:rPr lang="zh-CN" altLang="zh-CN" dirty="0"/>
              <a:t>、</a:t>
            </a:r>
            <a:r>
              <a:rPr lang="en-US" altLang="zh-CN" dirty="0"/>
              <a:t>c</a:t>
            </a:r>
            <a:r>
              <a:rPr lang="en-US" altLang="zh-CN" baseline="-25000" dirty="0"/>
              <a:t>2</a:t>
            </a:r>
            <a:r>
              <a:rPr lang="zh-CN" altLang="zh-CN" dirty="0"/>
              <a:t>、…、</a:t>
            </a:r>
            <a:r>
              <a:rPr lang="en-US" altLang="zh-CN" dirty="0" err="1"/>
              <a:t>c</a:t>
            </a:r>
            <a:r>
              <a:rPr lang="en-US" altLang="zh-CN" baseline="-25000" dirty="0" err="1"/>
              <a:t>k</a:t>
            </a:r>
            <a:r>
              <a:rPr lang="zh-CN" altLang="zh-CN" dirty="0"/>
              <a:t>是</a:t>
            </a:r>
            <a:r>
              <a:rPr lang="en-US" altLang="zh-CN" dirty="0"/>
              <a:t>A</a:t>
            </a:r>
            <a:r>
              <a:rPr lang="zh-CN" altLang="zh-CN" dirty="0"/>
              <a:t>或产生式右部任何文法符号的属性</a:t>
            </a:r>
            <a:r>
              <a:rPr lang="zh-CN" altLang="en-US" dirty="0"/>
              <a:t>值</a:t>
            </a:r>
            <a:endParaRPr lang="en-US" altLang="zh-CN" dirty="0"/>
          </a:p>
          <a:p>
            <a:pPr lvl="2"/>
            <a:r>
              <a:rPr lang="zh-CN" altLang="en-US" sz="2400" dirty="0"/>
              <a:t>直观上看，通过左部计算右部符号的属性值</a:t>
            </a:r>
          </a:p>
        </p:txBody>
      </p:sp>
      <p:sp>
        <p:nvSpPr>
          <p:cNvPr id="4" name="矩形 3"/>
          <p:cNvSpPr/>
          <p:nvPr/>
        </p:nvSpPr>
        <p:spPr>
          <a:xfrm>
            <a:off x="6084168" y="1615017"/>
            <a:ext cx="2584362" cy="830997"/>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2400" dirty="0"/>
              <a:t>A</a:t>
            </a:r>
            <a:r>
              <a:rPr lang="zh-CN" altLang="zh-CN" sz="2400" dirty="0"/>
              <a:t>→α</a:t>
            </a:r>
            <a:endParaRPr lang="en-US" altLang="zh-CN" sz="2400" dirty="0"/>
          </a:p>
          <a:p>
            <a:r>
              <a:rPr lang="en-US" altLang="zh-CN" sz="2400" dirty="0"/>
              <a:t>b = f(c</a:t>
            </a:r>
            <a:r>
              <a:rPr lang="en-US" altLang="zh-CN" sz="2400" baseline="-25000" dirty="0"/>
              <a:t>1</a:t>
            </a:r>
            <a:r>
              <a:rPr lang="en-US" altLang="zh-CN" sz="2400" dirty="0"/>
              <a:t>,c</a:t>
            </a:r>
            <a:r>
              <a:rPr lang="en-US" altLang="zh-CN" sz="2400" baseline="-25000" dirty="0"/>
              <a:t>2</a:t>
            </a:r>
            <a:r>
              <a:rPr lang="en-US" altLang="zh-CN" sz="2400" dirty="0"/>
              <a:t>,</a:t>
            </a:r>
            <a:r>
              <a:rPr lang="zh-CN" altLang="zh-CN" sz="2400" dirty="0"/>
              <a:t>…</a:t>
            </a:r>
            <a:r>
              <a:rPr lang="en-US" altLang="zh-CN" sz="2400" dirty="0"/>
              <a:t>,</a:t>
            </a:r>
            <a:r>
              <a:rPr lang="en-US" altLang="zh-CN" sz="2400" dirty="0" err="1"/>
              <a:t>c</a:t>
            </a:r>
            <a:r>
              <a:rPr lang="en-US" altLang="zh-CN" sz="2400" baseline="-25000" dirty="0" err="1"/>
              <a:t>k</a:t>
            </a:r>
            <a:r>
              <a:rPr lang="en-US" altLang="zh-CN" sz="2400" dirty="0"/>
              <a:t>)</a:t>
            </a:r>
          </a:p>
        </p:txBody>
      </p:sp>
      <p:sp>
        <p:nvSpPr>
          <p:cNvPr id="6" name="矩形 5"/>
          <p:cNvSpPr/>
          <p:nvPr/>
        </p:nvSpPr>
        <p:spPr>
          <a:xfrm>
            <a:off x="6263030" y="2569815"/>
            <a:ext cx="1837362" cy="461665"/>
          </a:xfrm>
          <a:prstGeom prst="rect">
            <a:avLst/>
          </a:prstGeom>
        </p:spPr>
        <p:txBody>
          <a:bodyPr wrap="none">
            <a:spAutoFit/>
          </a:bodyPr>
          <a:lstStyle/>
          <a:p>
            <a:pPr lvl="0"/>
            <a:r>
              <a:rPr lang="en-US" altLang="zh-CN" sz="2400" dirty="0">
                <a:solidFill>
                  <a:prstClr val="black"/>
                </a:solidFill>
              </a:rPr>
              <a:t>f</a:t>
            </a:r>
            <a:r>
              <a:rPr lang="zh-CN" altLang="en-US" sz="2400" dirty="0">
                <a:solidFill>
                  <a:prstClr val="black"/>
                </a:solidFill>
              </a:rPr>
              <a:t>是一个函数</a:t>
            </a:r>
          </a:p>
        </p:txBody>
      </p:sp>
      <p:cxnSp>
        <p:nvCxnSpPr>
          <p:cNvPr id="8" name="直接箭头连接符 7"/>
          <p:cNvCxnSpPr/>
          <p:nvPr/>
        </p:nvCxnSpPr>
        <p:spPr>
          <a:xfrm flipH="1" flipV="1">
            <a:off x="6084168" y="2569815"/>
            <a:ext cx="2584362" cy="1"/>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084168" y="2571750"/>
            <a:ext cx="2584362"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9115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59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59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595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25955">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25955">
                                            <p:txEl>
                                              <p:pRg st="3" end="3"/>
                                            </p:txEl>
                                          </p:spTgt>
                                        </p:tgtEl>
                                        <p:attrNameLst>
                                          <p:attrName>style.visibility</p:attrName>
                                        </p:attrNameLst>
                                      </p:cBhvr>
                                      <p:to>
                                        <p:strVal val="visible"/>
                                      </p:to>
                                    </p:set>
                                  </p:childTnLst>
                                </p:cTn>
                              </p:par>
                              <p:par>
                                <p:cTn id="29" presetID="22" presetClass="entr" presetSubtype="2"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right)">
                                      <p:cBhvr>
                                        <p:cTn id="31" dur="10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nodeType="clickEffect">
                                  <p:stCondLst>
                                    <p:cond delay="0"/>
                                  </p:stCondLst>
                                  <p:childTnLst>
                                    <p:set>
                                      <p:cBhvr>
                                        <p:cTn id="35" dur="1" fill="hold">
                                          <p:stCondLst>
                                            <p:cond delay="0"/>
                                          </p:stCondLst>
                                        </p:cTn>
                                        <p:tgtEl>
                                          <p:spTgt spid="8"/>
                                        </p:tgtEl>
                                        <p:attrNameLst>
                                          <p:attrName>style.visibility</p:attrName>
                                        </p:attrNameLst>
                                      </p:cBhvr>
                                      <p:to>
                                        <p:strVal val="hidden"/>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499"/>
                                          </p:stCondLst>
                                        </p:cTn>
                                        <p:tgtEl>
                                          <p:spTgt spid="125955">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25955">
                                            <p:txEl>
                                              <p:pRg st="6" end="6"/>
                                            </p:txEl>
                                          </p:spTgt>
                                        </p:tgtEl>
                                        <p:attrNameLst>
                                          <p:attrName>style.visibility</p:attrName>
                                        </p:attrNameLst>
                                      </p:cBhvr>
                                      <p:to>
                                        <p:strVal val="visible"/>
                                      </p:to>
                                    </p:set>
                                  </p:childTnLst>
                                </p:cTn>
                              </p:par>
                              <p:par>
                                <p:cTn id="43" presetID="22" presetClass="entr" presetSubtype="8"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uiExpand="1" build="p" autoUpdateAnimBg="0"/>
      <p:bldP spid="4" grpId="0" animBg="1"/>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1026"/>
          <p:cNvSpPr>
            <a:spLocks noGrp="1" noChangeArrowheads="1"/>
          </p:cNvSpPr>
          <p:nvPr>
            <p:ph type="title"/>
          </p:nvPr>
        </p:nvSpPr>
        <p:spPr>
          <a:xfrm>
            <a:off x="457200" y="205978"/>
            <a:ext cx="8229600" cy="79772"/>
          </a:xfrm>
        </p:spPr>
        <p:txBody>
          <a:bodyPr>
            <a:normAutofit fontScale="90000"/>
          </a:bodyPr>
          <a:lstStyle/>
          <a:p>
            <a:pPr eaLnBrk="1" hangingPunct="1"/>
            <a:r>
              <a:rPr lang="zh-CN" altLang="en-US" dirty="0"/>
              <a:t>综合属性和继承属性</a:t>
            </a:r>
            <a:endParaRPr lang="zh-CN" altLang="zh-CN" dirty="0"/>
          </a:p>
        </p:txBody>
      </p:sp>
      <p:sp>
        <p:nvSpPr>
          <p:cNvPr id="125955" name="Rectangle 1027"/>
          <p:cNvSpPr>
            <a:spLocks noGrp="1" noChangeArrowheads="1"/>
          </p:cNvSpPr>
          <p:nvPr>
            <p:ph type="body" idx="1"/>
          </p:nvPr>
        </p:nvSpPr>
        <p:spPr>
          <a:xfrm>
            <a:off x="152401" y="457200"/>
            <a:ext cx="5572125" cy="4514850"/>
          </a:xfrm>
        </p:spPr>
        <p:txBody>
          <a:bodyPr/>
          <a:lstStyle/>
          <a:p>
            <a:pPr eaLnBrk="1" hangingPunct="1"/>
            <a:r>
              <a:rPr lang="zh-CN" altLang="en-US" sz="2800" dirty="0"/>
              <a:t>从语法树上看：</a:t>
            </a:r>
          </a:p>
          <a:p>
            <a:pPr lvl="1" eaLnBrk="1" hangingPunct="1"/>
            <a:r>
              <a:rPr lang="zh-CN" altLang="en-US" sz="2400" dirty="0"/>
              <a:t>综合属性：用于自下而上传递信息</a:t>
            </a:r>
          </a:p>
          <a:p>
            <a:pPr lvl="1" eaLnBrk="1" hangingPunct="1"/>
            <a:r>
              <a:rPr lang="zh-CN" altLang="en-US" sz="2400" dirty="0"/>
              <a:t>继承属性：用于自上而下传递信息</a:t>
            </a:r>
          </a:p>
          <a:p>
            <a:pPr eaLnBrk="1" hangingPunct="1"/>
            <a:r>
              <a:rPr lang="zh-CN" altLang="en-US" sz="2800" dirty="0"/>
              <a:t>注意：</a:t>
            </a:r>
          </a:p>
          <a:p>
            <a:pPr lvl="1" eaLnBrk="1" hangingPunct="1"/>
            <a:r>
              <a:rPr lang="zh-CN" altLang="en-US" sz="2400" dirty="0"/>
              <a:t>终结符只有综合属性，它由词法分析器提供；</a:t>
            </a:r>
          </a:p>
          <a:p>
            <a:pPr lvl="1" eaLnBrk="1" hangingPunct="1"/>
            <a:r>
              <a:rPr lang="zh-CN" altLang="en-US" sz="2400" dirty="0"/>
              <a:t>非终结符可有综合属性，也可有继承属性，它由词法分析器提供；</a:t>
            </a:r>
          </a:p>
          <a:p>
            <a:pPr lvl="1" eaLnBrk="1" hangingPunct="1"/>
            <a:r>
              <a:rPr lang="zh-CN" altLang="en-US" sz="2400" dirty="0"/>
              <a:t>文法的开始符号的所有继承属性作为属性计算前的初始值</a:t>
            </a:r>
          </a:p>
        </p:txBody>
      </p:sp>
      <p:pic>
        <p:nvPicPr>
          <p:cNvPr id="26628" name="Object 7" descr="npo0000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0164" y="457200"/>
            <a:ext cx="2763837"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nvGrpSpPr>
          <p:cNvPr id="2" name="Group 1034"/>
          <p:cNvGrpSpPr>
            <a:grpSpLocks/>
          </p:cNvGrpSpPr>
          <p:nvPr/>
        </p:nvGrpSpPr>
        <p:grpSpPr bwMode="auto">
          <a:xfrm>
            <a:off x="5562600" y="1028701"/>
            <a:ext cx="1295400" cy="3943350"/>
            <a:chOff x="3504" y="864"/>
            <a:chExt cx="816" cy="3312"/>
          </a:xfrm>
        </p:grpSpPr>
        <p:sp>
          <p:nvSpPr>
            <p:cNvPr id="26633" name="Line 1032"/>
            <p:cNvSpPr>
              <a:spLocks noChangeShapeType="1"/>
            </p:cNvSpPr>
            <p:nvPr/>
          </p:nvSpPr>
          <p:spPr bwMode="auto">
            <a:xfrm flipV="1">
              <a:off x="3888" y="864"/>
              <a:ext cx="0" cy="2928"/>
            </a:xfrm>
            <a:prstGeom prst="line">
              <a:avLst/>
            </a:prstGeom>
            <a:noFill/>
            <a:ln w="88900">
              <a:solidFill>
                <a:srgbClr val="FF3300"/>
              </a:solidFill>
              <a:bevel/>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6634" name="Text Box 1033"/>
            <p:cNvSpPr txBox="1">
              <a:spLocks noChangeArrowheads="1"/>
            </p:cNvSpPr>
            <p:nvPr/>
          </p:nvSpPr>
          <p:spPr bwMode="auto">
            <a:xfrm>
              <a:off x="3504" y="3840"/>
              <a:ext cx="816" cy="336"/>
            </a:xfrm>
            <a:prstGeom prst="rect">
              <a:avLst/>
            </a:prstGeom>
            <a:noFill/>
            <a:ln w="88900">
              <a:solidFill>
                <a:schemeClr val="tx1"/>
              </a:solidFill>
              <a:bevel/>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50000"/>
                </a:spcBef>
                <a:buFontTx/>
                <a:buNone/>
              </a:pPr>
              <a:r>
                <a:rPr lang="zh-CN" altLang="en-US" sz="2000" b="1">
                  <a:solidFill>
                    <a:srgbClr val="FF3300"/>
                  </a:solidFill>
                </a:rPr>
                <a:t>综合属性</a:t>
              </a:r>
            </a:p>
          </p:txBody>
        </p:sp>
      </p:grpSp>
      <p:grpSp>
        <p:nvGrpSpPr>
          <p:cNvPr id="3" name="Group 1037"/>
          <p:cNvGrpSpPr>
            <a:grpSpLocks/>
          </p:cNvGrpSpPr>
          <p:nvPr/>
        </p:nvGrpSpPr>
        <p:grpSpPr bwMode="auto">
          <a:xfrm>
            <a:off x="8001000" y="400050"/>
            <a:ext cx="1295400" cy="3971925"/>
            <a:chOff x="5040" y="528"/>
            <a:chExt cx="816" cy="3336"/>
          </a:xfrm>
        </p:grpSpPr>
        <p:sp>
          <p:nvSpPr>
            <p:cNvPr id="26631" name="Line 1035"/>
            <p:cNvSpPr>
              <a:spLocks noChangeShapeType="1"/>
            </p:cNvSpPr>
            <p:nvPr/>
          </p:nvSpPr>
          <p:spPr bwMode="auto">
            <a:xfrm>
              <a:off x="5664" y="888"/>
              <a:ext cx="0" cy="2976"/>
            </a:xfrm>
            <a:prstGeom prst="line">
              <a:avLst/>
            </a:prstGeom>
            <a:noFill/>
            <a:ln w="57150">
              <a:solidFill>
                <a:srgbClr val="0033CC"/>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6632" name="Text Box 1036"/>
            <p:cNvSpPr txBox="1">
              <a:spLocks noChangeArrowheads="1"/>
            </p:cNvSpPr>
            <p:nvPr/>
          </p:nvSpPr>
          <p:spPr bwMode="auto">
            <a:xfrm>
              <a:off x="5040" y="528"/>
              <a:ext cx="816" cy="336"/>
            </a:xfrm>
            <a:prstGeom prst="rect">
              <a:avLst/>
            </a:prstGeom>
            <a:noFill/>
            <a:ln w="12700">
              <a:solidFill>
                <a:srgbClr val="0033CC"/>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buFontTx/>
                <a:buNone/>
              </a:pPr>
              <a:r>
                <a:rPr lang="zh-CN" altLang="en-US" sz="2000" b="1">
                  <a:solidFill>
                    <a:srgbClr val="FF3300"/>
                  </a:solidFill>
                </a:rPr>
                <a:t>继承属性</a:t>
              </a:r>
            </a:p>
          </p:txBody>
        </p:sp>
      </p:grpSp>
    </p:spTree>
    <p:extLst>
      <p:ext uri="{BB962C8B-B14F-4D97-AF65-F5344CB8AC3E}">
        <p14:creationId xmlns:p14="http://schemas.microsoft.com/office/powerpoint/2010/main" val="37598220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59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59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slide(fromBottom)">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25955">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slide(fromTop)">
                                      <p:cBhvr>
                                        <p:cTn id="24" dur="500"/>
                                        <p:tgtEl>
                                          <p:spTgt spid="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25955">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125955">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25955">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259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uiExpand="1"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205978"/>
            <a:ext cx="8229600" cy="79772"/>
          </a:xfrm>
        </p:spPr>
        <p:txBody>
          <a:bodyPr>
            <a:normAutofit fontScale="90000"/>
          </a:bodyPr>
          <a:lstStyle/>
          <a:p>
            <a:pPr eaLnBrk="1" hangingPunct="1"/>
            <a:r>
              <a:rPr lang="zh-CN" altLang="en-US"/>
              <a:t>继承属性和综合属性</a:t>
            </a:r>
            <a:endParaRPr lang="zh-CN" altLang="zh-CN"/>
          </a:p>
        </p:txBody>
      </p:sp>
      <p:sp>
        <p:nvSpPr>
          <p:cNvPr id="130051" name="Rectangle 3"/>
          <p:cNvSpPr>
            <a:spLocks noGrp="1" noChangeArrowheads="1"/>
          </p:cNvSpPr>
          <p:nvPr>
            <p:ph type="body" idx="1"/>
          </p:nvPr>
        </p:nvSpPr>
        <p:spPr>
          <a:xfrm>
            <a:off x="323850" y="627460"/>
            <a:ext cx="8229600" cy="3312442"/>
          </a:xfrm>
        </p:spPr>
        <p:txBody>
          <a:bodyPr>
            <a:normAutofit/>
          </a:bodyPr>
          <a:lstStyle/>
          <a:p>
            <a:pPr eaLnBrk="1" hangingPunct="1">
              <a:lnSpc>
                <a:spcPct val="90000"/>
              </a:lnSpc>
            </a:pPr>
            <a:r>
              <a:rPr lang="zh-CN" altLang="en-US" sz="2200" dirty="0">
                <a:solidFill>
                  <a:srgbClr val="0033CC"/>
                </a:solidFill>
              </a:rPr>
              <a:t>属性计算规则是和产生式相关的，因此计算规则中</a:t>
            </a:r>
            <a:r>
              <a:rPr lang="zh-CN" altLang="en-US" sz="2200" dirty="0">
                <a:solidFill>
                  <a:srgbClr val="FF0000"/>
                </a:solidFill>
              </a:rPr>
              <a:t>只能使用同一个产生式</a:t>
            </a:r>
            <a:r>
              <a:rPr lang="zh-CN" altLang="en-US" sz="2200" dirty="0">
                <a:solidFill>
                  <a:srgbClr val="0033CC"/>
                </a:solidFill>
              </a:rPr>
              <a:t>中的文法符号的属性</a:t>
            </a:r>
          </a:p>
          <a:p>
            <a:pPr eaLnBrk="1" hangingPunct="1">
              <a:lnSpc>
                <a:spcPct val="90000"/>
              </a:lnSpc>
            </a:pPr>
            <a:r>
              <a:rPr lang="zh-CN" altLang="en-US" sz="2200" dirty="0">
                <a:solidFill>
                  <a:srgbClr val="0033CC"/>
                </a:solidFill>
              </a:rPr>
              <a:t>产生式右边符号的继承属性可以通过左边符号的继承属性计算</a:t>
            </a:r>
          </a:p>
          <a:p>
            <a:pPr eaLnBrk="1" hangingPunct="1">
              <a:lnSpc>
                <a:spcPct val="90000"/>
              </a:lnSpc>
            </a:pPr>
            <a:r>
              <a:rPr lang="zh-CN" altLang="en-US" sz="2200" dirty="0">
                <a:solidFill>
                  <a:srgbClr val="0033CC"/>
                </a:solidFill>
              </a:rPr>
              <a:t>产生式左边符号的综合属性可以通过右边符号的综合属性计算</a:t>
            </a:r>
          </a:p>
          <a:p>
            <a:pPr lvl="1">
              <a:lnSpc>
                <a:spcPct val="90000"/>
              </a:lnSpc>
            </a:pPr>
            <a:r>
              <a:rPr lang="zh-CN" altLang="en-US" sz="2000" dirty="0"/>
              <a:t>实际应用中，一个结点的综合属性的值由其子结点的综合属性值决定</a:t>
            </a:r>
            <a:r>
              <a:rPr lang="en-US" altLang="zh-CN" sz="2000" dirty="0"/>
              <a:t>(</a:t>
            </a:r>
            <a:r>
              <a:rPr lang="zh-CN" altLang="en-US" sz="2000" dirty="0"/>
              <a:t>产生式右边</a:t>
            </a:r>
            <a:r>
              <a:rPr lang="en-US" altLang="zh-CN" sz="2000" dirty="0"/>
              <a:t>)</a:t>
            </a:r>
            <a:r>
              <a:rPr lang="zh-CN" altLang="en-US" sz="2000" dirty="0"/>
              <a:t>。一个结点的继承属性由此结点的父结点和</a:t>
            </a:r>
            <a:r>
              <a:rPr lang="en-US" altLang="zh-CN" sz="2000" dirty="0"/>
              <a:t>/</a:t>
            </a:r>
            <a:r>
              <a:rPr lang="zh-CN" altLang="en-US" sz="2000" dirty="0"/>
              <a:t>或兄结点的某些属性决定</a:t>
            </a:r>
            <a:r>
              <a:rPr lang="en-US" altLang="zh-CN" sz="2000" dirty="0"/>
              <a:t>(</a:t>
            </a:r>
            <a:r>
              <a:rPr lang="zh-CN" altLang="en-US" sz="2000" dirty="0"/>
              <a:t>产生式左边</a:t>
            </a:r>
            <a:r>
              <a:rPr lang="en-US" altLang="zh-CN" sz="2000" dirty="0"/>
              <a:t>)</a:t>
            </a:r>
            <a:endParaRPr lang="zh-CN" altLang="en-US" sz="2000" dirty="0"/>
          </a:p>
          <a:p>
            <a:pPr eaLnBrk="1" hangingPunct="1">
              <a:lnSpc>
                <a:spcPct val="90000"/>
              </a:lnSpc>
            </a:pPr>
            <a:r>
              <a:rPr lang="zh-CN" altLang="en-US" sz="2200" dirty="0"/>
              <a:t>但产生式左边的继承属性和右边的综合属性</a:t>
            </a:r>
            <a:r>
              <a:rPr lang="zh-CN" altLang="en-US" sz="2200" dirty="0">
                <a:solidFill>
                  <a:srgbClr val="FF0000"/>
                </a:solidFill>
              </a:rPr>
              <a:t>不由当前产生式</a:t>
            </a:r>
            <a:r>
              <a:rPr lang="zh-CN" altLang="en-US" sz="2200" dirty="0"/>
              <a:t>的属性计算规则</a:t>
            </a:r>
            <a:r>
              <a:rPr lang="zh-CN" altLang="en-US" sz="2200" dirty="0">
                <a:solidFill>
                  <a:srgbClr val="FF0000"/>
                </a:solidFill>
              </a:rPr>
              <a:t>计算</a:t>
            </a:r>
            <a:r>
              <a:rPr lang="zh-CN" altLang="en-US" sz="2200" dirty="0"/>
              <a:t>，它们由其它产生式的属性计算规则提供</a:t>
            </a:r>
          </a:p>
        </p:txBody>
      </p:sp>
      <p:sp>
        <p:nvSpPr>
          <p:cNvPr id="27652" name="文本框 1"/>
          <p:cNvSpPr txBox="1">
            <a:spLocks noChangeArrowheads="1"/>
          </p:cNvSpPr>
          <p:nvPr/>
        </p:nvSpPr>
        <p:spPr bwMode="auto">
          <a:xfrm>
            <a:off x="2051051" y="4137422"/>
            <a:ext cx="18002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en-US" altLang="zh-CN" sz="2400" dirty="0"/>
              <a:t>E</a:t>
            </a:r>
            <a:r>
              <a:rPr lang="en-US" altLang="zh-CN" sz="2400" dirty="0">
                <a:sym typeface="Wingdings" pitchFamily="2" charset="2"/>
              </a:rPr>
              <a:t></a:t>
            </a:r>
            <a:r>
              <a:rPr lang="en-US" altLang="zh-CN" sz="2400" dirty="0"/>
              <a:t>E’+T</a:t>
            </a:r>
          </a:p>
          <a:p>
            <a:pPr eaLnBrk="1" hangingPunct="1">
              <a:lnSpc>
                <a:spcPct val="100000"/>
              </a:lnSpc>
              <a:spcBef>
                <a:spcPct val="0"/>
              </a:spcBef>
              <a:buFontTx/>
              <a:buNone/>
            </a:pPr>
            <a:r>
              <a:rPr lang="en-US" altLang="zh-CN" sz="2400" dirty="0"/>
              <a:t>E’</a:t>
            </a:r>
            <a:r>
              <a:rPr lang="en-US" altLang="zh-CN" sz="2400" dirty="0">
                <a:sym typeface="Wingdings" pitchFamily="2" charset="2"/>
              </a:rPr>
              <a:t>T</a:t>
            </a:r>
            <a:endParaRPr lang="zh-CN" altLang="en-US" sz="2400" dirty="0"/>
          </a:p>
        </p:txBody>
      </p:sp>
      <p:pic>
        <p:nvPicPr>
          <p:cNvPr id="27653"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28184" y="3553720"/>
            <a:ext cx="2520530" cy="1575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08879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0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00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005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30051">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30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68313" y="0"/>
            <a:ext cx="8229600" cy="627460"/>
          </a:xfrm>
        </p:spPr>
        <p:txBody>
          <a:bodyPr>
            <a:normAutofit fontScale="90000"/>
          </a:bodyPr>
          <a:lstStyle/>
          <a:p>
            <a:r>
              <a:rPr lang="zh-CN" altLang="en-US"/>
              <a:t>语义规则 </a:t>
            </a:r>
          </a:p>
        </p:txBody>
      </p:sp>
      <p:sp>
        <p:nvSpPr>
          <p:cNvPr id="28675" name="Rectangle 3"/>
          <p:cNvSpPr>
            <a:spLocks noGrp="1" noChangeArrowheads="1"/>
          </p:cNvSpPr>
          <p:nvPr>
            <p:ph type="body" sz="half" idx="1"/>
          </p:nvPr>
        </p:nvSpPr>
        <p:spPr>
          <a:xfrm>
            <a:off x="395288" y="627460"/>
            <a:ext cx="8496300" cy="917972"/>
          </a:xfrm>
        </p:spPr>
        <p:txBody>
          <a:bodyPr>
            <a:normAutofit fontScale="85000" lnSpcReduction="10000"/>
          </a:bodyPr>
          <a:lstStyle/>
          <a:p>
            <a:pPr>
              <a:lnSpc>
                <a:spcPct val="120000"/>
              </a:lnSpc>
              <a:spcBef>
                <a:spcPts val="0"/>
              </a:spcBef>
            </a:pPr>
            <a:r>
              <a:rPr lang="zh-CN" altLang="en-US" sz="2400" dirty="0"/>
              <a:t>语义规则用来描述该产生式的含义，即该产生式得到匹配时需要完成的动作，如属性的计算、静态语义检查、符号表的操作和代码生成等。</a:t>
            </a:r>
          </a:p>
        </p:txBody>
      </p:sp>
      <p:sp>
        <p:nvSpPr>
          <p:cNvPr id="209924" name="Rectangle 4"/>
          <p:cNvSpPr>
            <a:spLocks noChangeArrowheads="1"/>
          </p:cNvSpPr>
          <p:nvPr/>
        </p:nvSpPr>
        <p:spPr bwMode="auto">
          <a:xfrm>
            <a:off x="755651" y="1592967"/>
            <a:ext cx="2949575" cy="1200329"/>
          </a:xfrm>
          <a:prstGeom prst="rect">
            <a:avLst/>
          </a:prstGeom>
          <a:ln/>
        </p:spPr>
        <p:style>
          <a:lnRef idx="2">
            <a:schemeClr val="dk1"/>
          </a:lnRef>
          <a:fillRef idx="1">
            <a:schemeClr val="lt1"/>
          </a:fillRef>
          <a:effectRef idx="0">
            <a:schemeClr val="dk1"/>
          </a:effectRef>
          <a:fontRef idx="minor">
            <a:schemeClr val="dk1"/>
          </a:fontRef>
        </p:style>
        <p:txBody>
          <a:bodyPr anchor="ctr">
            <a:spAutoFit/>
          </a:bodyPr>
          <a:lstStyle>
            <a:lvl1pPr indent="533400">
              <a:spcBef>
                <a:spcPct val="0"/>
              </a:spcBef>
              <a:defRPr sz="2400">
                <a:solidFill>
                  <a:schemeClr val="tx1"/>
                </a:solidFill>
                <a:latin typeface="Arial" charset="0"/>
                <a:ea typeface="宋体" pitchFamily="2" charset="-122"/>
              </a:defRPr>
            </a:lvl1pPr>
            <a:lvl2pPr>
              <a:spcBef>
                <a:spcPct val="0"/>
              </a:spcBef>
              <a:defRPr sz="2400">
                <a:solidFill>
                  <a:schemeClr val="tx1"/>
                </a:solidFill>
                <a:latin typeface="Arial" charset="0"/>
                <a:ea typeface="宋体" pitchFamily="2" charset="-122"/>
              </a:defRPr>
            </a:lvl2pPr>
            <a:lvl3pPr>
              <a:spcBef>
                <a:spcPct val="0"/>
              </a:spcBef>
              <a:defRPr sz="2400">
                <a:solidFill>
                  <a:schemeClr val="tx1"/>
                </a:solidFill>
                <a:latin typeface="Arial" charset="0"/>
                <a:ea typeface="宋体" pitchFamily="2" charset="-122"/>
              </a:defRPr>
            </a:lvl3pPr>
            <a:lvl4pPr>
              <a:spcBef>
                <a:spcPct val="0"/>
              </a:spcBef>
              <a:defRPr sz="2400">
                <a:solidFill>
                  <a:schemeClr val="tx1"/>
                </a:solidFill>
                <a:latin typeface="Arial" charset="0"/>
                <a:ea typeface="宋体" pitchFamily="2" charset="-122"/>
              </a:defRPr>
            </a:lvl4pPr>
            <a:lvl5pPr>
              <a:spcBef>
                <a:spcPct val="0"/>
              </a:spcBef>
              <a:defRPr sz="2400">
                <a:solidFill>
                  <a:schemeClr val="tx1"/>
                </a:solidFill>
                <a:latin typeface="Arial" charset="0"/>
                <a:ea typeface="宋体" pitchFamily="2" charset="-122"/>
              </a:defRPr>
            </a:lvl5pPr>
            <a:lvl6pPr eaLnBrk="0" fontAlgn="base" hangingPunct="0">
              <a:spcBef>
                <a:spcPct val="0"/>
              </a:spcBef>
              <a:spcAft>
                <a:spcPct val="0"/>
              </a:spcAft>
              <a:defRPr sz="2400">
                <a:solidFill>
                  <a:schemeClr val="tx1"/>
                </a:solidFill>
                <a:latin typeface="Arial" charset="0"/>
                <a:ea typeface="宋体" pitchFamily="2" charset="-122"/>
              </a:defRPr>
            </a:lvl6pPr>
            <a:lvl7pPr eaLnBrk="0" fontAlgn="base" hangingPunct="0">
              <a:spcBef>
                <a:spcPct val="0"/>
              </a:spcBef>
              <a:spcAft>
                <a:spcPct val="0"/>
              </a:spcAft>
              <a:defRPr sz="2400">
                <a:solidFill>
                  <a:schemeClr val="tx1"/>
                </a:solidFill>
                <a:latin typeface="Arial" charset="0"/>
                <a:ea typeface="宋体" pitchFamily="2" charset="-122"/>
              </a:defRPr>
            </a:lvl7pPr>
            <a:lvl8pPr eaLnBrk="0" fontAlgn="base" hangingPunct="0">
              <a:spcBef>
                <a:spcPct val="0"/>
              </a:spcBef>
              <a:spcAft>
                <a:spcPct val="0"/>
              </a:spcAft>
              <a:defRPr sz="2400">
                <a:solidFill>
                  <a:schemeClr val="tx1"/>
                </a:solidFill>
                <a:latin typeface="Arial" charset="0"/>
                <a:ea typeface="宋体" pitchFamily="2" charset="-122"/>
              </a:defRPr>
            </a:lvl8pPr>
            <a:lvl9pPr eaLnBrk="0" fontAlgn="base" hangingPunct="0">
              <a:spcBef>
                <a:spcPct val="0"/>
              </a:spcBef>
              <a:spcAft>
                <a:spcPct val="0"/>
              </a:spcAft>
              <a:defRPr sz="2400">
                <a:solidFill>
                  <a:schemeClr val="tx1"/>
                </a:solidFill>
                <a:latin typeface="Arial" charset="0"/>
                <a:ea typeface="宋体" pitchFamily="2" charset="-122"/>
              </a:defRPr>
            </a:lvl9pPr>
          </a:lstStyle>
          <a:p>
            <a:pPr indent="0">
              <a:lnSpc>
                <a:spcPct val="100000"/>
              </a:lnSpc>
              <a:buFontTx/>
              <a:buNone/>
              <a:defRPr/>
            </a:pPr>
            <a:r>
              <a:rPr lang="zh-CN" altLang="en-US" dirty="0"/>
              <a:t>（</a:t>
            </a:r>
            <a:r>
              <a:rPr lang="en-US" altLang="zh-CN" dirty="0"/>
              <a:t>1</a:t>
            </a:r>
            <a:r>
              <a:rPr lang="zh-CN" altLang="en-US" dirty="0"/>
              <a:t>）</a:t>
            </a:r>
            <a:r>
              <a:rPr lang="en-US" altLang="zh-CN" dirty="0"/>
              <a:t>E→E+T | T</a:t>
            </a:r>
          </a:p>
          <a:p>
            <a:pPr indent="0">
              <a:lnSpc>
                <a:spcPct val="100000"/>
              </a:lnSpc>
              <a:buFontTx/>
              <a:buNone/>
              <a:defRPr/>
            </a:pPr>
            <a:r>
              <a:rPr lang="zh-CN" altLang="en-US" dirty="0"/>
              <a:t>（</a:t>
            </a:r>
            <a:r>
              <a:rPr lang="en-US" altLang="zh-CN" dirty="0"/>
              <a:t>2</a:t>
            </a:r>
            <a:r>
              <a:rPr lang="zh-CN" altLang="en-US" dirty="0"/>
              <a:t>）</a:t>
            </a:r>
            <a:r>
              <a:rPr lang="en-US" altLang="zh-CN" dirty="0"/>
              <a:t>T→T*F | F</a:t>
            </a:r>
          </a:p>
          <a:p>
            <a:pPr indent="0">
              <a:lnSpc>
                <a:spcPct val="100000"/>
              </a:lnSpc>
              <a:buFontTx/>
              <a:buNone/>
              <a:defRPr/>
            </a:pPr>
            <a:r>
              <a:rPr lang="zh-CN" altLang="en-US" dirty="0"/>
              <a:t>（</a:t>
            </a:r>
            <a:r>
              <a:rPr lang="en-US" altLang="zh-CN" dirty="0"/>
              <a:t>3</a:t>
            </a:r>
            <a:r>
              <a:rPr lang="zh-CN" altLang="en-US" dirty="0"/>
              <a:t>）</a:t>
            </a:r>
            <a:r>
              <a:rPr lang="en-US" altLang="zh-CN" dirty="0"/>
              <a:t>F→(E) | digit</a:t>
            </a:r>
          </a:p>
        </p:txBody>
      </p:sp>
      <p:sp>
        <p:nvSpPr>
          <p:cNvPr id="209925" name="Rectangle 5"/>
          <p:cNvSpPr>
            <a:spLocks noChangeArrowheads="1"/>
          </p:cNvSpPr>
          <p:nvPr/>
        </p:nvSpPr>
        <p:spPr bwMode="auto">
          <a:xfrm>
            <a:off x="6011863" y="1288585"/>
            <a:ext cx="1685077" cy="1754326"/>
          </a:xfrm>
          <a:prstGeom prst="rect">
            <a:avLst/>
          </a:prstGeom>
          <a:ln/>
        </p:spPr>
        <p:style>
          <a:lnRef idx="1">
            <a:schemeClr val="dk1"/>
          </a:lnRef>
          <a:fillRef idx="2">
            <a:schemeClr val="dk1"/>
          </a:fillRef>
          <a:effectRef idx="1">
            <a:schemeClr val="dk1"/>
          </a:effectRef>
          <a:fontRef idx="minor">
            <a:schemeClr val="dk1"/>
          </a:fontRef>
        </p:style>
        <p:txBody>
          <a:bodyPr wrap="none" anchor="ctr">
            <a:spAutoFit/>
          </a:bodyPr>
          <a:lstStyle/>
          <a:p>
            <a:pPr>
              <a:lnSpc>
                <a:spcPct val="100000"/>
              </a:lnSpc>
              <a:spcBef>
                <a:spcPct val="0"/>
              </a:spcBef>
              <a:buFontTx/>
              <a:buNone/>
              <a:defRPr/>
            </a:pPr>
            <a:r>
              <a:rPr lang="zh-CN" altLang="fr-FR" dirty="0"/>
              <a:t>（</a:t>
            </a:r>
            <a:r>
              <a:rPr lang="fr-FR" altLang="zh-CN" dirty="0"/>
              <a:t>1</a:t>
            </a:r>
            <a:r>
              <a:rPr lang="zh-CN" altLang="fr-FR" dirty="0"/>
              <a:t>）</a:t>
            </a:r>
            <a:r>
              <a:rPr lang="fr-FR" altLang="zh-CN" dirty="0"/>
              <a:t>E→E</a:t>
            </a:r>
            <a:r>
              <a:rPr lang="fr-FR" altLang="zh-CN" baseline="-25000" dirty="0"/>
              <a:t>1</a:t>
            </a:r>
            <a:r>
              <a:rPr lang="fr-FR" altLang="zh-CN" dirty="0"/>
              <a:t>+T</a:t>
            </a:r>
          </a:p>
          <a:p>
            <a:pPr>
              <a:lnSpc>
                <a:spcPct val="100000"/>
              </a:lnSpc>
              <a:spcBef>
                <a:spcPct val="0"/>
              </a:spcBef>
              <a:buFontTx/>
              <a:buNone/>
              <a:defRPr/>
            </a:pPr>
            <a:r>
              <a:rPr lang="zh-CN" altLang="fr-FR" dirty="0"/>
              <a:t>（</a:t>
            </a:r>
            <a:r>
              <a:rPr lang="fr-FR" altLang="zh-CN" dirty="0"/>
              <a:t>2</a:t>
            </a:r>
            <a:r>
              <a:rPr lang="zh-CN" altLang="fr-FR" dirty="0"/>
              <a:t>）</a:t>
            </a:r>
            <a:r>
              <a:rPr lang="fr-FR" altLang="zh-CN" dirty="0"/>
              <a:t>E→T</a:t>
            </a:r>
          </a:p>
          <a:p>
            <a:pPr>
              <a:lnSpc>
                <a:spcPct val="100000"/>
              </a:lnSpc>
              <a:spcBef>
                <a:spcPct val="0"/>
              </a:spcBef>
              <a:buFontTx/>
              <a:buNone/>
              <a:defRPr/>
            </a:pPr>
            <a:r>
              <a:rPr lang="zh-CN" altLang="fr-FR" dirty="0"/>
              <a:t>（</a:t>
            </a:r>
            <a:r>
              <a:rPr lang="fr-FR" altLang="zh-CN" dirty="0"/>
              <a:t>3</a:t>
            </a:r>
            <a:r>
              <a:rPr lang="zh-CN" altLang="fr-FR" dirty="0"/>
              <a:t>）</a:t>
            </a:r>
            <a:r>
              <a:rPr lang="fr-FR" altLang="zh-CN" dirty="0"/>
              <a:t>T→T</a:t>
            </a:r>
            <a:r>
              <a:rPr lang="fr-FR" altLang="zh-CN" baseline="-25000" dirty="0"/>
              <a:t>1</a:t>
            </a:r>
            <a:r>
              <a:rPr lang="fr-FR" altLang="zh-CN" dirty="0"/>
              <a:t>*F</a:t>
            </a:r>
          </a:p>
          <a:p>
            <a:pPr>
              <a:lnSpc>
                <a:spcPct val="100000"/>
              </a:lnSpc>
              <a:spcBef>
                <a:spcPct val="0"/>
              </a:spcBef>
              <a:buFontTx/>
              <a:buNone/>
              <a:defRPr/>
            </a:pPr>
            <a:r>
              <a:rPr lang="zh-CN" altLang="fr-FR" dirty="0"/>
              <a:t>（</a:t>
            </a:r>
            <a:r>
              <a:rPr lang="fr-FR" altLang="zh-CN" dirty="0"/>
              <a:t>4</a:t>
            </a:r>
            <a:r>
              <a:rPr lang="zh-CN" altLang="fr-FR" dirty="0"/>
              <a:t>）</a:t>
            </a:r>
            <a:r>
              <a:rPr lang="fr-FR" altLang="zh-CN" dirty="0"/>
              <a:t>T→F</a:t>
            </a:r>
          </a:p>
          <a:p>
            <a:pPr>
              <a:lnSpc>
                <a:spcPct val="100000"/>
              </a:lnSpc>
              <a:spcBef>
                <a:spcPct val="0"/>
              </a:spcBef>
              <a:buFontTx/>
              <a:buNone/>
              <a:defRPr/>
            </a:pPr>
            <a:r>
              <a:rPr lang="zh-CN" altLang="fr-FR" dirty="0"/>
              <a:t>（</a:t>
            </a:r>
            <a:r>
              <a:rPr lang="fr-FR" altLang="zh-CN" dirty="0"/>
              <a:t>5</a:t>
            </a:r>
            <a:r>
              <a:rPr lang="zh-CN" altLang="fr-FR" dirty="0"/>
              <a:t>）</a:t>
            </a:r>
            <a:r>
              <a:rPr lang="fr-FR" altLang="zh-CN" dirty="0"/>
              <a:t>F→(E)</a:t>
            </a:r>
          </a:p>
          <a:p>
            <a:pPr>
              <a:lnSpc>
                <a:spcPct val="100000"/>
              </a:lnSpc>
              <a:spcBef>
                <a:spcPct val="0"/>
              </a:spcBef>
              <a:buFontTx/>
              <a:buNone/>
              <a:defRPr/>
            </a:pPr>
            <a:r>
              <a:rPr lang="zh-CN" altLang="fr-FR" dirty="0"/>
              <a:t>（</a:t>
            </a:r>
            <a:r>
              <a:rPr lang="fr-FR" altLang="zh-CN" dirty="0"/>
              <a:t>6</a:t>
            </a:r>
            <a:r>
              <a:rPr lang="zh-CN" altLang="fr-FR" dirty="0"/>
              <a:t>）</a:t>
            </a:r>
            <a:r>
              <a:rPr lang="fr-FR" altLang="zh-CN" dirty="0"/>
              <a:t>F→digit</a:t>
            </a:r>
          </a:p>
        </p:txBody>
      </p:sp>
      <p:graphicFrame>
        <p:nvGraphicFramePr>
          <p:cNvPr id="209979" name="Group 59"/>
          <p:cNvGraphicFramePr>
            <a:graphicFrameLocks noGrp="1"/>
          </p:cNvGraphicFramePr>
          <p:nvPr>
            <p:ph sz="half" idx="2"/>
            <p:extLst>
              <p:ext uri="{D42A27DB-BD31-4B8C-83A1-F6EECF244321}">
                <p14:modId xmlns:p14="http://schemas.microsoft.com/office/powerpoint/2010/main" val="3351413332"/>
              </p:ext>
            </p:extLst>
          </p:nvPr>
        </p:nvGraphicFramePr>
        <p:xfrm>
          <a:off x="250826" y="3598069"/>
          <a:ext cx="8748713" cy="1432464"/>
        </p:xfrm>
        <a:graphic>
          <a:graphicData uri="http://schemas.openxmlformats.org/drawingml/2006/table">
            <a:tbl>
              <a:tblPr/>
              <a:tblGrid>
                <a:gridCol w="2016125">
                  <a:extLst>
                    <a:ext uri="{9D8B030D-6E8A-4147-A177-3AD203B41FA5}">
                      <a16:colId xmlns:a16="http://schemas.microsoft.com/office/drawing/2014/main" val="20000"/>
                    </a:ext>
                  </a:extLst>
                </a:gridCol>
                <a:gridCol w="2593082">
                  <a:extLst>
                    <a:ext uri="{9D8B030D-6E8A-4147-A177-3AD203B41FA5}">
                      <a16:colId xmlns:a16="http://schemas.microsoft.com/office/drawing/2014/main" val="20001"/>
                    </a:ext>
                  </a:extLst>
                </a:gridCol>
                <a:gridCol w="1872208">
                  <a:extLst>
                    <a:ext uri="{9D8B030D-6E8A-4147-A177-3AD203B41FA5}">
                      <a16:colId xmlns:a16="http://schemas.microsoft.com/office/drawing/2014/main" val="20002"/>
                    </a:ext>
                  </a:extLst>
                </a:gridCol>
                <a:gridCol w="2267298">
                  <a:extLst>
                    <a:ext uri="{9D8B030D-6E8A-4147-A177-3AD203B41FA5}">
                      <a16:colId xmlns:a16="http://schemas.microsoft.com/office/drawing/2014/main" val="20003"/>
                    </a:ext>
                  </a:extLst>
                </a:gridCol>
              </a:tblGrid>
              <a:tr h="319992">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产生式</a:t>
                      </a:r>
                      <a:endParaRPr kumimoji="0" lang="zh-CN" altLang="en-US" sz="1700" b="0" i="0" u="none" strike="noStrike" cap="none" normalizeH="0" baseline="0" dirty="0">
                        <a:ln>
                          <a:noFill/>
                        </a:ln>
                        <a:solidFill>
                          <a:schemeClr val="tx1"/>
                        </a:solidFill>
                        <a:effectLst/>
                        <a:latin typeface="Arial" charset="0"/>
                        <a:ea typeface="宋体" pitchFamily="2" charset="-122"/>
                      </a:endParaRPr>
                    </a:p>
                  </a:txBody>
                  <a:tcPr marT="34266" marB="3426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语义规则</a:t>
                      </a:r>
                      <a:endParaRPr kumimoji="0" lang="zh-CN" altLang="en-US" sz="1700" b="0" i="0" u="none" strike="noStrike" cap="none" normalizeH="0" baseline="0">
                        <a:ln>
                          <a:noFill/>
                        </a:ln>
                        <a:solidFill>
                          <a:schemeClr val="tx1"/>
                        </a:solidFill>
                        <a:effectLst/>
                        <a:latin typeface="Arial" charset="0"/>
                        <a:ea typeface="宋体" pitchFamily="2" charset="-122"/>
                      </a:endParaRPr>
                    </a:p>
                  </a:txBody>
                  <a:tcPr marT="34266" marB="34266"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产生式</a:t>
                      </a:r>
                      <a:endParaRPr kumimoji="0" lang="zh-CN" altLang="en-US" sz="1700" b="0" i="0" u="none" strike="noStrike" cap="none" normalizeH="0" baseline="0" dirty="0">
                        <a:ln>
                          <a:noFill/>
                        </a:ln>
                        <a:solidFill>
                          <a:schemeClr val="tx1"/>
                        </a:solidFill>
                        <a:effectLst/>
                        <a:latin typeface="Arial" charset="0"/>
                        <a:ea typeface="宋体" pitchFamily="2" charset="-122"/>
                      </a:endParaRPr>
                    </a:p>
                  </a:txBody>
                  <a:tcPr marT="34266" marB="34266"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语义规则</a:t>
                      </a:r>
                      <a:endParaRPr kumimoji="0" lang="zh-CN" altLang="en-US" sz="1700" b="0" i="0" u="none" strike="noStrike" cap="none" normalizeH="0" baseline="0">
                        <a:ln>
                          <a:noFill/>
                        </a:ln>
                        <a:solidFill>
                          <a:schemeClr val="tx1"/>
                        </a:solidFill>
                        <a:effectLst/>
                        <a:latin typeface="Arial" charset="0"/>
                        <a:ea typeface="宋体" pitchFamily="2" charset="-122"/>
                      </a:endParaRPr>
                    </a:p>
                  </a:txBody>
                  <a:tcPr marT="34266" marB="3426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1074372">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L→E#</a:t>
                      </a:r>
                      <a:endParaRPr kumimoji="0" lang="fr-FR"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E→E</a:t>
                      </a:r>
                      <a:r>
                        <a:rPr kumimoji="0" lang="fr-FR" altLang="zh-CN" sz="17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endParaRPr kumimoji="0" lang="fr-FR"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E→T</a:t>
                      </a:r>
                      <a:endParaRPr kumimoji="0" lang="fr-FR"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r>
                        <a:rPr kumimoji="0" lang="zh-CN" altLang="fr-FR"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T→T</a:t>
                      </a:r>
                      <a:r>
                        <a:rPr kumimoji="0" lang="fr-FR" altLang="zh-CN" sz="17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endParaRPr kumimoji="0" lang="fr-FR" altLang="zh-CN" sz="1700" b="0" i="0" u="none" strike="noStrike" cap="none" normalizeH="0" baseline="0" dirty="0">
                        <a:ln>
                          <a:noFill/>
                        </a:ln>
                        <a:solidFill>
                          <a:schemeClr val="tx1"/>
                        </a:solidFill>
                        <a:effectLst/>
                        <a:latin typeface="Arial" charset="0"/>
                        <a:ea typeface="宋体" pitchFamily="2" charset="-122"/>
                      </a:endParaRPr>
                    </a:p>
                  </a:txBody>
                  <a:tcPr marT="34266" marB="3426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26035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260350" algn="l" defTabSz="914400" rtl="0" eaLnBrk="0" fontAlgn="base" latinLnBrk="0" hangingPunct="0">
                        <a:lnSpc>
                          <a:spcPct val="100000"/>
                        </a:lnSpc>
                        <a:spcBef>
                          <a:spcPct val="0"/>
                        </a:spcBef>
                        <a:spcAft>
                          <a:spcPct val="0"/>
                        </a:spcAft>
                        <a:buClrTx/>
                        <a:buSzTx/>
                        <a:buFontTx/>
                        <a:buNone/>
                        <a:tabLst/>
                      </a:pPr>
                      <a:r>
                        <a:rPr kumimoji="0" lang="pt-PT"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print(E.val)</a:t>
                      </a:r>
                      <a:endParaRPr kumimoji="0" lang="pt-PT"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260350" algn="l" defTabSz="914400" rtl="0" eaLnBrk="0" fontAlgn="base" latinLnBrk="0" hangingPunct="0">
                        <a:lnSpc>
                          <a:spcPct val="100000"/>
                        </a:lnSpc>
                        <a:spcBef>
                          <a:spcPct val="0"/>
                        </a:spcBef>
                        <a:spcAft>
                          <a:spcPct val="0"/>
                        </a:spcAft>
                        <a:buClrTx/>
                        <a:buSzTx/>
                        <a:buFontTx/>
                        <a:buNone/>
                        <a:tabLst/>
                      </a:pPr>
                      <a:r>
                        <a:rPr kumimoji="0" lang="pt-PT"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E.val=E</a:t>
                      </a:r>
                      <a:r>
                        <a:rPr kumimoji="0" lang="pt-PT" altLang="zh-CN" sz="17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pt-PT"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.val+T.val</a:t>
                      </a:r>
                      <a:endParaRPr kumimoji="0" lang="pt-PT"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260350" algn="l" defTabSz="914400" rtl="0" eaLnBrk="0" fontAlgn="base" latinLnBrk="0" hangingPunct="0">
                        <a:lnSpc>
                          <a:spcPct val="100000"/>
                        </a:lnSpc>
                        <a:spcBef>
                          <a:spcPct val="0"/>
                        </a:spcBef>
                        <a:spcAft>
                          <a:spcPct val="0"/>
                        </a:spcAft>
                        <a:buClrTx/>
                        <a:buSzTx/>
                        <a:buFontTx/>
                        <a:buNone/>
                        <a:tabLst/>
                      </a:pP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E.val=T.val</a:t>
                      </a:r>
                      <a:endParaRPr kumimoji="0" lang="fr-FR"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260350" algn="l" defTabSz="914400" rtl="0" eaLnBrk="0" fontAlgn="base" latinLnBrk="0" hangingPunct="0">
                        <a:lnSpc>
                          <a:spcPct val="100000"/>
                        </a:lnSpc>
                        <a:spcBef>
                          <a:spcPct val="0"/>
                        </a:spcBef>
                        <a:spcAft>
                          <a:spcPct val="0"/>
                        </a:spcAft>
                        <a:buClrTx/>
                        <a:buSzTx/>
                        <a:buFontTx/>
                        <a:buNone/>
                        <a:tabLst/>
                      </a:pP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T.val=T</a:t>
                      </a:r>
                      <a:r>
                        <a:rPr kumimoji="0" lang="fr-FR" altLang="zh-CN" sz="17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 * F.val</a:t>
                      </a:r>
                      <a:endParaRPr kumimoji="0" lang="fr-FR" altLang="zh-CN" sz="1700" b="0" i="0" u="none" strike="noStrike" cap="none" normalizeH="0" baseline="0" dirty="0">
                        <a:ln>
                          <a:noFill/>
                        </a:ln>
                        <a:solidFill>
                          <a:schemeClr val="tx1"/>
                        </a:solidFill>
                        <a:effectLst/>
                        <a:latin typeface="Arial" charset="0"/>
                        <a:ea typeface="宋体" pitchFamily="2" charset="-122"/>
                      </a:endParaRPr>
                    </a:p>
                  </a:txBody>
                  <a:tcPr marT="34266" marB="34266"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fr-FR"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r>
                        <a:rPr kumimoji="0" lang="zh-CN" altLang="fr-FR"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T→F</a:t>
                      </a:r>
                      <a:endParaRPr kumimoji="0" lang="fr-FR" altLang="zh-CN" sz="1700" b="0" i="0" u="none" strike="noStrike" cap="none" normalizeH="0" baseline="0">
                        <a:ln>
                          <a:noFill/>
                        </a:ln>
                        <a:solidFill>
                          <a:schemeClr val="tx1"/>
                        </a:solidFill>
                        <a:effectLst/>
                        <a:latin typeface="Arial" charset="0"/>
                        <a:ea typeface="宋体"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fr-FR"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r>
                        <a:rPr kumimoji="0" lang="zh-CN" altLang="fr-FR"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F→(E)</a:t>
                      </a:r>
                      <a:endParaRPr kumimoji="0" lang="fr-FR" altLang="zh-CN" sz="1700" b="0" i="0" u="none" strike="noStrike" cap="none" normalizeH="0" baseline="0">
                        <a:ln>
                          <a:noFill/>
                        </a:ln>
                        <a:solidFill>
                          <a:schemeClr val="tx1"/>
                        </a:solidFill>
                        <a:effectLst/>
                        <a:latin typeface="Arial" charset="0"/>
                        <a:ea typeface="宋体"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fr-FR"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a:t>
                      </a:r>
                      <a:r>
                        <a:rPr kumimoji="0" lang="zh-CN" altLang="fr-FR"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fr-FR"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F→digit</a:t>
                      </a:r>
                      <a:endParaRPr kumimoji="0" lang="fr-FR" altLang="zh-CN" sz="1700" b="0" i="0" u="none" strike="noStrike" cap="none" normalizeH="0" baseline="0">
                        <a:ln>
                          <a:noFill/>
                        </a:ln>
                        <a:solidFill>
                          <a:schemeClr val="tx1"/>
                        </a:solidFill>
                        <a:effectLst/>
                        <a:latin typeface="Arial" charset="0"/>
                        <a:ea typeface="宋体" pitchFamily="2" charset="-122"/>
                      </a:endParaRPr>
                    </a:p>
                  </a:txBody>
                  <a:tcPr marT="34266" marB="34266"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260350">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342900" marR="0" lvl="0" indent="-260350" algn="l" defTabSz="914400" rtl="0" eaLnBrk="0" fontAlgn="base" latinLnBrk="0" hangingPunct="0">
                        <a:lnSpc>
                          <a:spcPct val="100000"/>
                        </a:lnSpc>
                        <a:spcBef>
                          <a:spcPct val="0"/>
                        </a:spcBef>
                        <a:spcAft>
                          <a:spcPct val="0"/>
                        </a:spcAft>
                        <a:buClrTx/>
                        <a:buSzTx/>
                        <a:buFontTx/>
                        <a:buNone/>
                        <a:tabLst/>
                      </a:pP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T.val=F.val</a:t>
                      </a:r>
                      <a:endParaRPr kumimoji="0" lang="fr-FR"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260350" algn="l" defTabSz="914400" rtl="0" eaLnBrk="0" fontAlgn="base" latinLnBrk="0" hangingPunct="0">
                        <a:lnSpc>
                          <a:spcPct val="100000"/>
                        </a:lnSpc>
                        <a:spcBef>
                          <a:spcPct val="0"/>
                        </a:spcBef>
                        <a:spcAft>
                          <a:spcPct val="0"/>
                        </a:spcAft>
                        <a:buClrTx/>
                        <a:buSzTx/>
                        <a:buFontTx/>
                        <a:buNone/>
                        <a:tabLst/>
                      </a:pP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F.val=E.val</a:t>
                      </a:r>
                      <a:endParaRPr kumimoji="0" lang="fr-FR" altLang="zh-CN" sz="17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342900" marR="0" lvl="0" indent="-260350" algn="l" defTabSz="914400" rtl="0" eaLnBrk="0" fontAlgn="base" latinLnBrk="0" hangingPunct="0">
                        <a:lnSpc>
                          <a:spcPct val="100000"/>
                        </a:lnSpc>
                        <a:spcBef>
                          <a:spcPct val="0"/>
                        </a:spcBef>
                        <a:spcAft>
                          <a:spcPct val="0"/>
                        </a:spcAft>
                        <a:buClrTx/>
                        <a:buSzTx/>
                        <a:buFontTx/>
                        <a:buNone/>
                        <a:tabLst/>
                      </a:pPr>
                      <a:r>
                        <a:rPr kumimoji="0" lang="fr-FR"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F.val=digit.lexval</a:t>
                      </a:r>
                      <a:endParaRPr kumimoji="0" lang="fr-FR" altLang="zh-CN" sz="1700" b="0" i="0" u="none" strike="noStrike" cap="none" normalizeH="0" baseline="0" dirty="0">
                        <a:ln>
                          <a:noFill/>
                        </a:ln>
                        <a:solidFill>
                          <a:schemeClr val="tx1"/>
                        </a:solidFill>
                        <a:effectLst/>
                        <a:latin typeface="Arial" charset="0"/>
                        <a:ea typeface="宋体" pitchFamily="2" charset="-122"/>
                      </a:endParaRPr>
                    </a:p>
                  </a:txBody>
                  <a:tcPr marT="34266" marB="3426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2" name="右箭头 1"/>
          <p:cNvSpPr/>
          <p:nvPr/>
        </p:nvSpPr>
        <p:spPr bwMode="auto">
          <a:xfrm>
            <a:off x="3705225" y="1984773"/>
            <a:ext cx="2306638" cy="363140"/>
          </a:xfrm>
          <a:prstGeom prst="rightArrow">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a:lstStyle/>
          <a:p>
            <a:pPr eaLnBrk="1" hangingPunct="1">
              <a:lnSpc>
                <a:spcPct val="100000"/>
              </a:lnSpc>
              <a:spcBef>
                <a:spcPct val="0"/>
              </a:spcBef>
              <a:buFontTx/>
              <a:buNone/>
              <a:defRPr/>
            </a:pPr>
            <a:endParaRPr lang="zh-CN" altLang="en-US">
              <a:solidFill>
                <a:schemeClr val="tx1"/>
              </a:solidFill>
            </a:endParaRPr>
          </a:p>
        </p:txBody>
      </p:sp>
      <p:sp>
        <p:nvSpPr>
          <p:cNvPr id="3" name="下箭头 2"/>
          <p:cNvSpPr/>
          <p:nvPr/>
        </p:nvSpPr>
        <p:spPr bwMode="auto">
          <a:xfrm>
            <a:off x="6804026" y="3021806"/>
            <a:ext cx="720725" cy="576263"/>
          </a:xfrm>
          <a:prstGeom prst="downArrow">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a:lstStyle/>
          <a:p>
            <a:pPr eaLnBrk="1" hangingPunct="1">
              <a:lnSpc>
                <a:spcPct val="100000"/>
              </a:lnSpc>
              <a:spcBef>
                <a:spcPct val="0"/>
              </a:spcBef>
              <a:buFontTx/>
              <a:buNone/>
              <a:defRPr/>
            </a:pPr>
            <a:endParaRPr lang="zh-CN" altLang="en-US">
              <a:solidFill>
                <a:schemeClr val="tx1"/>
              </a:solidFill>
            </a:endParaRPr>
          </a:p>
        </p:txBody>
      </p:sp>
    </p:spTree>
    <p:extLst>
      <p:ext uri="{BB962C8B-B14F-4D97-AF65-F5344CB8AC3E}">
        <p14:creationId xmlns:p14="http://schemas.microsoft.com/office/powerpoint/2010/main" val="1048950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99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0992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99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4" grpId="0" animBg="1"/>
      <p:bldP spid="209925" grpId="0" animBg="1"/>
      <p:bldP spid="2" grpId="0" animBg="1"/>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4153701" cy="1323439"/>
          </a:xfrm>
          <a:prstGeom prst="rect">
            <a:avLst/>
          </a:prstGeom>
        </p:spPr>
        <p:txBody>
          <a:bodyPr wrap="none">
            <a:spAutoFit/>
          </a:bodyPr>
          <a:lstStyle/>
          <a:p>
            <a:r>
              <a:rPr lang="en-US" altLang="zh-CN" sz="4400" b="1" dirty="0">
                <a:solidFill>
                  <a:srgbClr val="CC0099"/>
                </a:solidFill>
                <a:ea typeface="隶书" pitchFamily="49" charset="-122"/>
              </a:rPr>
              <a:t>3</a:t>
            </a:r>
            <a:r>
              <a:rPr lang="zh-CN" altLang="en-US" sz="4400" b="1" dirty="0">
                <a:solidFill>
                  <a:srgbClr val="CC0099"/>
                </a:solidFill>
                <a:ea typeface="隶书" pitchFamily="49" charset="-122"/>
              </a:rPr>
              <a:t>、属性文法</a:t>
            </a:r>
            <a:endParaRPr lang="en-US" altLang="zh-CN" sz="4400" b="1" dirty="0">
              <a:solidFill>
                <a:srgbClr val="CC0099"/>
              </a:solidFill>
              <a:ea typeface="隶书" pitchFamily="49" charset="-122"/>
            </a:endParaRPr>
          </a:p>
          <a:p>
            <a:r>
              <a:rPr lang="en-US" altLang="zh-CN" sz="3600" b="1" dirty="0">
                <a:solidFill>
                  <a:srgbClr val="CC0099"/>
                </a:solidFill>
                <a:ea typeface="隶书" pitchFamily="49" charset="-122"/>
              </a:rPr>
              <a:t>     ——</a:t>
            </a:r>
            <a:r>
              <a:rPr lang="zh-CN" altLang="en-US" sz="3600" b="1" dirty="0">
                <a:solidFill>
                  <a:srgbClr val="CC0099"/>
                </a:solidFill>
                <a:ea typeface="隶书" pitchFamily="49" charset="-122"/>
              </a:rPr>
              <a:t>属性的计算</a:t>
            </a:r>
            <a:endParaRPr lang="zh-CN" altLang="en-US" sz="3600" dirty="0"/>
          </a:p>
        </p:txBody>
      </p:sp>
    </p:spTree>
    <p:extLst>
      <p:ext uri="{BB962C8B-B14F-4D97-AF65-F5344CB8AC3E}">
        <p14:creationId xmlns:p14="http://schemas.microsoft.com/office/powerpoint/2010/main" val="1276069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noAutofit/>
          </a:bodyPr>
          <a:lstStyle/>
          <a:p>
            <a:r>
              <a:rPr lang="zh-CN" altLang="en-US" dirty="0"/>
              <a:t>综合属性的计算</a:t>
            </a:r>
          </a:p>
        </p:txBody>
      </p:sp>
      <p:sp>
        <p:nvSpPr>
          <p:cNvPr id="29699" name="内容占位符 2"/>
          <p:cNvSpPr>
            <a:spLocks noGrp="1"/>
          </p:cNvSpPr>
          <p:nvPr>
            <p:ph idx="1"/>
          </p:nvPr>
        </p:nvSpPr>
        <p:spPr>
          <a:xfrm>
            <a:off x="539552" y="843558"/>
            <a:ext cx="8229600" cy="3765009"/>
          </a:xfrm>
        </p:spPr>
        <p:txBody>
          <a:bodyPr>
            <a:normAutofit/>
          </a:bodyPr>
          <a:lstStyle/>
          <a:p>
            <a:r>
              <a:rPr lang="zh-CN" altLang="zh-CN" sz="2200" dirty="0"/>
              <a:t>综合属性在实践中具有广泛应用。</a:t>
            </a:r>
            <a:endParaRPr lang="en-US" altLang="zh-CN" sz="2200" dirty="0"/>
          </a:p>
          <a:p>
            <a:r>
              <a:rPr lang="zh-CN" altLang="zh-CN" sz="2200" dirty="0"/>
              <a:t>在语法树中，一个结点的综合属性的值由其子结点的属性值</a:t>
            </a:r>
            <a:r>
              <a:rPr lang="zh-CN" altLang="en-US" sz="2200" dirty="0"/>
              <a:t>和它自身的某些属性值</a:t>
            </a:r>
            <a:r>
              <a:rPr lang="zh-CN" altLang="zh-CN" sz="2200" dirty="0"/>
              <a:t>确定。</a:t>
            </a:r>
            <a:endParaRPr lang="en-US" altLang="zh-CN" sz="2200" dirty="0"/>
          </a:p>
          <a:p>
            <a:r>
              <a:rPr lang="zh-CN" altLang="zh-CN" sz="2200" dirty="0"/>
              <a:t>因此，通常使用</a:t>
            </a:r>
            <a:r>
              <a:rPr lang="zh-CN" altLang="zh-CN" sz="2200" dirty="0">
                <a:solidFill>
                  <a:srgbClr val="FF3300"/>
                </a:solidFill>
              </a:rPr>
              <a:t>自下而上</a:t>
            </a:r>
            <a:r>
              <a:rPr lang="zh-CN" altLang="zh-CN" sz="2200" dirty="0"/>
              <a:t>的方法在每个结点处使用语义规则来计算综合属性的值。</a:t>
            </a:r>
            <a:endParaRPr lang="en-US" altLang="zh-CN" sz="2200" dirty="0"/>
          </a:p>
          <a:p>
            <a:r>
              <a:rPr lang="zh-CN" altLang="zh-CN" sz="2200" dirty="0"/>
              <a:t>仅仅含有综合属性的属性文法称为</a:t>
            </a:r>
            <a:r>
              <a:rPr lang="en-US" altLang="zh-CN" sz="2200" dirty="0">
                <a:solidFill>
                  <a:srgbClr val="FF0000"/>
                </a:solidFill>
              </a:rPr>
              <a:t>S-</a:t>
            </a:r>
            <a:r>
              <a:rPr lang="zh-CN" altLang="zh-CN" sz="2200" dirty="0">
                <a:solidFill>
                  <a:srgbClr val="FF0000"/>
                </a:solidFill>
              </a:rPr>
              <a:t>属性文法。</a:t>
            </a:r>
            <a:endParaRPr lang="en-US" altLang="zh-CN" sz="2200" dirty="0">
              <a:solidFill>
                <a:srgbClr val="FF0000"/>
              </a:solidFill>
            </a:endParaRPr>
          </a:p>
          <a:p>
            <a:r>
              <a:rPr lang="en-US" altLang="zh-CN" sz="2200" dirty="0"/>
              <a:t>S-</a:t>
            </a:r>
            <a:r>
              <a:rPr lang="zh-CN" altLang="en-US" sz="2200" dirty="0"/>
              <a:t>属性文法适合和</a:t>
            </a:r>
            <a:r>
              <a:rPr lang="zh-CN" altLang="zh-CN" sz="2200" dirty="0">
                <a:solidFill>
                  <a:srgbClr val="FF0000"/>
                </a:solidFill>
              </a:rPr>
              <a:t>自下而上</a:t>
            </a:r>
            <a:r>
              <a:rPr lang="zh-CN" altLang="zh-CN" sz="2200" dirty="0"/>
              <a:t>的语法分析</a:t>
            </a:r>
            <a:r>
              <a:rPr lang="zh-CN" altLang="en-US" sz="2200" dirty="0"/>
              <a:t>器联合工作，在自下而上的语法分析中</a:t>
            </a:r>
            <a:r>
              <a:rPr lang="zh-CN" altLang="zh-CN" sz="2200" dirty="0"/>
              <a:t>，</a:t>
            </a:r>
            <a:r>
              <a:rPr lang="zh-CN" altLang="en-US" sz="2200" dirty="0"/>
              <a:t>一边进行语法分析，一边进行语义计算。</a:t>
            </a:r>
            <a:endParaRPr lang="en-US" altLang="zh-CN" sz="2200" dirty="0"/>
          </a:p>
          <a:p>
            <a:r>
              <a:rPr lang="zh-CN" altLang="zh-CN" sz="2200" dirty="0"/>
              <a:t>当</a:t>
            </a:r>
            <a:r>
              <a:rPr lang="zh-CN" altLang="zh-CN" sz="2200" dirty="0">
                <a:solidFill>
                  <a:srgbClr val="0070C0"/>
                </a:solidFill>
              </a:rPr>
              <a:t>在某结点处使用某产生式进行归约时，就调用与该产生式对应的语义规则来计算属性值</a:t>
            </a:r>
            <a:r>
              <a:rPr lang="zh-CN" altLang="zh-CN" sz="2200" dirty="0"/>
              <a:t>。</a:t>
            </a:r>
            <a:endParaRPr lang="zh-CN" altLang="en-US" sz="2200" dirty="0">
              <a:solidFill>
                <a:srgbClr val="FF0000"/>
              </a:solidFill>
            </a:endParaRPr>
          </a:p>
        </p:txBody>
      </p:sp>
    </p:spTree>
    <p:extLst>
      <p:ext uri="{BB962C8B-B14F-4D97-AF65-F5344CB8AC3E}">
        <p14:creationId xmlns:p14="http://schemas.microsoft.com/office/powerpoint/2010/main" val="3548775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6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6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28"/>
          <p:cNvSpPr>
            <a:spLocks noChangeArrowheads="1"/>
          </p:cNvSpPr>
          <p:nvPr/>
        </p:nvSpPr>
        <p:spPr bwMode="auto">
          <a:xfrm>
            <a:off x="1988716" y="3780921"/>
            <a:ext cx="927100"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spcBef>
                <a:spcPct val="0"/>
              </a:spcBef>
              <a:buFontTx/>
              <a:buNone/>
            </a:pPr>
            <a:r>
              <a:rPr kumimoji="1" lang="en-US" altLang="zh-CN" sz="2000" dirty="0" err="1">
                <a:latin typeface="Times New Roman" pitchFamily="18" charset="0"/>
              </a:rPr>
              <a:t>i</a:t>
            </a:r>
            <a:endParaRPr kumimoji="1" lang="en-US" altLang="zh-CN" sz="2000" dirty="0">
              <a:latin typeface="Times New Roman" pitchFamily="18" charset="0"/>
            </a:endParaRPr>
          </a:p>
        </p:txBody>
      </p:sp>
      <p:sp>
        <p:nvSpPr>
          <p:cNvPr id="30723" name="Rectangle 1029"/>
          <p:cNvSpPr>
            <a:spLocks noChangeArrowheads="1"/>
          </p:cNvSpPr>
          <p:nvPr/>
        </p:nvSpPr>
        <p:spPr bwMode="auto">
          <a:xfrm>
            <a:off x="1988715" y="3152920"/>
            <a:ext cx="914400"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spcBef>
                <a:spcPct val="0"/>
              </a:spcBef>
              <a:buFontTx/>
              <a:buNone/>
            </a:pPr>
            <a:r>
              <a:rPr kumimoji="1" lang="en-US" altLang="zh-CN" sz="2000">
                <a:latin typeface="Times New Roman" pitchFamily="18" charset="0"/>
              </a:rPr>
              <a:t>F</a:t>
            </a:r>
          </a:p>
        </p:txBody>
      </p:sp>
      <p:sp>
        <p:nvSpPr>
          <p:cNvPr id="30724" name="Line 1030"/>
          <p:cNvSpPr>
            <a:spLocks noChangeShapeType="1"/>
          </p:cNvSpPr>
          <p:nvPr/>
        </p:nvSpPr>
        <p:spPr bwMode="auto">
          <a:xfrm flipV="1">
            <a:off x="2407815" y="3506644"/>
            <a:ext cx="0" cy="28575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30725" name="Line 1031"/>
          <p:cNvSpPr>
            <a:spLocks noChangeShapeType="1"/>
          </p:cNvSpPr>
          <p:nvPr/>
        </p:nvSpPr>
        <p:spPr bwMode="auto">
          <a:xfrm flipV="1">
            <a:off x="2407815" y="2816081"/>
            <a:ext cx="0" cy="3429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30726" name="Rectangle 1032"/>
          <p:cNvSpPr>
            <a:spLocks noChangeArrowheads="1"/>
          </p:cNvSpPr>
          <p:nvPr/>
        </p:nvSpPr>
        <p:spPr bwMode="auto">
          <a:xfrm>
            <a:off x="1988715" y="2499742"/>
            <a:ext cx="927101"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spcBef>
                <a:spcPct val="0"/>
              </a:spcBef>
              <a:buFontTx/>
              <a:buNone/>
            </a:pPr>
            <a:r>
              <a:rPr kumimoji="1" lang="en-US" altLang="zh-CN" sz="2000">
                <a:latin typeface="Times New Roman" pitchFamily="18" charset="0"/>
              </a:rPr>
              <a:t>T</a:t>
            </a:r>
          </a:p>
        </p:txBody>
      </p:sp>
      <p:sp>
        <p:nvSpPr>
          <p:cNvPr id="30727" name="Rectangle 1035"/>
          <p:cNvSpPr>
            <a:spLocks noChangeArrowheads="1"/>
          </p:cNvSpPr>
          <p:nvPr/>
        </p:nvSpPr>
        <p:spPr bwMode="auto">
          <a:xfrm>
            <a:off x="4173538" y="2499742"/>
            <a:ext cx="976312"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F</a:t>
            </a:r>
          </a:p>
        </p:txBody>
      </p:sp>
      <p:sp>
        <p:nvSpPr>
          <p:cNvPr id="30729" name="Line 1037"/>
          <p:cNvSpPr>
            <a:spLocks noChangeShapeType="1"/>
          </p:cNvSpPr>
          <p:nvPr/>
        </p:nvSpPr>
        <p:spPr bwMode="auto">
          <a:xfrm flipH="1">
            <a:off x="2452265" y="2139703"/>
            <a:ext cx="883072" cy="360039"/>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30730" name="Line 1038"/>
          <p:cNvSpPr>
            <a:spLocks noChangeShapeType="1"/>
          </p:cNvSpPr>
          <p:nvPr/>
        </p:nvSpPr>
        <p:spPr bwMode="auto">
          <a:xfrm>
            <a:off x="4021138" y="2139702"/>
            <a:ext cx="640556" cy="360040"/>
          </a:xfrm>
          <a:prstGeom prst="line">
            <a:avLst/>
          </a:prstGeom>
          <a:noFill/>
          <a:ln w="9525">
            <a:solidFill>
              <a:schemeClr val="tx2"/>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30731" name="Text Box 1039"/>
          <p:cNvSpPr txBox="1">
            <a:spLocks noChangeArrowheads="1"/>
          </p:cNvSpPr>
          <p:nvPr/>
        </p:nvSpPr>
        <p:spPr bwMode="auto">
          <a:xfrm>
            <a:off x="3419872" y="2499742"/>
            <a:ext cx="457200" cy="340735"/>
          </a:xfrm>
          <a:prstGeom prst="rect">
            <a:avLst/>
          </a:prstGeom>
          <a:solidFill>
            <a:schemeClr val="bg1"/>
          </a:solidFill>
          <a:ln w="9525">
            <a:solidFill>
              <a:schemeClr val="tx1"/>
            </a:solidFill>
            <a:miter lim="800000"/>
            <a:headEnd/>
            <a:tailEnd type="none" w="lg" len="lg"/>
          </a:ln>
        </p:spPr>
        <p:txBody>
          <a:bodyPr lIns="90000" tIns="46800" rIns="90000" bIns="46800">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zh-CN" altLang="en-US" sz="2000" dirty="0">
                <a:latin typeface="Times New Roman" pitchFamily="18" charset="0"/>
              </a:rPr>
              <a:t>*</a:t>
            </a:r>
            <a:endParaRPr kumimoji="1" lang="en-US" altLang="zh-CN" sz="2000" dirty="0">
              <a:latin typeface="Times New Roman" pitchFamily="18" charset="0"/>
            </a:endParaRPr>
          </a:p>
        </p:txBody>
      </p:sp>
      <p:sp>
        <p:nvSpPr>
          <p:cNvPr id="30732" name="Line 1040"/>
          <p:cNvSpPr>
            <a:spLocks noChangeShapeType="1"/>
          </p:cNvSpPr>
          <p:nvPr/>
        </p:nvSpPr>
        <p:spPr bwMode="auto">
          <a:xfrm>
            <a:off x="3619500" y="2139702"/>
            <a:ext cx="20638" cy="360041"/>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30733" name="Line 1041"/>
          <p:cNvSpPr>
            <a:spLocks noChangeShapeType="1"/>
          </p:cNvSpPr>
          <p:nvPr/>
        </p:nvSpPr>
        <p:spPr bwMode="auto">
          <a:xfrm flipV="1">
            <a:off x="3640138" y="1457950"/>
            <a:ext cx="0" cy="28575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30734" name="Rectangle 1042"/>
          <p:cNvSpPr>
            <a:spLocks noChangeArrowheads="1"/>
          </p:cNvSpPr>
          <p:nvPr/>
        </p:nvSpPr>
        <p:spPr bwMode="auto">
          <a:xfrm>
            <a:off x="3133726" y="1112561"/>
            <a:ext cx="1039813"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E</a:t>
            </a:r>
          </a:p>
        </p:txBody>
      </p:sp>
      <p:sp>
        <p:nvSpPr>
          <p:cNvPr id="30735" name="Text Box 1043"/>
          <p:cNvSpPr txBox="1">
            <a:spLocks noChangeArrowheads="1"/>
          </p:cNvSpPr>
          <p:nvPr/>
        </p:nvSpPr>
        <p:spPr bwMode="auto">
          <a:xfrm>
            <a:off x="4789488" y="1112561"/>
            <a:ext cx="577850" cy="340735"/>
          </a:xfrm>
          <a:prstGeom prst="rect">
            <a:avLst/>
          </a:prstGeom>
          <a:solidFill>
            <a:schemeClr val="bg1"/>
          </a:solidFill>
          <a:ln w="9525">
            <a:solidFill>
              <a:schemeClr val="tx1"/>
            </a:solidFill>
            <a:miter lim="800000"/>
            <a:headEnd/>
            <a:tailEnd type="none" w="lg" len="lg"/>
          </a:ln>
        </p:spPr>
        <p:txBody>
          <a:bodyPr lIns="90000" tIns="46800" rIns="90000" bIns="46800">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a:t>
            </a:r>
          </a:p>
        </p:txBody>
      </p:sp>
      <p:sp>
        <p:nvSpPr>
          <p:cNvPr id="30736" name="Rectangle 1044"/>
          <p:cNvSpPr>
            <a:spLocks noChangeArrowheads="1"/>
          </p:cNvSpPr>
          <p:nvPr/>
        </p:nvSpPr>
        <p:spPr bwMode="auto">
          <a:xfrm>
            <a:off x="6086477" y="2499742"/>
            <a:ext cx="1171574"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err="1">
                <a:latin typeface="Times New Roman" pitchFamily="18" charset="0"/>
              </a:rPr>
              <a:t>i</a:t>
            </a:r>
            <a:endParaRPr kumimoji="1" lang="en-US" altLang="zh-CN" sz="2000" dirty="0">
              <a:latin typeface="Times New Roman" pitchFamily="18" charset="0"/>
            </a:endParaRPr>
          </a:p>
        </p:txBody>
      </p:sp>
      <p:sp>
        <p:nvSpPr>
          <p:cNvPr id="30737" name="Line 1045"/>
          <p:cNvSpPr>
            <a:spLocks noChangeShapeType="1"/>
          </p:cNvSpPr>
          <p:nvPr/>
        </p:nvSpPr>
        <p:spPr bwMode="auto">
          <a:xfrm flipV="1">
            <a:off x="6672263" y="2139702"/>
            <a:ext cx="0" cy="3429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30728" name="Rectangle 1036"/>
          <p:cNvSpPr>
            <a:spLocks noChangeArrowheads="1"/>
          </p:cNvSpPr>
          <p:nvPr/>
        </p:nvSpPr>
        <p:spPr bwMode="auto">
          <a:xfrm>
            <a:off x="3133726" y="1779311"/>
            <a:ext cx="1039813"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a:latin typeface="Times New Roman" pitchFamily="18" charset="0"/>
              </a:rPr>
              <a:t>T</a:t>
            </a:r>
          </a:p>
        </p:txBody>
      </p:sp>
      <p:sp>
        <p:nvSpPr>
          <p:cNvPr id="30738" name="Rectangle 1046"/>
          <p:cNvSpPr>
            <a:spLocks noChangeArrowheads="1"/>
          </p:cNvSpPr>
          <p:nvPr/>
        </p:nvSpPr>
        <p:spPr bwMode="auto">
          <a:xfrm>
            <a:off x="6086476" y="1779311"/>
            <a:ext cx="1171575"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a:latin typeface="Times New Roman" pitchFamily="18" charset="0"/>
              </a:rPr>
              <a:t>F</a:t>
            </a:r>
          </a:p>
        </p:txBody>
      </p:sp>
      <p:sp>
        <p:nvSpPr>
          <p:cNvPr id="30739" name="Rectangle 1047"/>
          <p:cNvSpPr>
            <a:spLocks noChangeArrowheads="1"/>
          </p:cNvSpPr>
          <p:nvPr/>
        </p:nvSpPr>
        <p:spPr bwMode="auto">
          <a:xfrm>
            <a:off x="6086476" y="1112561"/>
            <a:ext cx="1171575"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a:latin typeface="Times New Roman" pitchFamily="18" charset="0"/>
              </a:rPr>
              <a:t>T</a:t>
            </a:r>
          </a:p>
        </p:txBody>
      </p:sp>
      <p:sp>
        <p:nvSpPr>
          <p:cNvPr id="30740" name="Line 1048"/>
          <p:cNvSpPr>
            <a:spLocks noChangeShapeType="1"/>
          </p:cNvSpPr>
          <p:nvPr/>
        </p:nvSpPr>
        <p:spPr bwMode="auto">
          <a:xfrm flipV="1">
            <a:off x="6672262" y="1453296"/>
            <a:ext cx="1" cy="324084"/>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30741" name="Rectangle 1049"/>
          <p:cNvSpPr>
            <a:spLocks noChangeArrowheads="1"/>
          </p:cNvSpPr>
          <p:nvPr/>
        </p:nvSpPr>
        <p:spPr bwMode="auto">
          <a:xfrm>
            <a:off x="4572001" y="430815"/>
            <a:ext cx="1008063"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a:latin typeface="Times New Roman" pitchFamily="18" charset="0"/>
              </a:rPr>
              <a:t>E</a:t>
            </a:r>
          </a:p>
        </p:txBody>
      </p:sp>
      <p:sp>
        <p:nvSpPr>
          <p:cNvPr id="30742" name="Line 1050"/>
          <p:cNvSpPr>
            <a:spLocks noChangeShapeType="1"/>
          </p:cNvSpPr>
          <p:nvPr/>
        </p:nvSpPr>
        <p:spPr bwMode="auto">
          <a:xfrm flipH="1">
            <a:off x="3653632" y="771579"/>
            <a:ext cx="1264444" cy="340982"/>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30743" name="Line 1051"/>
          <p:cNvSpPr>
            <a:spLocks noChangeShapeType="1"/>
          </p:cNvSpPr>
          <p:nvPr/>
        </p:nvSpPr>
        <p:spPr bwMode="auto">
          <a:xfrm>
            <a:off x="5076032" y="771580"/>
            <a:ext cx="2381" cy="32623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30744" name="Line 1052"/>
          <p:cNvSpPr>
            <a:spLocks noChangeShapeType="1"/>
          </p:cNvSpPr>
          <p:nvPr/>
        </p:nvSpPr>
        <p:spPr bwMode="auto">
          <a:xfrm>
            <a:off x="5256213" y="771580"/>
            <a:ext cx="1333500" cy="335756"/>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30745" name="Rectangle 1053"/>
          <p:cNvSpPr>
            <a:spLocks noChangeArrowheads="1"/>
          </p:cNvSpPr>
          <p:nvPr/>
        </p:nvSpPr>
        <p:spPr bwMode="auto">
          <a:xfrm>
            <a:off x="6176963" y="51470"/>
            <a:ext cx="550862" cy="340735"/>
          </a:xfrm>
          <a:prstGeom prst="rect">
            <a:avLst/>
          </a:prstGeom>
          <a:solidFill>
            <a:schemeClr val="bg1"/>
          </a:solidFill>
          <a:ln w="9525">
            <a:solidFill>
              <a:schemeClr val="tx1"/>
            </a:solidFill>
            <a:miter lim="800000"/>
            <a:headEnd/>
            <a:tailEnd type="none" w="lg" len="lg"/>
          </a:ln>
        </p:spPr>
        <p:txBody>
          <a:bodyPr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a:latin typeface="Times New Roman" pitchFamily="18" charset="0"/>
              </a:rPr>
              <a:t>L</a:t>
            </a:r>
          </a:p>
        </p:txBody>
      </p:sp>
      <p:sp>
        <p:nvSpPr>
          <p:cNvPr id="30746" name="Line 1054"/>
          <p:cNvSpPr>
            <a:spLocks noChangeShapeType="1"/>
          </p:cNvSpPr>
          <p:nvPr/>
        </p:nvSpPr>
        <p:spPr bwMode="auto">
          <a:xfrm flipV="1">
            <a:off x="5580064" y="260068"/>
            <a:ext cx="596899" cy="341115"/>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30747" name="Text Box 1055"/>
          <p:cNvSpPr txBox="1">
            <a:spLocks noChangeArrowheads="1"/>
          </p:cNvSpPr>
          <p:nvPr/>
        </p:nvSpPr>
        <p:spPr bwMode="auto">
          <a:xfrm>
            <a:off x="7611391" y="430815"/>
            <a:ext cx="457200" cy="340735"/>
          </a:xfrm>
          <a:prstGeom prst="rect">
            <a:avLst/>
          </a:prstGeom>
          <a:solidFill>
            <a:schemeClr val="bg1"/>
          </a:solidFill>
          <a:ln w="9525">
            <a:solidFill>
              <a:schemeClr val="tx1"/>
            </a:solidFill>
            <a:miter lim="800000"/>
            <a:headEnd/>
            <a:tailEnd type="none" w="lg" len="lg"/>
          </a:ln>
        </p:spPr>
        <p:txBody>
          <a:bodyPr lIns="90000" tIns="46800" rIns="90000" bIns="46800">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a:latin typeface="Times New Roman" pitchFamily="18" charset="0"/>
              </a:rPr>
              <a:t>#</a:t>
            </a:r>
          </a:p>
        </p:txBody>
      </p:sp>
      <p:sp>
        <p:nvSpPr>
          <p:cNvPr id="30748" name="Line 1056"/>
          <p:cNvSpPr>
            <a:spLocks noChangeShapeType="1"/>
          </p:cNvSpPr>
          <p:nvPr/>
        </p:nvSpPr>
        <p:spPr bwMode="auto">
          <a:xfrm>
            <a:off x="6727825" y="260067"/>
            <a:ext cx="883566" cy="254501"/>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graphicFrame>
        <p:nvGraphicFramePr>
          <p:cNvPr id="136253" name="Group 1085"/>
          <p:cNvGraphicFramePr>
            <a:graphicFrameLocks noGrp="1"/>
          </p:cNvGraphicFramePr>
          <p:nvPr>
            <p:extLst>
              <p:ext uri="{D42A27DB-BD31-4B8C-83A1-F6EECF244321}">
                <p14:modId xmlns:p14="http://schemas.microsoft.com/office/powerpoint/2010/main" val="4242158082"/>
              </p:ext>
            </p:extLst>
          </p:nvPr>
        </p:nvGraphicFramePr>
        <p:xfrm>
          <a:off x="5868144" y="3469482"/>
          <a:ext cx="3275857" cy="1674019"/>
        </p:xfrm>
        <a:graphic>
          <a:graphicData uri="http://schemas.openxmlformats.org/drawingml/2006/table">
            <a:tbl>
              <a:tblPr/>
              <a:tblGrid>
                <a:gridCol w="1512168">
                  <a:extLst>
                    <a:ext uri="{9D8B030D-6E8A-4147-A177-3AD203B41FA5}">
                      <a16:colId xmlns:a16="http://schemas.microsoft.com/office/drawing/2014/main" val="20000"/>
                    </a:ext>
                  </a:extLst>
                </a:gridCol>
                <a:gridCol w="1763689">
                  <a:extLst>
                    <a:ext uri="{9D8B030D-6E8A-4147-A177-3AD203B41FA5}">
                      <a16:colId xmlns:a16="http://schemas.microsoft.com/office/drawing/2014/main" val="20001"/>
                    </a:ext>
                  </a:extLst>
                </a:gridCol>
              </a:tblGrid>
              <a:tr h="167401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L→E</a:t>
                      </a:r>
                      <a:r>
                        <a:rPr kumimoji="0" lang="en-US"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E→E</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T→T</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T→F</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F→(E)</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r>
                        <a:rPr kumimoji="0" lang="fr-FR" altLang="zh-CN" sz="15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a:t>
                      </a:r>
                      <a:endParaRPr kumimoji="0" lang="fr-FR" altLang="zh-CN" sz="2700" b="0" i="0" u="none" strike="noStrike" cap="none" normalizeH="0" baseline="0" dirty="0">
                        <a:ln>
                          <a:noFill/>
                        </a:ln>
                        <a:solidFill>
                          <a:schemeClr val="tx1"/>
                        </a:solidFill>
                        <a:effectLst/>
                        <a:latin typeface="Arial" charset="0"/>
                        <a:ea typeface="宋体" pitchFamily="2" charset="-122"/>
                      </a:endParaRPr>
                    </a:p>
                  </a:txBody>
                  <a:tcPr marL="91425" marR="91425"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print(E.val)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E.val=E</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.val+t.val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E.val=T.val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T.val=T</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 * F.val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T.val=F.val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F.val=E.val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a:t>
                      </a:r>
                      <a:r>
                        <a:rPr kumimoji="0" lang="fr-FR" altLang="zh-CN" sz="15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.lexval</a:t>
                      </a:r>
                      <a:endParaRPr kumimoji="0" lang="fr-FR" altLang="zh-CN" sz="2700" b="0" i="0" u="none" strike="noStrike" cap="none" normalizeH="0" baseline="0" dirty="0">
                        <a:ln>
                          <a:noFill/>
                        </a:ln>
                        <a:solidFill>
                          <a:schemeClr val="tx1"/>
                        </a:solidFill>
                        <a:effectLst/>
                        <a:latin typeface="Arial" charset="0"/>
                        <a:ea typeface="宋体" pitchFamily="2" charset="-122"/>
                      </a:endParaRPr>
                    </a:p>
                  </a:txBody>
                  <a:tcPr marL="91425" marR="91425"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0"/>
                  </a:ext>
                </a:extLst>
              </a:tr>
            </a:tbl>
          </a:graphicData>
        </a:graphic>
      </p:graphicFrame>
      <p:sp>
        <p:nvSpPr>
          <p:cNvPr id="30757" name="Rectangle 1033"/>
          <p:cNvSpPr>
            <a:spLocks noChangeArrowheads="1"/>
          </p:cNvSpPr>
          <p:nvPr/>
        </p:nvSpPr>
        <p:spPr bwMode="auto">
          <a:xfrm>
            <a:off x="4173539" y="3152920"/>
            <a:ext cx="976311"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err="1">
                <a:latin typeface="Times New Roman" pitchFamily="18" charset="0"/>
              </a:rPr>
              <a:t>i</a:t>
            </a:r>
            <a:endParaRPr kumimoji="1" lang="en-US" altLang="zh-CN" sz="2000" dirty="0">
              <a:latin typeface="Times New Roman" pitchFamily="18" charset="0"/>
            </a:endParaRPr>
          </a:p>
        </p:txBody>
      </p:sp>
      <p:sp>
        <p:nvSpPr>
          <p:cNvPr id="30758" name="Line 1034"/>
          <p:cNvSpPr>
            <a:spLocks noChangeShapeType="1"/>
          </p:cNvSpPr>
          <p:nvPr/>
        </p:nvSpPr>
        <p:spPr bwMode="auto">
          <a:xfrm flipH="1" flipV="1">
            <a:off x="4662488" y="2840476"/>
            <a:ext cx="0" cy="308978"/>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23605" name="Text Box 1086"/>
          <p:cNvSpPr txBox="1">
            <a:spLocks noChangeArrowheads="1"/>
          </p:cNvSpPr>
          <p:nvPr/>
        </p:nvSpPr>
        <p:spPr bwMode="auto">
          <a:xfrm>
            <a:off x="2" y="4299347"/>
            <a:ext cx="5078412" cy="769441"/>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buFontTx/>
              <a:buNone/>
              <a:defRPr/>
            </a:pPr>
            <a:r>
              <a:rPr lang="zh-CN" altLang="en-US" sz="2200" b="1" dirty="0"/>
              <a:t>语法分析时，输入符号串</a:t>
            </a:r>
            <a:r>
              <a:rPr lang="en-US" altLang="zh-CN" sz="2200" b="1" dirty="0"/>
              <a:t>3*5+4#</a:t>
            </a:r>
            <a:r>
              <a:rPr lang="zh-CN" altLang="en-US" sz="2200" b="1" dirty="0"/>
              <a:t>生成语法树，只用产生式</a:t>
            </a:r>
            <a:endParaRPr lang="en-US" altLang="zh-CN" sz="2200" b="1" dirty="0"/>
          </a:p>
        </p:txBody>
      </p:sp>
      <p:sp>
        <p:nvSpPr>
          <p:cNvPr id="30760" name="AutoShape 1089"/>
          <p:cNvSpPr>
            <a:spLocks noChangeArrowheads="1"/>
          </p:cNvSpPr>
          <p:nvPr/>
        </p:nvSpPr>
        <p:spPr bwMode="auto">
          <a:xfrm>
            <a:off x="0" y="1"/>
            <a:ext cx="2700338" cy="1059656"/>
          </a:xfrm>
          <a:prstGeom prst="wave">
            <a:avLst>
              <a:gd name="adj1" fmla="val 13005"/>
              <a:gd name="adj2" fmla="val 0"/>
            </a:avLst>
          </a:prstGeom>
          <a:solidFill>
            <a:srgbClr val="FFCCFF"/>
          </a:solidFill>
          <a:ln w="12700">
            <a:solidFill>
              <a:schemeClr val="tx1"/>
            </a:solidFill>
            <a:round/>
            <a:headEnd type="none" w="sm" len="sm"/>
            <a:tailEnd type="none" w="sm" len="sm"/>
          </a:ln>
        </p:spPr>
        <p:txBody>
          <a:bodyPr wrap="none" anchor="ct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zh-CN" altLang="en-US" sz="2800" b="1" dirty="0">
                <a:solidFill>
                  <a:schemeClr val="accent2"/>
                </a:solidFill>
              </a:rPr>
              <a:t>例</a:t>
            </a:r>
            <a:r>
              <a:rPr lang="zh-CN" altLang="en-US" sz="2800" b="1" dirty="0"/>
              <a:t>：</a:t>
            </a:r>
          </a:p>
          <a:p>
            <a:pPr eaLnBrk="1" hangingPunct="1">
              <a:lnSpc>
                <a:spcPct val="100000"/>
              </a:lnSpc>
              <a:spcBef>
                <a:spcPct val="0"/>
              </a:spcBef>
              <a:buFontTx/>
              <a:buNone/>
            </a:pPr>
            <a:r>
              <a:rPr lang="zh-CN" altLang="en-US" sz="2800" b="1" dirty="0"/>
              <a:t>综合属性的计算</a:t>
            </a:r>
          </a:p>
        </p:txBody>
      </p:sp>
    </p:spTree>
    <p:extLst>
      <p:ext uri="{BB962C8B-B14F-4D97-AF65-F5344CB8AC3E}">
        <p14:creationId xmlns:p14="http://schemas.microsoft.com/office/powerpoint/2010/main" val="345223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30724"/>
                                        </p:tgtEl>
                                        <p:attrNameLst>
                                          <p:attrName>style.visibility</p:attrName>
                                        </p:attrNameLst>
                                      </p:cBhvr>
                                      <p:to>
                                        <p:strVal val="visible"/>
                                      </p:to>
                                    </p:set>
                                    <p:animEffect transition="in" filter="wipe(down)">
                                      <p:cBhvr>
                                        <p:cTn id="11" dur="500"/>
                                        <p:tgtEl>
                                          <p:spTgt spid="3072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072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0725"/>
                                        </p:tgtEl>
                                        <p:attrNameLst>
                                          <p:attrName>style.visibility</p:attrName>
                                        </p:attrNameLst>
                                      </p:cBhvr>
                                      <p:to>
                                        <p:strVal val="visible"/>
                                      </p:to>
                                    </p:set>
                                    <p:animEffect transition="in" filter="wipe(down)">
                                      <p:cBhvr>
                                        <p:cTn id="20" dur="500"/>
                                        <p:tgtEl>
                                          <p:spTgt spid="3072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7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7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75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0758"/>
                                        </p:tgtEl>
                                        <p:attrNameLst>
                                          <p:attrName>style.visibility</p:attrName>
                                        </p:attrNameLst>
                                      </p:cBhvr>
                                      <p:to>
                                        <p:strVal val="visible"/>
                                      </p:to>
                                    </p:set>
                                    <p:animEffect transition="in" filter="wipe(down)">
                                      <p:cBhvr>
                                        <p:cTn id="37" dur="500"/>
                                        <p:tgtEl>
                                          <p:spTgt spid="30758"/>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072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30729"/>
                                        </p:tgtEl>
                                        <p:attrNameLst>
                                          <p:attrName>style.visibility</p:attrName>
                                        </p:attrNameLst>
                                      </p:cBhvr>
                                      <p:to>
                                        <p:strVal val="visible"/>
                                      </p:to>
                                    </p:set>
                                    <p:animEffect transition="in" filter="wipe(down)">
                                      <p:cBhvr>
                                        <p:cTn id="46" dur="500"/>
                                        <p:tgtEl>
                                          <p:spTgt spid="30729"/>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30732"/>
                                        </p:tgtEl>
                                        <p:attrNameLst>
                                          <p:attrName>style.visibility</p:attrName>
                                        </p:attrNameLst>
                                      </p:cBhvr>
                                      <p:to>
                                        <p:strVal val="visible"/>
                                      </p:to>
                                    </p:set>
                                    <p:animEffect transition="in" filter="wipe(down)">
                                      <p:cBhvr>
                                        <p:cTn id="49" dur="500"/>
                                        <p:tgtEl>
                                          <p:spTgt spid="30732"/>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30730"/>
                                        </p:tgtEl>
                                        <p:attrNameLst>
                                          <p:attrName>style.visibility</p:attrName>
                                        </p:attrNameLst>
                                      </p:cBhvr>
                                      <p:to>
                                        <p:strVal val="visible"/>
                                      </p:to>
                                    </p:set>
                                    <p:animEffect transition="in" filter="wipe(down)">
                                      <p:cBhvr>
                                        <p:cTn id="52" dur="500"/>
                                        <p:tgtEl>
                                          <p:spTgt spid="30730"/>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072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30733"/>
                                        </p:tgtEl>
                                        <p:attrNameLst>
                                          <p:attrName>style.visibility</p:attrName>
                                        </p:attrNameLst>
                                      </p:cBhvr>
                                      <p:to>
                                        <p:strVal val="visible"/>
                                      </p:to>
                                    </p:set>
                                    <p:animEffect transition="in" filter="wipe(down)">
                                      <p:cBhvr>
                                        <p:cTn id="61" dur="500"/>
                                        <p:tgtEl>
                                          <p:spTgt spid="30733"/>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3073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073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30736"/>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30737"/>
                                        </p:tgtEl>
                                        <p:attrNameLst>
                                          <p:attrName>style.visibility</p:attrName>
                                        </p:attrNameLst>
                                      </p:cBhvr>
                                      <p:to>
                                        <p:strVal val="visible"/>
                                      </p:to>
                                    </p:set>
                                    <p:animEffect transition="in" filter="wipe(down)">
                                      <p:cBhvr>
                                        <p:cTn id="78" dur="500"/>
                                        <p:tgtEl>
                                          <p:spTgt spid="30737"/>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073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30740"/>
                                        </p:tgtEl>
                                        <p:attrNameLst>
                                          <p:attrName>style.visibility</p:attrName>
                                        </p:attrNameLst>
                                      </p:cBhvr>
                                      <p:to>
                                        <p:strVal val="visible"/>
                                      </p:to>
                                    </p:set>
                                    <p:animEffect transition="in" filter="wipe(down)">
                                      <p:cBhvr>
                                        <p:cTn id="87" dur="500"/>
                                        <p:tgtEl>
                                          <p:spTgt spid="30740"/>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30739"/>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grpId="0" nodeType="clickEffect">
                                  <p:stCondLst>
                                    <p:cond delay="0"/>
                                  </p:stCondLst>
                                  <p:childTnLst>
                                    <p:set>
                                      <p:cBhvr>
                                        <p:cTn id="95" dur="1" fill="hold">
                                          <p:stCondLst>
                                            <p:cond delay="0"/>
                                          </p:stCondLst>
                                        </p:cTn>
                                        <p:tgtEl>
                                          <p:spTgt spid="30742"/>
                                        </p:tgtEl>
                                        <p:attrNameLst>
                                          <p:attrName>style.visibility</p:attrName>
                                        </p:attrNameLst>
                                      </p:cBhvr>
                                      <p:to>
                                        <p:strVal val="visible"/>
                                      </p:to>
                                    </p:set>
                                    <p:animEffect transition="in" filter="wipe(down)">
                                      <p:cBhvr>
                                        <p:cTn id="96" dur="500"/>
                                        <p:tgtEl>
                                          <p:spTgt spid="30742"/>
                                        </p:tgtEl>
                                      </p:cBhvr>
                                    </p:animEffect>
                                  </p:childTnLst>
                                </p:cTn>
                              </p:par>
                              <p:par>
                                <p:cTn id="97" presetID="22" presetClass="entr" presetSubtype="4" fill="hold" grpId="0" nodeType="withEffect">
                                  <p:stCondLst>
                                    <p:cond delay="0"/>
                                  </p:stCondLst>
                                  <p:childTnLst>
                                    <p:set>
                                      <p:cBhvr>
                                        <p:cTn id="98" dur="1" fill="hold">
                                          <p:stCondLst>
                                            <p:cond delay="0"/>
                                          </p:stCondLst>
                                        </p:cTn>
                                        <p:tgtEl>
                                          <p:spTgt spid="30743"/>
                                        </p:tgtEl>
                                        <p:attrNameLst>
                                          <p:attrName>style.visibility</p:attrName>
                                        </p:attrNameLst>
                                      </p:cBhvr>
                                      <p:to>
                                        <p:strVal val="visible"/>
                                      </p:to>
                                    </p:set>
                                    <p:animEffect transition="in" filter="wipe(down)">
                                      <p:cBhvr>
                                        <p:cTn id="99" dur="500"/>
                                        <p:tgtEl>
                                          <p:spTgt spid="30743"/>
                                        </p:tgtEl>
                                      </p:cBhvr>
                                    </p:animEffect>
                                  </p:childTnLst>
                                </p:cTn>
                              </p:par>
                              <p:par>
                                <p:cTn id="100" presetID="22" presetClass="entr" presetSubtype="4" fill="hold" grpId="0" nodeType="withEffect">
                                  <p:stCondLst>
                                    <p:cond delay="0"/>
                                  </p:stCondLst>
                                  <p:childTnLst>
                                    <p:set>
                                      <p:cBhvr>
                                        <p:cTn id="101" dur="1" fill="hold">
                                          <p:stCondLst>
                                            <p:cond delay="0"/>
                                          </p:stCondLst>
                                        </p:cTn>
                                        <p:tgtEl>
                                          <p:spTgt spid="30744"/>
                                        </p:tgtEl>
                                        <p:attrNameLst>
                                          <p:attrName>style.visibility</p:attrName>
                                        </p:attrNameLst>
                                      </p:cBhvr>
                                      <p:to>
                                        <p:strVal val="visible"/>
                                      </p:to>
                                    </p:set>
                                    <p:animEffect transition="in" filter="wipe(down)">
                                      <p:cBhvr>
                                        <p:cTn id="102" dur="500"/>
                                        <p:tgtEl>
                                          <p:spTgt spid="30744"/>
                                        </p:tgtEl>
                                      </p:cBhvr>
                                    </p:animEffec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074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074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22" presetClass="entr" presetSubtype="4" fill="hold" grpId="0" nodeType="clickEffect">
                                  <p:stCondLst>
                                    <p:cond delay="0"/>
                                  </p:stCondLst>
                                  <p:childTnLst>
                                    <p:set>
                                      <p:cBhvr>
                                        <p:cTn id="114" dur="1" fill="hold">
                                          <p:stCondLst>
                                            <p:cond delay="0"/>
                                          </p:stCondLst>
                                        </p:cTn>
                                        <p:tgtEl>
                                          <p:spTgt spid="30746"/>
                                        </p:tgtEl>
                                        <p:attrNameLst>
                                          <p:attrName>style.visibility</p:attrName>
                                        </p:attrNameLst>
                                      </p:cBhvr>
                                      <p:to>
                                        <p:strVal val="visible"/>
                                      </p:to>
                                    </p:set>
                                    <p:animEffect transition="in" filter="wipe(down)">
                                      <p:cBhvr>
                                        <p:cTn id="115" dur="500"/>
                                        <p:tgtEl>
                                          <p:spTgt spid="30746"/>
                                        </p:tgtEl>
                                      </p:cBhvr>
                                    </p:animEffect>
                                  </p:childTnLst>
                                </p:cTn>
                              </p:par>
                              <p:par>
                                <p:cTn id="116" presetID="22" presetClass="entr" presetSubtype="4" fill="hold" grpId="0" nodeType="withEffect">
                                  <p:stCondLst>
                                    <p:cond delay="0"/>
                                  </p:stCondLst>
                                  <p:childTnLst>
                                    <p:set>
                                      <p:cBhvr>
                                        <p:cTn id="117" dur="1" fill="hold">
                                          <p:stCondLst>
                                            <p:cond delay="0"/>
                                          </p:stCondLst>
                                        </p:cTn>
                                        <p:tgtEl>
                                          <p:spTgt spid="30748"/>
                                        </p:tgtEl>
                                        <p:attrNameLst>
                                          <p:attrName>style.visibility</p:attrName>
                                        </p:attrNameLst>
                                      </p:cBhvr>
                                      <p:to>
                                        <p:strVal val="visible"/>
                                      </p:to>
                                    </p:set>
                                    <p:animEffect transition="in" filter="wipe(down)">
                                      <p:cBhvr>
                                        <p:cTn id="118" dur="500"/>
                                        <p:tgtEl>
                                          <p:spTgt spid="30748"/>
                                        </p:tgtEl>
                                      </p:cBhvr>
                                    </p:animEffec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307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p:bldP spid="30723" grpId="0" animBg="1"/>
      <p:bldP spid="30724" grpId="0" animBg="1"/>
      <p:bldP spid="30725" grpId="0" animBg="1"/>
      <p:bldP spid="30726" grpId="0" animBg="1"/>
      <p:bldP spid="30727" grpId="0" animBg="1"/>
      <p:bldP spid="30729" grpId="0" animBg="1"/>
      <p:bldP spid="30730" grpId="0" animBg="1"/>
      <p:bldP spid="30731" grpId="0" animBg="1"/>
      <p:bldP spid="30732" grpId="0" animBg="1"/>
      <p:bldP spid="30733" grpId="0" animBg="1"/>
      <p:bldP spid="30734" grpId="0" animBg="1"/>
      <p:bldP spid="30735" grpId="0" animBg="1"/>
      <p:bldP spid="30736" grpId="0" animBg="1"/>
      <p:bldP spid="30737" grpId="0" animBg="1"/>
      <p:bldP spid="30728" grpId="0" animBg="1"/>
      <p:bldP spid="30738" grpId="0" animBg="1"/>
      <p:bldP spid="30739" grpId="0" animBg="1"/>
      <p:bldP spid="30740" grpId="0" animBg="1"/>
      <p:bldP spid="30741" grpId="0" animBg="1"/>
      <p:bldP spid="30742" grpId="0" animBg="1"/>
      <p:bldP spid="30743" grpId="0" animBg="1"/>
      <p:bldP spid="30744" grpId="0" animBg="1"/>
      <p:bldP spid="30745" grpId="0" animBg="1"/>
      <p:bldP spid="30746" grpId="0" animBg="1"/>
      <p:bldP spid="30747" grpId="0" animBg="1"/>
      <p:bldP spid="30748" grpId="0" animBg="1"/>
      <p:bldP spid="30757" grpId="0" animBg="1"/>
      <p:bldP spid="3075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25" name="Text Box 1086"/>
          <p:cNvSpPr txBox="1">
            <a:spLocks noChangeArrowheads="1"/>
          </p:cNvSpPr>
          <p:nvPr/>
        </p:nvSpPr>
        <p:spPr bwMode="auto">
          <a:xfrm>
            <a:off x="0" y="4333041"/>
            <a:ext cx="5099844" cy="757130"/>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80000"/>
              </a:lnSpc>
              <a:buFontTx/>
              <a:buNone/>
              <a:defRPr/>
            </a:pPr>
            <a:r>
              <a:rPr lang="zh-CN" altLang="en-US" sz="1800" b="1" dirty="0"/>
              <a:t>在归约时调用产生式对应的属性计算规则，计算每个结点的综合属性</a:t>
            </a:r>
            <a:endParaRPr lang="en-US" altLang="zh-CN" sz="1800" b="1" dirty="0"/>
          </a:p>
          <a:p>
            <a:pPr eaLnBrk="1" hangingPunct="1">
              <a:lnSpc>
                <a:spcPct val="80000"/>
              </a:lnSpc>
              <a:defRPr/>
            </a:pPr>
            <a:r>
              <a:rPr lang="zh-CN" altLang="en-US" sz="1800" b="1" dirty="0"/>
              <a:t>从下往上，逐层计算每个文法符号属性的值</a:t>
            </a:r>
            <a:endParaRPr lang="en-US" altLang="zh-CN" sz="1800" b="1" dirty="0"/>
          </a:p>
        </p:txBody>
      </p:sp>
      <p:sp>
        <p:nvSpPr>
          <p:cNvPr id="32822" name="AutoShape 1089"/>
          <p:cNvSpPr>
            <a:spLocks noChangeArrowheads="1"/>
          </p:cNvSpPr>
          <p:nvPr/>
        </p:nvSpPr>
        <p:spPr bwMode="auto">
          <a:xfrm>
            <a:off x="19916" y="58962"/>
            <a:ext cx="2145818" cy="797122"/>
          </a:xfrm>
          <a:prstGeom prst="wave">
            <a:avLst>
              <a:gd name="adj1" fmla="val 13005"/>
              <a:gd name="adj2" fmla="val 0"/>
            </a:avLst>
          </a:prstGeom>
          <a:solidFill>
            <a:srgbClr val="FFCCFF"/>
          </a:solidFill>
          <a:ln w="12700">
            <a:solidFill>
              <a:schemeClr val="tx1"/>
            </a:solidFill>
            <a:round/>
            <a:headEnd type="none" w="sm" len="sm"/>
            <a:tailEnd type="none" w="sm" len="sm"/>
          </a:ln>
        </p:spPr>
        <p:txBody>
          <a:bodyPr wrap="none" anchor="ct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buFontTx/>
              <a:buNone/>
            </a:pPr>
            <a:r>
              <a:rPr lang="zh-CN" altLang="en-US" sz="2400" b="1" dirty="0">
                <a:solidFill>
                  <a:schemeClr val="accent2"/>
                </a:solidFill>
              </a:rPr>
              <a:t>例</a:t>
            </a:r>
            <a:r>
              <a:rPr lang="zh-CN" altLang="en-US" sz="2400" b="1" dirty="0"/>
              <a:t>：</a:t>
            </a:r>
          </a:p>
          <a:p>
            <a:pPr eaLnBrk="1" hangingPunct="1">
              <a:buFontTx/>
              <a:buNone/>
            </a:pPr>
            <a:r>
              <a:rPr lang="zh-CN" altLang="en-US" sz="2400" b="1" dirty="0"/>
              <a:t>具体计算过程</a:t>
            </a:r>
          </a:p>
        </p:txBody>
      </p:sp>
      <p:sp>
        <p:nvSpPr>
          <p:cNvPr id="2" name="Rectangle 1028">
            <a:extLst>
              <a:ext uri="{FF2B5EF4-FFF2-40B4-BE49-F238E27FC236}">
                <a16:creationId xmlns:a16="http://schemas.microsoft.com/office/drawing/2014/main" id="{8177CC0B-24E1-51FF-DFAF-9D1D3953747E}"/>
              </a:ext>
            </a:extLst>
          </p:cNvPr>
          <p:cNvSpPr>
            <a:spLocks noChangeArrowheads="1"/>
          </p:cNvSpPr>
          <p:nvPr/>
        </p:nvSpPr>
        <p:spPr bwMode="auto">
          <a:xfrm>
            <a:off x="1115616" y="3905754"/>
            <a:ext cx="1397243"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err="1">
                <a:latin typeface="Times New Roman" pitchFamily="18" charset="0"/>
              </a:rPr>
              <a:t>i</a:t>
            </a:r>
            <a:r>
              <a:rPr kumimoji="1" lang="en-US" altLang="zh-CN" sz="2000" dirty="0">
                <a:latin typeface="Times New Roman" pitchFamily="18" charset="0"/>
              </a:rPr>
              <a:t>(</a:t>
            </a:r>
            <a:r>
              <a:rPr kumimoji="1" lang="en-US" altLang="zh-CN" sz="2000" dirty="0" err="1">
                <a:latin typeface="Times New Roman" pitchFamily="18" charset="0"/>
              </a:rPr>
              <a:t>i</a:t>
            </a:r>
            <a:r>
              <a:rPr kumimoji="1" lang="en-US" altLang="zh-CN" sz="2000" dirty="0" err="1">
                <a:latin typeface="Times New Roman" pitchFamily="18" charset="0"/>
                <a:sym typeface="Symbol" pitchFamily="18" charset="2"/>
              </a:rPr>
              <a:t>lexval</a:t>
            </a:r>
            <a:r>
              <a:rPr kumimoji="1" lang="en-US" altLang="zh-CN" sz="2000" dirty="0">
                <a:latin typeface="Times New Roman" pitchFamily="18" charset="0"/>
                <a:sym typeface="Symbol" pitchFamily="18" charset="2"/>
              </a:rPr>
              <a:t>=3)</a:t>
            </a:r>
            <a:endParaRPr kumimoji="1" lang="en-US" altLang="zh-CN" sz="2000" dirty="0">
              <a:latin typeface="Times New Roman" pitchFamily="18" charset="0"/>
            </a:endParaRPr>
          </a:p>
        </p:txBody>
      </p:sp>
      <p:sp>
        <p:nvSpPr>
          <p:cNvPr id="3" name="Rectangle 1029">
            <a:extLst>
              <a:ext uri="{FF2B5EF4-FFF2-40B4-BE49-F238E27FC236}">
                <a16:creationId xmlns:a16="http://schemas.microsoft.com/office/drawing/2014/main" id="{8DF4058B-3191-439F-46F4-FDDC314DB4AF}"/>
              </a:ext>
            </a:extLst>
          </p:cNvPr>
          <p:cNvSpPr>
            <a:spLocks noChangeArrowheads="1"/>
          </p:cNvSpPr>
          <p:nvPr/>
        </p:nvSpPr>
        <p:spPr bwMode="auto">
          <a:xfrm>
            <a:off x="1139923" y="3263964"/>
            <a:ext cx="1245680"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F(</a:t>
            </a:r>
            <a:r>
              <a:rPr kumimoji="1" lang="en-US" altLang="zh-CN" sz="2000" dirty="0" err="1">
                <a:latin typeface="Times New Roman" pitchFamily="18" charset="0"/>
              </a:rPr>
              <a:t>F</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=3)</a:t>
            </a:r>
            <a:endParaRPr kumimoji="1" lang="en-US" altLang="zh-CN" sz="2000" dirty="0">
              <a:latin typeface="Times New Roman" pitchFamily="18" charset="0"/>
            </a:endParaRPr>
          </a:p>
        </p:txBody>
      </p:sp>
      <p:sp>
        <p:nvSpPr>
          <p:cNvPr id="4" name="Line 1030">
            <a:extLst>
              <a:ext uri="{FF2B5EF4-FFF2-40B4-BE49-F238E27FC236}">
                <a16:creationId xmlns:a16="http://schemas.microsoft.com/office/drawing/2014/main" id="{5911184D-05F2-72DB-6F3F-A6D7E9A8C41F}"/>
              </a:ext>
            </a:extLst>
          </p:cNvPr>
          <p:cNvSpPr>
            <a:spLocks noChangeShapeType="1"/>
          </p:cNvSpPr>
          <p:nvPr/>
        </p:nvSpPr>
        <p:spPr bwMode="auto">
          <a:xfrm flipV="1">
            <a:off x="1761450" y="3621232"/>
            <a:ext cx="0" cy="28575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
        <p:nvSpPr>
          <p:cNvPr id="5" name="Line 1031">
            <a:extLst>
              <a:ext uri="{FF2B5EF4-FFF2-40B4-BE49-F238E27FC236}">
                <a16:creationId xmlns:a16="http://schemas.microsoft.com/office/drawing/2014/main" id="{E694FDFB-BF0F-1F1B-9A0A-4A6D6C4AAB6C}"/>
              </a:ext>
            </a:extLst>
          </p:cNvPr>
          <p:cNvSpPr>
            <a:spLocks noChangeShapeType="1"/>
          </p:cNvSpPr>
          <p:nvPr/>
        </p:nvSpPr>
        <p:spPr bwMode="auto">
          <a:xfrm flipV="1">
            <a:off x="1761450" y="2925467"/>
            <a:ext cx="0" cy="3429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
        <p:nvSpPr>
          <p:cNvPr id="6" name="Rectangle 1032">
            <a:extLst>
              <a:ext uri="{FF2B5EF4-FFF2-40B4-BE49-F238E27FC236}">
                <a16:creationId xmlns:a16="http://schemas.microsoft.com/office/drawing/2014/main" id="{40A997FD-F4A7-E0A4-0966-9253E2800636}"/>
              </a:ext>
            </a:extLst>
          </p:cNvPr>
          <p:cNvSpPr>
            <a:spLocks noChangeArrowheads="1"/>
          </p:cNvSpPr>
          <p:nvPr/>
        </p:nvSpPr>
        <p:spPr bwMode="auto">
          <a:xfrm>
            <a:off x="1139923" y="2564304"/>
            <a:ext cx="1245680"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T(</a:t>
            </a:r>
            <a:r>
              <a:rPr kumimoji="1" lang="en-US" altLang="zh-CN" sz="2000" dirty="0" err="1">
                <a:latin typeface="Times New Roman" pitchFamily="18" charset="0"/>
              </a:rPr>
              <a:t>T</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=3)</a:t>
            </a:r>
            <a:endParaRPr kumimoji="1" lang="en-US" altLang="zh-CN" sz="2000" dirty="0">
              <a:latin typeface="Times New Roman" pitchFamily="18" charset="0"/>
            </a:endParaRPr>
          </a:p>
        </p:txBody>
      </p:sp>
      <p:sp>
        <p:nvSpPr>
          <p:cNvPr id="7" name="Rectangle 1035">
            <a:extLst>
              <a:ext uri="{FF2B5EF4-FFF2-40B4-BE49-F238E27FC236}">
                <a16:creationId xmlns:a16="http://schemas.microsoft.com/office/drawing/2014/main" id="{6067D58F-7861-5C01-3F1D-8A3DC92EDC1E}"/>
              </a:ext>
            </a:extLst>
          </p:cNvPr>
          <p:cNvSpPr>
            <a:spLocks noChangeArrowheads="1"/>
          </p:cNvSpPr>
          <p:nvPr/>
        </p:nvSpPr>
        <p:spPr bwMode="auto">
          <a:xfrm>
            <a:off x="2948540" y="2564304"/>
            <a:ext cx="1269987"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F(</a:t>
            </a:r>
            <a:r>
              <a:rPr kumimoji="1" lang="en-US" altLang="zh-CN" sz="2000" dirty="0" err="1">
                <a:latin typeface="Times New Roman" pitchFamily="18" charset="0"/>
              </a:rPr>
              <a:t>F</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=5)</a:t>
            </a:r>
            <a:endParaRPr kumimoji="1" lang="en-US" altLang="zh-CN" sz="2000" dirty="0">
              <a:latin typeface="Times New Roman" pitchFamily="18" charset="0"/>
            </a:endParaRPr>
          </a:p>
        </p:txBody>
      </p:sp>
      <p:sp>
        <p:nvSpPr>
          <p:cNvPr id="8" name="Rectangle 1036">
            <a:extLst>
              <a:ext uri="{FF2B5EF4-FFF2-40B4-BE49-F238E27FC236}">
                <a16:creationId xmlns:a16="http://schemas.microsoft.com/office/drawing/2014/main" id="{6CEA3CC0-9576-5883-2C31-B9BC36CCA4D4}"/>
              </a:ext>
            </a:extLst>
          </p:cNvPr>
          <p:cNvSpPr>
            <a:spLocks noChangeArrowheads="1"/>
          </p:cNvSpPr>
          <p:nvPr/>
        </p:nvSpPr>
        <p:spPr bwMode="auto">
          <a:xfrm>
            <a:off x="2015574" y="1864360"/>
            <a:ext cx="1487884"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T(</a:t>
            </a:r>
            <a:r>
              <a:rPr kumimoji="1" lang="en-US" altLang="zh-CN" sz="2000" dirty="0" err="1">
                <a:latin typeface="Times New Roman" pitchFamily="18" charset="0"/>
              </a:rPr>
              <a:t>T</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=15)</a:t>
            </a:r>
            <a:endParaRPr kumimoji="1" lang="en-US" altLang="zh-CN" sz="2000" dirty="0">
              <a:latin typeface="Times New Roman" pitchFamily="18" charset="0"/>
            </a:endParaRPr>
          </a:p>
        </p:txBody>
      </p:sp>
      <p:sp>
        <p:nvSpPr>
          <p:cNvPr id="9" name="Line 1037">
            <a:extLst>
              <a:ext uri="{FF2B5EF4-FFF2-40B4-BE49-F238E27FC236}">
                <a16:creationId xmlns:a16="http://schemas.microsoft.com/office/drawing/2014/main" id="{B4D362AA-A04D-5B6E-D3B8-1B0453C30613}"/>
              </a:ext>
            </a:extLst>
          </p:cNvPr>
          <p:cNvSpPr>
            <a:spLocks noChangeShapeType="1"/>
          </p:cNvSpPr>
          <p:nvPr/>
        </p:nvSpPr>
        <p:spPr bwMode="auto">
          <a:xfrm flipH="1">
            <a:off x="1937354" y="2213182"/>
            <a:ext cx="540952" cy="297419"/>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10" name="Line 1038">
            <a:extLst>
              <a:ext uri="{FF2B5EF4-FFF2-40B4-BE49-F238E27FC236}">
                <a16:creationId xmlns:a16="http://schemas.microsoft.com/office/drawing/2014/main" id="{EB91901C-D4F0-CCFA-1196-6814D46BEF5C}"/>
              </a:ext>
            </a:extLst>
          </p:cNvPr>
          <p:cNvSpPr>
            <a:spLocks noChangeShapeType="1"/>
          </p:cNvSpPr>
          <p:nvPr/>
        </p:nvSpPr>
        <p:spPr bwMode="auto">
          <a:xfrm>
            <a:off x="2651542" y="2213182"/>
            <a:ext cx="711473" cy="293699"/>
          </a:xfrm>
          <a:prstGeom prst="line">
            <a:avLst/>
          </a:prstGeom>
          <a:noFill/>
          <a:ln w="9525">
            <a:solidFill>
              <a:schemeClr val="tx2"/>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11" name="Text Box 1039">
            <a:extLst>
              <a:ext uri="{FF2B5EF4-FFF2-40B4-BE49-F238E27FC236}">
                <a16:creationId xmlns:a16="http://schemas.microsoft.com/office/drawing/2014/main" id="{E1BE3E16-B9F9-143A-F581-26A720F29655}"/>
              </a:ext>
            </a:extLst>
          </p:cNvPr>
          <p:cNvSpPr txBox="1">
            <a:spLocks noChangeArrowheads="1"/>
          </p:cNvSpPr>
          <p:nvPr/>
        </p:nvSpPr>
        <p:spPr bwMode="auto">
          <a:xfrm>
            <a:off x="2478307" y="2569700"/>
            <a:ext cx="339351" cy="340735"/>
          </a:xfrm>
          <a:prstGeom prst="rect">
            <a:avLst/>
          </a:prstGeom>
          <a:solidFill>
            <a:schemeClr val="bg1"/>
          </a:solidFill>
          <a:ln w="9525">
            <a:solidFill>
              <a:schemeClr val="tx1"/>
            </a:solidFill>
            <a:miter lim="800000"/>
            <a:headEnd/>
            <a:tailEnd type="none" w="lg" len="lg"/>
          </a:ln>
        </p:spPr>
        <p:txBody>
          <a:bodyPr wrap="square" lIns="90000" tIns="46800" rIns="90000" bIns="46800">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a:t>
            </a:r>
          </a:p>
        </p:txBody>
      </p:sp>
      <p:sp>
        <p:nvSpPr>
          <p:cNvPr id="12" name="Line 1040">
            <a:extLst>
              <a:ext uri="{FF2B5EF4-FFF2-40B4-BE49-F238E27FC236}">
                <a16:creationId xmlns:a16="http://schemas.microsoft.com/office/drawing/2014/main" id="{8F16CCCB-B8CC-D964-DDAB-1687FF293107}"/>
              </a:ext>
            </a:extLst>
          </p:cNvPr>
          <p:cNvSpPr>
            <a:spLocks noChangeShapeType="1"/>
          </p:cNvSpPr>
          <p:nvPr/>
        </p:nvSpPr>
        <p:spPr bwMode="auto">
          <a:xfrm>
            <a:off x="2578988" y="2205387"/>
            <a:ext cx="0" cy="364312"/>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13" name="Line 1041">
            <a:extLst>
              <a:ext uri="{FF2B5EF4-FFF2-40B4-BE49-F238E27FC236}">
                <a16:creationId xmlns:a16="http://schemas.microsoft.com/office/drawing/2014/main" id="{C4C59532-2E2F-D40B-B5FE-04D773FB192C}"/>
              </a:ext>
            </a:extLst>
          </p:cNvPr>
          <p:cNvSpPr>
            <a:spLocks noChangeShapeType="1"/>
          </p:cNvSpPr>
          <p:nvPr/>
        </p:nvSpPr>
        <p:spPr bwMode="auto">
          <a:xfrm flipV="1">
            <a:off x="2850036" y="1555653"/>
            <a:ext cx="0" cy="28575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
        <p:nvSpPr>
          <p:cNvPr id="14" name="Rectangle 1042">
            <a:extLst>
              <a:ext uri="{FF2B5EF4-FFF2-40B4-BE49-F238E27FC236}">
                <a16:creationId xmlns:a16="http://schemas.microsoft.com/office/drawing/2014/main" id="{43D98860-CD04-94F9-10B7-05CC011A3661}"/>
              </a:ext>
            </a:extLst>
          </p:cNvPr>
          <p:cNvSpPr>
            <a:spLocks noChangeArrowheads="1"/>
          </p:cNvSpPr>
          <p:nvPr/>
        </p:nvSpPr>
        <p:spPr bwMode="auto">
          <a:xfrm>
            <a:off x="2051720" y="1211080"/>
            <a:ext cx="1487884"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E(</a:t>
            </a:r>
            <a:r>
              <a:rPr kumimoji="1" lang="en-US" altLang="zh-CN" sz="2000" dirty="0" err="1">
                <a:latin typeface="Times New Roman" pitchFamily="18" charset="0"/>
              </a:rPr>
              <a:t>E</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=15)</a:t>
            </a:r>
            <a:endParaRPr kumimoji="1" lang="en-US" altLang="zh-CN" sz="2000" dirty="0">
              <a:latin typeface="Times New Roman" pitchFamily="18" charset="0"/>
            </a:endParaRPr>
          </a:p>
        </p:txBody>
      </p:sp>
      <p:sp>
        <p:nvSpPr>
          <p:cNvPr id="15" name="Text Box 1043">
            <a:extLst>
              <a:ext uri="{FF2B5EF4-FFF2-40B4-BE49-F238E27FC236}">
                <a16:creationId xmlns:a16="http://schemas.microsoft.com/office/drawing/2014/main" id="{E8FF24EB-ED9F-992D-2F77-C89199DD9686}"/>
              </a:ext>
            </a:extLst>
          </p:cNvPr>
          <p:cNvSpPr txBox="1">
            <a:spLocks noChangeArrowheads="1"/>
          </p:cNvSpPr>
          <p:nvPr/>
        </p:nvSpPr>
        <p:spPr bwMode="auto">
          <a:xfrm>
            <a:off x="3715942" y="1218561"/>
            <a:ext cx="339351" cy="340735"/>
          </a:xfrm>
          <a:prstGeom prst="rect">
            <a:avLst/>
          </a:prstGeom>
          <a:solidFill>
            <a:schemeClr val="bg1"/>
          </a:solidFill>
          <a:ln w="9525">
            <a:solidFill>
              <a:schemeClr val="tx1"/>
            </a:solidFill>
            <a:miter lim="800000"/>
            <a:headEnd/>
            <a:tailEnd type="none" w="lg" len="lg"/>
          </a:ln>
        </p:spPr>
        <p:txBody>
          <a:bodyPr wrap="square" lIns="90000" tIns="46800" rIns="90000" bIns="46800">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a:t>
            </a:r>
          </a:p>
        </p:txBody>
      </p:sp>
      <p:sp>
        <p:nvSpPr>
          <p:cNvPr id="16" name="Rectangle 1044">
            <a:extLst>
              <a:ext uri="{FF2B5EF4-FFF2-40B4-BE49-F238E27FC236}">
                <a16:creationId xmlns:a16="http://schemas.microsoft.com/office/drawing/2014/main" id="{C6D19C1F-240F-061F-9A36-B1E2819DDB39}"/>
              </a:ext>
            </a:extLst>
          </p:cNvPr>
          <p:cNvSpPr>
            <a:spLocks noChangeArrowheads="1"/>
          </p:cNvSpPr>
          <p:nvPr/>
        </p:nvSpPr>
        <p:spPr bwMode="auto">
          <a:xfrm>
            <a:off x="4644008" y="2560032"/>
            <a:ext cx="1397243"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80000"/>
              </a:lnSpc>
              <a:buFontTx/>
              <a:buNone/>
            </a:pPr>
            <a:r>
              <a:rPr kumimoji="1" lang="en-US" altLang="zh-CN" sz="2000" dirty="0" err="1">
                <a:latin typeface="Times New Roman" pitchFamily="18" charset="0"/>
              </a:rPr>
              <a:t>i</a:t>
            </a:r>
            <a:r>
              <a:rPr kumimoji="1" lang="en-US" altLang="zh-CN" sz="2000" dirty="0">
                <a:latin typeface="Times New Roman" pitchFamily="18" charset="0"/>
              </a:rPr>
              <a:t>(</a:t>
            </a:r>
            <a:r>
              <a:rPr kumimoji="1" lang="en-US" altLang="zh-CN" sz="2000" dirty="0" err="1">
                <a:latin typeface="Times New Roman" pitchFamily="18" charset="0"/>
              </a:rPr>
              <a:t>i</a:t>
            </a:r>
            <a:r>
              <a:rPr kumimoji="1" lang="en-US" altLang="zh-CN" sz="2000" dirty="0" err="1">
                <a:latin typeface="Times New Roman" pitchFamily="18" charset="0"/>
                <a:sym typeface="Symbol" pitchFamily="18" charset="2"/>
              </a:rPr>
              <a:t>lexval</a:t>
            </a:r>
            <a:r>
              <a:rPr kumimoji="1" lang="en-US" altLang="zh-CN" sz="2000" dirty="0">
                <a:latin typeface="Times New Roman" pitchFamily="18" charset="0"/>
                <a:sym typeface="Symbol" pitchFamily="18" charset="2"/>
              </a:rPr>
              <a:t>=4)</a:t>
            </a:r>
            <a:endParaRPr kumimoji="1" lang="en-US" altLang="zh-CN" sz="2000" dirty="0">
              <a:latin typeface="Times New Roman" pitchFamily="18" charset="0"/>
            </a:endParaRPr>
          </a:p>
        </p:txBody>
      </p:sp>
      <p:sp>
        <p:nvSpPr>
          <p:cNvPr id="17" name="Line 1045">
            <a:extLst>
              <a:ext uri="{FF2B5EF4-FFF2-40B4-BE49-F238E27FC236}">
                <a16:creationId xmlns:a16="http://schemas.microsoft.com/office/drawing/2014/main" id="{11C049AA-4C3C-C27F-CF2F-9BBFAA97D2A0}"/>
              </a:ext>
            </a:extLst>
          </p:cNvPr>
          <p:cNvSpPr>
            <a:spLocks noChangeShapeType="1"/>
          </p:cNvSpPr>
          <p:nvPr/>
        </p:nvSpPr>
        <p:spPr bwMode="auto">
          <a:xfrm flipV="1">
            <a:off x="5237846" y="2205387"/>
            <a:ext cx="0" cy="3429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
        <p:nvSpPr>
          <p:cNvPr id="18" name="Rectangle 1046">
            <a:extLst>
              <a:ext uri="{FF2B5EF4-FFF2-40B4-BE49-F238E27FC236}">
                <a16:creationId xmlns:a16="http://schemas.microsoft.com/office/drawing/2014/main" id="{E969C9BB-49BC-4787-BC88-0C0CE6D78F5C}"/>
              </a:ext>
            </a:extLst>
          </p:cNvPr>
          <p:cNvSpPr>
            <a:spLocks noChangeArrowheads="1"/>
          </p:cNvSpPr>
          <p:nvPr/>
        </p:nvSpPr>
        <p:spPr bwMode="auto">
          <a:xfrm>
            <a:off x="4646824" y="1864360"/>
            <a:ext cx="1267171"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F(</a:t>
            </a:r>
            <a:r>
              <a:rPr kumimoji="1" lang="en-US" altLang="zh-CN" sz="2000" dirty="0" err="1">
                <a:latin typeface="Times New Roman" pitchFamily="18" charset="0"/>
              </a:rPr>
              <a:t>F</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=4)</a:t>
            </a:r>
            <a:endParaRPr kumimoji="1" lang="en-US" altLang="zh-CN" sz="2000" dirty="0">
              <a:latin typeface="Times New Roman" pitchFamily="18" charset="0"/>
            </a:endParaRPr>
          </a:p>
        </p:txBody>
      </p:sp>
      <p:sp>
        <p:nvSpPr>
          <p:cNvPr id="19" name="Rectangle 1047">
            <a:extLst>
              <a:ext uri="{FF2B5EF4-FFF2-40B4-BE49-F238E27FC236}">
                <a16:creationId xmlns:a16="http://schemas.microsoft.com/office/drawing/2014/main" id="{075D38DA-17D9-3ACE-5F50-8C67AB6E1991}"/>
              </a:ext>
            </a:extLst>
          </p:cNvPr>
          <p:cNvSpPr>
            <a:spLocks noChangeArrowheads="1"/>
          </p:cNvSpPr>
          <p:nvPr/>
        </p:nvSpPr>
        <p:spPr bwMode="auto">
          <a:xfrm>
            <a:off x="4646824" y="1213165"/>
            <a:ext cx="1267171"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T(</a:t>
            </a:r>
            <a:r>
              <a:rPr kumimoji="1" lang="en-US" altLang="zh-CN" sz="2000" dirty="0" err="1">
                <a:latin typeface="Times New Roman" pitchFamily="18" charset="0"/>
              </a:rPr>
              <a:t>T</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=4)</a:t>
            </a:r>
            <a:endParaRPr kumimoji="1" lang="en-US" altLang="zh-CN" sz="2000" dirty="0">
              <a:latin typeface="Times New Roman" pitchFamily="18" charset="0"/>
            </a:endParaRPr>
          </a:p>
        </p:txBody>
      </p:sp>
      <p:sp>
        <p:nvSpPr>
          <p:cNvPr id="20" name="Line 1048">
            <a:extLst>
              <a:ext uri="{FF2B5EF4-FFF2-40B4-BE49-F238E27FC236}">
                <a16:creationId xmlns:a16="http://schemas.microsoft.com/office/drawing/2014/main" id="{2FBC7277-127E-0B8A-3F54-E2CFB16683A3}"/>
              </a:ext>
            </a:extLst>
          </p:cNvPr>
          <p:cNvSpPr>
            <a:spLocks noChangeShapeType="1"/>
          </p:cNvSpPr>
          <p:nvPr/>
        </p:nvSpPr>
        <p:spPr bwMode="auto">
          <a:xfrm flipV="1">
            <a:off x="5250422" y="1547965"/>
            <a:ext cx="0" cy="293438"/>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21" name="Rectangle 1049">
            <a:extLst>
              <a:ext uri="{FF2B5EF4-FFF2-40B4-BE49-F238E27FC236}">
                <a16:creationId xmlns:a16="http://schemas.microsoft.com/office/drawing/2014/main" id="{11A0F559-A1CF-302B-6231-ABF05FDF8522}"/>
              </a:ext>
            </a:extLst>
          </p:cNvPr>
          <p:cNvSpPr>
            <a:spLocks noChangeArrowheads="1"/>
          </p:cNvSpPr>
          <p:nvPr/>
        </p:nvSpPr>
        <p:spPr bwMode="auto">
          <a:xfrm>
            <a:off x="3232842" y="566107"/>
            <a:ext cx="1470523"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dirty="0">
                <a:latin typeface="Times New Roman" pitchFamily="18" charset="0"/>
              </a:rPr>
              <a:t>E(</a:t>
            </a:r>
            <a:r>
              <a:rPr kumimoji="1" lang="en-US" altLang="zh-CN" sz="2000" dirty="0" err="1">
                <a:latin typeface="Times New Roman" pitchFamily="18" charset="0"/>
              </a:rPr>
              <a:t>E</a:t>
            </a:r>
            <a:r>
              <a:rPr kumimoji="1" lang="en-US" altLang="zh-CN" sz="2000" dirty="0" err="1">
                <a:latin typeface="Times New Roman" pitchFamily="18" charset="0"/>
                <a:sym typeface="Symbol" pitchFamily="18" charset="2"/>
              </a:rPr>
              <a:t>val</a:t>
            </a:r>
            <a:r>
              <a:rPr kumimoji="1" lang="en-US" altLang="zh-CN" sz="2000" dirty="0">
                <a:latin typeface="Times New Roman" pitchFamily="18" charset="0"/>
                <a:sym typeface="Symbol" pitchFamily="18" charset="2"/>
              </a:rPr>
              <a:t>=19)</a:t>
            </a:r>
            <a:endParaRPr kumimoji="1" lang="en-US" altLang="zh-CN" sz="2000" dirty="0">
              <a:latin typeface="Times New Roman" pitchFamily="18" charset="0"/>
            </a:endParaRPr>
          </a:p>
        </p:txBody>
      </p:sp>
      <p:sp>
        <p:nvSpPr>
          <p:cNvPr id="22" name="Line 1050">
            <a:extLst>
              <a:ext uri="{FF2B5EF4-FFF2-40B4-BE49-F238E27FC236}">
                <a16:creationId xmlns:a16="http://schemas.microsoft.com/office/drawing/2014/main" id="{DA0D63AC-EA57-7360-D466-EE128D7682D4}"/>
              </a:ext>
            </a:extLst>
          </p:cNvPr>
          <p:cNvSpPr>
            <a:spLocks noChangeShapeType="1"/>
          </p:cNvSpPr>
          <p:nvPr/>
        </p:nvSpPr>
        <p:spPr bwMode="auto">
          <a:xfrm flipH="1">
            <a:off x="3052135" y="925169"/>
            <a:ext cx="571109" cy="241697"/>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23" name="Line 1051">
            <a:extLst>
              <a:ext uri="{FF2B5EF4-FFF2-40B4-BE49-F238E27FC236}">
                <a16:creationId xmlns:a16="http://schemas.microsoft.com/office/drawing/2014/main" id="{90122E8E-67E1-32A4-B6D4-857F5AABE511}"/>
              </a:ext>
            </a:extLst>
          </p:cNvPr>
          <p:cNvSpPr>
            <a:spLocks noChangeShapeType="1"/>
          </p:cNvSpPr>
          <p:nvPr/>
        </p:nvSpPr>
        <p:spPr bwMode="auto">
          <a:xfrm>
            <a:off x="3818446" y="927228"/>
            <a:ext cx="8248" cy="238282"/>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24" name="Line 1052">
            <a:extLst>
              <a:ext uri="{FF2B5EF4-FFF2-40B4-BE49-F238E27FC236}">
                <a16:creationId xmlns:a16="http://schemas.microsoft.com/office/drawing/2014/main" id="{C3F5C602-78B9-83D8-E69D-1EF454F23290}"/>
              </a:ext>
            </a:extLst>
          </p:cNvPr>
          <p:cNvSpPr>
            <a:spLocks noChangeShapeType="1"/>
          </p:cNvSpPr>
          <p:nvPr/>
        </p:nvSpPr>
        <p:spPr bwMode="auto">
          <a:xfrm>
            <a:off x="4055840" y="927228"/>
            <a:ext cx="969187" cy="24000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25" name="Rectangle 1053">
            <a:extLst>
              <a:ext uri="{FF2B5EF4-FFF2-40B4-BE49-F238E27FC236}">
                <a16:creationId xmlns:a16="http://schemas.microsoft.com/office/drawing/2014/main" id="{45FCE370-88DD-0D91-2599-C7F43118FBB0}"/>
              </a:ext>
            </a:extLst>
          </p:cNvPr>
          <p:cNvSpPr>
            <a:spLocks noChangeArrowheads="1"/>
          </p:cNvSpPr>
          <p:nvPr/>
        </p:nvSpPr>
        <p:spPr bwMode="auto">
          <a:xfrm>
            <a:off x="5135960" y="98307"/>
            <a:ext cx="816564"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80000"/>
              </a:lnSpc>
              <a:buFontTx/>
              <a:buNone/>
            </a:pPr>
            <a:r>
              <a:rPr kumimoji="1" lang="en-US" altLang="zh-CN" sz="2000">
                <a:latin typeface="Times New Roman" pitchFamily="18" charset="0"/>
              </a:rPr>
              <a:t>L</a:t>
            </a:r>
          </a:p>
        </p:txBody>
      </p:sp>
      <p:sp>
        <p:nvSpPr>
          <p:cNvPr id="26" name="Line 1054">
            <a:extLst>
              <a:ext uri="{FF2B5EF4-FFF2-40B4-BE49-F238E27FC236}">
                <a16:creationId xmlns:a16="http://schemas.microsoft.com/office/drawing/2014/main" id="{168C2828-3938-6345-5888-4AC6E962DE3E}"/>
              </a:ext>
            </a:extLst>
          </p:cNvPr>
          <p:cNvSpPr>
            <a:spLocks noChangeShapeType="1"/>
          </p:cNvSpPr>
          <p:nvPr/>
        </p:nvSpPr>
        <p:spPr bwMode="auto">
          <a:xfrm flipV="1">
            <a:off x="4706210" y="450786"/>
            <a:ext cx="426071" cy="232999"/>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27" name="Text Box 1055">
            <a:extLst>
              <a:ext uri="{FF2B5EF4-FFF2-40B4-BE49-F238E27FC236}">
                <a16:creationId xmlns:a16="http://schemas.microsoft.com/office/drawing/2014/main" id="{E05B372E-ABF3-0400-700C-28653B35AB52}"/>
              </a:ext>
            </a:extLst>
          </p:cNvPr>
          <p:cNvSpPr txBox="1">
            <a:spLocks noChangeArrowheads="1"/>
          </p:cNvSpPr>
          <p:nvPr/>
        </p:nvSpPr>
        <p:spPr bwMode="auto">
          <a:xfrm>
            <a:off x="6371980" y="601311"/>
            <a:ext cx="339351" cy="340735"/>
          </a:xfrm>
          <a:prstGeom prst="rect">
            <a:avLst/>
          </a:prstGeom>
          <a:solidFill>
            <a:schemeClr val="bg1"/>
          </a:solidFill>
          <a:ln w="9525">
            <a:solidFill>
              <a:schemeClr val="tx1"/>
            </a:solidFill>
            <a:miter lim="800000"/>
            <a:headEnd/>
            <a:tailEnd type="none" w="lg" len="lg"/>
          </a:ln>
        </p:spPr>
        <p:txBody>
          <a:bodyPr wrap="square" lIns="90000" tIns="46800" rIns="90000" bIns="46800">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80000"/>
              </a:lnSpc>
              <a:buFontTx/>
              <a:buNone/>
            </a:pPr>
            <a:r>
              <a:rPr kumimoji="1" lang="en-US" altLang="zh-CN" sz="2000">
                <a:latin typeface="Times New Roman" pitchFamily="18" charset="0"/>
              </a:rPr>
              <a:t>#</a:t>
            </a:r>
          </a:p>
        </p:txBody>
      </p:sp>
      <p:sp>
        <p:nvSpPr>
          <p:cNvPr id="28" name="Line 1056">
            <a:extLst>
              <a:ext uri="{FF2B5EF4-FFF2-40B4-BE49-F238E27FC236}">
                <a16:creationId xmlns:a16="http://schemas.microsoft.com/office/drawing/2014/main" id="{5FFF0612-DEAF-FF14-A071-9B3B4DE16BED}"/>
              </a:ext>
            </a:extLst>
          </p:cNvPr>
          <p:cNvSpPr>
            <a:spLocks noChangeShapeType="1"/>
          </p:cNvSpPr>
          <p:nvPr/>
        </p:nvSpPr>
        <p:spPr bwMode="auto">
          <a:xfrm>
            <a:off x="5928959" y="441872"/>
            <a:ext cx="464308" cy="147192"/>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29" name="Line 1057">
            <a:extLst>
              <a:ext uri="{FF2B5EF4-FFF2-40B4-BE49-F238E27FC236}">
                <a16:creationId xmlns:a16="http://schemas.microsoft.com/office/drawing/2014/main" id="{83F3EBCA-5C6D-23B2-3C07-053C2409BD97}"/>
              </a:ext>
            </a:extLst>
          </p:cNvPr>
          <p:cNvSpPr>
            <a:spLocks noChangeShapeType="1"/>
          </p:cNvSpPr>
          <p:nvPr/>
        </p:nvSpPr>
        <p:spPr bwMode="auto">
          <a:xfrm flipV="1">
            <a:off x="1990050" y="3621232"/>
            <a:ext cx="0" cy="285750"/>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
        <p:nvSpPr>
          <p:cNvPr id="30" name="Line 1058">
            <a:extLst>
              <a:ext uri="{FF2B5EF4-FFF2-40B4-BE49-F238E27FC236}">
                <a16:creationId xmlns:a16="http://schemas.microsoft.com/office/drawing/2014/main" id="{C1358ACD-3C4A-B742-A2F2-21C585B5D5C0}"/>
              </a:ext>
            </a:extLst>
          </p:cNvPr>
          <p:cNvSpPr>
            <a:spLocks noChangeShapeType="1"/>
          </p:cNvSpPr>
          <p:nvPr/>
        </p:nvSpPr>
        <p:spPr bwMode="auto">
          <a:xfrm flipV="1">
            <a:off x="1990050" y="2925467"/>
            <a:ext cx="0" cy="342900"/>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
        <p:nvSpPr>
          <p:cNvPr id="31" name="Line 1060">
            <a:extLst>
              <a:ext uri="{FF2B5EF4-FFF2-40B4-BE49-F238E27FC236}">
                <a16:creationId xmlns:a16="http://schemas.microsoft.com/office/drawing/2014/main" id="{3ED6A683-1D60-D74B-6D64-4A99E5BC0AF7}"/>
              </a:ext>
            </a:extLst>
          </p:cNvPr>
          <p:cNvSpPr>
            <a:spLocks noChangeShapeType="1"/>
          </p:cNvSpPr>
          <p:nvPr/>
        </p:nvSpPr>
        <p:spPr bwMode="auto">
          <a:xfrm flipV="1">
            <a:off x="1698503" y="2234290"/>
            <a:ext cx="484953" cy="276310"/>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32" name="Line 1061">
            <a:extLst>
              <a:ext uri="{FF2B5EF4-FFF2-40B4-BE49-F238E27FC236}">
                <a16:creationId xmlns:a16="http://schemas.microsoft.com/office/drawing/2014/main" id="{2CBC8110-2F31-10B8-981B-74E087F7A259}"/>
              </a:ext>
            </a:extLst>
          </p:cNvPr>
          <p:cNvSpPr>
            <a:spLocks noChangeShapeType="1"/>
          </p:cNvSpPr>
          <p:nvPr/>
        </p:nvSpPr>
        <p:spPr bwMode="auto">
          <a:xfrm flipH="1" flipV="1">
            <a:off x="3065225" y="2267626"/>
            <a:ext cx="508879" cy="248847"/>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33" name="Line 1062">
            <a:extLst>
              <a:ext uri="{FF2B5EF4-FFF2-40B4-BE49-F238E27FC236}">
                <a16:creationId xmlns:a16="http://schemas.microsoft.com/office/drawing/2014/main" id="{3B894ABE-C41D-F98D-15A1-EA3A71B8438A}"/>
              </a:ext>
            </a:extLst>
          </p:cNvPr>
          <p:cNvSpPr>
            <a:spLocks noChangeShapeType="1"/>
          </p:cNvSpPr>
          <p:nvPr/>
        </p:nvSpPr>
        <p:spPr bwMode="auto">
          <a:xfrm flipV="1">
            <a:off x="2926236" y="1555653"/>
            <a:ext cx="0" cy="285750"/>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
        <p:nvSpPr>
          <p:cNvPr id="34" name="Line 1063">
            <a:extLst>
              <a:ext uri="{FF2B5EF4-FFF2-40B4-BE49-F238E27FC236}">
                <a16:creationId xmlns:a16="http://schemas.microsoft.com/office/drawing/2014/main" id="{E794347F-32DA-D78A-9A3D-0949D0203DE7}"/>
              </a:ext>
            </a:extLst>
          </p:cNvPr>
          <p:cNvSpPr>
            <a:spLocks noChangeShapeType="1"/>
          </p:cNvSpPr>
          <p:nvPr/>
        </p:nvSpPr>
        <p:spPr bwMode="auto">
          <a:xfrm flipH="1" flipV="1">
            <a:off x="5322430" y="2216840"/>
            <a:ext cx="1" cy="319119"/>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35" name="Line 1065">
            <a:extLst>
              <a:ext uri="{FF2B5EF4-FFF2-40B4-BE49-F238E27FC236}">
                <a16:creationId xmlns:a16="http://schemas.microsoft.com/office/drawing/2014/main" id="{BDA379A1-0BD4-24DA-C346-DF427D63170F}"/>
              </a:ext>
            </a:extLst>
          </p:cNvPr>
          <p:cNvSpPr>
            <a:spLocks noChangeShapeType="1"/>
          </p:cNvSpPr>
          <p:nvPr/>
        </p:nvSpPr>
        <p:spPr bwMode="auto">
          <a:xfrm flipV="1">
            <a:off x="2798328" y="927227"/>
            <a:ext cx="525946" cy="240001"/>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36" name="Line 1066">
            <a:extLst>
              <a:ext uri="{FF2B5EF4-FFF2-40B4-BE49-F238E27FC236}">
                <a16:creationId xmlns:a16="http://schemas.microsoft.com/office/drawing/2014/main" id="{4D1F10E3-24CF-CD76-FA57-9C458BA92AD2}"/>
              </a:ext>
            </a:extLst>
          </p:cNvPr>
          <p:cNvSpPr>
            <a:spLocks noChangeShapeType="1"/>
          </p:cNvSpPr>
          <p:nvPr/>
        </p:nvSpPr>
        <p:spPr bwMode="auto">
          <a:xfrm flipH="1" flipV="1">
            <a:off x="4539426" y="925169"/>
            <a:ext cx="908030" cy="239978"/>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37" name="Line 1067">
            <a:extLst>
              <a:ext uri="{FF2B5EF4-FFF2-40B4-BE49-F238E27FC236}">
                <a16:creationId xmlns:a16="http://schemas.microsoft.com/office/drawing/2014/main" id="{03F39EFD-E257-FF33-A976-3044C09F6CD6}"/>
              </a:ext>
            </a:extLst>
          </p:cNvPr>
          <p:cNvSpPr>
            <a:spLocks noChangeShapeType="1"/>
          </p:cNvSpPr>
          <p:nvPr/>
        </p:nvSpPr>
        <p:spPr bwMode="auto">
          <a:xfrm flipH="1" flipV="1">
            <a:off x="5952524" y="334715"/>
            <a:ext cx="642175" cy="231392"/>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38" name="Line 1068">
            <a:extLst>
              <a:ext uri="{FF2B5EF4-FFF2-40B4-BE49-F238E27FC236}">
                <a16:creationId xmlns:a16="http://schemas.microsoft.com/office/drawing/2014/main" id="{0230E6C5-F208-C4C1-D5BF-DAA18C716501}"/>
              </a:ext>
            </a:extLst>
          </p:cNvPr>
          <p:cNvSpPr>
            <a:spLocks noChangeShapeType="1"/>
          </p:cNvSpPr>
          <p:nvPr/>
        </p:nvSpPr>
        <p:spPr bwMode="auto">
          <a:xfrm flipV="1">
            <a:off x="4730249" y="330836"/>
            <a:ext cx="373399" cy="216409"/>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39" name="Oval 1069">
            <a:extLst>
              <a:ext uri="{FF2B5EF4-FFF2-40B4-BE49-F238E27FC236}">
                <a16:creationId xmlns:a16="http://schemas.microsoft.com/office/drawing/2014/main" id="{FF7CCBE4-754F-983D-8A58-E85C0896EC0B}"/>
              </a:ext>
            </a:extLst>
          </p:cNvPr>
          <p:cNvSpPr>
            <a:spLocks noChangeArrowheads="1"/>
          </p:cNvSpPr>
          <p:nvPr/>
        </p:nvSpPr>
        <p:spPr bwMode="auto">
          <a:xfrm>
            <a:off x="5292080" y="17496"/>
            <a:ext cx="468576" cy="466022"/>
          </a:xfrm>
          <a:prstGeom prst="ellipse">
            <a:avLst/>
          </a:prstGeom>
          <a:noFill/>
          <a:ln w="9525">
            <a:solidFill>
              <a:srgbClr val="FF0000"/>
            </a:solidFill>
            <a:round/>
            <a:headEnd/>
            <a:tailEnd type="none" w="lg" len="lg"/>
          </a:ln>
          <a:extLst>
            <a:ext uri="{909E8E84-426E-40DD-AFC4-6F175D3DCCD1}">
              <a14:hiddenFill xmlns:a14="http://schemas.microsoft.com/office/drawing/2010/main">
                <a:solidFill>
                  <a:srgbClr val="FFFFFF"/>
                </a:solidFill>
              </a14:hiddenFill>
            </a:ext>
          </a:extLst>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buFontTx/>
              <a:buNone/>
            </a:pPr>
            <a:endParaRPr lang="zh-CN" altLang="en-US" sz="2000"/>
          </a:p>
        </p:txBody>
      </p:sp>
      <p:graphicFrame>
        <p:nvGraphicFramePr>
          <p:cNvPr id="40" name="Group 1085">
            <a:extLst>
              <a:ext uri="{FF2B5EF4-FFF2-40B4-BE49-F238E27FC236}">
                <a16:creationId xmlns:a16="http://schemas.microsoft.com/office/drawing/2014/main" id="{C3BC1805-5DC8-4EEB-A59D-B49CDEC5AE5D}"/>
              </a:ext>
            </a:extLst>
          </p:cNvPr>
          <p:cNvGraphicFramePr>
            <a:graphicFrameLocks noGrp="1"/>
          </p:cNvGraphicFramePr>
          <p:nvPr>
            <p:extLst>
              <p:ext uri="{D42A27DB-BD31-4B8C-83A1-F6EECF244321}">
                <p14:modId xmlns:p14="http://schemas.microsoft.com/office/powerpoint/2010/main" val="1341485825"/>
              </p:ext>
            </p:extLst>
          </p:nvPr>
        </p:nvGraphicFramePr>
        <p:xfrm>
          <a:off x="5879293" y="3306208"/>
          <a:ext cx="2942343" cy="1668780"/>
        </p:xfrm>
        <a:graphic>
          <a:graphicData uri="http://schemas.openxmlformats.org/drawingml/2006/table">
            <a:tbl>
              <a:tblPr/>
              <a:tblGrid>
                <a:gridCol w="1205980">
                  <a:extLst>
                    <a:ext uri="{9D8B030D-6E8A-4147-A177-3AD203B41FA5}">
                      <a16:colId xmlns:a16="http://schemas.microsoft.com/office/drawing/2014/main" val="20000"/>
                    </a:ext>
                  </a:extLst>
                </a:gridCol>
                <a:gridCol w="1736363">
                  <a:extLst>
                    <a:ext uri="{9D8B030D-6E8A-4147-A177-3AD203B41FA5}">
                      <a16:colId xmlns:a16="http://schemas.microsoft.com/office/drawing/2014/main" val="20001"/>
                    </a:ext>
                  </a:extLst>
                </a:gridCol>
              </a:tblGrid>
              <a:tr h="137905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L→E</a:t>
                      </a:r>
                      <a:r>
                        <a:rPr kumimoji="0" lang="en-US"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E→E</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T→T</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T→F</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F→(E)</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r>
                        <a:rPr kumimoji="0" lang="en-US" altLang="zh-CN" sz="1500" b="1"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i</a:t>
                      </a:r>
                      <a:endParaRPr kumimoji="0" lang="fr-FR" altLang="zh-CN" sz="2700" b="1" i="0" u="none" strike="noStrike" cap="none" normalizeH="0" baseline="0" dirty="0">
                        <a:ln>
                          <a:noFill/>
                        </a:ln>
                        <a:solidFill>
                          <a:schemeClr val="tx1"/>
                        </a:solidFill>
                        <a:effectLst/>
                        <a:latin typeface="Arial" charset="0"/>
                        <a:ea typeface="宋体" pitchFamily="2" charset="-122"/>
                      </a:endParaRPr>
                    </a:p>
                  </a:txBody>
                  <a:tcPr marL="91425" marR="91425"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print(E.val)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E.val=E</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.val+t.val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E.val=T.val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T.val=T</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 * F.val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T.val=F.val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F.val=E.val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a:t>
                      </a:r>
                      <a:r>
                        <a:rPr kumimoji="0" lang="fr-FR" altLang="zh-CN" sz="15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.lexval</a:t>
                      </a:r>
                      <a:endParaRPr kumimoji="0" lang="fr-FR" altLang="zh-CN" sz="2700" b="0" i="0" u="none" strike="noStrike" cap="none" normalizeH="0" baseline="0" dirty="0">
                        <a:ln>
                          <a:noFill/>
                        </a:ln>
                        <a:solidFill>
                          <a:schemeClr val="tx1"/>
                        </a:solidFill>
                        <a:effectLst/>
                        <a:latin typeface="Arial" charset="0"/>
                        <a:ea typeface="宋体" pitchFamily="2" charset="-122"/>
                      </a:endParaRPr>
                    </a:p>
                  </a:txBody>
                  <a:tcPr marL="91425" marR="91425"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0"/>
                  </a:ext>
                </a:extLst>
              </a:tr>
            </a:tbl>
          </a:graphicData>
        </a:graphic>
      </p:graphicFrame>
      <p:sp>
        <p:nvSpPr>
          <p:cNvPr id="41" name="Rectangle 1033">
            <a:extLst>
              <a:ext uri="{FF2B5EF4-FFF2-40B4-BE49-F238E27FC236}">
                <a16:creationId xmlns:a16="http://schemas.microsoft.com/office/drawing/2014/main" id="{19F839AA-E3A1-6662-E30B-2E6071799612}"/>
              </a:ext>
            </a:extLst>
          </p:cNvPr>
          <p:cNvSpPr>
            <a:spLocks noChangeArrowheads="1"/>
          </p:cNvSpPr>
          <p:nvPr/>
        </p:nvSpPr>
        <p:spPr bwMode="auto">
          <a:xfrm>
            <a:off x="2948539" y="3254071"/>
            <a:ext cx="1397243" cy="340735"/>
          </a:xfrm>
          <a:prstGeom prst="rect">
            <a:avLst/>
          </a:prstGeom>
          <a:solidFill>
            <a:schemeClr val="bg1"/>
          </a:solidFill>
          <a:ln w="9525">
            <a:solidFill>
              <a:schemeClr val="tx1"/>
            </a:solidFill>
            <a:miter lim="800000"/>
            <a:headEnd/>
            <a:tailEnd type="none" w="lg" len="lg"/>
          </a:ln>
        </p:spPr>
        <p:txBody>
          <a:bodyPr wrap="square" lIns="90000" tIns="46800" rIns="90000" bIns="46800"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80000"/>
              </a:lnSpc>
              <a:buFontTx/>
              <a:buNone/>
            </a:pPr>
            <a:r>
              <a:rPr kumimoji="1" lang="en-US" altLang="zh-CN" sz="2000" dirty="0" err="1">
                <a:latin typeface="Times New Roman" pitchFamily="18" charset="0"/>
              </a:rPr>
              <a:t>i</a:t>
            </a:r>
            <a:r>
              <a:rPr kumimoji="1" lang="en-US" altLang="zh-CN" sz="2000" dirty="0">
                <a:latin typeface="Times New Roman" pitchFamily="18" charset="0"/>
              </a:rPr>
              <a:t>(</a:t>
            </a:r>
            <a:r>
              <a:rPr kumimoji="1" lang="en-US" altLang="zh-CN" sz="2000" dirty="0" err="1">
                <a:latin typeface="Times New Roman" pitchFamily="18" charset="0"/>
              </a:rPr>
              <a:t>i</a:t>
            </a:r>
            <a:r>
              <a:rPr kumimoji="1" lang="en-US" altLang="zh-CN" sz="2000" dirty="0" err="1">
                <a:latin typeface="Times New Roman" pitchFamily="18" charset="0"/>
                <a:sym typeface="Symbol" pitchFamily="18" charset="2"/>
              </a:rPr>
              <a:t>lexval</a:t>
            </a:r>
            <a:r>
              <a:rPr kumimoji="1" lang="en-US" altLang="zh-CN" sz="2000" dirty="0">
                <a:latin typeface="Times New Roman" pitchFamily="18" charset="0"/>
                <a:sym typeface="Symbol" pitchFamily="18" charset="2"/>
              </a:rPr>
              <a:t>=5)</a:t>
            </a:r>
            <a:endParaRPr kumimoji="1" lang="en-US" altLang="zh-CN" sz="2000" dirty="0">
              <a:latin typeface="Times New Roman" pitchFamily="18" charset="0"/>
            </a:endParaRPr>
          </a:p>
        </p:txBody>
      </p:sp>
      <p:sp>
        <p:nvSpPr>
          <p:cNvPr id="42" name="Line 1034">
            <a:extLst>
              <a:ext uri="{FF2B5EF4-FFF2-40B4-BE49-F238E27FC236}">
                <a16:creationId xmlns:a16="http://schemas.microsoft.com/office/drawing/2014/main" id="{4F0E3804-315D-03BB-3283-2FE62ADF2057}"/>
              </a:ext>
            </a:extLst>
          </p:cNvPr>
          <p:cNvSpPr>
            <a:spLocks noChangeShapeType="1"/>
          </p:cNvSpPr>
          <p:nvPr/>
        </p:nvSpPr>
        <p:spPr bwMode="auto">
          <a:xfrm flipV="1">
            <a:off x="3570455" y="2925467"/>
            <a:ext cx="0" cy="333005"/>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43" name="Line 1059">
            <a:extLst>
              <a:ext uri="{FF2B5EF4-FFF2-40B4-BE49-F238E27FC236}">
                <a16:creationId xmlns:a16="http://schemas.microsoft.com/office/drawing/2014/main" id="{29B8AB65-9549-9EF9-C9AE-FBCC8F64B461}"/>
              </a:ext>
            </a:extLst>
          </p:cNvPr>
          <p:cNvSpPr>
            <a:spLocks noChangeShapeType="1"/>
          </p:cNvSpPr>
          <p:nvPr/>
        </p:nvSpPr>
        <p:spPr bwMode="auto">
          <a:xfrm flipH="1" flipV="1">
            <a:off x="3489642" y="2925470"/>
            <a:ext cx="0" cy="274328"/>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sz="2000"/>
          </a:p>
        </p:txBody>
      </p:sp>
      <p:sp>
        <p:nvSpPr>
          <p:cNvPr id="44" name="矩形 1">
            <a:extLst>
              <a:ext uri="{FF2B5EF4-FFF2-40B4-BE49-F238E27FC236}">
                <a16:creationId xmlns:a16="http://schemas.microsoft.com/office/drawing/2014/main" id="{94D159E6-A2E5-2817-57B0-8AA0B5536541}"/>
              </a:ext>
            </a:extLst>
          </p:cNvPr>
          <p:cNvSpPr>
            <a:spLocks noChangeArrowheads="1"/>
          </p:cNvSpPr>
          <p:nvPr/>
        </p:nvSpPr>
        <p:spPr bwMode="auto">
          <a:xfrm>
            <a:off x="7462594" y="2546028"/>
            <a:ext cx="11356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50000"/>
              </a:spcBef>
              <a:buFontTx/>
              <a:buNone/>
            </a:pPr>
            <a:r>
              <a:rPr lang="en-US" altLang="zh-CN" sz="2000" b="1" dirty="0"/>
              <a:t>3*5+4#</a:t>
            </a:r>
          </a:p>
        </p:txBody>
      </p:sp>
      <p:sp>
        <p:nvSpPr>
          <p:cNvPr id="45" name="Line 1063">
            <a:extLst>
              <a:ext uri="{FF2B5EF4-FFF2-40B4-BE49-F238E27FC236}">
                <a16:creationId xmlns:a16="http://schemas.microsoft.com/office/drawing/2014/main" id="{712E4EE1-07C0-0FC5-1181-42E3AE704179}"/>
              </a:ext>
            </a:extLst>
          </p:cNvPr>
          <p:cNvSpPr>
            <a:spLocks noChangeShapeType="1"/>
          </p:cNvSpPr>
          <p:nvPr/>
        </p:nvSpPr>
        <p:spPr bwMode="auto">
          <a:xfrm flipV="1">
            <a:off x="5322430" y="1545881"/>
            <a:ext cx="0" cy="285750"/>
          </a:xfrm>
          <a:prstGeom prst="line">
            <a:avLst/>
          </a:prstGeom>
          <a:noFill/>
          <a:ln w="9525">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sz="2000"/>
          </a:p>
        </p:txBody>
      </p:sp>
    </p:spTree>
    <p:extLst>
      <p:ext uri="{BB962C8B-B14F-4D97-AF65-F5344CB8AC3E}">
        <p14:creationId xmlns:p14="http://schemas.microsoft.com/office/powerpoint/2010/main" val="2095749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4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4"/>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35"/>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36"/>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6"/>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28"/>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37"/>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38"/>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25"/>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animBg="1" autoUpdateAnimBg="0"/>
      <p:bldP spid="4" grpId="0" animBg="1"/>
      <p:bldP spid="5" grpId="0" animBg="1"/>
      <p:bldP spid="6" grpId="0" animBg="1" autoUpdateAnimBg="0"/>
      <p:bldP spid="7" grpId="0" animBg="1" autoUpdateAnimBg="0"/>
      <p:bldP spid="8" grpId="0" animBg="1" autoUpdateAnimBg="0"/>
      <p:bldP spid="9" grpId="0" animBg="1"/>
      <p:bldP spid="10" grpId="0" animBg="1"/>
      <p:bldP spid="11" grpId="0" animBg="1" autoUpdateAnimBg="0"/>
      <p:bldP spid="12" grpId="0" animBg="1"/>
      <p:bldP spid="13" grpId="0" animBg="1"/>
      <p:bldP spid="14" grpId="0" animBg="1" autoUpdateAnimBg="0"/>
      <p:bldP spid="15" grpId="0" animBg="1" autoUpdateAnimBg="0"/>
      <p:bldP spid="16" grpId="0" animBg="1" autoUpdateAnimBg="0"/>
      <p:bldP spid="17" grpId="0" animBg="1"/>
      <p:bldP spid="18" grpId="0" animBg="1" autoUpdateAnimBg="0"/>
      <p:bldP spid="19" grpId="0" animBg="1" autoUpdateAnimBg="0"/>
      <p:bldP spid="20" grpId="0" animBg="1"/>
      <p:bldP spid="21" grpId="0" animBg="1" autoUpdateAnimBg="0"/>
      <p:bldP spid="22" grpId="0" animBg="1"/>
      <p:bldP spid="23" grpId="0" animBg="1"/>
      <p:bldP spid="24" grpId="0" animBg="1"/>
      <p:bldP spid="25" grpId="0" animBg="1" autoUpdateAnimBg="0"/>
      <p:bldP spid="26" grpId="0" animBg="1"/>
      <p:bldP spid="27" grpId="0" animBg="1" autoUpdateAnimBg="0"/>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1" grpId="0" animBg="1" autoUpdateAnimBg="0"/>
      <p:bldP spid="42" grpId="0" animBg="1"/>
      <p:bldP spid="43" grpId="0" animBg="1"/>
      <p:bldP spid="4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457200" y="86916"/>
            <a:ext cx="8229600" cy="757238"/>
          </a:xfrm>
        </p:spPr>
        <p:txBody>
          <a:bodyPr/>
          <a:lstStyle/>
          <a:p>
            <a:pPr eaLnBrk="1" hangingPunct="1"/>
            <a:r>
              <a:rPr lang="zh-CN" altLang="en-US" b="1"/>
              <a:t>综合属性的计算</a:t>
            </a:r>
          </a:p>
        </p:txBody>
      </p:sp>
      <p:sp>
        <p:nvSpPr>
          <p:cNvPr id="31747" name="内容占位符 2"/>
          <p:cNvSpPr>
            <a:spLocks noGrp="1"/>
          </p:cNvSpPr>
          <p:nvPr>
            <p:ph idx="1"/>
          </p:nvPr>
        </p:nvSpPr>
        <p:spPr>
          <a:xfrm>
            <a:off x="250826" y="897732"/>
            <a:ext cx="8569325" cy="864394"/>
          </a:xfrm>
        </p:spPr>
        <p:txBody>
          <a:bodyPr>
            <a:normAutofit lnSpcReduction="10000"/>
          </a:bodyPr>
          <a:lstStyle/>
          <a:p>
            <a:r>
              <a:rPr lang="zh-CN" altLang="en-US" dirty="0"/>
              <a:t>计算综合属性，需要使用语义规则</a:t>
            </a:r>
            <a:endParaRPr lang="en-US" altLang="zh-CN" sz="4000" dirty="0"/>
          </a:p>
          <a:p>
            <a:r>
              <a:rPr lang="zh-CN" altLang="en-US" dirty="0"/>
              <a:t>从下往上，逐层计算每个文法符号属性的值</a:t>
            </a:r>
            <a:endParaRPr lang="en-US" altLang="zh-CN" dirty="0"/>
          </a:p>
        </p:txBody>
      </p:sp>
      <p:sp>
        <p:nvSpPr>
          <p:cNvPr id="31748" name="Rectangle 2"/>
          <p:cNvSpPr>
            <a:spLocks noChangeArrowheads="1"/>
          </p:cNvSpPr>
          <p:nvPr/>
        </p:nvSpPr>
        <p:spPr bwMode="auto">
          <a:xfrm>
            <a:off x="0" y="-231153"/>
            <a:ext cx="186013" cy="462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endParaRPr lang="zh-CN" altLang="en-US" sz="2400"/>
          </a:p>
        </p:txBody>
      </p:sp>
      <p:graphicFrame>
        <p:nvGraphicFramePr>
          <p:cNvPr id="31749" name="对象 4"/>
          <p:cNvGraphicFramePr>
            <a:graphicFrameLocks noChangeAspect="1"/>
          </p:cNvGraphicFramePr>
          <p:nvPr/>
        </p:nvGraphicFramePr>
        <p:xfrm>
          <a:off x="2195513" y="1869281"/>
          <a:ext cx="7129462" cy="3196829"/>
        </p:xfrm>
        <a:graphic>
          <a:graphicData uri="http://schemas.openxmlformats.org/presentationml/2006/ole">
            <mc:AlternateContent xmlns:mc="http://schemas.openxmlformats.org/markup-compatibility/2006">
              <mc:Choice xmlns:v="urn:schemas-microsoft-com:vml" Requires="v">
                <p:oleObj spid="_x0000_s7173" name="Visio" r:id="rId3" imgW="3916788" imgH="2336033" progId="Visio.Drawing.11">
                  <p:embed/>
                </p:oleObj>
              </mc:Choice>
              <mc:Fallback>
                <p:oleObj name="Visio" r:id="rId3" imgW="3916788" imgH="2336033" progId="Visio.Drawing.11">
                  <p:embed/>
                  <p:pic>
                    <p:nvPicPr>
                      <p:cNvPr id="31749"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1869281"/>
                        <a:ext cx="7129462" cy="3196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Group 1085"/>
          <p:cNvGraphicFramePr>
            <a:graphicFrameLocks noGrp="1"/>
          </p:cNvGraphicFramePr>
          <p:nvPr>
            <p:extLst>
              <p:ext uri="{D42A27DB-BD31-4B8C-83A1-F6EECF244321}">
                <p14:modId xmlns:p14="http://schemas.microsoft.com/office/powerpoint/2010/main" val="400754364"/>
              </p:ext>
            </p:extLst>
          </p:nvPr>
        </p:nvGraphicFramePr>
        <p:xfrm>
          <a:off x="107951" y="1815704"/>
          <a:ext cx="3751263" cy="1674019"/>
        </p:xfrm>
        <a:graphic>
          <a:graphicData uri="http://schemas.openxmlformats.org/drawingml/2006/table">
            <a:tbl>
              <a:tblPr/>
              <a:tblGrid>
                <a:gridCol w="1511940">
                  <a:extLst>
                    <a:ext uri="{9D8B030D-6E8A-4147-A177-3AD203B41FA5}">
                      <a16:colId xmlns:a16="http://schemas.microsoft.com/office/drawing/2014/main" val="20000"/>
                    </a:ext>
                  </a:extLst>
                </a:gridCol>
                <a:gridCol w="2239323">
                  <a:extLst>
                    <a:ext uri="{9D8B030D-6E8A-4147-A177-3AD203B41FA5}">
                      <a16:colId xmlns:a16="http://schemas.microsoft.com/office/drawing/2014/main" val="20001"/>
                    </a:ext>
                  </a:extLst>
                </a:gridCol>
              </a:tblGrid>
              <a:tr h="167401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L→E</a:t>
                      </a:r>
                      <a:r>
                        <a:rPr kumimoji="0" lang="en-US"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E→E</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E→T</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T→T</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T→F</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F→(E)</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a:t>
                      </a:r>
                      <a:r>
                        <a:rPr kumimoji="0" lang="zh-CN" altLang="fr-FR"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r>
                        <a:rPr kumimoji="0" lang="fr-FR" altLang="zh-CN" sz="15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digit</a:t>
                      </a:r>
                      <a:endParaRPr kumimoji="0" lang="fr-FR" altLang="zh-CN" sz="2700" b="0" i="0" u="none" strike="noStrike" cap="none" normalizeH="0" baseline="0" dirty="0">
                        <a:ln>
                          <a:noFill/>
                        </a:ln>
                        <a:solidFill>
                          <a:schemeClr val="tx1"/>
                        </a:solidFill>
                        <a:effectLst/>
                        <a:latin typeface="Arial" charset="0"/>
                        <a:ea typeface="宋体" pitchFamily="2" charset="-122"/>
                      </a:endParaRPr>
                    </a:p>
                  </a:txBody>
                  <a:tcPr marL="91411" marR="91411"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print(E.val)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E.val=E</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.val+t.val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E.val=T.val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T.val=T</a:t>
                      </a:r>
                      <a:r>
                        <a:rPr kumimoji="0" lang="fr-FR" altLang="zh-CN" sz="15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.val * F.val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T.val=F.val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F.val=E.val</a:t>
                      </a:r>
                      <a:endParaRPr kumimoji="0" lang="fr-FR" altLang="zh-CN" sz="1500" b="0"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F.val=</a:t>
                      </a:r>
                      <a:r>
                        <a:rPr kumimoji="0" lang="fr-FR" altLang="zh-CN" sz="15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digit</a:t>
                      </a:r>
                      <a:r>
                        <a:rPr kumimoji="0" lang="fr-FR" altLang="zh-CN" sz="15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.lexval</a:t>
                      </a:r>
                      <a:endParaRPr kumimoji="0" lang="fr-FR" altLang="zh-CN" sz="2700" b="0" i="0" u="none" strike="noStrike" cap="none" normalizeH="0" baseline="0" dirty="0">
                        <a:ln>
                          <a:noFill/>
                        </a:ln>
                        <a:solidFill>
                          <a:schemeClr val="tx1"/>
                        </a:solidFill>
                        <a:effectLst/>
                        <a:latin typeface="Arial" charset="0"/>
                        <a:ea typeface="宋体" pitchFamily="2" charset="-122"/>
                      </a:endParaRPr>
                    </a:p>
                  </a:txBody>
                  <a:tcPr marL="91411" marR="91411"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0450411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noAutofit/>
          </a:bodyPr>
          <a:lstStyle/>
          <a:p>
            <a:r>
              <a:rPr lang="zh-CN" altLang="en-US" dirty="0"/>
              <a:t>继承属性的计算</a:t>
            </a:r>
          </a:p>
        </p:txBody>
      </p:sp>
      <p:sp>
        <p:nvSpPr>
          <p:cNvPr id="33795" name="内容占位符 2"/>
          <p:cNvSpPr>
            <a:spLocks noGrp="1"/>
          </p:cNvSpPr>
          <p:nvPr>
            <p:ph idx="1"/>
          </p:nvPr>
        </p:nvSpPr>
        <p:spPr/>
        <p:txBody>
          <a:bodyPr/>
          <a:lstStyle/>
          <a:p>
            <a:r>
              <a:rPr lang="zh-CN" altLang="zh-CN" sz="2400" dirty="0"/>
              <a:t>一个结点的继承属性的值是由该结点的父结点</a:t>
            </a:r>
            <a:r>
              <a:rPr lang="zh-CN" altLang="en-US" dirty="0"/>
              <a:t>和</a:t>
            </a:r>
            <a:r>
              <a:rPr lang="zh-CN" altLang="zh-CN" sz="2400" dirty="0"/>
              <a:t>（或）</a:t>
            </a:r>
            <a:r>
              <a:rPr lang="zh-CN" altLang="en-US" dirty="0"/>
              <a:t>兄弟</a:t>
            </a:r>
            <a:r>
              <a:rPr lang="zh-CN" altLang="zh-CN" sz="2400" dirty="0"/>
              <a:t>结点</a:t>
            </a:r>
            <a:r>
              <a:rPr lang="zh-CN" altLang="en-US" sz="2400" dirty="0"/>
              <a:t>，以及其本身</a:t>
            </a:r>
            <a:r>
              <a:rPr lang="zh-CN" altLang="zh-CN" sz="2400" dirty="0"/>
              <a:t>的</a:t>
            </a:r>
            <a:r>
              <a:rPr lang="zh-CN" altLang="en-US" sz="2400" dirty="0"/>
              <a:t>某些</a:t>
            </a:r>
            <a:r>
              <a:rPr lang="zh-CN" altLang="zh-CN" sz="2400" dirty="0"/>
              <a:t>属性决定的。</a:t>
            </a:r>
            <a:endParaRPr lang="en-US" altLang="zh-CN" sz="2400" dirty="0"/>
          </a:p>
          <a:p>
            <a:r>
              <a:rPr lang="zh-CN" altLang="zh-CN" sz="2400" dirty="0"/>
              <a:t>用继承属性来表示程序设计语言上下文结构的依赖性是很方便的。</a:t>
            </a:r>
            <a:endParaRPr lang="en-US" altLang="zh-CN" sz="2400" dirty="0"/>
          </a:p>
          <a:p>
            <a:r>
              <a:rPr lang="zh-CN" altLang="zh-CN" sz="2400" dirty="0"/>
              <a:t>可以使用继承属性来跟踪一个标识符，看它是出现在赋值号的左边还是右边，以便确定是需要它的地址还是它的值。</a:t>
            </a:r>
          </a:p>
          <a:p>
            <a:endParaRPr lang="zh-CN" altLang="en-US" sz="2400" dirty="0"/>
          </a:p>
        </p:txBody>
      </p:sp>
    </p:spTree>
    <p:extLst>
      <p:ext uri="{BB962C8B-B14F-4D97-AF65-F5344CB8AC3E}">
        <p14:creationId xmlns:p14="http://schemas.microsoft.com/office/powerpoint/2010/main" val="2892192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074"/>
          <p:cNvSpPr txBox="1">
            <a:spLocks noChangeArrowheads="1"/>
          </p:cNvSpPr>
          <p:nvPr/>
        </p:nvSpPr>
        <p:spPr bwMode="auto">
          <a:xfrm>
            <a:off x="6084168" y="141684"/>
            <a:ext cx="2880320" cy="830997"/>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kumimoji="1" lang="en-US" altLang="zh-CN" sz="2400" b="1" dirty="0">
                <a:latin typeface="Times New Roman" pitchFamily="18" charset="0"/>
              </a:rPr>
              <a:t>C</a:t>
            </a:r>
            <a:r>
              <a:rPr kumimoji="1" lang="zh-CN" altLang="en-US" sz="2400" b="1" dirty="0">
                <a:latin typeface="Times New Roman" pitchFamily="18" charset="0"/>
              </a:rPr>
              <a:t>语言中变量声明：</a:t>
            </a:r>
          </a:p>
          <a:p>
            <a:pPr eaLnBrk="1" hangingPunct="1">
              <a:lnSpc>
                <a:spcPct val="100000"/>
              </a:lnSpc>
              <a:spcBef>
                <a:spcPct val="0"/>
              </a:spcBef>
              <a:buFontTx/>
              <a:buNone/>
            </a:pPr>
            <a:r>
              <a:rPr kumimoji="1" lang="en-US" altLang="zh-CN" sz="2400" b="1" dirty="0" err="1">
                <a:solidFill>
                  <a:schemeClr val="accent2"/>
                </a:solidFill>
                <a:latin typeface="Times New Roman" pitchFamily="18" charset="0"/>
              </a:rPr>
              <a:t>int</a:t>
            </a:r>
            <a:r>
              <a:rPr kumimoji="1" lang="en-US" altLang="zh-CN" sz="2400" b="1" dirty="0">
                <a:solidFill>
                  <a:schemeClr val="accent2"/>
                </a:solidFill>
                <a:latin typeface="Times New Roman" pitchFamily="18" charset="0"/>
              </a:rPr>
              <a:t> id1,id2,id3</a:t>
            </a:r>
          </a:p>
        </p:txBody>
      </p:sp>
      <p:sp>
        <p:nvSpPr>
          <p:cNvPr id="137267" name="AutoShape 1075"/>
          <p:cNvSpPr>
            <a:spLocks noChangeArrowheads="1"/>
          </p:cNvSpPr>
          <p:nvPr/>
        </p:nvSpPr>
        <p:spPr bwMode="auto">
          <a:xfrm>
            <a:off x="3419872" y="4111227"/>
            <a:ext cx="1440159" cy="896542"/>
          </a:xfrm>
          <a:prstGeom prst="wedgeRoundRectCallout">
            <a:avLst>
              <a:gd name="adj1" fmla="val 71093"/>
              <a:gd name="adj2" fmla="val -149280"/>
              <a:gd name="adj3" fmla="val 16667"/>
            </a:avLst>
          </a:prstGeom>
          <a:solidFill>
            <a:srgbClr val="FFFF00"/>
          </a:solidFill>
          <a:ln w="12700">
            <a:solidFill>
              <a:schemeClr val="tx1"/>
            </a:solidFill>
            <a:miter lim="800000"/>
            <a:headEnd type="none" w="sm" len="sm"/>
            <a:tailEnd type="none" w="sm" len="sm"/>
          </a:ln>
        </p:spPr>
        <p:txBody>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0"/>
              </a:spcBef>
              <a:buFontTx/>
              <a:buNone/>
            </a:pPr>
            <a:r>
              <a:rPr lang="zh-CN" altLang="en-US" sz="2200" dirty="0"/>
              <a:t>综合属性的传递</a:t>
            </a:r>
          </a:p>
        </p:txBody>
      </p:sp>
      <p:sp>
        <p:nvSpPr>
          <p:cNvPr id="137268" name="AutoShape 1076"/>
          <p:cNvSpPr>
            <a:spLocks noChangeArrowheads="1"/>
          </p:cNvSpPr>
          <p:nvPr/>
        </p:nvSpPr>
        <p:spPr bwMode="auto">
          <a:xfrm>
            <a:off x="7642604" y="1401267"/>
            <a:ext cx="1501396" cy="800100"/>
          </a:xfrm>
          <a:prstGeom prst="wedgeRoundRectCallout">
            <a:avLst>
              <a:gd name="adj1" fmla="val -77542"/>
              <a:gd name="adj2" fmla="val 87276"/>
              <a:gd name="adj3" fmla="val 16667"/>
            </a:avLst>
          </a:prstGeom>
          <a:solidFill>
            <a:srgbClr val="FFFF00"/>
          </a:solidFill>
          <a:ln w="12700">
            <a:solidFill>
              <a:schemeClr val="tx1"/>
            </a:solidFill>
            <a:miter lim="800000"/>
            <a:headEnd type="none" w="sm" len="sm"/>
            <a:tailEnd type="none" w="sm" len="sm"/>
          </a:ln>
        </p:spPr>
        <p:txBody>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0"/>
              </a:spcBef>
              <a:buFontTx/>
              <a:buNone/>
            </a:pPr>
            <a:r>
              <a:rPr lang="zh-CN" altLang="en-US" sz="2200" dirty="0"/>
              <a:t>继承属性的传递</a:t>
            </a:r>
          </a:p>
        </p:txBody>
      </p:sp>
      <p:sp>
        <p:nvSpPr>
          <p:cNvPr id="34821" name="Rectangle 1078"/>
          <p:cNvSpPr>
            <a:spLocks noChangeArrowheads="1"/>
          </p:cNvSpPr>
          <p:nvPr/>
        </p:nvSpPr>
        <p:spPr bwMode="auto">
          <a:xfrm>
            <a:off x="0" y="1708697"/>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sp>
        <p:nvSpPr>
          <p:cNvPr id="34822" name="AutoShape 1079"/>
          <p:cNvSpPr>
            <a:spLocks noChangeArrowheads="1"/>
          </p:cNvSpPr>
          <p:nvPr/>
        </p:nvSpPr>
        <p:spPr bwMode="auto">
          <a:xfrm>
            <a:off x="0" y="3975497"/>
            <a:ext cx="2700338" cy="1168003"/>
          </a:xfrm>
          <a:prstGeom prst="wave">
            <a:avLst>
              <a:gd name="adj1" fmla="val 13005"/>
              <a:gd name="adj2" fmla="val 0"/>
            </a:avLst>
          </a:prstGeom>
          <a:solidFill>
            <a:srgbClr val="FFCCFF"/>
          </a:solidFill>
          <a:ln w="12700">
            <a:solidFill>
              <a:schemeClr val="tx1"/>
            </a:solidFill>
            <a:round/>
            <a:headEnd type="none" w="sm" len="sm"/>
            <a:tailEnd type="none" w="sm" len="sm"/>
          </a:ln>
        </p:spPr>
        <p:txBody>
          <a:bodyPr wrap="none" anchor="ct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zh-CN" altLang="en-US" sz="2800" b="1" dirty="0">
                <a:solidFill>
                  <a:schemeClr val="accent2"/>
                </a:solidFill>
              </a:rPr>
              <a:t>例</a:t>
            </a:r>
            <a:r>
              <a:rPr lang="zh-CN" altLang="en-US" sz="2800" b="1" dirty="0"/>
              <a:t>：</a:t>
            </a:r>
          </a:p>
          <a:p>
            <a:pPr eaLnBrk="1" hangingPunct="1">
              <a:lnSpc>
                <a:spcPct val="100000"/>
              </a:lnSpc>
              <a:spcBef>
                <a:spcPct val="0"/>
              </a:spcBef>
              <a:buFontTx/>
              <a:buNone/>
            </a:pPr>
            <a:r>
              <a:rPr lang="zh-CN" altLang="en-US" sz="2800" b="1" dirty="0"/>
              <a:t>继承属性的计算</a:t>
            </a:r>
          </a:p>
        </p:txBody>
      </p:sp>
      <p:graphicFrame>
        <p:nvGraphicFramePr>
          <p:cNvPr id="137323" name="Group 1131"/>
          <p:cNvGraphicFramePr>
            <a:graphicFrameLocks noGrp="1"/>
          </p:cNvGraphicFramePr>
          <p:nvPr>
            <p:ph/>
            <p:extLst>
              <p:ext uri="{D42A27DB-BD31-4B8C-83A1-F6EECF244321}">
                <p14:modId xmlns:p14="http://schemas.microsoft.com/office/powerpoint/2010/main" val="1050832611"/>
              </p:ext>
            </p:extLst>
          </p:nvPr>
        </p:nvGraphicFramePr>
        <p:xfrm>
          <a:off x="1" y="24158"/>
          <a:ext cx="1439863" cy="2331568"/>
        </p:xfrm>
        <a:graphic>
          <a:graphicData uri="http://schemas.openxmlformats.org/drawingml/2006/table">
            <a:tbl>
              <a:tblPr/>
              <a:tblGrid>
                <a:gridCol w="1439863">
                  <a:extLst>
                    <a:ext uri="{9D8B030D-6E8A-4147-A177-3AD203B41FA5}">
                      <a16:colId xmlns:a16="http://schemas.microsoft.com/office/drawing/2014/main" val="20000"/>
                    </a:ext>
                  </a:extLst>
                </a:gridCol>
              </a:tblGrid>
              <a:tr h="342842">
                <a:tc>
                  <a:txBody>
                    <a:bodyPr/>
                    <a:lstStyle>
                      <a:lvl1pPr>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rPr>
                        <a:t>产生式</a:t>
                      </a:r>
                    </a:p>
                  </a:txBody>
                  <a:tcPr marT="34243" marB="342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88726">
                <a:tc>
                  <a:txBody>
                    <a:bodyPr/>
                    <a:lstStyle>
                      <a:lvl1pPr>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D </a:t>
                      </a:r>
                      <a:r>
                        <a:rPr kumimoji="1"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a:t>
                      </a:r>
                      <a:r>
                        <a:rPr kumimoji="1" lang="en-US" altLang="zh-CN" sz="1800" b="0" i="0" u="none" strike="noStrike" cap="none" normalizeH="0" baseline="0" dirty="0">
                          <a:ln>
                            <a:noFill/>
                          </a:ln>
                          <a:solidFill>
                            <a:schemeClr val="tx1"/>
                          </a:solidFill>
                          <a:effectLst/>
                          <a:latin typeface="Arial" charset="0"/>
                          <a:ea typeface="宋体" pitchFamily="2" charset="-122"/>
                        </a:rPr>
                        <a:t>TL </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T</a:t>
                      </a:r>
                      <a:r>
                        <a:rPr kumimoji="1"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a:t>
                      </a:r>
                      <a:r>
                        <a:rPr kumimoji="1" lang="en-US" altLang="zh-CN" sz="1800" b="0" i="0" u="none" strike="noStrike" cap="none" normalizeH="0" baseline="0" dirty="0">
                          <a:ln>
                            <a:noFill/>
                          </a:ln>
                          <a:solidFill>
                            <a:schemeClr val="tx1"/>
                          </a:solidFill>
                          <a:effectLst/>
                          <a:latin typeface="Arial" charset="0"/>
                          <a:ea typeface="宋体" pitchFamily="2" charset="-122"/>
                        </a:rPr>
                        <a:t> </a:t>
                      </a:r>
                      <a:r>
                        <a:rPr kumimoji="1" lang="en-US" altLang="zh-CN" sz="1800" b="0" i="0" u="none" strike="noStrike" cap="none" normalizeH="0" baseline="0" dirty="0" err="1">
                          <a:ln>
                            <a:noFill/>
                          </a:ln>
                          <a:solidFill>
                            <a:schemeClr val="tx1"/>
                          </a:solidFill>
                          <a:effectLst/>
                          <a:latin typeface="Arial" charset="0"/>
                          <a:ea typeface="宋体" pitchFamily="2" charset="-122"/>
                        </a:rPr>
                        <a:t>int</a:t>
                      </a:r>
                      <a:endParaRPr kumimoji="1" lang="en-US" altLang="zh-CN" sz="1800" b="0" i="0" u="none" strike="noStrike" cap="none" normalizeH="0" baseline="0" dirty="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T </a:t>
                      </a:r>
                      <a:r>
                        <a:rPr kumimoji="1"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float</a:t>
                      </a:r>
                      <a:endParaRPr kumimoji="1" lang="en-US" altLang="zh-CN" sz="1800" b="0" i="0" u="none" strike="noStrike" cap="none" normalizeH="0" baseline="0" dirty="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L </a:t>
                      </a:r>
                      <a:r>
                        <a:rPr kumimoji="1"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a:t>
                      </a:r>
                      <a:r>
                        <a:rPr kumimoji="1" lang="en-US" altLang="zh-CN" sz="1800" b="0" i="0" u="none" strike="noStrike" cap="none" normalizeH="0" baseline="0" dirty="0">
                          <a:ln>
                            <a:noFill/>
                          </a:ln>
                          <a:solidFill>
                            <a:schemeClr val="tx1"/>
                          </a:solidFill>
                          <a:effectLst/>
                          <a:latin typeface="Arial" charset="0"/>
                          <a:ea typeface="宋体" pitchFamily="2" charset="-122"/>
                        </a:rPr>
                        <a:t> L</a:t>
                      </a:r>
                      <a:r>
                        <a:rPr kumimoji="1" lang="en-US" altLang="zh-CN" sz="1800" b="0" i="0" u="none" strike="noStrike" cap="none" normalizeH="0" baseline="-25000" dirty="0">
                          <a:ln>
                            <a:noFill/>
                          </a:ln>
                          <a:solidFill>
                            <a:schemeClr val="tx1"/>
                          </a:solidFill>
                          <a:effectLst/>
                          <a:latin typeface="Arial" charset="0"/>
                          <a:ea typeface="宋体" pitchFamily="2" charset="-122"/>
                        </a:rPr>
                        <a:t>1</a:t>
                      </a:r>
                      <a:r>
                        <a:rPr kumimoji="1" lang="en-US" altLang="zh-CN" sz="1800" b="0" i="0" u="none" strike="noStrike" cap="none" normalizeH="0" baseline="0" dirty="0">
                          <a:ln>
                            <a:noFill/>
                          </a:ln>
                          <a:solidFill>
                            <a:schemeClr val="tx1"/>
                          </a:solidFill>
                          <a:effectLst/>
                          <a:latin typeface="Arial" charset="0"/>
                          <a:ea typeface="宋体" pitchFamily="2" charset="-122"/>
                        </a:rPr>
                        <a:t>,id</a:t>
                      </a: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L</a:t>
                      </a:r>
                      <a:r>
                        <a:rPr kumimoji="1" lang="en-US" altLang="zh-CN" sz="1800" b="0" i="0" u="none" strike="noStrike" cap="none" normalizeH="0" baseline="0" dirty="0">
                          <a:ln>
                            <a:noFill/>
                          </a:ln>
                          <a:solidFill>
                            <a:schemeClr val="tx1"/>
                          </a:solidFill>
                          <a:effectLst/>
                          <a:latin typeface="Arial" charset="0"/>
                          <a:ea typeface="宋体" pitchFamily="2" charset="-122"/>
                          <a:sym typeface="Symbol" pitchFamily="18" charset="2"/>
                        </a:rPr>
                        <a:t></a:t>
                      </a:r>
                      <a:r>
                        <a:rPr kumimoji="1" lang="en-US" altLang="zh-CN" sz="1800" b="0" i="0" u="none" strike="noStrike" cap="none" normalizeH="0" baseline="0" dirty="0">
                          <a:ln>
                            <a:noFill/>
                          </a:ln>
                          <a:solidFill>
                            <a:schemeClr val="tx1"/>
                          </a:solidFill>
                          <a:effectLst/>
                          <a:latin typeface="Arial" charset="0"/>
                          <a:ea typeface="宋体" pitchFamily="2" charset="-122"/>
                        </a:rPr>
                        <a:t> id</a:t>
                      </a:r>
                    </a:p>
                  </a:txBody>
                  <a:tcPr marT="34243" marB="342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4837" name="Rectangle 21"/>
          <p:cNvSpPr>
            <a:spLocks noChangeArrowheads="1"/>
          </p:cNvSpPr>
          <p:nvPr/>
        </p:nvSpPr>
        <p:spPr bwMode="auto">
          <a:xfrm>
            <a:off x="0" y="171941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endParaRPr lang="zh-CN" altLang="en-US" sz="2400"/>
          </a:p>
        </p:txBody>
      </p:sp>
      <p:graphicFrame>
        <p:nvGraphicFramePr>
          <p:cNvPr id="4" name="表格 3"/>
          <p:cNvGraphicFramePr>
            <a:graphicFrameLocks noGrp="1"/>
          </p:cNvGraphicFramePr>
          <p:nvPr>
            <p:extLst>
              <p:ext uri="{D42A27DB-BD31-4B8C-83A1-F6EECF244321}">
                <p14:modId xmlns:p14="http://schemas.microsoft.com/office/powerpoint/2010/main" val="4230216712"/>
              </p:ext>
            </p:extLst>
          </p:nvPr>
        </p:nvGraphicFramePr>
        <p:xfrm>
          <a:off x="170703" y="2517457"/>
          <a:ext cx="3912368" cy="1483360"/>
        </p:xfrm>
        <a:graphic>
          <a:graphicData uri="http://schemas.openxmlformats.org/drawingml/2006/table">
            <a:tbl>
              <a:tblPr firstRow="1" bandRow="1">
                <a:tableStyleId>{5C22544A-7EE6-4342-B048-85BDC9FD1C3A}</a:tableStyleId>
              </a:tblPr>
              <a:tblGrid>
                <a:gridCol w="978092">
                  <a:extLst>
                    <a:ext uri="{9D8B030D-6E8A-4147-A177-3AD203B41FA5}">
                      <a16:colId xmlns:a16="http://schemas.microsoft.com/office/drawing/2014/main" val="20000"/>
                    </a:ext>
                  </a:extLst>
                </a:gridCol>
                <a:gridCol w="978092">
                  <a:extLst>
                    <a:ext uri="{9D8B030D-6E8A-4147-A177-3AD203B41FA5}">
                      <a16:colId xmlns:a16="http://schemas.microsoft.com/office/drawing/2014/main" val="20001"/>
                    </a:ext>
                  </a:extLst>
                </a:gridCol>
                <a:gridCol w="978092">
                  <a:extLst>
                    <a:ext uri="{9D8B030D-6E8A-4147-A177-3AD203B41FA5}">
                      <a16:colId xmlns:a16="http://schemas.microsoft.com/office/drawing/2014/main" val="20002"/>
                    </a:ext>
                  </a:extLst>
                </a:gridCol>
                <a:gridCol w="978092">
                  <a:extLst>
                    <a:ext uri="{9D8B030D-6E8A-4147-A177-3AD203B41FA5}">
                      <a16:colId xmlns:a16="http://schemas.microsoft.com/office/drawing/2014/main" val="20003"/>
                    </a:ext>
                  </a:extLst>
                </a:gridCol>
              </a:tblGrid>
              <a:tr h="370840">
                <a:tc>
                  <a:txBody>
                    <a:bodyPr/>
                    <a:lstStyle/>
                    <a:p>
                      <a:r>
                        <a:rPr lang="zh-CN" altLang="en-US" dirty="0">
                          <a:solidFill>
                            <a:schemeClr val="tx1"/>
                          </a:solidFill>
                        </a:rPr>
                        <a:t>入口</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dirty="0">
                          <a:solidFill>
                            <a:schemeClr val="tx1"/>
                          </a:solidFill>
                        </a:rPr>
                        <a:t>名字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dirty="0">
                          <a:solidFill>
                            <a:schemeClr val="tx1"/>
                          </a:solidFill>
                        </a:rPr>
                        <a:t>类型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id3</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US" altLang="zh-CN" dirty="0">
                          <a:solidFill>
                            <a:schemeClr val="tx1"/>
                          </a:solidFill>
                        </a:rPr>
                        <a:t>2</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Id2</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US" altLang="zh-CN" dirty="0">
                          <a:solidFill>
                            <a:schemeClr val="tx1"/>
                          </a:solidFill>
                        </a:rPr>
                        <a:t>3</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dirty="0">
                          <a:solidFill>
                            <a:schemeClr val="tx1"/>
                          </a:solidFill>
                        </a:rPr>
                        <a:t>Id1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219389475"/>
              </p:ext>
            </p:extLst>
          </p:nvPr>
        </p:nvGraphicFramePr>
        <p:xfrm>
          <a:off x="1403648" y="24158"/>
          <a:ext cx="2448272" cy="2331568"/>
        </p:xfrm>
        <a:graphic>
          <a:graphicData uri="http://schemas.openxmlformats.org/drawingml/2006/table">
            <a:tbl>
              <a:tblPr/>
              <a:tblGrid>
                <a:gridCol w="2448272">
                  <a:extLst>
                    <a:ext uri="{9D8B030D-6E8A-4147-A177-3AD203B41FA5}">
                      <a16:colId xmlns:a16="http://schemas.microsoft.com/office/drawing/2014/main" val="20000"/>
                    </a:ext>
                  </a:extLst>
                </a:gridCol>
              </a:tblGrid>
              <a:tr h="342842">
                <a:tc>
                  <a:txBody>
                    <a:bodyPr/>
                    <a:lstStyle>
                      <a:lvl1pPr>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Arial" charset="0"/>
                          <a:ea typeface="宋体" pitchFamily="2" charset="-122"/>
                        </a:rPr>
                        <a:t>语  义  规  则</a:t>
                      </a:r>
                      <a:endParaRPr kumimoji="0" lang="zh-CN" altLang="en-US" sz="1800" b="0" i="0" u="none" strike="noStrike" cap="none" normalizeH="0" baseline="0" dirty="0">
                        <a:ln>
                          <a:noFill/>
                        </a:ln>
                        <a:solidFill>
                          <a:schemeClr val="tx1"/>
                        </a:solidFill>
                        <a:effectLst/>
                        <a:latin typeface="Arial" charset="0"/>
                        <a:ea typeface="宋体" pitchFamily="2" charset="-122"/>
                      </a:endParaRPr>
                    </a:p>
                  </a:txBody>
                  <a:tcPr marT="34243" marB="34243" horzOverflow="overflow">
                    <a:lnL w="12700" cap="flat" cmpd="sng" algn="ctr">
                      <a:no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88726">
                <a:tc>
                  <a:txBody>
                    <a:bodyPr/>
                    <a:lstStyle>
                      <a:lvl1pPr>
                        <a:defRPr sz="2800">
                          <a:solidFill>
                            <a:schemeClr val="tx1"/>
                          </a:solidFill>
                          <a:latin typeface="Arial" charset="0"/>
                          <a:ea typeface="宋体" pitchFamily="2" charset="-122"/>
                        </a:defRPr>
                      </a:lvl1pPr>
                      <a:lvl2pPr marL="742950" indent="-285750">
                        <a:defRPr sz="2400">
                          <a:solidFill>
                            <a:schemeClr val="tx1"/>
                          </a:solidFill>
                          <a:latin typeface="Arial" charset="0"/>
                          <a:ea typeface="宋体" pitchFamily="2" charset="-122"/>
                        </a:defRPr>
                      </a:lvl2pPr>
                      <a:lvl3pPr marL="1143000" indent="-228600">
                        <a:defRPr sz="2000">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20000"/>
                        </a:spcBef>
                        <a:spcAft>
                          <a:spcPct val="0"/>
                        </a:spcAft>
                        <a:defRPr>
                          <a:solidFill>
                            <a:schemeClr val="tx1"/>
                          </a:solidFill>
                          <a:latin typeface="Arial" charset="0"/>
                          <a:ea typeface="宋体" pitchFamily="2" charset="-122"/>
                        </a:defRPr>
                      </a:lvl6pPr>
                      <a:lvl7pPr marL="2971800" indent="-228600" eaLnBrk="0" fontAlgn="base" hangingPunct="0">
                        <a:spcBef>
                          <a:spcPct val="20000"/>
                        </a:spcBef>
                        <a:spcAft>
                          <a:spcPct val="0"/>
                        </a:spcAft>
                        <a:defRPr>
                          <a:solidFill>
                            <a:schemeClr val="tx1"/>
                          </a:solidFill>
                          <a:latin typeface="Arial" charset="0"/>
                          <a:ea typeface="宋体" pitchFamily="2" charset="-122"/>
                        </a:defRPr>
                      </a:lvl7pPr>
                      <a:lvl8pPr marL="3429000" indent="-228600" eaLnBrk="0" fontAlgn="base" hangingPunct="0">
                        <a:spcBef>
                          <a:spcPct val="20000"/>
                        </a:spcBef>
                        <a:spcAft>
                          <a:spcPct val="0"/>
                        </a:spcAft>
                        <a:defRPr>
                          <a:solidFill>
                            <a:schemeClr val="tx1"/>
                          </a:solidFill>
                          <a:latin typeface="Arial" charset="0"/>
                          <a:ea typeface="宋体" pitchFamily="2" charset="-122"/>
                        </a:defRPr>
                      </a:lvl8pPr>
                      <a:lvl9pPr marL="3886200" indent="-228600" eaLnBrk="0" fontAlgn="base" hangingPunct="0">
                        <a:spcBef>
                          <a:spcPct val="20000"/>
                        </a:spcBef>
                        <a:spcAft>
                          <a:spcPct val="0"/>
                        </a:spcAft>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L.in=</a:t>
                      </a:r>
                      <a:r>
                        <a:rPr kumimoji="1" lang="en-US" altLang="zh-CN" sz="1800" b="0" i="0" u="none" strike="noStrike" cap="none" normalizeH="0" baseline="0" dirty="0" err="1">
                          <a:ln>
                            <a:noFill/>
                          </a:ln>
                          <a:solidFill>
                            <a:schemeClr val="tx1"/>
                          </a:solidFill>
                          <a:effectLst/>
                          <a:latin typeface="Arial" charset="0"/>
                          <a:ea typeface="宋体" pitchFamily="2" charset="-122"/>
                        </a:rPr>
                        <a:t>T.type</a:t>
                      </a:r>
                      <a:endParaRPr kumimoji="1" lang="en-US" altLang="zh-CN" sz="1800" b="0" i="0" u="none" strike="noStrike" cap="none" normalizeH="0" baseline="0" dirty="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err="1">
                          <a:ln>
                            <a:noFill/>
                          </a:ln>
                          <a:solidFill>
                            <a:schemeClr val="tx1"/>
                          </a:solidFill>
                          <a:effectLst/>
                          <a:latin typeface="Arial" charset="0"/>
                          <a:ea typeface="宋体" pitchFamily="2" charset="-122"/>
                        </a:rPr>
                        <a:t>T.type</a:t>
                      </a:r>
                      <a:r>
                        <a:rPr kumimoji="1" lang="en-US" altLang="zh-CN" sz="1800" b="0" i="0" u="none" strike="noStrike" cap="none" normalizeH="0" baseline="0" dirty="0">
                          <a:ln>
                            <a:noFill/>
                          </a:ln>
                          <a:solidFill>
                            <a:schemeClr val="tx1"/>
                          </a:solidFill>
                          <a:effectLst/>
                          <a:latin typeface="Arial" charset="0"/>
                          <a:ea typeface="宋体" pitchFamily="2" charset="-122"/>
                        </a:rPr>
                        <a:t>=</a:t>
                      </a:r>
                      <a:r>
                        <a:rPr kumimoji="1" lang="en-US" altLang="zh-CN" sz="1800" b="0" i="0" u="none" strike="noStrike" cap="none" normalizeH="0" baseline="0" dirty="0" err="1">
                          <a:ln>
                            <a:noFill/>
                          </a:ln>
                          <a:solidFill>
                            <a:schemeClr val="tx1"/>
                          </a:solidFill>
                          <a:effectLst/>
                          <a:latin typeface="Arial" charset="0"/>
                          <a:ea typeface="宋体" pitchFamily="2" charset="-122"/>
                        </a:rPr>
                        <a:t>int</a:t>
                      </a:r>
                      <a:endParaRPr kumimoji="1" lang="en-US" altLang="zh-CN" sz="1800" b="0" i="0" u="none" strike="noStrike" cap="none" normalizeH="0" baseline="0" dirty="0">
                        <a:ln>
                          <a:noFill/>
                        </a:ln>
                        <a:solidFill>
                          <a:schemeClr val="tx1"/>
                        </a:solidFill>
                        <a:effectLst/>
                        <a:latin typeface="Arial" charset="0"/>
                        <a:ea typeface="宋体" pitchFamily="2" charset="-122"/>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err="1">
                          <a:ln>
                            <a:noFill/>
                          </a:ln>
                          <a:solidFill>
                            <a:schemeClr val="tx1"/>
                          </a:solidFill>
                          <a:effectLst/>
                          <a:latin typeface="Arial" charset="0"/>
                          <a:ea typeface="宋体" pitchFamily="2" charset="-122"/>
                        </a:rPr>
                        <a:t>T.type</a:t>
                      </a:r>
                      <a:r>
                        <a:rPr kumimoji="1" lang="en-US" altLang="zh-CN" sz="1800" b="0" i="0" u="none" strike="noStrike" cap="none" normalizeH="0" baseline="0" dirty="0">
                          <a:ln>
                            <a:noFill/>
                          </a:ln>
                          <a:solidFill>
                            <a:schemeClr val="tx1"/>
                          </a:solidFill>
                          <a:effectLst/>
                          <a:latin typeface="Arial" charset="0"/>
                          <a:ea typeface="宋体" pitchFamily="2" charset="-122"/>
                        </a:rPr>
                        <a:t>=float</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1800" b="0" i="0" u="none" strike="noStrike" cap="none" normalizeH="0" baseline="0" dirty="0">
                          <a:ln>
                            <a:noFill/>
                          </a:ln>
                          <a:solidFill>
                            <a:schemeClr val="tx1"/>
                          </a:solidFill>
                          <a:effectLst/>
                          <a:latin typeface="Arial" charset="0"/>
                          <a:ea typeface="宋体" pitchFamily="2" charset="-122"/>
                        </a:rPr>
                        <a:t>L</a:t>
                      </a:r>
                      <a:r>
                        <a:rPr kumimoji="1" lang="en-US" altLang="zh-CN" sz="1800" b="0" i="0" u="none" strike="noStrike" cap="none" normalizeH="0" baseline="-25000" dirty="0">
                          <a:ln>
                            <a:noFill/>
                          </a:ln>
                          <a:solidFill>
                            <a:schemeClr val="tx1"/>
                          </a:solidFill>
                          <a:effectLst/>
                          <a:latin typeface="Arial" charset="0"/>
                          <a:ea typeface="宋体" pitchFamily="2" charset="-122"/>
                        </a:rPr>
                        <a:t>1</a:t>
                      </a:r>
                      <a:r>
                        <a:rPr kumimoji="1" lang="en-US" altLang="zh-CN" sz="1800" b="0" i="0" u="none" strike="noStrike" cap="none" normalizeH="0" baseline="0" dirty="0">
                          <a:ln>
                            <a:noFill/>
                          </a:ln>
                          <a:solidFill>
                            <a:schemeClr val="tx1"/>
                          </a:solidFill>
                          <a:effectLst/>
                          <a:latin typeface="Arial" charset="0"/>
                          <a:ea typeface="宋体" pitchFamily="2" charset="-122"/>
                        </a:rPr>
                        <a:t>.in=L.in</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entry(id).type = L.in </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Arial" charset="0"/>
                          <a:ea typeface="宋体" pitchFamily="2" charset="-122"/>
                        </a:rPr>
                        <a:t>entry(id).type = L.in</a:t>
                      </a:r>
                    </a:p>
                  </a:txBody>
                  <a:tcPr marT="34243" marB="34243"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线形标注 1 2"/>
          <p:cNvSpPr/>
          <p:nvPr/>
        </p:nvSpPr>
        <p:spPr>
          <a:xfrm>
            <a:off x="4139952" y="1090289"/>
            <a:ext cx="2088232" cy="548977"/>
          </a:xfrm>
          <a:prstGeom prst="borderCallout1">
            <a:avLst>
              <a:gd name="adj1" fmla="val -469"/>
              <a:gd name="adj2" fmla="val -193"/>
              <a:gd name="adj3" fmla="val 51640"/>
              <a:gd name="adj4" fmla="val -54613"/>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CN" dirty="0" err="1"/>
              <a:t>InsertVarible</a:t>
            </a:r>
            <a:r>
              <a:rPr lang="en-US" altLang="zh-CN" dirty="0"/>
              <a:t>(id)</a:t>
            </a:r>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3816495474"/>
              </p:ext>
            </p:extLst>
          </p:nvPr>
        </p:nvGraphicFramePr>
        <p:xfrm>
          <a:off x="4644008" y="2085676"/>
          <a:ext cx="4284662" cy="3057823"/>
        </p:xfrm>
        <a:graphic>
          <a:graphicData uri="http://schemas.openxmlformats.org/presentationml/2006/ole">
            <mc:AlternateContent xmlns:mc="http://schemas.openxmlformats.org/markup-compatibility/2006">
              <mc:Choice xmlns:v="urn:schemas-microsoft-com:vml" Requires="v">
                <p:oleObj spid="_x0000_s8197" name="Visio" r:id="rId4" imgW="2575857" imgH="1659744" progId="Visio.Drawing.11">
                  <p:embed/>
                </p:oleObj>
              </mc:Choice>
              <mc:Fallback>
                <p:oleObj name="Visio" r:id="rId4" imgW="2575857" imgH="1659744" progId="Visio.Drawing.11">
                  <p:embed/>
                  <p:pic>
                    <p:nvPicPr>
                      <p:cNvPr id="6" name="对象 5"/>
                      <p:cNvPicPr>
                        <a:picLocks noChangeAspect="1" noChangeArrowheads="1"/>
                      </p:cNvPicPr>
                      <p:nvPr/>
                    </p:nvPicPr>
                    <p:blipFill>
                      <a:blip r:embed="rId5"/>
                      <a:srcRect/>
                      <a:stretch>
                        <a:fillRect/>
                      </a:stretch>
                    </p:blipFill>
                    <p:spPr bwMode="auto">
                      <a:xfrm>
                        <a:off x="4644008" y="2085676"/>
                        <a:ext cx="4284662" cy="3057823"/>
                      </a:xfrm>
                      <a:prstGeom prst="rect">
                        <a:avLst/>
                      </a:prstGeom>
                      <a:noFill/>
                      <a:ln>
                        <a:noFill/>
                      </a:ln>
                    </p:spPr>
                  </p:pic>
                </p:oleObj>
              </mc:Fallback>
            </mc:AlternateContent>
          </a:graphicData>
        </a:graphic>
      </p:graphicFrame>
      <p:sp>
        <p:nvSpPr>
          <p:cNvPr id="7" name="TextBox 6"/>
          <p:cNvSpPr txBox="1"/>
          <p:nvPr/>
        </p:nvSpPr>
        <p:spPr>
          <a:xfrm>
            <a:off x="5220072" y="2715766"/>
            <a:ext cx="1512168" cy="338554"/>
          </a:xfrm>
          <a:prstGeom prst="rect">
            <a:avLst/>
          </a:prstGeom>
          <a:noFill/>
        </p:spPr>
        <p:txBody>
          <a:bodyPr wrap="square" rtlCol="0">
            <a:spAutoFit/>
          </a:bodyPr>
          <a:lstStyle/>
          <a:p>
            <a:r>
              <a:rPr lang="en-US" altLang="zh-CN" sz="1600" dirty="0">
                <a:solidFill>
                  <a:srgbClr val="0000FF"/>
                </a:solidFill>
              </a:rPr>
              <a:t>(</a:t>
            </a:r>
            <a:r>
              <a:rPr lang="en-US" altLang="zh-CN" sz="1600" dirty="0" err="1">
                <a:solidFill>
                  <a:srgbClr val="0000FF"/>
                </a:solidFill>
              </a:rPr>
              <a:t>T.type</a:t>
            </a:r>
            <a:r>
              <a:rPr lang="en-US" altLang="zh-CN" sz="1600" dirty="0">
                <a:solidFill>
                  <a:srgbClr val="0000FF"/>
                </a:solidFill>
              </a:rPr>
              <a:t> = </a:t>
            </a:r>
            <a:r>
              <a:rPr lang="en-US" altLang="zh-CN" sz="1600" dirty="0" err="1">
                <a:solidFill>
                  <a:srgbClr val="0000FF"/>
                </a:solidFill>
              </a:rPr>
              <a:t>int</a:t>
            </a:r>
            <a:r>
              <a:rPr lang="en-US" altLang="zh-CN" sz="1600" dirty="0">
                <a:solidFill>
                  <a:srgbClr val="0000FF"/>
                </a:solidFill>
              </a:rPr>
              <a:t>)</a:t>
            </a:r>
            <a:endParaRPr lang="zh-CN" altLang="en-US" sz="1600" dirty="0">
              <a:solidFill>
                <a:srgbClr val="0000FF"/>
              </a:solidFill>
            </a:endParaRPr>
          </a:p>
        </p:txBody>
      </p:sp>
      <p:sp>
        <p:nvSpPr>
          <p:cNvPr id="16" name="TextBox 15"/>
          <p:cNvSpPr txBox="1"/>
          <p:nvPr/>
        </p:nvSpPr>
        <p:spPr>
          <a:xfrm>
            <a:off x="7813054" y="2737252"/>
            <a:ext cx="1331640" cy="338554"/>
          </a:xfrm>
          <a:prstGeom prst="rect">
            <a:avLst/>
          </a:prstGeom>
          <a:noFill/>
        </p:spPr>
        <p:txBody>
          <a:bodyPr wrap="square" rtlCol="0">
            <a:spAutoFit/>
          </a:bodyPr>
          <a:lstStyle/>
          <a:p>
            <a:r>
              <a:rPr lang="en-US" altLang="zh-CN" sz="1600" dirty="0">
                <a:solidFill>
                  <a:srgbClr val="0000FF"/>
                </a:solidFill>
              </a:rPr>
              <a:t>(L.in = </a:t>
            </a:r>
            <a:r>
              <a:rPr lang="en-US" altLang="zh-CN" sz="1600" dirty="0" err="1">
                <a:solidFill>
                  <a:srgbClr val="0000FF"/>
                </a:solidFill>
              </a:rPr>
              <a:t>int</a:t>
            </a:r>
            <a:r>
              <a:rPr lang="en-US" altLang="zh-CN" sz="1600" dirty="0">
                <a:solidFill>
                  <a:srgbClr val="0000FF"/>
                </a:solidFill>
              </a:rPr>
              <a:t>)</a:t>
            </a:r>
            <a:endParaRPr lang="zh-CN" altLang="en-US" sz="1600" dirty="0">
              <a:solidFill>
                <a:srgbClr val="0000FF"/>
              </a:solidFill>
            </a:endParaRPr>
          </a:p>
        </p:txBody>
      </p:sp>
      <p:sp>
        <p:nvSpPr>
          <p:cNvPr id="17" name="TextBox 16"/>
          <p:cNvSpPr txBox="1"/>
          <p:nvPr/>
        </p:nvSpPr>
        <p:spPr>
          <a:xfrm>
            <a:off x="6841454" y="3385324"/>
            <a:ext cx="1331640" cy="338554"/>
          </a:xfrm>
          <a:prstGeom prst="rect">
            <a:avLst/>
          </a:prstGeom>
          <a:noFill/>
        </p:spPr>
        <p:txBody>
          <a:bodyPr wrap="square" rtlCol="0">
            <a:spAutoFit/>
          </a:bodyPr>
          <a:lstStyle/>
          <a:p>
            <a:r>
              <a:rPr lang="en-US" altLang="zh-CN" sz="1600" dirty="0">
                <a:solidFill>
                  <a:srgbClr val="0000FF"/>
                </a:solidFill>
              </a:rPr>
              <a:t>(L.in = </a:t>
            </a:r>
            <a:r>
              <a:rPr lang="en-US" altLang="zh-CN" sz="1600" dirty="0" err="1">
                <a:solidFill>
                  <a:srgbClr val="0000FF"/>
                </a:solidFill>
              </a:rPr>
              <a:t>int</a:t>
            </a:r>
            <a:r>
              <a:rPr lang="en-US" altLang="zh-CN" sz="1600" dirty="0">
                <a:solidFill>
                  <a:srgbClr val="0000FF"/>
                </a:solidFill>
              </a:rPr>
              <a:t>)</a:t>
            </a:r>
            <a:endParaRPr lang="zh-CN" altLang="en-US" sz="1600" dirty="0">
              <a:solidFill>
                <a:srgbClr val="0000FF"/>
              </a:solidFill>
            </a:endParaRPr>
          </a:p>
        </p:txBody>
      </p:sp>
      <p:sp>
        <p:nvSpPr>
          <p:cNvPr id="18" name="TextBox 17"/>
          <p:cNvSpPr txBox="1"/>
          <p:nvPr/>
        </p:nvSpPr>
        <p:spPr>
          <a:xfrm>
            <a:off x="5760640" y="4155926"/>
            <a:ext cx="1331640" cy="338554"/>
          </a:xfrm>
          <a:prstGeom prst="rect">
            <a:avLst/>
          </a:prstGeom>
          <a:noFill/>
        </p:spPr>
        <p:txBody>
          <a:bodyPr wrap="square" rtlCol="0">
            <a:spAutoFit/>
          </a:bodyPr>
          <a:lstStyle/>
          <a:p>
            <a:r>
              <a:rPr lang="en-US" altLang="zh-CN" sz="1600" dirty="0">
                <a:solidFill>
                  <a:srgbClr val="0000FF"/>
                </a:solidFill>
              </a:rPr>
              <a:t>(L.in = </a:t>
            </a:r>
            <a:r>
              <a:rPr lang="en-US" altLang="zh-CN" sz="1600" dirty="0" err="1">
                <a:solidFill>
                  <a:srgbClr val="0000FF"/>
                </a:solidFill>
              </a:rPr>
              <a:t>int</a:t>
            </a:r>
            <a:r>
              <a:rPr lang="en-US" altLang="zh-CN" sz="1600" dirty="0">
                <a:solidFill>
                  <a:srgbClr val="0000FF"/>
                </a:solidFill>
              </a:rPr>
              <a:t>)</a:t>
            </a:r>
            <a:endParaRPr lang="zh-CN" altLang="en-US" sz="1600" dirty="0">
              <a:solidFill>
                <a:srgbClr val="0000FF"/>
              </a:solidFill>
            </a:endParaRPr>
          </a:p>
        </p:txBody>
      </p:sp>
      <p:sp>
        <p:nvSpPr>
          <p:cNvPr id="8" name="TextBox 7"/>
          <p:cNvSpPr txBox="1"/>
          <p:nvPr/>
        </p:nvSpPr>
        <p:spPr>
          <a:xfrm>
            <a:off x="2195736" y="2869654"/>
            <a:ext cx="792088" cy="369332"/>
          </a:xfrm>
          <a:prstGeom prst="rect">
            <a:avLst/>
          </a:prstGeom>
          <a:noFill/>
        </p:spPr>
        <p:txBody>
          <a:bodyPr wrap="square" rtlCol="0">
            <a:spAutoFit/>
          </a:bodyPr>
          <a:lstStyle/>
          <a:p>
            <a:r>
              <a:rPr lang="en-US" altLang="zh-CN" dirty="0" err="1"/>
              <a:t>int</a:t>
            </a:r>
            <a:endParaRPr lang="zh-CN" altLang="en-US" dirty="0"/>
          </a:p>
        </p:txBody>
      </p:sp>
      <p:sp>
        <p:nvSpPr>
          <p:cNvPr id="20" name="TextBox 19"/>
          <p:cNvSpPr txBox="1"/>
          <p:nvPr/>
        </p:nvSpPr>
        <p:spPr>
          <a:xfrm>
            <a:off x="2167622" y="3238986"/>
            <a:ext cx="792088" cy="369332"/>
          </a:xfrm>
          <a:prstGeom prst="rect">
            <a:avLst/>
          </a:prstGeom>
          <a:noFill/>
        </p:spPr>
        <p:txBody>
          <a:bodyPr wrap="square" rtlCol="0">
            <a:spAutoFit/>
          </a:bodyPr>
          <a:lstStyle/>
          <a:p>
            <a:r>
              <a:rPr lang="en-US" altLang="zh-CN" dirty="0" err="1"/>
              <a:t>int</a:t>
            </a:r>
            <a:endParaRPr lang="zh-CN" altLang="en-US" dirty="0"/>
          </a:p>
        </p:txBody>
      </p:sp>
      <p:sp>
        <p:nvSpPr>
          <p:cNvPr id="21" name="TextBox 20"/>
          <p:cNvSpPr txBox="1"/>
          <p:nvPr/>
        </p:nvSpPr>
        <p:spPr>
          <a:xfrm>
            <a:off x="2167622" y="3606165"/>
            <a:ext cx="792088" cy="369332"/>
          </a:xfrm>
          <a:prstGeom prst="rect">
            <a:avLst/>
          </a:prstGeom>
          <a:noFill/>
        </p:spPr>
        <p:txBody>
          <a:bodyPr wrap="square" rtlCol="0">
            <a:spAutoFit/>
          </a:bodyPr>
          <a:lstStyle/>
          <a:p>
            <a:r>
              <a:rPr lang="en-US" altLang="zh-CN" dirty="0" err="1"/>
              <a:t>int</a:t>
            </a:r>
            <a:endParaRPr lang="zh-CN" altLang="en-US" dirty="0"/>
          </a:p>
        </p:txBody>
      </p:sp>
    </p:spTree>
    <p:extLst>
      <p:ext uri="{BB962C8B-B14F-4D97-AF65-F5344CB8AC3E}">
        <p14:creationId xmlns:p14="http://schemas.microsoft.com/office/powerpoint/2010/main" val="39381454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37267"/>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1372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nimBg="1"/>
      <p:bldP spid="137267" grpId="0" animBg="1" autoUpdateAnimBg="0"/>
      <p:bldP spid="137268" grpId="0" animBg="1" autoUpdateAnimBg="0"/>
      <p:bldP spid="3" grpId="0" animBg="1"/>
      <p:bldP spid="7" grpId="0"/>
      <p:bldP spid="16" grpId="0"/>
      <p:bldP spid="17" grpId="0"/>
      <p:bldP spid="18" grpId="0"/>
      <p:bldP spid="8" grpId="0"/>
      <p:bldP spid="20" grpId="0"/>
      <p:bldP spid="2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5080237" cy="1323439"/>
          </a:xfrm>
          <a:prstGeom prst="rect">
            <a:avLst/>
          </a:prstGeom>
        </p:spPr>
        <p:txBody>
          <a:bodyPr wrap="none">
            <a:spAutoFit/>
          </a:bodyPr>
          <a:lstStyle/>
          <a:p>
            <a:r>
              <a:rPr lang="en-US" altLang="zh-CN" sz="4400" b="1" dirty="0">
                <a:solidFill>
                  <a:srgbClr val="CC0099"/>
                </a:solidFill>
                <a:ea typeface="隶书" pitchFamily="49" charset="-122"/>
              </a:rPr>
              <a:t>3</a:t>
            </a:r>
            <a:r>
              <a:rPr lang="zh-CN" altLang="en-US" sz="4400" b="1" dirty="0">
                <a:solidFill>
                  <a:srgbClr val="CC0099"/>
                </a:solidFill>
                <a:ea typeface="隶书" pitchFamily="49" charset="-122"/>
              </a:rPr>
              <a:t>、属性文法</a:t>
            </a:r>
            <a:endParaRPr lang="en-US" altLang="zh-CN" sz="4400" b="1" dirty="0">
              <a:solidFill>
                <a:srgbClr val="CC0099"/>
              </a:solidFill>
              <a:ea typeface="隶书" pitchFamily="49" charset="-122"/>
            </a:endParaRPr>
          </a:p>
          <a:p>
            <a:r>
              <a:rPr lang="en-US" altLang="zh-CN" sz="3600" b="1" dirty="0">
                <a:solidFill>
                  <a:srgbClr val="CC0099"/>
                </a:solidFill>
                <a:ea typeface="隶书" pitchFamily="49" charset="-122"/>
              </a:rPr>
              <a:t>     ——</a:t>
            </a:r>
            <a:r>
              <a:rPr lang="zh-CN" altLang="en-US" sz="3600" b="1" dirty="0">
                <a:solidFill>
                  <a:srgbClr val="CC0099"/>
                </a:solidFill>
                <a:ea typeface="隶书" pitchFamily="49" charset="-122"/>
              </a:rPr>
              <a:t>属性的计算顺序</a:t>
            </a:r>
            <a:endParaRPr lang="zh-CN" altLang="en-US" sz="3600" dirty="0"/>
          </a:p>
        </p:txBody>
      </p:sp>
    </p:spTree>
    <p:extLst>
      <p:ext uri="{BB962C8B-B14F-4D97-AF65-F5344CB8AC3E}">
        <p14:creationId xmlns:p14="http://schemas.microsoft.com/office/powerpoint/2010/main" val="32928341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9800" y="0"/>
            <a:ext cx="4058144" cy="699542"/>
          </a:xfrm>
        </p:spPr>
        <p:txBody>
          <a:bodyPr>
            <a:normAutofit fontScale="90000"/>
          </a:bodyPr>
          <a:lstStyle/>
          <a:p>
            <a:pPr eaLnBrk="1" hangingPunct="1"/>
            <a:r>
              <a:rPr lang="zh-CN" altLang="en-US" sz="4000" b="1" dirty="0">
                <a:ea typeface="楷体_GB2312" pitchFamily="49" charset="-122"/>
              </a:rPr>
              <a:t>属性的计算顺序</a:t>
            </a:r>
          </a:p>
        </p:txBody>
      </p:sp>
      <p:sp>
        <p:nvSpPr>
          <p:cNvPr id="6147" name="Rectangle 3"/>
          <p:cNvSpPr>
            <a:spLocks noGrp="1" noChangeArrowheads="1"/>
          </p:cNvSpPr>
          <p:nvPr>
            <p:ph type="body" idx="1"/>
          </p:nvPr>
        </p:nvSpPr>
        <p:spPr>
          <a:xfrm>
            <a:off x="395536" y="771550"/>
            <a:ext cx="8343900" cy="3744416"/>
          </a:xfrm>
        </p:spPr>
        <p:style>
          <a:lnRef idx="2">
            <a:schemeClr val="accent1"/>
          </a:lnRef>
          <a:fillRef idx="1">
            <a:schemeClr val="lt1"/>
          </a:fillRef>
          <a:effectRef idx="0">
            <a:schemeClr val="accent1"/>
          </a:effectRef>
          <a:fontRef idx="minor">
            <a:schemeClr val="dk1"/>
          </a:fontRef>
        </p:style>
        <p:txBody>
          <a:bodyPr>
            <a:normAutofit fontScale="92500"/>
          </a:bodyPr>
          <a:lstStyle/>
          <a:p>
            <a:pPr eaLnBrk="1" hangingPunct="1"/>
            <a:r>
              <a:rPr lang="zh-CN" altLang="zh-CN" sz="2400" dirty="0"/>
              <a:t>如果文法只有综合属性，可以</a:t>
            </a:r>
            <a:r>
              <a:rPr lang="zh-CN" altLang="en-US" sz="2400" dirty="0"/>
              <a:t>在</a:t>
            </a:r>
            <a:r>
              <a:rPr lang="zh-CN" altLang="zh-CN" sz="2400" dirty="0"/>
              <a:t>自下而上</a:t>
            </a:r>
            <a:r>
              <a:rPr lang="zh-CN" altLang="en-US" sz="2400" dirty="0"/>
              <a:t>语法分析中调用属性计算规则计算</a:t>
            </a:r>
            <a:r>
              <a:rPr lang="zh-CN" altLang="zh-CN" sz="2400" dirty="0"/>
              <a:t>出所有的属性值</a:t>
            </a:r>
            <a:endParaRPr lang="en-US" altLang="zh-CN" sz="2400" dirty="0"/>
          </a:p>
          <a:p>
            <a:pPr eaLnBrk="1" hangingPunct="1"/>
            <a:r>
              <a:rPr lang="zh-CN" altLang="zh-CN" sz="2400" dirty="0"/>
              <a:t>如果只有继承属性，也可以</a:t>
            </a:r>
            <a:r>
              <a:rPr lang="zh-CN" altLang="en-US" sz="2400" dirty="0"/>
              <a:t>在</a:t>
            </a:r>
            <a:r>
              <a:rPr lang="zh-CN" altLang="zh-CN" sz="2400" dirty="0"/>
              <a:t>自上而下</a:t>
            </a:r>
            <a:r>
              <a:rPr lang="zh-CN" altLang="en-US" sz="2400" dirty="0"/>
              <a:t>语法分析中调用属性计算规则</a:t>
            </a:r>
            <a:r>
              <a:rPr lang="zh-CN" altLang="zh-CN" sz="2400" dirty="0"/>
              <a:t>计算出所有的属性值</a:t>
            </a:r>
            <a:endParaRPr lang="en-US" altLang="zh-CN" sz="2400" dirty="0"/>
          </a:p>
          <a:p>
            <a:pPr eaLnBrk="1" hangingPunct="1"/>
            <a:r>
              <a:rPr lang="zh-CN" altLang="en-US" sz="2400" dirty="0"/>
              <a:t>如果</a:t>
            </a:r>
            <a:r>
              <a:rPr lang="zh-CN" altLang="zh-CN" sz="2400" dirty="0"/>
              <a:t>一个属性文法定义了多个属性，既有综合属性又有继承属性，属性之间可能存在复杂的依赖关系，就不能</a:t>
            </a:r>
            <a:r>
              <a:rPr lang="zh-CN" altLang="en-US" dirty="0"/>
              <a:t>和</a:t>
            </a:r>
            <a:r>
              <a:rPr lang="zh-CN" altLang="en-US" sz="2400" dirty="0"/>
              <a:t>语法分析同步</a:t>
            </a:r>
            <a:r>
              <a:rPr lang="zh-CN" altLang="zh-CN" sz="2400" dirty="0"/>
              <a:t>计算出所有属性的值，多个属性的计算顺序就成了一个问题。</a:t>
            </a:r>
            <a:endParaRPr lang="en-US" altLang="zh-CN" sz="2400" dirty="0"/>
          </a:p>
          <a:p>
            <a:r>
              <a:rPr lang="zh-CN" altLang="en-US" dirty="0">
                <a:solidFill>
                  <a:srgbClr val="000000"/>
                </a:solidFill>
              </a:rPr>
              <a:t>通过遍历语法树来进行计算</a:t>
            </a:r>
            <a:endParaRPr lang="en-US" altLang="zh-CN" dirty="0">
              <a:solidFill>
                <a:srgbClr val="000000"/>
              </a:solidFill>
            </a:endParaRPr>
          </a:p>
          <a:p>
            <a:r>
              <a:rPr lang="zh-CN" altLang="zh-CN" sz="2400" dirty="0"/>
              <a:t>需要多次遍历语法树，</a:t>
            </a:r>
            <a:r>
              <a:rPr lang="zh-CN" altLang="en-US" sz="2400" dirty="0"/>
              <a:t>每</a:t>
            </a:r>
            <a:r>
              <a:rPr lang="zh-CN" altLang="zh-CN" sz="2400" dirty="0"/>
              <a:t>一次遍历时可以利用前面若干次遍历已经计算出来的属性值，直至计算出所有属性的值。</a:t>
            </a:r>
            <a:endParaRPr lang="en-US" altLang="zh-CN" sz="2400" dirty="0"/>
          </a:p>
          <a:p>
            <a:pPr eaLnBrk="1" hangingPunct="1"/>
            <a:endParaRPr lang="en-US" altLang="zh-CN" sz="2400" dirty="0">
              <a:solidFill>
                <a:srgbClr val="000000"/>
              </a:solidFill>
            </a:endParaRPr>
          </a:p>
        </p:txBody>
      </p:sp>
      <p:graphicFrame>
        <p:nvGraphicFramePr>
          <p:cNvPr id="36868" name="对象 3"/>
          <p:cNvGraphicFramePr>
            <a:graphicFrameLocks noChangeAspect="1"/>
          </p:cNvGraphicFramePr>
          <p:nvPr>
            <p:extLst>
              <p:ext uri="{D42A27DB-BD31-4B8C-83A1-F6EECF244321}">
                <p14:modId xmlns:p14="http://schemas.microsoft.com/office/powerpoint/2010/main" val="559069032"/>
              </p:ext>
            </p:extLst>
          </p:nvPr>
        </p:nvGraphicFramePr>
        <p:xfrm>
          <a:off x="1619672" y="4558911"/>
          <a:ext cx="7164288" cy="560784"/>
        </p:xfrm>
        <a:graphic>
          <a:graphicData uri="http://schemas.openxmlformats.org/presentationml/2006/ole">
            <mc:AlternateContent xmlns:mc="http://schemas.openxmlformats.org/markup-compatibility/2006">
              <mc:Choice xmlns:v="urn:schemas-microsoft-com:vml" Requires="v">
                <p:oleObj spid="_x0000_s9221" name="Visio" r:id="rId4" imgW="4444724" imgH="394644" progId="Visio.Drawing.11">
                  <p:embed/>
                </p:oleObj>
              </mc:Choice>
              <mc:Fallback>
                <p:oleObj name="Visio" r:id="rId4" imgW="4444724" imgH="394644" progId="Visio.Drawing.11">
                  <p:embed/>
                  <p:pic>
                    <p:nvPicPr>
                      <p:cNvPr id="36868"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672" y="4558911"/>
                        <a:ext cx="7164288" cy="560784"/>
                      </a:xfrm>
                      <a:prstGeom prst="rect">
                        <a:avLst/>
                      </a:prstGeom>
                      <a:solidFill>
                        <a:schemeClr val="bg1"/>
                      </a:solidFill>
                      <a:ln>
                        <a:noFill/>
                      </a:ln>
                    </p:spPr>
                  </p:pic>
                </p:oleObj>
              </mc:Fallback>
            </mc:AlternateContent>
          </a:graphicData>
        </a:graphic>
      </p:graphicFrame>
    </p:spTree>
    <p:extLst>
      <p:ext uri="{BB962C8B-B14F-4D97-AF65-F5344CB8AC3E}">
        <p14:creationId xmlns:p14="http://schemas.microsoft.com/office/powerpoint/2010/main" val="342956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8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1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95"/>
          <p:cNvSpPr>
            <a:spLocks noGrp="1" noChangeArrowheads="1"/>
          </p:cNvSpPr>
          <p:nvPr>
            <p:ph type="body" idx="1"/>
          </p:nvPr>
        </p:nvSpPr>
        <p:spPr>
          <a:xfrm>
            <a:off x="323528" y="843558"/>
            <a:ext cx="8362950" cy="4050506"/>
          </a:xfrm>
          <a:solidFill>
            <a:schemeClr val="bg1"/>
          </a:solidFill>
          <a:ln w="28575">
            <a:solidFill>
              <a:srgbClr val="0000FF"/>
            </a:solidFill>
            <a:miter lim="800000"/>
            <a:headEnd/>
            <a:tailEnd/>
          </a:ln>
        </p:spPr>
        <p:txBody>
          <a:bodyPr>
            <a:normAutofit/>
          </a:bodyPr>
          <a:lstStyle/>
          <a:p>
            <a:pPr eaLnBrk="1" hangingPunct="1"/>
            <a:r>
              <a:rPr lang="zh-CN" altLang="zh-CN" sz="2200" dirty="0"/>
              <a:t>由源程序的语法结构所驱动的</a:t>
            </a:r>
            <a:r>
              <a:rPr lang="zh-CN" altLang="en-US" sz="2200" dirty="0"/>
              <a:t>语义</a:t>
            </a:r>
            <a:r>
              <a:rPr lang="zh-CN" altLang="zh-CN" sz="2200" dirty="0"/>
              <a:t>处理方法称为</a:t>
            </a:r>
            <a:r>
              <a:rPr lang="zh-CN" altLang="zh-CN" sz="2200" dirty="0">
                <a:solidFill>
                  <a:srgbClr val="FF0000"/>
                </a:solidFill>
              </a:rPr>
              <a:t>语法制导的翻译方法</a:t>
            </a:r>
            <a:endParaRPr lang="en-US" altLang="zh-CN" sz="2200" dirty="0">
              <a:solidFill>
                <a:srgbClr val="FF0000"/>
              </a:solidFill>
            </a:endParaRPr>
          </a:p>
          <a:p>
            <a:pPr eaLnBrk="1" hangingPunct="1"/>
            <a:r>
              <a:rPr lang="zh-CN" altLang="en-US" sz="2200" dirty="0"/>
              <a:t>语义规则：</a:t>
            </a:r>
          </a:p>
          <a:p>
            <a:pPr lvl="1"/>
            <a:r>
              <a:rPr lang="zh-CN" altLang="en-US" dirty="0">
                <a:solidFill>
                  <a:srgbClr val="000000"/>
                </a:solidFill>
              </a:rPr>
              <a:t>在属性文法中，文法符号有明确的意义，文法符号之间有确定的语义关系。属性描述语义信息，语义规则描述</a:t>
            </a:r>
            <a:r>
              <a:rPr lang="zh-CN" altLang="en-US" dirty="0">
                <a:solidFill>
                  <a:srgbClr val="FF0000"/>
                </a:solidFill>
              </a:rPr>
              <a:t>属性间的的关系</a:t>
            </a:r>
            <a:r>
              <a:rPr lang="zh-CN" altLang="en-US" dirty="0">
                <a:solidFill>
                  <a:srgbClr val="000000"/>
                </a:solidFill>
              </a:rPr>
              <a:t>。</a:t>
            </a:r>
            <a:endParaRPr lang="en-US" altLang="zh-CN" dirty="0">
              <a:solidFill>
                <a:srgbClr val="000000"/>
              </a:solidFill>
            </a:endParaRPr>
          </a:p>
          <a:p>
            <a:pPr lvl="1"/>
            <a:r>
              <a:rPr lang="zh-CN" altLang="en-US" dirty="0">
                <a:solidFill>
                  <a:srgbClr val="000000"/>
                </a:solidFill>
              </a:rPr>
              <a:t>属性文法只定义翻译所必须的语义属性和语义规则，一般不涉及</a:t>
            </a:r>
            <a:r>
              <a:rPr lang="zh-CN" altLang="en-US" dirty="0">
                <a:solidFill>
                  <a:srgbClr val="FF0000"/>
                </a:solidFill>
              </a:rPr>
              <a:t>计算顺序</a:t>
            </a:r>
            <a:r>
              <a:rPr lang="zh-CN" altLang="en-US" dirty="0">
                <a:solidFill>
                  <a:srgbClr val="000000"/>
                </a:solidFill>
              </a:rPr>
              <a:t>。</a:t>
            </a:r>
            <a:endParaRPr lang="en-US" altLang="zh-CN" dirty="0">
              <a:solidFill>
                <a:srgbClr val="000000"/>
              </a:solidFill>
            </a:endParaRPr>
          </a:p>
          <a:p>
            <a:pPr lvl="1" eaLnBrk="1" hangingPunct="1"/>
            <a:r>
              <a:rPr lang="zh-CN" altLang="zh-CN" dirty="0"/>
              <a:t>语义规则可以完成多种操作：</a:t>
            </a:r>
            <a:r>
              <a:rPr lang="zh-CN" altLang="en-US" dirty="0"/>
              <a:t>属性计算、</a:t>
            </a:r>
            <a:r>
              <a:rPr lang="zh-CN" altLang="zh-CN" dirty="0"/>
              <a:t>产生代码、在符号表中存放信息、给出错误信息或执行任何其他动作</a:t>
            </a:r>
            <a:r>
              <a:rPr lang="zh-CN" altLang="en-US" dirty="0"/>
              <a:t>等，通常写成过程和函数调用，称为</a:t>
            </a:r>
            <a:r>
              <a:rPr lang="zh-CN" altLang="en-US" b="1" dirty="0">
                <a:solidFill>
                  <a:srgbClr val="FF3300"/>
                </a:solidFill>
              </a:rPr>
              <a:t>语义子程序</a:t>
            </a:r>
            <a:r>
              <a:rPr lang="zh-CN" altLang="en-US" dirty="0"/>
              <a:t>。</a:t>
            </a:r>
          </a:p>
        </p:txBody>
      </p:sp>
      <p:sp>
        <p:nvSpPr>
          <p:cNvPr id="35843" name="Rectangle 1096"/>
          <p:cNvSpPr>
            <a:spLocks noGrp="1" noChangeArrowheads="1"/>
          </p:cNvSpPr>
          <p:nvPr>
            <p:ph type="title"/>
          </p:nvPr>
        </p:nvSpPr>
        <p:spPr/>
        <p:txBody>
          <a:bodyPr>
            <a:noAutofit/>
          </a:bodyPr>
          <a:lstStyle/>
          <a:p>
            <a:pPr eaLnBrk="1" hangingPunct="1"/>
            <a:r>
              <a:rPr lang="zh-CN" altLang="en-US" b="1" dirty="0"/>
              <a:t>语法制导翻译</a:t>
            </a:r>
            <a:endParaRPr lang="zh-CN" altLang="zh-CN" dirty="0"/>
          </a:p>
        </p:txBody>
      </p:sp>
    </p:spTree>
    <p:extLst>
      <p:ext uri="{BB962C8B-B14F-4D97-AF65-F5344CB8AC3E}">
        <p14:creationId xmlns:p14="http://schemas.microsoft.com/office/powerpoint/2010/main" val="1584544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2">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84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584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84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uiExpand="1" build="p"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386"/>
            <a:ext cx="6516216" cy="702469"/>
          </a:xfrm>
        </p:spPr>
        <p:txBody>
          <a:bodyPr/>
          <a:lstStyle/>
          <a:p>
            <a:pPr>
              <a:defRPr/>
            </a:pPr>
            <a:r>
              <a:rPr lang="zh-CN" altLang="en-US" kern="100" dirty="0">
                <a:solidFill>
                  <a:schemeClr val="tx1"/>
                </a:solidFill>
              </a:rPr>
              <a:t>深度优先</a:t>
            </a:r>
            <a:r>
              <a:rPr lang="zh-CN" altLang="zh-CN" kern="100" dirty="0">
                <a:solidFill>
                  <a:schemeClr val="tx1"/>
                </a:solidFill>
              </a:rPr>
              <a:t>遍历</a:t>
            </a:r>
            <a:r>
              <a:rPr lang="zh-CN" altLang="en-US" kern="100" dirty="0">
                <a:solidFill>
                  <a:schemeClr val="tx1"/>
                </a:solidFill>
              </a:rPr>
              <a:t>树</a:t>
            </a:r>
            <a:r>
              <a:rPr lang="zh-CN" altLang="zh-CN" kern="100" dirty="0">
                <a:solidFill>
                  <a:schemeClr val="tx1"/>
                </a:solidFill>
              </a:rPr>
              <a:t>进行属性计算</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5" name="矩形 4"/>
          <p:cNvSpPr/>
          <p:nvPr/>
        </p:nvSpPr>
        <p:spPr>
          <a:xfrm>
            <a:off x="107504" y="987574"/>
            <a:ext cx="8712968" cy="408111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lnSpc>
                <a:spcPct val="90000"/>
              </a:lnSpc>
              <a:spcAft>
                <a:spcPts val="0"/>
              </a:spcAft>
            </a:pPr>
            <a:r>
              <a:rPr lang="en-US" altLang="zh-CN" kern="100" dirty="0" err="1"/>
              <a:t>ComputeSenmaticAttribute</a:t>
            </a:r>
            <a:r>
              <a:rPr lang="en-US" altLang="zh-CN" kern="100" dirty="0"/>
              <a:t>()</a:t>
            </a:r>
            <a:endParaRPr lang="zh-CN" altLang="zh-CN" kern="100" dirty="0"/>
          </a:p>
          <a:p>
            <a:pPr algn="just">
              <a:lnSpc>
                <a:spcPct val="90000"/>
              </a:lnSpc>
              <a:spcAft>
                <a:spcPts val="0"/>
              </a:spcAft>
            </a:pPr>
            <a:r>
              <a:rPr lang="en-US" altLang="zh-CN" kern="100" dirty="0"/>
              <a:t>{</a:t>
            </a:r>
            <a:endParaRPr lang="zh-CN" altLang="zh-CN" kern="100" dirty="0"/>
          </a:p>
          <a:p>
            <a:pPr indent="228600" algn="just">
              <a:lnSpc>
                <a:spcPct val="90000"/>
              </a:lnSpc>
              <a:spcAft>
                <a:spcPts val="0"/>
              </a:spcAft>
            </a:pPr>
            <a:r>
              <a:rPr lang="en-US" altLang="zh-CN" kern="100" dirty="0"/>
              <a:t>while (</a:t>
            </a:r>
            <a:r>
              <a:rPr lang="zh-CN" altLang="zh-CN" kern="100" dirty="0"/>
              <a:t>还有未计算出的属性</a:t>
            </a:r>
            <a:r>
              <a:rPr lang="en-US" altLang="zh-CN" kern="100" dirty="0"/>
              <a:t>)</a:t>
            </a:r>
            <a:endParaRPr lang="zh-CN" altLang="zh-CN" kern="100" dirty="0"/>
          </a:p>
          <a:p>
            <a:pPr indent="228600" algn="just">
              <a:lnSpc>
                <a:spcPct val="90000"/>
              </a:lnSpc>
              <a:spcAft>
                <a:spcPts val="0"/>
              </a:spcAft>
            </a:pPr>
            <a:r>
              <a:rPr lang="en-US" altLang="zh-CN" kern="100" dirty="0"/>
              <a:t>    </a:t>
            </a:r>
            <a:r>
              <a:rPr lang="en-US" altLang="zh-CN" kern="100" dirty="0" err="1"/>
              <a:t>VisitNode</a:t>
            </a:r>
            <a:r>
              <a:rPr lang="en-US" altLang="zh-CN" kern="100" dirty="0"/>
              <a:t>(S);    /*S</a:t>
            </a:r>
            <a:r>
              <a:rPr lang="zh-CN" altLang="zh-CN" kern="100" dirty="0"/>
              <a:t>是文法的开始符号，也是语法树的树根</a:t>
            </a:r>
            <a:r>
              <a:rPr lang="en-US" altLang="zh-CN" kern="100" dirty="0"/>
              <a:t>*/</a:t>
            </a:r>
            <a:endParaRPr lang="zh-CN" altLang="zh-CN" kern="100" dirty="0"/>
          </a:p>
          <a:p>
            <a:pPr algn="just">
              <a:lnSpc>
                <a:spcPct val="90000"/>
              </a:lnSpc>
              <a:spcAft>
                <a:spcPts val="0"/>
              </a:spcAft>
            </a:pPr>
            <a:r>
              <a:rPr lang="en-US" altLang="zh-CN" kern="100" dirty="0"/>
              <a:t>}</a:t>
            </a:r>
            <a:endParaRPr lang="zh-CN" altLang="zh-CN" kern="100" dirty="0"/>
          </a:p>
          <a:p>
            <a:pPr algn="just">
              <a:lnSpc>
                <a:spcPct val="90000"/>
              </a:lnSpc>
              <a:spcAft>
                <a:spcPts val="0"/>
              </a:spcAft>
            </a:pPr>
            <a:r>
              <a:rPr lang="en-US" altLang="zh-CN" kern="100" dirty="0"/>
              <a:t> </a:t>
            </a:r>
            <a:endParaRPr lang="zh-CN" altLang="zh-CN" kern="100" dirty="0"/>
          </a:p>
          <a:p>
            <a:pPr algn="just">
              <a:lnSpc>
                <a:spcPct val="90000"/>
              </a:lnSpc>
              <a:spcAft>
                <a:spcPts val="0"/>
              </a:spcAft>
            </a:pPr>
            <a:r>
              <a:rPr lang="en-US" altLang="zh-CN" kern="100" dirty="0" err="1"/>
              <a:t>VisitNode</a:t>
            </a:r>
            <a:r>
              <a:rPr lang="en-US" altLang="zh-CN" kern="100" dirty="0"/>
              <a:t>(</a:t>
            </a:r>
            <a:r>
              <a:rPr lang="en-US" altLang="zh-CN" kern="100" dirty="0" err="1"/>
              <a:t>N:Node</a:t>
            </a:r>
            <a:r>
              <a:rPr lang="en-US" altLang="zh-CN" kern="100" dirty="0"/>
              <a:t>) /*</a:t>
            </a:r>
            <a:r>
              <a:rPr lang="zh-CN" altLang="zh-CN" kern="100" dirty="0"/>
              <a:t>访问以</a:t>
            </a:r>
            <a:r>
              <a:rPr lang="en-US" altLang="zh-CN" kern="100" dirty="0"/>
              <a:t>N</a:t>
            </a:r>
            <a:r>
              <a:rPr lang="zh-CN" altLang="zh-CN" kern="100" dirty="0"/>
              <a:t>为根的子树，并计算所有可以计算的属性</a:t>
            </a:r>
            <a:r>
              <a:rPr lang="en-US" altLang="zh-CN" kern="100" dirty="0"/>
              <a:t>*/</a:t>
            </a:r>
            <a:endParaRPr lang="zh-CN" altLang="zh-CN" kern="100" dirty="0"/>
          </a:p>
          <a:p>
            <a:pPr algn="just">
              <a:lnSpc>
                <a:spcPct val="90000"/>
              </a:lnSpc>
              <a:spcAft>
                <a:spcPts val="0"/>
              </a:spcAft>
            </a:pPr>
            <a:r>
              <a:rPr lang="en-US" altLang="zh-CN" kern="100" dirty="0"/>
              <a:t>{</a:t>
            </a:r>
            <a:endParaRPr lang="zh-CN" altLang="zh-CN" kern="100" dirty="0"/>
          </a:p>
          <a:p>
            <a:pPr indent="251460" algn="just">
              <a:lnSpc>
                <a:spcPct val="90000"/>
              </a:lnSpc>
              <a:spcAft>
                <a:spcPts val="0"/>
              </a:spcAft>
            </a:pPr>
            <a:r>
              <a:rPr lang="en-US" altLang="zh-CN" kern="100" dirty="0"/>
              <a:t>if (N</a:t>
            </a:r>
            <a:r>
              <a:rPr lang="zh-CN" altLang="zh-CN" kern="100" dirty="0"/>
              <a:t>是非终结符</a:t>
            </a:r>
            <a:r>
              <a:rPr lang="en-US" altLang="zh-CN" kern="100" dirty="0"/>
              <a:t>) /* </a:t>
            </a:r>
            <a:r>
              <a:rPr lang="zh-CN" altLang="zh-CN" kern="100" dirty="0"/>
              <a:t>假定</a:t>
            </a:r>
            <a:r>
              <a:rPr lang="en-US" altLang="zh-CN" kern="100" dirty="0"/>
              <a:t>N</a:t>
            </a:r>
            <a:r>
              <a:rPr lang="zh-CN" altLang="zh-CN" kern="100" dirty="0"/>
              <a:t>的产生式形式是</a:t>
            </a:r>
            <a:r>
              <a:rPr lang="en-US" altLang="zh-CN" kern="100" dirty="0"/>
              <a:t>N</a:t>
            </a:r>
            <a:r>
              <a:rPr lang="zh-CN" altLang="zh-CN" kern="100" dirty="0"/>
              <a:t>→</a:t>
            </a:r>
            <a:r>
              <a:rPr lang="en-US" altLang="zh-CN" kern="100" dirty="0"/>
              <a:t>X</a:t>
            </a:r>
            <a:r>
              <a:rPr lang="en-US" altLang="zh-CN" kern="100" baseline="-25000" dirty="0"/>
              <a:t>1</a:t>
            </a:r>
            <a:r>
              <a:rPr lang="en-US" altLang="zh-CN" kern="100" dirty="0"/>
              <a:t>X</a:t>
            </a:r>
            <a:r>
              <a:rPr lang="en-US" altLang="zh-CN" kern="100" baseline="-25000" dirty="0"/>
              <a:t>2</a:t>
            </a:r>
            <a:r>
              <a:rPr lang="en-US" altLang="zh-CN" kern="100" dirty="0"/>
              <a:t>……</a:t>
            </a:r>
            <a:r>
              <a:rPr lang="en-US" altLang="zh-CN" kern="100" dirty="0" err="1"/>
              <a:t>X</a:t>
            </a:r>
            <a:r>
              <a:rPr lang="en-US" altLang="zh-CN" kern="100" baseline="-25000" dirty="0" err="1"/>
              <a:t>m</a:t>
            </a:r>
            <a:r>
              <a:rPr lang="en-US" altLang="zh-CN" kern="100" dirty="0"/>
              <a:t> */</a:t>
            </a:r>
            <a:endParaRPr lang="zh-CN" altLang="zh-CN" kern="100" dirty="0"/>
          </a:p>
          <a:p>
            <a:pPr indent="400050" algn="just">
              <a:lnSpc>
                <a:spcPct val="90000"/>
              </a:lnSpc>
              <a:spcAft>
                <a:spcPts val="0"/>
              </a:spcAft>
            </a:pPr>
            <a:r>
              <a:rPr lang="en-US" altLang="zh-CN" kern="100" dirty="0"/>
              <a:t>for (</a:t>
            </a:r>
            <a:r>
              <a:rPr lang="en-US" altLang="zh-CN" kern="100" dirty="0" err="1"/>
              <a:t>i</a:t>
            </a:r>
            <a:r>
              <a:rPr lang="en-US" altLang="zh-CN" kern="100" dirty="0"/>
              <a:t> </a:t>
            </a:r>
            <a:r>
              <a:rPr lang="zh-CN" altLang="zh-CN" kern="100" dirty="0"/>
              <a:t>从</a:t>
            </a:r>
            <a:r>
              <a:rPr lang="en-US" altLang="zh-CN" kern="100" dirty="0"/>
              <a:t>1 </a:t>
            </a:r>
            <a:r>
              <a:rPr lang="zh-CN" altLang="zh-CN" kern="100" dirty="0"/>
              <a:t>到</a:t>
            </a:r>
            <a:r>
              <a:rPr lang="en-US" altLang="zh-CN" kern="100" dirty="0"/>
              <a:t> m) </a:t>
            </a:r>
            <a:endParaRPr lang="zh-CN" altLang="zh-CN" kern="100" dirty="0"/>
          </a:p>
          <a:p>
            <a:pPr indent="514350" algn="just">
              <a:lnSpc>
                <a:spcPct val="90000"/>
              </a:lnSpc>
              <a:spcAft>
                <a:spcPts val="0"/>
              </a:spcAft>
            </a:pPr>
            <a:r>
              <a:rPr lang="en-US" altLang="zh-CN" kern="100" dirty="0"/>
              <a:t> if (X</a:t>
            </a:r>
            <a:r>
              <a:rPr lang="en-US" altLang="zh-CN" kern="100" baseline="-25000" dirty="0"/>
              <a:t>i</a:t>
            </a:r>
            <a:r>
              <a:rPr lang="en-US" altLang="zh-CN" kern="100" dirty="0"/>
              <a:t> </a:t>
            </a:r>
            <a:r>
              <a:rPr lang="zh-CN" altLang="zh-CN" kern="100" dirty="0"/>
              <a:t>是非终结符</a:t>
            </a:r>
            <a:r>
              <a:rPr lang="en-US" altLang="zh-CN" kern="100" dirty="0"/>
              <a:t>) {</a:t>
            </a:r>
            <a:endParaRPr lang="zh-CN" altLang="zh-CN" kern="100" dirty="0"/>
          </a:p>
          <a:p>
            <a:pPr indent="251460" algn="just">
              <a:lnSpc>
                <a:spcPct val="90000"/>
              </a:lnSpc>
              <a:spcAft>
                <a:spcPts val="0"/>
              </a:spcAft>
            </a:pPr>
            <a:r>
              <a:rPr lang="en-US" altLang="zh-CN" kern="100" dirty="0"/>
              <a:t>        </a:t>
            </a:r>
            <a:r>
              <a:rPr lang="zh-CN" altLang="zh-CN" kern="100" dirty="0"/>
              <a:t>计算</a:t>
            </a:r>
            <a:r>
              <a:rPr lang="en-US" altLang="zh-CN" kern="100" dirty="0"/>
              <a:t>X</a:t>
            </a:r>
            <a:r>
              <a:rPr lang="en-US" altLang="zh-CN" kern="100" baseline="-25000" dirty="0"/>
              <a:t>i</a:t>
            </a:r>
            <a:r>
              <a:rPr lang="zh-CN" altLang="zh-CN" kern="100" dirty="0"/>
              <a:t>的所有能够计算的</a:t>
            </a:r>
            <a:r>
              <a:rPr lang="zh-CN" altLang="zh-CN" kern="100" dirty="0">
                <a:solidFill>
                  <a:srgbClr val="FF0000"/>
                </a:solidFill>
              </a:rPr>
              <a:t>继承属性</a:t>
            </a:r>
            <a:r>
              <a:rPr lang="en-US" altLang="zh-CN" kern="100" dirty="0"/>
              <a:t>;  /* </a:t>
            </a:r>
            <a:r>
              <a:rPr lang="zh-CN" altLang="zh-CN" kern="100" dirty="0"/>
              <a:t>自上而下计算可以计算的继承属性</a:t>
            </a:r>
            <a:r>
              <a:rPr lang="en-US" altLang="zh-CN" kern="100" dirty="0"/>
              <a:t>*/</a:t>
            </a:r>
            <a:endParaRPr lang="zh-CN" altLang="zh-CN" kern="100" dirty="0"/>
          </a:p>
          <a:p>
            <a:pPr indent="251460" algn="just">
              <a:lnSpc>
                <a:spcPct val="90000"/>
              </a:lnSpc>
              <a:spcAft>
                <a:spcPts val="0"/>
              </a:spcAft>
            </a:pPr>
            <a:r>
              <a:rPr lang="en-US" altLang="zh-CN" kern="100" dirty="0"/>
              <a:t>        </a:t>
            </a:r>
            <a:r>
              <a:rPr lang="en-US" altLang="zh-CN" kern="100" dirty="0" err="1"/>
              <a:t>VisitNode</a:t>
            </a:r>
            <a:r>
              <a:rPr lang="en-US" altLang="zh-CN" kern="100" dirty="0"/>
              <a:t>(X</a:t>
            </a:r>
            <a:r>
              <a:rPr lang="en-US" altLang="zh-CN" kern="100" baseline="-25000" dirty="0"/>
              <a:t>i</a:t>
            </a:r>
            <a:r>
              <a:rPr lang="en-US" altLang="zh-CN" kern="100" dirty="0"/>
              <a:t>);</a:t>
            </a:r>
            <a:endParaRPr lang="zh-CN" altLang="zh-CN" kern="100" dirty="0"/>
          </a:p>
          <a:p>
            <a:pPr indent="514350" algn="just">
              <a:lnSpc>
                <a:spcPct val="90000"/>
              </a:lnSpc>
              <a:spcAft>
                <a:spcPts val="0"/>
              </a:spcAft>
            </a:pPr>
            <a:r>
              <a:rPr lang="en-US" altLang="zh-CN" kern="100" dirty="0"/>
              <a:t>}</a:t>
            </a:r>
            <a:endParaRPr lang="zh-CN" altLang="zh-CN" kern="100" dirty="0"/>
          </a:p>
          <a:p>
            <a:pPr algn="just">
              <a:lnSpc>
                <a:spcPct val="90000"/>
              </a:lnSpc>
              <a:spcAft>
                <a:spcPts val="0"/>
              </a:spcAft>
            </a:pPr>
            <a:r>
              <a:rPr lang="en-US" altLang="zh-CN" kern="100" dirty="0"/>
              <a:t>    </a:t>
            </a:r>
            <a:r>
              <a:rPr lang="zh-CN" altLang="zh-CN" kern="100" dirty="0">
                <a:solidFill>
                  <a:srgbClr val="0000FF"/>
                </a:solidFill>
              </a:rPr>
              <a:t>计算</a:t>
            </a:r>
            <a:r>
              <a:rPr lang="en-US" altLang="zh-CN" kern="100" dirty="0">
                <a:solidFill>
                  <a:srgbClr val="0000FF"/>
                </a:solidFill>
              </a:rPr>
              <a:t>N</a:t>
            </a:r>
            <a:r>
              <a:rPr lang="zh-CN" altLang="zh-CN" kern="100" dirty="0">
                <a:solidFill>
                  <a:srgbClr val="0000FF"/>
                </a:solidFill>
              </a:rPr>
              <a:t>的所有能够计算的</a:t>
            </a:r>
            <a:r>
              <a:rPr lang="zh-CN" altLang="zh-CN" kern="100" dirty="0">
                <a:solidFill>
                  <a:srgbClr val="FF0000"/>
                </a:solidFill>
              </a:rPr>
              <a:t>综合属性</a:t>
            </a:r>
            <a:r>
              <a:rPr lang="en-US" altLang="zh-CN" kern="100" dirty="0">
                <a:solidFill>
                  <a:srgbClr val="0000FF"/>
                </a:solidFill>
              </a:rPr>
              <a:t>;  /*</a:t>
            </a:r>
            <a:r>
              <a:rPr lang="zh-CN" altLang="zh-CN" kern="100" dirty="0">
                <a:solidFill>
                  <a:srgbClr val="0000FF"/>
                </a:solidFill>
              </a:rPr>
              <a:t>所有子结点都计算完，计算</a:t>
            </a:r>
            <a:r>
              <a:rPr lang="en-US" altLang="zh-CN" kern="100" dirty="0">
                <a:solidFill>
                  <a:srgbClr val="0000FF"/>
                </a:solidFill>
              </a:rPr>
              <a:t>N</a:t>
            </a:r>
            <a:r>
              <a:rPr lang="zh-CN" altLang="zh-CN" kern="100" dirty="0">
                <a:solidFill>
                  <a:srgbClr val="0000FF"/>
                </a:solidFill>
              </a:rPr>
              <a:t>的综合属性</a:t>
            </a:r>
            <a:r>
              <a:rPr lang="en-US" altLang="zh-CN" kern="100" dirty="0">
                <a:solidFill>
                  <a:srgbClr val="0000FF"/>
                </a:solidFill>
              </a:rPr>
              <a:t>*/</a:t>
            </a:r>
            <a:endParaRPr lang="zh-CN" altLang="zh-CN" kern="100" dirty="0">
              <a:solidFill>
                <a:srgbClr val="0000FF"/>
              </a:solidFill>
            </a:endParaRPr>
          </a:p>
          <a:p>
            <a:pPr algn="just">
              <a:lnSpc>
                <a:spcPct val="90000"/>
              </a:lnSpc>
              <a:spcAft>
                <a:spcPts val="0"/>
              </a:spcAft>
            </a:pPr>
            <a:r>
              <a:rPr lang="en-US" altLang="zh-CN" kern="100" dirty="0"/>
              <a:t>}</a:t>
            </a:r>
            <a:endParaRPr lang="zh-CN" altLang="zh-CN" kern="100" dirty="0">
              <a:latin typeface="Times New Roman" panose="02020603050405020304" pitchFamily="18" charset="0"/>
              <a:ea typeface="宋体" panose="02010600030101010101" pitchFamily="2" charset="-122"/>
            </a:endParaRP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632388317"/>
              </p:ext>
            </p:extLst>
          </p:nvPr>
        </p:nvGraphicFramePr>
        <p:xfrm>
          <a:off x="5883061" y="27879"/>
          <a:ext cx="3233119" cy="2438210"/>
        </p:xfrm>
        <a:graphic>
          <a:graphicData uri="http://schemas.openxmlformats.org/presentationml/2006/ole">
            <mc:AlternateContent xmlns:mc="http://schemas.openxmlformats.org/markup-compatibility/2006">
              <mc:Choice xmlns:v="urn:schemas-microsoft-com:vml" Requires="v">
                <p:oleObj spid="_x0000_s10245" name="Visio" r:id="rId3" imgW="2108029" imgH="1592136" progId="Visio.Drawing.11">
                  <p:embed/>
                </p:oleObj>
              </mc:Choice>
              <mc:Fallback>
                <p:oleObj name="Visio" r:id="rId3" imgW="2108029" imgH="1592136" progId="Visio.Drawing.11">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3061" y="27879"/>
                        <a:ext cx="3233119" cy="2438210"/>
                      </a:xfrm>
                      <a:prstGeom prst="rect">
                        <a:avLst/>
                      </a:prstGeom>
                      <a:solidFill>
                        <a:schemeClr val="bg1"/>
                      </a:solidFill>
                    </p:spPr>
                  </p:pic>
                </p:oleObj>
              </mc:Fallback>
            </mc:AlternateContent>
          </a:graphicData>
        </a:graphic>
      </p:graphicFrame>
      <p:sp>
        <p:nvSpPr>
          <p:cNvPr id="8" name="矩形 7">
            <a:extLst>
              <a:ext uri="{FF2B5EF4-FFF2-40B4-BE49-F238E27FC236}">
                <a16:creationId xmlns:a16="http://schemas.microsoft.com/office/drawing/2014/main" id="{0F4E3D0B-2296-42F9-92E3-676D8A8C324C}"/>
              </a:ext>
            </a:extLst>
          </p:cNvPr>
          <p:cNvSpPr/>
          <p:nvPr/>
        </p:nvSpPr>
        <p:spPr>
          <a:xfrm>
            <a:off x="7020272" y="2895170"/>
            <a:ext cx="1599816" cy="1200329"/>
          </a:xfrm>
          <a:prstGeom prst="rect">
            <a:avLst/>
          </a:prstGeom>
          <a:solidFill>
            <a:srgbClr val="FFFF00"/>
          </a:solidFill>
        </p:spPr>
        <p:txBody>
          <a:bodyPr wrap="square">
            <a:spAutoFit/>
          </a:bodyPr>
          <a:lstStyle/>
          <a:p>
            <a:r>
              <a:rPr lang="en-US" altLang="zh-CN" dirty="0">
                <a:solidFill>
                  <a:srgbClr val="FF0000"/>
                </a:solidFill>
              </a:rPr>
              <a:t>AST </a:t>
            </a:r>
            <a:r>
              <a:rPr lang="zh-CN" altLang="en-US" dirty="0">
                <a:solidFill>
                  <a:srgbClr val="FF0000"/>
                </a:solidFill>
              </a:rPr>
              <a:t>决定“程序长什么样”属性文法决定“如何翻译”</a:t>
            </a:r>
          </a:p>
        </p:txBody>
      </p:sp>
    </p:spTree>
    <p:extLst>
      <p:ext uri="{BB962C8B-B14F-4D97-AF65-F5344CB8AC3E}">
        <p14:creationId xmlns:p14="http://schemas.microsoft.com/office/powerpoint/2010/main" val="3046093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noAutofit/>
          </a:bodyPr>
          <a:lstStyle/>
          <a:p>
            <a:r>
              <a:rPr lang="zh-CN" altLang="en-US" dirty="0"/>
              <a:t>属性计算过程</a:t>
            </a:r>
          </a:p>
        </p:txBody>
      </p:sp>
      <p:sp>
        <p:nvSpPr>
          <p:cNvPr id="38915" name="内容占位符 2"/>
          <p:cNvSpPr>
            <a:spLocks noGrp="1"/>
          </p:cNvSpPr>
          <p:nvPr>
            <p:ph idx="1"/>
          </p:nvPr>
        </p:nvSpPr>
        <p:spPr>
          <a:xfrm>
            <a:off x="395536" y="987574"/>
            <a:ext cx="8229600" cy="3394472"/>
          </a:xfrm>
        </p:spPr>
        <p:txBody>
          <a:bodyPr>
            <a:normAutofit fontScale="92500"/>
          </a:bodyPr>
          <a:lstStyle/>
          <a:p>
            <a:r>
              <a:rPr lang="zh-CN" altLang="en-US" sz="2400" dirty="0"/>
              <a:t>这是一个复杂的递归过程</a:t>
            </a:r>
          </a:p>
          <a:p>
            <a:r>
              <a:rPr lang="zh-CN" altLang="zh-CN" sz="2400" dirty="0"/>
              <a:t>一个具体语言的语义处理的实现方法并不一定严格按照这个流程</a:t>
            </a:r>
            <a:endParaRPr lang="en-US" altLang="zh-CN" sz="2400" dirty="0"/>
          </a:p>
          <a:p>
            <a:r>
              <a:rPr lang="zh-CN" altLang="zh-CN" sz="2400" dirty="0">
                <a:solidFill>
                  <a:srgbClr val="FF0000"/>
                </a:solidFill>
              </a:rPr>
              <a:t>如果某结点的继承属性在访问它之前都能全部计算出来</a:t>
            </a:r>
            <a:r>
              <a:rPr lang="zh-CN" altLang="zh-CN" sz="2400" dirty="0"/>
              <a:t>，</a:t>
            </a:r>
            <a:r>
              <a:rPr lang="zh-CN" altLang="en-US" sz="2400" dirty="0"/>
              <a:t>也是</a:t>
            </a:r>
            <a:r>
              <a:rPr lang="zh-CN" altLang="zh-CN" sz="2400" dirty="0"/>
              <a:t>可以使用一遍遍历的方式实现属性文法的语义规则的计算。</a:t>
            </a:r>
            <a:endParaRPr lang="en-US" altLang="zh-CN" sz="2400" dirty="0"/>
          </a:p>
          <a:p>
            <a:r>
              <a:rPr lang="zh-CN" altLang="en-US" sz="2400" dirty="0">
                <a:solidFill>
                  <a:srgbClr val="FF0000"/>
                </a:solidFill>
              </a:rPr>
              <a:t>如果</a:t>
            </a:r>
            <a:r>
              <a:rPr lang="zh-CN" altLang="zh-CN" sz="2400" dirty="0">
                <a:solidFill>
                  <a:srgbClr val="FF0000"/>
                </a:solidFill>
              </a:rPr>
              <a:t>访问结点的属性并不依赖于还没有计算出来的属性</a:t>
            </a:r>
            <a:r>
              <a:rPr lang="zh-CN" altLang="zh-CN" sz="2400" dirty="0"/>
              <a:t>。这样，就可以在语法分析的同时完成语义规则的计算，把构造语法树和遍历语法树进行语义计算合成一遍。我们称满足这样的条件的特殊文法为</a:t>
            </a:r>
            <a:r>
              <a:rPr lang="en-US" altLang="zh-CN" sz="2400" b="1" dirty="0">
                <a:solidFill>
                  <a:srgbClr val="FF0000"/>
                </a:solidFill>
              </a:rPr>
              <a:t>L-</a:t>
            </a:r>
            <a:r>
              <a:rPr lang="zh-CN" altLang="zh-CN" sz="2400" b="1" dirty="0">
                <a:solidFill>
                  <a:srgbClr val="FF0000"/>
                </a:solidFill>
              </a:rPr>
              <a:t>属性文法</a:t>
            </a:r>
            <a:r>
              <a:rPr lang="zh-CN" altLang="zh-CN" sz="2400" dirty="0"/>
              <a:t>。</a:t>
            </a:r>
            <a:endParaRPr lang="zh-CN" altLang="en-US" sz="2400" dirty="0"/>
          </a:p>
        </p:txBody>
      </p:sp>
    </p:spTree>
    <p:extLst>
      <p:ext uri="{BB962C8B-B14F-4D97-AF65-F5344CB8AC3E}">
        <p14:creationId xmlns:p14="http://schemas.microsoft.com/office/powerpoint/2010/main" val="72066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11124" y="0"/>
            <a:ext cx="3336740" cy="529828"/>
          </a:xfrm>
        </p:spPr>
        <p:txBody>
          <a:bodyPr>
            <a:noAutofit/>
          </a:bodyPr>
          <a:lstStyle/>
          <a:p>
            <a:r>
              <a:rPr lang="en-US" altLang="zh-CN" dirty="0">
                <a:solidFill>
                  <a:schemeClr val="tx1"/>
                </a:solidFill>
              </a:rPr>
              <a:t>L-</a:t>
            </a:r>
            <a:r>
              <a:rPr lang="zh-CN" altLang="zh-CN" dirty="0">
                <a:solidFill>
                  <a:schemeClr val="tx1"/>
                </a:solidFill>
              </a:rPr>
              <a:t>属性文法</a:t>
            </a:r>
            <a:endParaRPr lang="zh-CN" altLang="en-US" dirty="0">
              <a:solidFill>
                <a:schemeClr val="tx1"/>
              </a:solidFill>
            </a:endParaRPr>
          </a:p>
        </p:txBody>
      </p:sp>
      <p:sp>
        <p:nvSpPr>
          <p:cNvPr id="39939" name="内容占位符 2"/>
          <p:cNvSpPr>
            <a:spLocks noGrp="1"/>
          </p:cNvSpPr>
          <p:nvPr>
            <p:ph idx="1"/>
          </p:nvPr>
        </p:nvSpPr>
        <p:spPr>
          <a:xfrm>
            <a:off x="251520" y="555526"/>
            <a:ext cx="8856216" cy="1800200"/>
          </a:xfrm>
        </p:spPr>
        <p:txBody>
          <a:bodyPr>
            <a:noAutofit/>
          </a:bodyPr>
          <a:lstStyle/>
          <a:p>
            <a:pPr>
              <a:lnSpc>
                <a:spcPct val="120000"/>
              </a:lnSpc>
              <a:spcBef>
                <a:spcPts val="0"/>
              </a:spcBef>
            </a:pPr>
            <a:r>
              <a:rPr lang="zh-CN" altLang="zh-CN" sz="2200" dirty="0"/>
              <a:t>如果对于文法中的每个产生式</a:t>
            </a:r>
            <a:r>
              <a:rPr lang="en-US" altLang="zh-CN" sz="2800" b="1" dirty="0">
                <a:solidFill>
                  <a:srgbClr val="FF0000"/>
                </a:solidFill>
              </a:rPr>
              <a:t>A</a:t>
            </a:r>
            <a:r>
              <a:rPr lang="zh-CN" altLang="zh-CN" sz="2800" b="1" dirty="0">
                <a:solidFill>
                  <a:srgbClr val="FF0000"/>
                </a:solidFill>
              </a:rPr>
              <a:t>→</a:t>
            </a:r>
            <a:r>
              <a:rPr lang="en-US" altLang="zh-CN" sz="2800" b="1" dirty="0">
                <a:solidFill>
                  <a:srgbClr val="FF0000"/>
                </a:solidFill>
              </a:rPr>
              <a:t>X</a:t>
            </a:r>
            <a:r>
              <a:rPr lang="en-US" altLang="zh-CN" sz="2800" b="1" baseline="-25000" dirty="0">
                <a:solidFill>
                  <a:srgbClr val="FF0000"/>
                </a:solidFill>
              </a:rPr>
              <a:t>1</a:t>
            </a:r>
            <a:r>
              <a:rPr lang="en-US" altLang="zh-CN" sz="2800" b="1" dirty="0">
                <a:solidFill>
                  <a:srgbClr val="FF0000"/>
                </a:solidFill>
              </a:rPr>
              <a:t>X</a:t>
            </a:r>
            <a:r>
              <a:rPr lang="en-US" altLang="zh-CN" sz="2800" b="1" baseline="-25000" dirty="0">
                <a:solidFill>
                  <a:srgbClr val="FF0000"/>
                </a:solidFill>
              </a:rPr>
              <a:t>2</a:t>
            </a:r>
            <a:r>
              <a:rPr lang="en-US" altLang="zh-CN" sz="2800" b="1" dirty="0">
                <a:solidFill>
                  <a:srgbClr val="FF0000"/>
                </a:solidFill>
              </a:rPr>
              <a:t>……</a:t>
            </a:r>
            <a:r>
              <a:rPr lang="en-US" altLang="zh-CN" sz="2800" b="1" dirty="0" err="1">
                <a:solidFill>
                  <a:srgbClr val="FF0000"/>
                </a:solidFill>
              </a:rPr>
              <a:t>X</a:t>
            </a:r>
            <a:r>
              <a:rPr lang="en-US" altLang="zh-CN" sz="2800" b="1" baseline="-25000" dirty="0" err="1">
                <a:solidFill>
                  <a:srgbClr val="FF0000"/>
                </a:solidFill>
              </a:rPr>
              <a:t>n</a:t>
            </a:r>
            <a:r>
              <a:rPr lang="zh-CN" altLang="zh-CN" sz="2200" dirty="0"/>
              <a:t>，其每个语义规则中的每个属性或者是</a:t>
            </a:r>
            <a:r>
              <a:rPr lang="zh-CN" altLang="zh-CN" sz="2200" dirty="0">
                <a:solidFill>
                  <a:srgbClr val="FF0000"/>
                </a:solidFill>
              </a:rPr>
              <a:t>综合属性</a:t>
            </a:r>
            <a:r>
              <a:rPr lang="zh-CN" altLang="zh-CN" sz="2200" dirty="0"/>
              <a:t>，或者是</a:t>
            </a:r>
            <a:r>
              <a:rPr lang="en-US" altLang="zh-CN" sz="2200" dirty="0" err="1"/>
              <a:t>X</a:t>
            </a:r>
            <a:r>
              <a:rPr lang="en-US" altLang="zh-CN" sz="2200" baseline="-25000" dirty="0" err="1"/>
              <a:t>j</a:t>
            </a:r>
            <a:r>
              <a:rPr lang="zh-CN" altLang="zh-CN" sz="2200" dirty="0"/>
              <a:t>（</a:t>
            </a:r>
            <a:r>
              <a:rPr lang="en-US" altLang="zh-CN" sz="2200" dirty="0"/>
              <a:t>1</a:t>
            </a:r>
            <a:r>
              <a:rPr lang="zh-CN" altLang="zh-CN" sz="2200" dirty="0"/>
              <a:t>≤</a:t>
            </a:r>
            <a:r>
              <a:rPr lang="en-US" altLang="zh-CN" sz="2200" dirty="0"/>
              <a:t>j</a:t>
            </a:r>
            <a:r>
              <a:rPr lang="zh-CN" altLang="zh-CN" sz="2200" dirty="0"/>
              <a:t>≤</a:t>
            </a:r>
            <a:r>
              <a:rPr lang="en-US" altLang="zh-CN" sz="2200" dirty="0"/>
              <a:t>n</a:t>
            </a:r>
            <a:r>
              <a:rPr lang="zh-CN" altLang="zh-CN" sz="2200" dirty="0"/>
              <a:t>）的一个继承属性，且这个继承属性仅仅依赖于下列两种属性。</a:t>
            </a:r>
          </a:p>
        </p:txBody>
      </p:sp>
      <p:graphicFrame>
        <p:nvGraphicFramePr>
          <p:cNvPr id="4" name="表格 3"/>
          <p:cNvGraphicFramePr>
            <a:graphicFrameLocks noGrp="1"/>
          </p:cNvGraphicFramePr>
          <p:nvPr>
            <p:extLst>
              <p:ext uri="{D42A27DB-BD31-4B8C-83A1-F6EECF244321}">
                <p14:modId xmlns:p14="http://schemas.microsoft.com/office/powerpoint/2010/main" val="2493696139"/>
              </p:ext>
            </p:extLst>
          </p:nvPr>
        </p:nvGraphicFramePr>
        <p:xfrm>
          <a:off x="5652120" y="2859782"/>
          <a:ext cx="3095625" cy="2121642"/>
        </p:xfrm>
        <a:graphic>
          <a:graphicData uri="http://schemas.openxmlformats.org/drawingml/2006/table">
            <a:tbl>
              <a:tblPr firstRow="1" firstCol="1" bandRow="1">
                <a:tableStyleId>{5C22544A-7EE6-4342-B048-85BDC9FD1C3A}</a:tableStyleId>
              </a:tblPr>
              <a:tblGrid>
                <a:gridCol w="1151860">
                  <a:extLst>
                    <a:ext uri="{9D8B030D-6E8A-4147-A177-3AD203B41FA5}">
                      <a16:colId xmlns:a16="http://schemas.microsoft.com/office/drawing/2014/main" val="20000"/>
                    </a:ext>
                  </a:extLst>
                </a:gridCol>
                <a:gridCol w="1943765">
                  <a:extLst>
                    <a:ext uri="{9D8B030D-6E8A-4147-A177-3AD203B41FA5}">
                      <a16:colId xmlns:a16="http://schemas.microsoft.com/office/drawing/2014/main" val="20001"/>
                    </a:ext>
                  </a:extLst>
                </a:gridCol>
              </a:tblGrid>
              <a:tr h="445242">
                <a:tc>
                  <a:txBody>
                    <a:bodyPr/>
                    <a:lstStyle/>
                    <a:p>
                      <a:pPr algn="just">
                        <a:spcAft>
                          <a:spcPts val="0"/>
                        </a:spcAft>
                      </a:pPr>
                      <a:r>
                        <a:rPr lang="zh-CN" sz="2200" kern="100" dirty="0">
                          <a:solidFill>
                            <a:schemeClr val="tx1"/>
                          </a:solidFill>
                          <a:effectLst/>
                          <a:latin typeface="宋体" panose="02010600030101010101" pitchFamily="2" charset="-122"/>
                          <a:ea typeface="宋体" panose="02010600030101010101" pitchFamily="2" charset="-122"/>
                        </a:rPr>
                        <a:t>产生式</a:t>
                      </a:r>
                    </a:p>
                  </a:txBody>
                  <a:tcPr marL="68564" marR="685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200" kern="100" dirty="0">
                          <a:solidFill>
                            <a:schemeClr val="tx1"/>
                          </a:solidFill>
                          <a:effectLst/>
                          <a:latin typeface="宋体" panose="02010600030101010101" pitchFamily="2" charset="-122"/>
                          <a:ea typeface="宋体" panose="02010600030101010101" pitchFamily="2" charset="-122"/>
                        </a:rPr>
                        <a:t>语义规则</a:t>
                      </a:r>
                    </a:p>
                  </a:txBody>
                  <a:tcPr marL="68564" marR="685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03237">
                <a:tc>
                  <a:txBody>
                    <a:bodyPr/>
                    <a:lstStyle/>
                    <a:p>
                      <a:pPr algn="just">
                        <a:spcAft>
                          <a:spcPts val="0"/>
                        </a:spcAft>
                      </a:pPr>
                      <a:r>
                        <a:rPr lang="en-US" sz="2200" kern="100" dirty="0">
                          <a:solidFill>
                            <a:schemeClr val="tx1"/>
                          </a:solidFill>
                          <a:effectLst/>
                          <a:latin typeface="宋体" panose="02010600030101010101" pitchFamily="2" charset="-122"/>
                          <a:ea typeface="宋体" panose="02010600030101010101" pitchFamily="2" charset="-122"/>
                        </a:rPr>
                        <a:t>A</a:t>
                      </a:r>
                      <a:r>
                        <a:rPr lang="zh-CN" sz="2200" kern="100" dirty="0">
                          <a:solidFill>
                            <a:schemeClr val="tx1"/>
                          </a:solidFill>
                          <a:effectLst/>
                          <a:latin typeface="宋体" panose="02010600030101010101" pitchFamily="2" charset="-122"/>
                          <a:ea typeface="宋体" panose="02010600030101010101" pitchFamily="2" charset="-122"/>
                        </a:rPr>
                        <a:t>→</a:t>
                      </a:r>
                      <a:r>
                        <a:rPr lang="en-US" sz="2200" kern="100" dirty="0">
                          <a:solidFill>
                            <a:schemeClr val="tx1"/>
                          </a:solidFill>
                          <a:effectLst/>
                          <a:latin typeface="宋体" panose="02010600030101010101" pitchFamily="2" charset="-122"/>
                          <a:ea typeface="宋体" panose="02010600030101010101" pitchFamily="2" charset="-122"/>
                        </a:rPr>
                        <a:t>LM</a:t>
                      </a:r>
                      <a:endParaRPr lang="zh-CN" sz="2200" kern="100" dirty="0">
                        <a:solidFill>
                          <a:schemeClr val="tx1"/>
                        </a:solidFill>
                        <a:effectLst/>
                        <a:latin typeface="宋体" panose="02010600030101010101" pitchFamily="2" charset="-122"/>
                        <a:ea typeface="宋体" panose="02010600030101010101" pitchFamily="2" charset="-122"/>
                      </a:endParaRPr>
                    </a:p>
                  </a:txBody>
                  <a:tcPr marL="68564" marR="685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2200" kern="100">
                          <a:solidFill>
                            <a:schemeClr val="tx1"/>
                          </a:solidFill>
                          <a:effectLst/>
                          <a:latin typeface="宋体" panose="02010600030101010101" pitchFamily="2" charset="-122"/>
                          <a:ea typeface="宋体" panose="02010600030101010101" pitchFamily="2" charset="-122"/>
                        </a:rPr>
                        <a:t>L.i = g(A.i)</a:t>
                      </a:r>
                      <a:endParaRPr lang="zh-CN" sz="2200" kern="100">
                        <a:solidFill>
                          <a:schemeClr val="tx1"/>
                        </a:solidFill>
                        <a:effectLst/>
                        <a:latin typeface="宋体" panose="02010600030101010101" pitchFamily="2" charset="-122"/>
                        <a:ea typeface="宋体" panose="02010600030101010101" pitchFamily="2" charset="-122"/>
                      </a:endParaRPr>
                    </a:p>
                    <a:p>
                      <a:pPr algn="just">
                        <a:spcAft>
                          <a:spcPts val="0"/>
                        </a:spcAft>
                      </a:pPr>
                      <a:r>
                        <a:rPr lang="en-US" sz="2200" kern="100">
                          <a:solidFill>
                            <a:schemeClr val="tx1"/>
                          </a:solidFill>
                          <a:effectLst/>
                          <a:latin typeface="宋体" panose="02010600030101010101" pitchFamily="2" charset="-122"/>
                          <a:ea typeface="宋体" panose="02010600030101010101" pitchFamily="2" charset="-122"/>
                        </a:rPr>
                        <a:t>M.i = m(L.s)</a:t>
                      </a:r>
                      <a:endParaRPr lang="zh-CN" sz="2200" kern="100">
                        <a:solidFill>
                          <a:schemeClr val="tx1"/>
                        </a:solidFill>
                        <a:effectLst/>
                        <a:latin typeface="宋体" panose="02010600030101010101" pitchFamily="2" charset="-122"/>
                        <a:ea typeface="宋体" panose="02010600030101010101" pitchFamily="2" charset="-122"/>
                      </a:endParaRPr>
                    </a:p>
                  </a:txBody>
                  <a:tcPr marL="68564" marR="685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54856">
                <a:tc>
                  <a:txBody>
                    <a:bodyPr/>
                    <a:lstStyle/>
                    <a:p>
                      <a:pPr algn="just">
                        <a:spcAft>
                          <a:spcPts val="0"/>
                        </a:spcAft>
                      </a:pPr>
                      <a:r>
                        <a:rPr lang="en-US" sz="2200" kern="100" dirty="0">
                          <a:solidFill>
                            <a:schemeClr val="tx1"/>
                          </a:solidFill>
                          <a:effectLst/>
                          <a:latin typeface="宋体" panose="02010600030101010101" pitchFamily="2" charset="-122"/>
                          <a:ea typeface="宋体" panose="02010600030101010101" pitchFamily="2" charset="-122"/>
                        </a:rPr>
                        <a:t>A</a:t>
                      </a:r>
                      <a:r>
                        <a:rPr lang="zh-CN" sz="2200" kern="100" dirty="0">
                          <a:solidFill>
                            <a:schemeClr val="tx1"/>
                          </a:solidFill>
                          <a:effectLst/>
                          <a:latin typeface="宋体" panose="02010600030101010101" pitchFamily="2" charset="-122"/>
                          <a:ea typeface="宋体" panose="02010600030101010101" pitchFamily="2" charset="-122"/>
                        </a:rPr>
                        <a:t>→</a:t>
                      </a:r>
                      <a:r>
                        <a:rPr lang="en-US" sz="2200" kern="100" dirty="0">
                          <a:solidFill>
                            <a:schemeClr val="tx1"/>
                          </a:solidFill>
                          <a:effectLst/>
                          <a:latin typeface="宋体" panose="02010600030101010101" pitchFamily="2" charset="-122"/>
                          <a:ea typeface="宋体" panose="02010600030101010101" pitchFamily="2" charset="-122"/>
                        </a:rPr>
                        <a:t>QR</a:t>
                      </a:r>
                      <a:endParaRPr lang="zh-CN" sz="2200" kern="100" dirty="0">
                        <a:solidFill>
                          <a:schemeClr val="tx1"/>
                        </a:solidFill>
                        <a:effectLst/>
                        <a:latin typeface="宋体" panose="02010600030101010101" pitchFamily="2" charset="-122"/>
                        <a:ea typeface="宋体" panose="02010600030101010101" pitchFamily="2" charset="-122"/>
                      </a:endParaRPr>
                    </a:p>
                  </a:txBody>
                  <a:tcPr marL="68564" marR="685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2200" kern="100" dirty="0" err="1">
                          <a:solidFill>
                            <a:schemeClr val="tx1"/>
                          </a:solidFill>
                          <a:effectLst/>
                          <a:latin typeface="宋体" panose="02010600030101010101" pitchFamily="2" charset="-122"/>
                          <a:ea typeface="宋体" panose="02010600030101010101" pitchFamily="2" charset="-122"/>
                        </a:rPr>
                        <a:t>R.i</a:t>
                      </a:r>
                      <a:r>
                        <a:rPr lang="en-US" sz="2200" kern="100" dirty="0">
                          <a:solidFill>
                            <a:schemeClr val="tx1"/>
                          </a:solidFill>
                          <a:effectLst/>
                          <a:latin typeface="宋体" panose="02010600030101010101" pitchFamily="2" charset="-122"/>
                          <a:ea typeface="宋体" panose="02010600030101010101" pitchFamily="2" charset="-122"/>
                        </a:rPr>
                        <a:t> = r(</a:t>
                      </a:r>
                      <a:r>
                        <a:rPr lang="en-US" sz="2200" kern="100" dirty="0" err="1">
                          <a:solidFill>
                            <a:schemeClr val="tx1"/>
                          </a:solidFill>
                          <a:effectLst/>
                          <a:latin typeface="宋体" panose="02010600030101010101" pitchFamily="2" charset="-122"/>
                          <a:ea typeface="宋体" panose="02010600030101010101" pitchFamily="2" charset="-122"/>
                        </a:rPr>
                        <a:t>A.i</a:t>
                      </a:r>
                      <a:r>
                        <a:rPr lang="en-US" sz="2200" kern="100" dirty="0">
                          <a:solidFill>
                            <a:schemeClr val="tx1"/>
                          </a:solidFill>
                          <a:effectLst/>
                          <a:latin typeface="宋体" panose="02010600030101010101" pitchFamily="2" charset="-122"/>
                          <a:ea typeface="宋体" panose="02010600030101010101" pitchFamily="2" charset="-122"/>
                        </a:rPr>
                        <a:t>)</a:t>
                      </a:r>
                      <a:endParaRPr lang="zh-CN" sz="2200" kern="100" dirty="0">
                        <a:solidFill>
                          <a:schemeClr val="tx1"/>
                        </a:solidFill>
                        <a:effectLst/>
                        <a:latin typeface="宋体" panose="02010600030101010101" pitchFamily="2" charset="-122"/>
                        <a:ea typeface="宋体" panose="02010600030101010101" pitchFamily="2" charset="-122"/>
                      </a:endParaRPr>
                    </a:p>
                    <a:p>
                      <a:pPr algn="just">
                        <a:spcAft>
                          <a:spcPts val="0"/>
                        </a:spcAft>
                      </a:pPr>
                      <a:r>
                        <a:rPr lang="en-US" sz="2200" kern="100" dirty="0" err="1">
                          <a:solidFill>
                            <a:schemeClr val="tx1"/>
                          </a:solidFill>
                          <a:effectLst/>
                          <a:latin typeface="宋体" panose="02010600030101010101" pitchFamily="2" charset="-122"/>
                          <a:ea typeface="宋体" panose="02010600030101010101" pitchFamily="2" charset="-122"/>
                        </a:rPr>
                        <a:t>Q.i</a:t>
                      </a:r>
                      <a:r>
                        <a:rPr lang="en-US" sz="2200" kern="100" dirty="0">
                          <a:solidFill>
                            <a:schemeClr val="tx1"/>
                          </a:solidFill>
                          <a:effectLst/>
                          <a:latin typeface="宋体" panose="02010600030101010101" pitchFamily="2" charset="-122"/>
                          <a:ea typeface="宋体" panose="02010600030101010101" pitchFamily="2" charset="-122"/>
                        </a:rPr>
                        <a:t> = q(R.s)</a:t>
                      </a:r>
                      <a:endParaRPr lang="zh-CN" sz="2200" kern="100" dirty="0">
                        <a:solidFill>
                          <a:schemeClr val="tx1"/>
                        </a:solidFill>
                        <a:effectLst/>
                        <a:latin typeface="宋体" panose="02010600030101010101" pitchFamily="2" charset="-122"/>
                        <a:ea typeface="宋体" panose="02010600030101010101" pitchFamily="2" charset="-122"/>
                      </a:endParaRPr>
                    </a:p>
                    <a:p>
                      <a:pPr algn="just">
                        <a:spcAft>
                          <a:spcPts val="0"/>
                        </a:spcAft>
                      </a:pPr>
                      <a:r>
                        <a:rPr lang="en-US" sz="2200" kern="100" dirty="0">
                          <a:solidFill>
                            <a:schemeClr val="tx1"/>
                          </a:solidFill>
                          <a:effectLst/>
                          <a:latin typeface="宋体" panose="02010600030101010101" pitchFamily="2" charset="-122"/>
                          <a:ea typeface="宋体" panose="02010600030101010101" pitchFamily="2" charset="-122"/>
                        </a:rPr>
                        <a:t>A.s = f(Q.s)</a:t>
                      </a:r>
                      <a:endParaRPr lang="zh-CN" sz="2200" kern="100" dirty="0">
                        <a:solidFill>
                          <a:schemeClr val="tx1"/>
                        </a:solidFill>
                        <a:effectLst/>
                        <a:latin typeface="宋体" panose="02010600030101010101" pitchFamily="2" charset="-122"/>
                        <a:ea typeface="宋体" panose="02010600030101010101" pitchFamily="2" charset="-122"/>
                      </a:endParaRPr>
                    </a:p>
                  </a:txBody>
                  <a:tcPr marL="68564" marR="685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5" name="矩形 4"/>
          <p:cNvSpPr/>
          <p:nvPr/>
        </p:nvSpPr>
        <p:spPr>
          <a:xfrm>
            <a:off x="251520" y="3840018"/>
            <a:ext cx="5040560" cy="110799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eaLnBrk="1" hangingPunct="1">
              <a:lnSpc>
                <a:spcPct val="100000"/>
              </a:lnSpc>
              <a:spcBef>
                <a:spcPct val="0"/>
              </a:spcBef>
              <a:buFontTx/>
              <a:buNone/>
              <a:defRPr/>
            </a:pPr>
            <a:r>
              <a:rPr lang="zh-CN" altLang="zh-CN" sz="2200" kern="100" dirty="0">
                <a:latin typeface="Times New Roman" panose="02020603050405020304" pitchFamily="18" charset="0"/>
                <a:cs typeface="Times New Roman" panose="02020603050405020304" pitchFamily="18" charset="0"/>
              </a:rPr>
              <a:t>在</a:t>
            </a:r>
            <a:r>
              <a:rPr lang="en-US" altLang="zh-CN" sz="2200" kern="100" dirty="0" err="1">
                <a:solidFill>
                  <a:srgbClr val="FF0000"/>
                </a:solidFill>
                <a:latin typeface="Times New Roman" panose="02020603050405020304" pitchFamily="18" charset="0"/>
              </a:rPr>
              <a:t>Q.i</a:t>
            </a:r>
            <a:r>
              <a:rPr lang="en-US" altLang="zh-CN" sz="2200" kern="100" dirty="0">
                <a:solidFill>
                  <a:srgbClr val="FF0000"/>
                </a:solidFill>
                <a:latin typeface="Times New Roman" panose="02020603050405020304" pitchFamily="18" charset="0"/>
              </a:rPr>
              <a:t> = q(R.s)</a:t>
            </a:r>
            <a:r>
              <a:rPr lang="zh-CN" altLang="zh-CN" sz="2200" kern="100" dirty="0">
                <a:latin typeface="Times New Roman" panose="02020603050405020304" pitchFamily="18" charset="0"/>
                <a:cs typeface="Times New Roman" panose="02020603050405020304" pitchFamily="18" charset="0"/>
              </a:rPr>
              <a:t>这条规则中，</a:t>
            </a:r>
            <a:r>
              <a:rPr lang="en-US" altLang="zh-CN" sz="2200" kern="100" dirty="0" err="1">
                <a:latin typeface="Times New Roman" panose="02020603050405020304" pitchFamily="18" charset="0"/>
              </a:rPr>
              <a:t>Q.i</a:t>
            </a:r>
            <a:r>
              <a:rPr lang="zh-CN" altLang="zh-CN" sz="2200" kern="100" dirty="0">
                <a:latin typeface="Times New Roman" panose="02020603050405020304" pitchFamily="18" charset="0"/>
                <a:cs typeface="Times New Roman" panose="02020603050405020304" pitchFamily="18" charset="0"/>
              </a:rPr>
              <a:t>是</a:t>
            </a:r>
            <a:r>
              <a:rPr lang="en-US" altLang="zh-CN" sz="2200" kern="100" dirty="0">
                <a:latin typeface="Times New Roman" panose="02020603050405020304" pitchFamily="18" charset="0"/>
              </a:rPr>
              <a:t>Q</a:t>
            </a:r>
            <a:r>
              <a:rPr lang="zh-CN" altLang="zh-CN" sz="2200" kern="100" dirty="0">
                <a:latin typeface="Times New Roman" panose="02020603050405020304" pitchFamily="18" charset="0"/>
                <a:cs typeface="Times New Roman" panose="02020603050405020304" pitchFamily="18" charset="0"/>
              </a:rPr>
              <a:t>的继承属性，它依赖于</a:t>
            </a:r>
            <a:r>
              <a:rPr lang="en-US" altLang="zh-CN" sz="2200" kern="100" dirty="0">
                <a:latin typeface="Times New Roman" panose="02020603050405020304" pitchFamily="18" charset="0"/>
              </a:rPr>
              <a:t>R</a:t>
            </a:r>
            <a:r>
              <a:rPr lang="zh-CN" altLang="zh-CN" sz="2200" kern="100" dirty="0">
                <a:latin typeface="Times New Roman" panose="02020603050405020304" pitchFamily="18" charset="0"/>
                <a:cs typeface="Times New Roman" panose="02020603050405020304" pitchFamily="18" charset="0"/>
              </a:rPr>
              <a:t>的属性，因此不满足</a:t>
            </a:r>
            <a:r>
              <a:rPr lang="en-US" altLang="zh-CN" sz="2200" kern="100" dirty="0">
                <a:latin typeface="Times New Roman" panose="02020603050405020304" pitchFamily="18" charset="0"/>
              </a:rPr>
              <a:t>L-</a:t>
            </a:r>
            <a:r>
              <a:rPr lang="zh-CN" altLang="zh-CN" sz="2200" kern="100" dirty="0">
                <a:latin typeface="Times New Roman" panose="02020603050405020304" pitchFamily="18" charset="0"/>
                <a:cs typeface="Times New Roman" panose="02020603050405020304" pitchFamily="18" charset="0"/>
              </a:rPr>
              <a:t>属性文法的条件。</a:t>
            </a:r>
            <a:endParaRPr lang="zh-CN" altLang="en-US" sz="2200" dirty="0">
              <a:latin typeface="Arial" pitchFamily="34" charset="0"/>
            </a:endParaRPr>
          </a:p>
        </p:txBody>
      </p:sp>
      <p:sp>
        <p:nvSpPr>
          <p:cNvPr id="37908" name="Rectangle 21"/>
          <p:cNvSpPr>
            <a:spLocks noChangeArrowheads="1"/>
          </p:cNvSpPr>
          <p:nvPr/>
        </p:nvSpPr>
        <p:spPr bwMode="auto">
          <a:xfrm>
            <a:off x="251520" y="2903914"/>
            <a:ext cx="4464049" cy="8316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r>
              <a:rPr lang="zh-CN" altLang="en-US" sz="2400" dirty="0"/>
              <a:t>例</a:t>
            </a:r>
            <a:r>
              <a:rPr lang="en-US" altLang="zh-CN" sz="2400" dirty="0"/>
              <a:t>5.9 </a:t>
            </a:r>
            <a:r>
              <a:rPr lang="zh-CN" altLang="en-US" sz="2400" dirty="0"/>
              <a:t>判断是否是</a:t>
            </a:r>
            <a:r>
              <a:rPr lang="en-US" altLang="zh-CN" sz="2400" dirty="0"/>
              <a:t>L-</a:t>
            </a:r>
            <a:r>
              <a:rPr lang="zh-CN" altLang="en-US" sz="2400" dirty="0"/>
              <a:t>属性文法？（</a:t>
            </a:r>
            <a:r>
              <a:rPr lang="en-US" altLang="zh-CN" sz="2400" dirty="0"/>
              <a:t>s</a:t>
            </a:r>
            <a:r>
              <a:rPr lang="zh-CN" altLang="en-US" sz="2400" dirty="0"/>
              <a:t>是综合属性，</a:t>
            </a:r>
            <a:r>
              <a:rPr lang="en-US" altLang="zh-CN" sz="2400" dirty="0" err="1"/>
              <a:t>i</a:t>
            </a:r>
            <a:r>
              <a:rPr lang="zh-CN" altLang="en-US" sz="2400" dirty="0"/>
              <a:t>是继承属性） </a:t>
            </a:r>
          </a:p>
        </p:txBody>
      </p:sp>
      <p:sp>
        <p:nvSpPr>
          <p:cNvPr id="8" name="内容占位符 2"/>
          <p:cNvSpPr txBox="1">
            <a:spLocks/>
          </p:cNvSpPr>
          <p:nvPr/>
        </p:nvSpPr>
        <p:spPr>
          <a:xfrm>
            <a:off x="287784" y="1887674"/>
            <a:ext cx="8856216" cy="9001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nSpc>
                <a:spcPct val="120000"/>
              </a:lnSpc>
              <a:spcBef>
                <a:spcPts val="0"/>
              </a:spcBef>
            </a:pPr>
            <a:r>
              <a:rPr lang="zh-CN" altLang="zh-CN" sz="2200" dirty="0">
                <a:solidFill>
                  <a:srgbClr val="0000FF"/>
                </a:solidFill>
              </a:rPr>
              <a:t>（</a:t>
            </a:r>
            <a:r>
              <a:rPr lang="en-US" altLang="zh-CN" sz="2200" dirty="0">
                <a:solidFill>
                  <a:srgbClr val="0000FF"/>
                </a:solidFill>
              </a:rPr>
              <a:t>1</a:t>
            </a:r>
            <a:r>
              <a:rPr lang="zh-CN" altLang="zh-CN" sz="2200" dirty="0">
                <a:solidFill>
                  <a:srgbClr val="0000FF"/>
                </a:solidFill>
              </a:rPr>
              <a:t>）产生式中</a:t>
            </a:r>
            <a:r>
              <a:rPr lang="en-US" altLang="zh-CN" sz="2200" dirty="0" err="1">
                <a:solidFill>
                  <a:srgbClr val="0000FF"/>
                </a:solidFill>
              </a:rPr>
              <a:t>X</a:t>
            </a:r>
            <a:r>
              <a:rPr lang="en-US" altLang="zh-CN" sz="2200" baseline="-25000" dirty="0" err="1">
                <a:solidFill>
                  <a:srgbClr val="0000FF"/>
                </a:solidFill>
              </a:rPr>
              <a:t>j</a:t>
            </a:r>
            <a:r>
              <a:rPr lang="zh-CN" altLang="zh-CN" sz="2200" dirty="0">
                <a:solidFill>
                  <a:srgbClr val="0000FF"/>
                </a:solidFill>
              </a:rPr>
              <a:t>左边的文法符号</a:t>
            </a:r>
            <a:r>
              <a:rPr lang="en-US" altLang="zh-CN" sz="2200" dirty="0">
                <a:solidFill>
                  <a:srgbClr val="0000FF"/>
                </a:solidFill>
              </a:rPr>
              <a:t>X</a:t>
            </a:r>
            <a:r>
              <a:rPr lang="en-US" altLang="zh-CN" sz="2200" baseline="-25000" dirty="0">
                <a:solidFill>
                  <a:srgbClr val="0000FF"/>
                </a:solidFill>
              </a:rPr>
              <a:t>1</a:t>
            </a:r>
            <a:r>
              <a:rPr lang="en-US" altLang="zh-CN" sz="2200" dirty="0">
                <a:solidFill>
                  <a:srgbClr val="0000FF"/>
                </a:solidFill>
              </a:rPr>
              <a:t>X</a:t>
            </a:r>
            <a:r>
              <a:rPr lang="en-US" altLang="zh-CN" sz="2200" baseline="-25000" dirty="0">
                <a:solidFill>
                  <a:srgbClr val="0000FF"/>
                </a:solidFill>
              </a:rPr>
              <a:t>2</a:t>
            </a:r>
            <a:r>
              <a:rPr lang="en-US" altLang="zh-CN" sz="2200" dirty="0">
                <a:solidFill>
                  <a:srgbClr val="0000FF"/>
                </a:solidFill>
              </a:rPr>
              <a:t>......X</a:t>
            </a:r>
            <a:r>
              <a:rPr lang="en-US" altLang="zh-CN" sz="2200" baseline="-25000" dirty="0">
                <a:solidFill>
                  <a:srgbClr val="0000FF"/>
                </a:solidFill>
              </a:rPr>
              <a:t>j-1</a:t>
            </a:r>
            <a:r>
              <a:rPr lang="zh-CN" altLang="zh-CN" sz="2200" dirty="0">
                <a:solidFill>
                  <a:srgbClr val="0000FF"/>
                </a:solidFill>
              </a:rPr>
              <a:t>的属性。</a:t>
            </a:r>
          </a:p>
          <a:p>
            <a:pPr>
              <a:lnSpc>
                <a:spcPct val="120000"/>
              </a:lnSpc>
              <a:spcBef>
                <a:spcPts val="0"/>
              </a:spcBef>
            </a:pPr>
            <a:r>
              <a:rPr lang="zh-CN" altLang="zh-CN" sz="2200" dirty="0">
                <a:solidFill>
                  <a:srgbClr val="0000FF"/>
                </a:solidFill>
              </a:rPr>
              <a:t>（</a:t>
            </a:r>
            <a:r>
              <a:rPr lang="en-US" altLang="zh-CN" sz="2200" dirty="0">
                <a:solidFill>
                  <a:srgbClr val="0000FF"/>
                </a:solidFill>
              </a:rPr>
              <a:t>2</a:t>
            </a:r>
            <a:r>
              <a:rPr lang="zh-CN" altLang="zh-CN" sz="2200" dirty="0">
                <a:solidFill>
                  <a:srgbClr val="0000FF"/>
                </a:solidFill>
              </a:rPr>
              <a:t>）</a:t>
            </a:r>
            <a:r>
              <a:rPr lang="en-US" altLang="zh-CN" sz="2200" dirty="0">
                <a:solidFill>
                  <a:srgbClr val="0000FF"/>
                </a:solidFill>
              </a:rPr>
              <a:t>A</a:t>
            </a:r>
            <a:r>
              <a:rPr lang="zh-CN" altLang="zh-CN" sz="2200" dirty="0">
                <a:solidFill>
                  <a:srgbClr val="0000FF"/>
                </a:solidFill>
              </a:rPr>
              <a:t>的继承属性。</a:t>
            </a:r>
            <a:endParaRPr lang="zh-CN" altLang="en-US" sz="2200" dirty="0">
              <a:solidFill>
                <a:srgbClr val="0000FF"/>
              </a:solidFill>
            </a:endParaRPr>
          </a:p>
        </p:txBody>
      </p:sp>
    </p:spTree>
    <p:extLst>
      <p:ext uri="{BB962C8B-B14F-4D97-AF65-F5344CB8AC3E}">
        <p14:creationId xmlns:p14="http://schemas.microsoft.com/office/powerpoint/2010/main" val="174024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9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7908" grpId="0"/>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11124" y="0"/>
            <a:ext cx="3336740" cy="529828"/>
          </a:xfrm>
        </p:spPr>
        <p:txBody>
          <a:bodyPr>
            <a:noAutofit/>
          </a:bodyPr>
          <a:lstStyle/>
          <a:p>
            <a:r>
              <a:rPr lang="en-US" altLang="zh-CN" dirty="0">
                <a:solidFill>
                  <a:schemeClr val="tx1"/>
                </a:solidFill>
              </a:rPr>
              <a:t>L-</a:t>
            </a:r>
            <a:r>
              <a:rPr lang="zh-CN" altLang="zh-CN" dirty="0">
                <a:solidFill>
                  <a:schemeClr val="tx1"/>
                </a:solidFill>
              </a:rPr>
              <a:t>属性文法</a:t>
            </a:r>
            <a:endParaRPr lang="zh-CN" altLang="en-US" dirty="0">
              <a:solidFill>
                <a:schemeClr val="tx1"/>
              </a:solidFill>
            </a:endParaRPr>
          </a:p>
        </p:txBody>
      </p:sp>
      <p:sp>
        <p:nvSpPr>
          <p:cNvPr id="39939" name="内容占位符 2"/>
          <p:cNvSpPr>
            <a:spLocks noGrp="1"/>
          </p:cNvSpPr>
          <p:nvPr>
            <p:ph idx="1"/>
          </p:nvPr>
        </p:nvSpPr>
        <p:spPr>
          <a:xfrm>
            <a:off x="323529" y="627534"/>
            <a:ext cx="8352928" cy="2088232"/>
          </a:xfrm>
        </p:spPr>
        <p:txBody>
          <a:bodyPr>
            <a:noAutofit/>
          </a:bodyPr>
          <a:lstStyle/>
          <a:p>
            <a:pPr>
              <a:lnSpc>
                <a:spcPct val="120000"/>
              </a:lnSpc>
              <a:spcBef>
                <a:spcPts val="0"/>
              </a:spcBef>
            </a:pPr>
            <a:r>
              <a:rPr lang="zh-CN" altLang="zh-CN" sz="2200" dirty="0"/>
              <a:t>如果对于文法中的每个产生式</a:t>
            </a:r>
            <a:r>
              <a:rPr lang="en-US" altLang="zh-CN" sz="2200" dirty="0"/>
              <a:t>A</a:t>
            </a:r>
            <a:r>
              <a:rPr lang="zh-CN" altLang="zh-CN" sz="2200" dirty="0"/>
              <a:t>→</a:t>
            </a:r>
            <a:r>
              <a:rPr lang="en-US" altLang="zh-CN" sz="2200" dirty="0"/>
              <a:t>X</a:t>
            </a:r>
            <a:r>
              <a:rPr lang="en-US" altLang="zh-CN" sz="2200" baseline="-25000" dirty="0"/>
              <a:t>1</a:t>
            </a:r>
            <a:r>
              <a:rPr lang="en-US" altLang="zh-CN" sz="2200" dirty="0"/>
              <a:t>X</a:t>
            </a:r>
            <a:r>
              <a:rPr lang="en-US" altLang="zh-CN" sz="2200" baseline="-25000" dirty="0"/>
              <a:t>2</a:t>
            </a:r>
            <a:r>
              <a:rPr lang="en-US" altLang="zh-CN" sz="2200" dirty="0"/>
              <a:t>……</a:t>
            </a:r>
            <a:r>
              <a:rPr lang="en-US" altLang="zh-CN" sz="2200" dirty="0" err="1"/>
              <a:t>X</a:t>
            </a:r>
            <a:r>
              <a:rPr lang="en-US" altLang="zh-CN" sz="2200" baseline="-25000" dirty="0" err="1"/>
              <a:t>n</a:t>
            </a:r>
            <a:r>
              <a:rPr lang="zh-CN" altLang="zh-CN" sz="2200" dirty="0"/>
              <a:t>，其每个语义规则中的每个属性或者是</a:t>
            </a:r>
            <a:r>
              <a:rPr lang="zh-CN" altLang="zh-CN" sz="2200" dirty="0">
                <a:solidFill>
                  <a:srgbClr val="FF0000"/>
                </a:solidFill>
              </a:rPr>
              <a:t>综合属性</a:t>
            </a:r>
            <a:r>
              <a:rPr lang="zh-CN" altLang="zh-CN" sz="2200" dirty="0"/>
              <a:t>，或者是</a:t>
            </a:r>
            <a:r>
              <a:rPr lang="en-US" altLang="zh-CN" sz="2200" dirty="0" err="1"/>
              <a:t>X</a:t>
            </a:r>
            <a:r>
              <a:rPr lang="en-US" altLang="zh-CN" sz="2200" baseline="-25000" dirty="0" err="1"/>
              <a:t>j</a:t>
            </a:r>
            <a:r>
              <a:rPr lang="zh-CN" altLang="zh-CN" sz="2200" dirty="0"/>
              <a:t>（</a:t>
            </a:r>
            <a:r>
              <a:rPr lang="en-US" altLang="zh-CN" sz="2200" dirty="0"/>
              <a:t>1</a:t>
            </a:r>
            <a:r>
              <a:rPr lang="zh-CN" altLang="zh-CN" sz="2200" dirty="0"/>
              <a:t>≤</a:t>
            </a:r>
            <a:r>
              <a:rPr lang="en-US" altLang="zh-CN" sz="2200" dirty="0"/>
              <a:t>j</a:t>
            </a:r>
            <a:r>
              <a:rPr lang="zh-CN" altLang="zh-CN" sz="2200" dirty="0"/>
              <a:t>≤</a:t>
            </a:r>
            <a:r>
              <a:rPr lang="en-US" altLang="zh-CN" sz="2200" dirty="0"/>
              <a:t>n</a:t>
            </a:r>
            <a:r>
              <a:rPr lang="zh-CN" altLang="zh-CN" sz="2200" dirty="0"/>
              <a:t>）的一个继承属性，且这个继承属性仅仅依赖于下列两种属性。</a:t>
            </a:r>
          </a:p>
          <a:p>
            <a:pPr>
              <a:lnSpc>
                <a:spcPct val="120000"/>
              </a:lnSpc>
              <a:spcBef>
                <a:spcPts val="0"/>
              </a:spcBef>
            </a:pPr>
            <a:r>
              <a:rPr lang="zh-CN" altLang="zh-CN" sz="2200" dirty="0"/>
              <a:t>（</a:t>
            </a:r>
            <a:r>
              <a:rPr lang="en-US" altLang="zh-CN" sz="2200" dirty="0"/>
              <a:t>1</a:t>
            </a:r>
            <a:r>
              <a:rPr lang="zh-CN" altLang="zh-CN" sz="2200" dirty="0"/>
              <a:t>）产生式中</a:t>
            </a:r>
            <a:r>
              <a:rPr lang="en-US" altLang="zh-CN" sz="2200" dirty="0" err="1"/>
              <a:t>X</a:t>
            </a:r>
            <a:r>
              <a:rPr lang="en-US" altLang="zh-CN" sz="2200" baseline="-25000" dirty="0" err="1"/>
              <a:t>j</a:t>
            </a:r>
            <a:r>
              <a:rPr lang="zh-CN" altLang="zh-CN" sz="2200" dirty="0"/>
              <a:t>左边的文法符号</a:t>
            </a:r>
            <a:r>
              <a:rPr lang="en-US" altLang="zh-CN" sz="2200" dirty="0"/>
              <a:t>X</a:t>
            </a:r>
            <a:r>
              <a:rPr lang="en-US" altLang="zh-CN" sz="2200" baseline="-25000" dirty="0"/>
              <a:t>1</a:t>
            </a:r>
            <a:r>
              <a:rPr lang="en-US" altLang="zh-CN" sz="2200" dirty="0"/>
              <a:t>X</a:t>
            </a:r>
            <a:r>
              <a:rPr lang="en-US" altLang="zh-CN" sz="2200" baseline="-25000" dirty="0"/>
              <a:t>2</a:t>
            </a:r>
            <a:r>
              <a:rPr lang="en-US" altLang="zh-CN" sz="2200" dirty="0"/>
              <a:t>......X</a:t>
            </a:r>
            <a:r>
              <a:rPr lang="en-US" altLang="zh-CN" sz="2200" baseline="-25000" dirty="0"/>
              <a:t>j-1</a:t>
            </a:r>
            <a:r>
              <a:rPr lang="zh-CN" altLang="zh-CN" sz="2200" dirty="0"/>
              <a:t>的属性。</a:t>
            </a:r>
          </a:p>
          <a:p>
            <a:pPr>
              <a:lnSpc>
                <a:spcPct val="120000"/>
              </a:lnSpc>
              <a:spcBef>
                <a:spcPts val="0"/>
              </a:spcBef>
            </a:pPr>
            <a:r>
              <a:rPr lang="zh-CN" altLang="zh-CN" sz="2200" dirty="0"/>
              <a:t>（</a:t>
            </a:r>
            <a:r>
              <a:rPr lang="en-US" altLang="zh-CN" sz="2200" dirty="0"/>
              <a:t>2</a:t>
            </a:r>
            <a:r>
              <a:rPr lang="zh-CN" altLang="zh-CN" sz="2200" dirty="0"/>
              <a:t>）</a:t>
            </a:r>
            <a:r>
              <a:rPr lang="en-US" altLang="zh-CN" sz="2200" dirty="0"/>
              <a:t>A</a:t>
            </a:r>
            <a:r>
              <a:rPr lang="zh-CN" altLang="zh-CN" sz="2200" dirty="0"/>
              <a:t>的继承属性。</a:t>
            </a:r>
            <a:endParaRPr lang="zh-CN" altLang="en-US" sz="2200" dirty="0"/>
          </a:p>
        </p:txBody>
      </p:sp>
      <p:sp>
        <p:nvSpPr>
          <p:cNvPr id="6" name="矩形 5"/>
          <p:cNvSpPr/>
          <p:nvPr/>
        </p:nvSpPr>
        <p:spPr>
          <a:xfrm>
            <a:off x="323528" y="2997408"/>
            <a:ext cx="8424936" cy="178510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342900" indent="-342900" eaLnBrk="1" hangingPunct="1">
              <a:lnSpc>
                <a:spcPct val="100000"/>
              </a:lnSpc>
              <a:spcBef>
                <a:spcPct val="0"/>
              </a:spcBef>
              <a:buFont typeface="Arial" panose="020B0604020202020204" pitchFamily="34" charset="0"/>
              <a:buChar char="•"/>
              <a:defRPr/>
            </a:pPr>
            <a:r>
              <a:rPr lang="en-US" altLang="zh-CN" sz="2200" dirty="0">
                <a:latin typeface="宋体" panose="02010600030101010101" pitchFamily="2" charset="-122"/>
                <a:ea typeface="宋体" panose="02010600030101010101" pitchFamily="2" charset="-122"/>
              </a:rPr>
              <a:t>S-</a:t>
            </a:r>
            <a:r>
              <a:rPr lang="zh-CN" altLang="zh-CN" sz="2200" dirty="0">
                <a:latin typeface="宋体" panose="02010600030101010101" pitchFamily="2" charset="-122"/>
                <a:ea typeface="宋体" panose="02010600030101010101" pitchFamily="2" charset="-122"/>
              </a:rPr>
              <a:t>属性文法只含有综合属性，由</a:t>
            </a:r>
            <a:r>
              <a:rPr lang="en-US" altLang="zh-CN" sz="2200" dirty="0">
                <a:latin typeface="宋体" panose="02010600030101010101" pitchFamily="2" charset="-122"/>
                <a:ea typeface="宋体" panose="02010600030101010101" pitchFamily="2" charset="-122"/>
              </a:rPr>
              <a:t>L-</a:t>
            </a:r>
            <a:r>
              <a:rPr lang="zh-CN" altLang="zh-CN" sz="2200" dirty="0">
                <a:latin typeface="宋体" panose="02010600030101010101" pitchFamily="2" charset="-122"/>
                <a:ea typeface="宋体" panose="02010600030101010101" pitchFamily="2" charset="-122"/>
              </a:rPr>
              <a:t>属性文法的定义可见，</a:t>
            </a:r>
            <a:r>
              <a:rPr lang="en-US" altLang="zh-CN" sz="2200" b="1" dirty="0">
                <a:solidFill>
                  <a:srgbClr val="FF0000"/>
                </a:solidFill>
                <a:latin typeface="宋体" panose="02010600030101010101" pitchFamily="2" charset="-122"/>
                <a:ea typeface="宋体" panose="02010600030101010101" pitchFamily="2" charset="-122"/>
              </a:rPr>
              <a:t>S-</a:t>
            </a:r>
            <a:r>
              <a:rPr lang="zh-CN" altLang="zh-CN" sz="2200" b="1" dirty="0">
                <a:solidFill>
                  <a:srgbClr val="FF0000"/>
                </a:solidFill>
                <a:latin typeface="宋体" panose="02010600030101010101" pitchFamily="2" charset="-122"/>
                <a:ea typeface="宋体" panose="02010600030101010101" pitchFamily="2" charset="-122"/>
              </a:rPr>
              <a:t>属性文法一定是</a:t>
            </a:r>
            <a:r>
              <a:rPr lang="en-US" altLang="zh-CN" sz="2200" b="1" dirty="0">
                <a:solidFill>
                  <a:srgbClr val="FF0000"/>
                </a:solidFill>
                <a:latin typeface="宋体" panose="02010600030101010101" pitchFamily="2" charset="-122"/>
                <a:ea typeface="宋体" panose="02010600030101010101" pitchFamily="2" charset="-122"/>
              </a:rPr>
              <a:t>L-</a:t>
            </a:r>
            <a:r>
              <a:rPr lang="zh-CN" altLang="zh-CN" sz="2200" b="1" dirty="0">
                <a:solidFill>
                  <a:srgbClr val="FF0000"/>
                </a:solidFill>
                <a:latin typeface="宋体" panose="02010600030101010101" pitchFamily="2" charset="-122"/>
                <a:ea typeface="宋体" panose="02010600030101010101" pitchFamily="2" charset="-122"/>
              </a:rPr>
              <a:t>属性文法</a:t>
            </a:r>
            <a:endParaRPr lang="en-US" altLang="zh-CN" sz="2200" dirty="0">
              <a:latin typeface="宋体" panose="02010600030101010101" pitchFamily="2" charset="-122"/>
              <a:ea typeface="宋体" panose="02010600030101010101" pitchFamily="2" charset="-122"/>
            </a:endParaRPr>
          </a:p>
          <a:p>
            <a:pPr marL="342900" indent="-342900" eaLnBrk="1" hangingPunct="1">
              <a:lnSpc>
                <a:spcPct val="100000"/>
              </a:lnSpc>
              <a:spcBef>
                <a:spcPct val="0"/>
              </a:spcBef>
              <a:buFont typeface="Arial" panose="020B0604020202020204" pitchFamily="34" charset="0"/>
              <a:buChar char="•"/>
              <a:defRPr/>
            </a:pPr>
            <a:r>
              <a:rPr lang="en-US" altLang="zh-CN" sz="2200" dirty="0">
                <a:latin typeface="宋体" panose="02010600030101010101" pitchFamily="2" charset="-122"/>
                <a:ea typeface="宋体" panose="02010600030101010101" pitchFamily="2" charset="-122"/>
              </a:rPr>
              <a:t>S-</a:t>
            </a:r>
            <a:r>
              <a:rPr lang="zh-CN" altLang="zh-CN" sz="2200" dirty="0">
                <a:latin typeface="宋体" panose="02010600030101010101" pitchFamily="2" charset="-122"/>
                <a:ea typeface="宋体" panose="02010600030101010101" pitchFamily="2" charset="-122"/>
              </a:rPr>
              <a:t>属性文法能够用于自下而上语法分析的同时进行语义计算</a:t>
            </a:r>
            <a:endParaRPr lang="en-US" altLang="zh-CN" sz="2200" dirty="0">
              <a:latin typeface="宋体" panose="02010600030101010101" pitchFamily="2" charset="-122"/>
              <a:ea typeface="宋体" panose="02010600030101010101" pitchFamily="2" charset="-122"/>
            </a:endParaRPr>
          </a:p>
          <a:p>
            <a:pPr marL="342900" indent="-342900" eaLnBrk="1" hangingPunct="1">
              <a:lnSpc>
                <a:spcPct val="100000"/>
              </a:lnSpc>
              <a:spcBef>
                <a:spcPct val="0"/>
              </a:spcBef>
              <a:buFont typeface="Arial" panose="020B0604020202020204" pitchFamily="34" charset="0"/>
              <a:buChar char="•"/>
              <a:defRPr/>
            </a:pPr>
            <a:r>
              <a:rPr lang="zh-CN" altLang="zh-CN" sz="2200" dirty="0">
                <a:latin typeface="宋体" panose="02010600030101010101" pitchFamily="2" charset="-122"/>
                <a:ea typeface="宋体" panose="02010600030101010101" pitchFamily="2" charset="-122"/>
              </a:rPr>
              <a:t>其他</a:t>
            </a:r>
            <a:r>
              <a:rPr lang="zh-CN" altLang="zh-CN" sz="2200" dirty="0">
                <a:solidFill>
                  <a:srgbClr val="0000FF"/>
                </a:solidFill>
                <a:latin typeface="宋体" panose="02010600030101010101" pitchFamily="2" charset="-122"/>
                <a:ea typeface="宋体" panose="02010600030101010101" pitchFamily="2" charset="-122"/>
              </a:rPr>
              <a:t>含有继承属性的</a:t>
            </a:r>
            <a:r>
              <a:rPr lang="en-US" altLang="zh-CN" sz="2200" dirty="0">
                <a:solidFill>
                  <a:srgbClr val="0000FF"/>
                </a:solidFill>
                <a:latin typeface="宋体" panose="02010600030101010101" pitchFamily="2" charset="-122"/>
                <a:ea typeface="宋体" panose="02010600030101010101" pitchFamily="2" charset="-122"/>
              </a:rPr>
              <a:t>L-</a:t>
            </a:r>
            <a:r>
              <a:rPr lang="zh-CN" altLang="zh-CN" sz="2200" dirty="0">
                <a:solidFill>
                  <a:srgbClr val="0000FF"/>
                </a:solidFill>
                <a:latin typeface="宋体" panose="02010600030101010101" pitchFamily="2" charset="-122"/>
                <a:ea typeface="宋体" panose="02010600030101010101" pitchFamily="2" charset="-122"/>
              </a:rPr>
              <a:t>属性文法</a:t>
            </a:r>
            <a:r>
              <a:rPr lang="zh-CN" altLang="zh-CN" sz="2200" dirty="0">
                <a:latin typeface="宋体" panose="02010600030101010101" pitchFamily="2" charset="-122"/>
                <a:ea typeface="宋体" panose="02010600030101010101" pitchFamily="2" charset="-122"/>
              </a:rPr>
              <a:t>，适合于在自上而下的语法分析的同时进行语义的计算</a:t>
            </a:r>
            <a:endParaRPr lang="zh-CN" altLang="en-US" sz="2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6863681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6266459" cy="1323439"/>
          </a:xfrm>
          <a:prstGeom prst="rect">
            <a:avLst/>
          </a:prstGeom>
        </p:spPr>
        <p:txBody>
          <a:bodyPr wrap="none">
            <a:spAutoFit/>
          </a:bodyPr>
          <a:lstStyle/>
          <a:p>
            <a:r>
              <a:rPr lang="en-US" altLang="zh-CN" sz="4400" b="1" dirty="0">
                <a:solidFill>
                  <a:srgbClr val="CC0099"/>
                </a:solidFill>
                <a:ea typeface="隶书" pitchFamily="49" charset="-122"/>
              </a:rPr>
              <a:t>3</a:t>
            </a:r>
            <a:r>
              <a:rPr lang="zh-CN" altLang="en-US" sz="4400" b="1" dirty="0">
                <a:solidFill>
                  <a:srgbClr val="CC0099"/>
                </a:solidFill>
                <a:ea typeface="隶书" pitchFamily="49" charset="-122"/>
              </a:rPr>
              <a:t>、属性文法</a:t>
            </a:r>
            <a:endParaRPr lang="en-US" altLang="zh-CN" sz="4400" b="1" dirty="0">
              <a:solidFill>
                <a:srgbClr val="CC0099"/>
              </a:solidFill>
              <a:ea typeface="隶书" pitchFamily="49" charset="-122"/>
            </a:endParaRPr>
          </a:p>
          <a:p>
            <a:r>
              <a:rPr lang="en-US" altLang="zh-CN" sz="3600" b="1" dirty="0">
                <a:solidFill>
                  <a:srgbClr val="CC0099"/>
                </a:solidFill>
                <a:ea typeface="隶书" pitchFamily="49" charset="-122"/>
              </a:rPr>
              <a:t>     </a:t>
            </a:r>
            <a:r>
              <a:rPr lang="en-US" altLang="zh-CN" sz="3200" b="1" dirty="0">
                <a:solidFill>
                  <a:srgbClr val="CC0099"/>
                </a:solidFill>
                <a:ea typeface="隶书" pitchFamily="49" charset="-122"/>
              </a:rPr>
              <a:t>——</a:t>
            </a:r>
            <a:r>
              <a:rPr lang="zh-CN" altLang="en-US" sz="3200" b="1" dirty="0">
                <a:solidFill>
                  <a:srgbClr val="CC0099"/>
                </a:solidFill>
                <a:ea typeface="隶书" pitchFamily="49" charset="-122"/>
              </a:rPr>
              <a:t>语法制导翻译的具体实现</a:t>
            </a:r>
            <a:endParaRPr lang="zh-CN" altLang="en-US" sz="3200" dirty="0"/>
          </a:p>
        </p:txBody>
      </p:sp>
    </p:spTree>
    <p:extLst>
      <p:ext uri="{BB962C8B-B14F-4D97-AF65-F5344CB8AC3E}">
        <p14:creationId xmlns:p14="http://schemas.microsoft.com/office/powerpoint/2010/main" val="24433236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normAutofit fontScale="90000"/>
          </a:bodyPr>
          <a:lstStyle/>
          <a:p>
            <a:r>
              <a:rPr lang="en-US" altLang="zh-CN"/>
              <a:t>5.3.4 </a:t>
            </a:r>
            <a:r>
              <a:rPr lang="zh-CN" altLang="zh-CN"/>
              <a:t>语法制导翻译的实现方法</a:t>
            </a:r>
            <a:endParaRPr lang="zh-CN" altLang="en-US"/>
          </a:p>
        </p:txBody>
      </p:sp>
      <p:sp>
        <p:nvSpPr>
          <p:cNvPr id="40963" name="内容占位符 2"/>
          <p:cNvSpPr>
            <a:spLocks noGrp="1"/>
          </p:cNvSpPr>
          <p:nvPr>
            <p:ph idx="1"/>
          </p:nvPr>
        </p:nvSpPr>
        <p:spPr>
          <a:xfrm>
            <a:off x="395536" y="771550"/>
            <a:ext cx="8229600" cy="4104456"/>
          </a:xfrm>
          <a:solidFill>
            <a:schemeClr val="bg1"/>
          </a:solidFill>
        </p:spPr>
        <p:txBody>
          <a:bodyPr>
            <a:noAutofit/>
          </a:bodyPr>
          <a:lstStyle/>
          <a:p>
            <a:pPr>
              <a:lnSpc>
                <a:spcPct val="110000"/>
              </a:lnSpc>
              <a:spcBef>
                <a:spcPts val="0"/>
              </a:spcBef>
            </a:pPr>
            <a:r>
              <a:rPr lang="zh-CN" altLang="zh-CN" sz="2200" b="1" dirty="0">
                <a:solidFill>
                  <a:srgbClr val="FF0000"/>
                </a:solidFill>
              </a:rPr>
              <a:t>1</a:t>
            </a:r>
            <a:r>
              <a:rPr lang="zh-CN" altLang="zh-CN" sz="2200" dirty="0">
                <a:solidFill>
                  <a:srgbClr val="FF0000"/>
                </a:solidFill>
              </a:rPr>
              <a:t>．</a:t>
            </a:r>
            <a:r>
              <a:rPr lang="zh-CN" altLang="zh-CN" sz="2200" b="1" dirty="0">
                <a:solidFill>
                  <a:srgbClr val="FF0000"/>
                </a:solidFill>
              </a:rPr>
              <a:t>翻译模式</a:t>
            </a:r>
          </a:p>
          <a:p>
            <a:pPr lvl="1">
              <a:lnSpc>
                <a:spcPct val="110000"/>
              </a:lnSpc>
              <a:spcBef>
                <a:spcPts val="0"/>
              </a:spcBef>
            </a:pPr>
            <a:r>
              <a:rPr lang="zh-CN" altLang="zh-CN" dirty="0"/>
              <a:t>属性文法可以看作是关于语言翻译的高级规范说明，隐藏了实现细节。</a:t>
            </a:r>
            <a:r>
              <a:rPr lang="zh-CN" altLang="en-US" dirty="0"/>
              <a:t>即</a:t>
            </a:r>
            <a:r>
              <a:rPr lang="zh-CN" altLang="zh-CN" dirty="0"/>
              <a:t>属性文法只给出了每个产生式对应的语义规则，说明了属性之间的依赖关系或者计算关系，并</a:t>
            </a:r>
            <a:r>
              <a:rPr lang="zh-CN" altLang="zh-CN" dirty="0">
                <a:solidFill>
                  <a:srgbClr val="FF0000"/>
                </a:solidFill>
              </a:rPr>
              <a:t>没有明确说明</a:t>
            </a:r>
            <a:r>
              <a:rPr lang="zh-CN" altLang="zh-CN" dirty="0"/>
              <a:t>使用语义规则进行</a:t>
            </a:r>
            <a:r>
              <a:rPr lang="zh-CN" altLang="zh-CN" dirty="0">
                <a:solidFill>
                  <a:srgbClr val="FF0000"/>
                </a:solidFill>
              </a:rPr>
              <a:t>计算的次序</a:t>
            </a:r>
            <a:r>
              <a:rPr lang="zh-CN" altLang="zh-CN" dirty="0"/>
              <a:t>。</a:t>
            </a:r>
            <a:endParaRPr lang="en-US" altLang="zh-CN" dirty="0"/>
          </a:p>
          <a:p>
            <a:pPr lvl="1">
              <a:lnSpc>
                <a:spcPct val="110000"/>
              </a:lnSpc>
              <a:spcBef>
                <a:spcPts val="0"/>
              </a:spcBef>
            </a:pPr>
            <a:r>
              <a:rPr lang="zh-CN" altLang="zh-CN" dirty="0"/>
              <a:t>如果希望一次遍历就能完成语法和语义的计算，当产生式右部有多个文法符号的多个属性需要计算时，可能需要选定一个恰当的顺序，因为有些属性需要依赖于另一些属性的计算结果，有些属性需要在产生的过程中去使用。</a:t>
            </a:r>
            <a:endParaRPr lang="en-US" altLang="zh-CN" dirty="0"/>
          </a:p>
          <a:p>
            <a:pPr lvl="1">
              <a:lnSpc>
                <a:spcPct val="110000"/>
              </a:lnSpc>
              <a:spcBef>
                <a:spcPts val="0"/>
              </a:spcBef>
            </a:pPr>
            <a:r>
              <a:rPr lang="zh-CN" altLang="zh-CN" dirty="0"/>
              <a:t>这样就需要把某些语义规则穿插到一个产生式归约或推导的过程中去完成计算。</a:t>
            </a:r>
          </a:p>
          <a:p>
            <a:pPr>
              <a:lnSpc>
                <a:spcPct val="110000"/>
              </a:lnSpc>
              <a:spcBef>
                <a:spcPts val="0"/>
              </a:spcBef>
            </a:pPr>
            <a:endParaRPr lang="zh-CN" altLang="en-US" sz="2200" dirty="0"/>
          </a:p>
        </p:txBody>
      </p:sp>
    </p:spTree>
    <p:extLst>
      <p:ext uri="{BB962C8B-B14F-4D97-AF65-F5344CB8AC3E}">
        <p14:creationId xmlns:p14="http://schemas.microsoft.com/office/powerpoint/2010/main" val="1407474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96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uiExpand="1" build="p"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72472" y="51470"/>
            <a:ext cx="5435632" cy="1168250"/>
          </a:xfrm>
        </p:spPr>
        <p:txBody>
          <a:bodyPr>
            <a:normAutofit fontScale="90000"/>
          </a:bodyPr>
          <a:lstStyle/>
          <a:p>
            <a:pPr algn="l"/>
            <a:r>
              <a:rPr lang="zh-CN" altLang="zh-CN" sz="2200" dirty="0">
                <a:solidFill>
                  <a:schemeClr val="tx1"/>
                </a:solidFill>
                <a:latin typeface="宋体" panose="02010600030101010101" pitchFamily="2" charset="-122"/>
                <a:ea typeface="宋体" panose="02010600030101010101" pitchFamily="2" charset="-122"/>
              </a:rPr>
              <a:t>例</a:t>
            </a:r>
            <a:r>
              <a:rPr lang="en-US" altLang="zh-CN" sz="2200" dirty="0">
                <a:solidFill>
                  <a:schemeClr val="tx1"/>
                </a:solidFill>
                <a:latin typeface="宋体" panose="02010600030101010101" pitchFamily="2" charset="-122"/>
                <a:ea typeface="宋体" panose="02010600030101010101" pitchFamily="2" charset="-122"/>
              </a:rPr>
              <a:t>5.10 </a:t>
            </a:r>
            <a:r>
              <a:rPr lang="zh-CN" altLang="en-US" sz="2200" dirty="0">
                <a:solidFill>
                  <a:schemeClr val="tx1"/>
                </a:solidFill>
                <a:latin typeface="宋体" panose="02010600030101010101" pitchFamily="2" charset="-122"/>
                <a:ea typeface="宋体" panose="02010600030101010101" pitchFamily="2" charset="-122"/>
              </a:rPr>
              <a:t>右面是</a:t>
            </a:r>
            <a:r>
              <a:rPr lang="zh-CN" altLang="zh-CN" sz="2200" dirty="0">
                <a:solidFill>
                  <a:schemeClr val="tx1"/>
                </a:solidFill>
                <a:latin typeface="宋体" panose="02010600030101010101" pitchFamily="2" charset="-122"/>
                <a:ea typeface="宋体" panose="02010600030101010101" pitchFamily="2" charset="-122"/>
              </a:rPr>
              <a:t>是简单表达式的属性文法，其语义规则是将中缀表示形式改写成后缀表示形式，此处只定义了产生式对应的语义规则，没有定义各语义规则应该在什么时候执行？</a:t>
            </a:r>
            <a:endParaRPr lang="zh-CN" altLang="en-US" sz="2200" dirty="0">
              <a:solidFill>
                <a:schemeClr val="tx1"/>
              </a:solidFill>
              <a:latin typeface="宋体" panose="02010600030101010101" pitchFamily="2" charset="-122"/>
              <a:ea typeface="宋体" panose="02010600030101010101" pitchFamily="2" charset="-122"/>
            </a:endParaRPr>
          </a:p>
        </p:txBody>
      </p:sp>
      <p:graphicFrame>
        <p:nvGraphicFramePr>
          <p:cNvPr id="4" name="内容占位符 3"/>
          <p:cNvGraphicFramePr>
            <a:graphicFrameLocks noGrp="1"/>
          </p:cNvGraphicFramePr>
          <p:nvPr>
            <p:ph idx="1"/>
            <p:extLst>
              <p:ext uri="{D42A27DB-BD31-4B8C-83A1-F6EECF244321}">
                <p14:modId xmlns:p14="http://schemas.microsoft.com/office/powerpoint/2010/main" val="3980102586"/>
              </p:ext>
            </p:extLst>
          </p:nvPr>
        </p:nvGraphicFramePr>
        <p:xfrm>
          <a:off x="5665128" y="-53514"/>
          <a:ext cx="3456384" cy="1596292"/>
        </p:xfrm>
        <a:graphic>
          <a:graphicData uri="http://schemas.openxmlformats.org/drawingml/2006/table">
            <a:tbl>
              <a:tblPr firstRow="1" firstCol="1" bandRow="1">
                <a:tableStyleId>{5C22544A-7EE6-4342-B048-85BDC9FD1C3A}</a:tableStyleId>
              </a:tblPr>
              <a:tblGrid>
                <a:gridCol w="1873411">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227839">
                <a:tc>
                  <a:txBody>
                    <a:bodyPr/>
                    <a:lstStyle/>
                    <a:p>
                      <a:pPr algn="just">
                        <a:spcAft>
                          <a:spcPts val="0"/>
                        </a:spcAft>
                      </a:pPr>
                      <a:r>
                        <a:rPr lang="zh-CN" sz="1700" b="0" kern="100" dirty="0">
                          <a:solidFill>
                            <a:schemeClr val="tx1"/>
                          </a:solidFill>
                          <a:effectLst/>
                        </a:rPr>
                        <a:t>产生式</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1700" b="0" kern="100">
                          <a:solidFill>
                            <a:schemeClr val="tx1"/>
                          </a:solidFill>
                          <a:effectLst/>
                        </a:rPr>
                        <a:t>语义规则</a:t>
                      </a:r>
                      <a:endParaRPr lang="zh-CN" sz="1700" b="0" kern="10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1</a:t>
                      </a:r>
                      <a:r>
                        <a:rPr lang="zh-CN" sz="1700" b="0" kern="100" dirty="0">
                          <a:solidFill>
                            <a:schemeClr val="tx1"/>
                          </a:solidFill>
                          <a:effectLst/>
                        </a:rPr>
                        <a:t>）</a:t>
                      </a:r>
                      <a:r>
                        <a:rPr lang="pt-PT" sz="1700" b="0" kern="100" dirty="0">
                          <a:solidFill>
                            <a:schemeClr val="tx1"/>
                          </a:solidFill>
                          <a:effectLst/>
                        </a:rPr>
                        <a:t> E → 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a:solidFill>
                            <a:schemeClr val="tx1"/>
                          </a:solidFill>
                          <a:effectLst/>
                        </a:rPr>
                        <a:t> </a:t>
                      </a:r>
                      <a:endParaRPr lang="zh-CN" sz="1700" b="0" kern="10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2</a:t>
                      </a:r>
                      <a:r>
                        <a:rPr lang="zh-CN" sz="1700" b="0" kern="100" dirty="0">
                          <a:solidFill>
                            <a:schemeClr val="tx1"/>
                          </a:solidFill>
                          <a:effectLst/>
                        </a:rPr>
                        <a:t>）</a:t>
                      </a:r>
                      <a:r>
                        <a:rPr lang="pt-PT" sz="1700" b="0" kern="100" dirty="0">
                          <a:solidFill>
                            <a:schemeClr val="tx1"/>
                          </a:solidFill>
                          <a:effectLst/>
                        </a:rPr>
                        <a:t> E' →+TE'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dirty="0">
                          <a:solidFill>
                            <a:schemeClr val="tx1"/>
                          </a:solidFill>
                          <a:effectLst/>
                        </a:rPr>
                        <a:t>print(</a:t>
                      </a:r>
                      <a:r>
                        <a:rPr lang="pt-PT" altLang="zh-CN" sz="1700" b="0" kern="100" dirty="0">
                          <a:solidFill>
                            <a:schemeClr val="tx1"/>
                          </a:solidFill>
                          <a:effectLst/>
                        </a:rPr>
                        <a:t>'</a:t>
                      </a:r>
                      <a:r>
                        <a:rPr lang="pt-PT" sz="1700" b="0" kern="100" dirty="0">
                          <a:solidFill>
                            <a:schemeClr val="tx1"/>
                          </a:solidFill>
                          <a:effectLst/>
                        </a:rPr>
                        <a:t>+</a:t>
                      </a:r>
                      <a:r>
                        <a:rPr lang="pt-PT" altLang="zh-CN" sz="1700" b="0" kern="100" dirty="0">
                          <a:solidFill>
                            <a:schemeClr val="tx1"/>
                          </a:solidFill>
                          <a:effectLst/>
                        </a:rPr>
                        <a:t>'</a:t>
                      </a:r>
                      <a:r>
                        <a:rPr lang="pt-PT" sz="1700" b="0" kern="100" dirty="0">
                          <a:solidFill>
                            <a:schemeClr val="tx1"/>
                          </a:solidFill>
                          <a:effectLst/>
                        </a:rPr>
                        <a:t>)</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3</a:t>
                      </a:r>
                      <a:r>
                        <a:rPr lang="zh-CN" sz="1700" b="0" kern="100" dirty="0">
                          <a:solidFill>
                            <a:schemeClr val="tx1"/>
                          </a:solidFill>
                          <a:effectLst/>
                        </a:rPr>
                        <a:t>）</a:t>
                      </a:r>
                      <a:r>
                        <a:rPr lang="pt-PT" sz="1700" b="0" kern="100" dirty="0">
                          <a:solidFill>
                            <a:schemeClr val="tx1"/>
                          </a:solidFill>
                          <a:effectLst/>
                        </a:rPr>
                        <a:t> E' →–TE'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dirty="0">
                          <a:solidFill>
                            <a:schemeClr val="tx1"/>
                          </a:solidFill>
                          <a:effectLst/>
                        </a:rPr>
                        <a:t>print(</a:t>
                      </a:r>
                      <a:r>
                        <a:rPr lang="pt-PT" altLang="zh-CN" sz="1700" b="0" kern="100" dirty="0">
                          <a:solidFill>
                            <a:schemeClr val="tx1"/>
                          </a:solidFill>
                          <a:effectLst/>
                        </a:rPr>
                        <a:t>'</a:t>
                      </a:r>
                      <a:r>
                        <a:rPr lang="pt-PT" sz="1700" b="0" kern="100" dirty="0">
                          <a:solidFill>
                            <a:schemeClr val="tx1"/>
                          </a:solidFill>
                          <a:effectLst/>
                        </a:rPr>
                        <a:t>–</a:t>
                      </a:r>
                      <a:r>
                        <a:rPr lang="pt-PT" altLang="zh-CN" sz="1700" b="0" kern="100" dirty="0">
                          <a:solidFill>
                            <a:schemeClr val="tx1"/>
                          </a:solidFill>
                          <a:effectLst/>
                        </a:rPr>
                        <a:t>'</a:t>
                      </a:r>
                      <a:r>
                        <a:rPr lang="pt-PT" sz="1700" b="0" kern="100" dirty="0">
                          <a:solidFill>
                            <a:schemeClr val="tx1"/>
                          </a:solidFill>
                          <a:effectLst/>
                        </a:rPr>
                        <a:t>)</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27839">
                <a:tc>
                  <a:txBody>
                    <a:bodyPr/>
                    <a:lstStyle/>
                    <a:p>
                      <a:pPr algn="just">
                        <a:spcAft>
                          <a:spcPts val="0"/>
                        </a:spcAft>
                      </a:pPr>
                      <a:r>
                        <a:rPr lang="zh-CN" sz="1700" b="0" kern="100">
                          <a:solidFill>
                            <a:schemeClr val="tx1"/>
                          </a:solidFill>
                          <a:effectLst/>
                        </a:rPr>
                        <a:t>（</a:t>
                      </a:r>
                      <a:r>
                        <a:rPr lang="pt-PT" sz="1700" b="0" kern="100">
                          <a:solidFill>
                            <a:schemeClr val="tx1"/>
                          </a:solidFill>
                          <a:effectLst/>
                        </a:rPr>
                        <a:t>4</a:t>
                      </a:r>
                      <a:r>
                        <a:rPr lang="zh-CN" sz="1700" b="0" kern="100">
                          <a:solidFill>
                            <a:schemeClr val="tx1"/>
                          </a:solidFill>
                          <a:effectLst/>
                        </a:rPr>
                        <a:t>）</a:t>
                      </a:r>
                      <a:r>
                        <a:rPr lang="pt-PT" sz="1700" b="0" kern="100">
                          <a:solidFill>
                            <a:schemeClr val="tx1"/>
                          </a:solidFill>
                          <a:effectLst/>
                        </a:rPr>
                        <a:t> E' →</a:t>
                      </a:r>
                      <a:r>
                        <a:rPr lang="en-US" sz="1700" b="0" kern="100">
                          <a:solidFill>
                            <a:schemeClr val="tx1"/>
                          </a:solidFill>
                          <a:effectLst/>
                          <a:sym typeface="Symbol" panose="05050102010706020507" pitchFamily="18" charset="2"/>
                        </a:rPr>
                        <a:t></a:t>
                      </a:r>
                      <a:endParaRPr lang="zh-CN" sz="1700" b="0" kern="10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a:solidFill>
                            <a:schemeClr val="tx1"/>
                          </a:solidFill>
                          <a:effectLst/>
                        </a:rPr>
                        <a:t> </a:t>
                      </a:r>
                      <a:endParaRPr lang="zh-CN" sz="1700" b="0" kern="10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00892">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5</a:t>
                      </a:r>
                      <a:r>
                        <a:rPr lang="zh-CN" sz="1700" b="0" kern="100" dirty="0">
                          <a:solidFill>
                            <a:schemeClr val="tx1"/>
                          </a:solidFill>
                          <a:effectLst/>
                        </a:rPr>
                        <a:t>）</a:t>
                      </a:r>
                      <a:r>
                        <a:rPr lang="pt-PT" sz="1700" b="0" kern="100" dirty="0">
                          <a:solidFill>
                            <a:schemeClr val="tx1"/>
                          </a:solidFill>
                          <a:effectLst/>
                        </a:rPr>
                        <a:t> T→ i </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dirty="0">
                          <a:solidFill>
                            <a:schemeClr val="tx1"/>
                          </a:solidFill>
                          <a:effectLst/>
                        </a:rPr>
                        <a:t>print(i.lexval)</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39963" name="对象 7"/>
          <p:cNvGraphicFramePr>
            <a:graphicFrameLocks noChangeAspect="1"/>
          </p:cNvGraphicFramePr>
          <p:nvPr>
            <p:extLst>
              <p:ext uri="{D42A27DB-BD31-4B8C-83A1-F6EECF244321}">
                <p14:modId xmlns:p14="http://schemas.microsoft.com/office/powerpoint/2010/main" val="4111596980"/>
              </p:ext>
            </p:extLst>
          </p:nvPr>
        </p:nvGraphicFramePr>
        <p:xfrm>
          <a:off x="4249738" y="1588897"/>
          <a:ext cx="4894262" cy="2301479"/>
        </p:xfrm>
        <a:graphic>
          <a:graphicData uri="http://schemas.openxmlformats.org/presentationml/2006/ole">
            <mc:AlternateContent xmlns:mc="http://schemas.openxmlformats.org/markup-compatibility/2006">
              <mc:Choice xmlns:v="urn:schemas-microsoft-com:vml" Requires="v">
                <p:oleObj spid="_x0000_s11269" name="Visio" r:id="rId3" imgW="3267197" imgH="1867619" progId="Visio.Drawing.11">
                  <p:embed/>
                </p:oleObj>
              </mc:Choice>
              <mc:Fallback>
                <p:oleObj name="Visio" r:id="rId3" imgW="3267197" imgH="1867619" progId="Visio.Drawing.11">
                  <p:embed/>
                  <p:pic>
                    <p:nvPicPr>
                      <p:cNvPr id="39963"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9738" y="1588897"/>
                        <a:ext cx="4894262" cy="2301479"/>
                      </a:xfrm>
                      <a:prstGeom prst="rect">
                        <a:avLst/>
                      </a:prstGeom>
                      <a:noFill/>
                      <a:ln>
                        <a:noFill/>
                      </a:ln>
                    </p:spPr>
                  </p:pic>
                </p:oleObj>
              </mc:Fallback>
            </mc:AlternateContent>
          </a:graphicData>
        </a:graphic>
      </p:graphicFrame>
      <p:sp>
        <p:nvSpPr>
          <p:cNvPr id="2" name="矩形 1"/>
          <p:cNvSpPr>
            <a:spLocks noChangeArrowheads="1"/>
          </p:cNvSpPr>
          <p:nvPr/>
        </p:nvSpPr>
        <p:spPr bwMode="auto">
          <a:xfrm>
            <a:off x="15632" y="3967763"/>
            <a:ext cx="8964488" cy="1200329"/>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r>
              <a:rPr lang="zh-CN" altLang="zh-CN" sz="1800" dirty="0"/>
              <a:t>产生式</a:t>
            </a:r>
            <a:r>
              <a:rPr lang="pt-PT" altLang="zh-CN" sz="1800" dirty="0"/>
              <a:t>E</a:t>
            </a:r>
            <a:r>
              <a:rPr lang="pt-PT" altLang="zh-CN" sz="1800" kern="100" dirty="0"/>
              <a:t>'</a:t>
            </a:r>
            <a:r>
              <a:rPr lang="pt-PT" altLang="zh-CN" sz="1800" dirty="0"/>
              <a:t>→</a:t>
            </a:r>
            <a:r>
              <a:rPr lang="pt-PT" altLang="zh-CN" sz="1800" dirty="0">
                <a:solidFill>
                  <a:prstClr val="black"/>
                </a:solidFill>
              </a:rPr>
              <a:t> –</a:t>
            </a:r>
            <a:r>
              <a:rPr lang="pt-PT" altLang="zh-CN" sz="1800" dirty="0"/>
              <a:t>TE</a:t>
            </a:r>
            <a:r>
              <a:rPr lang="pt-PT" altLang="zh-CN" sz="1800" kern="100" dirty="0"/>
              <a:t>'</a:t>
            </a:r>
            <a:r>
              <a:rPr lang="zh-CN" altLang="en-US" sz="1800" dirty="0"/>
              <a:t>的语义动作</a:t>
            </a:r>
            <a:r>
              <a:rPr lang="pt-PT" altLang="zh-CN" sz="1800" dirty="0"/>
              <a:t>print(</a:t>
            </a:r>
            <a:r>
              <a:rPr lang="pt-PT" altLang="zh-CN" sz="1800" kern="100" dirty="0"/>
              <a:t>'</a:t>
            </a:r>
            <a:r>
              <a:rPr lang="pt-PT" altLang="zh-CN" sz="1800" dirty="0">
                <a:solidFill>
                  <a:prstClr val="black"/>
                </a:solidFill>
              </a:rPr>
              <a:t>–</a:t>
            </a:r>
            <a:r>
              <a:rPr lang="pt-PT" altLang="zh-CN" sz="1800" kern="100" dirty="0"/>
              <a:t>'</a:t>
            </a:r>
            <a:r>
              <a:rPr lang="pt-PT" altLang="zh-CN" sz="1800" dirty="0"/>
              <a:t>)</a:t>
            </a:r>
            <a:r>
              <a:rPr lang="zh-CN" altLang="en-US" sz="1800" dirty="0"/>
              <a:t>，不能放在产生式最后去执行，也不能放在产生式最前面去执行，</a:t>
            </a:r>
            <a:r>
              <a:rPr lang="zh-CN" altLang="zh-CN" sz="1800" dirty="0"/>
              <a:t>实际</a:t>
            </a:r>
            <a:r>
              <a:rPr lang="zh-CN" altLang="en-US" sz="1800" dirty="0"/>
              <a:t>是在</a:t>
            </a:r>
            <a:r>
              <a:rPr lang="en-US" altLang="zh-CN" sz="1800" dirty="0"/>
              <a:t>T</a:t>
            </a:r>
            <a:r>
              <a:rPr lang="zh-CN" altLang="en-US" sz="1800" dirty="0"/>
              <a:t>和</a:t>
            </a:r>
            <a:r>
              <a:rPr lang="en-US" altLang="zh-CN" sz="1800" dirty="0"/>
              <a:t>E’</a:t>
            </a:r>
            <a:r>
              <a:rPr lang="zh-CN" altLang="en-US" sz="1800" dirty="0"/>
              <a:t>中间执行的，</a:t>
            </a:r>
            <a:r>
              <a:rPr lang="zh-CN" altLang="zh-CN" sz="1800" dirty="0"/>
              <a:t>可以写为：</a:t>
            </a:r>
            <a:r>
              <a:rPr lang="pt-PT" altLang="zh-CN" sz="1800" dirty="0">
                <a:solidFill>
                  <a:srgbClr val="FF0000"/>
                </a:solidFill>
              </a:rPr>
              <a:t>E' →–T{ print('–')} E'</a:t>
            </a:r>
            <a:r>
              <a:rPr lang="zh-CN" altLang="zh-CN" sz="1800" dirty="0"/>
              <a:t>。用花括号将语义动作放在产生式中间，表示该语义动作执行的时机，这种方式称为该属性文法的</a:t>
            </a:r>
            <a:r>
              <a:rPr lang="zh-CN" altLang="zh-CN" sz="1800" b="1" dirty="0">
                <a:solidFill>
                  <a:srgbClr val="FF0000"/>
                </a:solidFill>
              </a:rPr>
              <a:t>翻译模式</a:t>
            </a:r>
            <a:r>
              <a:rPr lang="zh-CN" altLang="zh-CN" sz="1800" dirty="0"/>
              <a:t>，即标识了语义规则执行的时机。</a:t>
            </a:r>
            <a:endParaRPr lang="en-US" altLang="zh-CN" sz="1800" dirty="0"/>
          </a:p>
        </p:txBody>
      </p:sp>
      <p:sp>
        <p:nvSpPr>
          <p:cNvPr id="3" name="矩形 2"/>
          <p:cNvSpPr/>
          <p:nvPr/>
        </p:nvSpPr>
        <p:spPr>
          <a:xfrm>
            <a:off x="128713" y="3467784"/>
            <a:ext cx="1490960" cy="400110"/>
          </a:xfrm>
          <a:prstGeom prst="rect">
            <a:avLst/>
          </a:prstGeom>
        </p:spPr>
        <p:txBody>
          <a:bodyPr wrap="square">
            <a:spAutoFit/>
          </a:bodyPr>
          <a:lstStyle/>
          <a:p>
            <a:r>
              <a:rPr lang="pt-PT" altLang="zh-CN" sz="2000" dirty="0"/>
              <a:t>9 – 5 + 2</a:t>
            </a:r>
            <a:endParaRPr lang="zh-CN" altLang="en-US" sz="2000" dirty="0"/>
          </a:p>
        </p:txBody>
      </p:sp>
      <p:sp>
        <p:nvSpPr>
          <p:cNvPr id="5" name="矩形 4"/>
          <p:cNvSpPr/>
          <p:nvPr/>
        </p:nvSpPr>
        <p:spPr>
          <a:xfrm>
            <a:off x="1681584" y="3467784"/>
            <a:ext cx="2432968" cy="400110"/>
          </a:xfrm>
          <a:prstGeom prst="rect">
            <a:avLst/>
          </a:prstGeom>
        </p:spPr>
        <p:txBody>
          <a:bodyPr wrap="square">
            <a:spAutoFit/>
          </a:bodyPr>
          <a:lstStyle/>
          <a:p>
            <a:pPr lvl="0"/>
            <a:r>
              <a:rPr lang="zh-CN" altLang="zh-CN" sz="2000" dirty="0">
                <a:solidFill>
                  <a:prstClr val="black"/>
                </a:solidFill>
              </a:rPr>
              <a:t>后缀表示</a:t>
            </a:r>
            <a:r>
              <a:rPr lang="pt-PT" altLang="zh-CN" sz="2000" dirty="0">
                <a:solidFill>
                  <a:prstClr val="black"/>
                </a:solidFill>
              </a:rPr>
              <a:t> 9 5 – 2 +</a:t>
            </a:r>
            <a:endParaRPr lang="zh-CN" altLang="en-US" sz="2000" dirty="0">
              <a:solidFill>
                <a:prstClr val="black"/>
              </a:solidFill>
            </a:endParaRPr>
          </a:p>
        </p:txBody>
      </p:sp>
      <p:sp>
        <p:nvSpPr>
          <p:cNvPr id="6" name="TextBox 5"/>
          <p:cNvSpPr txBox="1"/>
          <p:nvPr/>
        </p:nvSpPr>
        <p:spPr>
          <a:xfrm>
            <a:off x="1040483" y="1219720"/>
            <a:ext cx="396044" cy="369332"/>
          </a:xfrm>
          <a:prstGeom prst="rect">
            <a:avLst/>
          </a:prstGeom>
          <a:noFill/>
        </p:spPr>
        <p:txBody>
          <a:bodyPr wrap="square" rtlCol="0">
            <a:spAutoFit/>
          </a:bodyPr>
          <a:lstStyle/>
          <a:p>
            <a:r>
              <a:rPr lang="en-US" altLang="zh-CN" dirty="0"/>
              <a:t>E</a:t>
            </a:r>
            <a:endParaRPr lang="zh-CN" altLang="en-US" dirty="0"/>
          </a:p>
        </p:txBody>
      </p:sp>
      <p:sp>
        <p:nvSpPr>
          <p:cNvPr id="10" name="TextBox 9"/>
          <p:cNvSpPr txBox="1"/>
          <p:nvPr/>
        </p:nvSpPr>
        <p:spPr>
          <a:xfrm>
            <a:off x="392411" y="1730300"/>
            <a:ext cx="1741356" cy="369332"/>
          </a:xfrm>
          <a:prstGeom prst="rect">
            <a:avLst/>
          </a:prstGeom>
          <a:noFill/>
        </p:spPr>
        <p:txBody>
          <a:bodyPr wrap="square" rtlCol="0">
            <a:spAutoFit/>
          </a:bodyPr>
          <a:lstStyle/>
          <a:p>
            <a:r>
              <a:rPr lang="en-US" altLang="zh-CN" dirty="0"/>
              <a:t>T               E</a:t>
            </a:r>
            <a:r>
              <a:rPr lang="pt-PT" altLang="zh-CN" kern="100" dirty="0"/>
              <a:t>'</a:t>
            </a:r>
            <a:r>
              <a:rPr lang="en-US" altLang="zh-CN" dirty="0"/>
              <a:t> </a:t>
            </a:r>
            <a:endParaRPr lang="zh-CN" altLang="en-US" dirty="0"/>
          </a:p>
        </p:txBody>
      </p:sp>
      <p:cxnSp>
        <p:nvCxnSpPr>
          <p:cNvPr id="8" name="直接连接符 7"/>
          <p:cNvCxnSpPr/>
          <p:nvPr/>
        </p:nvCxnSpPr>
        <p:spPr>
          <a:xfrm flipH="1">
            <a:off x="608435" y="1548402"/>
            <a:ext cx="558062" cy="18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flipV="1">
            <a:off x="1166497" y="1548402"/>
            <a:ext cx="594066" cy="18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39552" y="2023892"/>
            <a:ext cx="0"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13538" y="2340490"/>
            <a:ext cx="198022" cy="369332"/>
          </a:xfrm>
          <a:prstGeom prst="rect">
            <a:avLst/>
          </a:prstGeom>
          <a:noFill/>
        </p:spPr>
        <p:txBody>
          <a:bodyPr wrap="square" rtlCol="0">
            <a:spAutoFit/>
          </a:bodyPr>
          <a:lstStyle/>
          <a:p>
            <a:r>
              <a:rPr lang="en-US" altLang="zh-CN" dirty="0" err="1"/>
              <a:t>i</a:t>
            </a:r>
            <a:endParaRPr lang="zh-CN" altLang="en-US" dirty="0"/>
          </a:p>
        </p:txBody>
      </p:sp>
      <p:sp>
        <p:nvSpPr>
          <p:cNvPr id="20" name="TextBox 19"/>
          <p:cNvSpPr txBox="1"/>
          <p:nvPr/>
        </p:nvSpPr>
        <p:spPr>
          <a:xfrm>
            <a:off x="287524" y="2636578"/>
            <a:ext cx="540060" cy="369332"/>
          </a:xfrm>
          <a:prstGeom prst="rect">
            <a:avLst/>
          </a:prstGeom>
          <a:noFill/>
        </p:spPr>
        <p:txBody>
          <a:bodyPr wrap="square" rtlCol="0">
            <a:spAutoFit/>
          </a:bodyPr>
          <a:lstStyle/>
          <a:p>
            <a:r>
              <a:rPr lang="en-US" altLang="zh-CN" dirty="0"/>
              <a:t>(9)</a:t>
            </a:r>
            <a:endParaRPr lang="zh-CN" altLang="en-US" dirty="0"/>
          </a:p>
        </p:txBody>
      </p:sp>
      <p:sp>
        <p:nvSpPr>
          <p:cNvPr id="21" name="TextBox 20"/>
          <p:cNvSpPr txBox="1"/>
          <p:nvPr/>
        </p:nvSpPr>
        <p:spPr>
          <a:xfrm>
            <a:off x="1112491" y="2340490"/>
            <a:ext cx="1741356" cy="369332"/>
          </a:xfrm>
          <a:prstGeom prst="rect">
            <a:avLst/>
          </a:prstGeom>
          <a:noFill/>
        </p:spPr>
        <p:txBody>
          <a:bodyPr wrap="square" rtlCol="0">
            <a:spAutoFit/>
          </a:bodyPr>
          <a:lstStyle/>
          <a:p>
            <a:r>
              <a:rPr lang="en-US" altLang="zh-CN" dirty="0"/>
              <a:t>-     T       E</a:t>
            </a:r>
            <a:r>
              <a:rPr lang="pt-PT" altLang="zh-CN" kern="100" dirty="0"/>
              <a:t>'</a:t>
            </a:r>
            <a:r>
              <a:rPr lang="en-US" altLang="zh-CN" dirty="0"/>
              <a:t> </a:t>
            </a:r>
            <a:endParaRPr lang="zh-CN" altLang="en-US" dirty="0"/>
          </a:p>
        </p:txBody>
      </p:sp>
      <p:cxnSp>
        <p:nvCxnSpPr>
          <p:cNvPr id="23" name="直接连接符 22"/>
          <p:cNvCxnSpPr/>
          <p:nvPr/>
        </p:nvCxnSpPr>
        <p:spPr>
          <a:xfrm flipH="1">
            <a:off x="1263089" y="2052458"/>
            <a:ext cx="479472"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1742561" y="2052458"/>
            <a:ext cx="594066"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769566" y="2052458"/>
            <a:ext cx="0"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34" idx="0"/>
          </p:cNvCxnSpPr>
          <p:nvPr/>
        </p:nvCxnSpPr>
        <p:spPr>
          <a:xfrm flipH="1">
            <a:off x="1769566" y="2628522"/>
            <a:ext cx="9002" cy="2275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670555" y="2856080"/>
            <a:ext cx="198022" cy="369332"/>
          </a:xfrm>
          <a:prstGeom prst="rect">
            <a:avLst/>
          </a:prstGeom>
          <a:noFill/>
        </p:spPr>
        <p:txBody>
          <a:bodyPr wrap="square" rtlCol="0">
            <a:spAutoFit/>
          </a:bodyPr>
          <a:lstStyle/>
          <a:p>
            <a:r>
              <a:rPr lang="en-US" altLang="zh-CN" dirty="0" err="1"/>
              <a:t>i</a:t>
            </a:r>
            <a:endParaRPr lang="zh-CN" altLang="en-US" dirty="0"/>
          </a:p>
        </p:txBody>
      </p:sp>
      <p:sp>
        <p:nvSpPr>
          <p:cNvPr id="35" name="TextBox 34"/>
          <p:cNvSpPr txBox="1"/>
          <p:nvPr/>
        </p:nvSpPr>
        <p:spPr>
          <a:xfrm>
            <a:off x="1580543" y="3101105"/>
            <a:ext cx="540060" cy="369332"/>
          </a:xfrm>
          <a:prstGeom prst="rect">
            <a:avLst/>
          </a:prstGeom>
          <a:noFill/>
        </p:spPr>
        <p:txBody>
          <a:bodyPr wrap="square" rtlCol="0">
            <a:spAutoFit/>
          </a:bodyPr>
          <a:lstStyle/>
          <a:p>
            <a:r>
              <a:rPr lang="en-US" altLang="zh-CN" dirty="0"/>
              <a:t>(5)</a:t>
            </a:r>
            <a:endParaRPr lang="zh-CN" altLang="en-US" dirty="0"/>
          </a:p>
        </p:txBody>
      </p:sp>
    </p:spTree>
    <p:extLst>
      <p:ext uri="{BB962C8B-B14F-4D97-AF65-F5344CB8AC3E}">
        <p14:creationId xmlns:p14="http://schemas.microsoft.com/office/powerpoint/2010/main" val="9315336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99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5" grpId="0"/>
      <p:bldP spid="6" grpId="0"/>
      <p:bldP spid="10" grpId="0"/>
      <p:bldP spid="19" grpId="0"/>
      <p:bldP spid="20" grpId="0"/>
      <p:bldP spid="21" grpId="0"/>
      <p:bldP spid="34" grpId="0"/>
      <p:bldP spid="3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72472" y="51470"/>
            <a:ext cx="5219608" cy="1080120"/>
          </a:xfrm>
        </p:spPr>
        <p:txBody>
          <a:bodyPr>
            <a:normAutofit fontScale="90000"/>
          </a:bodyPr>
          <a:lstStyle/>
          <a:p>
            <a:r>
              <a:rPr lang="zh-CN" altLang="zh-CN" sz="2200" dirty="0">
                <a:solidFill>
                  <a:schemeClr val="tx1"/>
                </a:solidFill>
                <a:latin typeface="宋体" panose="02010600030101010101" pitchFamily="2" charset="-122"/>
                <a:ea typeface="宋体" panose="02010600030101010101" pitchFamily="2" charset="-122"/>
              </a:rPr>
              <a:t>例</a:t>
            </a:r>
            <a:r>
              <a:rPr lang="en-US" altLang="zh-CN" sz="2200" dirty="0">
                <a:solidFill>
                  <a:schemeClr val="tx1"/>
                </a:solidFill>
                <a:latin typeface="宋体" panose="02010600030101010101" pitchFamily="2" charset="-122"/>
                <a:ea typeface="宋体" panose="02010600030101010101" pitchFamily="2" charset="-122"/>
              </a:rPr>
              <a:t>5.10 </a:t>
            </a:r>
            <a:r>
              <a:rPr lang="zh-CN" altLang="en-US" sz="2200" dirty="0">
                <a:solidFill>
                  <a:schemeClr val="tx1"/>
                </a:solidFill>
                <a:latin typeface="宋体" panose="02010600030101010101" pitchFamily="2" charset="-122"/>
                <a:ea typeface="宋体" panose="02010600030101010101" pitchFamily="2" charset="-122"/>
              </a:rPr>
              <a:t>右面是</a:t>
            </a:r>
            <a:r>
              <a:rPr lang="zh-CN" altLang="zh-CN" sz="2200" dirty="0">
                <a:solidFill>
                  <a:schemeClr val="tx1"/>
                </a:solidFill>
                <a:latin typeface="宋体" panose="02010600030101010101" pitchFamily="2" charset="-122"/>
                <a:ea typeface="宋体" panose="02010600030101010101" pitchFamily="2" charset="-122"/>
              </a:rPr>
              <a:t>是简单表达式的属性文法，其语义规则是将中缀表示形式改写成后缀表示形式，此处只定义了产生式对应的语义规则，没有定义各语义规则应该在什么时候执行？</a:t>
            </a:r>
            <a:endParaRPr lang="zh-CN" altLang="en-US" sz="2200" dirty="0">
              <a:solidFill>
                <a:schemeClr val="tx1"/>
              </a:solidFill>
              <a:latin typeface="宋体" panose="02010600030101010101" pitchFamily="2" charset="-122"/>
              <a:ea typeface="宋体" panose="02010600030101010101" pitchFamily="2" charset="-122"/>
            </a:endParaRPr>
          </a:p>
        </p:txBody>
      </p:sp>
      <p:graphicFrame>
        <p:nvGraphicFramePr>
          <p:cNvPr id="4" name="内容占位符 3"/>
          <p:cNvGraphicFramePr>
            <a:graphicFrameLocks noGrp="1"/>
          </p:cNvGraphicFramePr>
          <p:nvPr>
            <p:ph idx="1"/>
            <p:extLst>
              <p:ext uri="{D42A27DB-BD31-4B8C-83A1-F6EECF244321}">
                <p14:modId xmlns:p14="http://schemas.microsoft.com/office/powerpoint/2010/main" val="460000470"/>
              </p:ext>
            </p:extLst>
          </p:nvPr>
        </p:nvGraphicFramePr>
        <p:xfrm>
          <a:off x="467544" y="1491630"/>
          <a:ext cx="3096344" cy="1596292"/>
        </p:xfrm>
        <a:graphic>
          <a:graphicData uri="http://schemas.openxmlformats.org/drawingml/2006/table">
            <a:tbl>
              <a:tblPr firstRow="1" firstCol="1" bandRow="1">
                <a:tableStyleId>{5C22544A-7EE6-4342-B048-85BDC9FD1C3A}</a:tableStyleId>
              </a:tblPr>
              <a:tblGrid>
                <a:gridCol w="3096344">
                  <a:extLst>
                    <a:ext uri="{9D8B030D-6E8A-4147-A177-3AD203B41FA5}">
                      <a16:colId xmlns:a16="http://schemas.microsoft.com/office/drawing/2014/main" val="20000"/>
                    </a:ext>
                  </a:extLst>
                </a:gridCol>
              </a:tblGrid>
              <a:tr h="227839">
                <a:tc>
                  <a:txBody>
                    <a:bodyPr/>
                    <a:lstStyle/>
                    <a:p>
                      <a:pPr algn="just">
                        <a:spcAft>
                          <a:spcPts val="0"/>
                        </a:spcAft>
                      </a:pPr>
                      <a:r>
                        <a:rPr lang="zh-CN" altLang="en-US" sz="1700" b="0" kern="100" dirty="0">
                          <a:solidFill>
                            <a:schemeClr val="tx1"/>
                          </a:solidFill>
                          <a:effectLst/>
                          <a:latin typeface="+mn-lt"/>
                          <a:ea typeface="+mn-ea"/>
                        </a:rPr>
                        <a:t>翻译模式</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1</a:t>
                      </a:r>
                      <a:r>
                        <a:rPr lang="zh-CN" sz="1700" b="0" kern="100" dirty="0">
                          <a:solidFill>
                            <a:schemeClr val="tx1"/>
                          </a:solidFill>
                          <a:effectLst/>
                        </a:rPr>
                        <a:t>）</a:t>
                      </a:r>
                      <a:r>
                        <a:rPr lang="pt-PT" sz="1700" b="0" kern="100" dirty="0">
                          <a:solidFill>
                            <a:schemeClr val="tx1"/>
                          </a:solidFill>
                          <a:effectLst/>
                        </a:rPr>
                        <a:t> E → 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7839">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sz="1700" b="0" kern="100" dirty="0">
                          <a:solidFill>
                            <a:schemeClr val="tx1"/>
                          </a:solidFill>
                          <a:effectLst/>
                        </a:rPr>
                        <a:t>（</a:t>
                      </a:r>
                      <a:r>
                        <a:rPr lang="pt-PT" sz="1700" b="0" kern="100" dirty="0">
                          <a:solidFill>
                            <a:schemeClr val="tx1"/>
                          </a:solidFill>
                          <a:effectLst/>
                        </a:rPr>
                        <a:t>2</a:t>
                      </a:r>
                      <a:r>
                        <a:rPr lang="zh-CN" sz="1700" b="0" kern="100" dirty="0">
                          <a:solidFill>
                            <a:schemeClr val="tx1"/>
                          </a:solidFill>
                          <a:effectLst/>
                        </a:rPr>
                        <a:t>）</a:t>
                      </a:r>
                      <a:r>
                        <a:rPr lang="pt-PT" sz="1700" b="0" kern="100" dirty="0">
                          <a:solidFill>
                            <a:schemeClr val="tx1"/>
                          </a:solidFill>
                          <a:effectLst/>
                        </a:rPr>
                        <a:t> E' →+T</a:t>
                      </a:r>
                      <a:r>
                        <a:rPr lang="en-US" altLang="zh-CN" sz="1700" b="0" kern="100" dirty="0">
                          <a:solidFill>
                            <a:schemeClr val="tx1"/>
                          </a:solidFill>
                          <a:effectLst/>
                        </a:rPr>
                        <a:t>{</a:t>
                      </a:r>
                      <a:r>
                        <a:rPr lang="pt-PT" altLang="zh-CN" sz="1700" b="0" kern="100" dirty="0">
                          <a:solidFill>
                            <a:schemeClr val="tx1"/>
                          </a:solidFill>
                          <a:effectLst/>
                        </a:rPr>
                        <a:t>print('+')</a:t>
                      </a:r>
                      <a:r>
                        <a:rPr lang="en-US" altLang="zh-CN" sz="1700" b="0" kern="100" dirty="0">
                          <a:solidFill>
                            <a:schemeClr val="tx1"/>
                          </a:solidFill>
                          <a:effectLst/>
                        </a:rPr>
                        <a:t>}</a:t>
                      </a:r>
                      <a:r>
                        <a:rPr lang="pt-PT" sz="1700" b="0" kern="100" dirty="0">
                          <a:solidFill>
                            <a:schemeClr val="tx1"/>
                          </a:solidFill>
                          <a:effectLst/>
                        </a:rPr>
                        <a: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3</a:t>
                      </a:r>
                      <a:r>
                        <a:rPr lang="zh-CN" sz="1700" b="0" kern="100" dirty="0">
                          <a:solidFill>
                            <a:schemeClr val="tx1"/>
                          </a:solidFill>
                          <a:effectLst/>
                        </a:rPr>
                        <a:t>）</a:t>
                      </a:r>
                      <a:r>
                        <a:rPr lang="pt-PT" sz="1700" b="0" kern="100" dirty="0">
                          <a:solidFill>
                            <a:schemeClr val="tx1"/>
                          </a:solidFill>
                          <a:effectLst/>
                        </a:rPr>
                        <a:t> E' →–T{</a:t>
                      </a:r>
                      <a:r>
                        <a:rPr lang="pt-PT" altLang="zh-CN" sz="1700" b="0" kern="100" dirty="0">
                          <a:solidFill>
                            <a:schemeClr val="tx1"/>
                          </a:solidFill>
                          <a:effectLst/>
                        </a:rPr>
                        <a:t>print(’–’)}</a:t>
                      </a:r>
                      <a:r>
                        <a:rPr lang="pt-PT" sz="1700" b="0" kern="100" dirty="0">
                          <a:solidFill>
                            <a:schemeClr val="tx1"/>
                          </a:solidFill>
                          <a:effectLst/>
                        </a:rPr>
                        <a: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4</a:t>
                      </a:r>
                      <a:r>
                        <a:rPr lang="zh-CN" sz="1700" b="0" kern="100" dirty="0">
                          <a:solidFill>
                            <a:schemeClr val="tx1"/>
                          </a:solidFill>
                          <a:effectLst/>
                        </a:rPr>
                        <a:t>）</a:t>
                      </a:r>
                      <a:r>
                        <a:rPr lang="pt-PT" sz="1700" b="0" kern="100" dirty="0">
                          <a:solidFill>
                            <a:schemeClr val="tx1"/>
                          </a:solidFill>
                          <a:effectLst/>
                        </a:rPr>
                        <a:t> E' →</a:t>
                      </a:r>
                      <a:r>
                        <a:rPr lang="en-US" sz="1700" b="0" kern="100" dirty="0">
                          <a:solidFill>
                            <a:schemeClr val="tx1"/>
                          </a:solidFill>
                          <a:effectLst/>
                          <a:sym typeface="Symbol" panose="05050102010706020507" pitchFamily="18" charset="2"/>
                        </a:rPr>
                        <a:t></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00892">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5</a:t>
                      </a:r>
                      <a:r>
                        <a:rPr lang="zh-CN" sz="1700" b="0" kern="100" dirty="0">
                          <a:solidFill>
                            <a:schemeClr val="tx1"/>
                          </a:solidFill>
                          <a:effectLst/>
                        </a:rPr>
                        <a:t>）</a:t>
                      </a:r>
                      <a:r>
                        <a:rPr lang="pt-PT" sz="1700" b="0" kern="100" dirty="0">
                          <a:solidFill>
                            <a:schemeClr val="tx1"/>
                          </a:solidFill>
                          <a:effectLst/>
                        </a:rPr>
                        <a:t> T→ i{</a:t>
                      </a:r>
                      <a:r>
                        <a:rPr lang="pt-PT" altLang="zh-CN" sz="1700" b="0" kern="100" dirty="0">
                          <a:solidFill>
                            <a:schemeClr val="tx1"/>
                          </a:solidFill>
                          <a:effectLst/>
                        </a:rPr>
                        <a:t>print(i.lexval)</a:t>
                      </a:r>
                      <a:r>
                        <a:rPr lang="pt-PT" sz="1700" b="0" kern="100" dirty="0">
                          <a:solidFill>
                            <a:schemeClr val="tx1"/>
                          </a:solidFill>
                          <a:effectLst/>
                        </a:rPr>
                        <a:t>} </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39963" name="对象 7"/>
          <p:cNvGraphicFramePr>
            <a:graphicFrameLocks noChangeAspect="1"/>
          </p:cNvGraphicFramePr>
          <p:nvPr>
            <p:extLst>
              <p:ext uri="{D42A27DB-BD31-4B8C-83A1-F6EECF244321}">
                <p14:modId xmlns:p14="http://schemas.microsoft.com/office/powerpoint/2010/main" val="1048359894"/>
              </p:ext>
            </p:extLst>
          </p:nvPr>
        </p:nvGraphicFramePr>
        <p:xfrm>
          <a:off x="4645390" y="1707654"/>
          <a:ext cx="4748864" cy="2233107"/>
        </p:xfrm>
        <a:graphic>
          <a:graphicData uri="http://schemas.openxmlformats.org/presentationml/2006/ole">
            <mc:AlternateContent xmlns:mc="http://schemas.openxmlformats.org/markup-compatibility/2006">
              <mc:Choice xmlns:v="urn:schemas-microsoft-com:vml" Requires="v">
                <p:oleObj spid="_x0000_s12293" name="Visio" r:id="rId3" imgW="3267197" imgH="1867619" progId="Visio.Drawing.11">
                  <p:embed/>
                </p:oleObj>
              </mc:Choice>
              <mc:Fallback>
                <p:oleObj name="Visio" r:id="rId3" imgW="3267197" imgH="1867619" progId="Visio.Drawing.11">
                  <p:embed/>
                  <p:pic>
                    <p:nvPicPr>
                      <p:cNvPr id="39963"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5390" y="1707654"/>
                        <a:ext cx="4748864" cy="2233107"/>
                      </a:xfrm>
                      <a:prstGeom prst="rect">
                        <a:avLst/>
                      </a:prstGeom>
                      <a:noFill/>
                      <a:ln>
                        <a:noFill/>
                      </a:ln>
                    </p:spPr>
                  </p:pic>
                </p:oleObj>
              </mc:Fallback>
            </mc:AlternateContent>
          </a:graphicData>
        </a:graphic>
      </p:graphicFrame>
      <p:sp>
        <p:nvSpPr>
          <p:cNvPr id="2" name="矩形 1"/>
          <p:cNvSpPr>
            <a:spLocks noChangeArrowheads="1"/>
          </p:cNvSpPr>
          <p:nvPr/>
        </p:nvSpPr>
        <p:spPr bwMode="auto">
          <a:xfrm>
            <a:off x="35496" y="3317379"/>
            <a:ext cx="6033370" cy="1846659"/>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342900" indent="-342900">
              <a:buFont typeface="Arial" panose="020B0604020202020204" pitchFamily="34" charset="0"/>
              <a:buChar char="•"/>
            </a:pPr>
            <a:r>
              <a:rPr lang="zh-CN" altLang="zh-CN" sz="1900" dirty="0"/>
              <a:t>在具体实现</a:t>
            </a:r>
            <a:r>
              <a:rPr lang="zh-CN" altLang="en-US" sz="1900" dirty="0"/>
              <a:t>语法制导的翻译</a:t>
            </a:r>
            <a:r>
              <a:rPr lang="zh-CN" altLang="zh-CN" sz="1900" dirty="0"/>
              <a:t>时，需要将属性文法</a:t>
            </a:r>
            <a:r>
              <a:rPr lang="zh-CN" altLang="zh-CN" sz="1900" dirty="0">
                <a:solidFill>
                  <a:srgbClr val="FF0000"/>
                </a:solidFill>
              </a:rPr>
              <a:t>改写为合适的翻译模式</a:t>
            </a:r>
            <a:r>
              <a:rPr lang="zh-CN" altLang="zh-CN" sz="1900" dirty="0"/>
              <a:t>，将语义规则放在产生式右部的适当位置才能进行一遍扫描完成所有的属性计算。</a:t>
            </a:r>
            <a:endParaRPr lang="en-US" altLang="zh-CN" sz="1900" dirty="0"/>
          </a:p>
          <a:p>
            <a:pPr marL="342900" indent="-342900">
              <a:buFont typeface="Arial" panose="020B0604020202020204" pitchFamily="34" charset="0"/>
              <a:buChar char="•"/>
            </a:pPr>
            <a:r>
              <a:rPr lang="zh-CN" altLang="zh-CN" sz="1900" dirty="0"/>
              <a:t>必须保证引用一个属性时它必须已经计算出来，</a:t>
            </a:r>
            <a:r>
              <a:rPr lang="zh-CN" altLang="en-US" sz="1900" dirty="0"/>
              <a:t>如果是</a:t>
            </a:r>
            <a:r>
              <a:rPr lang="en-US" altLang="zh-CN" sz="1900" dirty="0">
                <a:solidFill>
                  <a:srgbClr val="FF0000"/>
                </a:solidFill>
              </a:rPr>
              <a:t>L-</a:t>
            </a:r>
            <a:r>
              <a:rPr lang="zh-CN" altLang="zh-CN" sz="1900" dirty="0">
                <a:solidFill>
                  <a:srgbClr val="FF0000"/>
                </a:solidFill>
              </a:rPr>
              <a:t>属性文法</a:t>
            </a:r>
            <a:r>
              <a:rPr lang="zh-CN" altLang="en-US" sz="1900" dirty="0">
                <a:solidFill>
                  <a:srgbClr val="FF0000"/>
                </a:solidFill>
              </a:rPr>
              <a:t>，</a:t>
            </a:r>
            <a:r>
              <a:rPr lang="zh-CN" altLang="zh-CN" sz="1900" dirty="0">
                <a:solidFill>
                  <a:srgbClr val="FF0000"/>
                </a:solidFill>
              </a:rPr>
              <a:t>就能够确保每个动作不会引用尚未计算出的属性</a:t>
            </a:r>
            <a:r>
              <a:rPr lang="zh-CN" altLang="zh-CN" sz="1900" dirty="0"/>
              <a:t>。</a:t>
            </a:r>
            <a:endParaRPr lang="en-US" altLang="zh-CN" sz="1900" dirty="0"/>
          </a:p>
        </p:txBody>
      </p:sp>
      <p:graphicFrame>
        <p:nvGraphicFramePr>
          <p:cNvPr id="7" name="内容占位符 3"/>
          <p:cNvGraphicFramePr>
            <a:graphicFrameLocks/>
          </p:cNvGraphicFramePr>
          <p:nvPr>
            <p:extLst>
              <p:ext uri="{D42A27DB-BD31-4B8C-83A1-F6EECF244321}">
                <p14:modId xmlns:p14="http://schemas.microsoft.com/office/powerpoint/2010/main" val="2086689041"/>
              </p:ext>
            </p:extLst>
          </p:nvPr>
        </p:nvGraphicFramePr>
        <p:xfrm>
          <a:off x="5651848" y="-28178"/>
          <a:ext cx="3456384" cy="1596292"/>
        </p:xfrm>
        <a:graphic>
          <a:graphicData uri="http://schemas.openxmlformats.org/drawingml/2006/table">
            <a:tbl>
              <a:tblPr firstRow="1" firstCol="1" bandRow="1">
                <a:tableStyleId>{5C22544A-7EE6-4342-B048-85BDC9FD1C3A}</a:tableStyleId>
              </a:tblPr>
              <a:tblGrid>
                <a:gridCol w="1873411">
                  <a:extLst>
                    <a:ext uri="{9D8B030D-6E8A-4147-A177-3AD203B41FA5}">
                      <a16:colId xmlns:a16="http://schemas.microsoft.com/office/drawing/2014/main" val="20000"/>
                    </a:ext>
                  </a:extLst>
                </a:gridCol>
                <a:gridCol w="1582973">
                  <a:extLst>
                    <a:ext uri="{9D8B030D-6E8A-4147-A177-3AD203B41FA5}">
                      <a16:colId xmlns:a16="http://schemas.microsoft.com/office/drawing/2014/main" val="20001"/>
                    </a:ext>
                  </a:extLst>
                </a:gridCol>
              </a:tblGrid>
              <a:tr h="227839">
                <a:tc>
                  <a:txBody>
                    <a:bodyPr/>
                    <a:lstStyle/>
                    <a:p>
                      <a:pPr algn="just">
                        <a:spcAft>
                          <a:spcPts val="0"/>
                        </a:spcAft>
                      </a:pPr>
                      <a:r>
                        <a:rPr lang="zh-CN" sz="1700" b="0" kern="100" dirty="0">
                          <a:solidFill>
                            <a:schemeClr val="tx1"/>
                          </a:solidFill>
                          <a:effectLst/>
                        </a:rPr>
                        <a:t>产生式</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1700" b="0" kern="100">
                          <a:solidFill>
                            <a:schemeClr val="tx1"/>
                          </a:solidFill>
                          <a:effectLst/>
                        </a:rPr>
                        <a:t>语义规则</a:t>
                      </a:r>
                      <a:endParaRPr lang="zh-CN" sz="1700" b="0" kern="10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1</a:t>
                      </a:r>
                      <a:r>
                        <a:rPr lang="zh-CN" sz="1700" b="0" kern="100" dirty="0">
                          <a:solidFill>
                            <a:schemeClr val="tx1"/>
                          </a:solidFill>
                          <a:effectLst/>
                        </a:rPr>
                        <a:t>）</a:t>
                      </a:r>
                      <a:r>
                        <a:rPr lang="pt-PT" sz="1700" b="0" kern="100" dirty="0">
                          <a:solidFill>
                            <a:schemeClr val="tx1"/>
                          </a:solidFill>
                          <a:effectLst/>
                        </a:rPr>
                        <a:t> E → 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a:solidFill>
                            <a:schemeClr val="tx1"/>
                          </a:solidFill>
                          <a:effectLst/>
                        </a:rPr>
                        <a:t> </a:t>
                      </a:r>
                      <a:endParaRPr lang="zh-CN" sz="1700" b="0" kern="10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2</a:t>
                      </a:r>
                      <a:r>
                        <a:rPr lang="zh-CN" sz="1700" b="0" kern="100" dirty="0">
                          <a:solidFill>
                            <a:schemeClr val="tx1"/>
                          </a:solidFill>
                          <a:effectLst/>
                        </a:rPr>
                        <a:t>）</a:t>
                      </a:r>
                      <a:r>
                        <a:rPr lang="pt-PT" sz="1700" b="0" kern="100" dirty="0">
                          <a:solidFill>
                            <a:schemeClr val="tx1"/>
                          </a:solidFill>
                          <a:effectLst/>
                        </a:rPr>
                        <a:t> E' →+TE'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dirty="0">
                          <a:solidFill>
                            <a:schemeClr val="tx1"/>
                          </a:solidFill>
                          <a:effectLst/>
                        </a:rPr>
                        <a:t>print(</a:t>
                      </a:r>
                      <a:r>
                        <a:rPr lang="pt-PT" altLang="zh-CN" sz="1700" b="0" kern="100" dirty="0">
                          <a:solidFill>
                            <a:schemeClr val="tx1"/>
                          </a:solidFill>
                          <a:effectLst/>
                        </a:rPr>
                        <a:t>'</a:t>
                      </a:r>
                      <a:r>
                        <a:rPr lang="pt-PT" sz="1700" b="0" kern="100" dirty="0">
                          <a:solidFill>
                            <a:schemeClr val="tx1"/>
                          </a:solidFill>
                          <a:effectLst/>
                        </a:rPr>
                        <a:t>+</a:t>
                      </a:r>
                      <a:r>
                        <a:rPr lang="pt-PT" altLang="zh-CN" sz="1700" b="0" kern="100" dirty="0">
                          <a:solidFill>
                            <a:schemeClr val="tx1"/>
                          </a:solidFill>
                          <a:effectLst/>
                        </a:rPr>
                        <a:t>'</a:t>
                      </a:r>
                      <a:r>
                        <a:rPr lang="pt-PT" sz="1700" b="0" kern="100" dirty="0">
                          <a:solidFill>
                            <a:schemeClr val="tx1"/>
                          </a:solidFill>
                          <a:effectLst/>
                        </a:rPr>
                        <a:t>)</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27839">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3</a:t>
                      </a:r>
                      <a:r>
                        <a:rPr lang="zh-CN" sz="1700" b="0" kern="100" dirty="0">
                          <a:solidFill>
                            <a:schemeClr val="tx1"/>
                          </a:solidFill>
                          <a:effectLst/>
                        </a:rPr>
                        <a:t>）</a:t>
                      </a:r>
                      <a:r>
                        <a:rPr lang="pt-PT" sz="1700" b="0" kern="100" dirty="0">
                          <a:solidFill>
                            <a:schemeClr val="tx1"/>
                          </a:solidFill>
                          <a:effectLst/>
                        </a:rPr>
                        <a:t> E' →–TE'</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dirty="0">
                          <a:solidFill>
                            <a:schemeClr val="tx1"/>
                          </a:solidFill>
                          <a:effectLst/>
                        </a:rPr>
                        <a:t>print(</a:t>
                      </a:r>
                      <a:r>
                        <a:rPr lang="pt-PT" altLang="zh-CN" sz="1700" b="0" kern="100" dirty="0">
                          <a:solidFill>
                            <a:schemeClr val="tx1"/>
                          </a:solidFill>
                          <a:effectLst/>
                        </a:rPr>
                        <a:t>'</a:t>
                      </a:r>
                      <a:r>
                        <a:rPr lang="pt-PT" sz="1700" b="0" kern="100" dirty="0">
                          <a:solidFill>
                            <a:schemeClr val="tx1"/>
                          </a:solidFill>
                          <a:effectLst/>
                        </a:rPr>
                        <a:t>–</a:t>
                      </a:r>
                      <a:r>
                        <a:rPr lang="pt-PT" altLang="zh-CN" sz="1700" b="0" kern="100" dirty="0">
                          <a:solidFill>
                            <a:schemeClr val="tx1"/>
                          </a:solidFill>
                          <a:effectLst/>
                        </a:rPr>
                        <a:t>'</a:t>
                      </a:r>
                      <a:r>
                        <a:rPr lang="pt-PT" sz="1700" b="0" kern="100" dirty="0">
                          <a:solidFill>
                            <a:schemeClr val="tx1"/>
                          </a:solidFill>
                          <a:effectLst/>
                        </a:rPr>
                        <a:t>)</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27839">
                <a:tc>
                  <a:txBody>
                    <a:bodyPr/>
                    <a:lstStyle/>
                    <a:p>
                      <a:pPr algn="just">
                        <a:spcAft>
                          <a:spcPts val="0"/>
                        </a:spcAft>
                      </a:pPr>
                      <a:r>
                        <a:rPr lang="zh-CN" sz="1700" b="0" kern="100">
                          <a:solidFill>
                            <a:schemeClr val="tx1"/>
                          </a:solidFill>
                          <a:effectLst/>
                        </a:rPr>
                        <a:t>（</a:t>
                      </a:r>
                      <a:r>
                        <a:rPr lang="pt-PT" sz="1700" b="0" kern="100">
                          <a:solidFill>
                            <a:schemeClr val="tx1"/>
                          </a:solidFill>
                          <a:effectLst/>
                        </a:rPr>
                        <a:t>4</a:t>
                      </a:r>
                      <a:r>
                        <a:rPr lang="zh-CN" sz="1700" b="0" kern="100">
                          <a:solidFill>
                            <a:schemeClr val="tx1"/>
                          </a:solidFill>
                          <a:effectLst/>
                        </a:rPr>
                        <a:t>）</a:t>
                      </a:r>
                      <a:r>
                        <a:rPr lang="pt-PT" sz="1700" b="0" kern="100">
                          <a:solidFill>
                            <a:schemeClr val="tx1"/>
                          </a:solidFill>
                          <a:effectLst/>
                        </a:rPr>
                        <a:t> E' →</a:t>
                      </a:r>
                      <a:r>
                        <a:rPr lang="en-US" sz="1700" b="0" kern="100">
                          <a:solidFill>
                            <a:schemeClr val="tx1"/>
                          </a:solidFill>
                          <a:effectLst/>
                          <a:sym typeface="Symbol" panose="05050102010706020507" pitchFamily="18" charset="2"/>
                        </a:rPr>
                        <a:t></a:t>
                      </a:r>
                      <a:endParaRPr lang="zh-CN" sz="1700" b="0" kern="10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dirty="0">
                          <a:solidFill>
                            <a:schemeClr val="tx1"/>
                          </a:solidFill>
                          <a:effectLst/>
                        </a:rPr>
                        <a:t> </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00892">
                <a:tc>
                  <a:txBody>
                    <a:bodyPr/>
                    <a:lstStyle/>
                    <a:p>
                      <a:pPr algn="just">
                        <a:spcAft>
                          <a:spcPts val="0"/>
                        </a:spcAft>
                      </a:pPr>
                      <a:r>
                        <a:rPr lang="zh-CN" sz="1700" b="0" kern="100" dirty="0">
                          <a:solidFill>
                            <a:schemeClr val="tx1"/>
                          </a:solidFill>
                          <a:effectLst/>
                        </a:rPr>
                        <a:t>（</a:t>
                      </a:r>
                      <a:r>
                        <a:rPr lang="pt-PT" sz="1700" b="0" kern="100" dirty="0">
                          <a:solidFill>
                            <a:schemeClr val="tx1"/>
                          </a:solidFill>
                          <a:effectLst/>
                        </a:rPr>
                        <a:t>5</a:t>
                      </a:r>
                      <a:r>
                        <a:rPr lang="zh-CN" sz="1700" b="0" kern="100" dirty="0">
                          <a:solidFill>
                            <a:schemeClr val="tx1"/>
                          </a:solidFill>
                          <a:effectLst/>
                        </a:rPr>
                        <a:t>）</a:t>
                      </a:r>
                      <a:r>
                        <a:rPr lang="pt-PT" sz="1700" b="0" kern="100" dirty="0">
                          <a:solidFill>
                            <a:schemeClr val="tx1"/>
                          </a:solidFill>
                          <a:effectLst/>
                        </a:rPr>
                        <a:t> T→ i </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pt-PT" sz="1700" b="0" kern="100" dirty="0">
                          <a:solidFill>
                            <a:schemeClr val="tx1"/>
                          </a:solidFill>
                          <a:effectLst/>
                        </a:rPr>
                        <a:t>print(i.lexval)</a:t>
                      </a:r>
                      <a:endParaRPr lang="zh-CN" sz="1700" b="0" kern="100" dirty="0">
                        <a:solidFill>
                          <a:schemeClr val="tx1"/>
                        </a:solidFill>
                        <a:effectLst/>
                        <a:latin typeface="Times New Roman" panose="02020603050405020304" pitchFamily="18" charset="0"/>
                        <a:ea typeface="宋体" panose="02010600030101010101" pitchFamily="2" charset="-122"/>
                      </a:endParaRPr>
                    </a:p>
                  </a:txBody>
                  <a:tcPr marL="68561" marR="6856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3" name="左箭头 2"/>
          <p:cNvSpPr/>
          <p:nvPr/>
        </p:nvSpPr>
        <p:spPr>
          <a:xfrm rot="20557844">
            <a:off x="3567487" y="1370332"/>
            <a:ext cx="2155806" cy="484007"/>
          </a:xfrm>
          <a:prstGeom prst="lef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63663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457200" y="123479"/>
            <a:ext cx="8229600" cy="432048"/>
          </a:xfrm>
        </p:spPr>
        <p:txBody>
          <a:bodyPr>
            <a:normAutofit fontScale="90000"/>
          </a:bodyPr>
          <a:lstStyle/>
          <a:p>
            <a:r>
              <a:rPr lang="zh-CN" altLang="en-US" dirty="0"/>
              <a:t>建立翻译模式</a:t>
            </a:r>
          </a:p>
        </p:txBody>
      </p:sp>
      <p:sp>
        <p:nvSpPr>
          <p:cNvPr id="43011" name="内容占位符 2"/>
          <p:cNvSpPr>
            <a:spLocks noGrp="1"/>
          </p:cNvSpPr>
          <p:nvPr>
            <p:ph idx="1"/>
          </p:nvPr>
        </p:nvSpPr>
        <p:spPr>
          <a:xfrm>
            <a:off x="263525" y="627534"/>
            <a:ext cx="8484939" cy="1440160"/>
          </a:xfrm>
        </p:spPr>
        <p:txBody>
          <a:bodyPr>
            <a:normAutofit lnSpcReduction="10000"/>
          </a:bodyPr>
          <a:lstStyle/>
          <a:p>
            <a:r>
              <a:rPr lang="zh-CN" altLang="zh-CN" sz="2200" dirty="0"/>
              <a:t>在建立翻译模式时，如果属性计算中</a:t>
            </a:r>
            <a:r>
              <a:rPr lang="zh-CN" altLang="zh-CN" sz="2200" dirty="0">
                <a:solidFill>
                  <a:srgbClr val="FF0000"/>
                </a:solidFill>
              </a:rPr>
              <a:t>只有综合属性</a:t>
            </a:r>
            <a:r>
              <a:rPr lang="zh-CN" altLang="zh-CN" sz="2200" dirty="0"/>
              <a:t>时，综合属性的语义规则通常</a:t>
            </a:r>
            <a:r>
              <a:rPr lang="zh-CN" altLang="zh-CN" sz="2200" dirty="0">
                <a:solidFill>
                  <a:srgbClr val="FF0000"/>
                </a:solidFill>
              </a:rPr>
              <a:t>可以放在产生式右部的末尾</a:t>
            </a:r>
            <a:r>
              <a:rPr lang="zh-CN" altLang="zh-CN" sz="2200" dirty="0"/>
              <a:t>。因为综合属性总是在它所有的子结点的属性都计算出来以后才计算。</a:t>
            </a:r>
            <a:endParaRPr lang="en-US" altLang="zh-CN" sz="2200" dirty="0"/>
          </a:p>
          <a:p>
            <a:r>
              <a:rPr lang="zh-CN" altLang="zh-CN" sz="2200" dirty="0"/>
              <a:t>如果</a:t>
            </a:r>
            <a:r>
              <a:rPr lang="zh-CN" altLang="zh-CN" sz="2200" dirty="0">
                <a:solidFill>
                  <a:srgbClr val="FF0000"/>
                </a:solidFill>
              </a:rPr>
              <a:t>既有综合属性又有继承属性</a:t>
            </a:r>
            <a:r>
              <a:rPr lang="zh-CN" altLang="zh-CN" sz="2200" dirty="0"/>
              <a:t>，建立翻译模式时遵循以下原则：</a:t>
            </a:r>
          </a:p>
        </p:txBody>
      </p:sp>
      <p:sp>
        <p:nvSpPr>
          <p:cNvPr id="2" name="矩形 1"/>
          <p:cNvSpPr/>
          <p:nvPr/>
        </p:nvSpPr>
        <p:spPr>
          <a:xfrm>
            <a:off x="444352" y="1987268"/>
            <a:ext cx="5112568" cy="255454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342900" lvl="1" indent="-342900">
              <a:buFont typeface="Wingdings" panose="05000000000000000000" pitchFamily="2" charset="2"/>
              <a:buChar char="Ø"/>
              <a:defRPr/>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）产生式右部符号的继承属性必须在这个符号以前的动作中计算出来；</a:t>
            </a:r>
            <a:endParaRPr lang="en-US" altLang="zh-CN" sz="2000" dirty="0">
              <a:latin typeface="宋体" panose="02010600030101010101" pitchFamily="2" charset="-122"/>
              <a:ea typeface="宋体" panose="02010600030101010101" pitchFamily="2" charset="-122"/>
            </a:endParaRPr>
          </a:p>
          <a:p>
            <a:pPr marL="342900" lvl="1" indent="-342900">
              <a:buFont typeface="Wingdings" panose="05000000000000000000" pitchFamily="2" charset="2"/>
              <a:buChar char="Ø"/>
              <a:defRPr/>
            </a:pPr>
            <a:endParaRPr lang="en-US" altLang="zh-CN" sz="2000" dirty="0">
              <a:latin typeface="宋体" panose="02010600030101010101" pitchFamily="2" charset="-122"/>
              <a:ea typeface="宋体" panose="02010600030101010101" pitchFamily="2" charset="-122"/>
            </a:endParaRPr>
          </a:p>
          <a:p>
            <a:pPr marL="342900" lvl="1" indent="-342900">
              <a:buFont typeface="Wingdings" panose="05000000000000000000" pitchFamily="2" charset="2"/>
              <a:buChar char="Ø"/>
              <a:defRPr/>
            </a:pPr>
            <a:endParaRPr lang="en-US" altLang="zh-CN" sz="2000" dirty="0">
              <a:latin typeface="宋体" panose="02010600030101010101" pitchFamily="2" charset="-122"/>
              <a:ea typeface="宋体" panose="02010600030101010101" pitchFamily="2" charset="-122"/>
            </a:endParaRPr>
          </a:p>
          <a:p>
            <a:pPr marL="342900" lvl="1" indent="-342900">
              <a:buFont typeface="Wingdings" panose="05000000000000000000" pitchFamily="2" charset="2"/>
              <a:buChar char="Ø"/>
              <a:defRPr/>
            </a:pPr>
            <a:endParaRPr lang="en-US" altLang="zh-CN" sz="2000" dirty="0">
              <a:latin typeface="宋体" panose="02010600030101010101" pitchFamily="2" charset="-122"/>
              <a:ea typeface="宋体" panose="02010600030101010101" pitchFamily="2" charset="-122"/>
            </a:endParaRPr>
          </a:p>
          <a:p>
            <a:pPr marL="342900" lvl="1" indent="-342900">
              <a:buFont typeface="Wingdings" panose="05000000000000000000" pitchFamily="2" charset="2"/>
              <a:buChar char="Ø"/>
              <a:defRPr/>
            </a:pPr>
            <a:endParaRPr lang="en-US" altLang="zh-CN" sz="2000" dirty="0">
              <a:latin typeface="宋体" panose="02010600030101010101" pitchFamily="2" charset="-122"/>
              <a:ea typeface="宋体" panose="02010600030101010101" pitchFamily="2" charset="-122"/>
            </a:endParaRPr>
          </a:p>
          <a:p>
            <a:pPr marL="342900" lvl="1" indent="-342900">
              <a:buFont typeface="Wingdings" panose="05000000000000000000" pitchFamily="2" charset="2"/>
              <a:buChar char="Ø"/>
              <a:defRPr/>
            </a:pPr>
            <a:endParaRPr lang="en-US" altLang="zh-CN" sz="2000" dirty="0">
              <a:latin typeface="宋体" panose="02010600030101010101" pitchFamily="2" charset="-122"/>
              <a:ea typeface="宋体" panose="02010600030101010101" pitchFamily="2" charset="-122"/>
            </a:endParaRPr>
          </a:p>
          <a:p>
            <a:pPr marL="342900" lvl="1" indent="-342900">
              <a:buFont typeface="Wingdings" panose="05000000000000000000" pitchFamily="2" charset="2"/>
              <a:buChar char="Ø"/>
              <a:defRPr/>
            </a:pPr>
            <a:endParaRPr lang="zh-CN" altLang="zh-CN" sz="2000" dirty="0">
              <a:latin typeface="宋体" panose="02010600030101010101" pitchFamily="2" charset="-122"/>
              <a:ea typeface="宋体" panose="02010600030101010101" pitchFamily="2"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069648871"/>
              </p:ext>
            </p:extLst>
          </p:nvPr>
        </p:nvGraphicFramePr>
        <p:xfrm>
          <a:off x="5724128" y="2362670"/>
          <a:ext cx="3232150" cy="2436813"/>
        </p:xfrm>
        <a:graphic>
          <a:graphicData uri="http://schemas.openxmlformats.org/presentationml/2006/ole">
            <mc:AlternateContent xmlns:mc="http://schemas.openxmlformats.org/markup-compatibility/2006">
              <mc:Choice xmlns:v="urn:schemas-microsoft-com:vml" Requires="v">
                <p:oleObj spid="_x0000_s13317" name="Visio" r:id="rId3" imgW="2108029" imgH="1592136" progId="Visio.Drawing.11">
                  <p:embed/>
                </p:oleObj>
              </mc:Choice>
              <mc:Fallback>
                <p:oleObj name="Visio" r:id="rId3" imgW="2108029" imgH="1592136" progId="Visio.Drawing.11">
                  <p:embed/>
                  <p:pic>
                    <p:nvPicPr>
                      <p:cNvPr id="3"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2362670"/>
                        <a:ext cx="3232150" cy="2436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3"/>
          <p:cNvSpPr/>
          <p:nvPr/>
        </p:nvSpPr>
        <p:spPr>
          <a:xfrm>
            <a:off x="431540" y="2655952"/>
            <a:ext cx="5112568" cy="707886"/>
          </a:xfrm>
          <a:prstGeom prst="rect">
            <a:avLst/>
          </a:prstGeom>
        </p:spPr>
        <p:txBody>
          <a:bodyPr wrap="square">
            <a:spAutoFit/>
          </a:bodyPr>
          <a:lstStyle/>
          <a:p>
            <a:pPr marL="342900" lvl="1" indent="-342900">
              <a:buFont typeface="Wingdings" panose="05000000000000000000" pitchFamily="2" charset="2"/>
              <a:buChar char="Ø"/>
              <a:defRPr/>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zh-CN" sz="2000" dirty="0">
                <a:latin typeface="宋体" panose="02010600030101010101" pitchFamily="2" charset="-122"/>
                <a:ea typeface="宋体" panose="02010600030101010101" pitchFamily="2" charset="-122"/>
              </a:rPr>
              <a:t>）一个动作不能引用这个动作右部的符号的综合属性；</a:t>
            </a:r>
          </a:p>
        </p:txBody>
      </p:sp>
      <p:sp>
        <p:nvSpPr>
          <p:cNvPr id="5" name="矩形 4"/>
          <p:cNvSpPr/>
          <p:nvPr/>
        </p:nvSpPr>
        <p:spPr>
          <a:xfrm>
            <a:off x="395536" y="3264540"/>
            <a:ext cx="4968552" cy="1323439"/>
          </a:xfrm>
          <a:prstGeom prst="rect">
            <a:avLst/>
          </a:prstGeom>
        </p:spPr>
        <p:txBody>
          <a:bodyPr wrap="square">
            <a:spAutoFit/>
          </a:bodyPr>
          <a:lstStyle/>
          <a:p>
            <a:pPr marL="342900" lvl="1" indent="-342900">
              <a:buFont typeface="Wingdings" panose="05000000000000000000" pitchFamily="2" charset="2"/>
              <a:buChar char="Ø"/>
              <a:defRPr/>
            </a:pP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a:t>
            </a:r>
            <a:r>
              <a:rPr lang="zh-CN" altLang="zh-CN" sz="2000" dirty="0">
                <a:latin typeface="宋体" panose="02010600030101010101" pitchFamily="2" charset="-122"/>
                <a:ea typeface="宋体" panose="02010600030101010101" pitchFamily="2" charset="-122"/>
              </a:rPr>
              <a:t>）产生式左部非终结符的综合属性只有在它所引用的所有属性都计算出来以后才能计算。这种语义规则通常可以放在产生式右部的末尾。</a:t>
            </a:r>
            <a:endParaRPr lang="zh-CN" altLang="en-US" sz="20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47231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P spid="2" grpId="0" animBg="1"/>
      <p:bldP spid="4" grpId="0"/>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95486"/>
            <a:ext cx="5619601" cy="1425178"/>
          </a:xfrm>
        </p:spPr>
        <p:txBody>
          <a:bodyPr>
            <a:normAutofit/>
          </a:bodyPr>
          <a:lstStyle/>
          <a:p>
            <a:pPr marL="0" indent="0">
              <a:buFontTx/>
              <a:buNone/>
              <a:defRPr/>
            </a:pPr>
            <a:r>
              <a:rPr lang="zh-CN" altLang="zh-CN" sz="2200" dirty="0"/>
              <a:t>下述翻译模式不满足这三个条件</a:t>
            </a:r>
          </a:p>
          <a:p>
            <a:pPr marL="0" indent="0">
              <a:buFontTx/>
              <a:buNone/>
              <a:defRPr/>
            </a:pPr>
            <a:r>
              <a:rPr lang="zh-CN" altLang="zh-CN" sz="2200" dirty="0"/>
              <a:t>（</a:t>
            </a:r>
            <a:r>
              <a:rPr lang="en-US" altLang="zh-CN" sz="2200" dirty="0"/>
              <a:t>1</a:t>
            </a:r>
            <a:r>
              <a:rPr lang="zh-CN" altLang="zh-CN" sz="2200" dirty="0"/>
              <a:t>）</a:t>
            </a:r>
            <a:r>
              <a:rPr lang="en-US" altLang="zh-CN" sz="2200" dirty="0"/>
              <a:t>S</a:t>
            </a:r>
            <a:r>
              <a:rPr lang="zh-CN" altLang="zh-CN" sz="2200" dirty="0"/>
              <a:t>→</a:t>
            </a:r>
            <a:r>
              <a:rPr lang="en-US" altLang="zh-CN" sz="2200" dirty="0"/>
              <a:t>A</a:t>
            </a:r>
            <a:r>
              <a:rPr lang="en-US" altLang="zh-CN" sz="2200" baseline="-25000" dirty="0"/>
              <a:t>1</a:t>
            </a:r>
            <a:r>
              <a:rPr lang="en-US" altLang="zh-CN" sz="2200" dirty="0"/>
              <a:t>A</a:t>
            </a:r>
            <a:r>
              <a:rPr lang="en-US" altLang="zh-CN" sz="2200" baseline="-25000" dirty="0"/>
              <a:t>2</a:t>
            </a:r>
            <a:r>
              <a:rPr lang="en-US" altLang="zh-CN" sz="2200" dirty="0"/>
              <a:t>  {A</a:t>
            </a:r>
            <a:r>
              <a:rPr lang="en-US" altLang="zh-CN" sz="2200" baseline="-25000" dirty="0"/>
              <a:t>1</a:t>
            </a:r>
            <a:r>
              <a:rPr lang="en-US" altLang="zh-CN" sz="2200" dirty="0"/>
              <a:t>.in = 1</a:t>
            </a:r>
            <a:r>
              <a:rPr lang="zh-CN" altLang="zh-CN" sz="2200" dirty="0"/>
              <a:t>；</a:t>
            </a:r>
            <a:r>
              <a:rPr lang="en-US" altLang="zh-CN" sz="2200" dirty="0"/>
              <a:t>A</a:t>
            </a:r>
            <a:r>
              <a:rPr lang="en-US" altLang="zh-CN" sz="2200" baseline="-25000" dirty="0"/>
              <a:t>2</a:t>
            </a:r>
            <a:r>
              <a:rPr lang="en-US" altLang="zh-CN" sz="2200" dirty="0"/>
              <a:t>.in = 2}</a:t>
            </a:r>
            <a:endParaRPr lang="zh-CN" altLang="zh-CN" sz="2200" dirty="0"/>
          </a:p>
          <a:p>
            <a:pPr marL="0" indent="0">
              <a:buFontTx/>
              <a:buNone/>
              <a:defRPr/>
            </a:pPr>
            <a:r>
              <a:rPr lang="zh-CN" altLang="zh-CN" sz="2200" dirty="0"/>
              <a:t>（</a:t>
            </a:r>
            <a:r>
              <a:rPr lang="en-US" altLang="zh-CN" sz="2200" dirty="0"/>
              <a:t>2</a:t>
            </a:r>
            <a:r>
              <a:rPr lang="zh-CN" altLang="zh-CN" sz="2200" dirty="0"/>
              <a:t>）</a:t>
            </a:r>
            <a:r>
              <a:rPr lang="en-US" altLang="zh-CN" sz="2200" dirty="0"/>
              <a:t>A</a:t>
            </a:r>
            <a:r>
              <a:rPr lang="zh-CN" altLang="zh-CN" sz="2200" dirty="0"/>
              <a:t>→</a:t>
            </a:r>
            <a:r>
              <a:rPr lang="en-US" altLang="zh-CN" sz="2200" dirty="0"/>
              <a:t>a     {print(A.in)}</a:t>
            </a:r>
            <a:endParaRPr lang="zh-CN" altLang="zh-CN" sz="2200" dirty="0"/>
          </a:p>
          <a:p>
            <a:pPr>
              <a:defRPr/>
            </a:pPr>
            <a:endParaRPr lang="zh-CN" altLang="en-US" sz="2200" dirty="0"/>
          </a:p>
        </p:txBody>
      </p:sp>
      <p:sp>
        <p:nvSpPr>
          <p:cNvPr id="44035" name="Rectangle 2"/>
          <p:cNvSpPr>
            <a:spLocks noChangeArrowheads="1"/>
          </p:cNvSpPr>
          <p:nvPr/>
        </p:nvSpPr>
        <p:spPr bwMode="auto">
          <a:xfrm>
            <a:off x="827088" y="2826693"/>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graphicFrame>
        <p:nvGraphicFramePr>
          <p:cNvPr id="44037" name="对象 6"/>
          <p:cNvGraphicFramePr>
            <a:graphicFrameLocks noChangeAspect="1"/>
          </p:cNvGraphicFramePr>
          <p:nvPr>
            <p:extLst>
              <p:ext uri="{D42A27DB-BD31-4B8C-83A1-F6EECF244321}">
                <p14:modId xmlns:p14="http://schemas.microsoft.com/office/powerpoint/2010/main" val="3972643818"/>
              </p:ext>
            </p:extLst>
          </p:nvPr>
        </p:nvGraphicFramePr>
        <p:xfrm>
          <a:off x="4139952" y="1419622"/>
          <a:ext cx="4964691" cy="2186782"/>
        </p:xfrm>
        <a:graphic>
          <a:graphicData uri="http://schemas.openxmlformats.org/presentationml/2006/ole">
            <mc:AlternateContent xmlns:mc="http://schemas.openxmlformats.org/markup-compatibility/2006">
              <mc:Choice xmlns:v="urn:schemas-microsoft-com:vml" Requires="v">
                <p:oleObj spid="_x0000_s14341" name="Visio" r:id="rId3" imgW="2078250" imgH="1218024" progId="Visio.Drawing.11">
                  <p:embed/>
                </p:oleObj>
              </mc:Choice>
              <mc:Fallback>
                <p:oleObj name="Visio" r:id="rId3" imgW="2078250" imgH="1218024" progId="Visio.Drawing.11">
                  <p:embed/>
                  <p:pic>
                    <p:nvPicPr>
                      <p:cNvPr id="44037" name="对象 6"/>
                      <p:cNvPicPr>
                        <a:picLocks noChangeAspect="1" noChangeArrowheads="1"/>
                      </p:cNvPicPr>
                      <p:nvPr/>
                    </p:nvPicPr>
                    <p:blipFill>
                      <a:blip r:embed="rId4"/>
                      <a:srcRect/>
                      <a:stretch>
                        <a:fillRect/>
                      </a:stretch>
                    </p:blipFill>
                    <p:spPr bwMode="auto">
                      <a:xfrm>
                        <a:off x="4139952" y="1419622"/>
                        <a:ext cx="4964691" cy="2186782"/>
                      </a:xfrm>
                      <a:prstGeom prst="rect">
                        <a:avLst/>
                      </a:prstGeom>
                      <a:noFill/>
                      <a:ln>
                        <a:noFill/>
                      </a:ln>
                    </p:spPr>
                  </p:pic>
                </p:oleObj>
              </mc:Fallback>
            </mc:AlternateContent>
          </a:graphicData>
        </a:graphic>
      </p:graphicFrame>
      <p:sp>
        <p:nvSpPr>
          <p:cNvPr id="8" name="矩形 7"/>
          <p:cNvSpPr/>
          <p:nvPr/>
        </p:nvSpPr>
        <p:spPr>
          <a:xfrm>
            <a:off x="536575" y="3788569"/>
            <a:ext cx="2005677" cy="369332"/>
          </a:xfrm>
          <a:prstGeom prst="rect">
            <a:avLst/>
          </a:prstGeom>
        </p:spPr>
        <p:txBody>
          <a:bodyPr wrap="none">
            <a:spAutoFit/>
          </a:bodyPr>
          <a:lstStyle/>
          <a:p>
            <a:pPr eaLnBrk="1" hangingPunct="1">
              <a:buFontTx/>
              <a:buNone/>
              <a:defRPr/>
            </a:pPr>
            <a:r>
              <a:rPr lang="zh-CN" altLang="zh-CN" kern="100" dirty="0">
                <a:latin typeface="Times New Roman" panose="02020603050405020304" pitchFamily="18" charset="0"/>
                <a:cs typeface="Times New Roman" panose="02020603050405020304" pitchFamily="18" charset="0"/>
              </a:rPr>
              <a:t>输入串</a:t>
            </a:r>
            <a:r>
              <a:rPr lang="en-US" altLang="zh-CN" kern="100" dirty="0" err="1">
                <a:latin typeface="Times New Roman" panose="02020603050405020304" pitchFamily="18" charset="0"/>
              </a:rPr>
              <a:t>aa</a:t>
            </a:r>
            <a:r>
              <a:rPr lang="zh-CN" altLang="zh-CN" kern="100" dirty="0">
                <a:latin typeface="Times New Roman" panose="02020603050405020304" pitchFamily="18" charset="0"/>
                <a:cs typeface="Times New Roman" panose="02020603050405020304" pitchFamily="18" charset="0"/>
              </a:rPr>
              <a:t>的语法树</a:t>
            </a:r>
            <a:endParaRPr lang="zh-CN" altLang="en-US" dirty="0">
              <a:latin typeface="Arial" pitchFamily="34" charset="0"/>
            </a:endParaRPr>
          </a:p>
        </p:txBody>
      </p:sp>
      <p:sp>
        <p:nvSpPr>
          <p:cNvPr id="9" name="矩形 8"/>
          <p:cNvSpPr/>
          <p:nvPr/>
        </p:nvSpPr>
        <p:spPr>
          <a:xfrm>
            <a:off x="4788024" y="3678674"/>
            <a:ext cx="3390672" cy="369332"/>
          </a:xfrm>
          <a:prstGeom prst="rect">
            <a:avLst/>
          </a:prstGeom>
        </p:spPr>
        <p:txBody>
          <a:bodyPr wrap="none">
            <a:spAutoFit/>
          </a:bodyPr>
          <a:lstStyle/>
          <a:p>
            <a:pPr eaLnBrk="1" hangingPunct="1">
              <a:buFontTx/>
              <a:buNone/>
              <a:defRPr/>
            </a:pPr>
            <a:r>
              <a:rPr lang="zh-CN" altLang="zh-CN" kern="100" dirty="0">
                <a:latin typeface="Times New Roman" panose="02020603050405020304" pitchFamily="18" charset="0"/>
                <a:cs typeface="Times New Roman" panose="02020603050405020304" pitchFamily="18" charset="0"/>
              </a:rPr>
              <a:t>输入串</a:t>
            </a:r>
            <a:r>
              <a:rPr lang="en-US" altLang="zh-CN" kern="100" dirty="0" err="1">
                <a:latin typeface="Times New Roman" panose="02020603050405020304" pitchFamily="18" charset="0"/>
              </a:rPr>
              <a:t>aa</a:t>
            </a:r>
            <a:r>
              <a:rPr lang="zh-CN" altLang="zh-CN" kern="100" dirty="0">
                <a:latin typeface="Times New Roman" panose="02020603050405020304" pitchFamily="18" charset="0"/>
                <a:cs typeface="Times New Roman" panose="02020603050405020304" pitchFamily="18" charset="0"/>
              </a:rPr>
              <a:t>的带执行顺序的语法树</a:t>
            </a:r>
            <a:endParaRPr lang="zh-CN" altLang="en-US" dirty="0">
              <a:latin typeface="Arial" pitchFamily="34" charset="0"/>
            </a:endParaRPr>
          </a:p>
        </p:txBody>
      </p:sp>
      <p:sp>
        <p:nvSpPr>
          <p:cNvPr id="10" name="矩形 9"/>
          <p:cNvSpPr/>
          <p:nvPr/>
        </p:nvSpPr>
        <p:spPr>
          <a:xfrm>
            <a:off x="833438" y="4437460"/>
            <a:ext cx="6115050" cy="584775"/>
          </a:xfrm>
          <a:prstGeom prst="rect">
            <a:avLst/>
          </a:prstGeom>
          <a:solidFill>
            <a:schemeClr val="bg1"/>
          </a:solidFill>
        </p:spPr>
        <p:txBody>
          <a:bodyPr>
            <a:spAutoFit/>
          </a:bodyPr>
          <a:lstStyle/>
          <a:p>
            <a:pPr eaLnBrk="1" hangingPunct="1">
              <a:buFontTx/>
              <a:buNone/>
              <a:defRPr/>
            </a:pPr>
            <a:r>
              <a:rPr lang="en-US" altLang="zh-CN" sz="3200" kern="100" dirty="0">
                <a:latin typeface="Times New Roman" panose="02020603050405020304" pitchFamily="18" charset="0"/>
              </a:rPr>
              <a:t>S</a:t>
            </a:r>
            <a:r>
              <a:rPr lang="zh-CN" altLang="zh-CN" sz="3200" kern="100" dirty="0">
                <a:latin typeface="Times New Roman" panose="02020603050405020304" pitchFamily="18" charset="0"/>
                <a:cs typeface="Times New Roman" panose="02020603050405020304" pitchFamily="18" charset="0"/>
              </a:rPr>
              <a:t>→</a:t>
            </a:r>
            <a:r>
              <a:rPr lang="en-US" altLang="zh-CN" sz="3200" kern="100" dirty="0">
                <a:latin typeface="Times New Roman" panose="02020603050405020304" pitchFamily="18" charset="0"/>
              </a:rPr>
              <a:t>{A</a:t>
            </a:r>
            <a:r>
              <a:rPr lang="en-US" altLang="zh-CN" sz="3200" kern="100" baseline="-25000" dirty="0">
                <a:latin typeface="Times New Roman" panose="02020603050405020304" pitchFamily="18" charset="0"/>
              </a:rPr>
              <a:t>1</a:t>
            </a:r>
            <a:r>
              <a:rPr lang="en-US" altLang="zh-CN" sz="3200" kern="100" dirty="0">
                <a:latin typeface="Times New Roman" panose="02020603050405020304" pitchFamily="18" charset="0"/>
              </a:rPr>
              <a:t>.in = 1}A</a:t>
            </a:r>
            <a:r>
              <a:rPr lang="en-US" altLang="zh-CN" sz="3200" kern="100" baseline="-25000" dirty="0">
                <a:latin typeface="Times New Roman" panose="02020603050405020304" pitchFamily="18" charset="0"/>
              </a:rPr>
              <a:t>1</a:t>
            </a:r>
            <a:r>
              <a:rPr lang="en-US" altLang="zh-CN" sz="3200" kern="100" dirty="0">
                <a:latin typeface="Times New Roman" panose="02020603050405020304" pitchFamily="18" charset="0"/>
              </a:rPr>
              <a:t> { A</a:t>
            </a:r>
            <a:r>
              <a:rPr lang="en-US" altLang="zh-CN" sz="3200" kern="100" baseline="-25000" dirty="0">
                <a:latin typeface="Times New Roman" panose="02020603050405020304" pitchFamily="18" charset="0"/>
              </a:rPr>
              <a:t>2</a:t>
            </a:r>
            <a:r>
              <a:rPr lang="en-US" altLang="zh-CN" sz="3200" kern="100" dirty="0">
                <a:latin typeface="Times New Roman" panose="02020603050405020304" pitchFamily="18" charset="0"/>
              </a:rPr>
              <a:t>.in = 2}A</a:t>
            </a:r>
            <a:r>
              <a:rPr lang="en-US" altLang="zh-CN" sz="3200" kern="100" baseline="-25000" dirty="0">
                <a:latin typeface="Times New Roman" panose="02020603050405020304" pitchFamily="18" charset="0"/>
              </a:rPr>
              <a:t>2</a:t>
            </a:r>
            <a:endParaRPr lang="zh-CN" altLang="en-US" sz="3200" dirty="0">
              <a:latin typeface="Arial" pitchFamily="34" charset="0"/>
            </a:endParaRPr>
          </a:p>
        </p:txBody>
      </p:sp>
      <p:sp>
        <p:nvSpPr>
          <p:cNvPr id="11" name="TextBox 10"/>
          <p:cNvSpPr txBox="1"/>
          <p:nvPr/>
        </p:nvSpPr>
        <p:spPr>
          <a:xfrm>
            <a:off x="1390484" y="1729720"/>
            <a:ext cx="396044" cy="369332"/>
          </a:xfrm>
          <a:prstGeom prst="rect">
            <a:avLst/>
          </a:prstGeom>
          <a:noFill/>
        </p:spPr>
        <p:txBody>
          <a:bodyPr wrap="square" rtlCol="0">
            <a:spAutoFit/>
          </a:bodyPr>
          <a:lstStyle/>
          <a:p>
            <a:r>
              <a:rPr lang="en-US" altLang="zh-CN" dirty="0"/>
              <a:t>S</a:t>
            </a:r>
            <a:endParaRPr lang="zh-CN" altLang="en-US" dirty="0"/>
          </a:p>
        </p:txBody>
      </p:sp>
      <p:sp>
        <p:nvSpPr>
          <p:cNvPr id="12" name="TextBox 11"/>
          <p:cNvSpPr txBox="1"/>
          <p:nvPr/>
        </p:nvSpPr>
        <p:spPr>
          <a:xfrm>
            <a:off x="742412" y="2240300"/>
            <a:ext cx="1741356" cy="369332"/>
          </a:xfrm>
          <a:prstGeom prst="rect">
            <a:avLst/>
          </a:prstGeom>
          <a:noFill/>
        </p:spPr>
        <p:txBody>
          <a:bodyPr wrap="square" rtlCol="0">
            <a:spAutoFit/>
          </a:bodyPr>
          <a:lstStyle/>
          <a:p>
            <a:r>
              <a:rPr lang="en-US" altLang="zh-CN" dirty="0"/>
              <a:t>A</a:t>
            </a:r>
            <a:r>
              <a:rPr lang="en-US" altLang="zh-CN" baseline="-25000" dirty="0"/>
              <a:t>1</a:t>
            </a:r>
            <a:r>
              <a:rPr lang="en-US" altLang="zh-CN" dirty="0"/>
              <a:t>             A</a:t>
            </a:r>
            <a:r>
              <a:rPr lang="en-US" altLang="zh-CN" baseline="-25000" dirty="0"/>
              <a:t>2</a:t>
            </a:r>
            <a:r>
              <a:rPr lang="en-US" altLang="zh-CN" dirty="0"/>
              <a:t> </a:t>
            </a:r>
            <a:endParaRPr lang="zh-CN" altLang="en-US" dirty="0"/>
          </a:p>
        </p:txBody>
      </p:sp>
      <p:cxnSp>
        <p:nvCxnSpPr>
          <p:cNvPr id="13" name="直接连接符 12"/>
          <p:cNvCxnSpPr/>
          <p:nvPr/>
        </p:nvCxnSpPr>
        <p:spPr>
          <a:xfrm flipH="1">
            <a:off x="958436" y="2058402"/>
            <a:ext cx="558062" cy="18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flipV="1">
            <a:off x="1516498" y="2058402"/>
            <a:ext cx="594066" cy="18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889553" y="2533892"/>
            <a:ext cx="0"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63539" y="2850490"/>
            <a:ext cx="198022" cy="369332"/>
          </a:xfrm>
          <a:prstGeom prst="rect">
            <a:avLst/>
          </a:prstGeom>
          <a:noFill/>
        </p:spPr>
        <p:txBody>
          <a:bodyPr wrap="square" rtlCol="0">
            <a:spAutoFit/>
          </a:bodyPr>
          <a:lstStyle/>
          <a:p>
            <a:r>
              <a:rPr lang="en-US" altLang="zh-CN" dirty="0"/>
              <a:t>a</a:t>
            </a:r>
            <a:endParaRPr lang="zh-CN" altLang="en-US" dirty="0"/>
          </a:p>
        </p:txBody>
      </p:sp>
      <p:sp>
        <p:nvSpPr>
          <p:cNvPr id="17" name="TextBox 16"/>
          <p:cNvSpPr txBox="1"/>
          <p:nvPr/>
        </p:nvSpPr>
        <p:spPr>
          <a:xfrm>
            <a:off x="1979712" y="2850490"/>
            <a:ext cx="288032" cy="369332"/>
          </a:xfrm>
          <a:prstGeom prst="rect">
            <a:avLst/>
          </a:prstGeom>
          <a:noFill/>
        </p:spPr>
        <p:txBody>
          <a:bodyPr wrap="square" rtlCol="0">
            <a:spAutoFit/>
          </a:bodyPr>
          <a:lstStyle/>
          <a:p>
            <a:r>
              <a:rPr lang="en-US" altLang="zh-CN" dirty="0"/>
              <a:t>a</a:t>
            </a:r>
            <a:endParaRPr lang="zh-CN" altLang="en-US" dirty="0"/>
          </a:p>
        </p:txBody>
      </p:sp>
      <p:cxnSp>
        <p:nvCxnSpPr>
          <p:cNvPr id="20" name="直接连接符 19"/>
          <p:cNvCxnSpPr/>
          <p:nvPr/>
        </p:nvCxnSpPr>
        <p:spPr>
          <a:xfrm>
            <a:off x="2119567" y="2562458"/>
            <a:ext cx="0"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0112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403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P spid="16" grpId="0"/>
      <p:bldP spid="1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395288" y="573882"/>
            <a:ext cx="8229600" cy="597694"/>
          </a:xfrm>
        </p:spPr>
        <p:txBody>
          <a:bodyPr>
            <a:normAutofit fontScale="90000"/>
          </a:bodyPr>
          <a:lstStyle/>
          <a:p>
            <a:pPr eaLnBrk="1" hangingPunct="1"/>
            <a:r>
              <a:rPr lang="zh-CN" altLang="en-US" sz="4000" b="1">
                <a:ea typeface="楷体_GB2312" pitchFamily="49" charset="-122"/>
              </a:rPr>
              <a:t>语义子程序的调用时机</a:t>
            </a:r>
          </a:p>
        </p:txBody>
      </p:sp>
      <p:sp>
        <p:nvSpPr>
          <p:cNvPr id="45059" name="Rectangle 3"/>
          <p:cNvSpPr>
            <a:spLocks noGrp="1" noChangeArrowheads="1"/>
          </p:cNvSpPr>
          <p:nvPr>
            <p:ph type="body" idx="1"/>
          </p:nvPr>
        </p:nvSpPr>
        <p:spPr>
          <a:xfrm>
            <a:off x="468313" y="1491853"/>
            <a:ext cx="8229600" cy="2632472"/>
          </a:xfrm>
        </p:spPr>
        <p:txBody>
          <a:bodyPr>
            <a:normAutofit lnSpcReduction="10000"/>
          </a:bodyPr>
          <a:lstStyle/>
          <a:p>
            <a:pPr eaLnBrk="1" hangingPunct="1"/>
            <a:r>
              <a:rPr lang="zh-CN" altLang="en-US" sz="2400" dirty="0"/>
              <a:t>对应每一个产生式编制一个语义子程序，在进行语法分析的过程中，当一个产生式获得匹配时，就调用相应的</a:t>
            </a:r>
            <a:r>
              <a:rPr lang="zh-CN" altLang="en-US" sz="2800" b="1" dirty="0">
                <a:solidFill>
                  <a:srgbClr val="FF3300"/>
                </a:solidFill>
              </a:rPr>
              <a:t>语义子程序</a:t>
            </a:r>
            <a:r>
              <a:rPr lang="zh-CN" altLang="en-US" sz="2400" dirty="0"/>
              <a:t>实现语义检查与翻译。</a:t>
            </a:r>
            <a:endParaRPr lang="en-US" altLang="zh-CN" sz="2400" dirty="0"/>
          </a:p>
          <a:p>
            <a:pPr eaLnBrk="1" hangingPunct="1"/>
            <a:r>
              <a:rPr lang="zh-CN" altLang="en-US" sz="2400" dirty="0"/>
              <a:t>在自下而上语法分析的过程中，每一次归约时就调用相应的语义子程序。</a:t>
            </a:r>
          </a:p>
          <a:p>
            <a:pPr eaLnBrk="1" hangingPunct="1"/>
            <a:r>
              <a:rPr lang="zh-CN" altLang="en-US" sz="2400" dirty="0"/>
              <a:t>在产生式的右部的适当位置，插入相应的语义动作，按照分析的进程，执行遇到的语义动作。</a:t>
            </a:r>
          </a:p>
        </p:txBody>
      </p:sp>
    </p:spTree>
    <p:extLst>
      <p:ext uri="{BB962C8B-B14F-4D97-AF65-F5344CB8AC3E}">
        <p14:creationId xmlns:p14="http://schemas.microsoft.com/office/powerpoint/2010/main" val="2303743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49985" y="1971358"/>
            <a:ext cx="5030544" cy="1323439"/>
          </a:xfrm>
          <a:prstGeom prst="rect">
            <a:avLst/>
          </a:prstGeom>
        </p:spPr>
        <p:txBody>
          <a:bodyPr wrap="none">
            <a:spAutoFit/>
          </a:bodyPr>
          <a:lstStyle/>
          <a:p>
            <a:r>
              <a:rPr lang="en-US" altLang="zh-CN" sz="4400" b="1" dirty="0">
                <a:solidFill>
                  <a:srgbClr val="CC0099"/>
                </a:solidFill>
                <a:ea typeface="隶书" pitchFamily="49" charset="-122"/>
              </a:rPr>
              <a:t>3</a:t>
            </a:r>
            <a:r>
              <a:rPr lang="zh-CN" altLang="en-US" sz="4400" b="1" dirty="0">
                <a:solidFill>
                  <a:srgbClr val="CC0099"/>
                </a:solidFill>
                <a:ea typeface="隶书" pitchFamily="49" charset="-122"/>
              </a:rPr>
              <a:t>、属性文法</a:t>
            </a:r>
          </a:p>
          <a:p>
            <a:r>
              <a:rPr lang="en-US" altLang="zh-CN" sz="3600" b="1" dirty="0">
                <a:solidFill>
                  <a:srgbClr val="CC0099"/>
                </a:solidFill>
                <a:ea typeface="隶书" pitchFamily="49" charset="-122"/>
              </a:rPr>
              <a:t>     </a:t>
            </a:r>
            <a:r>
              <a:rPr lang="en-US" altLang="zh-CN" sz="3200" b="1" dirty="0">
                <a:solidFill>
                  <a:srgbClr val="CC0099"/>
                </a:solidFill>
                <a:ea typeface="隶书" pitchFamily="49" charset="-122"/>
              </a:rPr>
              <a:t>——</a:t>
            </a:r>
            <a:r>
              <a:rPr lang="zh-CN" altLang="en-US" sz="3200" b="1" dirty="0">
                <a:solidFill>
                  <a:srgbClr val="CC0099"/>
                </a:solidFill>
                <a:ea typeface="隶书" pitchFamily="49" charset="-122"/>
              </a:rPr>
              <a:t>建立翻译模式实例</a:t>
            </a:r>
            <a:endParaRPr lang="zh-CN" altLang="en-US" sz="3200" dirty="0"/>
          </a:p>
        </p:txBody>
      </p:sp>
    </p:spTree>
    <p:extLst>
      <p:ext uri="{BB962C8B-B14F-4D97-AF65-F5344CB8AC3E}">
        <p14:creationId xmlns:p14="http://schemas.microsoft.com/office/powerpoint/2010/main" val="5058154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normAutofit fontScale="90000"/>
          </a:bodyPr>
          <a:lstStyle/>
          <a:p>
            <a:r>
              <a:rPr lang="zh-CN" altLang="en-US" dirty="0"/>
              <a:t>排版软件</a:t>
            </a:r>
          </a:p>
        </p:txBody>
      </p:sp>
      <p:pic>
        <p:nvPicPr>
          <p:cNvPr id="4" name="Picture 10" descr="https://ss1.bdstatic.com/70cFvXSh_Q1YnxGkpoWK1HF6hhy/it/u=315877498,4102939927&amp;fm=26&amp;gp=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1857" y="244317"/>
            <a:ext cx="2090423" cy="81526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2" descr="https://ss2.bdstatic.com/70cFvnSh_Q1YnxGkpoWK1HF6hhy/it/u=516300429,765405839&amp;fm=26&amp;gp=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0202" y="357766"/>
            <a:ext cx="1262326" cy="701816"/>
          </a:xfrm>
          <a:prstGeom prst="rect">
            <a:avLst/>
          </a:prstGeom>
          <a:noFill/>
          <a:extLst>
            <a:ext uri="{909E8E84-426E-40DD-AFC4-6F175D3DCCD1}">
              <a14:hiddenFill xmlns:a14="http://schemas.microsoft.com/office/drawing/2010/main">
                <a:solidFill>
                  <a:srgbClr val="FFFFFF"/>
                </a:solidFill>
              </a14:hiddenFill>
            </a:ext>
          </a:extLst>
        </p:spPr>
      </p:pic>
      <p:pic>
        <p:nvPicPr>
          <p:cNvPr id="220162" name="Picture 2" descr="C:\Users\hxy\Documents\Tencent Files\1303366922\Image\C2C\5(3C2O)WZHT_2IOGEX2N8@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358" y="1707655"/>
            <a:ext cx="3108295" cy="3140094"/>
          </a:xfrm>
          <a:prstGeom prst="rect">
            <a:avLst/>
          </a:prstGeom>
          <a:noFill/>
          <a:extLst>
            <a:ext uri="{909E8E84-426E-40DD-AFC4-6F175D3DCCD1}">
              <a14:hiddenFill xmlns:a14="http://schemas.microsoft.com/office/drawing/2010/main">
                <a:solidFill>
                  <a:srgbClr val="FFFFFF"/>
                </a:solidFill>
              </a14:hiddenFill>
            </a:ext>
          </a:extLst>
        </p:spPr>
      </p:pic>
      <p:pic>
        <p:nvPicPr>
          <p:cNvPr id="220164" name="Picture 4" descr="C:\Users\hxy\Documents\Tencent Files\1303366922\Image\C2C\TCJ)VPT1AK25`Q4{@8HL`KO.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7251" y="1707654"/>
            <a:ext cx="3166053" cy="3198443"/>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接连接符 6"/>
          <p:cNvCxnSpPr/>
          <p:nvPr/>
        </p:nvCxnSpPr>
        <p:spPr>
          <a:xfrm>
            <a:off x="868307" y="2304515"/>
            <a:ext cx="187220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812523" y="2304515"/>
            <a:ext cx="28803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890175" y="2244454"/>
            <a:ext cx="3600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22016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23381" y="1626588"/>
            <a:ext cx="3820619" cy="15362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5" name="直接连接符 24"/>
          <p:cNvCxnSpPr/>
          <p:nvPr/>
        </p:nvCxnSpPr>
        <p:spPr>
          <a:xfrm>
            <a:off x="6047068" y="3120112"/>
            <a:ext cx="3600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7004778" y="2931790"/>
            <a:ext cx="181569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7344816" y="190284"/>
            <a:ext cx="1763688" cy="923330"/>
          </a:xfrm>
          <a:prstGeom prst="rect">
            <a:avLst/>
          </a:prstGeom>
          <a:noFill/>
        </p:spPr>
        <p:txBody>
          <a:bodyPr wrap="square" rtlCol="0">
            <a:spAutoFit/>
          </a:bodyPr>
          <a:lstStyle/>
          <a:p>
            <a:r>
              <a:rPr lang="en-US" altLang="zh-CN" sz="5400" dirty="0">
                <a:latin typeface="宋体" panose="02010600030101010101" pitchFamily="2" charset="-122"/>
                <a:ea typeface="宋体" panose="02010600030101010101" pitchFamily="2" charset="-122"/>
              </a:rPr>
              <a:t>Word</a:t>
            </a:r>
            <a:endParaRPr lang="zh-CN" altLang="en-US" sz="5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3694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01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01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016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3568" y="1203598"/>
            <a:ext cx="1944216" cy="648073"/>
          </a:xfrm>
        </p:spPr>
        <p:txBody>
          <a:bodyPr/>
          <a:lstStyle/>
          <a:p>
            <a:r>
              <a:rPr lang="zh-CN" altLang="en-US" dirty="0"/>
              <a:t>给定输入</a:t>
            </a:r>
          </a:p>
        </p:txBody>
      </p:sp>
      <p:sp>
        <p:nvSpPr>
          <p:cNvPr id="3" name="标题 2"/>
          <p:cNvSpPr>
            <a:spLocks noGrp="1"/>
          </p:cNvSpPr>
          <p:nvPr>
            <p:ph type="title"/>
          </p:nvPr>
        </p:nvSpPr>
        <p:spPr>
          <a:xfrm>
            <a:off x="179512" y="123478"/>
            <a:ext cx="8229600" cy="576064"/>
          </a:xfrm>
        </p:spPr>
        <p:txBody>
          <a:bodyPr>
            <a:noAutofit/>
          </a:bodyPr>
          <a:lstStyle/>
          <a:p>
            <a:r>
              <a:rPr lang="zh-CN" altLang="en-US" dirty="0"/>
              <a:t>基于数学格式语言</a:t>
            </a:r>
            <a:r>
              <a:rPr lang="en-US" altLang="zh-CN" dirty="0"/>
              <a:t>EQN</a:t>
            </a:r>
            <a:endParaRPr lang="zh-CN" altLang="en-US" dirty="0"/>
          </a:p>
        </p:txBody>
      </p:sp>
      <p:sp>
        <p:nvSpPr>
          <p:cNvPr id="4" name="TextBox 3"/>
          <p:cNvSpPr txBox="1"/>
          <p:nvPr/>
        </p:nvSpPr>
        <p:spPr>
          <a:xfrm>
            <a:off x="3995937" y="1817849"/>
            <a:ext cx="1152128"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err="1"/>
              <a:t>E</a:t>
            </a:r>
            <a:r>
              <a:rPr lang="en-US" altLang="zh-CN" sz="2800" baseline="-25000" dirty="0" err="1"/>
              <a:t>n</a:t>
            </a:r>
            <a:r>
              <a:rPr lang="en-US" altLang="zh-CN" sz="2800" dirty="0" err="1"/>
              <a:t>.val</a:t>
            </a:r>
            <a:endParaRPr lang="zh-CN" altLang="en-US" sz="2800" dirty="0"/>
          </a:p>
        </p:txBody>
      </p:sp>
      <p:sp>
        <p:nvSpPr>
          <p:cNvPr id="5" name="矩形 4"/>
          <p:cNvSpPr/>
          <p:nvPr/>
        </p:nvSpPr>
        <p:spPr>
          <a:xfrm>
            <a:off x="863027" y="1899446"/>
            <a:ext cx="1798890" cy="461665"/>
          </a:xfrm>
          <a:prstGeom prst="rect">
            <a:avLst/>
          </a:prstGeom>
        </p:spPr>
        <p:txBody>
          <a:bodyPr wrap="none">
            <a:spAutoFit/>
          </a:bodyPr>
          <a:lstStyle/>
          <a:p>
            <a:r>
              <a:rPr lang="en-US" altLang="zh-CN" sz="2400" dirty="0"/>
              <a:t>E sub </a:t>
            </a:r>
            <a:r>
              <a:rPr lang="en-US" altLang="zh-CN" sz="2400" dirty="0" err="1"/>
              <a:t>n.val</a:t>
            </a:r>
            <a:endParaRPr lang="en-US" altLang="zh-CN" sz="2400" dirty="0"/>
          </a:p>
        </p:txBody>
      </p:sp>
      <p:sp>
        <p:nvSpPr>
          <p:cNvPr id="6" name="TextBox 5"/>
          <p:cNvSpPr txBox="1"/>
          <p:nvPr/>
        </p:nvSpPr>
        <p:spPr>
          <a:xfrm>
            <a:off x="4103387" y="3108608"/>
            <a:ext cx="1296144"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E</a:t>
            </a:r>
            <a:r>
              <a:rPr lang="en-US" altLang="zh-CN" sz="2800" baseline="-25000" dirty="0"/>
              <a:t>n</a:t>
            </a:r>
            <a:r>
              <a:rPr lang="en-US" altLang="zh-CN" sz="2800" baseline="-50000" dirty="0"/>
              <a:t>1</a:t>
            </a:r>
            <a:r>
              <a:rPr lang="en-US" altLang="zh-CN" sz="2800" dirty="0"/>
              <a:t>.val</a:t>
            </a:r>
            <a:endParaRPr lang="zh-CN" altLang="en-US" sz="2800" dirty="0"/>
          </a:p>
        </p:txBody>
      </p:sp>
      <p:sp>
        <p:nvSpPr>
          <p:cNvPr id="7" name="矩形 6"/>
          <p:cNvSpPr/>
          <p:nvPr/>
        </p:nvSpPr>
        <p:spPr>
          <a:xfrm>
            <a:off x="863027" y="3190205"/>
            <a:ext cx="2820003" cy="461665"/>
          </a:xfrm>
          <a:prstGeom prst="rect">
            <a:avLst/>
          </a:prstGeom>
        </p:spPr>
        <p:txBody>
          <a:bodyPr wrap="none">
            <a:spAutoFit/>
          </a:bodyPr>
          <a:lstStyle/>
          <a:p>
            <a:r>
              <a:rPr lang="en-US" altLang="zh-CN" sz="2400" dirty="0"/>
              <a:t>E sub n sub 1.val</a:t>
            </a:r>
          </a:p>
        </p:txBody>
      </p:sp>
      <p:sp>
        <p:nvSpPr>
          <p:cNvPr id="8" name="内容占位符 1"/>
          <p:cNvSpPr txBox="1">
            <a:spLocks/>
          </p:cNvSpPr>
          <p:nvPr/>
        </p:nvSpPr>
        <p:spPr>
          <a:xfrm>
            <a:off x="3683030" y="1203597"/>
            <a:ext cx="1716501" cy="648073"/>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zh-CN" altLang="en-US" dirty="0"/>
              <a:t>显示</a:t>
            </a:r>
          </a:p>
        </p:txBody>
      </p:sp>
      <p:sp>
        <p:nvSpPr>
          <p:cNvPr id="9" name="TextBox 8"/>
          <p:cNvSpPr txBox="1"/>
          <p:nvPr/>
        </p:nvSpPr>
        <p:spPr>
          <a:xfrm>
            <a:off x="251519" y="4245358"/>
            <a:ext cx="6189119" cy="769441"/>
          </a:xfrm>
          <a:prstGeom prst="rect">
            <a:avLst/>
          </a:prstGeom>
          <a:solidFill>
            <a:schemeClr val="bg1"/>
          </a:solidFill>
        </p:spPr>
        <p:txBody>
          <a:bodyPr wrap="square" rtlCol="0">
            <a:spAutoFit/>
          </a:bodyPr>
          <a:lstStyle/>
          <a:p>
            <a:pPr marL="342900" indent="-342900">
              <a:buFont typeface="Arial" panose="020B0604020202020204" pitchFamily="34" charset="0"/>
              <a:buChar char="•"/>
            </a:pPr>
            <a:r>
              <a:rPr lang="en-US" altLang="zh-CN" sz="2200" dirty="0"/>
              <a:t>EQN </a:t>
            </a:r>
            <a:r>
              <a:rPr lang="zh-CN" altLang="en-US" sz="2200" dirty="0"/>
              <a:t>实际是根据文本内容，把</a:t>
            </a:r>
            <a:r>
              <a:rPr lang="en-US" altLang="zh-CN" sz="2200" dirty="0"/>
              <a:t>E</a:t>
            </a:r>
            <a:r>
              <a:rPr lang="zh-CN" altLang="en-US" sz="2200" dirty="0"/>
              <a:t>、</a:t>
            </a:r>
            <a:r>
              <a:rPr lang="en-US" altLang="zh-CN" sz="2200" dirty="0"/>
              <a:t>n</a:t>
            </a:r>
            <a:r>
              <a:rPr lang="zh-CN" altLang="en-US" sz="2200" dirty="0"/>
              <a:t>、</a:t>
            </a:r>
            <a:r>
              <a:rPr lang="en-US" altLang="zh-CN" sz="2200" dirty="0"/>
              <a:t>1</a:t>
            </a:r>
            <a:r>
              <a:rPr lang="zh-CN" altLang="en-US" sz="2200" dirty="0"/>
              <a:t>和</a:t>
            </a:r>
            <a:r>
              <a:rPr lang="en-US" altLang="zh-CN" sz="2200" dirty="0"/>
              <a:t>.</a:t>
            </a:r>
            <a:r>
              <a:rPr lang="en-US" altLang="zh-CN" sz="2200" dirty="0" err="1"/>
              <a:t>val</a:t>
            </a:r>
            <a:r>
              <a:rPr lang="zh-CN" altLang="en-US" sz="2200" dirty="0"/>
              <a:t>分别按照不同的大小安放在不同的位置上</a:t>
            </a:r>
          </a:p>
        </p:txBody>
      </p:sp>
      <p:grpSp>
        <p:nvGrpSpPr>
          <p:cNvPr id="17" name="组合 16"/>
          <p:cNvGrpSpPr/>
          <p:nvPr/>
        </p:nvGrpSpPr>
        <p:grpSpPr>
          <a:xfrm>
            <a:off x="6372200" y="1756003"/>
            <a:ext cx="1656184" cy="646912"/>
            <a:chOff x="5796136" y="1203597"/>
            <a:chExt cx="1656184" cy="646912"/>
          </a:xfrm>
        </p:grpSpPr>
        <p:sp>
          <p:nvSpPr>
            <p:cNvPr id="10" name="TextBox 9"/>
            <p:cNvSpPr txBox="1"/>
            <p:nvPr/>
          </p:nvSpPr>
          <p:spPr>
            <a:xfrm>
              <a:off x="5796136" y="1203597"/>
              <a:ext cx="396044"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E</a:t>
              </a:r>
              <a:endParaRPr lang="zh-CN" altLang="en-US" sz="2800" dirty="0"/>
            </a:p>
          </p:txBody>
        </p:sp>
        <p:sp>
          <p:nvSpPr>
            <p:cNvPr id="11" name="TextBox 10"/>
            <p:cNvSpPr txBox="1"/>
            <p:nvPr/>
          </p:nvSpPr>
          <p:spPr>
            <a:xfrm>
              <a:off x="6623554" y="1203597"/>
              <a:ext cx="828766"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a:t>
              </a:r>
              <a:r>
                <a:rPr lang="en-US" altLang="zh-CN" sz="2800" dirty="0" err="1"/>
                <a:t>val</a:t>
              </a:r>
              <a:endParaRPr lang="zh-CN" altLang="en-US" sz="2800" dirty="0"/>
            </a:p>
          </p:txBody>
        </p:sp>
        <p:sp>
          <p:nvSpPr>
            <p:cNvPr id="12" name="TextBox 11"/>
            <p:cNvSpPr txBox="1"/>
            <p:nvPr/>
          </p:nvSpPr>
          <p:spPr>
            <a:xfrm>
              <a:off x="6225804" y="1419622"/>
              <a:ext cx="362419" cy="430887"/>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200" dirty="0"/>
                <a:t>n</a:t>
              </a:r>
              <a:endParaRPr lang="zh-CN" altLang="en-US" sz="2200" dirty="0"/>
            </a:p>
          </p:txBody>
        </p:sp>
      </p:grpSp>
      <p:grpSp>
        <p:nvGrpSpPr>
          <p:cNvPr id="18" name="组合 17"/>
          <p:cNvGrpSpPr/>
          <p:nvPr/>
        </p:nvGrpSpPr>
        <p:grpSpPr>
          <a:xfrm>
            <a:off x="6405825" y="3108608"/>
            <a:ext cx="1982599" cy="737800"/>
            <a:chOff x="5829761" y="3108608"/>
            <a:chExt cx="1982599" cy="737800"/>
          </a:xfrm>
        </p:grpSpPr>
        <p:sp>
          <p:nvSpPr>
            <p:cNvPr id="13" name="TextBox 12"/>
            <p:cNvSpPr txBox="1"/>
            <p:nvPr/>
          </p:nvSpPr>
          <p:spPr>
            <a:xfrm>
              <a:off x="5829761" y="3108608"/>
              <a:ext cx="396044"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E</a:t>
              </a:r>
              <a:endParaRPr lang="zh-CN" altLang="en-US" sz="2800" dirty="0"/>
            </a:p>
          </p:txBody>
        </p:sp>
        <p:sp>
          <p:nvSpPr>
            <p:cNvPr id="14" name="TextBox 13"/>
            <p:cNvSpPr txBox="1"/>
            <p:nvPr/>
          </p:nvSpPr>
          <p:spPr>
            <a:xfrm>
              <a:off x="6983594" y="3108608"/>
              <a:ext cx="828766"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a:t>
              </a:r>
              <a:r>
                <a:rPr lang="en-US" altLang="zh-CN" sz="2800" dirty="0" err="1"/>
                <a:t>val</a:t>
              </a:r>
              <a:endParaRPr lang="zh-CN" altLang="en-US" sz="2800" dirty="0"/>
            </a:p>
          </p:txBody>
        </p:sp>
        <p:sp>
          <p:nvSpPr>
            <p:cNvPr id="15" name="TextBox 14"/>
            <p:cNvSpPr txBox="1"/>
            <p:nvPr/>
          </p:nvSpPr>
          <p:spPr>
            <a:xfrm>
              <a:off x="6259429" y="3291830"/>
              <a:ext cx="362419" cy="430887"/>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200" dirty="0"/>
                <a:t>n</a:t>
              </a:r>
              <a:endParaRPr lang="zh-CN" altLang="en-US" sz="2200" dirty="0"/>
            </a:p>
          </p:txBody>
        </p:sp>
        <p:sp>
          <p:nvSpPr>
            <p:cNvPr id="16" name="TextBox 15"/>
            <p:cNvSpPr txBox="1"/>
            <p:nvPr/>
          </p:nvSpPr>
          <p:spPr>
            <a:xfrm>
              <a:off x="6675518" y="3507854"/>
              <a:ext cx="308076" cy="338554"/>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1600" dirty="0"/>
                <a:t>1</a:t>
              </a:r>
              <a:endParaRPr lang="zh-CN" altLang="en-US" sz="1600" dirty="0"/>
            </a:p>
          </p:txBody>
        </p:sp>
      </p:grpSp>
    </p:spTree>
    <p:extLst>
      <p:ext uri="{BB962C8B-B14F-4D97-AF65-F5344CB8AC3E}">
        <p14:creationId xmlns:p14="http://schemas.microsoft.com/office/powerpoint/2010/main" val="698815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animBg="1"/>
      <p:bldP spid="5" grpId="0"/>
      <p:bldP spid="6" grpId="0" animBg="1"/>
      <p:bldP spid="7" grpId="0"/>
      <p:bldP spid="8" grpId="0"/>
      <p:bldP spid="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内容占位符 8"/>
          <p:cNvGraphicFramePr>
            <a:graphicFrameLocks noGrp="1"/>
          </p:cNvGraphicFramePr>
          <p:nvPr>
            <p:ph idx="1"/>
            <p:extLst>
              <p:ext uri="{D42A27DB-BD31-4B8C-83A1-F6EECF244321}">
                <p14:modId xmlns:p14="http://schemas.microsoft.com/office/powerpoint/2010/main" val="1453143688"/>
              </p:ext>
            </p:extLst>
          </p:nvPr>
        </p:nvGraphicFramePr>
        <p:xfrm>
          <a:off x="179512" y="1059582"/>
          <a:ext cx="5472608" cy="3810000"/>
        </p:xfrm>
        <a:graphic>
          <a:graphicData uri="http://schemas.openxmlformats.org/drawingml/2006/table">
            <a:tbl>
              <a:tblPr firstRow="1" bandRow="1">
                <a:tableStyleId>{5C22544A-7EE6-4342-B048-85BDC9FD1C3A}</a:tableStyleId>
              </a:tblPr>
              <a:tblGrid>
                <a:gridCol w="1847894">
                  <a:extLst>
                    <a:ext uri="{9D8B030D-6E8A-4147-A177-3AD203B41FA5}">
                      <a16:colId xmlns:a16="http://schemas.microsoft.com/office/drawing/2014/main" val="20000"/>
                    </a:ext>
                  </a:extLst>
                </a:gridCol>
                <a:gridCol w="3624714">
                  <a:extLst>
                    <a:ext uri="{9D8B030D-6E8A-4147-A177-3AD203B41FA5}">
                      <a16:colId xmlns:a16="http://schemas.microsoft.com/office/drawing/2014/main" val="20001"/>
                    </a:ext>
                  </a:extLst>
                </a:gridCol>
              </a:tblGrid>
              <a:tr h="370840">
                <a:tc>
                  <a:txBody>
                    <a:bodyPr/>
                    <a:lstStyle/>
                    <a:p>
                      <a:r>
                        <a:rPr lang="zh-CN" altLang="en-US" sz="2200" dirty="0">
                          <a:solidFill>
                            <a:schemeClr val="tx1"/>
                          </a:solidFill>
                          <a:latin typeface="宋体" panose="02010600030101010101" pitchFamily="2" charset="-122"/>
                          <a:ea typeface="宋体" panose="02010600030101010101" pitchFamily="2" charset="-122"/>
                        </a:rPr>
                        <a:t>产生式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2200" dirty="0">
                          <a:solidFill>
                            <a:schemeClr val="tx1"/>
                          </a:solidFill>
                          <a:latin typeface="宋体" panose="02010600030101010101" pitchFamily="2" charset="-122"/>
                          <a:ea typeface="宋体" panose="02010600030101010101" pitchFamily="2" charset="-122"/>
                        </a:rPr>
                        <a:t>语义规则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r>
                        <a:rPr lang="en-US" altLang="zh-CN" sz="2200" dirty="0">
                          <a:solidFill>
                            <a:schemeClr val="tx1"/>
                          </a:solidFill>
                          <a:latin typeface="宋体" panose="02010600030101010101" pitchFamily="2" charset="-122"/>
                          <a:ea typeface="宋体" panose="02010600030101010101" pitchFamily="2" charset="-122"/>
                        </a:rPr>
                        <a:t>S</a:t>
                      </a:r>
                      <a:r>
                        <a:rPr lang="zh-CN" altLang="en-US" sz="2200" dirty="0">
                          <a:solidFill>
                            <a:schemeClr val="tx1"/>
                          </a:solidFill>
                          <a:latin typeface="宋体" panose="02010600030101010101" pitchFamily="2" charset="-122"/>
                          <a:ea typeface="宋体" panose="02010600030101010101" pitchFamily="2" charset="-122"/>
                        </a:rPr>
                        <a:t>→</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endParaRPr lang="zh-CN" altLang="en-US" sz="22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2200" dirty="0">
                          <a:solidFill>
                            <a:schemeClr val="tx1"/>
                          </a:solidFill>
                          <a:latin typeface="宋体" panose="02010600030101010101" pitchFamily="2" charset="-122"/>
                          <a:ea typeface="宋体" panose="02010600030101010101" pitchFamily="2" charset="-122"/>
                        </a:rPr>
                        <a:t>B.ps = 10</a:t>
                      </a:r>
                    </a:p>
                    <a:p>
                      <a:r>
                        <a:rPr lang="en-US" altLang="zh-CN" sz="2200" dirty="0">
                          <a:solidFill>
                            <a:schemeClr val="tx1"/>
                          </a:solidFill>
                          <a:latin typeface="宋体" panose="02010600030101010101" pitchFamily="2" charset="-122"/>
                          <a:ea typeface="宋体" panose="02010600030101010101" pitchFamily="2" charset="-122"/>
                        </a:rPr>
                        <a:t>S.ht = B.ht</a:t>
                      </a:r>
                      <a:endParaRPr lang="zh-CN" altLang="en-US" sz="22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r>
                        <a:rPr lang="en-US" altLang="zh-CN" sz="2200" dirty="0">
                          <a:solidFill>
                            <a:schemeClr val="tx1"/>
                          </a:solidFill>
                          <a:latin typeface="宋体" panose="02010600030101010101" pitchFamily="2" charset="-122"/>
                          <a:ea typeface="宋体" panose="02010600030101010101" pitchFamily="2" charset="-122"/>
                        </a:rPr>
                        <a:t>B</a:t>
                      </a:r>
                      <a:r>
                        <a:rPr lang="zh-CN" altLang="en-US" sz="2200" dirty="0">
                          <a:solidFill>
                            <a:schemeClr val="tx1"/>
                          </a:solidFill>
                          <a:latin typeface="宋体" panose="02010600030101010101" pitchFamily="2" charset="-122"/>
                          <a:ea typeface="宋体" panose="02010600030101010101" pitchFamily="2" charset="-122"/>
                        </a:rPr>
                        <a:t>→</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endParaRPr lang="zh-CN" altLang="en-US" sz="2200" baseline="-250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2200" dirty="0">
                          <a:solidFill>
                            <a:schemeClr val="tx1"/>
                          </a:solidFill>
                          <a:latin typeface="宋体" panose="02010600030101010101" pitchFamily="2" charset="-122"/>
                          <a:ea typeface="宋体" panose="02010600030101010101" pitchFamily="2" charset="-122"/>
                        </a:rPr>
                        <a:t>.ps = B.ps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2200" dirty="0">
                          <a:solidFill>
                            <a:schemeClr val="tx1"/>
                          </a:solidFill>
                          <a:latin typeface="宋体" panose="02010600030101010101" pitchFamily="2" charset="-122"/>
                          <a:ea typeface="宋体" panose="02010600030101010101" pitchFamily="2" charset="-122"/>
                        </a:rPr>
                        <a:t>.ps = B.ps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chemeClr val="tx1"/>
                          </a:solidFill>
                          <a:latin typeface="宋体" panose="02010600030101010101" pitchFamily="2" charset="-122"/>
                          <a:ea typeface="宋体" panose="02010600030101010101" pitchFamily="2" charset="-122"/>
                        </a:rPr>
                        <a:t>B.ht = max(</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2200" dirty="0">
                          <a:solidFill>
                            <a:schemeClr val="tx1"/>
                          </a:solidFill>
                          <a:latin typeface="宋体" panose="02010600030101010101" pitchFamily="2" charset="-122"/>
                          <a:ea typeface="宋体" panose="02010600030101010101" pitchFamily="2" charset="-122"/>
                        </a:rPr>
                        <a:t>.ht,</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 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2200" dirty="0">
                          <a:solidFill>
                            <a:schemeClr val="tx1"/>
                          </a:solidFill>
                          <a:latin typeface="宋体" panose="02010600030101010101" pitchFamily="2" charset="-122"/>
                          <a:ea typeface="宋体" panose="02010600030101010101" pitchFamily="2" charset="-122"/>
                        </a:rPr>
                        <a:t>.ht)</a:t>
                      </a:r>
                      <a:endParaRPr lang="zh-CN" altLang="en-US" sz="22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chemeClr val="tx1"/>
                          </a:solidFill>
                          <a:latin typeface="宋体" panose="02010600030101010101" pitchFamily="2" charset="-122"/>
                          <a:ea typeface="宋体" panose="02010600030101010101" pitchFamily="2" charset="-122"/>
                        </a:rPr>
                        <a:t>B</a:t>
                      </a:r>
                      <a:r>
                        <a:rPr lang="zh-CN" altLang="en-US" sz="2200" dirty="0">
                          <a:solidFill>
                            <a:schemeClr val="tx1"/>
                          </a:solidFill>
                          <a:latin typeface="宋体" panose="02010600030101010101" pitchFamily="2" charset="-122"/>
                          <a:ea typeface="宋体" panose="02010600030101010101" pitchFamily="2" charset="-122"/>
                        </a:rPr>
                        <a:t>→</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 sub 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endParaRPr lang="zh-CN" altLang="en-US" sz="2200" baseline="-250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2200" dirty="0">
                          <a:solidFill>
                            <a:schemeClr val="tx1"/>
                          </a:solidFill>
                          <a:latin typeface="宋体" panose="02010600030101010101" pitchFamily="2" charset="-122"/>
                          <a:ea typeface="宋体" panose="02010600030101010101" pitchFamily="2" charset="-122"/>
                        </a:rPr>
                        <a:t>.ps = B.ps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2200" dirty="0">
                          <a:solidFill>
                            <a:schemeClr val="tx1"/>
                          </a:solidFill>
                          <a:latin typeface="宋体" panose="02010600030101010101" pitchFamily="2" charset="-122"/>
                          <a:ea typeface="宋体" panose="02010600030101010101" pitchFamily="2" charset="-122"/>
                        </a:rPr>
                        <a:t>.ps = shrink(B.ps)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200" dirty="0">
                          <a:solidFill>
                            <a:schemeClr val="tx1"/>
                          </a:solidFill>
                          <a:latin typeface="宋体" panose="02010600030101010101" pitchFamily="2" charset="-122"/>
                          <a:ea typeface="宋体" panose="02010600030101010101" pitchFamily="2" charset="-122"/>
                        </a:rPr>
                        <a:t>B.ht = </a:t>
                      </a:r>
                      <a:r>
                        <a:rPr lang="en-US" altLang="zh-CN" sz="2200" dirty="0" err="1">
                          <a:solidFill>
                            <a:schemeClr val="tx1"/>
                          </a:solidFill>
                          <a:latin typeface="宋体" panose="02010600030101010101" pitchFamily="2" charset="-122"/>
                          <a:ea typeface="宋体" panose="02010600030101010101" pitchFamily="2" charset="-122"/>
                        </a:rPr>
                        <a:t>disp</a:t>
                      </a:r>
                      <a:r>
                        <a:rPr lang="en-US" altLang="zh-CN" sz="2200" dirty="0">
                          <a:solidFill>
                            <a:schemeClr val="tx1"/>
                          </a:solidFill>
                          <a:latin typeface="宋体" panose="02010600030101010101" pitchFamily="2" charset="-122"/>
                          <a:ea typeface="宋体" panose="02010600030101010101" pitchFamily="2" charset="-122"/>
                        </a:rPr>
                        <a:t>(</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2200" dirty="0">
                          <a:solidFill>
                            <a:schemeClr val="tx1"/>
                          </a:solidFill>
                          <a:latin typeface="宋体" panose="02010600030101010101" pitchFamily="2" charset="-122"/>
                          <a:ea typeface="宋体" panose="02010600030101010101" pitchFamily="2" charset="-122"/>
                        </a:rPr>
                        <a:t>.ht,</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 B</a:t>
                      </a:r>
                      <a:r>
                        <a:rPr lang="en-US" altLang="zh-CN" sz="22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2200" dirty="0">
                          <a:solidFill>
                            <a:schemeClr val="tx1"/>
                          </a:solidFill>
                          <a:latin typeface="宋体" panose="02010600030101010101" pitchFamily="2" charset="-122"/>
                          <a:ea typeface="宋体" panose="02010600030101010101" pitchFamily="2" charset="-122"/>
                        </a:rPr>
                        <a:t>.ht)</a:t>
                      </a:r>
                      <a:endParaRPr lang="zh-CN" altLang="en-US" sz="22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r>
                        <a:rPr lang="en-US" altLang="zh-CN" sz="2200" dirty="0">
                          <a:solidFill>
                            <a:schemeClr val="tx1"/>
                          </a:solidFill>
                          <a:latin typeface="宋体" panose="02010600030101010101" pitchFamily="2" charset="-122"/>
                          <a:ea typeface="宋体" panose="02010600030101010101" pitchFamily="2" charset="-122"/>
                        </a:rPr>
                        <a:t>B</a:t>
                      </a:r>
                      <a:r>
                        <a:rPr lang="zh-CN" altLang="en-US" sz="2200" dirty="0">
                          <a:solidFill>
                            <a:schemeClr val="tx1"/>
                          </a:solidFill>
                          <a:latin typeface="宋体" panose="02010600030101010101" pitchFamily="2" charset="-122"/>
                          <a:ea typeface="宋体" panose="02010600030101010101" pitchFamily="2" charset="-122"/>
                        </a:rPr>
                        <a:t>→</a:t>
                      </a:r>
                      <a:r>
                        <a:rPr lang="en-US" altLang="zh-CN" sz="2200" dirty="0">
                          <a:solidFill>
                            <a:schemeClr val="tx1"/>
                          </a:solidFill>
                          <a:latin typeface="宋体" panose="02010600030101010101" pitchFamily="2" charset="-122"/>
                          <a:ea typeface="宋体" panose="02010600030101010101" pitchFamily="2" charset="-122"/>
                          <a:sym typeface="Wingdings" panose="05000000000000000000" pitchFamily="2" charset="2"/>
                        </a:rPr>
                        <a:t>text</a:t>
                      </a:r>
                      <a:endParaRPr lang="zh-CN" altLang="en-US" sz="22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2200" dirty="0">
                          <a:solidFill>
                            <a:schemeClr val="tx1"/>
                          </a:solidFill>
                          <a:latin typeface="宋体" panose="02010600030101010101" pitchFamily="2" charset="-122"/>
                          <a:ea typeface="宋体" panose="02010600030101010101" pitchFamily="2" charset="-122"/>
                        </a:rPr>
                        <a:t>B.ht = </a:t>
                      </a:r>
                      <a:r>
                        <a:rPr lang="en-US" altLang="zh-CN" sz="2200" dirty="0" err="1">
                          <a:solidFill>
                            <a:schemeClr val="tx1"/>
                          </a:solidFill>
                          <a:latin typeface="宋体" panose="02010600030101010101" pitchFamily="2" charset="-122"/>
                          <a:ea typeface="宋体" panose="02010600030101010101" pitchFamily="2" charset="-122"/>
                        </a:rPr>
                        <a:t>text.h</a:t>
                      </a:r>
                      <a:r>
                        <a:rPr lang="en-US" altLang="zh-CN" sz="2200" dirty="0">
                          <a:solidFill>
                            <a:schemeClr val="tx1"/>
                          </a:solidFill>
                          <a:latin typeface="宋体" panose="02010600030101010101" pitchFamily="2" charset="-122"/>
                          <a:ea typeface="宋体" panose="02010600030101010101" pitchFamily="2" charset="-122"/>
                        </a:rPr>
                        <a:t> ×</a:t>
                      </a:r>
                      <a:r>
                        <a:rPr lang="en-US" altLang="zh-CN" sz="2200" baseline="0" dirty="0">
                          <a:solidFill>
                            <a:schemeClr val="tx1"/>
                          </a:solidFill>
                          <a:latin typeface="宋体" panose="02010600030101010101" pitchFamily="2" charset="-122"/>
                          <a:ea typeface="宋体" panose="02010600030101010101" pitchFamily="2" charset="-122"/>
                        </a:rPr>
                        <a:t> B.ps</a:t>
                      </a:r>
                      <a:endParaRPr lang="zh-CN" altLang="en-US" sz="22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标题 2"/>
          <p:cNvSpPr>
            <a:spLocks noGrp="1"/>
          </p:cNvSpPr>
          <p:nvPr>
            <p:ph type="title"/>
          </p:nvPr>
        </p:nvSpPr>
        <p:spPr>
          <a:xfrm>
            <a:off x="-1819" y="246298"/>
            <a:ext cx="5268251" cy="576064"/>
          </a:xfrm>
        </p:spPr>
        <p:txBody>
          <a:bodyPr>
            <a:normAutofit fontScale="90000"/>
          </a:bodyPr>
          <a:lstStyle/>
          <a:p>
            <a:r>
              <a:rPr lang="zh-CN" altLang="en-US" dirty="0"/>
              <a:t>盒子的语法制导的属性文法</a:t>
            </a:r>
          </a:p>
        </p:txBody>
      </p:sp>
      <p:sp>
        <p:nvSpPr>
          <p:cNvPr id="4" name="矩形 3"/>
          <p:cNvSpPr/>
          <p:nvPr/>
        </p:nvSpPr>
        <p:spPr>
          <a:xfrm>
            <a:off x="5148064" y="178101"/>
            <a:ext cx="1798890" cy="461665"/>
          </a:xfrm>
          <a:prstGeom prst="rect">
            <a:avLst/>
          </a:prstGeom>
        </p:spPr>
        <p:txBody>
          <a:bodyPr wrap="none">
            <a:spAutoFit/>
          </a:bodyPr>
          <a:lstStyle/>
          <a:p>
            <a:r>
              <a:rPr lang="en-US" altLang="zh-CN" sz="2400" dirty="0"/>
              <a:t>E sub </a:t>
            </a:r>
            <a:r>
              <a:rPr lang="en-US" altLang="zh-CN" sz="2400" dirty="0" err="1"/>
              <a:t>n.val</a:t>
            </a:r>
            <a:endParaRPr lang="en-US" altLang="zh-CN" sz="2400" dirty="0"/>
          </a:p>
        </p:txBody>
      </p:sp>
      <p:grpSp>
        <p:nvGrpSpPr>
          <p:cNvPr id="5" name="组合 4"/>
          <p:cNvGrpSpPr/>
          <p:nvPr/>
        </p:nvGrpSpPr>
        <p:grpSpPr>
          <a:xfrm>
            <a:off x="7380312" y="102862"/>
            <a:ext cx="1656184" cy="646912"/>
            <a:chOff x="5796136" y="1203597"/>
            <a:chExt cx="1656184" cy="646912"/>
          </a:xfrm>
        </p:grpSpPr>
        <p:sp>
          <p:nvSpPr>
            <p:cNvPr id="6" name="TextBox 5"/>
            <p:cNvSpPr txBox="1"/>
            <p:nvPr/>
          </p:nvSpPr>
          <p:spPr>
            <a:xfrm>
              <a:off x="5796136" y="1203597"/>
              <a:ext cx="396044"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E</a:t>
              </a:r>
              <a:endParaRPr lang="zh-CN" altLang="en-US" sz="2800" dirty="0"/>
            </a:p>
          </p:txBody>
        </p:sp>
        <p:sp>
          <p:nvSpPr>
            <p:cNvPr id="7" name="TextBox 6"/>
            <p:cNvSpPr txBox="1"/>
            <p:nvPr/>
          </p:nvSpPr>
          <p:spPr>
            <a:xfrm>
              <a:off x="6623554" y="1203597"/>
              <a:ext cx="828766"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a:t>
              </a:r>
              <a:r>
                <a:rPr lang="en-US" altLang="zh-CN" sz="2800" dirty="0" err="1"/>
                <a:t>val</a:t>
              </a:r>
              <a:endParaRPr lang="zh-CN" altLang="en-US" sz="2800" dirty="0"/>
            </a:p>
          </p:txBody>
        </p:sp>
        <p:sp>
          <p:nvSpPr>
            <p:cNvPr id="8" name="TextBox 7"/>
            <p:cNvSpPr txBox="1"/>
            <p:nvPr/>
          </p:nvSpPr>
          <p:spPr>
            <a:xfrm>
              <a:off x="6225804" y="1419622"/>
              <a:ext cx="362419" cy="430887"/>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200" dirty="0"/>
                <a:t>n</a:t>
              </a:r>
              <a:endParaRPr lang="zh-CN" altLang="en-US" sz="2200" dirty="0"/>
            </a:p>
          </p:txBody>
        </p:sp>
      </p:grpSp>
      <p:sp>
        <p:nvSpPr>
          <p:cNvPr id="11" name="线形标注 1 10"/>
          <p:cNvSpPr/>
          <p:nvPr/>
        </p:nvSpPr>
        <p:spPr>
          <a:xfrm>
            <a:off x="5652119" y="749774"/>
            <a:ext cx="3168353" cy="840554"/>
          </a:xfrm>
          <a:prstGeom prst="borderCallout1">
            <a:avLst>
              <a:gd name="adj1" fmla="val -1091"/>
              <a:gd name="adj2" fmla="val -453"/>
              <a:gd name="adj3" fmla="val 112500"/>
              <a:gd name="adj4" fmla="val -38333"/>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latin typeface="宋体" panose="02010600030101010101" pitchFamily="2" charset="-122"/>
                <a:ea typeface="宋体" panose="02010600030101010101" pitchFamily="2" charset="-122"/>
              </a:rPr>
              <a:t>非终结符</a:t>
            </a:r>
            <a:r>
              <a:rPr lang="en-US" altLang="zh-CN" dirty="0">
                <a:latin typeface="宋体" panose="02010600030101010101" pitchFamily="2" charset="-122"/>
                <a:ea typeface="宋体" panose="02010600030101010101" pitchFamily="2" charset="-122"/>
              </a:rPr>
              <a:t>B</a:t>
            </a:r>
            <a:r>
              <a:rPr lang="zh-CN" altLang="en-US" dirty="0">
                <a:latin typeface="宋体" panose="02010600030101010101" pitchFamily="2" charset="-122"/>
                <a:ea typeface="宋体" panose="02010600030101010101" pitchFamily="2" charset="-122"/>
              </a:rPr>
              <a:t>（代表一个盒子）表示一个显示块，公式或文本</a:t>
            </a:r>
            <a:endParaRPr lang="en-US" altLang="zh-CN" dirty="0">
              <a:latin typeface="宋体" panose="02010600030101010101" pitchFamily="2" charset="-122"/>
              <a:ea typeface="宋体" panose="02010600030101010101" pitchFamily="2" charset="-122"/>
            </a:endParaRPr>
          </a:p>
          <a:p>
            <a:r>
              <a:rPr lang="zh-CN" altLang="en-US" dirty="0"/>
              <a:t>继承属性</a:t>
            </a:r>
            <a:r>
              <a:rPr lang="en-US" altLang="zh-CN" dirty="0" err="1"/>
              <a:t>ps</a:t>
            </a:r>
            <a:r>
              <a:rPr lang="zh-CN" altLang="en-US" dirty="0"/>
              <a:t>影响公式的高度</a:t>
            </a:r>
          </a:p>
        </p:txBody>
      </p:sp>
      <p:sp>
        <p:nvSpPr>
          <p:cNvPr id="12" name="线形标注 1 11"/>
          <p:cNvSpPr/>
          <p:nvPr/>
        </p:nvSpPr>
        <p:spPr>
          <a:xfrm>
            <a:off x="5652119" y="1590328"/>
            <a:ext cx="3168353" cy="576064"/>
          </a:xfrm>
          <a:prstGeom prst="borderCallout1">
            <a:avLst>
              <a:gd name="adj1" fmla="val -1091"/>
              <a:gd name="adj2" fmla="val -453"/>
              <a:gd name="adj3" fmla="val 82738"/>
              <a:gd name="adj4" fmla="val -43399"/>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t>综合属性</a:t>
            </a:r>
            <a:r>
              <a:rPr lang="en-US" altLang="zh-CN" dirty="0"/>
              <a:t>B.ht</a:t>
            </a:r>
            <a:r>
              <a:rPr lang="zh-CN" altLang="en-US" dirty="0"/>
              <a:t>代表</a:t>
            </a:r>
            <a:r>
              <a:rPr lang="en-US" altLang="zh-CN" dirty="0"/>
              <a:t>B</a:t>
            </a:r>
            <a:r>
              <a:rPr lang="zh-CN" altLang="en-US" dirty="0"/>
              <a:t>的高度</a:t>
            </a:r>
          </a:p>
        </p:txBody>
      </p:sp>
      <p:sp>
        <p:nvSpPr>
          <p:cNvPr id="13" name="线形标注 1 12"/>
          <p:cNvSpPr/>
          <p:nvPr/>
        </p:nvSpPr>
        <p:spPr>
          <a:xfrm>
            <a:off x="5675637" y="3074986"/>
            <a:ext cx="3144835" cy="792908"/>
          </a:xfrm>
          <a:prstGeom prst="borderCallout1">
            <a:avLst>
              <a:gd name="adj1" fmla="val -1091"/>
              <a:gd name="adj2" fmla="val -453"/>
              <a:gd name="adj3" fmla="val 96584"/>
              <a:gd name="adj4" fmla="val -22948"/>
            </a:avLst>
          </a:prstGeom>
        </p:spPr>
        <p:style>
          <a:lnRef idx="2">
            <a:schemeClr val="accent3"/>
          </a:lnRef>
          <a:fillRef idx="1">
            <a:schemeClr val="lt1"/>
          </a:fillRef>
          <a:effectRef idx="0">
            <a:schemeClr val="accent3"/>
          </a:effectRef>
          <a:fontRef idx="minor">
            <a:schemeClr val="dk1"/>
          </a:fontRef>
        </p:style>
        <p:txBody>
          <a:bodyPr rtlCol="0" anchor="ctr"/>
          <a:lstStyle/>
          <a:p>
            <a:pPr marL="285750" indent="-285750">
              <a:buFont typeface="Arial" panose="020B0604020202020204" pitchFamily="34" charset="0"/>
              <a:buChar char="•"/>
            </a:pPr>
            <a:r>
              <a:rPr lang="en-US" altLang="zh-CN" dirty="0">
                <a:latin typeface="宋体" panose="02010600030101010101" pitchFamily="2" charset="-122"/>
                <a:ea typeface="宋体" panose="02010600030101010101" pitchFamily="2" charset="-122"/>
              </a:rPr>
              <a:t>B</a:t>
            </a:r>
            <a:r>
              <a:rPr lang="en-US" altLang="zh-CN" dirty="0">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latin typeface="宋体" panose="02010600030101010101" pitchFamily="2" charset="-122"/>
                <a:ea typeface="宋体" panose="02010600030101010101" pitchFamily="2" charset="-122"/>
                <a:sym typeface="Wingdings" panose="05000000000000000000" pitchFamily="2" charset="2"/>
              </a:rPr>
              <a:t>1</a:t>
            </a:r>
            <a:r>
              <a:rPr lang="en-US" altLang="zh-CN" dirty="0">
                <a:latin typeface="宋体" panose="02010600030101010101" pitchFamily="2" charset="-122"/>
                <a:ea typeface="宋体" panose="02010600030101010101" pitchFamily="2" charset="-122"/>
                <a:sym typeface="Wingdings" panose="05000000000000000000" pitchFamily="2" charset="2"/>
              </a:rPr>
              <a:t> sub B</a:t>
            </a:r>
            <a:r>
              <a:rPr lang="en-US" altLang="zh-CN" baseline="-25000" dirty="0">
                <a:latin typeface="宋体" panose="02010600030101010101" pitchFamily="2" charset="-122"/>
                <a:ea typeface="宋体" panose="02010600030101010101" pitchFamily="2" charset="-122"/>
                <a:sym typeface="Wingdings" panose="05000000000000000000" pitchFamily="2" charset="2"/>
              </a:rPr>
              <a:t>2</a:t>
            </a:r>
            <a:r>
              <a:rPr lang="zh-CN" altLang="en-US" dirty="0">
                <a:latin typeface="宋体" panose="02010600030101010101" pitchFamily="2" charset="-122"/>
                <a:ea typeface="宋体" panose="02010600030101010101" pitchFamily="2" charset="-122"/>
              </a:rPr>
              <a:t>代表</a:t>
            </a:r>
            <a:r>
              <a:rPr lang="en-US" altLang="zh-CN" dirty="0">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latin typeface="宋体" panose="02010600030101010101" pitchFamily="2" charset="-122"/>
                <a:ea typeface="宋体" panose="02010600030101010101" pitchFamily="2" charset="-122"/>
                <a:sym typeface="Wingdings" panose="05000000000000000000" pitchFamily="2" charset="2"/>
              </a:rPr>
              <a:t>2</a:t>
            </a:r>
            <a:r>
              <a:rPr lang="zh-CN" altLang="en-US" dirty="0">
                <a:latin typeface="宋体" panose="02010600030101010101" pitchFamily="2" charset="-122"/>
                <a:ea typeface="宋体" panose="02010600030101010101" pitchFamily="2" charset="-122"/>
              </a:rPr>
              <a:t>的大小比</a:t>
            </a:r>
            <a:r>
              <a:rPr lang="en-US" altLang="zh-CN" dirty="0">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latin typeface="宋体" panose="02010600030101010101" pitchFamily="2" charset="-122"/>
                <a:ea typeface="宋体" panose="02010600030101010101" pitchFamily="2" charset="-122"/>
                <a:sym typeface="Wingdings" panose="05000000000000000000" pitchFamily="2" charset="2"/>
              </a:rPr>
              <a:t>1</a:t>
            </a:r>
            <a:r>
              <a:rPr lang="zh-CN" altLang="en-US" dirty="0">
                <a:latin typeface="宋体" panose="02010600030101010101" pitchFamily="2" charset="-122"/>
                <a:ea typeface="宋体" panose="02010600030101010101" pitchFamily="2" charset="-122"/>
              </a:rPr>
              <a:t>小，并且放在下角标</a:t>
            </a:r>
            <a:endParaRPr lang="en-US" altLang="zh-CN"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dirty="0">
                <a:latin typeface="宋体" panose="02010600030101010101" pitchFamily="2" charset="-122"/>
                <a:ea typeface="宋体" panose="02010600030101010101" pitchFamily="2" charset="-122"/>
              </a:rPr>
              <a:t>使</a:t>
            </a:r>
            <a:r>
              <a:rPr lang="en-US" altLang="zh-CN" dirty="0">
                <a:latin typeface="宋体" panose="02010600030101010101" pitchFamily="2" charset="-122"/>
                <a:ea typeface="宋体" panose="02010600030101010101" pitchFamily="2" charset="-122"/>
              </a:rPr>
              <a:t>B</a:t>
            </a:r>
            <a:r>
              <a:rPr lang="en-US" altLang="zh-CN" baseline="-25000"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缩小</a:t>
            </a:r>
          </a:p>
        </p:txBody>
      </p:sp>
      <p:sp>
        <p:nvSpPr>
          <p:cNvPr id="14" name="线形标注 1 13"/>
          <p:cNvSpPr/>
          <p:nvPr/>
        </p:nvSpPr>
        <p:spPr>
          <a:xfrm>
            <a:off x="5675637" y="3939902"/>
            <a:ext cx="3144835" cy="576064"/>
          </a:xfrm>
          <a:prstGeom prst="borderCallout1">
            <a:avLst>
              <a:gd name="adj1" fmla="val -1091"/>
              <a:gd name="adj2" fmla="val -453"/>
              <a:gd name="adj3" fmla="val 46362"/>
              <a:gd name="adj4" fmla="val -5686"/>
            </a:avLst>
          </a:prstGeom>
        </p:spPr>
        <p:style>
          <a:lnRef idx="2">
            <a:schemeClr val="accent3"/>
          </a:lnRef>
          <a:fillRef idx="1">
            <a:schemeClr val="lt1"/>
          </a:fillRef>
          <a:effectRef idx="0">
            <a:schemeClr val="accent3"/>
          </a:effectRef>
          <a:fontRef idx="minor">
            <a:schemeClr val="dk1"/>
          </a:fontRef>
        </p:style>
        <p:txBody>
          <a:bodyPr rtlCol="0" anchor="ctr"/>
          <a:lstStyle/>
          <a:p>
            <a:pPr marL="285750" indent="-285750">
              <a:buFont typeface="Arial" panose="020B0604020202020204" pitchFamily="34" charset="0"/>
              <a:buChar char="•"/>
            </a:pPr>
            <a:r>
              <a:rPr lang="zh-CN" altLang="en-US" dirty="0">
                <a:latin typeface="宋体" panose="02010600030101010101" pitchFamily="2" charset="-122"/>
                <a:ea typeface="宋体" panose="02010600030101010101" pitchFamily="2" charset="-122"/>
              </a:rPr>
              <a:t>把</a:t>
            </a:r>
            <a:r>
              <a:rPr lang="en-US" altLang="zh-CN" dirty="0">
                <a:latin typeface="宋体" panose="02010600030101010101" pitchFamily="2" charset="-122"/>
                <a:ea typeface="宋体" panose="02010600030101010101" pitchFamily="2" charset="-122"/>
              </a:rPr>
              <a:t>B</a:t>
            </a:r>
            <a:r>
              <a:rPr lang="en-US" altLang="zh-CN" baseline="-25000"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向下放置，有一个偏移量</a:t>
            </a:r>
          </a:p>
        </p:txBody>
      </p:sp>
      <p:sp>
        <p:nvSpPr>
          <p:cNvPr id="15" name="线形标注 1 14"/>
          <p:cNvSpPr/>
          <p:nvPr/>
        </p:nvSpPr>
        <p:spPr>
          <a:xfrm>
            <a:off x="5652119" y="2283718"/>
            <a:ext cx="3168353" cy="576064"/>
          </a:xfrm>
          <a:prstGeom prst="borderCallout1">
            <a:avLst>
              <a:gd name="adj1" fmla="val -1091"/>
              <a:gd name="adj2" fmla="val -453"/>
              <a:gd name="adj3" fmla="val 82738"/>
              <a:gd name="adj4" fmla="val -43399"/>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latin typeface="宋体" panose="02010600030101010101" pitchFamily="2" charset="-122"/>
                <a:ea typeface="宋体" panose="02010600030101010101" pitchFamily="2" charset="-122"/>
              </a:rPr>
              <a:t>代表两个盒子并置</a:t>
            </a:r>
            <a:endParaRPr lang="en-US" altLang="zh-CN" dirty="0">
              <a:latin typeface="宋体" panose="02010600030101010101" pitchFamily="2" charset="-122"/>
              <a:ea typeface="宋体" panose="02010600030101010101" pitchFamily="2" charset="-122"/>
            </a:endParaRPr>
          </a:p>
        </p:txBody>
      </p:sp>
      <p:sp>
        <p:nvSpPr>
          <p:cNvPr id="16" name="线形标注 1 15"/>
          <p:cNvSpPr/>
          <p:nvPr/>
        </p:nvSpPr>
        <p:spPr>
          <a:xfrm>
            <a:off x="5652119" y="4608512"/>
            <a:ext cx="3144835" cy="483518"/>
          </a:xfrm>
          <a:prstGeom prst="borderCallout1">
            <a:avLst>
              <a:gd name="adj1" fmla="val -1091"/>
              <a:gd name="adj2" fmla="val -453"/>
              <a:gd name="adj3" fmla="val 46362"/>
              <a:gd name="adj4" fmla="val -5686"/>
            </a:avLst>
          </a:prstGeom>
        </p:spPr>
        <p:style>
          <a:lnRef idx="2">
            <a:schemeClr val="accent3"/>
          </a:lnRef>
          <a:fillRef idx="1">
            <a:schemeClr val="lt1"/>
          </a:fillRef>
          <a:effectRef idx="0">
            <a:schemeClr val="accent3"/>
          </a:effectRef>
          <a:fontRef idx="minor">
            <a:schemeClr val="dk1"/>
          </a:fontRef>
        </p:style>
        <p:txBody>
          <a:bodyPr rtlCol="0" anchor="ctr"/>
          <a:lstStyle/>
          <a:p>
            <a:pPr marL="285750" indent="-285750">
              <a:buFont typeface="Arial" panose="020B0604020202020204" pitchFamily="34" charset="0"/>
              <a:buChar char="•"/>
            </a:pPr>
            <a:r>
              <a:rPr lang="en-US" altLang="zh-CN" dirty="0" err="1">
                <a:latin typeface="宋体" panose="02010600030101010101" pitchFamily="2" charset="-122"/>
                <a:ea typeface="宋体" panose="02010600030101010101" pitchFamily="2" charset="-122"/>
              </a:rPr>
              <a:t>B</a:t>
            </a:r>
            <a:r>
              <a:rPr lang="en-US" altLang="zh-CN" dirty="0" err="1">
                <a:latin typeface="宋体" panose="02010600030101010101" pitchFamily="2" charset="-122"/>
                <a:ea typeface="宋体" panose="02010600030101010101" pitchFamily="2" charset="-122"/>
                <a:sym typeface="Wingdings" panose="05000000000000000000" pitchFamily="2" charset="2"/>
              </a:rPr>
              <a:t>text</a:t>
            </a:r>
            <a:r>
              <a:rPr lang="zh-CN" altLang="en-US" dirty="0">
                <a:latin typeface="宋体" panose="02010600030101010101" pitchFamily="2" charset="-122"/>
                <a:ea typeface="宋体" panose="02010600030101010101" pitchFamily="2" charset="-122"/>
                <a:sym typeface="Wingdings" panose="05000000000000000000" pitchFamily="2" charset="2"/>
              </a:rPr>
              <a:t>代表是正文</a:t>
            </a:r>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507518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内容占位符 8"/>
          <p:cNvGraphicFramePr>
            <a:graphicFrameLocks noGrp="1"/>
          </p:cNvGraphicFramePr>
          <p:nvPr>
            <p:ph idx="1"/>
            <p:extLst>
              <p:ext uri="{D42A27DB-BD31-4B8C-83A1-F6EECF244321}">
                <p14:modId xmlns:p14="http://schemas.microsoft.com/office/powerpoint/2010/main" val="3928279519"/>
              </p:ext>
            </p:extLst>
          </p:nvPr>
        </p:nvGraphicFramePr>
        <p:xfrm>
          <a:off x="0" y="639766"/>
          <a:ext cx="5184576" cy="3237992"/>
        </p:xfrm>
        <a:graphic>
          <a:graphicData uri="http://schemas.openxmlformats.org/drawingml/2006/table">
            <a:tbl>
              <a:tblPr firstRow="1" bandRow="1">
                <a:tableStyleId>{5C22544A-7EE6-4342-B048-85BDC9FD1C3A}</a:tableStyleId>
              </a:tblPr>
              <a:tblGrid>
                <a:gridCol w="1512168">
                  <a:extLst>
                    <a:ext uri="{9D8B030D-6E8A-4147-A177-3AD203B41FA5}">
                      <a16:colId xmlns:a16="http://schemas.microsoft.com/office/drawing/2014/main" val="20000"/>
                    </a:ext>
                  </a:extLst>
                </a:gridCol>
                <a:gridCol w="3672408">
                  <a:extLst>
                    <a:ext uri="{9D8B030D-6E8A-4147-A177-3AD203B41FA5}">
                      <a16:colId xmlns:a16="http://schemas.microsoft.com/office/drawing/2014/main" val="20001"/>
                    </a:ext>
                  </a:extLst>
                </a:gridCol>
              </a:tblGrid>
              <a:tr h="370840">
                <a:tc>
                  <a:txBody>
                    <a:bodyPr/>
                    <a:lstStyle/>
                    <a:p>
                      <a:pPr>
                        <a:lnSpc>
                          <a:spcPct val="90000"/>
                        </a:lnSpc>
                      </a:pPr>
                      <a:r>
                        <a:rPr lang="zh-CN" altLang="en-US" sz="1800" dirty="0">
                          <a:solidFill>
                            <a:schemeClr val="tx1"/>
                          </a:solidFill>
                          <a:latin typeface="宋体" panose="02010600030101010101" pitchFamily="2" charset="-122"/>
                          <a:ea typeface="宋体" panose="02010600030101010101" pitchFamily="2" charset="-122"/>
                        </a:rPr>
                        <a:t>产生式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90000"/>
                        </a:lnSpc>
                      </a:pPr>
                      <a:r>
                        <a:rPr lang="zh-CN" altLang="en-US" sz="1800" dirty="0">
                          <a:solidFill>
                            <a:schemeClr val="tx1"/>
                          </a:solidFill>
                          <a:latin typeface="宋体" panose="02010600030101010101" pitchFamily="2" charset="-122"/>
                          <a:ea typeface="宋体" panose="02010600030101010101" pitchFamily="2" charset="-122"/>
                        </a:rPr>
                        <a:t>翻译模式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nSpc>
                          <a:spcPct val="90000"/>
                        </a:lnSpc>
                      </a:pPr>
                      <a:r>
                        <a:rPr lang="en-US" altLang="zh-CN" sz="1800" dirty="0">
                          <a:solidFill>
                            <a:schemeClr val="tx1"/>
                          </a:solidFill>
                          <a:latin typeface="宋体" panose="02010600030101010101" pitchFamily="2" charset="-122"/>
                          <a:ea typeface="宋体" panose="02010600030101010101" pitchFamily="2" charset="-122"/>
                        </a:rPr>
                        <a:t>S</a:t>
                      </a:r>
                      <a:r>
                        <a:rPr lang="zh-CN" altLang="en-US" sz="1800" dirty="0">
                          <a:solidFill>
                            <a:schemeClr val="tx1"/>
                          </a:solidFill>
                          <a:latin typeface="宋体" panose="02010600030101010101" pitchFamily="2" charset="-122"/>
                          <a:ea typeface="宋体" panose="02010600030101010101" pitchFamily="2" charset="-122"/>
                        </a:rPr>
                        <a:t>→</a:t>
                      </a:r>
                      <a:r>
                        <a:rPr lang="en-US" altLang="zh-CN" sz="18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endParaRPr lang="zh-CN" altLang="en-US" sz="18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endParaRPr lang="en-US" altLang="zh-CN" sz="1800" dirty="0">
                        <a:solidFill>
                          <a:srgbClr val="FF0000"/>
                        </a:solidFill>
                        <a:latin typeface="宋体" panose="02010600030101010101" pitchFamily="2" charset="-122"/>
                        <a:ea typeface="宋体" panose="02010600030101010101" pitchFamily="2" charset="-122"/>
                      </a:endParaRPr>
                    </a:p>
                    <a:p>
                      <a:pPr marL="0" marR="0" indent="0" algn="l" defTabSz="914400" rtl="0" eaLnBrk="1" fontAlgn="auto" latinLnBrk="0" hangingPunct="1">
                        <a:lnSpc>
                          <a:spcPct val="90000"/>
                        </a:lnSpc>
                        <a:spcBef>
                          <a:spcPts val="0"/>
                        </a:spcBef>
                        <a:spcAft>
                          <a:spcPts val="0"/>
                        </a:spcAft>
                        <a:buClrTx/>
                        <a:buSzTx/>
                        <a:buFontTx/>
                        <a:buNone/>
                        <a:tabLst/>
                        <a:defRPr/>
                      </a:pPr>
                      <a:endParaRPr lang="zh-CN" altLang="en-US" sz="1800" dirty="0">
                        <a:solidFill>
                          <a:srgbClr val="FF0000"/>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nSpc>
                          <a:spcPct val="90000"/>
                        </a:lnSpc>
                      </a:pPr>
                      <a:r>
                        <a:rPr lang="en-US" altLang="zh-CN" sz="1800" dirty="0">
                          <a:solidFill>
                            <a:schemeClr val="tx1"/>
                          </a:solidFill>
                          <a:latin typeface="宋体" panose="02010600030101010101" pitchFamily="2" charset="-122"/>
                          <a:ea typeface="宋体" panose="02010600030101010101" pitchFamily="2" charset="-122"/>
                        </a:rPr>
                        <a:t>B</a:t>
                      </a:r>
                      <a:r>
                        <a:rPr lang="zh-CN" altLang="en-US" sz="1800" dirty="0">
                          <a:solidFill>
                            <a:schemeClr val="tx1"/>
                          </a:solidFill>
                          <a:latin typeface="宋体" panose="02010600030101010101" pitchFamily="2" charset="-122"/>
                          <a:ea typeface="宋体" panose="02010600030101010101" pitchFamily="2" charset="-122"/>
                        </a:rPr>
                        <a:t>→</a:t>
                      </a:r>
                      <a:r>
                        <a:rPr lang="en-US" altLang="zh-CN" sz="18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8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8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8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endParaRPr lang="zh-CN" altLang="en-US" sz="1800" baseline="-250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endParaRPr lang="en-US" altLang="zh-CN" sz="1800" dirty="0">
                        <a:solidFill>
                          <a:srgbClr val="FF0000"/>
                        </a:solidFill>
                        <a:latin typeface="宋体" panose="02010600030101010101" pitchFamily="2" charset="-122"/>
                        <a:ea typeface="宋体" panose="02010600030101010101" pitchFamily="2" charset="-122"/>
                      </a:endParaRPr>
                    </a:p>
                    <a:p>
                      <a:pPr marL="0" marR="0" indent="0" algn="l" defTabSz="914400" rtl="0" eaLnBrk="1" fontAlgn="auto" latinLnBrk="0" hangingPunct="1">
                        <a:lnSpc>
                          <a:spcPct val="90000"/>
                        </a:lnSpc>
                        <a:spcBef>
                          <a:spcPts val="0"/>
                        </a:spcBef>
                        <a:spcAft>
                          <a:spcPts val="0"/>
                        </a:spcAft>
                        <a:buClrTx/>
                        <a:buSzTx/>
                        <a:buFontTx/>
                        <a:buNone/>
                        <a:tabLst/>
                        <a:defRPr/>
                      </a:pPr>
                      <a:endParaRPr lang="en-US" altLang="zh-CN" sz="1800" dirty="0">
                        <a:solidFill>
                          <a:srgbClr val="FF0000"/>
                        </a:solidFill>
                        <a:latin typeface="宋体" panose="02010600030101010101" pitchFamily="2" charset="-122"/>
                        <a:ea typeface="宋体" panose="02010600030101010101" pitchFamily="2" charset="-122"/>
                      </a:endParaRPr>
                    </a:p>
                    <a:p>
                      <a:pPr marL="0" marR="0" indent="0" algn="l" defTabSz="914400" rtl="0" eaLnBrk="1" fontAlgn="auto" latinLnBrk="0" hangingPunct="1">
                        <a:lnSpc>
                          <a:spcPct val="90000"/>
                        </a:lnSpc>
                        <a:spcBef>
                          <a:spcPts val="0"/>
                        </a:spcBef>
                        <a:spcAft>
                          <a:spcPts val="0"/>
                        </a:spcAft>
                        <a:buClrTx/>
                        <a:buSzTx/>
                        <a:buFontTx/>
                        <a:buNone/>
                        <a:tabLst/>
                        <a:defRPr/>
                      </a:pPr>
                      <a:endParaRPr lang="zh-CN" altLang="en-US" sz="1800" dirty="0">
                        <a:solidFill>
                          <a:srgbClr val="FF0000"/>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800" dirty="0">
                          <a:solidFill>
                            <a:schemeClr val="tx1"/>
                          </a:solidFill>
                          <a:latin typeface="宋体" panose="02010600030101010101" pitchFamily="2" charset="-122"/>
                          <a:ea typeface="宋体" panose="02010600030101010101" pitchFamily="2" charset="-122"/>
                        </a:rPr>
                        <a:t>B</a:t>
                      </a:r>
                      <a:r>
                        <a:rPr lang="zh-CN" altLang="en-US" sz="1800" dirty="0">
                          <a:solidFill>
                            <a:schemeClr val="tx1"/>
                          </a:solidFill>
                          <a:latin typeface="宋体" panose="02010600030101010101" pitchFamily="2" charset="-122"/>
                          <a:ea typeface="宋体" panose="02010600030101010101" pitchFamily="2" charset="-122"/>
                        </a:rPr>
                        <a:t>→</a:t>
                      </a:r>
                      <a:r>
                        <a:rPr lang="en-US" altLang="zh-CN" sz="18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8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800" dirty="0">
                          <a:solidFill>
                            <a:schemeClr val="tx1"/>
                          </a:solidFill>
                          <a:latin typeface="宋体" panose="02010600030101010101" pitchFamily="2" charset="-122"/>
                          <a:ea typeface="宋体" panose="02010600030101010101" pitchFamily="2" charset="-122"/>
                          <a:sym typeface="Wingdings" panose="05000000000000000000" pitchFamily="2" charset="2"/>
                        </a:rPr>
                        <a:t> sub B</a:t>
                      </a:r>
                      <a:r>
                        <a:rPr lang="en-US" altLang="zh-CN" sz="18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endParaRPr lang="zh-CN" altLang="en-US" sz="1800" baseline="-250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endParaRPr lang="en-US" altLang="zh-CN" sz="1800" dirty="0">
                        <a:solidFill>
                          <a:srgbClr val="FF0000"/>
                        </a:solidFill>
                        <a:latin typeface="宋体" panose="02010600030101010101" pitchFamily="2" charset="-122"/>
                        <a:ea typeface="宋体" panose="02010600030101010101" pitchFamily="2" charset="-122"/>
                      </a:endParaRPr>
                    </a:p>
                    <a:p>
                      <a:pPr marL="0" marR="0" indent="0" algn="l" defTabSz="914400" rtl="0" eaLnBrk="1" fontAlgn="auto" latinLnBrk="0" hangingPunct="1">
                        <a:lnSpc>
                          <a:spcPct val="90000"/>
                        </a:lnSpc>
                        <a:spcBef>
                          <a:spcPts val="0"/>
                        </a:spcBef>
                        <a:spcAft>
                          <a:spcPts val="0"/>
                        </a:spcAft>
                        <a:buClrTx/>
                        <a:buSzTx/>
                        <a:buFontTx/>
                        <a:buNone/>
                        <a:tabLst/>
                        <a:defRPr/>
                      </a:pPr>
                      <a:endParaRPr lang="en-US" altLang="zh-CN" sz="1800" dirty="0">
                        <a:solidFill>
                          <a:srgbClr val="FF0000"/>
                        </a:solidFill>
                        <a:latin typeface="宋体" panose="02010600030101010101" pitchFamily="2" charset="-122"/>
                        <a:ea typeface="宋体" panose="02010600030101010101" pitchFamily="2" charset="-122"/>
                      </a:endParaRPr>
                    </a:p>
                    <a:p>
                      <a:pPr marL="0" marR="0" indent="0" algn="l" defTabSz="914400" rtl="0" eaLnBrk="1" fontAlgn="auto" latinLnBrk="0" hangingPunct="1">
                        <a:lnSpc>
                          <a:spcPct val="90000"/>
                        </a:lnSpc>
                        <a:spcBef>
                          <a:spcPts val="0"/>
                        </a:spcBef>
                        <a:spcAft>
                          <a:spcPts val="0"/>
                        </a:spcAft>
                        <a:buClrTx/>
                        <a:buSzTx/>
                        <a:buFontTx/>
                        <a:buNone/>
                        <a:tabLst/>
                        <a:defRPr/>
                      </a:pPr>
                      <a:endParaRPr lang="en-US" altLang="zh-CN" sz="1800" dirty="0">
                        <a:solidFill>
                          <a:srgbClr val="FF0000"/>
                        </a:solidFill>
                        <a:latin typeface="宋体" panose="02010600030101010101" pitchFamily="2" charset="-122"/>
                        <a:ea typeface="宋体" panose="02010600030101010101" pitchFamily="2" charset="-122"/>
                      </a:endParaRPr>
                    </a:p>
                    <a:p>
                      <a:pPr marL="0" marR="0" indent="0" algn="l" defTabSz="914400" rtl="0" eaLnBrk="1" fontAlgn="auto" latinLnBrk="0" hangingPunct="1">
                        <a:lnSpc>
                          <a:spcPct val="90000"/>
                        </a:lnSpc>
                        <a:spcBef>
                          <a:spcPts val="0"/>
                        </a:spcBef>
                        <a:spcAft>
                          <a:spcPts val="0"/>
                        </a:spcAft>
                        <a:buClrTx/>
                        <a:buSzTx/>
                        <a:buFontTx/>
                        <a:buNone/>
                        <a:tabLst/>
                        <a:defRPr/>
                      </a:pPr>
                      <a:endParaRPr lang="zh-CN" altLang="en-US" sz="1800" dirty="0">
                        <a:solidFill>
                          <a:srgbClr val="FF0000"/>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nSpc>
                          <a:spcPct val="90000"/>
                        </a:lnSpc>
                      </a:pPr>
                      <a:r>
                        <a:rPr lang="en-US" altLang="zh-CN" sz="1800" dirty="0" err="1">
                          <a:solidFill>
                            <a:schemeClr val="tx1"/>
                          </a:solidFill>
                          <a:latin typeface="宋体" panose="02010600030101010101" pitchFamily="2" charset="-122"/>
                          <a:ea typeface="宋体" panose="02010600030101010101" pitchFamily="2" charset="-122"/>
                        </a:rPr>
                        <a:t>B</a:t>
                      </a:r>
                      <a:r>
                        <a:rPr lang="en-US" altLang="zh-CN" sz="1800" dirty="0" err="1">
                          <a:solidFill>
                            <a:schemeClr val="tx1"/>
                          </a:solidFill>
                          <a:latin typeface="宋体" panose="02010600030101010101" pitchFamily="2" charset="-122"/>
                          <a:ea typeface="宋体" panose="02010600030101010101" pitchFamily="2" charset="-122"/>
                          <a:sym typeface="Wingdings" panose="05000000000000000000" pitchFamily="2" charset="2"/>
                        </a:rPr>
                        <a:t>text</a:t>
                      </a:r>
                      <a:endParaRPr lang="zh-CN" altLang="en-US" sz="18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endParaRPr lang="zh-CN" altLang="en-US" sz="1800" dirty="0">
                        <a:solidFill>
                          <a:srgbClr val="FF0000"/>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标题 2"/>
          <p:cNvSpPr>
            <a:spLocks noGrp="1"/>
          </p:cNvSpPr>
          <p:nvPr>
            <p:ph type="title"/>
          </p:nvPr>
        </p:nvSpPr>
        <p:spPr>
          <a:xfrm>
            <a:off x="-14986" y="30855"/>
            <a:ext cx="5268251" cy="576064"/>
          </a:xfrm>
        </p:spPr>
        <p:txBody>
          <a:bodyPr>
            <a:normAutofit fontScale="90000"/>
          </a:bodyPr>
          <a:lstStyle/>
          <a:p>
            <a:r>
              <a:rPr lang="zh-CN" altLang="en-US" dirty="0"/>
              <a:t>盒子的语法制导的翻译模式</a:t>
            </a:r>
          </a:p>
        </p:txBody>
      </p:sp>
      <p:sp>
        <p:nvSpPr>
          <p:cNvPr id="4" name="矩形 3"/>
          <p:cNvSpPr/>
          <p:nvPr/>
        </p:nvSpPr>
        <p:spPr>
          <a:xfrm>
            <a:off x="5148064" y="178101"/>
            <a:ext cx="1798890" cy="461665"/>
          </a:xfrm>
          <a:prstGeom prst="rect">
            <a:avLst/>
          </a:prstGeom>
        </p:spPr>
        <p:txBody>
          <a:bodyPr wrap="none">
            <a:spAutoFit/>
          </a:bodyPr>
          <a:lstStyle/>
          <a:p>
            <a:r>
              <a:rPr lang="en-US" altLang="zh-CN" sz="2400" dirty="0"/>
              <a:t>E sub </a:t>
            </a:r>
            <a:r>
              <a:rPr lang="en-US" altLang="zh-CN" sz="2400" dirty="0" err="1"/>
              <a:t>n.val</a:t>
            </a:r>
            <a:endParaRPr lang="en-US" altLang="zh-CN" sz="2400" dirty="0"/>
          </a:p>
        </p:txBody>
      </p:sp>
      <p:grpSp>
        <p:nvGrpSpPr>
          <p:cNvPr id="5" name="组合 4"/>
          <p:cNvGrpSpPr/>
          <p:nvPr/>
        </p:nvGrpSpPr>
        <p:grpSpPr>
          <a:xfrm>
            <a:off x="7380312" y="102862"/>
            <a:ext cx="1656184" cy="646912"/>
            <a:chOff x="5796136" y="1203597"/>
            <a:chExt cx="1656184" cy="646912"/>
          </a:xfrm>
        </p:grpSpPr>
        <p:sp>
          <p:nvSpPr>
            <p:cNvPr id="6" name="TextBox 5"/>
            <p:cNvSpPr txBox="1"/>
            <p:nvPr/>
          </p:nvSpPr>
          <p:spPr>
            <a:xfrm>
              <a:off x="5796136" y="1203597"/>
              <a:ext cx="396044"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E</a:t>
              </a:r>
              <a:endParaRPr lang="zh-CN" altLang="en-US" sz="2800" dirty="0"/>
            </a:p>
          </p:txBody>
        </p:sp>
        <p:sp>
          <p:nvSpPr>
            <p:cNvPr id="7" name="TextBox 6"/>
            <p:cNvSpPr txBox="1"/>
            <p:nvPr/>
          </p:nvSpPr>
          <p:spPr>
            <a:xfrm>
              <a:off x="6623554" y="1203597"/>
              <a:ext cx="828766" cy="52322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a:t>
              </a:r>
              <a:r>
                <a:rPr lang="en-US" altLang="zh-CN" sz="2800" dirty="0" err="1"/>
                <a:t>val</a:t>
              </a:r>
              <a:endParaRPr lang="zh-CN" altLang="en-US" sz="2800" dirty="0"/>
            </a:p>
          </p:txBody>
        </p:sp>
        <p:sp>
          <p:nvSpPr>
            <p:cNvPr id="8" name="TextBox 7"/>
            <p:cNvSpPr txBox="1"/>
            <p:nvPr/>
          </p:nvSpPr>
          <p:spPr>
            <a:xfrm>
              <a:off x="6225804" y="1419622"/>
              <a:ext cx="362419" cy="430887"/>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200" dirty="0"/>
                <a:t>n</a:t>
              </a:r>
              <a:endParaRPr lang="zh-CN" altLang="en-US" sz="2200" dirty="0"/>
            </a:p>
          </p:txBody>
        </p:sp>
      </p:grpSp>
      <p:graphicFrame>
        <p:nvGraphicFramePr>
          <p:cNvPr id="10" name="内容占位符 8"/>
          <p:cNvGraphicFramePr>
            <a:graphicFrameLocks/>
          </p:cNvGraphicFramePr>
          <p:nvPr>
            <p:extLst>
              <p:ext uri="{D42A27DB-BD31-4B8C-83A1-F6EECF244321}">
                <p14:modId xmlns:p14="http://schemas.microsoft.com/office/powerpoint/2010/main" val="3061574113"/>
              </p:ext>
            </p:extLst>
          </p:nvPr>
        </p:nvGraphicFramePr>
        <p:xfrm>
          <a:off x="5220072" y="880222"/>
          <a:ext cx="4032448" cy="2771648"/>
        </p:xfrm>
        <a:graphic>
          <a:graphicData uri="http://schemas.openxmlformats.org/drawingml/2006/table">
            <a:tbl>
              <a:tblPr firstRow="1" bandRow="1">
                <a:tableStyleId>{5C22544A-7EE6-4342-B048-85BDC9FD1C3A}</a:tableStyleId>
              </a:tblPr>
              <a:tblGrid>
                <a:gridCol w="1361606">
                  <a:extLst>
                    <a:ext uri="{9D8B030D-6E8A-4147-A177-3AD203B41FA5}">
                      <a16:colId xmlns:a16="http://schemas.microsoft.com/office/drawing/2014/main" val="20000"/>
                    </a:ext>
                  </a:extLst>
                </a:gridCol>
                <a:gridCol w="2670842">
                  <a:extLst>
                    <a:ext uri="{9D8B030D-6E8A-4147-A177-3AD203B41FA5}">
                      <a16:colId xmlns:a16="http://schemas.microsoft.com/office/drawing/2014/main" val="20001"/>
                    </a:ext>
                  </a:extLst>
                </a:gridCol>
              </a:tblGrid>
              <a:tr h="370840">
                <a:tc>
                  <a:txBody>
                    <a:bodyPr/>
                    <a:lstStyle/>
                    <a:p>
                      <a:pPr>
                        <a:lnSpc>
                          <a:spcPct val="90000"/>
                        </a:lnSpc>
                      </a:pPr>
                      <a:r>
                        <a:rPr lang="zh-CN" altLang="en-US" sz="1600" dirty="0">
                          <a:solidFill>
                            <a:schemeClr val="tx1"/>
                          </a:solidFill>
                          <a:latin typeface="宋体" panose="02010600030101010101" pitchFamily="2" charset="-122"/>
                          <a:ea typeface="宋体" panose="02010600030101010101" pitchFamily="2" charset="-122"/>
                        </a:rPr>
                        <a:t>产生式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tc>
                  <a:txBody>
                    <a:bodyPr/>
                    <a:lstStyle/>
                    <a:p>
                      <a:pPr>
                        <a:lnSpc>
                          <a:spcPct val="90000"/>
                        </a:lnSpc>
                      </a:pPr>
                      <a:r>
                        <a:rPr lang="zh-CN" altLang="en-US" sz="1600" dirty="0">
                          <a:solidFill>
                            <a:schemeClr val="tx1"/>
                          </a:solidFill>
                          <a:latin typeface="宋体" panose="02010600030101010101" pitchFamily="2" charset="-122"/>
                          <a:ea typeface="宋体" panose="02010600030101010101" pitchFamily="2" charset="-122"/>
                        </a:rPr>
                        <a:t>语义规则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extLst>
                  <a:ext uri="{0D108BD9-81ED-4DB2-BD59-A6C34878D82A}">
                    <a16:rowId xmlns:a16="http://schemas.microsoft.com/office/drawing/2014/main" val="10000"/>
                  </a:ext>
                </a:extLst>
              </a:tr>
              <a:tr h="370840">
                <a:tc>
                  <a:txBody>
                    <a:bodyPr/>
                    <a:lstStyle/>
                    <a:p>
                      <a:pPr>
                        <a:lnSpc>
                          <a:spcPct val="90000"/>
                        </a:lnSpc>
                      </a:pPr>
                      <a:r>
                        <a:rPr lang="en-US" altLang="zh-CN" sz="1600" dirty="0">
                          <a:solidFill>
                            <a:schemeClr val="tx1"/>
                          </a:solidFill>
                          <a:latin typeface="宋体" panose="02010600030101010101" pitchFamily="2" charset="-122"/>
                          <a:ea typeface="宋体" panose="02010600030101010101" pitchFamily="2" charset="-122"/>
                        </a:rPr>
                        <a:t>S</a:t>
                      </a:r>
                      <a:r>
                        <a:rPr lang="zh-CN" altLang="en-US" sz="1600" dirty="0">
                          <a:solidFill>
                            <a:schemeClr val="tx1"/>
                          </a:solidFill>
                          <a:latin typeface="宋体" panose="02010600030101010101" pitchFamily="2" charset="-122"/>
                          <a:ea typeface="宋体" panose="02010600030101010101" pitchFamily="2" charset="-122"/>
                        </a:rPr>
                        <a:t>→</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endParaRPr lang="zh-CN" altLang="en-US" sz="16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tc>
                  <a:txBody>
                    <a:bodyPr/>
                    <a:lstStyle/>
                    <a:p>
                      <a:pPr>
                        <a:lnSpc>
                          <a:spcPct val="90000"/>
                        </a:lnSpc>
                      </a:pPr>
                      <a:r>
                        <a:rPr lang="en-US" altLang="zh-CN" sz="1600" dirty="0">
                          <a:solidFill>
                            <a:schemeClr val="tx1"/>
                          </a:solidFill>
                          <a:latin typeface="宋体" panose="02010600030101010101" pitchFamily="2" charset="-122"/>
                          <a:ea typeface="宋体" panose="02010600030101010101" pitchFamily="2" charset="-122"/>
                        </a:rPr>
                        <a:t>B.ps = 10</a:t>
                      </a:r>
                    </a:p>
                    <a:p>
                      <a:pPr>
                        <a:lnSpc>
                          <a:spcPct val="90000"/>
                        </a:lnSpc>
                      </a:pPr>
                      <a:r>
                        <a:rPr lang="en-US" altLang="zh-CN" sz="1600" dirty="0">
                          <a:solidFill>
                            <a:schemeClr val="tx1"/>
                          </a:solidFill>
                          <a:latin typeface="宋体" panose="02010600030101010101" pitchFamily="2" charset="-122"/>
                          <a:ea typeface="宋体" panose="02010600030101010101" pitchFamily="2" charset="-122"/>
                        </a:rPr>
                        <a:t>S.ht = B.ht</a:t>
                      </a:r>
                      <a:endParaRPr lang="zh-CN" altLang="en-US" sz="16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extLst>
                  <a:ext uri="{0D108BD9-81ED-4DB2-BD59-A6C34878D82A}">
                    <a16:rowId xmlns:a16="http://schemas.microsoft.com/office/drawing/2014/main" val="10001"/>
                  </a:ext>
                </a:extLst>
              </a:tr>
              <a:tr h="370840">
                <a:tc>
                  <a:txBody>
                    <a:bodyPr/>
                    <a:lstStyle/>
                    <a:p>
                      <a:pPr>
                        <a:lnSpc>
                          <a:spcPct val="90000"/>
                        </a:lnSpc>
                      </a:pPr>
                      <a:r>
                        <a:rPr lang="en-US" altLang="zh-CN" sz="1600" dirty="0">
                          <a:solidFill>
                            <a:schemeClr val="tx1"/>
                          </a:solidFill>
                          <a:latin typeface="宋体" panose="02010600030101010101" pitchFamily="2" charset="-122"/>
                          <a:ea typeface="宋体" panose="02010600030101010101" pitchFamily="2" charset="-122"/>
                        </a:rPr>
                        <a:t>B</a:t>
                      </a:r>
                      <a:r>
                        <a:rPr lang="zh-CN" altLang="en-US" sz="1600" dirty="0">
                          <a:solidFill>
                            <a:schemeClr val="tx1"/>
                          </a:solidFill>
                          <a:latin typeface="宋体" panose="02010600030101010101" pitchFamily="2" charset="-122"/>
                          <a:ea typeface="宋体" panose="02010600030101010101" pitchFamily="2" charset="-122"/>
                        </a:rPr>
                        <a:t>→</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endParaRPr lang="zh-CN" altLang="en-US" sz="1600" baseline="-250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600" dirty="0">
                          <a:solidFill>
                            <a:schemeClr val="tx1"/>
                          </a:solidFill>
                          <a:latin typeface="宋体" panose="02010600030101010101" pitchFamily="2" charset="-122"/>
                          <a:ea typeface="宋体" panose="02010600030101010101" pitchFamily="2" charset="-122"/>
                        </a:rPr>
                        <a:t>.ps = B.ps</a:t>
                      </a:r>
                    </a:p>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1600" dirty="0">
                          <a:solidFill>
                            <a:schemeClr val="tx1"/>
                          </a:solidFill>
                          <a:latin typeface="宋体" panose="02010600030101010101" pitchFamily="2" charset="-122"/>
                          <a:ea typeface="宋体" panose="02010600030101010101" pitchFamily="2" charset="-122"/>
                        </a:rPr>
                        <a:t>.ps = B.ps</a:t>
                      </a:r>
                    </a:p>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600" dirty="0">
                          <a:solidFill>
                            <a:schemeClr val="tx1"/>
                          </a:solidFill>
                          <a:latin typeface="宋体" panose="02010600030101010101" pitchFamily="2" charset="-122"/>
                          <a:ea typeface="宋体" panose="02010600030101010101" pitchFamily="2" charset="-122"/>
                        </a:rPr>
                        <a:t>B.ht = max(</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600" dirty="0">
                          <a:solidFill>
                            <a:schemeClr val="tx1"/>
                          </a:solidFill>
                          <a:latin typeface="宋体" panose="02010600030101010101" pitchFamily="2" charset="-122"/>
                          <a:ea typeface="宋体" panose="02010600030101010101" pitchFamily="2" charset="-122"/>
                        </a:rPr>
                        <a:t>.ht,</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 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1600" dirty="0">
                          <a:solidFill>
                            <a:schemeClr val="tx1"/>
                          </a:solidFill>
                          <a:latin typeface="宋体" panose="02010600030101010101" pitchFamily="2" charset="-122"/>
                          <a:ea typeface="宋体" panose="02010600030101010101" pitchFamily="2" charset="-122"/>
                        </a:rPr>
                        <a:t>.ht)</a:t>
                      </a:r>
                      <a:endParaRPr lang="zh-CN" altLang="en-US" sz="16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600" dirty="0">
                          <a:solidFill>
                            <a:schemeClr val="tx1"/>
                          </a:solidFill>
                          <a:latin typeface="宋体" panose="02010600030101010101" pitchFamily="2" charset="-122"/>
                          <a:ea typeface="宋体" panose="02010600030101010101" pitchFamily="2" charset="-122"/>
                        </a:rPr>
                        <a:t>B</a:t>
                      </a:r>
                      <a:r>
                        <a:rPr lang="zh-CN" altLang="en-US" sz="1600" dirty="0">
                          <a:solidFill>
                            <a:schemeClr val="tx1"/>
                          </a:solidFill>
                          <a:latin typeface="宋体" panose="02010600030101010101" pitchFamily="2" charset="-122"/>
                          <a:ea typeface="宋体" panose="02010600030101010101" pitchFamily="2" charset="-122"/>
                        </a:rPr>
                        <a:t>→</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 sub 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endParaRPr lang="zh-CN" altLang="en-US" sz="1600" baseline="-250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600" dirty="0">
                          <a:solidFill>
                            <a:schemeClr val="tx1"/>
                          </a:solidFill>
                          <a:latin typeface="宋体" panose="02010600030101010101" pitchFamily="2" charset="-122"/>
                          <a:ea typeface="宋体" panose="02010600030101010101" pitchFamily="2" charset="-122"/>
                        </a:rPr>
                        <a:t>.ps = B.ps</a:t>
                      </a:r>
                    </a:p>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1600" dirty="0">
                          <a:solidFill>
                            <a:schemeClr val="tx1"/>
                          </a:solidFill>
                          <a:latin typeface="宋体" panose="02010600030101010101" pitchFamily="2" charset="-122"/>
                          <a:ea typeface="宋体" panose="02010600030101010101" pitchFamily="2" charset="-122"/>
                        </a:rPr>
                        <a:t>.ps = shrink(B.ps)</a:t>
                      </a:r>
                    </a:p>
                    <a:p>
                      <a:pPr marL="0" marR="0" indent="0" algn="l" defTabSz="914400" rtl="0" eaLnBrk="1" fontAlgn="auto" latinLnBrk="0" hangingPunct="1">
                        <a:lnSpc>
                          <a:spcPct val="90000"/>
                        </a:lnSpc>
                        <a:spcBef>
                          <a:spcPts val="0"/>
                        </a:spcBef>
                        <a:spcAft>
                          <a:spcPts val="0"/>
                        </a:spcAft>
                        <a:buClrTx/>
                        <a:buSzTx/>
                        <a:buFontTx/>
                        <a:buNone/>
                        <a:tabLst/>
                        <a:defRPr/>
                      </a:pPr>
                      <a:r>
                        <a:rPr lang="en-US" altLang="zh-CN" sz="1600" dirty="0">
                          <a:solidFill>
                            <a:schemeClr val="tx1"/>
                          </a:solidFill>
                          <a:latin typeface="宋体" panose="02010600030101010101" pitchFamily="2" charset="-122"/>
                          <a:ea typeface="宋体" panose="02010600030101010101" pitchFamily="2" charset="-122"/>
                        </a:rPr>
                        <a:t>B.ht = </a:t>
                      </a:r>
                      <a:r>
                        <a:rPr lang="en-US" altLang="zh-CN" sz="1600" dirty="0" err="1">
                          <a:solidFill>
                            <a:schemeClr val="tx1"/>
                          </a:solidFill>
                          <a:latin typeface="宋体" panose="02010600030101010101" pitchFamily="2" charset="-122"/>
                          <a:ea typeface="宋体" panose="02010600030101010101" pitchFamily="2" charset="-122"/>
                        </a:rPr>
                        <a:t>disp</a:t>
                      </a:r>
                      <a:r>
                        <a:rPr lang="en-US" altLang="zh-CN" sz="1600" dirty="0">
                          <a:solidFill>
                            <a:schemeClr val="tx1"/>
                          </a:solidFill>
                          <a:latin typeface="宋体" panose="02010600030101010101" pitchFamily="2" charset="-122"/>
                          <a:ea typeface="宋体" panose="02010600030101010101" pitchFamily="2" charset="-122"/>
                        </a:rPr>
                        <a:t>(</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1</a:t>
                      </a:r>
                      <a:r>
                        <a:rPr lang="en-US" altLang="zh-CN" sz="1600" dirty="0">
                          <a:solidFill>
                            <a:schemeClr val="tx1"/>
                          </a:solidFill>
                          <a:latin typeface="宋体" panose="02010600030101010101" pitchFamily="2" charset="-122"/>
                          <a:ea typeface="宋体" panose="02010600030101010101" pitchFamily="2" charset="-122"/>
                        </a:rPr>
                        <a:t>.ht,</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 B</a:t>
                      </a:r>
                      <a:r>
                        <a:rPr lang="en-US" altLang="zh-CN" sz="1600" baseline="-25000" dirty="0">
                          <a:solidFill>
                            <a:schemeClr val="tx1"/>
                          </a:solidFill>
                          <a:latin typeface="宋体" panose="02010600030101010101" pitchFamily="2" charset="-122"/>
                          <a:ea typeface="宋体" panose="02010600030101010101" pitchFamily="2" charset="-122"/>
                          <a:sym typeface="Wingdings" panose="05000000000000000000" pitchFamily="2" charset="2"/>
                        </a:rPr>
                        <a:t>2</a:t>
                      </a:r>
                      <a:r>
                        <a:rPr lang="en-US" altLang="zh-CN" sz="1600" dirty="0">
                          <a:solidFill>
                            <a:schemeClr val="tx1"/>
                          </a:solidFill>
                          <a:latin typeface="宋体" panose="02010600030101010101" pitchFamily="2" charset="-122"/>
                          <a:ea typeface="宋体" panose="02010600030101010101" pitchFamily="2" charset="-122"/>
                        </a:rPr>
                        <a:t>.ht)</a:t>
                      </a:r>
                      <a:endParaRPr lang="zh-CN" altLang="en-US" sz="16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extLst>
                  <a:ext uri="{0D108BD9-81ED-4DB2-BD59-A6C34878D82A}">
                    <a16:rowId xmlns:a16="http://schemas.microsoft.com/office/drawing/2014/main" val="10003"/>
                  </a:ext>
                </a:extLst>
              </a:tr>
              <a:tr h="370840">
                <a:tc>
                  <a:txBody>
                    <a:bodyPr/>
                    <a:lstStyle/>
                    <a:p>
                      <a:pPr>
                        <a:lnSpc>
                          <a:spcPct val="90000"/>
                        </a:lnSpc>
                      </a:pPr>
                      <a:r>
                        <a:rPr lang="en-US" altLang="zh-CN" sz="1600" dirty="0">
                          <a:solidFill>
                            <a:schemeClr val="tx1"/>
                          </a:solidFill>
                          <a:latin typeface="宋体" panose="02010600030101010101" pitchFamily="2" charset="-122"/>
                          <a:ea typeface="宋体" panose="02010600030101010101" pitchFamily="2" charset="-122"/>
                        </a:rPr>
                        <a:t>B</a:t>
                      </a:r>
                      <a:r>
                        <a:rPr lang="zh-CN" altLang="en-US" sz="1600" dirty="0">
                          <a:solidFill>
                            <a:schemeClr val="tx1"/>
                          </a:solidFill>
                          <a:latin typeface="宋体" panose="02010600030101010101" pitchFamily="2" charset="-122"/>
                          <a:ea typeface="宋体" panose="02010600030101010101" pitchFamily="2" charset="-122"/>
                        </a:rPr>
                        <a:t>→</a:t>
                      </a:r>
                      <a:r>
                        <a:rPr lang="en-US" altLang="zh-CN" sz="1600" dirty="0">
                          <a:solidFill>
                            <a:schemeClr val="tx1"/>
                          </a:solidFill>
                          <a:latin typeface="宋体" panose="02010600030101010101" pitchFamily="2" charset="-122"/>
                          <a:ea typeface="宋体" panose="02010600030101010101" pitchFamily="2" charset="-122"/>
                          <a:sym typeface="Wingdings" panose="05000000000000000000" pitchFamily="2" charset="2"/>
                        </a:rPr>
                        <a:t>text</a:t>
                      </a:r>
                      <a:endParaRPr lang="zh-CN" altLang="en-US" sz="16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tc>
                  <a:txBody>
                    <a:bodyPr/>
                    <a:lstStyle/>
                    <a:p>
                      <a:pPr>
                        <a:lnSpc>
                          <a:spcPct val="90000"/>
                        </a:lnSpc>
                      </a:pPr>
                      <a:r>
                        <a:rPr lang="en-US" altLang="zh-CN" sz="1600" dirty="0">
                          <a:solidFill>
                            <a:schemeClr val="tx1"/>
                          </a:solidFill>
                          <a:latin typeface="宋体" panose="02010600030101010101" pitchFamily="2" charset="-122"/>
                          <a:ea typeface="宋体" panose="02010600030101010101" pitchFamily="2" charset="-122"/>
                        </a:rPr>
                        <a:t>B.ht = </a:t>
                      </a:r>
                      <a:r>
                        <a:rPr lang="en-US" altLang="zh-CN" sz="1600" dirty="0" err="1">
                          <a:solidFill>
                            <a:schemeClr val="tx1"/>
                          </a:solidFill>
                          <a:latin typeface="宋体" panose="02010600030101010101" pitchFamily="2" charset="-122"/>
                          <a:ea typeface="宋体" panose="02010600030101010101" pitchFamily="2" charset="-122"/>
                        </a:rPr>
                        <a:t>text.h</a:t>
                      </a:r>
                      <a:r>
                        <a:rPr lang="en-US" altLang="zh-CN" sz="1600" dirty="0">
                          <a:solidFill>
                            <a:schemeClr val="tx1"/>
                          </a:solidFill>
                          <a:latin typeface="宋体" panose="02010600030101010101" pitchFamily="2" charset="-122"/>
                          <a:ea typeface="宋体" panose="02010600030101010101" pitchFamily="2" charset="-122"/>
                        </a:rPr>
                        <a:t> ×</a:t>
                      </a:r>
                      <a:r>
                        <a:rPr lang="en-US" altLang="zh-CN" sz="1600" baseline="0" dirty="0">
                          <a:solidFill>
                            <a:schemeClr val="tx1"/>
                          </a:solidFill>
                          <a:latin typeface="宋体" panose="02010600030101010101" pitchFamily="2" charset="-122"/>
                          <a:ea typeface="宋体" panose="02010600030101010101" pitchFamily="2" charset="-122"/>
                        </a:rPr>
                        <a:t> B.ps</a:t>
                      </a:r>
                      <a:endParaRPr lang="zh-CN" altLang="en-US" sz="160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FF1CB"/>
                    </a:solidFill>
                  </a:tcPr>
                </a:tc>
                <a:extLst>
                  <a:ext uri="{0D108BD9-81ED-4DB2-BD59-A6C34878D82A}">
                    <a16:rowId xmlns:a16="http://schemas.microsoft.com/office/drawing/2014/main" val="10004"/>
                  </a:ext>
                </a:extLst>
              </a:tr>
            </a:tbl>
          </a:graphicData>
        </a:graphic>
      </p:graphicFrame>
      <p:sp>
        <p:nvSpPr>
          <p:cNvPr id="12" name="矩形 11"/>
          <p:cNvSpPr/>
          <p:nvPr/>
        </p:nvSpPr>
        <p:spPr>
          <a:xfrm>
            <a:off x="34605" y="3943171"/>
            <a:ext cx="9036496"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342900" lvl="1" indent="-342900">
              <a:buFont typeface="Wingdings" panose="05000000000000000000" pitchFamily="2" charset="2"/>
              <a:buChar char="Ø"/>
              <a:defRPr/>
            </a:pP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）产生式右部符号的继承属性</a:t>
            </a:r>
            <a:r>
              <a:rPr lang="zh-CN" altLang="en-US" dirty="0">
                <a:latin typeface="宋体" panose="02010600030101010101" pitchFamily="2" charset="-122"/>
                <a:ea typeface="宋体" panose="02010600030101010101" pitchFamily="2" charset="-122"/>
              </a:rPr>
              <a:t>的计算</a:t>
            </a:r>
            <a:r>
              <a:rPr lang="zh-CN" altLang="zh-CN" dirty="0">
                <a:latin typeface="宋体" panose="02010600030101010101" pitchFamily="2" charset="-122"/>
                <a:ea typeface="宋体" panose="02010600030101010101" pitchFamily="2" charset="-122"/>
              </a:rPr>
              <a:t>必须</a:t>
            </a:r>
            <a:r>
              <a:rPr lang="zh-CN" altLang="en-US" dirty="0">
                <a:latin typeface="宋体" panose="02010600030101010101" pitchFamily="2" charset="-122"/>
                <a:ea typeface="宋体" panose="02010600030101010101" pitchFamily="2" charset="-122"/>
              </a:rPr>
              <a:t>放在</a:t>
            </a:r>
            <a:r>
              <a:rPr lang="zh-CN" altLang="zh-CN" dirty="0">
                <a:latin typeface="宋体" panose="02010600030101010101" pitchFamily="2" charset="-122"/>
                <a:ea typeface="宋体" panose="02010600030101010101" pitchFamily="2" charset="-122"/>
              </a:rPr>
              <a:t>这个符号以前的动作中；</a:t>
            </a:r>
          </a:p>
          <a:p>
            <a:pPr marL="342900" lvl="1" indent="-342900">
              <a:buFont typeface="Wingdings" panose="05000000000000000000" pitchFamily="2" charset="2"/>
              <a:buChar char="Ø"/>
              <a:defRPr/>
            </a:pP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）一个动作不能引用这个动作右部的符号的综合属性；</a:t>
            </a:r>
          </a:p>
          <a:p>
            <a:pPr marL="342900" lvl="1" indent="-342900">
              <a:buFont typeface="Wingdings" panose="05000000000000000000" pitchFamily="2" charset="2"/>
              <a:buChar char="Ø"/>
              <a:defRPr/>
            </a:pP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3</a:t>
            </a:r>
            <a:r>
              <a:rPr lang="zh-CN" altLang="zh-CN" dirty="0">
                <a:latin typeface="宋体" panose="02010600030101010101" pitchFamily="2" charset="-122"/>
                <a:ea typeface="宋体" panose="02010600030101010101" pitchFamily="2" charset="-122"/>
              </a:rPr>
              <a:t>）产生式左部非终结符的综合属性只有在它所引用的所有属性都计算出来以后才能计算。语义规则可以放在产生式右部的末尾。</a:t>
            </a:r>
            <a:endParaRPr lang="zh-CN" altLang="en-US" dirty="0">
              <a:latin typeface="宋体" panose="02010600030101010101" pitchFamily="2" charset="-122"/>
              <a:ea typeface="宋体" panose="02010600030101010101" pitchFamily="2" charset="-122"/>
            </a:endParaRPr>
          </a:p>
        </p:txBody>
      </p:sp>
      <p:sp>
        <p:nvSpPr>
          <p:cNvPr id="2" name="矩形 1"/>
          <p:cNvSpPr/>
          <p:nvPr/>
        </p:nvSpPr>
        <p:spPr>
          <a:xfrm>
            <a:off x="1512168" y="987574"/>
            <a:ext cx="3635896" cy="590931"/>
          </a:xfrm>
          <a:prstGeom prst="rect">
            <a:avLst/>
          </a:prstGeom>
        </p:spPr>
        <p:txBody>
          <a:bodyPr wrap="square">
            <a:spAutoFit/>
          </a:bodyPr>
          <a:lstStyle/>
          <a:p>
            <a:pPr>
              <a:lnSpc>
                <a:spcPct val="90000"/>
              </a:lnSpc>
              <a:defRPr/>
            </a:pPr>
            <a:r>
              <a:rPr lang="en-US" altLang="zh-CN" dirty="0">
                <a:latin typeface="宋体" panose="02010600030101010101" pitchFamily="2" charset="-122"/>
                <a:ea typeface="宋体" panose="02010600030101010101" pitchFamily="2" charset="-122"/>
              </a:rPr>
              <a:t>S</a:t>
            </a:r>
            <a:r>
              <a:rPr lang="zh-CN" altLang="en-US" dirty="0">
                <a:latin typeface="宋体" panose="02010600030101010101" pitchFamily="2" charset="-122"/>
                <a:ea typeface="宋体" panose="02010600030101010101" pitchFamily="2" charset="-122"/>
              </a:rPr>
              <a:t>→</a:t>
            </a:r>
            <a:r>
              <a:rPr lang="en-US" altLang="zh-CN" dirty="0">
                <a:solidFill>
                  <a:srgbClr val="FF0000"/>
                </a:solidFill>
                <a:latin typeface="宋体" panose="02010600030101010101" pitchFamily="2" charset="-122"/>
                <a:ea typeface="宋体" panose="02010600030101010101" pitchFamily="2" charset="-122"/>
              </a:rPr>
              <a:t>{B.ps = 10} </a:t>
            </a:r>
          </a:p>
          <a:p>
            <a:pPr>
              <a:lnSpc>
                <a:spcPct val="90000"/>
              </a:lnSpc>
              <a:defRPr/>
            </a:pP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   </a:t>
            </a:r>
            <a:r>
              <a:rPr lang="en-US" altLang="zh-CN" dirty="0">
                <a:latin typeface="宋体" panose="02010600030101010101" pitchFamily="2" charset="-122"/>
                <a:ea typeface="宋体" panose="02010600030101010101" pitchFamily="2" charset="-122"/>
                <a:sym typeface="Wingdings" panose="05000000000000000000" pitchFamily="2" charset="2"/>
              </a:rPr>
              <a:t>B </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a:t>
            </a:r>
            <a:r>
              <a:rPr lang="en-US" altLang="zh-CN" dirty="0">
                <a:solidFill>
                  <a:srgbClr val="FF0000"/>
                </a:solidFill>
                <a:latin typeface="宋体" panose="02010600030101010101" pitchFamily="2" charset="-122"/>
                <a:ea typeface="宋体" panose="02010600030101010101" pitchFamily="2" charset="-122"/>
              </a:rPr>
              <a:t>S.ht = B.ht}</a:t>
            </a:r>
            <a:endParaRPr lang="zh-CN" altLang="en-US" dirty="0">
              <a:solidFill>
                <a:srgbClr val="FF0000"/>
              </a:solidFill>
              <a:latin typeface="宋体" panose="02010600030101010101" pitchFamily="2" charset="-122"/>
              <a:ea typeface="宋体" panose="02010600030101010101" pitchFamily="2" charset="-122"/>
            </a:endParaRPr>
          </a:p>
        </p:txBody>
      </p:sp>
      <p:sp>
        <p:nvSpPr>
          <p:cNvPr id="13" name="矩形 12"/>
          <p:cNvSpPr/>
          <p:nvPr/>
        </p:nvSpPr>
        <p:spPr>
          <a:xfrm>
            <a:off x="1558757" y="1578505"/>
            <a:ext cx="3589307" cy="840230"/>
          </a:xfrm>
          <a:prstGeom prst="rect">
            <a:avLst/>
          </a:prstGeom>
        </p:spPr>
        <p:txBody>
          <a:bodyPr wrap="square">
            <a:spAutoFit/>
          </a:bodyPr>
          <a:lstStyle/>
          <a:p>
            <a:pPr>
              <a:lnSpc>
                <a:spcPct val="90000"/>
              </a:lnSpc>
              <a:defRPr/>
            </a:pPr>
            <a:r>
              <a:rPr lang="en-US" altLang="zh-CN" dirty="0">
                <a:latin typeface="宋体" panose="02010600030101010101" pitchFamily="2" charset="-122"/>
                <a:ea typeface="宋体" panose="02010600030101010101" pitchFamily="2" charset="-122"/>
              </a:rPr>
              <a:t>B</a:t>
            </a:r>
            <a:r>
              <a:rPr lang="zh-CN" altLang="en-US" dirty="0">
                <a:latin typeface="宋体" panose="02010600030101010101" pitchFamily="2" charset="-122"/>
                <a:ea typeface="宋体" panose="02010600030101010101" pitchFamily="2" charset="-122"/>
              </a:rPr>
              <a:t>→</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1</a:t>
            </a:r>
            <a:r>
              <a:rPr lang="en-US" altLang="zh-CN" dirty="0">
                <a:solidFill>
                  <a:srgbClr val="FF0000"/>
                </a:solidFill>
                <a:latin typeface="宋体" panose="02010600030101010101" pitchFamily="2" charset="-122"/>
                <a:ea typeface="宋体" panose="02010600030101010101" pitchFamily="2" charset="-122"/>
              </a:rPr>
              <a:t>.ps = B.ps} </a:t>
            </a:r>
          </a:p>
          <a:p>
            <a:pPr>
              <a:lnSpc>
                <a:spcPct val="90000"/>
              </a:lnSpc>
              <a:defRPr/>
            </a:pP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   </a:t>
            </a:r>
            <a:r>
              <a:rPr lang="en-US" altLang="zh-CN" dirty="0">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latin typeface="宋体" panose="02010600030101010101" pitchFamily="2" charset="-122"/>
                <a:ea typeface="宋体" panose="02010600030101010101" pitchFamily="2" charset="-122"/>
                <a:sym typeface="Wingdings" panose="05000000000000000000" pitchFamily="2" charset="2"/>
              </a:rPr>
              <a:t>1</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2</a:t>
            </a:r>
            <a:r>
              <a:rPr lang="en-US" altLang="zh-CN" dirty="0">
                <a:solidFill>
                  <a:srgbClr val="FF0000"/>
                </a:solidFill>
                <a:latin typeface="宋体" panose="02010600030101010101" pitchFamily="2" charset="-122"/>
                <a:ea typeface="宋体" panose="02010600030101010101" pitchFamily="2" charset="-122"/>
              </a:rPr>
              <a:t>.ps = B.ps}</a:t>
            </a:r>
          </a:p>
          <a:p>
            <a:pPr>
              <a:lnSpc>
                <a:spcPct val="90000"/>
              </a:lnSpc>
              <a:defRPr/>
            </a:pP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   </a:t>
            </a:r>
            <a:r>
              <a:rPr lang="en-US" altLang="zh-CN" dirty="0">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latin typeface="宋体" panose="02010600030101010101" pitchFamily="2" charset="-122"/>
                <a:ea typeface="宋体" panose="02010600030101010101" pitchFamily="2" charset="-122"/>
                <a:sym typeface="Wingdings" panose="05000000000000000000" pitchFamily="2" charset="2"/>
              </a:rPr>
              <a:t>2 </a:t>
            </a:r>
            <a:r>
              <a:rPr lang="en-US" altLang="zh-CN" dirty="0">
                <a:solidFill>
                  <a:srgbClr val="FF0000"/>
                </a:solidFill>
                <a:latin typeface="宋体" panose="02010600030101010101" pitchFamily="2" charset="-122"/>
                <a:ea typeface="宋体" panose="02010600030101010101" pitchFamily="2" charset="-122"/>
              </a:rPr>
              <a:t>{B.ht = max(</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1</a:t>
            </a:r>
            <a:r>
              <a:rPr lang="en-US" altLang="zh-CN" dirty="0">
                <a:solidFill>
                  <a:srgbClr val="FF0000"/>
                </a:solidFill>
                <a:latin typeface="宋体" panose="02010600030101010101" pitchFamily="2" charset="-122"/>
                <a:ea typeface="宋体" panose="02010600030101010101" pitchFamily="2" charset="-122"/>
              </a:rPr>
              <a:t>.ht,</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 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2</a:t>
            </a:r>
            <a:r>
              <a:rPr lang="en-US" altLang="zh-CN" dirty="0">
                <a:solidFill>
                  <a:srgbClr val="FF0000"/>
                </a:solidFill>
                <a:latin typeface="宋体" panose="02010600030101010101" pitchFamily="2" charset="-122"/>
                <a:ea typeface="宋体" panose="02010600030101010101" pitchFamily="2" charset="-122"/>
              </a:rPr>
              <a:t>.ht)}</a:t>
            </a:r>
            <a:endParaRPr lang="zh-CN" altLang="en-US" dirty="0">
              <a:solidFill>
                <a:srgbClr val="FF0000"/>
              </a:solidFill>
              <a:latin typeface="宋体" panose="02010600030101010101" pitchFamily="2" charset="-122"/>
              <a:ea typeface="宋体" panose="02010600030101010101" pitchFamily="2" charset="-122"/>
            </a:endParaRPr>
          </a:p>
        </p:txBody>
      </p:sp>
      <p:sp>
        <p:nvSpPr>
          <p:cNvPr id="14" name="矩形 13"/>
          <p:cNvSpPr/>
          <p:nvPr/>
        </p:nvSpPr>
        <p:spPr>
          <a:xfrm>
            <a:off x="1512168" y="2418735"/>
            <a:ext cx="3779912" cy="1089529"/>
          </a:xfrm>
          <a:prstGeom prst="rect">
            <a:avLst/>
          </a:prstGeom>
        </p:spPr>
        <p:txBody>
          <a:bodyPr wrap="square">
            <a:spAutoFit/>
          </a:bodyPr>
          <a:lstStyle/>
          <a:p>
            <a:pPr>
              <a:lnSpc>
                <a:spcPct val="90000"/>
              </a:lnSpc>
              <a:defRPr/>
            </a:pPr>
            <a:r>
              <a:rPr lang="en-US" altLang="zh-CN" dirty="0">
                <a:latin typeface="宋体" panose="02010600030101010101" pitchFamily="2" charset="-122"/>
                <a:ea typeface="宋体" panose="02010600030101010101" pitchFamily="2" charset="-122"/>
              </a:rPr>
              <a:t>B</a:t>
            </a:r>
            <a:r>
              <a:rPr lang="zh-CN" altLang="en-US" dirty="0">
                <a:latin typeface="宋体" panose="02010600030101010101" pitchFamily="2" charset="-122"/>
                <a:ea typeface="宋体" panose="02010600030101010101" pitchFamily="2" charset="-122"/>
              </a:rPr>
              <a:t>→</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1</a:t>
            </a:r>
            <a:r>
              <a:rPr lang="en-US" altLang="zh-CN" dirty="0">
                <a:solidFill>
                  <a:srgbClr val="FF0000"/>
                </a:solidFill>
                <a:latin typeface="宋体" panose="02010600030101010101" pitchFamily="2" charset="-122"/>
                <a:ea typeface="宋体" panose="02010600030101010101" pitchFamily="2" charset="-122"/>
              </a:rPr>
              <a:t>.ps = B.ps} </a:t>
            </a:r>
          </a:p>
          <a:p>
            <a:pPr>
              <a:lnSpc>
                <a:spcPct val="90000"/>
              </a:lnSpc>
              <a:defRPr/>
            </a:pP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   </a:t>
            </a:r>
            <a:r>
              <a:rPr lang="en-US" altLang="zh-CN" dirty="0">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latin typeface="宋体" panose="02010600030101010101" pitchFamily="2" charset="-122"/>
                <a:ea typeface="宋体" panose="02010600030101010101" pitchFamily="2" charset="-122"/>
                <a:sym typeface="Wingdings" panose="05000000000000000000" pitchFamily="2" charset="2"/>
              </a:rPr>
              <a:t>1</a:t>
            </a:r>
            <a:r>
              <a:rPr lang="en-US" altLang="zh-CN" dirty="0">
                <a:latin typeface="宋体" panose="02010600030101010101" pitchFamily="2" charset="-122"/>
                <a:ea typeface="宋体" panose="02010600030101010101" pitchFamily="2" charset="-122"/>
                <a:sym typeface="Wingdings" panose="05000000000000000000" pitchFamily="2" charset="2"/>
              </a:rPr>
              <a:t> </a:t>
            </a:r>
          </a:p>
          <a:p>
            <a:pPr>
              <a:lnSpc>
                <a:spcPct val="90000"/>
              </a:lnSpc>
              <a:defRPr/>
            </a:pPr>
            <a:r>
              <a:rPr lang="en-US" altLang="zh-CN" dirty="0">
                <a:latin typeface="宋体" panose="02010600030101010101" pitchFamily="2" charset="-122"/>
                <a:ea typeface="宋体" panose="02010600030101010101" pitchFamily="2" charset="-122"/>
                <a:sym typeface="Wingdings" panose="05000000000000000000" pitchFamily="2" charset="2"/>
              </a:rPr>
              <a:t>   sub</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2</a:t>
            </a:r>
            <a:r>
              <a:rPr lang="en-US" altLang="zh-CN" dirty="0">
                <a:solidFill>
                  <a:srgbClr val="FF0000"/>
                </a:solidFill>
                <a:latin typeface="宋体" panose="02010600030101010101" pitchFamily="2" charset="-122"/>
                <a:ea typeface="宋体" panose="02010600030101010101" pitchFamily="2" charset="-122"/>
              </a:rPr>
              <a:t>.ps = shrink(B.ps)}</a:t>
            </a:r>
            <a:r>
              <a:rPr lang="en-US" altLang="zh-CN" dirty="0">
                <a:latin typeface="宋体" panose="02010600030101010101" pitchFamily="2" charset="-122"/>
                <a:ea typeface="宋体" panose="02010600030101010101" pitchFamily="2" charset="-122"/>
                <a:sym typeface="Wingdings" panose="05000000000000000000" pitchFamily="2" charset="2"/>
              </a:rPr>
              <a:t>     </a:t>
            </a:r>
          </a:p>
          <a:p>
            <a:pPr>
              <a:lnSpc>
                <a:spcPct val="90000"/>
              </a:lnSpc>
              <a:defRPr/>
            </a:pPr>
            <a:r>
              <a:rPr lang="en-US" altLang="zh-CN" dirty="0">
                <a:latin typeface="宋体" panose="02010600030101010101" pitchFamily="2" charset="-122"/>
                <a:ea typeface="宋体" panose="02010600030101010101" pitchFamily="2" charset="-122"/>
                <a:sym typeface="Wingdings" panose="05000000000000000000" pitchFamily="2" charset="2"/>
              </a:rPr>
              <a:t>   B</a:t>
            </a:r>
            <a:r>
              <a:rPr lang="en-US" altLang="zh-CN" baseline="-25000" dirty="0">
                <a:latin typeface="宋体" panose="02010600030101010101" pitchFamily="2" charset="-122"/>
                <a:ea typeface="宋体" panose="02010600030101010101" pitchFamily="2" charset="-122"/>
                <a:sym typeface="Wingdings" panose="05000000000000000000" pitchFamily="2" charset="2"/>
              </a:rPr>
              <a:t>2</a:t>
            </a:r>
            <a:r>
              <a:rPr lang="en-US" altLang="zh-CN" dirty="0">
                <a:solidFill>
                  <a:srgbClr val="FF0000"/>
                </a:solidFill>
                <a:latin typeface="宋体" panose="02010600030101010101" pitchFamily="2" charset="-122"/>
                <a:ea typeface="宋体" panose="02010600030101010101" pitchFamily="2" charset="-122"/>
              </a:rPr>
              <a:t>{B.ht = </a:t>
            </a:r>
            <a:r>
              <a:rPr lang="en-US" altLang="zh-CN" dirty="0" err="1">
                <a:solidFill>
                  <a:srgbClr val="FF0000"/>
                </a:solidFill>
                <a:latin typeface="宋体" panose="02010600030101010101" pitchFamily="2" charset="-122"/>
                <a:ea typeface="宋体" panose="02010600030101010101" pitchFamily="2" charset="-122"/>
              </a:rPr>
              <a:t>disp</a:t>
            </a:r>
            <a:r>
              <a:rPr lang="en-US" altLang="zh-CN" dirty="0">
                <a:solidFill>
                  <a:srgbClr val="FF0000"/>
                </a:solidFill>
                <a:latin typeface="宋体" panose="02010600030101010101" pitchFamily="2" charset="-122"/>
                <a:ea typeface="宋体" panose="02010600030101010101" pitchFamily="2" charset="-122"/>
              </a:rPr>
              <a:t>(</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1</a:t>
            </a:r>
            <a:r>
              <a:rPr lang="en-US" altLang="zh-CN" dirty="0">
                <a:solidFill>
                  <a:srgbClr val="FF0000"/>
                </a:solidFill>
                <a:latin typeface="宋体" panose="02010600030101010101" pitchFamily="2" charset="-122"/>
                <a:ea typeface="宋体" panose="02010600030101010101" pitchFamily="2" charset="-122"/>
              </a:rPr>
              <a:t>.ht,</a:t>
            </a:r>
            <a:r>
              <a:rPr lang="en-US" altLang="zh-CN" dirty="0">
                <a:solidFill>
                  <a:srgbClr val="FF0000"/>
                </a:solidFill>
                <a:latin typeface="宋体" panose="02010600030101010101" pitchFamily="2" charset="-122"/>
                <a:ea typeface="宋体" panose="02010600030101010101" pitchFamily="2" charset="-122"/>
                <a:sym typeface="Wingdings" panose="05000000000000000000" pitchFamily="2" charset="2"/>
              </a:rPr>
              <a:t> B</a:t>
            </a:r>
            <a:r>
              <a:rPr lang="en-US" altLang="zh-CN" baseline="-25000" dirty="0">
                <a:solidFill>
                  <a:srgbClr val="FF0000"/>
                </a:solidFill>
                <a:latin typeface="宋体" panose="02010600030101010101" pitchFamily="2" charset="-122"/>
                <a:ea typeface="宋体" panose="02010600030101010101" pitchFamily="2" charset="-122"/>
                <a:sym typeface="Wingdings" panose="05000000000000000000" pitchFamily="2" charset="2"/>
              </a:rPr>
              <a:t>2</a:t>
            </a:r>
            <a:r>
              <a:rPr lang="en-US" altLang="zh-CN" dirty="0">
                <a:solidFill>
                  <a:srgbClr val="FF0000"/>
                </a:solidFill>
                <a:latin typeface="宋体" panose="02010600030101010101" pitchFamily="2" charset="-122"/>
                <a:ea typeface="宋体" panose="02010600030101010101" pitchFamily="2" charset="-122"/>
              </a:rPr>
              <a:t>.ht)}</a:t>
            </a:r>
            <a:endParaRPr lang="zh-CN" altLang="en-US" dirty="0">
              <a:solidFill>
                <a:srgbClr val="FF0000"/>
              </a:solidFill>
              <a:latin typeface="宋体" panose="02010600030101010101" pitchFamily="2" charset="-122"/>
              <a:ea typeface="宋体" panose="02010600030101010101" pitchFamily="2" charset="-122"/>
            </a:endParaRPr>
          </a:p>
        </p:txBody>
      </p:sp>
      <p:sp>
        <p:nvSpPr>
          <p:cNvPr id="15" name="矩形 14"/>
          <p:cNvSpPr/>
          <p:nvPr/>
        </p:nvSpPr>
        <p:spPr>
          <a:xfrm>
            <a:off x="1495620" y="3508264"/>
            <a:ext cx="3647152" cy="341632"/>
          </a:xfrm>
          <a:prstGeom prst="rect">
            <a:avLst/>
          </a:prstGeom>
        </p:spPr>
        <p:txBody>
          <a:bodyPr wrap="none">
            <a:spAutoFit/>
          </a:bodyPr>
          <a:lstStyle/>
          <a:p>
            <a:pPr>
              <a:lnSpc>
                <a:spcPct val="90000"/>
              </a:lnSpc>
              <a:defRPr/>
            </a:pPr>
            <a:r>
              <a:rPr lang="en-US" altLang="zh-CN" dirty="0">
                <a:latin typeface="宋体" panose="02010600030101010101" pitchFamily="2" charset="-122"/>
                <a:ea typeface="宋体" panose="02010600030101010101" pitchFamily="2" charset="-122"/>
              </a:rPr>
              <a:t>B</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sym typeface="Wingdings" panose="05000000000000000000" pitchFamily="2" charset="2"/>
              </a:rPr>
              <a:t>text</a:t>
            </a:r>
            <a:r>
              <a:rPr lang="en-US" altLang="zh-CN" dirty="0">
                <a:solidFill>
                  <a:srgbClr val="FF0000"/>
                </a:solidFill>
                <a:latin typeface="宋体" panose="02010600030101010101" pitchFamily="2" charset="-122"/>
                <a:ea typeface="宋体" panose="02010600030101010101" pitchFamily="2" charset="-122"/>
              </a:rPr>
              <a:t>{B.ht = </a:t>
            </a:r>
            <a:r>
              <a:rPr lang="en-US" altLang="zh-CN" dirty="0" err="1">
                <a:solidFill>
                  <a:srgbClr val="FF0000"/>
                </a:solidFill>
                <a:latin typeface="宋体" panose="02010600030101010101" pitchFamily="2" charset="-122"/>
                <a:ea typeface="宋体" panose="02010600030101010101" pitchFamily="2" charset="-122"/>
              </a:rPr>
              <a:t>text.h</a:t>
            </a:r>
            <a:r>
              <a:rPr lang="en-US" altLang="zh-CN" dirty="0">
                <a:solidFill>
                  <a:srgbClr val="FF0000"/>
                </a:solidFill>
                <a:latin typeface="宋体" panose="02010600030101010101" pitchFamily="2" charset="-122"/>
                <a:ea typeface="宋体" panose="02010600030101010101" pitchFamily="2" charset="-122"/>
              </a:rPr>
              <a:t> × B.ps}</a:t>
            </a:r>
            <a:endParaRPr lang="zh-CN" altLang="en-US" dirty="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49508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 grpId="0"/>
      <p:bldP spid="13" grpId="0"/>
      <p:bldP spid="14" grpId="0"/>
      <p:bldP spid="1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ChangeArrowheads="1"/>
          </p:cNvSpPr>
          <p:nvPr>
            <p:ph type="body" idx="1"/>
          </p:nvPr>
        </p:nvSpPr>
        <p:spPr>
          <a:xfrm>
            <a:off x="457200" y="559594"/>
            <a:ext cx="8229600" cy="4137422"/>
          </a:xfrm>
        </p:spPr>
        <p:txBody>
          <a:bodyPr/>
          <a:lstStyle/>
          <a:p>
            <a:pPr eaLnBrk="1" hangingPunct="1">
              <a:lnSpc>
                <a:spcPct val="90000"/>
              </a:lnSpc>
            </a:pPr>
            <a:r>
              <a:rPr lang="zh-CN" altLang="en-US" sz="2800" b="1" dirty="0"/>
              <a:t>常见的语法制导翻译类型：</a:t>
            </a:r>
          </a:p>
          <a:p>
            <a:pPr lvl="1" eaLnBrk="1" hangingPunct="1">
              <a:lnSpc>
                <a:spcPct val="90000"/>
              </a:lnSpc>
            </a:pPr>
            <a:r>
              <a:rPr lang="zh-CN" altLang="en-US" sz="2400" dirty="0"/>
              <a:t>语法分析采用自下而上方法时，使用与语法分析栈同步操作的</a:t>
            </a:r>
            <a:r>
              <a:rPr lang="zh-CN" altLang="en-US" sz="2400" dirty="0">
                <a:solidFill>
                  <a:srgbClr val="FF3300"/>
                </a:solidFill>
              </a:rPr>
              <a:t>语义栈</a:t>
            </a:r>
            <a:r>
              <a:rPr lang="zh-CN" altLang="en-US" sz="2400" dirty="0"/>
              <a:t>进行语法制导翻译。</a:t>
            </a:r>
          </a:p>
          <a:p>
            <a:pPr lvl="1" eaLnBrk="1" hangingPunct="1">
              <a:lnSpc>
                <a:spcPct val="90000"/>
              </a:lnSpc>
            </a:pPr>
            <a:r>
              <a:rPr lang="zh-CN" altLang="en-US" sz="2400" dirty="0"/>
              <a:t>语法分析采用递归下降分析方法时，利用</a:t>
            </a:r>
            <a:r>
              <a:rPr lang="zh-CN" altLang="en-US" sz="2400" dirty="0">
                <a:solidFill>
                  <a:srgbClr val="FF3300"/>
                </a:solidFill>
              </a:rPr>
              <a:t>隐含堆栈</a:t>
            </a:r>
            <a:r>
              <a:rPr lang="zh-CN" altLang="en-US" sz="2400" dirty="0"/>
              <a:t>存储各递归子程序中的局部变量所表示的语义信息</a:t>
            </a:r>
          </a:p>
          <a:p>
            <a:pPr lvl="1" eaLnBrk="1" hangingPunct="1">
              <a:lnSpc>
                <a:spcPct val="90000"/>
              </a:lnSpc>
            </a:pPr>
            <a:r>
              <a:rPr lang="zh-CN" altLang="en-US" sz="2400" dirty="0"/>
              <a:t>语法分析采用</a:t>
            </a:r>
            <a:r>
              <a:rPr lang="en-US" altLang="zh-CN" sz="2400" dirty="0"/>
              <a:t>LL(1)</a:t>
            </a:r>
            <a:r>
              <a:rPr lang="zh-CN" altLang="en-US" sz="2400" dirty="0"/>
              <a:t>分析法时，利用翻译文法进行语法制导的翻译。翻译文法是在描述语言的</a:t>
            </a:r>
            <a:r>
              <a:rPr lang="zh-CN" altLang="en-US" sz="2400" dirty="0">
                <a:solidFill>
                  <a:srgbClr val="FF3300"/>
                </a:solidFill>
              </a:rPr>
              <a:t>文法中加入语义动作</a:t>
            </a:r>
            <a:r>
              <a:rPr lang="zh-CN" altLang="en-US" sz="2400" dirty="0"/>
              <a:t>的符号。</a:t>
            </a:r>
          </a:p>
          <a:p>
            <a:pPr lvl="1" eaLnBrk="1" hangingPunct="1">
              <a:lnSpc>
                <a:spcPct val="90000"/>
              </a:lnSpc>
            </a:pPr>
            <a:r>
              <a:rPr lang="zh-CN" altLang="en-US" sz="2400" dirty="0"/>
              <a:t>利用属性文法进行翻译。属性文法也是一种翻译文法，它的文法符号和动作符号都带有语义属性和同一产生式中各属性间的运算规则。</a:t>
            </a:r>
          </a:p>
        </p:txBody>
      </p:sp>
    </p:spTree>
    <p:extLst>
      <p:ext uri="{BB962C8B-B14F-4D97-AF65-F5344CB8AC3E}">
        <p14:creationId xmlns:p14="http://schemas.microsoft.com/office/powerpoint/2010/main" val="13970673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0" y="123478"/>
            <a:ext cx="8229600" cy="638175"/>
          </a:xfrm>
        </p:spPr>
        <p:txBody>
          <a:bodyPr>
            <a:normAutofit fontScale="90000"/>
          </a:bodyPr>
          <a:lstStyle/>
          <a:p>
            <a:pPr eaLnBrk="1" hangingPunct="1"/>
            <a:r>
              <a:rPr lang="en-US" altLang="zh-CN" sz="4000" b="1" dirty="0"/>
              <a:t>S</a:t>
            </a:r>
            <a:r>
              <a:rPr lang="zh-CN" altLang="en-US" sz="4000" b="1" dirty="0"/>
              <a:t>属性文法自下而上的翻译</a:t>
            </a:r>
          </a:p>
        </p:txBody>
      </p:sp>
      <p:sp>
        <p:nvSpPr>
          <p:cNvPr id="47107" name="Rectangle 3"/>
          <p:cNvSpPr>
            <a:spLocks noGrp="1" noChangeArrowheads="1"/>
          </p:cNvSpPr>
          <p:nvPr>
            <p:ph type="body" idx="1"/>
          </p:nvPr>
        </p:nvSpPr>
        <p:spPr>
          <a:xfrm>
            <a:off x="467544" y="1131590"/>
            <a:ext cx="8281987" cy="1079897"/>
          </a:xfrm>
        </p:spPr>
        <p:txBody>
          <a:bodyPr>
            <a:noAutofit/>
          </a:bodyPr>
          <a:lstStyle/>
          <a:p>
            <a:pPr marL="0" indent="0" eaLnBrk="1" hangingPunct="1">
              <a:buFontTx/>
              <a:buNone/>
            </a:pPr>
            <a:r>
              <a:rPr lang="en-US" altLang="zh-CN" sz="2200" dirty="0"/>
              <a:t>S-</a:t>
            </a:r>
            <a:r>
              <a:rPr lang="zh-CN" altLang="zh-CN" sz="2200" dirty="0"/>
              <a:t>属性文法只有综合属性，在自下而上翻译过程中用于向上传递信息</a:t>
            </a:r>
            <a:r>
              <a:rPr lang="zh-CN" altLang="en-US" sz="2200" dirty="0"/>
              <a:t>。</a:t>
            </a:r>
            <a:r>
              <a:rPr lang="zh-CN" altLang="zh-CN" sz="2200" dirty="0"/>
              <a:t>因为每个结点综合属性的计算应该放在结点后面执行，也就是说语义规则可以直接放在产生式最后。</a:t>
            </a:r>
            <a:endParaRPr lang="en-US" altLang="zh-CN" sz="2200" dirty="0"/>
          </a:p>
        </p:txBody>
      </p:sp>
      <p:graphicFrame>
        <p:nvGraphicFramePr>
          <p:cNvPr id="2" name="表格 1"/>
          <p:cNvGraphicFramePr>
            <a:graphicFrameLocks noGrp="1"/>
          </p:cNvGraphicFramePr>
          <p:nvPr>
            <p:extLst>
              <p:ext uri="{D42A27DB-BD31-4B8C-83A1-F6EECF244321}">
                <p14:modId xmlns:p14="http://schemas.microsoft.com/office/powerpoint/2010/main" val="794389623"/>
              </p:ext>
            </p:extLst>
          </p:nvPr>
        </p:nvGraphicFramePr>
        <p:xfrm>
          <a:off x="395536" y="2787774"/>
          <a:ext cx="8424862" cy="1971421"/>
        </p:xfrm>
        <a:graphic>
          <a:graphicData uri="http://schemas.openxmlformats.org/drawingml/2006/table">
            <a:tbl>
              <a:tblPr/>
              <a:tblGrid>
                <a:gridCol w="4320442">
                  <a:extLst>
                    <a:ext uri="{9D8B030D-6E8A-4147-A177-3AD203B41FA5}">
                      <a16:colId xmlns:a16="http://schemas.microsoft.com/office/drawing/2014/main" val="20000"/>
                    </a:ext>
                  </a:extLst>
                </a:gridCol>
                <a:gridCol w="4104420">
                  <a:extLst>
                    <a:ext uri="{9D8B030D-6E8A-4147-A177-3AD203B41FA5}">
                      <a16:colId xmlns:a16="http://schemas.microsoft.com/office/drawing/2014/main" val="20001"/>
                    </a:ext>
                  </a:extLst>
                </a:gridCol>
              </a:tblGrid>
              <a:tr h="377571">
                <a:tc>
                  <a:txBody>
                    <a:bodyPr/>
                    <a:lstStyle/>
                    <a:p>
                      <a:pPr indent="57150" algn="ctr">
                        <a:lnSpc>
                          <a:spcPct val="150000"/>
                        </a:lnSpc>
                        <a:spcAft>
                          <a:spcPts val="0"/>
                        </a:spcAft>
                      </a:pPr>
                      <a:r>
                        <a:rPr lang="zh-CN" sz="1800" kern="100" dirty="0">
                          <a:effectLst/>
                          <a:latin typeface="Times New Roman" panose="02020603050405020304" pitchFamily="18" charset="0"/>
                          <a:ea typeface="宋体" panose="02010600030101010101" pitchFamily="2" charset="-122"/>
                        </a:rPr>
                        <a:t>产生式</a:t>
                      </a:r>
                      <a:r>
                        <a:rPr lang="en-US" sz="1800" kern="100" dirty="0">
                          <a:effectLst/>
                          <a:latin typeface="Times New Roman" panose="02020603050405020304" pitchFamily="18" charset="0"/>
                          <a:ea typeface="宋体" panose="02010600030101010101" pitchFamily="2" charset="-122"/>
                        </a:rPr>
                        <a:t>{</a:t>
                      </a:r>
                      <a:r>
                        <a:rPr lang="zh-CN" sz="1800" kern="100" dirty="0">
                          <a:effectLst/>
                          <a:latin typeface="Times New Roman" panose="02020603050405020304" pitchFamily="18" charset="0"/>
                          <a:ea typeface="宋体" panose="02010600030101010101" pitchFamily="2" charset="-122"/>
                        </a:rPr>
                        <a:t>语义规则</a:t>
                      </a:r>
                      <a:r>
                        <a:rPr lang="en-US" sz="1800" kern="100" dirty="0">
                          <a:effectLst/>
                          <a:latin typeface="Times New Roman" panose="02020603050405020304" pitchFamily="18" charset="0"/>
                          <a:ea typeface="宋体" panose="02010600030101010101" pitchFamily="2" charset="-122"/>
                        </a:rPr>
                        <a:t>}</a:t>
                      </a:r>
                      <a:endParaRPr lang="zh-CN" sz="1800" kern="100" dirty="0">
                        <a:effectLst/>
                        <a:latin typeface="Times New Roman" panose="02020603050405020304" pitchFamily="18" charset="0"/>
                        <a:ea typeface="宋体" panose="02010600030101010101" pitchFamily="2" charset="-122"/>
                      </a:endParaRPr>
                    </a:p>
                  </a:txBody>
                  <a:tcPr marL="68579" marR="68579" marT="0" marB="0">
                    <a:lnL>
                      <a:noFill/>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57150" algn="ctr">
                        <a:lnSpc>
                          <a:spcPct val="150000"/>
                        </a:lnSpc>
                        <a:spcAft>
                          <a:spcPts val="0"/>
                        </a:spcAft>
                      </a:pPr>
                      <a:r>
                        <a:rPr lang="zh-CN" sz="1800" kern="100" dirty="0">
                          <a:effectLst/>
                          <a:latin typeface="Times New Roman" panose="02020603050405020304" pitchFamily="18" charset="0"/>
                          <a:ea typeface="宋体" panose="02010600030101010101" pitchFamily="2" charset="-122"/>
                        </a:rPr>
                        <a:t>产生式</a:t>
                      </a:r>
                      <a:r>
                        <a:rPr lang="en-US" sz="1800" kern="100" dirty="0">
                          <a:effectLst/>
                          <a:latin typeface="Times New Roman" panose="02020603050405020304" pitchFamily="18" charset="0"/>
                          <a:ea typeface="宋体" panose="02010600030101010101" pitchFamily="2" charset="-122"/>
                        </a:rPr>
                        <a:t>{</a:t>
                      </a:r>
                      <a:r>
                        <a:rPr lang="zh-CN" sz="1800" kern="100" dirty="0">
                          <a:effectLst/>
                          <a:latin typeface="Times New Roman" panose="02020603050405020304" pitchFamily="18" charset="0"/>
                          <a:ea typeface="宋体" panose="02010600030101010101" pitchFamily="2" charset="-122"/>
                        </a:rPr>
                        <a:t>语义规则</a:t>
                      </a:r>
                      <a:r>
                        <a:rPr lang="en-US" sz="1800" kern="100" dirty="0">
                          <a:effectLst/>
                          <a:latin typeface="Times New Roman" panose="02020603050405020304" pitchFamily="18" charset="0"/>
                          <a:ea typeface="宋体" panose="02010600030101010101" pitchFamily="2" charset="-122"/>
                        </a:rPr>
                        <a:t>}</a:t>
                      </a:r>
                      <a:endParaRPr lang="zh-CN" sz="1800" kern="100" dirty="0">
                        <a:effectLst/>
                        <a:latin typeface="Times New Roman" panose="02020603050405020304" pitchFamily="18" charset="0"/>
                        <a:ea typeface="宋体" panose="02010600030101010101" pitchFamily="2" charset="-122"/>
                      </a:endParaRPr>
                    </a:p>
                  </a:txBody>
                  <a:tcPr marL="68579" marR="68579" marT="0" marB="0">
                    <a:lnL w="12700" cap="flat" cmpd="sng" algn="ctr">
                      <a:solidFill>
                        <a:srgbClr val="000000"/>
                      </a:solidFill>
                      <a:prstDash val="solid"/>
                      <a:round/>
                      <a:headEnd type="none" w="med" len="med"/>
                      <a:tailEnd type="none" w="med" len="med"/>
                    </a:lnL>
                    <a:lnR>
                      <a:noFill/>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371600">
                <a:tc>
                  <a:txBody>
                    <a:bodyPr/>
                    <a:lstStyle/>
                    <a:p>
                      <a:pPr algn="l">
                        <a:lnSpc>
                          <a:spcPct val="150000"/>
                        </a:lnSpc>
                        <a:spcAft>
                          <a:spcPts val="0"/>
                        </a:spcAft>
                      </a:pP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0</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L</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E#{</a:t>
                      </a:r>
                      <a:r>
                        <a:rPr lang="pt-PT" sz="1800" kern="100" dirty="0">
                          <a:effectLst/>
                          <a:latin typeface="Times New Roman" panose="02020603050405020304" pitchFamily="18" charset="0"/>
                          <a:ea typeface="宋体" panose="02010600030101010101" pitchFamily="2" charset="-122"/>
                        </a:rPr>
                        <a:t> print(E.val)</a:t>
                      </a:r>
                      <a:r>
                        <a:rPr lang="fr-FR" sz="1800" kern="100" dirty="0">
                          <a:effectLst/>
                          <a:latin typeface="Times New Roman" panose="02020603050405020304" pitchFamily="18" charset="0"/>
                          <a:ea typeface="宋体" panose="02010600030101010101" pitchFamily="2" charset="-122"/>
                        </a:rPr>
                        <a:t>}</a:t>
                      </a:r>
                      <a:endParaRPr lang="zh-CN" sz="1800" kern="100" dirty="0">
                        <a:effectLst/>
                        <a:latin typeface="Times New Roman" panose="02020603050405020304" pitchFamily="18" charset="0"/>
                        <a:ea typeface="宋体" panose="02010600030101010101" pitchFamily="2" charset="-122"/>
                      </a:endParaRPr>
                    </a:p>
                    <a:p>
                      <a:pPr algn="l">
                        <a:lnSpc>
                          <a:spcPct val="150000"/>
                        </a:lnSpc>
                        <a:spcAft>
                          <a:spcPts val="0"/>
                        </a:spcAft>
                      </a:pP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1</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E</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E</a:t>
                      </a:r>
                      <a:r>
                        <a:rPr lang="fr-FR" sz="1800" kern="100" baseline="-25000" dirty="0">
                          <a:effectLst/>
                          <a:latin typeface="Times New Roman" panose="02020603050405020304" pitchFamily="18" charset="0"/>
                          <a:ea typeface="宋体" panose="02010600030101010101" pitchFamily="2" charset="-122"/>
                        </a:rPr>
                        <a:t>1</a:t>
                      </a:r>
                      <a:r>
                        <a:rPr lang="fr-FR" sz="1800" kern="100" dirty="0">
                          <a:effectLst/>
                          <a:latin typeface="Times New Roman" panose="02020603050405020304" pitchFamily="18" charset="0"/>
                          <a:ea typeface="宋体" panose="02010600030101010101" pitchFamily="2" charset="-122"/>
                        </a:rPr>
                        <a:t>+T{</a:t>
                      </a:r>
                      <a:r>
                        <a:rPr lang="pt-PT" sz="1800" kern="100" dirty="0">
                          <a:effectLst/>
                          <a:latin typeface="Times New Roman" panose="02020603050405020304" pitchFamily="18" charset="0"/>
                          <a:ea typeface="宋体" panose="02010600030101010101" pitchFamily="2" charset="-122"/>
                        </a:rPr>
                        <a:t> E.val=E</a:t>
                      </a:r>
                      <a:r>
                        <a:rPr lang="pt-PT" sz="1800" kern="100" baseline="-25000" dirty="0">
                          <a:effectLst/>
                          <a:latin typeface="Times New Roman" panose="02020603050405020304" pitchFamily="18" charset="0"/>
                          <a:ea typeface="宋体" panose="02010600030101010101" pitchFamily="2" charset="-122"/>
                        </a:rPr>
                        <a:t>1</a:t>
                      </a:r>
                      <a:r>
                        <a:rPr lang="pt-PT" sz="1800" kern="100" dirty="0">
                          <a:effectLst/>
                          <a:latin typeface="Times New Roman" panose="02020603050405020304" pitchFamily="18" charset="0"/>
                          <a:ea typeface="宋体" panose="02010600030101010101" pitchFamily="2" charset="-122"/>
                        </a:rPr>
                        <a:t>.val+T.val</a:t>
                      </a:r>
                      <a:r>
                        <a:rPr lang="fr-FR" sz="1800" kern="100" dirty="0">
                          <a:effectLst/>
                          <a:latin typeface="Times New Roman" panose="02020603050405020304" pitchFamily="18" charset="0"/>
                          <a:ea typeface="宋体" panose="02010600030101010101" pitchFamily="2" charset="-122"/>
                        </a:rPr>
                        <a:t>}</a:t>
                      </a:r>
                      <a:endParaRPr lang="zh-CN" sz="1800" kern="100" dirty="0">
                        <a:effectLst/>
                        <a:latin typeface="Times New Roman" panose="02020603050405020304" pitchFamily="18" charset="0"/>
                        <a:ea typeface="宋体" panose="02010600030101010101" pitchFamily="2" charset="-122"/>
                      </a:endParaRPr>
                    </a:p>
                    <a:p>
                      <a:pPr algn="l">
                        <a:lnSpc>
                          <a:spcPct val="150000"/>
                        </a:lnSpc>
                        <a:spcAft>
                          <a:spcPts val="0"/>
                        </a:spcAft>
                      </a:pP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2</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E</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T{ E.val=T.val}</a:t>
                      </a:r>
                      <a:endParaRPr lang="zh-CN" sz="1800" kern="100" dirty="0">
                        <a:effectLst/>
                        <a:latin typeface="Times New Roman" panose="02020603050405020304" pitchFamily="18" charset="0"/>
                        <a:ea typeface="宋体" panose="02010600030101010101" pitchFamily="2" charset="-122"/>
                      </a:endParaRPr>
                    </a:p>
                    <a:p>
                      <a:pPr algn="l">
                        <a:lnSpc>
                          <a:spcPct val="150000"/>
                        </a:lnSpc>
                        <a:spcAft>
                          <a:spcPts val="0"/>
                        </a:spcAft>
                      </a:pP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3</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T</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T</a:t>
                      </a:r>
                      <a:r>
                        <a:rPr lang="fr-FR" sz="1800" kern="100" baseline="-25000" dirty="0">
                          <a:effectLst/>
                          <a:latin typeface="Times New Roman" panose="02020603050405020304" pitchFamily="18" charset="0"/>
                          <a:ea typeface="宋体" panose="02010600030101010101" pitchFamily="2" charset="-122"/>
                        </a:rPr>
                        <a:t>1</a:t>
                      </a:r>
                      <a:r>
                        <a:rPr lang="fr-FR" sz="1800" kern="100" dirty="0">
                          <a:effectLst/>
                          <a:latin typeface="Times New Roman" panose="02020603050405020304" pitchFamily="18" charset="0"/>
                          <a:ea typeface="宋体" panose="02010600030101010101" pitchFamily="2" charset="-122"/>
                        </a:rPr>
                        <a:t>*F{ T.val=T</a:t>
                      </a:r>
                      <a:r>
                        <a:rPr lang="fr-FR" sz="1800" kern="100" baseline="-25000" dirty="0">
                          <a:effectLst/>
                          <a:latin typeface="Times New Roman" panose="02020603050405020304" pitchFamily="18" charset="0"/>
                          <a:ea typeface="宋体" panose="02010600030101010101" pitchFamily="2" charset="-122"/>
                        </a:rPr>
                        <a:t>1</a:t>
                      </a:r>
                      <a:r>
                        <a:rPr lang="fr-FR" sz="1800" kern="100" dirty="0">
                          <a:effectLst/>
                          <a:latin typeface="Times New Roman" panose="02020603050405020304" pitchFamily="18" charset="0"/>
                          <a:ea typeface="宋体" panose="02010600030101010101" pitchFamily="2" charset="-122"/>
                        </a:rPr>
                        <a:t>.val * F.val }</a:t>
                      </a:r>
                      <a:endParaRPr lang="zh-CN" sz="1800" kern="100" dirty="0">
                        <a:effectLst/>
                        <a:latin typeface="Times New Roman" panose="02020603050405020304" pitchFamily="18" charset="0"/>
                        <a:ea typeface="宋体" panose="02010600030101010101" pitchFamily="2" charset="-122"/>
                      </a:endParaRPr>
                    </a:p>
                  </a:txBody>
                  <a:tcPr marL="68579" marR="68579"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86360" indent="82550" algn="l">
                        <a:lnSpc>
                          <a:spcPct val="150000"/>
                        </a:lnSpc>
                        <a:spcAft>
                          <a:spcPts val="0"/>
                        </a:spcAft>
                      </a:pP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4</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T</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F{ T.val=F.val}</a:t>
                      </a:r>
                      <a:endParaRPr lang="zh-CN" sz="1800" kern="100" dirty="0">
                        <a:effectLst/>
                        <a:latin typeface="Times New Roman" panose="02020603050405020304" pitchFamily="18" charset="0"/>
                        <a:ea typeface="宋体" panose="02010600030101010101" pitchFamily="2" charset="-122"/>
                      </a:endParaRPr>
                    </a:p>
                    <a:p>
                      <a:pPr marL="86360" indent="82550" algn="l">
                        <a:lnSpc>
                          <a:spcPct val="150000"/>
                        </a:lnSpc>
                        <a:spcAft>
                          <a:spcPts val="0"/>
                        </a:spcAft>
                      </a:pP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5</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F</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(E){ F.val=E.val}</a:t>
                      </a:r>
                      <a:endParaRPr lang="zh-CN" sz="1800" kern="100" dirty="0">
                        <a:effectLst/>
                        <a:latin typeface="Times New Roman" panose="02020603050405020304" pitchFamily="18" charset="0"/>
                        <a:ea typeface="宋体" panose="02010600030101010101" pitchFamily="2" charset="-122"/>
                      </a:endParaRPr>
                    </a:p>
                    <a:p>
                      <a:pPr marL="86360" indent="82550" algn="l">
                        <a:lnSpc>
                          <a:spcPct val="150000"/>
                        </a:lnSpc>
                        <a:spcAft>
                          <a:spcPts val="0"/>
                        </a:spcAft>
                      </a:pP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6</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F</a:t>
                      </a:r>
                      <a:r>
                        <a:rPr lang="zh-CN" sz="1800" kern="100" dirty="0">
                          <a:effectLst/>
                          <a:latin typeface="Times New Roman" panose="02020603050405020304" pitchFamily="18" charset="0"/>
                          <a:ea typeface="宋体" panose="02010600030101010101" pitchFamily="2" charset="-122"/>
                        </a:rPr>
                        <a:t>→</a:t>
                      </a:r>
                      <a:r>
                        <a:rPr lang="fr-FR" sz="1800" kern="100" dirty="0">
                          <a:effectLst/>
                          <a:latin typeface="Times New Roman" panose="02020603050405020304" pitchFamily="18" charset="0"/>
                          <a:ea typeface="宋体" panose="02010600030101010101" pitchFamily="2" charset="-122"/>
                        </a:rPr>
                        <a:t>i{ F.val=i.lexval }</a:t>
                      </a:r>
                      <a:endParaRPr lang="zh-CN" sz="1800" kern="100" dirty="0">
                        <a:effectLst/>
                        <a:latin typeface="Times New Roman" panose="02020603050405020304" pitchFamily="18" charset="0"/>
                        <a:ea typeface="宋体" panose="02010600030101010101" pitchFamily="2" charset="-122"/>
                      </a:endParaRPr>
                    </a:p>
                  </a:txBody>
                  <a:tcPr marL="68579" marR="68579"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7712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8873" name="Rectangle 3"/>
          <p:cNvSpPr>
            <a:spLocks noGrp="1" noChangeArrowheads="1"/>
          </p:cNvSpPr>
          <p:nvPr>
            <p:ph type="body" idx="1"/>
          </p:nvPr>
        </p:nvSpPr>
        <p:spPr>
          <a:xfrm>
            <a:off x="360040" y="123478"/>
            <a:ext cx="4644008" cy="5020022"/>
          </a:xfrm>
          <a:solidFill>
            <a:schemeClr val="bg1"/>
          </a:solidFill>
        </p:spPr>
        <p:txBody>
          <a:bodyPr lIns="92075" tIns="46038" rIns="92075" bIns="46038">
            <a:noAutofit/>
          </a:bodyPr>
          <a:lstStyle/>
          <a:p>
            <a:pPr>
              <a:lnSpc>
                <a:spcPct val="90000"/>
              </a:lnSpc>
              <a:buNone/>
            </a:pPr>
            <a:r>
              <a:rPr lang="en-US" altLang="zh-CN" sz="1800" u="sng" dirty="0">
                <a:latin typeface="宋体" pitchFamily="2" charset="-122"/>
                <a:ea typeface="宋体" panose="02010600030101010101" pitchFamily="2" charset="-122"/>
              </a:rPr>
              <a:t>  </a:t>
            </a:r>
            <a:r>
              <a:rPr lang="en-US" altLang="zh-CN" sz="1800" i="1" u="sng" dirty="0">
                <a:latin typeface="宋体" pitchFamily="2" charset="-122"/>
                <a:ea typeface="宋体" panose="02010600030101010101" pitchFamily="2" charset="-122"/>
              </a:rPr>
              <a:t>  </a:t>
            </a:r>
            <a:r>
              <a:rPr lang="zh-CN" altLang="en-US" sz="1800" i="1" u="sng" dirty="0">
                <a:latin typeface="宋体" pitchFamily="2" charset="-122"/>
                <a:ea typeface="宋体" panose="02010600030101010101" pitchFamily="2" charset="-122"/>
              </a:rPr>
              <a:t>动作          栈       剩余输入串</a:t>
            </a:r>
            <a:endParaRPr lang="zh-CN" altLang="en-US" sz="1800" u="sng" dirty="0">
              <a:latin typeface="宋体" pitchFamily="2" charset="-122"/>
              <a:ea typeface="宋体" panose="02010600030101010101" pitchFamily="2" charset="-122"/>
            </a:endParaRPr>
          </a:p>
          <a:p>
            <a:pPr eaLnBrk="1" hangingPunct="1">
              <a:lnSpc>
                <a:spcPct val="90000"/>
              </a:lnSpc>
              <a:buFontTx/>
              <a:buNone/>
            </a:pPr>
            <a:r>
              <a:rPr lang="en-US" altLang="zh-CN" sz="1800" u="sng" dirty="0">
                <a:latin typeface="宋体" pitchFamily="2" charset="-122"/>
                <a:ea typeface="宋体" panose="02010600030101010101" pitchFamily="2" charset="-122"/>
              </a:rPr>
              <a:t>1)  </a:t>
            </a:r>
            <a:r>
              <a:rPr lang="zh-CN" altLang="en-US" sz="1800" u="sng" dirty="0">
                <a:latin typeface="宋体" pitchFamily="2" charset="-122"/>
                <a:ea typeface="宋体" panose="02010600030101010101" pitchFamily="2" charset="-122"/>
              </a:rPr>
              <a:t>准备          </a:t>
            </a:r>
            <a:r>
              <a:rPr lang="en-US" altLang="zh-CN" sz="1800" u="sng" dirty="0">
                <a:latin typeface="宋体" pitchFamily="2" charset="-122"/>
                <a:ea typeface="宋体" panose="02010600030101010101" pitchFamily="2" charset="-122"/>
              </a:rPr>
              <a:t>#         i</a:t>
            </a:r>
            <a:r>
              <a:rPr lang="en-US" altLang="zh-CN" sz="1800" u="sng" baseline="-25000" dirty="0">
                <a:latin typeface="宋体" pitchFamily="2" charset="-122"/>
                <a:ea typeface="宋体" panose="02010600030101010101" pitchFamily="2" charset="-122"/>
              </a:rPr>
              <a:t>1</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2</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2)  </a:t>
            </a:r>
            <a:r>
              <a:rPr lang="zh-CN" altLang="en-US" sz="1800" u="sng" dirty="0">
                <a:latin typeface="宋体" pitchFamily="2" charset="-122"/>
                <a:ea typeface="宋体" panose="02010600030101010101" pitchFamily="2" charset="-122"/>
              </a:rPr>
              <a:t>移进          </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1</a:t>
            </a:r>
            <a:r>
              <a:rPr lang="en-US" altLang="zh-CN" sz="1800" u="sng" dirty="0">
                <a:latin typeface="宋体" pitchFamily="2" charset="-122"/>
                <a:ea typeface="宋体" panose="02010600030101010101" pitchFamily="2" charset="-122"/>
              </a:rPr>
              <a:t>         +i</a:t>
            </a:r>
            <a:r>
              <a:rPr lang="en-US" altLang="zh-CN" sz="1800" u="sng" baseline="-25000" dirty="0">
                <a:latin typeface="宋体" pitchFamily="2" charset="-122"/>
                <a:ea typeface="宋体" panose="02010600030101010101" pitchFamily="2" charset="-122"/>
              </a:rPr>
              <a:t>2</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3)  </a:t>
            </a:r>
            <a:r>
              <a:rPr lang="zh-CN" altLang="en-US" sz="1800" u="sng" dirty="0">
                <a:latin typeface="宋体" pitchFamily="2" charset="-122"/>
                <a:ea typeface="宋体" panose="02010600030101010101" pitchFamily="2" charset="-122"/>
              </a:rPr>
              <a:t>归约 </a:t>
            </a:r>
            <a:r>
              <a:rPr lang="en-US" altLang="zh-CN" sz="1800" u="sng" dirty="0" err="1">
                <a:latin typeface="宋体" pitchFamily="2" charset="-122"/>
                <a:ea typeface="宋体" panose="02010600030101010101" pitchFamily="2" charset="-122"/>
              </a:rPr>
              <a:t>F→i</a:t>
            </a:r>
            <a:r>
              <a:rPr lang="en-US" altLang="zh-CN" sz="1800" u="sng" dirty="0">
                <a:latin typeface="宋体" pitchFamily="2" charset="-122"/>
                <a:ea typeface="宋体" panose="02010600030101010101" pitchFamily="2" charset="-122"/>
              </a:rPr>
              <a:t>     #F          +i</a:t>
            </a:r>
            <a:r>
              <a:rPr lang="en-US" altLang="zh-CN" sz="1800" u="sng" baseline="-25000" dirty="0">
                <a:latin typeface="宋体" pitchFamily="2" charset="-122"/>
                <a:ea typeface="宋体" panose="02010600030101010101" pitchFamily="2" charset="-122"/>
              </a:rPr>
              <a:t>2</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4)  </a:t>
            </a:r>
            <a:r>
              <a:rPr lang="zh-CN" altLang="en-US" sz="1800" u="sng" dirty="0">
                <a:latin typeface="宋体" pitchFamily="2" charset="-122"/>
                <a:ea typeface="宋体" panose="02010600030101010101" pitchFamily="2" charset="-122"/>
              </a:rPr>
              <a:t>归约 </a:t>
            </a:r>
            <a:r>
              <a:rPr lang="en-US" altLang="zh-CN" sz="1800" u="sng" dirty="0">
                <a:latin typeface="宋体" pitchFamily="2" charset="-122"/>
                <a:ea typeface="宋体" panose="02010600030101010101" pitchFamily="2" charset="-122"/>
              </a:rPr>
              <a:t>T→F     #T          +i</a:t>
            </a:r>
            <a:r>
              <a:rPr lang="en-US" altLang="zh-CN" sz="1800" u="sng" baseline="-25000" dirty="0">
                <a:latin typeface="宋体" pitchFamily="2" charset="-122"/>
                <a:ea typeface="宋体" panose="02010600030101010101" pitchFamily="2" charset="-122"/>
              </a:rPr>
              <a:t>2</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 </a:t>
            </a:r>
          </a:p>
          <a:p>
            <a:pPr eaLnBrk="1" hangingPunct="1">
              <a:lnSpc>
                <a:spcPct val="90000"/>
              </a:lnSpc>
              <a:buFontTx/>
              <a:buNone/>
            </a:pPr>
            <a:r>
              <a:rPr lang="en-US" altLang="zh-CN" sz="1800" u="sng" dirty="0">
                <a:latin typeface="宋体" pitchFamily="2" charset="-122"/>
                <a:ea typeface="宋体" panose="02010600030101010101" pitchFamily="2" charset="-122"/>
              </a:rPr>
              <a:t>5)  </a:t>
            </a:r>
            <a:r>
              <a:rPr lang="zh-CN" altLang="en-US" sz="1800" u="sng" dirty="0">
                <a:latin typeface="宋体" pitchFamily="2" charset="-122"/>
                <a:ea typeface="宋体" panose="02010600030101010101" pitchFamily="2" charset="-122"/>
              </a:rPr>
              <a:t>归约 </a:t>
            </a:r>
            <a:r>
              <a:rPr lang="en-US" altLang="zh-CN" sz="1800" u="sng" dirty="0">
                <a:latin typeface="宋体" pitchFamily="2" charset="-122"/>
                <a:ea typeface="宋体" panose="02010600030101010101" pitchFamily="2" charset="-122"/>
              </a:rPr>
              <a:t>E→T     #E          +i</a:t>
            </a:r>
            <a:r>
              <a:rPr lang="en-US" altLang="zh-CN" sz="1800" u="sng" baseline="-25000" dirty="0">
                <a:latin typeface="宋体" pitchFamily="2" charset="-122"/>
                <a:ea typeface="宋体" panose="02010600030101010101" pitchFamily="2" charset="-122"/>
              </a:rPr>
              <a:t>2</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6)  </a:t>
            </a:r>
            <a:r>
              <a:rPr lang="zh-CN" altLang="en-US" sz="1800" u="sng" dirty="0">
                <a:latin typeface="宋体" pitchFamily="2" charset="-122"/>
                <a:ea typeface="宋体" panose="02010600030101010101" pitchFamily="2" charset="-122"/>
              </a:rPr>
              <a:t>移进          </a:t>
            </a:r>
            <a:r>
              <a:rPr lang="en-US" altLang="zh-CN" sz="1800" u="sng" dirty="0">
                <a:latin typeface="宋体" pitchFamily="2" charset="-122"/>
                <a:ea typeface="宋体" panose="02010600030101010101" pitchFamily="2" charset="-122"/>
              </a:rPr>
              <a:t>#E+          i</a:t>
            </a:r>
            <a:r>
              <a:rPr lang="en-US" altLang="zh-CN" sz="1800" u="sng" baseline="-25000" dirty="0">
                <a:latin typeface="宋体" pitchFamily="2" charset="-122"/>
                <a:ea typeface="宋体" panose="02010600030101010101" pitchFamily="2" charset="-122"/>
              </a:rPr>
              <a:t>2</a:t>
            </a:r>
            <a:r>
              <a:rPr lang="en-US" altLang="zh-CN" sz="1800" u="sng" dirty="0">
                <a:latin typeface="宋体" pitchFamily="2" charset="-122"/>
                <a:ea typeface="宋体" panose="02010600030101010101" pitchFamily="2" charset="-122"/>
              </a:rPr>
              <a:t>*i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7)  </a:t>
            </a:r>
            <a:r>
              <a:rPr lang="zh-CN" altLang="en-US" sz="1800" u="sng" dirty="0">
                <a:latin typeface="宋体" pitchFamily="2" charset="-122"/>
                <a:ea typeface="宋体" panose="02010600030101010101" pitchFamily="2" charset="-122"/>
              </a:rPr>
              <a:t>移进          </a:t>
            </a:r>
            <a:r>
              <a:rPr lang="en-US" altLang="zh-CN" sz="1800" u="sng" dirty="0">
                <a:latin typeface="宋体" pitchFamily="2" charset="-122"/>
                <a:ea typeface="宋体" panose="02010600030101010101" pitchFamily="2" charset="-122"/>
              </a:rPr>
              <a:t>#E+i</a:t>
            </a:r>
            <a:r>
              <a:rPr lang="en-US" altLang="zh-CN" sz="1800" u="sng" baseline="-25000" dirty="0">
                <a:latin typeface="宋体" pitchFamily="2" charset="-122"/>
                <a:ea typeface="宋体" panose="02010600030101010101" pitchFamily="2" charset="-122"/>
              </a:rPr>
              <a:t>2</a:t>
            </a:r>
            <a:r>
              <a:rPr lang="en-US" altLang="zh-CN" sz="1800" u="sng" dirty="0">
                <a:latin typeface="宋体" pitchFamily="2" charset="-122"/>
                <a:ea typeface="宋体" panose="02010600030101010101" pitchFamily="2" charset="-122"/>
              </a:rPr>
              <a:t>          *i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8)  </a:t>
            </a:r>
            <a:r>
              <a:rPr lang="zh-CN" altLang="en-US" sz="1800" u="sng" dirty="0">
                <a:latin typeface="宋体" pitchFamily="2" charset="-122"/>
                <a:ea typeface="宋体" panose="02010600030101010101" pitchFamily="2" charset="-122"/>
              </a:rPr>
              <a:t>归约 </a:t>
            </a:r>
            <a:r>
              <a:rPr lang="en-US" altLang="zh-CN" sz="1800" u="sng" dirty="0" err="1">
                <a:latin typeface="宋体" pitchFamily="2" charset="-122"/>
                <a:ea typeface="宋体" panose="02010600030101010101" pitchFamily="2" charset="-122"/>
              </a:rPr>
              <a:t>F→i</a:t>
            </a:r>
            <a:r>
              <a:rPr lang="en-US" altLang="zh-CN" sz="1800" u="sng" dirty="0">
                <a:latin typeface="宋体" pitchFamily="2" charset="-122"/>
                <a:ea typeface="宋体" panose="02010600030101010101" pitchFamily="2" charset="-122"/>
              </a:rPr>
              <a:t>     #E+F           *i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9)  </a:t>
            </a:r>
            <a:r>
              <a:rPr lang="zh-CN" altLang="en-US" sz="1800" u="sng" dirty="0">
                <a:latin typeface="宋体" pitchFamily="2" charset="-122"/>
                <a:ea typeface="宋体" panose="02010600030101010101" pitchFamily="2" charset="-122"/>
              </a:rPr>
              <a:t>归约 </a:t>
            </a:r>
            <a:r>
              <a:rPr lang="en-US" altLang="zh-CN" sz="1800" u="sng" dirty="0">
                <a:latin typeface="宋体" pitchFamily="2" charset="-122"/>
                <a:ea typeface="宋体" panose="02010600030101010101" pitchFamily="2" charset="-122"/>
              </a:rPr>
              <a:t>T→F     #E+T           *i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 </a:t>
            </a:r>
          </a:p>
          <a:p>
            <a:pPr eaLnBrk="1" hangingPunct="1">
              <a:lnSpc>
                <a:spcPct val="90000"/>
              </a:lnSpc>
              <a:buFontTx/>
              <a:buNone/>
            </a:pPr>
            <a:r>
              <a:rPr lang="en-US" altLang="zh-CN" sz="1800" u="sng" dirty="0">
                <a:latin typeface="宋体" pitchFamily="2" charset="-122"/>
                <a:ea typeface="宋体" panose="02010600030101010101" pitchFamily="2" charset="-122"/>
              </a:rPr>
              <a:t>10) </a:t>
            </a:r>
            <a:r>
              <a:rPr lang="zh-CN" altLang="en-US" sz="1800" u="sng" dirty="0">
                <a:latin typeface="宋体" pitchFamily="2" charset="-122"/>
                <a:ea typeface="宋体" panose="02010600030101010101" pitchFamily="2" charset="-122"/>
              </a:rPr>
              <a:t>移进          </a:t>
            </a:r>
            <a:r>
              <a:rPr lang="en-US" altLang="zh-CN" sz="1800" u="sng" dirty="0">
                <a:latin typeface="宋体" pitchFamily="2" charset="-122"/>
                <a:ea typeface="宋体" panose="02010600030101010101" pitchFamily="2" charset="-122"/>
              </a:rPr>
              <a:t>#E+T*           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a:t>
            </a:r>
          </a:p>
          <a:p>
            <a:pPr eaLnBrk="1" hangingPunct="1">
              <a:lnSpc>
                <a:spcPct val="90000"/>
              </a:lnSpc>
              <a:buFontTx/>
              <a:buNone/>
            </a:pPr>
            <a:r>
              <a:rPr lang="en-US" altLang="zh-CN" sz="1800" u="sng" dirty="0">
                <a:latin typeface="宋体" pitchFamily="2" charset="-122"/>
                <a:ea typeface="宋体" panose="02010600030101010101" pitchFamily="2" charset="-122"/>
              </a:rPr>
              <a:t>11) </a:t>
            </a:r>
            <a:r>
              <a:rPr lang="zh-CN" altLang="en-US" sz="1800" u="sng" dirty="0">
                <a:latin typeface="宋体" pitchFamily="2" charset="-122"/>
                <a:ea typeface="宋体" panose="02010600030101010101" pitchFamily="2" charset="-122"/>
              </a:rPr>
              <a:t>移进          </a:t>
            </a:r>
            <a:r>
              <a:rPr lang="en-US" altLang="zh-CN" sz="1800" u="sng" dirty="0">
                <a:latin typeface="宋体" pitchFamily="2" charset="-122"/>
                <a:ea typeface="宋体" panose="02010600030101010101" pitchFamily="2" charset="-122"/>
              </a:rPr>
              <a:t>#E+T*i</a:t>
            </a:r>
            <a:r>
              <a:rPr lang="en-US" altLang="zh-CN" sz="1800" u="sng" baseline="-25000" dirty="0">
                <a:latin typeface="宋体" pitchFamily="2" charset="-122"/>
                <a:ea typeface="宋体" panose="02010600030101010101" pitchFamily="2" charset="-122"/>
              </a:rPr>
              <a:t>3</a:t>
            </a:r>
            <a:r>
              <a:rPr lang="en-US" altLang="zh-CN" sz="1800" u="sng" dirty="0">
                <a:latin typeface="宋体" pitchFamily="2" charset="-122"/>
                <a:ea typeface="宋体" panose="02010600030101010101" pitchFamily="2" charset="-122"/>
              </a:rPr>
              <a:t>           #</a:t>
            </a:r>
          </a:p>
          <a:p>
            <a:pPr eaLnBrk="1" hangingPunct="1">
              <a:lnSpc>
                <a:spcPct val="90000"/>
              </a:lnSpc>
              <a:buFontTx/>
              <a:buNone/>
            </a:pPr>
            <a:r>
              <a:rPr lang="en-US" altLang="zh-CN" sz="1800" u="sng" dirty="0">
                <a:latin typeface="宋体" pitchFamily="2" charset="-122"/>
                <a:ea typeface="宋体" panose="02010600030101010101" pitchFamily="2" charset="-122"/>
              </a:rPr>
              <a:t>12) </a:t>
            </a:r>
            <a:r>
              <a:rPr lang="zh-CN" altLang="en-US" sz="1800" u="sng" dirty="0">
                <a:latin typeface="宋体" pitchFamily="2" charset="-122"/>
                <a:ea typeface="宋体" panose="02010600030101010101" pitchFamily="2" charset="-122"/>
              </a:rPr>
              <a:t>归约 </a:t>
            </a:r>
            <a:r>
              <a:rPr lang="en-US" altLang="zh-CN" sz="1800" u="sng" dirty="0" err="1">
                <a:latin typeface="宋体" pitchFamily="2" charset="-122"/>
                <a:ea typeface="宋体" panose="02010600030101010101" pitchFamily="2" charset="-122"/>
              </a:rPr>
              <a:t>F→i</a:t>
            </a:r>
            <a:r>
              <a:rPr lang="en-US" altLang="zh-CN" sz="1800" u="sng" dirty="0">
                <a:latin typeface="宋体" pitchFamily="2" charset="-122"/>
                <a:ea typeface="宋体" panose="02010600030101010101" pitchFamily="2" charset="-122"/>
              </a:rPr>
              <a:t>     #E+T*F            #</a:t>
            </a:r>
          </a:p>
          <a:p>
            <a:pPr eaLnBrk="1" hangingPunct="1">
              <a:lnSpc>
                <a:spcPct val="90000"/>
              </a:lnSpc>
              <a:buFontTx/>
              <a:buNone/>
            </a:pPr>
            <a:r>
              <a:rPr lang="en-US" altLang="zh-CN" sz="1800" u="sng" dirty="0">
                <a:latin typeface="宋体" pitchFamily="2" charset="-122"/>
                <a:ea typeface="宋体" panose="02010600030101010101" pitchFamily="2" charset="-122"/>
              </a:rPr>
              <a:t>13) </a:t>
            </a:r>
            <a:r>
              <a:rPr lang="zh-CN" altLang="en-US" sz="1800" u="sng" dirty="0">
                <a:latin typeface="宋体" pitchFamily="2" charset="-122"/>
                <a:ea typeface="宋体" panose="02010600030101010101" pitchFamily="2" charset="-122"/>
              </a:rPr>
              <a:t>归约 </a:t>
            </a:r>
            <a:r>
              <a:rPr lang="en-US" altLang="zh-CN" sz="1800" u="sng" dirty="0">
                <a:latin typeface="宋体" pitchFamily="2" charset="-122"/>
                <a:ea typeface="宋体" panose="02010600030101010101" pitchFamily="2" charset="-122"/>
              </a:rPr>
              <a:t>T→T*F   #E+T              #</a:t>
            </a:r>
          </a:p>
          <a:p>
            <a:pPr eaLnBrk="1" hangingPunct="1">
              <a:lnSpc>
                <a:spcPct val="90000"/>
              </a:lnSpc>
              <a:buFontTx/>
              <a:buNone/>
            </a:pPr>
            <a:r>
              <a:rPr lang="en-US" altLang="zh-CN" sz="1800" u="sng" dirty="0">
                <a:latin typeface="宋体" pitchFamily="2" charset="-122"/>
                <a:ea typeface="宋体" panose="02010600030101010101" pitchFamily="2" charset="-122"/>
              </a:rPr>
              <a:t>14) </a:t>
            </a:r>
            <a:r>
              <a:rPr lang="zh-CN" altLang="en-US" sz="1800" u="sng" dirty="0">
                <a:latin typeface="宋体" pitchFamily="2" charset="-122"/>
                <a:ea typeface="宋体" panose="02010600030101010101" pitchFamily="2" charset="-122"/>
              </a:rPr>
              <a:t>归约 </a:t>
            </a:r>
            <a:r>
              <a:rPr lang="en-US" altLang="zh-CN" sz="1800" u="sng" dirty="0">
                <a:latin typeface="宋体" pitchFamily="2" charset="-122"/>
                <a:ea typeface="宋体" panose="02010600030101010101" pitchFamily="2" charset="-122"/>
              </a:rPr>
              <a:t>E→E+T   #E                #  </a:t>
            </a:r>
          </a:p>
          <a:p>
            <a:pPr eaLnBrk="1" hangingPunct="1">
              <a:lnSpc>
                <a:spcPct val="90000"/>
              </a:lnSpc>
              <a:buFontTx/>
              <a:buNone/>
            </a:pPr>
            <a:r>
              <a:rPr lang="en-US" altLang="zh-CN" sz="1800" u="sng" dirty="0">
                <a:latin typeface="宋体" pitchFamily="2" charset="-122"/>
                <a:ea typeface="宋体" panose="02010600030101010101" pitchFamily="2" charset="-122"/>
              </a:rPr>
              <a:t>15) </a:t>
            </a:r>
            <a:r>
              <a:rPr lang="zh-CN" altLang="en-US" sz="1800" u="sng" dirty="0">
                <a:latin typeface="宋体" pitchFamily="2" charset="-122"/>
                <a:ea typeface="宋体" panose="02010600030101010101" pitchFamily="2" charset="-122"/>
              </a:rPr>
              <a:t>移进</a:t>
            </a:r>
            <a:r>
              <a:rPr lang="en-US" altLang="zh-CN" sz="1800" u="sng" dirty="0">
                <a:latin typeface="宋体" pitchFamily="2" charset="-122"/>
                <a:ea typeface="宋体" panose="02010600030101010101" pitchFamily="2" charset="-122"/>
              </a:rPr>
              <a:t>#         #E#              </a:t>
            </a:r>
          </a:p>
          <a:p>
            <a:pPr eaLnBrk="1" hangingPunct="1">
              <a:lnSpc>
                <a:spcPct val="90000"/>
              </a:lnSpc>
              <a:buFontTx/>
              <a:buNone/>
            </a:pPr>
            <a:r>
              <a:rPr lang="en-US" altLang="zh-CN" sz="1800" u="sng" dirty="0"/>
              <a:t>16) </a:t>
            </a:r>
            <a:r>
              <a:rPr lang="zh-CN" altLang="en-US" sz="1800" u="sng" dirty="0"/>
              <a:t>归约          </a:t>
            </a:r>
            <a:r>
              <a:rPr lang="zh-CN" altLang="en-US" sz="1800" u="sng" dirty="0">
                <a:solidFill>
                  <a:srgbClr val="CC00FF"/>
                </a:solidFill>
              </a:rPr>
              <a:t>打印结果</a:t>
            </a:r>
            <a:r>
              <a:rPr lang="en-US" altLang="zh-CN" sz="1800" u="sng" dirty="0">
                <a:latin typeface="宋体" pitchFamily="2" charset="-122"/>
                <a:ea typeface="宋体" panose="02010600030101010101" pitchFamily="2" charset="-122"/>
              </a:rPr>
              <a:t> </a:t>
            </a:r>
          </a:p>
          <a:p>
            <a:pPr eaLnBrk="1" hangingPunct="1">
              <a:lnSpc>
                <a:spcPct val="90000"/>
              </a:lnSpc>
              <a:buFontTx/>
              <a:buNone/>
            </a:pPr>
            <a:endParaRPr lang="zh-CN" altLang="en-US" sz="1800" u="sng" dirty="0">
              <a:latin typeface="宋体" pitchFamily="2" charset="-122"/>
              <a:ea typeface="宋体" panose="02010600030101010101" pitchFamily="2" charset="-122"/>
            </a:endParaRPr>
          </a:p>
        </p:txBody>
      </p:sp>
      <p:sp>
        <p:nvSpPr>
          <p:cNvPr id="1048884" name="Rectangle 15"/>
          <p:cNvSpPr>
            <a:spLocks noChangeArrowheads="1"/>
          </p:cNvSpPr>
          <p:nvPr/>
        </p:nvSpPr>
        <p:spPr bwMode="auto">
          <a:xfrm>
            <a:off x="5220072" y="4733151"/>
            <a:ext cx="3779914" cy="430887"/>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None/>
            </a:pPr>
            <a:r>
              <a:rPr lang="en-US" altLang="zh-CN" sz="2200" dirty="0">
                <a:solidFill>
                  <a:srgbClr val="FF0066"/>
                </a:solidFill>
                <a:latin typeface="宋体" pitchFamily="2" charset="-122"/>
                <a:ea typeface="华文行楷" pitchFamily="2" charset="-122"/>
              </a:rPr>
              <a:t>i</a:t>
            </a:r>
            <a:r>
              <a:rPr lang="en-US" altLang="zh-CN" sz="2200" baseline="-25000" dirty="0">
                <a:solidFill>
                  <a:srgbClr val="FF0066"/>
                </a:solidFill>
                <a:latin typeface="宋体" pitchFamily="2" charset="-122"/>
                <a:ea typeface="华文行楷" pitchFamily="2" charset="-122"/>
              </a:rPr>
              <a:t>1</a:t>
            </a:r>
            <a:r>
              <a:rPr lang="en-US" altLang="zh-CN" sz="2200" dirty="0">
                <a:solidFill>
                  <a:srgbClr val="FF0066"/>
                </a:solidFill>
                <a:latin typeface="宋体" pitchFamily="2" charset="-122"/>
                <a:ea typeface="华文行楷" pitchFamily="2" charset="-122"/>
              </a:rPr>
              <a:t>(4)  +  i</a:t>
            </a:r>
            <a:r>
              <a:rPr lang="en-US" altLang="zh-CN" sz="2200" baseline="-25000" dirty="0">
                <a:solidFill>
                  <a:srgbClr val="FF0066"/>
                </a:solidFill>
                <a:latin typeface="宋体" pitchFamily="2" charset="-122"/>
                <a:ea typeface="华文行楷" pitchFamily="2" charset="-122"/>
              </a:rPr>
              <a:t>2</a:t>
            </a:r>
            <a:r>
              <a:rPr lang="en-US" altLang="zh-CN" sz="2200" dirty="0">
                <a:solidFill>
                  <a:srgbClr val="FF0066"/>
                </a:solidFill>
                <a:latin typeface="宋体" pitchFamily="2" charset="-122"/>
                <a:ea typeface="华文行楷" pitchFamily="2" charset="-122"/>
              </a:rPr>
              <a:t>(3)  *   i</a:t>
            </a:r>
            <a:r>
              <a:rPr lang="en-US" altLang="zh-CN" sz="2200" baseline="-25000" dirty="0">
                <a:solidFill>
                  <a:srgbClr val="FF0066"/>
                </a:solidFill>
                <a:latin typeface="宋体" pitchFamily="2" charset="-122"/>
                <a:ea typeface="华文行楷" pitchFamily="2" charset="-122"/>
              </a:rPr>
              <a:t>3</a:t>
            </a:r>
            <a:r>
              <a:rPr lang="en-US" altLang="zh-CN" sz="2200" dirty="0">
                <a:solidFill>
                  <a:srgbClr val="FF0066"/>
                </a:solidFill>
                <a:latin typeface="宋体" pitchFamily="2" charset="-122"/>
                <a:ea typeface="华文行楷" pitchFamily="2" charset="-122"/>
              </a:rPr>
              <a:t>(5)</a:t>
            </a:r>
            <a:endParaRPr lang="en-US" altLang="zh-CN" sz="2200" baseline="-25000" dirty="0">
              <a:solidFill>
                <a:srgbClr val="FF0066"/>
              </a:solidFill>
              <a:latin typeface="宋体" pitchFamily="2" charset="-122"/>
              <a:ea typeface="华文行楷" pitchFamily="2" charset="-122"/>
            </a:endParaRPr>
          </a:p>
        </p:txBody>
      </p:sp>
      <p:sp>
        <p:nvSpPr>
          <p:cNvPr id="1048874" name="Line 4"/>
          <p:cNvSpPr>
            <a:spLocks noChangeShapeType="1"/>
          </p:cNvSpPr>
          <p:nvPr/>
        </p:nvSpPr>
        <p:spPr bwMode="auto">
          <a:xfrm flipH="1">
            <a:off x="5508105" y="4505125"/>
            <a:ext cx="0" cy="370881"/>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75" name="Line 5"/>
          <p:cNvSpPr>
            <a:spLocks noChangeShapeType="1"/>
          </p:cNvSpPr>
          <p:nvPr/>
        </p:nvSpPr>
        <p:spPr bwMode="auto">
          <a:xfrm flipV="1">
            <a:off x="5742213" y="2600243"/>
            <a:ext cx="629987" cy="207405"/>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76" name="Line 6"/>
          <p:cNvSpPr>
            <a:spLocks noChangeShapeType="1"/>
          </p:cNvSpPr>
          <p:nvPr/>
        </p:nvSpPr>
        <p:spPr bwMode="auto">
          <a:xfrm flipV="1">
            <a:off x="6372200" y="2600247"/>
            <a:ext cx="291852" cy="2132904"/>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77" name="Line 7"/>
          <p:cNvSpPr>
            <a:spLocks noChangeShapeType="1"/>
          </p:cNvSpPr>
          <p:nvPr/>
        </p:nvSpPr>
        <p:spPr bwMode="auto">
          <a:xfrm flipH="1" flipV="1">
            <a:off x="8161785" y="3118240"/>
            <a:ext cx="226640" cy="948414"/>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78" name="Line 8"/>
          <p:cNvSpPr>
            <a:spLocks noChangeShapeType="1"/>
          </p:cNvSpPr>
          <p:nvPr/>
        </p:nvSpPr>
        <p:spPr bwMode="auto">
          <a:xfrm flipV="1">
            <a:off x="7732763" y="3158790"/>
            <a:ext cx="352822" cy="1574360"/>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79" name="Line 9"/>
          <p:cNvSpPr>
            <a:spLocks noChangeShapeType="1"/>
          </p:cNvSpPr>
          <p:nvPr/>
        </p:nvSpPr>
        <p:spPr bwMode="auto">
          <a:xfrm flipV="1">
            <a:off x="7456141" y="3118240"/>
            <a:ext cx="553244" cy="466734"/>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80" name="Line 10"/>
          <p:cNvSpPr>
            <a:spLocks noChangeShapeType="1"/>
          </p:cNvSpPr>
          <p:nvPr/>
        </p:nvSpPr>
        <p:spPr bwMode="auto">
          <a:xfrm flipV="1">
            <a:off x="6989664" y="4538162"/>
            <a:ext cx="0" cy="265836"/>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81" name="Line 11"/>
          <p:cNvSpPr>
            <a:spLocks noChangeShapeType="1"/>
          </p:cNvSpPr>
          <p:nvPr/>
        </p:nvSpPr>
        <p:spPr bwMode="auto">
          <a:xfrm flipV="1">
            <a:off x="8388425" y="4424556"/>
            <a:ext cx="0" cy="379439"/>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82" name="Line 12"/>
          <p:cNvSpPr>
            <a:spLocks noChangeShapeType="1"/>
          </p:cNvSpPr>
          <p:nvPr/>
        </p:nvSpPr>
        <p:spPr bwMode="auto">
          <a:xfrm flipH="1" flipV="1">
            <a:off x="6904137" y="2600246"/>
            <a:ext cx="1098897" cy="132755"/>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85" name="Text Box 16"/>
          <p:cNvSpPr txBox="1">
            <a:spLocks noChangeArrowheads="1"/>
          </p:cNvSpPr>
          <p:nvPr/>
        </p:nvSpPr>
        <p:spPr bwMode="auto">
          <a:xfrm>
            <a:off x="5220072" y="4074241"/>
            <a:ext cx="792089"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F</a:t>
            </a:r>
            <a:r>
              <a:rPr lang="en-US" altLang="zh-CN" sz="2400" dirty="0">
                <a:solidFill>
                  <a:srgbClr val="FF0066"/>
                </a:solidFill>
                <a:latin typeface="宋体" pitchFamily="2" charset="-122"/>
                <a:ea typeface="华文行楷" pitchFamily="2" charset="-122"/>
              </a:rPr>
              <a:t>(4)</a:t>
            </a:r>
            <a:endParaRPr lang="en-US" altLang="zh-CN" sz="2400" dirty="0">
              <a:solidFill>
                <a:srgbClr val="FF0066"/>
              </a:solidFill>
              <a:ea typeface="华文行楷" pitchFamily="2" charset="-122"/>
            </a:endParaRPr>
          </a:p>
        </p:txBody>
      </p:sp>
      <p:sp>
        <p:nvSpPr>
          <p:cNvPr id="1048886" name="Line 17"/>
          <p:cNvSpPr>
            <a:spLocks noChangeShapeType="1"/>
          </p:cNvSpPr>
          <p:nvPr/>
        </p:nvSpPr>
        <p:spPr bwMode="auto">
          <a:xfrm flipV="1">
            <a:off x="5508105" y="3859428"/>
            <a:ext cx="0" cy="288365"/>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87" name="Text Box 18"/>
          <p:cNvSpPr txBox="1">
            <a:spLocks noChangeArrowheads="1"/>
          </p:cNvSpPr>
          <p:nvPr/>
        </p:nvSpPr>
        <p:spPr bwMode="auto">
          <a:xfrm>
            <a:off x="5220073" y="3507854"/>
            <a:ext cx="878036"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T</a:t>
            </a:r>
            <a:r>
              <a:rPr lang="en-US" altLang="zh-CN" sz="2400" dirty="0">
                <a:solidFill>
                  <a:srgbClr val="FF0066"/>
                </a:solidFill>
                <a:latin typeface="宋体" pitchFamily="2" charset="-122"/>
                <a:ea typeface="华文行楷" pitchFamily="2" charset="-122"/>
              </a:rPr>
              <a:t>(4)</a:t>
            </a:r>
            <a:endParaRPr lang="en-US" altLang="zh-CN" sz="2400" dirty="0">
              <a:solidFill>
                <a:srgbClr val="FF0066"/>
              </a:solidFill>
              <a:ea typeface="华文行楷" pitchFamily="2" charset="-122"/>
            </a:endParaRPr>
          </a:p>
        </p:txBody>
      </p:sp>
      <p:sp>
        <p:nvSpPr>
          <p:cNvPr id="1048888" name="Line 19"/>
          <p:cNvSpPr>
            <a:spLocks noChangeShapeType="1"/>
          </p:cNvSpPr>
          <p:nvPr/>
        </p:nvSpPr>
        <p:spPr bwMode="auto">
          <a:xfrm flipV="1">
            <a:off x="5563604" y="3168317"/>
            <a:ext cx="52512" cy="416657"/>
          </a:xfrm>
          <a:prstGeom prst="line">
            <a:avLst/>
          </a:prstGeom>
          <a:noFill/>
          <a:ln w="28575">
            <a:solidFill>
              <a:srgbClr val="0000FF"/>
            </a:solidFill>
            <a:round/>
            <a:headEnd/>
            <a:tailEnd/>
          </a:ln>
        </p:spPr>
        <p:txBody>
          <a:bodyPr lIns="92075" tIns="46038" rIns="92075" bIns="46038"/>
          <a:lstStyle/>
          <a:p>
            <a:endParaRPr lang="zh-CN" altLang="en-US"/>
          </a:p>
        </p:txBody>
      </p:sp>
      <p:sp>
        <p:nvSpPr>
          <p:cNvPr id="1048889" name="Text Box 20"/>
          <p:cNvSpPr txBox="1">
            <a:spLocks noChangeArrowheads="1"/>
          </p:cNvSpPr>
          <p:nvPr/>
        </p:nvSpPr>
        <p:spPr bwMode="auto">
          <a:xfrm>
            <a:off x="5364089" y="2787774"/>
            <a:ext cx="756244"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E</a:t>
            </a:r>
            <a:r>
              <a:rPr lang="en-US" altLang="zh-CN" sz="2400" dirty="0">
                <a:solidFill>
                  <a:srgbClr val="FF0066"/>
                </a:solidFill>
                <a:latin typeface="宋体" pitchFamily="2" charset="-122"/>
                <a:ea typeface="华文行楷" pitchFamily="2" charset="-122"/>
              </a:rPr>
              <a:t>(4)</a:t>
            </a:r>
            <a:endParaRPr lang="en-US" altLang="zh-CN" sz="2400" dirty="0">
              <a:solidFill>
                <a:srgbClr val="FF0066"/>
              </a:solidFill>
              <a:ea typeface="华文行楷" pitchFamily="2" charset="-122"/>
            </a:endParaRPr>
          </a:p>
        </p:txBody>
      </p:sp>
      <p:sp>
        <p:nvSpPr>
          <p:cNvPr id="1048891" name="Line 23"/>
          <p:cNvSpPr>
            <a:spLocks noChangeShapeType="1"/>
          </p:cNvSpPr>
          <p:nvPr/>
        </p:nvSpPr>
        <p:spPr bwMode="auto">
          <a:xfrm flipV="1">
            <a:off x="6998022" y="3880830"/>
            <a:ext cx="0" cy="266963"/>
          </a:xfrm>
          <a:prstGeom prst="line">
            <a:avLst/>
          </a:prstGeom>
          <a:noFill/>
          <a:ln w="28575">
            <a:solidFill>
              <a:srgbClr val="0000FF"/>
            </a:solidFill>
            <a:round/>
            <a:headEnd/>
            <a:tailEnd/>
          </a:ln>
        </p:spPr>
        <p:txBody>
          <a:bodyPr lIns="92075" tIns="46038" rIns="92075" bIns="46038"/>
          <a:lstStyle/>
          <a:p>
            <a:endParaRPr lang="zh-CN" altLang="en-US"/>
          </a:p>
        </p:txBody>
      </p:sp>
      <p:sp>
        <p:nvSpPr>
          <p:cNvPr id="5" name="矩形 4"/>
          <p:cNvSpPr/>
          <p:nvPr/>
        </p:nvSpPr>
        <p:spPr>
          <a:xfrm>
            <a:off x="5364087" y="0"/>
            <a:ext cx="3795501"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0</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L</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E#{</a:t>
            </a:r>
            <a:r>
              <a:rPr lang="pt-PT" altLang="zh-CN" kern="100" dirty="0">
                <a:latin typeface="Times New Roman" panose="02020603050405020304" pitchFamily="18" charset="0"/>
                <a:ea typeface="宋体" panose="02010600030101010101" pitchFamily="2" charset="-122"/>
              </a:rPr>
              <a:t> print(E.val)</a:t>
            </a:r>
            <a:r>
              <a:rPr lang="fr-FR" altLang="zh-CN" kern="100" dirty="0">
                <a:latin typeface="Times New Roman" panose="02020603050405020304" pitchFamily="18" charset="0"/>
                <a:ea typeface="宋体" panose="02010600030101010101" pitchFamily="2" charset="-122"/>
              </a:rPr>
              <a:t>}</a:t>
            </a:r>
            <a:endParaRPr lang="zh-CN" altLang="zh-CN" kern="100" dirty="0">
              <a:latin typeface="Times New Roman" panose="02020603050405020304" pitchFamily="18" charset="0"/>
              <a:ea typeface="宋体" panose="02010600030101010101" pitchFamily="2" charset="-122"/>
            </a:endParaRPr>
          </a:p>
          <a:p>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1</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E</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E</a:t>
            </a:r>
            <a:r>
              <a:rPr lang="fr-FR" altLang="zh-CN" kern="100" baseline="-25000" dirty="0">
                <a:latin typeface="Times New Roman" panose="02020603050405020304" pitchFamily="18" charset="0"/>
                <a:ea typeface="宋体" panose="02010600030101010101" pitchFamily="2" charset="-122"/>
              </a:rPr>
              <a:t>1</a:t>
            </a:r>
            <a:r>
              <a:rPr lang="fr-FR" altLang="zh-CN" kern="100" dirty="0">
                <a:latin typeface="Times New Roman" panose="02020603050405020304" pitchFamily="18" charset="0"/>
                <a:ea typeface="宋体" panose="02010600030101010101" pitchFamily="2" charset="-122"/>
              </a:rPr>
              <a:t>+T{</a:t>
            </a:r>
            <a:r>
              <a:rPr lang="pt-PT" altLang="zh-CN" kern="100" dirty="0">
                <a:latin typeface="Times New Roman" panose="02020603050405020304" pitchFamily="18" charset="0"/>
                <a:ea typeface="宋体" panose="02010600030101010101" pitchFamily="2" charset="-122"/>
              </a:rPr>
              <a:t> E.val=E</a:t>
            </a:r>
            <a:r>
              <a:rPr lang="pt-PT" altLang="zh-CN" kern="100" baseline="-25000" dirty="0">
                <a:latin typeface="Times New Roman" panose="02020603050405020304" pitchFamily="18" charset="0"/>
                <a:ea typeface="宋体" panose="02010600030101010101" pitchFamily="2" charset="-122"/>
              </a:rPr>
              <a:t>1</a:t>
            </a:r>
            <a:r>
              <a:rPr lang="pt-PT" altLang="zh-CN" kern="100" dirty="0">
                <a:latin typeface="Times New Roman" panose="02020603050405020304" pitchFamily="18" charset="0"/>
                <a:ea typeface="宋体" panose="02010600030101010101" pitchFamily="2" charset="-122"/>
              </a:rPr>
              <a:t>.val+T.val</a:t>
            </a:r>
            <a:r>
              <a:rPr lang="fr-FR" altLang="zh-CN" kern="100" dirty="0">
                <a:latin typeface="Times New Roman" panose="02020603050405020304" pitchFamily="18" charset="0"/>
                <a:ea typeface="宋体" panose="02010600030101010101" pitchFamily="2" charset="-122"/>
              </a:rPr>
              <a:t>}</a:t>
            </a:r>
            <a:endParaRPr lang="zh-CN" altLang="zh-CN" kern="100" dirty="0">
              <a:latin typeface="Times New Roman" panose="02020603050405020304" pitchFamily="18" charset="0"/>
              <a:ea typeface="宋体" panose="02010600030101010101" pitchFamily="2" charset="-122"/>
            </a:endParaRPr>
          </a:p>
          <a:p>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2</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E</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T{ E.val=T.val}</a:t>
            </a:r>
            <a:endParaRPr lang="zh-CN" altLang="zh-CN" kern="100" dirty="0">
              <a:latin typeface="Times New Roman" panose="02020603050405020304" pitchFamily="18" charset="0"/>
              <a:ea typeface="宋体" panose="02010600030101010101" pitchFamily="2" charset="-122"/>
            </a:endParaRPr>
          </a:p>
          <a:p>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3</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T</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T</a:t>
            </a:r>
            <a:r>
              <a:rPr lang="fr-FR" altLang="zh-CN" kern="100" baseline="-25000" dirty="0">
                <a:latin typeface="Times New Roman" panose="02020603050405020304" pitchFamily="18" charset="0"/>
                <a:ea typeface="宋体" panose="02010600030101010101" pitchFamily="2" charset="-122"/>
              </a:rPr>
              <a:t>1</a:t>
            </a:r>
            <a:r>
              <a:rPr lang="fr-FR" altLang="zh-CN" kern="100" dirty="0">
                <a:latin typeface="Times New Roman" panose="02020603050405020304" pitchFamily="18" charset="0"/>
                <a:ea typeface="宋体" panose="02010600030101010101" pitchFamily="2" charset="-122"/>
              </a:rPr>
              <a:t>*F{ T.val=T</a:t>
            </a:r>
            <a:r>
              <a:rPr lang="fr-FR" altLang="zh-CN" kern="100" baseline="-25000" dirty="0">
                <a:latin typeface="Times New Roman" panose="02020603050405020304" pitchFamily="18" charset="0"/>
                <a:ea typeface="宋体" panose="02010600030101010101" pitchFamily="2" charset="-122"/>
              </a:rPr>
              <a:t>1</a:t>
            </a:r>
            <a:r>
              <a:rPr lang="fr-FR" altLang="zh-CN" kern="100" dirty="0">
                <a:latin typeface="Times New Roman" panose="02020603050405020304" pitchFamily="18" charset="0"/>
                <a:ea typeface="宋体" panose="02010600030101010101" pitchFamily="2" charset="-122"/>
              </a:rPr>
              <a:t>.val * F.val }</a:t>
            </a:r>
          </a:p>
          <a:p>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4</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T</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F{ T.val=F.val}</a:t>
            </a:r>
            <a:endParaRPr lang="zh-CN" altLang="zh-CN" kern="100" dirty="0">
              <a:latin typeface="Times New Roman" panose="02020603050405020304" pitchFamily="18" charset="0"/>
              <a:ea typeface="宋体" panose="02010600030101010101" pitchFamily="2" charset="-122"/>
            </a:endParaRPr>
          </a:p>
          <a:p>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5</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F</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(E){ F.val=E.val}</a:t>
            </a:r>
            <a:endParaRPr lang="zh-CN" altLang="zh-CN" kern="100" dirty="0">
              <a:latin typeface="Times New Roman" panose="02020603050405020304" pitchFamily="18" charset="0"/>
              <a:ea typeface="宋体" panose="02010600030101010101" pitchFamily="2" charset="-122"/>
            </a:endParaRPr>
          </a:p>
          <a:p>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6</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F</a:t>
            </a:r>
            <a:r>
              <a:rPr lang="zh-CN" altLang="zh-CN" kern="100" dirty="0">
                <a:latin typeface="Times New Roman" panose="02020603050405020304" pitchFamily="18" charset="0"/>
                <a:ea typeface="宋体" panose="02010600030101010101" pitchFamily="2" charset="-122"/>
              </a:rPr>
              <a:t>→</a:t>
            </a:r>
            <a:r>
              <a:rPr lang="fr-FR" altLang="zh-CN" kern="100" dirty="0">
                <a:latin typeface="Times New Roman" panose="02020603050405020304" pitchFamily="18" charset="0"/>
                <a:ea typeface="宋体" panose="02010600030101010101" pitchFamily="2" charset="-122"/>
              </a:rPr>
              <a:t>i{ F.val=i.lexval }</a:t>
            </a:r>
            <a:endParaRPr lang="zh-CN" altLang="zh-CN" kern="100" dirty="0">
              <a:latin typeface="Times New Roman" panose="02020603050405020304" pitchFamily="18" charset="0"/>
              <a:ea typeface="宋体" panose="02010600030101010101" pitchFamily="2" charset="-122"/>
            </a:endParaRPr>
          </a:p>
        </p:txBody>
      </p:sp>
      <p:sp>
        <p:nvSpPr>
          <p:cNvPr id="48" name="Text Box 16"/>
          <p:cNvSpPr txBox="1">
            <a:spLocks noChangeArrowheads="1"/>
          </p:cNvSpPr>
          <p:nvPr/>
        </p:nvSpPr>
        <p:spPr bwMode="auto">
          <a:xfrm>
            <a:off x="6664052" y="4074241"/>
            <a:ext cx="792089"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F</a:t>
            </a:r>
            <a:r>
              <a:rPr lang="en-US" altLang="zh-CN" sz="2400" dirty="0">
                <a:solidFill>
                  <a:srgbClr val="FF0066"/>
                </a:solidFill>
                <a:latin typeface="宋体" pitchFamily="2" charset="-122"/>
                <a:ea typeface="华文行楷" pitchFamily="2" charset="-122"/>
              </a:rPr>
              <a:t>(3)</a:t>
            </a:r>
            <a:endParaRPr lang="en-US" altLang="zh-CN" sz="2400" dirty="0">
              <a:solidFill>
                <a:srgbClr val="FF0066"/>
              </a:solidFill>
              <a:ea typeface="华文行楷" pitchFamily="2" charset="-122"/>
            </a:endParaRPr>
          </a:p>
        </p:txBody>
      </p:sp>
      <p:sp>
        <p:nvSpPr>
          <p:cNvPr id="49" name="Text Box 16"/>
          <p:cNvSpPr txBox="1">
            <a:spLocks noChangeArrowheads="1"/>
          </p:cNvSpPr>
          <p:nvPr/>
        </p:nvSpPr>
        <p:spPr bwMode="auto">
          <a:xfrm>
            <a:off x="8100393" y="4003610"/>
            <a:ext cx="792089"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F</a:t>
            </a:r>
            <a:r>
              <a:rPr lang="en-US" altLang="zh-CN" sz="2400" dirty="0">
                <a:solidFill>
                  <a:srgbClr val="FF0066"/>
                </a:solidFill>
                <a:latin typeface="宋体" pitchFamily="2" charset="-122"/>
                <a:ea typeface="华文行楷" pitchFamily="2" charset="-122"/>
              </a:rPr>
              <a:t>(5)</a:t>
            </a:r>
            <a:endParaRPr lang="en-US" altLang="zh-CN" sz="2400" dirty="0">
              <a:solidFill>
                <a:srgbClr val="FF0066"/>
              </a:solidFill>
              <a:ea typeface="华文行楷" pitchFamily="2" charset="-122"/>
            </a:endParaRPr>
          </a:p>
        </p:txBody>
      </p:sp>
      <p:sp>
        <p:nvSpPr>
          <p:cNvPr id="50" name="Text Box 18"/>
          <p:cNvSpPr txBox="1">
            <a:spLocks noChangeArrowheads="1"/>
          </p:cNvSpPr>
          <p:nvPr/>
        </p:nvSpPr>
        <p:spPr bwMode="auto">
          <a:xfrm>
            <a:off x="6621078" y="3446484"/>
            <a:ext cx="878036"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T</a:t>
            </a:r>
            <a:r>
              <a:rPr lang="en-US" altLang="zh-CN" sz="2400" dirty="0">
                <a:solidFill>
                  <a:srgbClr val="FF0066"/>
                </a:solidFill>
                <a:latin typeface="宋体" pitchFamily="2" charset="-122"/>
                <a:ea typeface="华文行楷" pitchFamily="2" charset="-122"/>
              </a:rPr>
              <a:t>(3)</a:t>
            </a:r>
            <a:endParaRPr lang="en-US" altLang="zh-CN" sz="2400" dirty="0">
              <a:solidFill>
                <a:srgbClr val="FF0066"/>
              </a:solidFill>
              <a:ea typeface="华文行楷" pitchFamily="2" charset="-122"/>
            </a:endParaRPr>
          </a:p>
        </p:txBody>
      </p:sp>
      <p:sp>
        <p:nvSpPr>
          <p:cNvPr id="51" name="Text Box 18"/>
          <p:cNvSpPr txBox="1">
            <a:spLocks noChangeArrowheads="1"/>
          </p:cNvSpPr>
          <p:nvPr/>
        </p:nvSpPr>
        <p:spPr bwMode="auto">
          <a:xfrm>
            <a:off x="7668595" y="2733002"/>
            <a:ext cx="878036"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T</a:t>
            </a:r>
            <a:r>
              <a:rPr lang="en-US" altLang="zh-CN" sz="2400" dirty="0">
                <a:solidFill>
                  <a:srgbClr val="FF0066"/>
                </a:solidFill>
                <a:latin typeface="宋体" pitchFamily="2" charset="-122"/>
                <a:ea typeface="华文行楷" pitchFamily="2" charset="-122"/>
              </a:rPr>
              <a:t>(15)</a:t>
            </a:r>
            <a:endParaRPr lang="en-US" altLang="zh-CN" sz="2400" dirty="0">
              <a:solidFill>
                <a:srgbClr val="FF0066"/>
              </a:solidFill>
              <a:ea typeface="华文行楷" pitchFamily="2" charset="-122"/>
            </a:endParaRPr>
          </a:p>
        </p:txBody>
      </p:sp>
      <p:sp>
        <p:nvSpPr>
          <p:cNvPr id="52" name="Text Box 20"/>
          <p:cNvSpPr txBox="1">
            <a:spLocks noChangeArrowheads="1"/>
          </p:cNvSpPr>
          <p:nvPr/>
        </p:nvSpPr>
        <p:spPr bwMode="auto">
          <a:xfrm>
            <a:off x="6107372" y="2182093"/>
            <a:ext cx="1056917"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E</a:t>
            </a:r>
            <a:r>
              <a:rPr lang="en-US" altLang="zh-CN" sz="2400" dirty="0">
                <a:solidFill>
                  <a:srgbClr val="FF0066"/>
                </a:solidFill>
                <a:latin typeface="宋体" pitchFamily="2" charset="-122"/>
                <a:ea typeface="华文行楷" pitchFamily="2" charset="-122"/>
              </a:rPr>
              <a:t>(19)</a:t>
            </a:r>
            <a:endParaRPr lang="en-US" altLang="zh-CN" sz="2400" dirty="0">
              <a:solidFill>
                <a:srgbClr val="FF0066"/>
              </a:solidFill>
              <a:ea typeface="华文行楷" pitchFamily="2" charset="-122"/>
            </a:endParaRPr>
          </a:p>
        </p:txBody>
      </p:sp>
      <p:sp>
        <p:nvSpPr>
          <p:cNvPr id="53" name="Text Box 20"/>
          <p:cNvSpPr txBox="1">
            <a:spLocks noChangeArrowheads="1"/>
          </p:cNvSpPr>
          <p:nvPr/>
        </p:nvSpPr>
        <p:spPr bwMode="auto">
          <a:xfrm>
            <a:off x="8886589" y="4731990"/>
            <a:ext cx="365931"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a:t>
            </a:r>
          </a:p>
        </p:txBody>
      </p:sp>
      <p:cxnSp>
        <p:nvCxnSpPr>
          <p:cNvPr id="7" name="直接连接符 6"/>
          <p:cNvCxnSpPr/>
          <p:nvPr/>
        </p:nvCxnSpPr>
        <p:spPr>
          <a:xfrm flipH="1" flipV="1">
            <a:off x="8676456" y="2182093"/>
            <a:ext cx="398989" cy="2621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6989663" y="2127493"/>
            <a:ext cx="1285441" cy="150768"/>
          </a:xfrm>
          <a:prstGeom prst="line">
            <a:avLst/>
          </a:prstGeom>
        </p:spPr>
        <p:style>
          <a:lnRef idx="1">
            <a:schemeClr val="accent1"/>
          </a:lnRef>
          <a:fillRef idx="0">
            <a:schemeClr val="accent1"/>
          </a:fillRef>
          <a:effectRef idx="0">
            <a:schemeClr val="accent1"/>
          </a:effectRef>
          <a:fontRef idx="minor">
            <a:schemeClr val="tx1"/>
          </a:fontRef>
        </p:style>
      </p:cxnSp>
      <p:sp>
        <p:nvSpPr>
          <p:cNvPr id="58" name="Text Box 20"/>
          <p:cNvSpPr txBox="1">
            <a:spLocks noChangeArrowheads="1"/>
          </p:cNvSpPr>
          <p:nvPr/>
        </p:nvSpPr>
        <p:spPr bwMode="auto">
          <a:xfrm>
            <a:off x="8172400" y="1923678"/>
            <a:ext cx="636470" cy="461665"/>
          </a:xfrm>
          <a:prstGeom prst="rect">
            <a:avLst/>
          </a:prstGeom>
          <a:noFill/>
          <a:ln>
            <a:noFill/>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50000"/>
              </a:spcBef>
              <a:buNone/>
            </a:pPr>
            <a:r>
              <a:rPr lang="en-US" altLang="zh-CN" sz="2400" dirty="0">
                <a:solidFill>
                  <a:srgbClr val="FF0066"/>
                </a:solidFill>
                <a:ea typeface="华文行楷" pitchFamily="2" charset="-122"/>
              </a:rPr>
              <a:t>L</a:t>
            </a:r>
          </a:p>
        </p:txBody>
      </p:sp>
    </p:spTree>
    <p:extLst>
      <p:ext uri="{BB962C8B-B14F-4D97-AF65-F5344CB8AC3E}">
        <p14:creationId xmlns:p14="http://schemas.microsoft.com/office/powerpoint/2010/main" val="2047672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48873">
                                            <p:txEl>
                                              <p:pRg st="0" end="0"/>
                                            </p:txEl>
                                          </p:spTgt>
                                        </p:tgtEl>
                                        <p:attrNameLst>
                                          <p:attrName>style.visibility</p:attrName>
                                        </p:attrNameLst>
                                      </p:cBhvr>
                                      <p:to>
                                        <p:strVal val="visible"/>
                                      </p:to>
                                    </p:set>
                                    <p:animEffect transition="in" filter="wipe(left)">
                                      <p:cBhvr>
                                        <p:cTn id="7" dur="500"/>
                                        <p:tgtEl>
                                          <p:spTgt spid="104887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04888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53"/>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48873">
                                            <p:txEl>
                                              <p:pRg st="1" end="1"/>
                                            </p:txEl>
                                          </p:spTgt>
                                        </p:tgtEl>
                                        <p:attrNameLst>
                                          <p:attrName>style.visibility</p:attrName>
                                        </p:attrNameLst>
                                      </p:cBhvr>
                                      <p:to>
                                        <p:strVal val="visible"/>
                                      </p:to>
                                    </p:set>
                                    <p:animEffect transition="in" filter="wipe(left)">
                                      <p:cBhvr>
                                        <p:cTn id="18" dur="500"/>
                                        <p:tgtEl>
                                          <p:spTgt spid="1048873">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48873">
                                            <p:txEl>
                                              <p:pRg st="2" end="2"/>
                                            </p:txEl>
                                          </p:spTgt>
                                        </p:tgtEl>
                                        <p:attrNameLst>
                                          <p:attrName>style.visibility</p:attrName>
                                        </p:attrNameLst>
                                      </p:cBhvr>
                                      <p:to>
                                        <p:strVal val="visible"/>
                                      </p:to>
                                    </p:set>
                                    <p:animEffect transition="in" filter="wipe(left)">
                                      <p:cBhvr>
                                        <p:cTn id="23" dur="500"/>
                                        <p:tgtEl>
                                          <p:spTgt spid="1048873">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48873">
                                            <p:txEl>
                                              <p:pRg st="3" end="3"/>
                                            </p:txEl>
                                          </p:spTgt>
                                        </p:tgtEl>
                                        <p:attrNameLst>
                                          <p:attrName>style.visibility</p:attrName>
                                        </p:attrNameLst>
                                      </p:cBhvr>
                                      <p:to>
                                        <p:strVal val="visible"/>
                                      </p:to>
                                    </p:set>
                                    <p:animEffect transition="in" filter="wipe(left)">
                                      <p:cBhvr>
                                        <p:cTn id="28" dur="500"/>
                                        <p:tgtEl>
                                          <p:spTgt spid="104887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048874"/>
                                        </p:tgtEl>
                                        <p:attrNameLst>
                                          <p:attrName>style.visibility</p:attrName>
                                        </p:attrNameLst>
                                      </p:cBhvr>
                                      <p:to>
                                        <p:strVal val="visible"/>
                                      </p:to>
                                    </p:set>
                                    <p:animEffect transition="in" filter="wipe(down)">
                                      <p:cBhvr>
                                        <p:cTn id="33" dur="500"/>
                                        <p:tgtEl>
                                          <p:spTgt spid="1048874"/>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048885"/>
                                        </p:tgtEl>
                                        <p:attrNameLst>
                                          <p:attrName>style.visibility</p:attrName>
                                        </p:attrNameLst>
                                      </p:cBhvr>
                                      <p:to>
                                        <p:strVal val="visible"/>
                                      </p:to>
                                    </p:set>
                                    <p:animEffect transition="in" filter="wipe(down)">
                                      <p:cBhvr>
                                        <p:cTn id="36" dur="500"/>
                                        <p:tgtEl>
                                          <p:spTgt spid="104888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048873">
                                            <p:txEl>
                                              <p:pRg st="4" end="4"/>
                                            </p:txEl>
                                          </p:spTgt>
                                        </p:tgtEl>
                                        <p:attrNameLst>
                                          <p:attrName>style.visibility</p:attrName>
                                        </p:attrNameLst>
                                      </p:cBhvr>
                                      <p:to>
                                        <p:strVal val="visible"/>
                                      </p:to>
                                    </p:set>
                                    <p:animEffect transition="in" filter="wipe(left)">
                                      <p:cBhvr>
                                        <p:cTn id="41" dur="500"/>
                                        <p:tgtEl>
                                          <p:spTgt spid="1048873">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1048886"/>
                                        </p:tgtEl>
                                        <p:attrNameLst>
                                          <p:attrName>style.visibility</p:attrName>
                                        </p:attrNameLst>
                                      </p:cBhvr>
                                      <p:to>
                                        <p:strVal val="visible"/>
                                      </p:to>
                                    </p:set>
                                    <p:animEffect transition="in" filter="wipe(down)">
                                      <p:cBhvr>
                                        <p:cTn id="46" dur="500"/>
                                        <p:tgtEl>
                                          <p:spTgt spid="1048886"/>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048887"/>
                                        </p:tgtEl>
                                        <p:attrNameLst>
                                          <p:attrName>style.visibility</p:attrName>
                                        </p:attrNameLst>
                                      </p:cBhvr>
                                      <p:to>
                                        <p:strVal val="visible"/>
                                      </p:to>
                                    </p:set>
                                    <p:animEffect transition="in" filter="wipe(down)">
                                      <p:cBhvr>
                                        <p:cTn id="49" dur="500"/>
                                        <p:tgtEl>
                                          <p:spTgt spid="104888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048873">
                                            <p:txEl>
                                              <p:pRg st="5" end="5"/>
                                            </p:txEl>
                                          </p:spTgt>
                                        </p:tgtEl>
                                        <p:attrNameLst>
                                          <p:attrName>style.visibility</p:attrName>
                                        </p:attrNameLst>
                                      </p:cBhvr>
                                      <p:to>
                                        <p:strVal val="visible"/>
                                      </p:to>
                                    </p:set>
                                    <p:animEffect transition="in" filter="wipe(left)">
                                      <p:cBhvr>
                                        <p:cTn id="54" dur="500"/>
                                        <p:tgtEl>
                                          <p:spTgt spid="1048873">
                                            <p:txEl>
                                              <p:pRg st="5" end="5"/>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1048888"/>
                                        </p:tgtEl>
                                        <p:attrNameLst>
                                          <p:attrName>style.visibility</p:attrName>
                                        </p:attrNameLst>
                                      </p:cBhvr>
                                      <p:to>
                                        <p:strVal val="visible"/>
                                      </p:to>
                                    </p:set>
                                    <p:animEffect transition="in" filter="wipe(down)">
                                      <p:cBhvr>
                                        <p:cTn id="59" dur="500"/>
                                        <p:tgtEl>
                                          <p:spTgt spid="1048888"/>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1048889"/>
                                        </p:tgtEl>
                                        <p:attrNameLst>
                                          <p:attrName>style.visibility</p:attrName>
                                        </p:attrNameLst>
                                      </p:cBhvr>
                                      <p:to>
                                        <p:strVal val="visible"/>
                                      </p:to>
                                    </p:set>
                                    <p:animEffect transition="in" filter="wipe(down)">
                                      <p:cBhvr>
                                        <p:cTn id="62" dur="500"/>
                                        <p:tgtEl>
                                          <p:spTgt spid="104888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048873">
                                            <p:txEl>
                                              <p:pRg st="6" end="6"/>
                                            </p:txEl>
                                          </p:spTgt>
                                        </p:tgtEl>
                                        <p:attrNameLst>
                                          <p:attrName>style.visibility</p:attrName>
                                        </p:attrNameLst>
                                      </p:cBhvr>
                                      <p:to>
                                        <p:strVal val="visible"/>
                                      </p:to>
                                    </p:set>
                                    <p:animEffect transition="in" filter="wipe(left)">
                                      <p:cBhvr>
                                        <p:cTn id="67" dur="500"/>
                                        <p:tgtEl>
                                          <p:spTgt spid="1048873">
                                            <p:txEl>
                                              <p:pRg st="6" end="6"/>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048873">
                                            <p:txEl>
                                              <p:pRg st="7" end="7"/>
                                            </p:txEl>
                                          </p:spTgt>
                                        </p:tgtEl>
                                        <p:attrNameLst>
                                          <p:attrName>style.visibility</p:attrName>
                                        </p:attrNameLst>
                                      </p:cBhvr>
                                      <p:to>
                                        <p:strVal val="visible"/>
                                      </p:to>
                                    </p:set>
                                    <p:animEffect transition="in" filter="wipe(left)">
                                      <p:cBhvr>
                                        <p:cTn id="72" dur="500"/>
                                        <p:tgtEl>
                                          <p:spTgt spid="1048873">
                                            <p:txEl>
                                              <p:pRg st="7" end="7"/>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048873">
                                            <p:txEl>
                                              <p:pRg st="8" end="8"/>
                                            </p:txEl>
                                          </p:spTgt>
                                        </p:tgtEl>
                                        <p:attrNameLst>
                                          <p:attrName>style.visibility</p:attrName>
                                        </p:attrNameLst>
                                      </p:cBhvr>
                                      <p:to>
                                        <p:strVal val="visible"/>
                                      </p:to>
                                    </p:set>
                                    <p:animEffect transition="in" filter="wipe(left)">
                                      <p:cBhvr>
                                        <p:cTn id="77" dur="500"/>
                                        <p:tgtEl>
                                          <p:spTgt spid="1048873">
                                            <p:txEl>
                                              <p:pRg st="8" end="8"/>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1048880"/>
                                        </p:tgtEl>
                                        <p:attrNameLst>
                                          <p:attrName>style.visibility</p:attrName>
                                        </p:attrNameLst>
                                      </p:cBhvr>
                                      <p:to>
                                        <p:strVal val="visible"/>
                                      </p:to>
                                    </p:set>
                                    <p:animEffect transition="in" filter="wipe(down)">
                                      <p:cBhvr>
                                        <p:cTn id="82" dur="500"/>
                                        <p:tgtEl>
                                          <p:spTgt spid="1048880"/>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48"/>
                                        </p:tgtEl>
                                        <p:attrNameLst>
                                          <p:attrName>style.visibility</p:attrName>
                                        </p:attrNameLst>
                                      </p:cBhvr>
                                      <p:to>
                                        <p:strVal val="visible"/>
                                      </p:to>
                                    </p:set>
                                    <p:animEffect transition="in" filter="wipe(down)">
                                      <p:cBhvr>
                                        <p:cTn id="85" dur="500"/>
                                        <p:tgtEl>
                                          <p:spTgt spid="48"/>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048873">
                                            <p:txEl>
                                              <p:pRg st="9" end="9"/>
                                            </p:txEl>
                                          </p:spTgt>
                                        </p:tgtEl>
                                        <p:attrNameLst>
                                          <p:attrName>style.visibility</p:attrName>
                                        </p:attrNameLst>
                                      </p:cBhvr>
                                      <p:to>
                                        <p:strVal val="visible"/>
                                      </p:to>
                                    </p:set>
                                    <p:animEffect transition="in" filter="wipe(left)">
                                      <p:cBhvr>
                                        <p:cTn id="90" dur="500"/>
                                        <p:tgtEl>
                                          <p:spTgt spid="1048873">
                                            <p:txEl>
                                              <p:pRg st="9" end="9"/>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grpId="0" nodeType="clickEffect">
                                  <p:stCondLst>
                                    <p:cond delay="0"/>
                                  </p:stCondLst>
                                  <p:childTnLst>
                                    <p:set>
                                      <p:cBhvr>
                                        <p:cTn id="94" dur="1" fill="hold">
                                          <p:stCondLst>
                                            <p:cond delay="0"/>
                                          </p:stCondLst>
                                        </p:cTn>
                                        <p:tgtEl>
                                          <p:spTgt spid="1048891"/>
                                        </p:tgtEl>
                                        <p:attrNameLst>
                                          <p:attrName>style.visibility</p:attrName>
                                        </p:attrNameLst>
                                      </p:cBhvr>
                                      <p:to>
                                        <p:strVal val="visible"/>
                                      </p:to>
                                    </p:set>
                                    <p:animEffect transition="in" filter="wipe(down)">
                                      <p:cBhvr>
                                        <p:cTn id="95" dur="500"/>
                                        <p:tgtEl>
                                          <p:spTgt spid="1048891"/>
                                        </p:tgtEl>
                                      </p:cBhvr>
                                    </p:animEffect>
                                  </p:childTnLst>
                                </p:cTn>
                              </p:par>
                              <p:par>
                                <p:cTn id="96" presetID="22" presetClass="entr" presetSubtype="4" fill="hold" grpId="0" nodeType="with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wipe(down)">
                                      <p:cBhvr>
                                        <p:cTn id="98" dur="500"/>
                                        <p:tgtEl>
                                          <p:spTgt spid="50"/>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048873">
                                            <p:txEl>
                                              <p:pRg st="10" end="10"/>
                                            </p:txEl>
                                          </p:spTgt>
                                        </p:tgtEl>
                                        <p:attrNameLst>
                                          <p:attrName>style.visibility</p:attrName>
                                        </p:attrNameLst>
                                      </p:cBhvr>
                                      <p:to>
                                        <p:strVal val="visible"/>
                                      </p:to>
                                    </p:set>
                                    <p:animEffect transition="in" filter="wipe(left)">
                                      <p:cBhvr>
                                        <p:cTn id="103" dur="500"/>
                                        <p:tgtEl>
                                          <p:spTgt spid="1048873">
                                            <p:txEl>
                                              <p:pRg st="10" end="10"/>
                                            </p:txEl>
                                          </p:spTgt>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048873">
                                            <p:txEl>
                                              <p:pRg st="11" end="11"/>
                                            </p:txEl>
                                          </p:spTgt>
                                        </p:tgtEl>
                                        <p:attrNameLst>
                                          <p:attrName>style.visibility</p:attrName>
                                        </p:attrNameLst>
                                      </p:cBhvr>
                                      <p:to>
                                        <p:strVal val="visible"/>
                                      </p:to>
                                    </p:set>
                                    <p:animEffect transition="in" filter="wipe(left)">
                                      <p:cBhvr>
                                        <p:cTn id="108" dur="500"/>
                                        <p:tgtEl>
                                          <p:spTgt spid="1048873">
                                            <p:txEl>
                                              <p:pRg st="11" end="11"/>
                                            </p:txEl>
                                          </p:spTgt>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1048873">
                                            <p:txEl>
                                              <p:pRg st="12" end="12"/>
                                            </p:txEl>
                                          </p:spTgt>
                                        </p:tgtEl>
                                        <p:attrNameLst>
                                          <p:attrName>style.visibility</p:attrName>
                                        </p:attrNameLst>
                                      </p:cBhvr>
                                      <p:to>
                                        <p:strVal val="visible"/>
                                      </p:to>
                                    </p:set>
                                    <p:animEffect transition="in" filter="wipe(left)">
                                      <p:cBhvr>
                                        <p:cTn id="113" dur="500"/>
                                        <p:tgtEl>
                                          <p:spTgt spid="1048873">
                                            <p:txEl>
                                              <p:pRg st="12" end="12"/>
                                            </p:txEl>
                                          </p:spTgt>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4" fill="hold" grpId="0" nodeType="clickEffect">
                                  <p:stCondLst>
                                    <p:cond delay="0"/>
                                  </p:stCondLst>
                                  <p:childTnLst>
                                    <p:set>
                                      <p:cBhvr>
                                        <p:cTn id="117" dur="1" fill="hold">
                                          <p:stCondLst>
                                            <p:cond delay="0"/>
                                          </p:stCondLst>
                                        </p:cTn>
                                        <p:tgtEl>
                                          <p:spTgt spid="1048881"/>
                                        </p:tgtEl>
                                        <p:attrNameLst>
                                          <p:attrName>style.visibility</p:attrName>
                                        </p:attrNameLst>
                                      </p:cBhvr>
                                      <p:to>
                                        <p:strVal val="visible"/>
                                      </p:to>
                                    </p:set>
                                    <p:animEffect transition="in" filter="wipe(down)">
                                      <p:cBhvr>
                                        <p:cTn id="118" dur="500"/>
                                        <p:tgtEl>
                                          <p:spTgt spid="1048881"/>
                                        </p:tgtEl>
                                      </p:cBhvr>
                                    </p:animEffect>
                                  </p:childTnLst>
                                </p:cTn>
                              </p:par>
                              <p:par>
                                <p:cTn id="119" presetID="22" presetClass="entr" presetSubtype="4" fill="hold" grpId="0" nodeType="withEffect">
                                  <p:stCondLst>
                                    <p:cond delay="0"/>
                                  </p:stCondLst>
                                  <p:childTnLst>
                                    <p:set>
                                      <p:cBhvr>
                                        <p:cTn id="120" dur="1" fill="hold">
                                          <p:stCondLst>
                                            <p:cond delay="0"/>
                                          </p:stCondLst>
                                        </p:cTn>
                                        <p:tgtEl>
                                          <p:spTgt spid="49"/>
                                        </p:tgtEl>
                                        <p:attrNameLst>
                                          <p:attrName>style.visibility</p:attrName>
                                        </p:attrNameLst>
                                      </p:cBhvr>
                                      <p:to>
                                        <p:strVal val="visible"/>
                                      </p:to>
                                    </p:set>
                                    <p:animEffect transition="in" filter="wipe(down)">
                                      <p:cBhvr>
                                        <p:cTn id="121" dur="500"/>
                                        <p:tgtEl>
                                          <p:spTgt spid="49"/>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1048873">
                                            <p:txEl>
                                              <p:pRg st="13" end="13"/>
                                            </p:txEl>
                                          </p:spTgt>
                                        </p:tgtEl>
                                        <p:attrNameLst>
                                          <p:attrName>style.visibility</p:attrName>
                                        </p:attrNameLst>
                                      </p:cBhvr>
                                      <p:to>
                                        <p:strVal val="visible"/>
                                      </p:to>
                                    </p:set>
                                    <p:animEffect transition="in" filter="wipe(left)">
                                      <p:cBhvr>
                                        <p:cTn id="126" dur="500"/>
                                        <p:tgtEl>
                                          <p:spTgt spid="1048873">
                                            <p:txEl>
                                              <p:pRg st="13" end="13"/>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4" fill="hold" grpId="0" nodeType="clickEffect">
                                  <p:stCondLst>
                                    <p:cond delay="0"/>
                                  </p:stCondLst>
                                  <p:childTnLst>
                                    <p:set>
                                      <p:cBhvr>
                                        <p:cTn id="130" dur="1" fill="hold">
                                          <p:stCondLst>
                                            <p:cond delay="0"/>
                                          </p:stCondLst>
                                        </p:cTn>
                                        <p:tgtEl>
                                          <p:spTgt spid="1048879"/>
                                        </p:tgtEl>
                                        <p:attrNameLst>
                                          <p:attrName>style.visibility</p:attrName>
                                        </p:attrNameLst>
                                      </p:cBhvr>
                                      <p:to>
                                        <p:strVal val="visible"/>
                                      </p:to>
                                    </p:set>
                                    <p:animEffect transition="in" filter="wipe(down)">
                                      <p:cBhvr>
                                        <p:cTn id="131" dur="500"/>
                                        <p:tgtEl>
                                          <p:spTgt spid="1048879"/>
                                        </p:tgtEl>
                                      </p:cBhvr>
                                    </p:animEffect>
                                  </p:childTnLst>
                                </p:cTn>
                              </p:par>
                              <p:par>
                                <p:cTn id="132" presetID="22" presetClass="entr" presetSubtype="4" fill="hold" grpId="0" nodeType="withEffect">
                                  <p:stCondLst>
                                    <p:cond delay="0"/>
                                  </p:stCondLst>
                                  <p:childTnLst>
                                    <p:set>
                                      <p:cBhvr>
                                        <p:cTn id="133" dur="1" fill="hold">
                                          <p:stCondLst>
                                            <p:cond delay="0"/>
                                          </p:stCondLst>
                                        </p:cTn>
                                        <p:tgtEl>
                                          <p:spTgt spid="1048878"/>
                                        </p:tgtEl>
                                        <p:attrNameLst>
                                          <p:attrName>style.visibility</p:attrName>
                                        </p:attrNameLst>
                                      </p:cBhvr>
                                      <p:to>
                                        <p:strVal val="visible"/>
                                      </p:to>
                                    </p:set>
                                    <p:animEffect transition="in" filter="wipe(down)">
                                      <p:cBhvr>
                                        <p:cTn id="134" dur="500"/>
                                        <p:tgtEl>
                                          <p:spTgt spid="1048878"/>
                                        </p:tgtEl>
                                      </p:cBhvr>
                                    </p:animEffect>
                                  </p:childTnLst>
                                </p:cTn>
                              </p:par>
                              <p:par>
                                <p:cTn id="135" presetID="22" presetClass="entr" presetSubtype="4" fill="hold" grpId="0" nodeType="withEffect">
                                  <p:stCondLst>
                                    <p:cond delay="0"/>
                                  </p:stCondLst>
                                  <p:childTnLst>
                                    <p:set>
                                      <p:cBhvr>
                                        <p:cTn id="136" dur="1" fill="hold">
                                          <p:stCondLst>
                                            <p:cond delay="0"/>
                                          </p:stCondLst>
                                        </p:cTn>
                                        <p:tgtEl>
                                          <p:spTgt spid="1048877"/>
                                        </p:tgtEl>
                                        <p:attrNameLst>
                                          <p:attrName>style.visibility</p:attrName>
                                        </p:attrNameLst>
                                      </p:cBhvr>
                                      <p:to>
                                        <p:strVal val="visible"/>
                                      </p:to>
                                    </p:set>
                                    <p:animEffect transition="in" filter="wipe(down)">
                                      <p:cBhvr>
                                        <p:cTn id="137" dur="500"/>
                                        <p:tgtEl>
                                          <p:spTgt spid="1048877"/>
                                        </p:tgtEl>
                                      </p:cBhvr>
                                    </p:animEffect>
                                  </p:childTnLst>
                                </p:cTn>
                              </p:par>
                              <p:par>
                                <p:cTn id="138" presetID="22" presetClass="entr" presetSubtype="4" fill="hold" grpId="0" nodeType="withEffect">
                                  <p:stCondLst>
                                    <p:cond delay="0"/>
                                  </p:stCondLst>
                                  <p:childTnLst>
                                    <p:set>
                                      <p:cBhvr>
                                        <p:cTn id="139" dur="1" fill="hold">
                                          <p:stCondLst>
                                            <p:cond delay="0"/>
                                          </p:stCondLst>
                                        </p:cTn>
                                        <p:tgtEl>
                                          <p:spTgt spid="51"/>
                                        </p:tgtEl>
                                        <p:attrNameLst>
                                          <p:attrName>style.visibility</p:attrName>
                                        </p:attrNameLst>
                                      </p:cBhvr>
                                      <p:to>
                                        <p:strVal val="visible"/>
                                      </p:to>
                                    </p:set>
                                    <p:animEffect transition="in" filter="wipe(down)">
                                      <p:cBhvr>
                                        <p:cTn id="140" dur="500"/>
                                        <p:tgtEl>
                                          <p:spTgt spid="51"/>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1048873">
                                            <p:txEl>
                                              <p:pRg st="14" end="14"/>
                                            </p:txEl>
                                          </p:spTgt>
                                        </p:tgtEl>
                                        <p:attrNameLst>
                                          <p:attrName>style.visibility</p:attrName>
                                        </p:attrNameLst>
                                      </p:cBhvr>
                                      <p:to>
                                        <p:strVal val="visible"/>
                                      </p:to>
                                    </p:set>
                                    <p:animEffect transition="in" filter="wipe(left)">
                                      <p:cBhvr>
                                        <p:cTn id="145" dur="500"/>
                                        <p:tgtEl>
                                          <p:spTgt spid="1048873">
                                            <p:txEl>
                                              <p:pRg st="14" end="14"/>
                                            </p:txEl>
                                          </p:spTgt>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4" fill="hold" grpId="0" nodeType="clickEffect">
                                  <p:stCondLst>
                                    <p:cond delay="0"/>
                                  </p:stCondLst>
                                  <p:childTnLst>
                                    <p:set>
                                      <p:cBhvr>
                                        <p:cTn id="149" dur="1" fill="hold">
                                          <p:stCondLst>
                                            <p:cond delay="0"/>
                                          </p:stCondLst>
                                        </p:cTn>
                                        <p:tgtEl>
                                          <p:spTgt spid="1048875"/>
                                        </p:tgtEl>
                                        <p:attrNameLst>
                                          <p:attrName>style.visibility</p:attrName>
                                        </p:attrNameLst>
                                      </p:cBhvr>
                                      <p:to>
                                        <p:strVal val="visible"/>
                                      </p:to>
                                    </p:set>
                                    <p:animEffect transition="in" filter="wipe(down)">
                                      <p:cBhvr>
                                        <p:cTn id="150" dur="500"/>
                                        <p:tgtEl>
                                          <p:spTgt spid="1048875"/>
                                        </p:tgtEl>
                                      </p:cBhvr>
                                    </p:animEffect>
                                  </p:childTnLst>
                                </p:cTn>
                              </p:par>
                              <p:par>
                                <p:cTn id="151" presetID="22" presetClass="entr" presetSubtype="4" fill="hold" grpId="0" nodeType="withEffect">
                                  <p:stCondLst>
                                    <p:cond delay="0"/>
                                  </p:stCondLst>
                                  <p:childTnLst>
                                    <p:set>
                                      <p:cBhvr>
                                        <p:cTn id="152" dur="1" fill="hold">
                                          <p:stCondLst>
                                            <p:cond delay="0"/>
                                          </p:stCondLst>
                                        </p:cTn>
                                        <p:tgtEl>
                                          <p:spTgt spid="1048876"/>
                                        </p:tgtEl>
                                        <p:attrNameLst>
                                          <p:attrName>style.visibility</p:attrName>
                                        </p:attrNameLst>
                                      </p:cBhvr>
                                      <p:to>
                                        <p:strVal val="visible"/>
                                      </p:to>
                                    </p:set>
                                    <p:animEffect transition="in" filter="wipe(down)">
                                      <p:cBhvr>
                                        <p:cTn id="153" dur="500"/>
                                        <p:tgtEl>
                                          <p:spTgt spid="1048876"/>
                                        </p:tgtEl>
                                      </p:cBhvr>
                                    </p:animEffect>
                                  </p:childTnLst>
                                </p:cTn>
                              </p:par>
                              <p:par>
                                <p:cTn id="154" presetID="22" presetClass="entr" presetSubtype="4" fill="hold" grpId="0" nodeType="withEffect">
                                  <p:stCondLst>
                                    <p:cond delay="0"/>
                                  </p:stCondLst>
                                  <p:childTnLst>
                                    <p:set>
                                      <p:cBhvr>
                                        <p:cTn id="155" dur="1" fill="hold">
                                          <p:stCondLst>
                                            <p:cond delay="0"/>
                                          </p:stCondLst>
                                        </p:cTn>
                                        <p:tgtEl>
                                          <p:spTgt spid="52"/>
                                        </p:tgtEl>
                                        <p:attrNameLst>
                                          <p:attrName>style.visibility</p:attrName>
                                        </p:attrNameLst>
                                      </p:cBhvr>
                                      <p:to>
                                        <p:strVal val="visible"/>
                                      </p:to>
                                    </p:set>
                                    <p:animEffect transition="in" filter="wipe(down)">
                                      <p:cBhvr>
                                        <p:cTn id="156" dur="500"/>
                                        <p:tgtEl>
                                          <p:spTgt spid="52"/>
                                        </p:tgtEl>
                                      </p:cBhvr>
                                    </p:animEffect>
                                  </p:childTnLst>
                                </p:cTn>
                              </p:par>
                              <p:par>
                                <p:cTn id="157" presetID="22" presetClass="entr" presetSubtype="4" fill="hold" grpId="0" nodeType="withEffect">
                                  <p:stCondLst>
                                    <p:cond delay="0"/>
                                  </p:stCondLst>
                                  <p:childTnLst>
                                    <p:set>
                                      <p:cBhvr>
                                        <p:cTn id="158" dur="1" fill="hold">
                                          <p:stCondLst>
                                            <p:cond delay="0"/>
                                          </p:stCondLst>
                                        </p:cTn>
                                        <p:tgtEl>
                                          <p:spTgt spid="1048882"/>
                                        </p:tgtEl>
                                        <p:attrNameLst>
                                          <p:attrName>style.visibility</p:attrName>
                                        </p:attrNameLst>
                                      </p:cBhvr>
                                      <p:to>
                                        <p:strVal val="visible"/>
                                      </p:to>
                                    </p:set>
                                    <p:animEffect transition="in" filter="wipe(down)">
                                      <p:cBhvr>
                                        <p:cTn id="159" dur="500"/>
                                        <p:tgtEl>
                                          <p:spTgt spid="1048882"/>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1048873">
                                            <p:txEl>
                                              <p:pRg st="15" end="15"/>
                                            </p:txEl>
                                          </p:spTgt>
                                        </p:tgtEl>
                                        <p:attrNameLst>
                                          <p:attrName>style.visibility</p:attrName>
                                        </p:attrNameLst>
                                      </p:cBhvr>
                                      <p:to>
                                        <p:strVal val="visible"/>
                                      </p:to>
                                    </p:set>
                                    <p:animEffect transition="in" filter="wipe(left)">
                                      <p:cBhvr>
                                        <p:cTn id="164" dur="500"/>
                                        <p:tgtEl>
                                          <p:spTgt spid="1048873">
                                            <p:txEl>
                                              <p:pRg st="15" end="15"/>
                                            </p:txEl>
                                          </p:spTgt>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grpId="0" nodeType="clickEffect">
                                  <p:stCondLst>
                                    <p:cond delay="0"/>
                                  </p:stCondLst>
                                  <p:childTnLst>
                                    <p:set>
                                      <p:cBhvr>
                                        <p:cTn id="168" dur="1" fill="hold">
                                          <p:stCondLst>
                                            <p:cond delay="0"/>
                                          </p:stCondLst>
                                        </p:cTn>
                                        <p:tgtEl>
                                          <p:spTgt spid="1048873">
                                            <p:txEl>
                                              <p:pRg st="16" end="16"/>
                                            </p:txEl>
                                          </p:spTgt>
                                        </p:tgtEl>
                                        <p:attrNameLst>
                                          <p:attrName>style.visibility</p:attrName>
                                        </p:attrNameLst>
                                      </p:cBhvr>
                                      <p:to>
                                        <p:strVal val="visible"/>
                                      </p:to>
                                    </p:set>
                                    <p:animEffect transition="in" filter="wipe(left)">
                                      <p:cBhvr>
                                        <p:cTn id="169" dur="500"/>
                                        <p:tgtEl>
                                          <p:spTgt spid="1048873">
                                            <p:txEl>
                                              <p:pRg st="16" end="16"/>
                                            </p:txEl>
                                          </p:spTgt>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4" fill="hold" nodeType="clickEffect">
                                  <p:stCondLst>
                                    <p:cond delay="0"/>
                                  </p:stCondLst>
                                  <p:childTnLst>
                                    <p:set>
                                      <p:cBhvr>
                                        <p:cTn id="173" dur="1" fill="hold">
                                          <p:stCondLst>
                                            <p:cond delay="0"/>
                                          </p:stCondLst>
                                        </p:cTn>
                                        <p:tgtEl>
                                          <p:spTgt spid="9"/>
                                        </p:tgtEl>
                                        <p:attrNameLst>
                                          <p:attrName>style.visibility</p:attrName>
                                        </p:attrNameLst>
                                      </p:cBhvr>
                                      <p:to>
                                        <p:strVal val="visible"/>
                                      </p:to>
                                    </p:set>
                                    <p:animEffect transition="in" filter="wipe(down)">
                                      <p:cBhvr>
                                        <p:cTn id="174" dur="500"/>
                                        <p:tgtEl>
                                          <p:spTgt spid="9"/>
                                        </p:tgtEl>
                                      </p:cBhvr>
                                    </p:animEffect>
                                  </p:childTnLst>
                                </p:cTn>
                              </p:par>
                              <p:par>
                                <p:cTn id="175" presetID="22" presetClass="entr" presetSubtype="4" fill="hold" nodeType="withEffect">
                                  <p:stCondLst>
                                    <p:cond delay="0"/>
                                  </p:stCondLst>
                                  <p:childTnLst>
                                    <p:set>
                                      <p:cBhvr>
                                        <p:cTn id="176" dur="1" fill="hold">
                                          <p:stCondLst>
                                            <p:cond delay="0"/>
                                          </p:stCondLst>
                                        </p:cTn>
                                        <p:tgtEl>
                                          <p:spTgt spid="7"/>
                                        </p:tgtEl>
                                        <p:attrNameLst>
                                          <p:attrName>style.visibility</p:attrName>
                                        </p:attrNameLst>
                                      </p:cBhvr>
                                      <p:to>
                                        <p:strVal val="visible"/>
                                      </p:to>
                                    </p:set>
                                    <p:animEffect transition="in" filter="wipe(down)">
                                      <p:cBhvr>
                                        <p:cTn id="177" dur="500"/>
                                        <p:tgtEl>
                                          <p:spTgt spid="7"/>
                                        </p:tgtEl>
                                      </p:cBhvr>
                                    </p:animEffect>
                                  </p:childTnLst>
                                </p:cTn>
                              </p:par>
                              <p:par>
                                <p:cTn id="178" presetID="22" presetClass="entr" presetSubtype="4" fill="hold" grpId="0" nodeType="withEffect">
                                  <p:stCondLst>
                                    <p:cond delay="0"/>
                                  </p:stCondLst>
                                  <p:childTnLst>
                                    <p:set>
                                      <p:cBhvr>
                                        <p:cTn id="179" dur="1" fill="hold">
                                          <p:stCondLst>
                                            <p:cond delay="0"/>
                                          </p:stCondLst>
                                        </p:cTn>
                                        <p:tgtEl>
                                          <p:spTgt spid="58"/>
                                        </p:tgtEl>
                                        <p:attrNameLst>
                                          <p:attrName>style.visibility</p:attrName>
                                        </p:attrNameLst>
                                      </p:cBhvr>
                                      <p:to>
                                        <p:strVal val="visible"/>
                                      </p:to>
                                    </p:set>
                                    <p:animEffect transition="in" filter="wipe(down)">
                                      <p:cBhvr>
                                        <p:cTn id="18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73" grpId="0" uiExpand="1" build="p" autoUpdateAnimBg="0"/>
      <p:bldP spid="1048884" grpId="0" uiExpand="1" autoUpdateAnimBg="0"/>
      <p:bldP spid="1048874" grpId="0" animBg="1"/>
      <p:bldP spid="1048875" grpId="0" animBg="1"/>
      <p:bldP spid="1048876" grpId="0" animBg="1"/>
      <p:bldP spid="1048877" grpId="0" animBg="1"/>
      <p:bldP spid="1048878" grpId="0" animBg="1"/>
      <p:bldP spid="1048879" grpId="0" animBg="1"/>
      <p:bldP spid="1048880" grpId="0" animBg="1"/>
      <p:bldP spid="1048881" grpId="0" animBg="1"/>
      <p:bldP spid="1048882" grpId="0" animBg="1"/>
      <p:bldP spid="1048885" grpId="0"/>
      <p:bldP spid="1048886" grpId="0" animBg="1"/>
      <p:bldP spid="1048887" grpId="0"/>
      <p:bldP spid="1048888" grpId="0" animBg="1"/>
      <p:bldP spid="1048889" grpId="0"/>
      <p:bldP spid="1048891" grpId="0" animBg="1"/>
      <p:bldP spid="48" grpId="0"/>
      <p:bldP spid="49" grpId="0"/>
      <p:bldP spid="50" grpId="0"/>
      <p:bldP spid="51" grpId="0"/>
      <p:bldP spid="52" grpId="0"/>
      <p:bldP spid="53" grpId="0"/>
      <p:bldP spid="5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26"/>
          <p:cNvSpPr>
            <a:spLocks noGrp="1" noChangeArrowheads="1"/>
          </p:cNvSpPr>
          <p:nvPr>
            <p:ph type="title"/>
          </p:nvPr>
        </p:nvSpPr>
        <p:spPr>
          <a:xfrm>
            <a:off x="0" y="180427"/>
            <a:ext cx="4139952" cy="681038"/>
          </a:xfrm>
        </p:spPr>
        <p:txBody>
          <a:bodyPr/>
          <a:lstStyle/>
          <a:p>
            <a:pPr eaLnBrk="1" hangingPunct="1"/>
            <a:r>
              <a:rPr lang="zh-CN" altLang="en-US" dirty="0">
                <a:solidFill>
                  <a:srgbClr val="FF3300"/>
                </a:solidFill>
              </a:rPr>
              <a:t>自下而上翻译</a:t>
            </a:r>
          </a:p>
        </p:txBody>
      </p:sp>
      <p:pic>
        <p:nvPicPr>
          <p:cNvPr id="49155" name="Object 5" descr="npo0000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3130" y="267495"/>
            <a:ext cx="2762559" cy="20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49156" name="Text Box 1031"/>
          <p:cNvSpPr txBox="1">
            <a:spLocks noChangeArrowheads="1"/>
          </p:cNvSpPr>
          <p:nvPr/>
        </p:nvSpPr>
        <p:spPr bwMode="auto">
          <a:xfrm>
            <a:off x="279512" y="1275607"/>
            <a:ext cx="5661610" cy="1446550"/>
          </a:xfrm>
          <a:prstGeom prst="rect">
            <a:avLst/>
          </a:prstGeom>
          <a:solidFill>
            <a:schemeClr val="bg1"/>
          </a:solidFill>
          <a:ln>
            <a:noFill/>
          </a:ln>
        </p:spPr>
        <p:txBody>
          <a:bodyPr wrap="square">
            <a:spAutoFit/>
          </a:bodyPr>
          <a:lstStyle>
            <a:lvl1pPr marL="365125" indent="-365125">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pPr>
            <a:r>
              <a:rPr lang="zh-CN" altLang="en-US" sz="2200" dirty="0"/>
              <a:t>具体实现时，使用栈</a:t>
            </a:r>
            <a:r>
              <a:rPr lang="en-US" altLang="zh-CN" sz="2200" dirty="0"/>
              <a:t>——</a:t>
            </a:r>
            <a:r>
              <a:rPr lang="zh-CN" altLang="en-US" sz="2200" dirty="0"/>
              <a:t>增加语义栈</a:t>
            </a:r>
          </a:p>
          <a:p>
            <a:pPr eaLnBrk="1" hangingPunct="1">
              <a:lnSpc>
                <a:spcPct val="100000"/>
              </a:lnSpc>
              <a:spcBef>
                <a:spcPct val="50000"/>
              </a:spcBef>
            </a:pPr>
            <a:r>
              <a:rPr lang="zh-CN" altLang="en-US" sz="2200" dirty="0"/>
              <a:t>用</a:t>
            </a:r>
            <a:r>
              <a:rPr lang="en-US" altLang="zh-CN" sz="2200" dirty="0" err="1"/>
              <a:t>X.Val</a:t>
            </a:r>
            <a:r>
              <a:rPr lang="zh-CN" altLang="en-US" sz="2200" dirty="0"/>
              <a:t>表示文法符号</a:t>
            </a:r>
            <a:r>
              <a:rPr lang="en-US" altLang="zh-CN" sz="2200" dirty="0"/>
              <a:t>X</a:t>
            </a:r>
            <a:r>
              <a:rPr lang="zh-CN" altLang="en-US" sz="2200" dirty="0"/>
              <a:t>的语义信息</a:t>
            </a:r>
          </a:p>
          <a:p>
            <a:pPr eaLnBrk="1" hangingPunct="1">
              <a:lnSpc>
                <a:spcPct val="100000"/>
              </a:lnSpc>
              <a:spcBef>
                <a:spcPct val="50000"/>
              </a:spcBef>
            </a:pPr>
            <a:r>
              <a:rPr lang="zh-CN" altLang="en-US" sz="2200" dirty="0"/>
              <a:t>语义信息与文法符号同时出栈和入栈</a:t>
            </a:r>
          </a:p>
        </p:txBody>
      </p:sp>
      <p:graphicFrame>
        <p:nvGraphicFramePr>
          <p:cNvPr id="2" name="表格 1"/>
          <p:cNvGraphicFramePr>
            <a:graphicFrameLocks noGrp="1"/>
          </p:cNvGraphicFramePr>
          <p:nvPr>
            <p:extLst>
              <p:ext uri="{D42A27DB-BD31-4B8C-83A1-F6EECF244321}">
                <p14:modId xmlns:p14="http://schemas.microsoft.com/office/powerpoint/2010/main" val="3682917543"/>
              </p:ext>
            </p:extLst>
          </p:nvPr>
        </p:nvGraphicFramePr>
        <p:xfrm>
          <a:off x="4788024" y="2766851"/>
          <a:ext cx="4248472" cy="2156756"/>
        </p:xfrm>
        <a:graphic>
          <a:graphicData uri="http://schemas.openxmlformats.org/drawingml/2006/table">
            <a:tbl>
              <a:tblPr>
                <a:tableStyleId>{5C22544A-7EE6-4342-B048-85BDC9FD1C3A}</a:tableStyleId>
              </a:tblPr>
              <a:tblGrid>
                <a:gridCol w="924340">
                  <a:extLst>
                    <a:ext uri="{9D8B030D-6E8A-4147-A177-3AD203B41FA5}">
                      <a16:colId xmlns:a16="http://schemas.microsoft.com/office/drawing/2014/main" val="20000"/>
                    </a:ext>
                  </a:extLst>
                </a:gridCol>
                <a:gridCol w="980975">
                  <a:extLst>
                    <a:ext uri="{9D8B030D-6E8A-4147-A177-3AD203B41FA5}">
                      <a16:colId xmlns:a16="http://schemas.microsoft.com/office/drawing/2014/main" val="20001"/>
                    </a:ext>
                  </a:extLst>
                </a:gridCol>
                <a:gridCol w="1270210">
                  <a:extLst>
                    <a:ext uri="{9D8B030D-6E8A-4147-A177-3AD203B41FA5}">
                      <a16:colId xmlns:a16="http://schemas.microsoft.com/office/drawing/2014/main" val="20002"/>
                    </a:ext>
                  </a:extLst>
                </a:gridCol>
                <a:gridCol w="1072947">
                  <a:extLst>
                    <a:ext uri="{9D8B030D-6E8A-4147-A177-3AD203B41FA5}">
                      <a16:colId xmlns:a16="http://schemas.microsoft.com/office/drawing/2014/main" val="20003"/>
                    </a:ext>
                  </a:extLst>
                </a:gridCol>
              </a:tblGrid>
              <a:tr h="308108">
                <a:tc>
                  <a:txBody>
                    <a:bodyPr/>
                    <a:lstStyle/>
                    <a:p>
                      <a:pPr algn="ctr">
                        <a:spcAft>
                          <a:spcPts val="0"/>
                        </a:spcAft>
                      </a:pPr>
                      <a:r>
                        <a:rPr lang="en-US" sz="1800" kern="100" dirty="0">
                          <a:effectLst/>
                        </a:rPr>
                        <a:t> </a:t>
                      </a:r>
                      <a:endParaRPr lang="zh-CN" sz="1800" kern="100" dirty="0">
                        <a:effectLst/>
                        <a:latin typeface="Times New Roman"/>
                        <a:ea typeface="宋体"/>
                      </a:endParaRPr>
                    </a:p>
                  </a:txBody>
                  <a:tcPr marL="68580" marR="68580" marT="0" marB="0"/>
                </a:tc>
                <a:tc>
                  <a:txBody>
                    <a:bodyPr/>
                    <a:lstStyle/>
                    <a:p>
                      <a:pPr algn="ctr">
                        <a:spcAft>
                          <a:spcPts val="0"/>
                        </a:spcAft>
                      </a:pPr>
                      <a:r>
                        <a:rPr lang="en-US" sz="1800" kern="100">
                          <a:effectLst/>
                        </a:rPr>
                        <a:t> </a:t>
                      </a:r>
                      <a:endParaRPr lang="zh-CN" sz="1800" kern="100">
                        <a:effectLst/>
                        <a:latin typeface="Times New Roman"/>
                        <a:ea typeface="宋体"/>
                      </a:endParaRPr>
                    </a:p>
                  </a:txBody>
                  <a:tcPr marL="68580" marR="68580" marT="0" marB="0"/>
                </a:tc>
                <a:tc>
                  <a:txBody>
                    <a:bodyPr/>
                    <a:lstStyle/>
                    <a:p>
                      <a:pPr algn="just">
                        <a:spcAft>
                          <a:spcPts val="0"/>
                        </a:spcAft>
                      </a:pPr>
                      <a:r>
                        <a:rPr lang="en-US" sz="1800" kern="100">
                          <a:effectLst/>
                        </a:rPr>
                        <a:t> </a:t>
                      </a:r>
                      <a:endParaRPr lang="zh-CN" sz="1800" kern="100">
                        <a:effectLst/>
                        <a:latin typeface="Times New Roman"/>
                        <a:ea typeface="宋体"/>
                      </a:endParaRPr>
                    </a:p>
                  </a:txBody>
                  <a:tcPr marL="68580" marR="68580" marT="0" marB="0"/>
                </a:tc>
                <a:tc>
                  <a:txBody>
                    <a:bodyPr/>
                    <a:lstStyle/>
                    <a:p>
                      <a:pPr algn="just">
                        <a:spcAft>
                          <a:spcPts val="0"/>
                        </a:spcAft>
                      </a:pPr>
                      <a:r>
                        <a:rPr lang="en-US" sz="1800" kern="100">
                          <a:effectLst/>
                        </a:rPr>
                        <a:t> </a:t>
                      </a:r>
                      <a:endParaRPr lang="zh-CN" sz="1800" kern="100">
                        <a:effectLst/>
                        <a:latin typeface="Times New Roman"/>
                        <a:ea typeface="宋体"/>
                      </a:endParaRPr>
                    </a:p>
                  </a:txBody>
                  <a:tcPr marL="68580" marR="68580" marT="0" marB="0"/>
                </a:tc>
                <a:extLst>
                  <a:ext uri="{0D108BD9-81ED-4DB2-BD59-A6C34878D82A}">
                    <a16:rowId xmlns:a16="http://schemas.microsoft.com/office/drawing/2014/main" val="10000"/>
                  </a:ext>
                </a:extLst>
              </a:tr>
              <a:tr h="308108">
                <a:tc>
                  <a:txBody>
                    <a:bodyPr/>
                    <a:lstStyle/>
                    <a:p>
                      <a:pPr algn="ctr">
                        <a:spcAft>
                          <a:spcPts val="0"/>
                        </a:spcAft>
                      </a:pPr>
                      <a:r>
                        <a:rPr lang="en-US" sz="1800" kern="100">
                          <a:effectLst/>
                        </a:rPr>
                        <a:t> </a:t>
                      </a:r>
                      <a:endParaRPr lang="zh-CN" sz="1800" kern="100">
                        <a:effectLst/>
                        <a:latin typeface="Times New Roman"/>
                        <a:ea typeface="宋体"/>
                      </a:endParaRPr>
                    </a:p>
                  </a:txBody>
                  <a:tcPr marL="68580" marR="68580" marT="0" marB="0">
                    <a:lnB w="12700" cap="flat" cmpd="sng" algn="ctr">
                      <a:noFill/>
                      <a:prstDash val="solid"/>
                      <a:round/>
                      <a:headEnd type="none" w="med" len="med"/>
                      <a:tailEnd type="none" w="med" len="med"/>
                    </a:lnB>
                  </a:tcPr>
                </a:tc>
                <a:tc>
                  <a:txBody>
                    <a:bodyPr/>
                    <a:lstStyle/>
                    <a:p>
                      <a:pPr algn="ctr">
                        <a:spcAft>
                          <a:spcPts val="0"/>
                        </a:spcAft>
                      </a:pPr>
                      <a:r>
                        <a:rPr lang="en-US" sz="1800" kern="100">
                          <a:effectLst/>
                        </a:rPr>
                        <a:t> </a:t>
                      </a:r>
                      <a:endParaRPr lang="zh-CN" sz="1800" kern="100">
                        <a:effectLst/>
                        <a:latin typeface="Times New Roman"/>
                        <a:ea typeface="宋体"/>
                      </a:endParaRPr>
                    </a:p>
                  </a:txBody>
                  <a:tcPr marL="68580" marR="68580" marT="0" marB="0">
                    <a:lnB w="12700" cap="flat" cmpd="sng" algn="ctr">
                      <a:noFill/>
                      <a:prstDash val="solid"/>
                      <a:round/>
                      <a:headEnd type="none" w="med" len="med"/>
                      <a:tailEnd type="none" w="med" len="med"/>
                    </a:lnB>
                  </a:tcPr>
                </a:tc>
                <a:tc>
                  <a:txBody>
                    <a:bodyPr/>
                    <a:lstStyle/>
                    <a:p>
                      <a:pPr algn="just">
                        <a:spcAft>
                          <a:spcPts val="0"/>
                        </a:spcAft>
                      </a:pPr>
                      <a:r>
                        <a:rPr lang="en-US" sz="1800" kern="100" dirty="0">
                          <a:effectLst/>
                        </a:rPr>
                        <a:t> </a:t>
                      </a:r>
                      <a:endParaRPr lang="zh-CN" sz="1800" kern="100" dirty="0">
                        <a:effectLst/>
                        <a:latin typeface="Times New Roman"/>
                        <a:ea typeface="宋体"/>
                      </a:endParaRPr>
                    </a:p>
                  </a:txBody>
                  <a:tcPr marL="68580" marR="68580" marT="0" marB="0">
                    <a:lnB w="12700" cap="flat" cmpd="sng" algn="ctr">
                      <a:noFill/>
                      <a:prstDash val="solid"/>
                      <a:round/>
                      <a:headEnd type="none" w="med" len="med"/>
                      <a:tailEnd type="none" w="med" len="med"/>
                    </a:lnB>
                  </a:tcPr>
                </a:tc>
                <a:tc>
                  <a:txBody>
                    <a:bodyPr/>
                    <a:lstStyle/>
                    <a:p>
                      <a:pPr algn="just">
                        <a:spcAft>
                          <a:spcPts val="0"/>
                        </a:spcAft>
                      </a:pPr>
                      <a:r>
                        <a:rPr lang="en-US" sz="1800" kern="100">
                          <a:effectLst/>
                        </a:rPr>
                        <a:t> </a:t>
                      </a:r>
                      <a:endParaRPr lang="zh-CN" sz="1800" kern="100">
                        <a:effectLst/>
                        <a:latin typeface="Times New Roman"/>
                        <a:ea typeface="宋体"/>
                      </a:endParaRPr>
                    </a:p>
                  </a:txBody>
                  <a:tcPr marL="68580" marR="68580" marT="0" marB="0"/>
                </a:tc>
                <a:extLst>
                  <a:ext uri="{0D108BD9-81ED-4DB2-BD59-A6C34878D82A}">
                    <a16:rowId xmlns:a16="http://schemas.microsoft.com/office/drawing/2014/main" val="10001"/>
                  </a:ext>
                </a:extLst>
              </a:tr>
              <a:tr h="308108">
                <a:tc>
                  <a:txBody>
                    <a:bodyPr/>
                    <a:lstStyle/>
                    <a:p>
                      <a:pPr algn="ctr">
                        <a:spcAft>
                          <a:spcPts val="0"/>
                        </a:spcAft>
                      </a:pPr>
                      <a:r>
                        <a:rPr lang="en-US" sz="1800" kern="100" dirty="0">
                          <a:effectLst/>
                        </a:rPr>
                        <a:t>S</a:t>
                      </a:r>
                      <a:r>
                        <a:rPr lang="en-US" sz="1800" kern="100" baseline="-25000" dirty="0">
                          <a:effectLst/>
                        </a:rPr>
                        <a:t>m</a:t>
                      </a:r>
                      <a:endParaRPr lang="zh-CN" sz="18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X</a:t>
                      </a:r>
                      <a:r>
                        <a:rPr lang="en-US" sz="1800" kern="100" baseline="-25000">
                          <a:effectLst/>
                        </a:rPr>
                        <a:t>m</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err="1">
                          <a:effectLst/>
                        </a:rPr>
                        <a:t>X</a:t>
                      </a:r>
                      <a:r>
                        <a:rPr lang="en-US" sz="1800" kern="100" baseline="-25000" dirty="0" err="1">
                          <a:effectLst/>
                        </a:rPr>
                        <a:t>m</a:t>
                      </a:r>
                      <a:r>
                        <a:rPr lang="en-US" sz="1800" kern="100" dirty="0" err="1">
                          <a:effectLst/>
                        </a:rPr>
                        <a:t>.val</a:t>
                      </a:r>
                      <a:endParaRPr lang="zh-CN" sz="18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800" kern="100" dirty="0">
                          <a:effectLst/>
                        </a:rPr>
                        <a:t>←—</a:t>
                      </a:r>
                      <a:r>
                        <a:rPr lang="zh-CN" sz="1800" kern="100" dirty="0">
                          <a:effectLst/>
                        </a:rPr>
                        <a:t>栈顶</a:t>
                      </a:r>
                      <a:endParaRPr lang="zh-CN" sz="18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08108">
                <a:tc>
                  <a:txBody>
                    <a:bodyPr/>
                    <a:lstStyle/>
                    <a:p>
                      <a:pPr algn="ctr">
                        <a:spcAft>
                          <a:spcPts val="0"/>
                        </a:spcAft>
                      </a:pPr>
                      <a:r>
                        <a:rPr lang="zh-CN" sz="1800" kern="100">
                          <a:effectLst/>
                        </a:rPr>
                        <a:t>┆</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800" kern="100">
                          <a:effectLst/>
                        </a:rPr>
                        <a:t> </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308108">
                <a:tc>
                  <a:txBody>
                    <a:bodyPr/>
                    <a:lstStyle/>
                    <a:p>
                      <a:pPr algn="ctr">
                        <a:spcAft>
                          <a:spcPts val="0"/>
                        </a:spcAft>
                      </a:pPr>
                      <a:r>
                        <a:rPr lang="en-US" sz="1800" kern="100">
                          <a:effectLst/>
                        </a:rPr>
                        <a:t>S</a:t>
                      </a:r>
                      <a:r>
                        <a:rPr lang="en-US" sz="1800" kern="100" baseline="-25000">
                          <a:effectLst/>
                        </a:rPr>
                        <a:t>1</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X</a:t>
                      </a:r>
                      <a:r>
                        <a:rPr lang="en-US" sz="1800" kern="100" baseline="-25000">
                          <a:effectLst/>
                        </a:rPr>
                        <a:t>1</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X</a:t>
                      </a:r>
                      <a:r>
                        <a:rPr lang="en-US" sz="1800" kern="100" baseline="-25000">
                          <a:effectLst/>
                        </a:rPr>
                        <a:t>1</a:t>
                      </a:r>
                      <a:r>
                        <a:rPr lang="en-US" sz="1800" kern="100">
                          <a:effectLst/>
                        </a:rPr>
                        <a:t>.val</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800" kern="100">
                          <a:effectLst/>
                        </a:rPr>
                        <a:t> </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308108">
                <a:tc>
                  <a:txBody>
                    <a:bodyPr/>
                    <a:lstStyle/>
                    <a:p>
                      <a:pPr algn="ctr">
                        <a:spcAft>
                          <a:spcPts val="0"/>
                        </a:spcAft>
                      </a:pPr>
                      <a:r>
                        <a:rPr lang="en-US" sz="1800" kern="100">
                          <a:effectLst/>
                        </a:rPr>
                        <a:t>S</a:t>
                      </a:r>
                      <a:r>
                        <a:rPr lang="en-US" sz="1800" kern="100" baseline="-25000">
                          <a:effectLst/>
                        </a:rPr>
                        <a:t>0</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X</a:t>
                      </a:r>
                      <a:r>
                        <a:rPr lang="en-US" sz="1800" kern="100" baseline="-25000">
                          <a:effectLst/>
                        </a:rPr>
                        <a:t>0</a:t>
                      </a:r>
                      <a:r>
                        <a:rPr lang="en-US" sz="1800" kern="100">
                          <a:effectLst/>
                        </a:rPr>
                        <a:t>(#)</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800" kern="100">
                          <a:effectLst/>
                        </a:rPr>
                        <a:t> </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308108">
                <a:tc>
                  <a:txBody>
                    <a:bodyPr/>
                    <a:lstStyle/>
                    <a:p>
                      <a:pPr algn="ctr">
                        <a:spcAft>
                          <a:spcPts val="0"/>
                        </a:spcAft>
                      </a:pPr>
                      <a:r>
                        <a:rPr lang="zh-CN" sz="1800" kern="100">
                          <a:effectLst/>
                        </a:rPr>
                        <a:t>状态栈</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符号栈</a:t>
                      </a:r>
                      <a:endParaRPr lang="zh-CN" sz="18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dirty="0">
                          <a:effectLst/>
                        </a:rPr>
                        <a:t>语义栈</a:t>
                      </a:r>
                      <a:endParaRPr lang="zh-CN" sz="18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800" kern="100" dirty="0">
                          <a:effectLst/>
                        </a:rPr>
                        <a:t> </a:t>
                      </a:r>
                      <a:endParaRPr lang="zh-CN" sz="18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95566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Grp="1" noChangeArrowheads="1"/>
          </p:cNvSpPr>
          <p:nvPr>
            <p:ph type="body" idx="1"/>
          </p:nvPr>
        </p:nvSpPr>
        <p:spPr>
          <a:xfrm>
            <a:off x="250825" y="141685"/>
            <a:ext cx="8229600" cy="627459"/>
          </a:xfrm>
        </p:spPr>
        <p:txBody>
          <a:bodyPr>
            <a:normAutofit fontScale="70000" lnSpcReduction="20000"/>
          </a:bodyPr>
          <a:lstStyle/>
          <a:p>
            <a:pPr marL="0" indent="0" eaLnBrk="1" hangingPunct="1">
              <a:buFontTx/>
              <a:buNone/>
            </a:pPr>
            <a:r>
              <a:rPr lang="zh-CN" altLang="en-US" sz="2800" b="1">
                <a:solidFill>
                  <a:srgbClr val="0033CC"/>
                </a:solidFill>
              </a:rPr>
              <a:t>例</a:t>
            </a:r>
            <a:r>
              <a:rPr lang="en-US" altLang="zh-CN" sz="2800" b="1">
                <a:solidFill>
                  <a:srgbClr val="0033CC"/>
                </a:solidFill>
              </a:rPr>
              <a:t>2</a:t>
            </a:r>
            <a:r>
              <a:rPr lang="zh-CN" altLang="en-US" sz="2800" b="1">
                <a:solidFill>
                  <a:srgbClr val="0033CC"/>
                </a:solidFill>
              </a:rPr>
              <a:t>：在</a:t>
            </a:r>
            <a:r>
              <a:rPr lang="en-US" altLang="zh-CN" sz="2800" b="1">
                <a:solidFill>
                  <a:srgbClr val="0033CC"/>
                </a:solidFill>
              </a:rPr>
              <a:t>3*5</a:t>
            </a:r>
            <a:r>
              <a:rPr lang="zh-CN" altLang="en-US" sz="2800" b="1">
                <a:solidFill>
                  <a:srgbClr val="0033CC"/>
                </a:solidFill>
              </a:rPr>
              <a:t>＋</a:t>
            </a:r>
            <a:r>
              <a:rPr lang="en-US" altLang="zh-CN" sz="2800" b="1">
                <a:solidFill>
                  <a:srgbClr val="0033CC"/>
                </a:solidFill>
              </a:rPr>
              <a:t>4</a:t>
            </a:r>
            <a:r>
              <a:rPr lang="zh-CN" altLang="en-US" sz="2800" b="1">
                <a:solidFill>
                  <a:srgbClr val="0033CC"/>
                </a:solidFill>
              </a:rPr>
              <a:t>的</a:t>
            </a:r>
            <a:r>
              <a:rPr lang="en-US" altLang="zh-CN" sz="2800" b="1">
                <a:solidFill>
                  <a:srgbClr val="0033CC"/>
                </a:solidFill>
              </a:rPr>
              <a:t>LR</a:t>
            </a:r>
            <a:r>
              <a:rPr lang="zh-CN" altLang="en-US" sz="2800" b="1">
                <a:solidFill>
                  <a:srgbClr val="0033CC"/>
                </a:solidFill>
              </a:rPr>
              <a:t>分析过程中增加了语义栈后的语法制导的实现过程。</a:t>
            </a:r>
          </a:p>
        </p:txBody>
      </p:sp>
      <p:sp>
        <p:nvSpPr>
          <p:cNvPr id="54275" name="Rectangle 4"/>
          <p:cNvSpPr>
            <a:spLocks noChangeArrowheads="1"/>
          </p:cNvSpPr>
          <p:nvPr/>
        </p:nvSpPr>
        <p:spPr bwMode="auto">
          <a:xfrm>
            <a:off x="539751" y="866627"/>
            <a:ext cx="2299027"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fr-FR" altLang="zh-CN" sz="2800" dirty="0"/>
              <a:t>(1) E</a:t>
            </a:r>
            <a:r>
              <a:rPr lang="en-US" altLang="zh-CN" sz="2800" dirty="0">
                <a:sym typeface="Symbol" pitchFamily="18" charset="2"/>
              </a:rPr>
              <a:t></a:t>
            </a:r>
            <a:r>
              <a:rPr lang="fr-FR" altLang="zh-CN" sz="2800" dirty="0"/>
              <a:t>E+T|T</a:t>
            </a:r>
            <a:endParaRPr lang="fr-FR" altLang="zh-CN" sz="2800" dirty="0">
              <a:sym typeface="Symbol" pitchFamily="18" charset="2"/>
            </a:endParaRPr>
          </a:p>
          <a:p>
            <a:pPr eaLnBrk="1" hangingPunct="1">
              <a:lnSpc>
                <a:spcPct val="100000"/>
              </a:lnSpc>
              <a:spcBef>
                <a:spcPct val="0"/>
              </a:spcBef>
              <a:buFontTx/>
              <a:buNone/>
            </a:pPr>
            <a:r>
              <a:rPr lang="fr-FR" altLang="zh-CN" sz="2800" dirty="0">
                <a:sym typeface="Symbol" pitchFamily="18" charset="2"/>
              </a:rPr>
              <a:t>(2) T</a:t>
            </a:r>
            <a:r>
              <a:rPr lang="en-US" altLang="zh-CN" sz="2800" dirty="0">
                <a:sym typeface="Symbol" pitchFamily="18" charset="2"/>
              </a:rPr>
              <a:t></a:t>
            </a:r>
            <a:r>
              <a:rPr lang="fr-FR" altLang="zh-CN" sz="2800" dirty="0"/>
              <a:t>T*F|F</a:t>
            </a:r>
            <a:endParaRPr lang="fr-FR" altLang="zh-CN" sz="2800" dirty="0">
              <a:sym typeface="Symbol" pitchFamily="18" charset="2"/>
            </a:endParaRPr>
          </a:p>
          <a:p>
            <a:pPr eaLnBrk="1" hangingPunct="1">
              <a:lnSpc>
                <a:spcPct val="100000"/>
              </a:lnSpc>
              <a:spcBef>
                <a:spcPct val="0"/>
              </a:spcBef>
              <a:buFontTx/>
              <a:buNone/>
            </a:pPr>
            <a:r>
              <a:rPr lang="fr-FR" altLang="zh-CN" sz="2800" dirty="0">
                <a:sym typeface="Symbol" pitchFamily="18" charset="2"/>
              </a:rPr>
              <a:t>(3) F</a:t>
            </a:r>
            <a:r>
              <a:rPr lang="en-US" altLang="zh-CN" sz="2800" dirty="0">
                <a:sym typeface="Symbol" pitchFamily="18" charset="2"/>
              </a:rPr>
              <a:t></a:t>
            </a:r>
            <a:r>
              <a:rPr lang="en-US" altLang="zh-CN" sz="2800" dirty="0"/>
              <a:t>(E)|</a:t>
            </a:r>
            <a:r>
              <a:rPr lang="en-US" altLang="zh-CN" sz="2800" dirty="0" err="1"/>
              <a:t>i</a:t>
            </a:r>
            <a:r>
              <a:rPr lang="en-US" altLang="zh-CN" sz="2800" dirty="0"/>
              <a:t> </a:t>
            </a:r>
          </a:p>
        </p:txBody>
      </p:sp>
      <p:sp>
        <p:nvSpPr>
          <p:cNvPr id="54276" name="Rectangle 5"/>
          <p:cNvSpPr>
            <a:spLocks noChangeArrowheads="1"/>
          </p:cNvSpPr>
          <p:nvPr/>
        </p:nvSpPr>
        <p:spPr bwMode="auto">
          <a:xfrm>
            <a:off x="1588" y="1437234"/>
            <a:ext cx="184731" cy="461665"/>
          </a:xfrm>
          <a:prstGeom prst="rect">
            <a:avLst/>
          </a:prstGeom>
          <a:solidFill>
            <a:srgbClr val="F3F3F3"/>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181422" name="Group 174"/>
          <p:cNvGraphicFramePr>
            <a:graphicFrameLocks noGrp="1"/>
          </p:cNvGraphicFramePr>
          <p:nvPr/>
        </p:nvGraphicFramePr>
        <p:xfrm>
          <a:off x="3635376" y="627460"/>
          <a:ext cx="5057775" cy="4046058"/>
        </p:xfrm>
        <a:graphic>
          <a:graphicData uri="http://schemas.openxmlformats.org/drawingml/2006/table">
            <a:tbl>
              <a:tblPr/>
              <a:tblGrid>
                <a:gridCol w="930275">
                  <a:extLst>
                    <a:ext uri="{9D8B030D-6E8A-4147-A177-3AD203B41FA5}">
                      <a16:colId xmlns:a16="http://schemas.microsoft.com/office/drawing/2014/main" val="20000"/>
                    </a:ext>
                  </a:extLst>
                </a:gridCol>
                <a:gridCol w="455613">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55612">
                  <a:extLst>
                    <a:ext uri="{9D8B030D-6E8A-4147-A177-3AD203B41FA5}">
                      <a16:colId xmlns:a16="http://schemas.microsoft.com/office/drawing/2014/main" val="20003"/>
                    </a:ext>
                  </a:extLst>
                </a:gridCol>
                <a:gridCol w="557213">
                  <a:extLst>
                    <a:ext uri="{9D8B030D-6E8A-4147-A177-3AD203B41FA5}">
                      <a16:colId xmlns:a16="http://schemas.microsoft.com/office/drawing/2014/main" val="20004"/>
                    </a:ext>
                  </a:extLst>
                </a:gridCol>
                <a:gridCol w="927100">
                  <a:extLst>
                    <a:ext uri="{9D8B030D-6E8A-4147-A177-3AD203B41FA5}">
                      <a16:colId xmlns:a16="http://schemas.microsoft.com/office/drawing/2014/main" val="20005"/>
                    </a:ext>
                  </a:extLst>
                </a:gridCol>
                <a:gridCol w="369887">
                  <a:extLst>
                    <a:ext uri="{9D8B030D-6E8A-4147-A177-3AD203B41FA5}">
                      <a16:colId xmlns:a16="http://schemas.microsoft.com/office/drawing/2014/main" val="20006"/>
                    </a:ext>
                  </a:extLst>
                </a:gridCol>
                <a:gridCol w="404813">
                  <a:extLst>
                    <a:ext uri="{9D8B030D-6E8A-4147-A177-3AD203B41FA5}">
                      <a16:colId xmlns:a16="http://schemas.microsoft.com/office/drawing/2014/main" val="20007"/>
                    </a:ext>
                  </a:extLst>
                </a:gridCol>
                <a:gridCol w="477837">
                  <a:extLst>
                    <a:ext uri="{9D8B030D-6E8A-4147-A177-3AD203B41FA5}">
                      <a16:colId xmlns:a16="http://schemas.microsoft.com/office/drawing/2014/main" val="20008"/>
                    </a:ext>
                  </a:extLst>
                </a:gridCol>
              </a:tblGrid>
              <a:tr h="342846">
                <a:tc rowSpan="2">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状</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态</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gridSpan="5">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action</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goto</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42846">
                <a:tc vMerge="1">
                  <a:txBody>
                    <a:bodyPr/>
                    <a:lstStyle/>
                    <a:p>
                      <a:endParaRPr lang="zh-CN" altLang="en-US"/>
                    </a:p>
                  </a:txBody>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1"/>
                  </a:ext>
                </a:extLst>
              </a:tr>
              <a:tr h="3360366">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fr-FR"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fr-FR"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fr-FR"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acc</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0" lang="en-US" altLang="zh-CN" sz="1800" b="0"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FFFFFF"/>
                          </a:solidFill>
                          <a:effectLst/>
                          <a:latin typeface="Times New Roman" panose="02020603050405020304" pitchFamily="18" charset="0"/>
                          <a:ea typeface="宋体" panose="02010600030101010101" pitchFamily="2" charset="-122"/>
                          <a:cs typeface="Times New Roman" panose="02020603050405020304" pitchFamily="18" charset="0"/>
                        </a:rPr>
                        <a:t>.</a:t>
                      </a:r>
                      <a:b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18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34263" marB="34263"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373204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rmAutofit fontScale="90000"/>
          </a:bodyPr>
          <a:lstStyle/>
          <a:p>
            <a:pPr eaLnBrk="1" hangingPunct="1"/>
            <a:endParaRPr lang="zh-CN" altLang="zh-CN"/>
          </a:p>
        </p:txBody>
      </p:sp>
      <p:sp>
        <p:nvSpPr>
          <p:cNvPr id="55299" name="Rectangle 3"/>
          <p:cNvSpPr>
            <a:spLocks noGrp="1" noChangeArrowheads="1"/>
          </p:cNvSpPr>
          <p:nvPr>
            <p:ph type="body" idx="1"/>
          </p:nvPr>
        </p:nvSpPr>
        <p:spPr/>
        <p:txBody>
          <a:bodyPr/>
          <a:lstStyle/>
          <a:p>
            <a:pPr eaLnBrk="1" hangingPunct="1"/>
            <a:endParaRPr lang="zh-CN" altLang="zh-CN"/>
          </a:p>
        </p:txBody>
      </p:sp>
      <p:sp>
        <p:nvSpPr>
          <p:cNvPr id="55300" name="Rectangle 4"/>
          <p:cNvSpPr>
            <a:spLocks noChangeArrowheads="1"/>
          </p:cNvSpPr>
          <p:nvPr/>
        </p:nvSpPr>
        <p:spPr bwMode="auto">
          <a:xfrm>
            <a:off x="0" y="66824"/>
            <a:ext cx="184731" cy="461665"/>
          </a:xfrm>
          <a:prstGeom prst="rect">
            <a:avLst/>
          </a:prstGeom>
          <a:solidFill>
            <a:srgbClr val="F3F3F3"/>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180878" name="Group 654"/>
          <p:cNvGraphicFramePr>
            <a:graphicFrameLocks noGrp="1"/>
          </p:cNvGraphicFramePr>
          <p:nvPr>
            <p:extLst>
              <p:ext uri="{D42A27DB-BD31-4B8C-83A1-F6EECF244321}">
                <p14:modId xmlns:p14="http://schemas.microsoft.com/office/powerpoint/2010/main" val="237649718"/>
              </p:ext>
            </p:extLst>
          </p:nvPr>
        </p:nvGraphicFramePr>
        <p:xfrm>
          <a:off x="971550" y="0"/>
          <a:ext cx="6915150" cy="5242624"/>
        </p:xfrm>
        <a:graphic>
          <a:graphicData uri="http://schemas.openxmlformats.org/drawingml/2006/table">
            <a:tbl>
              <a:tblPr/>
              <a:tblGrid>
                <a:gridCol w="793750">
                  <a:extLst>
                    <a:ext uri="{9D8B030D-6E8A-4147-A177-3AD203B41FA5}">
                      <a16:colId xmlns:a16="http://schemas.microsoft.com/office/drawing/2014/main" val="20000"/>
                    </a:ext>
                  </a:extLst>
                </a:gridCol>
                <a:gridCol w="1098550">
                  <a:extLst>
                    <a:ext uri="{9D8B030D-6E8A-4147-A177-3AD203B41FA5}">
                      <a16:colId xmlns:a16="http://schemas.microsoft.com/office/drawing/2014/main" val="20001"/>
                    </a:ext>
                  </a:extLst>
                </a:gridCol>
                <a:gridCol w="1098550">
                  <a:extLst>
                    <a:ext uri="{9D8B030D-6E8A-4147-A177-3AD203B41FA5}">
                      <a16:colId xmlns:a16="http://schemas.microsoft.com/office/drawing/2014/main" val="20002"/>
                    </a:ext>
                  </a:extLst>
                </a:gridCol>
                <a:gridCol w="1098550">
                  <a:extLst>
                    <a:ext uri="{9D8B030D-6E8A-4147-A177-3AD203B41FA5}">
                      <a16:colId xmlns:a16="http://schemas.microsoft.com/office/drawing/2014/main" val="20003"/>
                    </a:ext>
                  </a:extLst>
                </a:gridCol>
                <a:gridCol w="1708150">
                  <a:extLst>
                    <a:ext uri="{9D8B030D-6E8A-4147-A177-3AD203B41FA5}">
                      <a16:colId xmlns:a16="http://schemas.microsoft.com/office/drawing/2014/main" val="20004"/>
                    </a:ext>
                  </a:extLst>
                </a:gridCol>
                <a:gridCol w="1117600">
                  <a:extLst>
                    <a:ext uri="{9D8B030D-6E8A-4147-A177-3AD203B41FA5}">
                      <a16:colId xmlns:a16="http://schemas.microsoft.com/office/drawing/2014/main" val="20005"/>
                    </a:ext>
                  </a:extLst>
                </a:gridCol>
              </a:tblGrid>
              <a:tr h="32005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序号</a:t>
                      </a:r>
                      <a:endParaRPr kumimoji="0" lang="zh-CN" altLang="en-US" sz="1700" b="0" i="0" u="none" strike="noStrike" cap="none" normalizeH="0" baseline="0" dirty="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状态栈</a:t>
                      </a:r>
                      <a:endParaRPr kumimoji="0" lang="zh-CN" altLang="en-US"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符号栈</a:t>
                      </a:r>
                      <a:endParaRPr kumimoji="0" lang="zh-CN" altLang="en-US"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700" b="1" i="0" u="none" strike="noStrike" cap="none" normalizeH="0" baseline="0">
                          <a:ln>
                            <a:noFill/>
                          </a:ln>
                          <a:solidFill>
                            <a:srgbClr val="0000CC"/>
                          </a:solidFill>
                          <a:effectLst/>
                          <a:latin typeface="Times New Roman" pitchFamily="18" charset="0"/>
                          <a:ea typeface="宋体" pitchFamily="2" charset="-122"/>
                          <a:cs typeface="Times New Roman" pitchFamily="18" charset="0"/>
                        </a:rPr>
                        <a:t>语义栈</a:t>
                      </a:r>
                      <a:endParaRPr kumimoji="0" lang="zh-CN" altLang="en-US" sz="1700" b="1" i="0" u="none" strike="noStrike" cap="none" normalizeH="0" baseline="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归约产生式</a:t>
                      </a:r>
                      <a:endParaRPr kumimoji="0" lang="zh-CN" altLang="en-US"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输入串</a:t>
                      </a:r>
                      <a:endParaRPr kumimoji="0" lang="zh-CN" altLang="en-US"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0"/>
                  </a:ext>
                </a:extLst>
              </a:tr>
              <a:tr h="3200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1" i="0" u="none" strike="noStrike" cap="none" normalizeH="0" baseline="0">
                          <a:ln>
                            <a:noFill/>
                          </a:ln>
                          <a:solidFill>
                            <a:srgbClr val="0000CC"/>
                          </a:solidFill>
                          <a:effectLst/>
                          <a:latin typeface="Times New Roman" pitchFamily="18" charset="0"/>
                          <a:ea typeface="宋体" pitchFamily="2" charset="-122"/>
                          <a:cs typeface="Times New Roman" pitchFamily="18" charset="0"/>
                        </a:rPr>
                        <a:t>-</a:t>
                      </a:r>
                      <a:endParaRPr kumimoji="0" lang="en-US" altLang="zh-CN" sz="1700" b="1" i="0" u="none" strike="noStrike" cap="none" normalizeH="0" baseline="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3*5+4#</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1"/>
                  </a:ext>
                </a:extLst>
              </a:tr>
              <a:tr h="3200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05</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7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i</a:t>
                      </a:r>
                      <a:endParaRPr kumimoji="0" lang="en-US" altLang="zh-CN" sz="1700" b="0" i="0" u="none" strike="noStrike" cap="none" normalizeH="0" baseline="0" dirty="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1" i="0" u="none" strike="noStrike" cap="none" normalizeH="0" baseline="0" dirty="0">
                          <a:ln>
                            <a:noFill/>
                          </a:ln>
                          <a:solidFill>
                            <a:srgbClr val="0000CC"/>
                          </a:solidFill>
                          <a:effectLst/>
                          <a:latin typeface="Times New Roman" pitchFamily="18" charset="0"/>
                          <a:ea typeface="宋体" pitchFamily="2" charset="-122"/>
                          <a:cs typeface="Times New Roman" pitchFamily="18" charset="0"/>
                        </a:rPr>
                        <a:t>-3</a:t>
                      </a:r>
                      <a:endParaRPr kumimoji="0" lang="en-US" altLang="zh-CN" sz="1700" b="1" i="0" u="none" strike="noStrike" cap="none" normalizeH="0" baseline="0" dirty="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*5+4#</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2"/>
                  </a:ext>
                </a:extLst>
              </a:tr>
              <a:tr h="3200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03</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1" i="0" u="none" strike="noStrike" cap="none" normalizeH="0" baseline="0">
                          <a:ln>
                            <a:noFill/>
                          </a:ln>
                          <a:solidFill>
                            <a:srgbClr val="0000CC"/>
                          </a:solidFill>
                          <a:effectLst/>
                          <a:latin typeface="Times New Roman" pitchFamily="18" charset="0"/>
                          <a:ea typeface="宋体" pitchFamily="2" charset="-122"/>
                          <a:cs typeface="Times New Roman" pitchFamily="18" charset="0"/>
                        </a:rPr>
                        <a:t>-3</a:t>
                      </a:r>
                      <a:endParaRPr kumimoji="0" lang="en-US" altLang="zh-CN" sz="1700" b="1" i="0" u="none" strike="noStrike" cap="none" normalizeH="0" baseline="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a:t>
                      </a:r>
                      <a:endPar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*5+4#</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3"/>
                  </a:ext>
                </a:extLst>
              </a:tr>
              <a:tr h="3200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1" i="0" u="none" strike="noStrike" cap="none" normalizeH="0" baseline="0">
                          <a:ln>
                            <a:noFill/>
                          </a:ln>
                          <a:solidFill>
                            <a:srgbClr val="0000CC"/>
                          </a:solidFill>
                          <a:effectLst/>
                          <a:latin typeface="Times New Roman" pitchFamily="18" charset="0"/>
                          <a:ea typeface="宋体" pitchFamily="2" charset="-122"/>
                          <a:cs typeface="Times New Roman" pitchFamily="18" charset="0"/>
                        </a:rPr>
                        <a:t>-3</a:t>
                      </a:r>
                      <a:endParaRPr kumimoji="0" lang="en-US" altLang="zh-CN" sz="1700" b="1" i="0" u="none" strike="noStrike" cap="none" normalizeH="0" baseline="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endPar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*5+4#</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4"/>
                  </a:ext>
                </a:extLst>
              </a:tr>
              <a:tr h="3200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027</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1" i="0" u="none" strike="noStrike" cap="none" normalizeH="0" baseline="0">
                          <a:ln>
                            <a:noFill/>
                          </a:ln>
                          <a:solidFill>
                            <a:srgbClr val="0000CC"/>
                          </a:solidFill>
                          <a:effectLst/>
                          <a:latin typeface="Times New Roman" pitchFamily="18" charset="0"/>
                          <a:ea typeface="宋体" pitchFamily="2" charset="-122"/>
                          <a:cs typeface="Times New Roman" pitchFamily="18" charset="0"/>
                        </a:rPr>
                        <a:t>-3-</a:t>
                      </a:r>
                      <a:endParaRPr kumimoji="0" lang="en-US" altLang="zh-CN" sz="1700" b="1" i="0" u="none" strike="noStrike" cap="none" normalizeH="0" baseline="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5+4#</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5"/>
                  </a:ext>
                </a:extLst>
              </a:tr>
              <a:tr h="3200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0275</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altLang="zh-CN" sz="17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i</a:t>
                      </a:r>
                      <a:endParaRPr kumimoji="0" lang="en-US" altLang="zh-CN" sz="1700" b="0" i="0" u="none" strike="noStrike" cap="none" normalizeH="0" baseline="0" dirty="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1" i="0" u="none" strike="noStrike" cap="none" normalizeH="0" baseline="0" dirty="0">
                          <a:ln>
                            <a:noFill/>
                          </a:ln>
                          <a:solidFill>
                            <a:srgbClr val="0000CC"/>
                          </a:solidFill>
                          <a:effectLst/>
                          <a:latin typeface="Times New Roman" pitchFamily="18" charset="0"/>
                          <a:ea typeface="宋体" pitchFamily="2" charset="-122"/>
                          <a:cs typeface="Times New Roman" pitchFamily="18" charset="0"/>
                        </a:rPr>
                        <a:t>-3-5</a:t>
                      </a:r>
                      <a:endParaRPr kumimoji="0" lang="en-US" altLang="zh-CN" sz="1700" b="1" i="0" u="none" strike="noStrike" cap="none" normalizeH="0" baseline="0" dirty="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6"/>
                  </a:ext>
                </a:extLst>
              </a:tr>
              <a:tr h="3200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027</a:t>
                      </a:r>
                      <a:r>
                        <a:rPr kumimoji="0" lang="en-US" altLang="zh-CN" sz="1700" b="0" i="0" u="sng" strike="noStrike" cap="none" normalizeH="0" baseline="0">
                          <a:ln>
                            <a:noFill/>
                          </a:ln>
                          <a:solidFill>
                            <a:schemeClr val="tx1"/>
                          </a:solidFill>
                          <a:effectLst/>
                          <a:latin typeface="Times New Roman" pitchFamily="18" charset="0"/>
                          <a:ea typeface="宋体" pitchFamily="2" charset="-122"/>
                          <a:cs typeface="Times New Roman" pitchFamily="18" charset="0"/>
                        </a:rPr>
                        <a:t>10</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#T*F</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1" i="0" u="none" strike="noStrike" cap="none" normalizeH="0" baseline="0" dirty="0">
                          <a:ln>
                            <a:noFill/>
                          </a:ln>
                          <a:solidFill>
                            <a:srgbClr val="0000CC"/>
                          </a:solidFill>
                          <a:effectLst/>
                          <a:latin typeface="Times New Roman" pitchFamily="18" charset="0"/>
                          <a:ea typeface="宋体" pitchFamily="2" charset="-122"/>
                          <a:cs typeface="Times New Roman" pitchFamily="18" charset="0"/>
                        </a:rPr>
                        <a:t>-3-5</a:t>
                      </a:r>
                      <a:endParaRPr kumimoji="0" lang="en-US" altLang="zh-CN" sz="1700" b="1" i="0" u="none" strike="noStrike" cap="none" normalizeH="0" baseline="0" dirty="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a:t>
                      </a:r>
                      <a:endPar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7"/>
                  </a:ext>
                </a:extLst>
              </a:tr>
              <a:tr h="3200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02</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1" i="0" u="none" strike="noStrike" cap="none" normalizeH="0" baseline="0" dirty="0">
                          <a:ln>
                            <a:noFill/>
                          </a:ln>
                          <a:solidFill>
                            <a:srgbClr val="0000CC"/>
                          </a:solidFill>
                          <a:effectLst/>
                          <a:latin typeface="Times New Roman" pitchFamily="18" charset="0"/>
                          <a:ea typeface="宋体" pitchFamily="2" charset="-122"/>
                          <a:cs typeface="Times New Roman" pitchFamily="18" charset="0"/>
                        </a:rPr>
                        <a:t>-15</a:t>
                      </a:r>
                      <a:endParaRPr kumimoji="0" lang="en-US" altLang="zh-CN" sz="1700" b="1" i="0" u="none" strike="noStrike" cap="none" normalizeH="0" baseline="0" dirty="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T*F</a:t>
                      </a:r>
                      <a:endPar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8"/>
                  </a:ext>
                </a:extLst>
              </a:tr>
              <a:tr h="3200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9</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1" i="0" u="none" strike="noStrike" cap="none" normalizeH="0" baseline="0" dirty="0">
                          <a:ln>
                            <a:noFill/>
                          </a:ln>
                          <a:solidFill>
                            <a:srgbClr val="0000CC"/>
                          </a:solidFill>
                          <a:effectLst/>
                          <a:latin typeface="Times New Roman" pitchFamily="18" charset="0"/>
                          <a:ea typeface="宋体" pitchFamily="2" charset="-122"/>
                          <a:cs typeface="Times New Roman" pitchFamily="18" charset="0"/>
                        </a:rPr>
                        <a:t>-15</a:t>
                      </a:r>
                      <a:endParaRPr kumimoji="0" lang="en-US" altLang="zh-CN" sz="1700" b="1" i="0" u="none" strike="noStrike" cap="none" normalizeH="0" baseline="0" dirty="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endPar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09"/>
                  </a:ext>
                </a:extLst>
              </a:tr>
              <a:tr h="3200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016</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1" i="0" u="none" strike="noStrike" cap="none" normalizeH="0" baseline="0" dirty="0">
                          <a:ln>
                            <a:noFill/>
                          </a:ln>
                          <a:solidFill>
                            <a:srgbClr val="0000CC"/>
                          </a:solidFill>
                          <a:effectLst/>
                          <a:latin typeface="Times New Roman" pitchFamily="18" charset="0"/>
                          <a:ea typeface="宋体" pitchFamily="2" charset="-122"/>
                          <a:cs typeface="Times New Roman" pitchFamily="18" charset="0"/>
                        </a:rPr>
                        <a:t>-15-</a:t>
                      </a:r>
                      <a:endParaRPr kumimoji="0" lang="en-US" altLang="zh-CN" sz="1700" b="1" i="0" u="none" strike="noStrike" cap="none" normalizeH="0" baseline="0" dirty="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10"/>
                  </a:ext>
                </a:extLst>
              </a:tr>
              <a:tr h="3200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11</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0165</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7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E+i</a:t>
                      </a:r>
                      <a:endParaRPr kumimoji="0" lang="en-US" altLang="zh-CN" sz="1700" b="0" i="0" u="none" strike="noStrike" cap="none" normalizeH="0" baseline="0" dirty="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1" i="0" u="none" strike="noStrike" cap="none" normalizeH="0" baseline="0">
                          <a:ln>
                            <a:noFill/>
                          </a:ln>
                          <a:solidFill>
                            <a:srgbClr val="0000CC"/>
                          </a:solidFill>
                          <a:effectLst/>
                          <a:latin typeface="Times New Roman" pitchFamily="18" charset="0"/>
                          <a:ea typeface="宋体" pitchFamily="2" charset="-122"/>
                          <a:cs typeface="Times New Roman" pitchFamily="18" charset="0"/>
                        </a:rPr>
                        <a:t>-15-4</a:t>
                      </a:r>
                      <a:endParaRPr kumimoji="0" lang="en-US" altLang="zh-CN" sz="1700" b="1" i="0" u="none" strike="noStrike" cap="none" normalizeH="0" baseline="0" dirty="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11"/>
                  </a:ext>
                </a:extLst>
              </a:tr>
              <a:tr h="3200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0163</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#E+F</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1" i="0" u="none" strike="noStrike" cap="none" normalizeH="0" baseline="0" dirty="0">
                          <a:ln>
                            <a:noFill/>
                          </a:ln>
                          <a:solidFill>
                            <a:srgbClr val="0000CC"/>
                          </a:solidFill>
                          <a:effectLst/>
                          <a:latin typeface="Times New Roman" pitchFamily="18" charset="0"/>
                          <a:ea typeface="宋体" pitchFamily="2" charset="-122"/>
                          <a:cs typeface="Times New Roman" pitchFamily="18" charset="0"/>
                        </a:rPr>
                        <a:t>-15-4</a:t>
                      </a:r>
                      <a:endParaRPr kumimoji="0" lang="en-US" altLang="zh-CN" sz="1700" b="1" i="0" u="none" strike="noStrike" cap="none" normalizeH="0" baseline="0" dirty="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a:t>
                      </a:r>
                      <a:endPar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12"/>
                  </a:ext>
                </a:extLst>
              </a:tr>
              <a:tr h="3200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13</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0169</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#E+T</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1" i="0" u="none" strike="noStrike" cap="none" normalizeH="0" baseline="0">
                          <a:ln>
                            <a:noFill/>
                          </a:ln>
                          <a:solidFill>
                            <a:srgbClr val="0000CC"/>
                          </a:solidFill>
                          <a:effectLst/>
                          <a:latin typeface="Times New Roman" pitchFamily="18" charset="0"/>
                          <a:ea typeface="宋体" pitchFamily="2" charset="-122"/>
                          <a:cs typeface="Times New Roman" pitchFamily="18" charset="0"/>
                        </a:rPr>
                        <a:t>-15-4</a:t>
                      </a:r>
                      <a:endParaRPr kumimoji="0" lang="en-US" altLang="zh-CN" sz="1700" b="1" i="0" u="none" strike="noStrike" cap="none" normalizeH="0" baseline="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endPar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13"/>
                  </a:ext>
                </a:extLst>
              </a:tr>
              <a:tr h="3200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14</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1" i="0" u="none" strike="noStrike" cap="none" normalizeH="0" baseline="0">
                          <a:ln>
                            <a:noFill/>
                          </a:ln>
                          <a:solidFill>
                            <a:srgbClr val="0000CC"/>
                          </a:solidFill>
                          <a:effectLst/>
                          <a:latin typeface="Times New Roman" pitchFamily="18" charset="0"/>
                          <a:ea typeface="宋体" pitchFamily="2" charset="-122"/>
                          <a:cs typeface="Times New Roman" pitchFamily="18" charset="0"/>
                        </a:rPr>
                        <a:t>-19</a:t>
                      </a:r>
                      <a:endParaRPr kumimoji="0" lang="en-US" altLang="zh-CN" sz="1700" b="1" i="0" u="none" strike="noStrike" cap="none" normalizeH="0" baseline="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E+T</a:t>
                      </a:r>
                      <a:endPar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14"/>
                  </a:ext>
                </a:extLst>
              </a:tr>
              <a:tr h="3200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15</a:t>
                      </a:r>
                      <a:endParaRPr kumimoji="0" lang="en-US"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700" b="1" i="0" u="none" strike="noStrike" cap="none" normalizeH="0" baseline="0">
                        <a:ln>
                          <a:noFill/>
                        </a:ln>
                        <a:solidFill>
                          <a:srgbClr val="0000CC"/>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7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接受</a:t>
                      </a:r>
                      <a:endParaRPr kumimoji="0" lang="zh-CN" altLang="en-US"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700" b="0" i="0" u="none" strike="noStrike" cap="none" normalizeH="0" baseline="0">
                        <a:ln>
                          <a:noFill/>
                        </a:ln>
                        <a:solidFill>
                          <a:schemeClr val="tx1"/>
                        </a:solidFill>
                        <a:effectLst/>
                        <a:latin typeface="Arial" charset="0"/>
                        <a:ea typeface="宋体" pitchFamily="2" charset="-122"/>
                      </a:endParaRPr>
                    </a:p>
                  </a:txBody>
                  <a:tcPr marT="34292" marB="34292"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3F3F3"/>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23713259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normAutofit fontScale="90000"/>
          </a:bodyPr>
          <a:lstStyle/>
          <a:p>
            <a:pPr eaLnBrk="1" hangingPunct="1"/>
            <a:r>
              <a:rPr lang="zh-CN" altLang="en-US" sz="4000" b="1">
                <a:ea typeface="楷体_GB2312" pitchFamily="49" charset="-122"/>
              </a:rPr>
              <a:t>结论</a:t>
            </a:r>
          </a:p>
        </p:txBody>
      </p:sp>
      <p:sp>
        <p:nvSpPr>
          <p:cNvPr id="56323" name="Rectangle 3"/>
          <p:cNvSpPr>
            <a:spLocks noGrp="1" noChangeArrowheads="1"/>
          </p:cNvSpPr>
          <p:nvPr>
            <p:ph type="body" idx="1"/>
          </p:nvPr>
        </p:nvSpPr>
        <p:spPr>
          <a:xfrm>
            <a:off x="468313" y="1221581"/>
            <a:ext cx="8229600" cy="2940844"/>
          </a:xfrm>
        </p:spPr>
        <p:txBody>
          <a:bodyPr>
            <a:normAutofit lnSpcReduction="10000"/>
          </a:bodyPr>
          <a:lstStyle/>
          <a:p>
            <a:pPr eaLnBrk="1" hangingPunct="1"/>
            <a:r>
              <a:rPr lang="zh-CN" altLang="en-US" sz="2800" dirty="0"/>
              <a:t>在刚才的翻译过程中有如下特点：</a:t>
            </a:r>
          </a:p>
          <a:p>
            <a:pPr lvl="1" eaLnBrk="1" hangingPunct="1"/>
            <a:r>
              <a:rPr lang="zh-CN" altLang="en-US" sz="2400" b="1" dirty="0">
                <a:solidFill>
                  <a:srgbClr val="0033CC"/>
                </a:solidFill>
              </a:rPr>
              <a:t>句柄归约在先，语义动作在后。</a:t>
            </a:r>
          </a:p>
          <a:p>
            <a:pPr lvl="1" eaLnBrk="1" hangingPunct="1"/>
            <a:r>
              <a:rPr lang="zh-CN" altLang="en-US" sz="2400" b="1" dirty="0"/>
              <a:t>归约时，栈内句柄各符号的语义信息与该句柄</a:t>
            </a:r>
            <a:r>
              <a:rPr lang="zh-CN" altLang="en-US" sz="2400" b="1" dirty="0">
                <a:solidFill>
                  <a:srgbClr val="0033CC"/>
                </a:solidFill>
              </a:rPr>
              <a:t>同时出栈</a:t>
            </a:r>
            <a:r>
              <a:rPr lang="zh-CN" altLang="en-US" sz="2400" b="1" dirty="0"/>
              <a:t>，整个句柄所表示的语义信息则赋给相应产生式左部非终结符的语义变量，并让该非终结符及其语义变量</a:t>
            </a:r>
            <a:r>
              <a:rPr lang="zh-CN" altLang="en-US" sz="2400" b="1" dirty="0">
                <a:solidFill>
                  <a:srgbClr val="0033CC"/>
                </a:solidFill>
              </a:rPr>
              <a:t>同时入栈</a:t>
            </a:r>
            <a:r>
              <a:rPr lang="zh-CN" altLang="en-US" sz="2400" b="1" dirty="0"/>
              <a:t>。</a:t>
            </a:r>
          </a:p>
          <a:p>
            <a:pPr lvl="1" eaLnBrk="1" hangingPunct="1"/>
            <a:r>
              <a:rPr lang="zh-CN" altLang="en-US" sz="2400" b="1" dirty="0"/>
              <a:t>为了在某处调用语义动作，就必须先归约，因此，有时需要</a:t>
            </a:r>
            <a:r>
              <a:rPr lang="zh-CN" altLang="en-US" sz="2400" b="1" dirty="0">
                <a:solidFill>
                  <a:srgbClr val="0033CC"/>
                </a:solidFill>
              </a:rPr>
              <a:t>改写文法</a:t>
            </a:r>
            <a:r>
              <a:rPr lang="zh-CN" altLang="en-US" sz="2400" b="1" dirty="0"/>
              <a:t>。</a:t>
            </a:r>
          </a:p>
        </p:txBody>
      </p:sp>
    </p:spTree>
    <p:extLst>
      <p:ext uri="{BB962C8B-B14F-4D97-AF65-F5344CB8AC3E}">
        <p14:creationId xmlns:p14="http://schemas.microsoft.com/office/powerpoint/2010/main" val="21620662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9CD8B3C-D943-7A52-A7E5-AA63C896A9C9}"/>
              </a:ext>
            </a:extLst>
          </p:cNvPr>
          <p:cNvSpPr>
            <a:spLocks noGrp="1"/>
          </p:cNvSpPr>
          <p:nvPr>
            <p:ph idx="1"/>
          </p:nvPr>
        </p:nvSpPr>
        <p:spPr>
          <a:xfrm>
            <a:off x="457200" y="1110997"/>
            <a:ext cx="8229600" cy="1100713"/>
          </a:xfrm>
        </p:spPr>
        <p:txBody>
          <a:bodyPr>
            <a:normAutofit/>
          </a:bodyPr>
          <a:lstStyle/>
          <a:p>
            <a:pPr>
              <a:buFont typeface="Wingdings" panose="05000000000000000000" pitchFamily="2" charset="2"/>
              <a:buChar char="Ø"/>
            </a:pPr>
            <a:r>
              <a:rPr lang="zh-CN" altLang="en-US" sz="2000" b="0" i="0" dirty="0">
                <a:solidFill>
                  <a:srgbClr val="000000"/>
                </a:solidFill>
                <a:effectLst/>
                <a:latin typeface="+mn-ea"/>
                <a:ea typeface="+mn-ea"/>
              </a:rPr>
              <a:t>中间代码的形式有很多种，逆波兰式也是其中的一种。还有四元式、三元式、抽象语法树、有向无环图等。</a:t>
            </a:r>
            <a:endParaRPr lang="zh-CN" altLang="en-US" sz="2000" dirty="0">
              <a:latin typeface="+mn-ea"/>
              <a:ea typeface="+mn-ea"/>
            </a:endParaRPr>
          </a:p>
        </p:txBody>
      </p:sp>
      <p:sp>
        <p:nvSpPr>
          <p:cNvPr id="3" name="标题 2">
            <a:extLst>
              <a:ext uri="{FF2B5EF4-FFF2-40B4-BE49-F238E27FC236}">
                <a16:creationId xmlns:a16="http://schemas.microsoft.com/office/drawing/2014/main" id="{F2243BCC-3262-F3A2-D260-C109D467E9B6}"/>
              </a:ext>
            </a:extLst>
          </p:cNvPr>
          <p:cNvSpPr>
            <a:spLocks noGrp="1"/>
          </p:cNvSpPr>
          <p:nvPr>
            <p:ph type="title"/>
          </p:nvPr>
        </p:nvSpPr>
        <p:spPr/>
        <p:txBody>
          <a:bodyPr>
            <a:normAutofit fontScale="90000"/>
          </a:bodyPr>
          <a:lstStyle/>
          <a:p>
            <a:endParaRPr lang="zh-CN" altLang="en-US" dirty="0"/>
          </a:p>
        </p:txBody>
      </p:sp>
      <p:sp>
        <p:nvSpPr>
          <p:cNvPr id="5" name="文本框 4">
            <a:extLst>
              <a:ext uri="{FF2B5EF4-FFF2-40B4-BE49-F238E27FC236}">
                <a16:creationId xmlns:a16="http://schemas.microsoft.com/office/drawing/2014/main" id="{A2DE3A89-E308-8394-8AAE-FC2263634797}"/>
              </a:ext>
            </a:extLst>
          </p:cNvPr>
          <p:cNvSpPr txBox="1"/>
          <p:nvPr/>
        </p:nvSpPr>
        <p:spPr>
          <a:xfrm>
            <a:off x="611560" y="2176166"/>
            <a:ext cx="7926052" cy="707886"/>
          </a:xfrm>
          <a:prstGeom prst="rect">
            <a:avLst/>
          </a:prstGeom>
          <a:noFill/>
        </p:spPr>
        <p:txBody>
          <a:bodyPr wrap="square">
            <a:spAutoFit/>
          </a:bodyPr>
          <a:lstStyle/>
          <a:p>
            <a:pPr marL="342900" indent="-342900">
              <a:buFont typeface="Wingdings" panose="05000000000000000000" pitchFamily="2" charset="2"/>
              <a:buChar char="Ø"/>
            </a:pPr>
            <a:r>
              <a:rPr lang="zh-CN" altLang="en-US" sz="2000" dirty="0">
                <a:latin typeface="+mn-ea"/>
              </a:rPr>
              <a:t>属性文法的定义是在</a:t>
            </a:r>
            <a:r>
              <a:rPr lang="en-US" altLang="zh-CN" sz="2000" dirty="0">
                <a:latin typeface="+mn-ea"/>
              </a:rPr>
              <a:t>_____</a:t>
            </a:r>
            <a:r>
              <a:rPr lang="zh-CN" altLang="en-US" sz="2000" dirty="0">
                <a:latin typeface="+mn-ea"/>
              </a:rPr>
              <a:t>的基础上为每个</a:t>
            </a:r>
            <a:r>
              <a:rPr lang="en-US" altLang="zh-CN" sz="2000" dirty="0">
                <a:latin typeface="+mn-ea"/>
              </a:rPr>
              <a:t>_____</a:t>
            </a:r>
            <a:r>
              <a:rPr lang="zh-CN" altLang="en-US" sz="2000" dirty="0">
                <a:latin typeface="+mn-ea"/>
              </a:rPr>
              <a:t>配备若干个相关的“值”</a:t>
            </a:r>
            <a:r>
              <a:rPr lang="en-US" altLang="zh-CN" sz="2000" dirty="0">
                <a:latin typeface="+mn-ea"/>
              </a:rPr>
              <a:t>(</a:t>
            </a:r>
            <a:r>
              <a:rPr lang="zh-CN" altLang="en-US" sz="2000" dirty="0">
                <a:latin typeface="+mn-ea"/>
              </a:rPr>
              <a:t>称为属性</a:t>
            </a:r>
            <a:r>
              <a:rPr lang="en-US" altLang="zh-CN" sz="2000" dirty="0">
                <a:latin typeface="+mn-ea"/>
              </a:rPr>
              <a:t>)</a:t>
            </a:r>
            <a:endParaRPr lang="zh-CN" altLang="en-US" sz="2000" dirty="0">
              <a:latin typeface="+mn-ea"/>
            </a:endParaRPr>
          </a:p>
        </p:txBody>
      </p:sp>
      <p:sp>
        <p:nvSpPr>
          <p:cNvPr id="7" name="文本框 6">
            <a:extLst>
              <a:ext uri="{FF2B5EF4-FFF2-40B4-BE49-F238E27FC236}">
                <a16:creationId xmlns:a16="http://schemas.microsoft.com/office/drawing/2014/main" id="{F0C7ADDE-C3E4-8EB0-B238-01CF4337CB10}"/>
              </a:ext>
            </a:extLst>
          </p:cNvPr>
          <p:cNvSpPr txBox="1"/>
          <p:nvPr/>
        </p:nvSpPr>
        <p:spPr>
          <a:xfrm>
            <a:off x="611560" y="3149002"/>
            <a:ext cx="7926052" cy="707886"/>
          </a:xfrm>
          <a:prstGeom prst="rect">
            <a:avLst/>
          </a:prstGeom>
          <a:noFill/>
        </p:spPr>
        <p:txBody>
          <a:bodyPr wrap="square">
            <a:spAutoFit/>
          </a:bodyPr>
          <a:lstStyle/>
          <a:p>
            <a:pPr marL="285750" indent="-285750">
              <a:buFont typeface="Wingdings" panose="05000000000000000000" pitchFamily="2" charset="2"/>
              <a:buChar char="Ø"/>
            </a:pPr>
            <a:r>
              <a:rPr lang="zh-CN" altLang="en-US" sz="2000" b="0" i="0" dirty="0">
                <a:solidFill>
                  <a:srgbClr val="000000"/>
                </a:solidFill>
                <a:effectLst/>
                <a:latin typeface="+mn-ea"/>
              </a:rPr>
              <a:t>只要在属性文法中定义了每个产生式的语义规则，就可以和语法分析同步进行语法制导的翻译。</a:t>
            </a:r>
            <a:endParaRPr lang="zh-CN" altLang="en-US" sz="2000" dirty="0">
              <a:latin typeface="+mn-ea"/>
            </a:endParaRPr>
          </a:p>
        </p:txBody>
      </p:sp>
    </p:spTree>
    <p:extLst>
      <p:ext uri="{BB962C8B-B14F-4D97-AF65-F5344CB8AC3E}">
        <p14:creationId xmlns:p14="http://schemas.microsoft.com/office/powerpoint/2010/main" val="578464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02840" y="3147814"/>
            <a:ext cx="8229600" cy="1609683"/>
          </a:xfrm>
        </p:spPr>
        <p:txBody>
          <a:bodyPr/>
          <a:lstStyle/>
          <a:p>
            <a:r>
              <a:rPr lang="en-US" altLang="zh-CN" dirty="0"/>
              <a:t>L-</a:t>
            </a:r>
            <a:r>
              <a:rPr lang="zh-CN" altLang="zh-CN" dirty="0"/>
              <a:t>属性文法从上往下进行一遍扫描就可以完成属性的计算。</a:t>
            </a:r>
            <a:endParaRPr lang="en-US" altLang="zh-CN" dirty="0"/>
          </a:p>
          <a:p>
            <a:r>
              <a:rPr lang="zh-CN" altLang="en-US" dirty="0"/>
              <a:t>适合与自上而下语法分析，如递归下降、</a:t>
            </a:r>
            <a:r>
              <a:rPr lang="en-US" altLang="zh-CN" dirty="0"/>
              <a:t>LL(1)</a:t>
            </a:r>
            <a:r>
              <a:rPr lang="zh-CN" altLang="en-US" dirty="0"/>
              <a:t>预测分析方法结合，</a:t>
            </a:r>
            <a:r>
              <a:rPr lang="zh-CN" altLang="zh-CN" dirty="0"/>
              <a:t>在</a:t>
            </a:r>
            <a:r>
              <a:rPr lang="zh-CN" altLang="en-US" dirty="0"/>
              <a:t>利用产生式推导，匹配成功后</a:t>
            </a:r>
            <a:r>
              <a:rPr lang="zh-CN" altLang="zh-CN" dirty="0"/>
              <a:t>进行属性计算</a:t>
            </a:r>
            <a:r>
              <a:rPr lang="zh-CN" altLang="en-US" dirty="0"/>
              <a:t>。</a:t>
            </a:r>
            <a:endParaRPr lang="en-US" altLang="zh-CN" dirty="0"/>
          </a:p>
          <a:p>
            <a:endParaRPr lang="zh-CN" altLang="en-US" dirty="0"/>
          </a:p>
        </p:txBody>
      </p:sp>
      <p:sp>
        <p:nvSpPr>
          <p:cNvPr id="3" name="标题 2"/>
          <p:cNvSpPr>
            <a:spLocks noGrp="1"/>
          </p:cNvSpPr>
          <p:nvPr>
            <p:ph type="title"/>
          </p:nvPr>
        </p:nvSpPr>
        <p:spPr/>
        <p:txBody>
          <a:bodyPr>
            <a:normAutofit fontScale="90000"/>
          </a:bodyPr>
          <a:lstStyle/>
          <a:p>
            <a:r>
              <a:rPr lang="en-US" altLang="zh-CN" kern="100" dirty="0">
                <a:latin typeface="Times New Roman" panose="02020603050405020304" pitchFamily="18" charset="0"/>
              </a:rPr>
              <a:t>L-</a:t>
            </a:r>
            <a:r>
              <a:rPr lang="zh-CN" altLang="zh-CN" kern="100" dirty="0">
                <a:latin typeface="Times New Roman" panose="02020603050405020304" pitchFamily="18" charset="0"/>
                <a:cs typeface="Times New Roman" panose="02020603050405020304" pitchFamily="18" charset="0"/>
              </a:rPr>
              <a:t>属性文法的自上而下的翻译</a:t>
            </a:r>
            <a:endParaRPr lang="zh-CN" altLang="en-US" dirty="0"/>
          </a:p>
        </p:txBody>
      </p:sp>
      <p:sp>
        <p:nvSpPr>
          <p:cNvPr id="4" name="内容占位符 2"/>
          <p:cNvSpPr txBox="1">
            <a:spLocks/>
          </p:cNvSpPr>
          <p:nvPr/>
        </p:nvSpPr>
        <p:spPr>
          <a:xfrm>
            <a:off x="251520" y="771550"/>
            <a:ext cx="8280920" cy="2124236"/>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nSpc>
                <a:spcPct val="120000"/>
              </a:lnSpc>
              <a:spcBef>
                <a:spcPts val="0"/>
              </a:spcBef>
            </a:pPr>
            <a:r>
              <a:rPr lang="zh-CN" altLang="zh-CN" sz="2200" dirty="0"/>
              <a:t>如果对于文法中的每个产生式</a:t>
            </a:r>
            <a:r>
              <a:rPr lang="en-US" altLang="zh-CN" sz="2800" b="1" dirty="0">
                <a:solidFill>
                  <a:srgbClr val="FF0000"/>
                </a:solidFill>
              </a:rPr>
              <a:t>A</a:t>
            </a:r>
            <a:r>
              <a:rPr lang="zh-CN" altLang="zh-CN" sz="2800" b="1" dirty="0">
                <a:solidFill>
                  <a:srgbClr val="FF0000"/>
                </a:solidFill>
              </a:rPr>
              <a:t>→</a:t>
            </a:r>
            <a:r>
              <a:rPr lang="en-US" altLang="zh-CN" sz="2800" b="1" dirty="0">
                <a:solidFill>
                  <a:srgbClr val="FF0000"/>
                </a:solidFill>
              </a:rPr>
              <a:t>X</a:t>
            </a:r>
            <a:r>
              <a:rPr lang="en-US" altLang="zh-CN" sz="2800" b="1" baseline="-25000" dirty="0">
                <a:solidFill>
                  <a:srgbClr val="FF0000"/>
                </a:solidFill>
              </a:rPr>
              <a:t>1</a:t>
            </a:r>
            <a:r>
              <a:rPr lang="en-US" altLang="zh-CN" sz="2800" b="1" dirty="0">
                <a:solidFill>
                  <a:srgbClr val="FF0000"/>
                </a:solidFill>
              </a:rPr>
              <a:t>X</a:t>
            </a:r>
            <a:r>
              <a:rPr lang="en-US" altLang="zh-CN" sz="2800" b="1" baseline="-25000" dirty="0">
                <a:solidFill>
                  <a:srgbClr val="FF0000"/>
                </a:solidFill>
              </a:rPr>
              <a:t>2</a:t>
            </a:r>
            <a:r>
              <a:rPr lang="en-US" altLang="zh-CN" sz="2800" b="1" dirty="0">
                <a:solidFill>
                  <a:srgbClr val="FF0000"/>
                </a:solidFill>
              </a:rPr>
              <a:t>……</a:t>
            </a:r>
            <a:r>
              <a:rPr lang="en-US" altLang="zh-CN" sz="2800" b="1" dirty="0" err="1">
                <a:solidFill>
                  <a:srgbClr val="FF0000"/>
                </a:solidFill>
              </a:rPr>
              <a:t>X</a:t>
            </a:r>
            <a:r>
              <a:rPr lang="en-US" altLang="zh-CN" sz="2800" b="1" baseline="-25000" dirty="0" err="1">
                <a:solidFill>
                  <a:srgbClr val="FF0000"/>
                </a:solidFill>
              </a:rPr>
              <a:t>n</a:t>
            </a:r>
            <a:r>
              <a:rPr lang="zh-CN" altLang="zh-CN" sz="2200" dirty="0"/>
              <a:t>，其每个语义规则中的每个属性或者是</a:t>
            </a:r>
            <a:r>
              <a:rPr lang="zh-CN" altLang="zh-CN" sz="2200" dirty="0">
                <a:solidFill>
                  <a:srgbClr val="FF0000"/>
                </a:solidFill>
              </a:rPr>
              <a:t>综合属性</a:t>
            </a:r>
            <a:r>
              <a:rPr lang="zh-CN" altLang="zh-CN" sz="2200" dirty="0"/>
              <a:t>，或者是</a:t>
            </a:r>
            <a:r>
              <a:rPr lang="en-US" altLang="zh-CN" sz="2200" dirty="0" err="1"/>
              <a:t>X</a:t>
            </a:r>
            <a:r>
              <a:rPr lang="en-US" altLang="zh-CN" sz="2200" baseline="-25000" dirty="0" err="1"/>
              <a:t>j</a:t>
            </a:r>
            <a:r>
              <a:rPr lang="zh-CN" altLang="zh-CN" sz="2200" dirty="0"/>
              <a:t>（</a:t>
            </a:r>
            <a:r>
              <a:rPr lang="en-US" altLang="zh-CN" sz="2200" dirty="0"/>
              <a:t>1</a:t>
            </a:r>
            <a:r>
              <a:rPr lang="zh-CN" altLang="zh-CN" sz="2200" dirty="0"/>
              <a:t>≤</a:t>
            </a:r>
            <a:r>
              <a:rPr lang="en-US" altLang="zh-CN" sz="2200" dirty="0"/>
              <a:t>j</a:t>
            </a:r>
            <a:r>
              <a:rPr lang="zh-CN" altLang="zh-CN" sz="2200" dirty="0"/>
              <a:t>≤</a:t>
            </a:r>
            <a:r>
              <a:rPr lang="en-US" altLang="zh-CN" sz="2200" dirty="0"/>
              <a:t>n</a:t>
            </a:r>
            <a:r>
              <a:rPr lang="zh-CN" altLang="zh-CN" sz="2200" dirty="0"/>
              <a:t>）的一个继承属性，且这个继承属性仅仅依赖于下列两种属性。</a:t>
            </a:r>
            <a:endParaRPr lang="en-US" altLang="zh-CN" sz="2200" dirty="0"/>
          </a:p>
          <a:p>
            <a:pPr>
              <a:lnSpc>
                <a:spcPct val="120000"/>
              </a:lnSpc>
              <a:spcBef>
                <a:spcPts val="0"/>
              </a:spcBef>
            </a:pPr>
            <a:r>
              <a:rPr lang="zh-CN" altLang="zh-CN" sz="2200" dirty="0">
                <a:solidFill>
                  <a:srgbClr val="0000FF"/>
                </a:solidFill>
              </a:rPr>
              <a:t>（</a:t>
            </a:r>
            <a:r>
              <a:rPr lang="en-US" altLang="zh-CN" sz="2200" dirty="0">
                <a:solidFill>
                  <a:srgbClr val="0000FF"/>
                </a:solidFill>
              </a:rPr>
              <a:t>1</a:t>
            </a:r>
            <a:r>
              <a:rPr lang="zh-CN" altLang="zh-CN" sz="2200" dirty="0">
                <a:solidFill>
                  <a:srgbClr val="0000FF"/>
                </a:solidFill>
              </a:rPr>
              <a:t>）产生式中</a:t>
            </a:r>
            <a:r>
              <a:rPr lang="en-US" altLang="zh-CN" sz="2200" dirty="0" err="1">
                <a:solidFill>
                  <a:srgbClr val="0000FF"/>
                </a:solidFill>
              </a:rPr>
              <a:t>X</a:t>
            </a:r>
            <a:r>
              <a:rPr lang="en-US" altLang="zh-CN" sz="2200" baseline="-25000" dirty="0" err="1">
                <a:solidFill>
                  <a:srgbClr val="0000FF"/>
                </a:solidFill>
              </a:rPr>
              <a:t>j</a:t>
            </a:r>
            <a:r>
              <a:rPr lang="zh-CN" altLang="zh-CN" sz="2200" dirty="0">
                <a:solidFill>
                  <a:srgbClr val="0000FF"/>
                </a:solidFill>
              </a:rPr>
              <a:t>左边的文法符号</a:t>
            </a:r>
            <a:r>
              <a:rPr lang="en-US" altLang="zh-CN" sz="2200" dirty="0">
                <a:solidFill>
                  <a:srgbClr val="0000FF"/>
                </a:solidFill>
              </a:rPr>
              <a:t>X</a:t>
            </a:r>
            <a:r>
              <a:rPr lang="en-US" altLang="zh-CN" sz="2200" baseline="-25000" dirty="0">
                <a:solidFill>
                  <a:srgbClr val="0000FF"/>
                </a:solidFill>
              </a:rPr>
              <a:t>1</a:t>
            </a:r>
            <a:r>
              <a:rPr lang="en-US" altLang="zh-CN" sz="2200" dirty="0">
                <a:solidFill>
                  <a:srgbClr val="0000FF"/>
                </a:solidFill>
              </a:rPr>
              <a:t>X</a:t>
            </a:r>
            <a:r>
              <a:rPr lang="en-US" altLang="zh-CN" sz="2200" baseline="-25000" dirty="0">
                <a:solidFill>
                  <a:srgbClr val="0000FF"/>
                </a:solidFill>
              </a:rPr>
              <a:t>2</a:t>
            </a:r>
            <a:r>
              <a:rPr lang="en-US" altLang="zh-CN" sz="2200" dirty="0">
                <a:solidFill>
                  <a:srgbClr val="0000FF"/>
                </a:solidFill>
              </a:rPr>
              <a:t>......X</a:t>
            </a:r>
            <a:r>
              <a:rPr lang="en-US" altLang="zh-CN" sz="2200" baseline="-25000" dirty="0">
                <a:solidFill>
                  <a:srgbClr val="0000FF"/>
                </a:solidFill>
              </a:rPr>
              <a:t>j-1</a:t>
            </a:r>
            <a:r>
              <a:rPr lang="zh-CN" altLang="zh-CN" sz="2200" dirty="0">
                <a:solidFill>
                  <a:srgbClr val="0000FF"/>
                </a:solidFill>
              </a:rPr>
              <a:t>的属性。</a:t>
            </a:r>
          </a:p>
          <a:p>
            <a:pPr>
              <a:lnSpc>
                <a:spcPct val="120000"/>
              </a:lnSpc>
              <a:spcBef>
                <a:spcPts val="0"/>
              </a:spcBef>
            </a:pPr>
            <a:r>
              <a:rPr lang="zh-CN" altLang="zh-CN" sz="2200" dirty="0">
                <a:solidFill>
                  <a:srgbClr val="0000FF"/>
                </a:solidFill>
              </a:rPr>
              <a:t>（</a:t>
            </a:r>
            <a:r>
              <a:rPr lang="en-US" altLang="zh-CN" sz="2200" dirty="0">
                <a:solidFill>
                  <a:srgbClr val="0000FF"/>
                </a:solidFill>
              </a:rPr>
              <a:t>2</a:t>
            </a:r>
            <a:r>
              <a:rPr lang="zh-CN" altLang="zh-CN" sz="2200" dirty="0">
                <a:solidFill>
                  <a:srgbClr val="0000FF"/>
                </a:solidFill>
              </a:rPr>
              <a:t>）</a:t>
            </a:r>
            <a:r>
              <a:rPr lang="en-US" altLang="zh-CN" sz="2200" dirty="0">
                <a:solidFill>
                  <a:srgbClr val="0000FF"/>
                </a:solidFill>
              </a:rPr>
              <a:t>A</a:t>
            </a:r>
            <a:r>
              <a:rPr lang="zh-CN" altLang="zh-CN" sz="2200" dirty="0">
                <a:solidFill>
                  <a:srgbClr val="0000FF"/>
                </a:solidFill>
              </a:rPr>
              <a:t>的继承属性。</a:t>
            </a:r>
            <a:endParaRPr lang="zh-CN" altLang="en-US" sz="2200" dirty="0">
              <a:solidFill>
                <a:srgbClr val="0000FF"/>
              </a:solidFill>
            </a:endParaRPr>
          </a:p>
        </p:txBody>
      </p:sp>
    </p:spTree>
    <p:extLst>
      <p:ext uri="{BB962C8B-B14F-4D97-AF65-F5344CB8AC3E}">
        <p14:creationId xmlns:p14="http://schemas.microsoft.com/office/powerpoint/2010/main" val="4067326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defRPr/>
            </a:pPr>
            <a:r>
              <a:rPr lang="en-US" altLang="zh-CN" kern="100" dirty="0">
                <a:latin typeface="Times New Roman" panose="02020603050405020304" pitchFamily="18" charset="0"/>
              </a:rPr>
              <a:t>L-</a:t>
            </a:r>
            <a:r>
              <a:rPr lang="zh-CN" altLang="zh-CN" kern="100" dirty="0">
                <a:latin typeface="Times New Roman" panose="02020603050405020304" pitchFamily="18" charset="0"/>
                <a:cs typeface="Times New Roman" panose="02020603050405020304" pitchFamily="18" charset="0"/>
              </a:rPr>
              <a:t>属性文法的自上而下的翻译</a:t>
            </a:r>
            <a:endParaRPr lang="zh-CN" altLang="en-US" dirty="0"/>
          </a:p>
        </p:txBody>
      </p:sp>
      <p:sp>
        <p:nvSpPr>
          <p:cNvPr id="3" name="内容占位符 2"/>
          <p:cNvSpPr>
            <a:spLocks noGrp="1"/>
          </p:cNvSpPr>
          <p:nvPr>
            <p:ph idx="1"/>
          </p:nvPr>
        </p:nvSpPr>
        <p:spPr>
          <a:xfrm>
            <a:off x="344535" y="915566"/>
            <a:ext cx="8229600" cy="1331739"/>
          </a:xfrm>
        </p:spPr>
        <p:txBody>
          <a:bodyPr>
            <a:normAutofit/>
          </a:bodyPr>
          <a:lstStyle/>
          <a:p>
            <a:pPr marL="342900" indent="-342900">
              <a:defRPr/>
            </a:pPr>
            <a:r>
              <a:rPr lang="zh-CN" altLang="en-US" sz="2400" dirty="0"/>
              <a:t>当给定</a:t>
            </a:r>
            <a:r>
              <a:rPr lang="en-US" altLang="zh-CN" sz="2400" dirty="0"/>
              <a:t>L-</a:t>
            </a:r>
            <a:r>
              <a:rPr lang="zh-CN" altLang="zh-CN" sz="2400" dirty="0"/>
              <a:t>属性文法，</a:t>
            </a:r>
            <a:r>
              <a:rPr lang="zh-CN" altLang="en-US" sz="2400" dirty="0"/>
              <a:t>要先设计</a:t>
            </a:r>
            <a:r>
              <a:rPr lang="zh-CN" altLang="zh-CN" sz="2400" dirty="0"/>
              <a:t>满足</a:t>
            </a:r>
            <a:r>
              <a:rPr lang="zh-CN" altLang="zh-CN" sz="2400" dirty="0">
                <a:hlinkClick r:id="rId2" action="ppaction://hlinksldjump"/>
              </a:rPr>
              <a:t>三个原则</a:t>
            </a:r>
            <a:r>
              <a:rPr lang="zh-CN" altLang="zh-CN" sz="2400" dirty="0"/>
              <a:t>的翻译模式</a:t>
            </a:r>
            <a:endParaRPr lang="en-US" altLang="zh-CN" sz="2400" dirty="0"/>
          </a:p>
          <a:p>
            <a:pPr marL="342900" indent="-342900">
              <a:defRPr/>
            </a:pPr>
            <a:r>
              <a:rPr lang="zh-CN" altLang="en-US" sz="2400" dirty="0"/>
              <a:t>然而，要进行自上而下的分析，上下文无关部分必须满足自上而下分析的条件（</a:t>
            </a:r>
            <a:r>
              <a:rPr lang="en-US" altLang="zh-CN" sz="2400" dirty="0"/>
              <a:t>LL1</a:t>
            </a:r>
            <a:r>
              <a:rPr lang="zh-CN" altLang="en-US" sz="2400" dirty="0"/>
              <a:t>文法）</a:t>
            </a:r>
            <a:endParaRPr lang="en-US" altLang="zh-CN" sz="2400" dirty="0"/>
          </a:p>
          <a:p>
            <a:pPr>
              <a:defRPr/>
            </a:pPr>
            <a:endParaRPr lang="zh-CN" altLang="en-US" sz="2400" dirty="0"/>
          </a:p>
        </p:txBody>
      </p:sp>
      <p:sp>
        <p:nvSpPr>
          <p:cNvPr id="4" name="矩形 3"/>
          <p:cNvSpPr/>
          <p:nvPr/>
        </p:nvSpPr>
        <p:spPr>
          <a:xfrm>
            <a:off x="498523" y="2571750"/>
            <a:ext cx="7921625" cy="2123658"/>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marL="342900" lvl="1" indent="-342900">
              <a:buFont typeface="Wingdings" panose="05000000000000000000" pitchFamily="2" charset="2"/>
              <a:buChar char="Ø"/>
              <a:defRPr/>
            </a:pP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1</a:t>
            </a:r>
            <a:r>
              <a:rPr lang="zh-CN" altLang="zh-CN" sz="2200" dirty="0">
                <a:latin typeface="宋体" panose="02010600030101010101" pitchFamily="2" charset="-122"/>
                <a:ea typeface="宋体" panose="02010600030101010101" pitchFamily="2" charset="-122"/>
              </a:rPr>
              <a:t>）产生式右部符号的继承属性必须在这个符号以前的动作中计算出来；</a:t>
            </a:r>
          </a:p>
          <a:p>
            <a:pPr marL="342900" lvl="1" indent="-342900">
              <a:buFont typeface="Wingdings" panose="05000000000000000000" pitchFamily="2" charset="2"/>
              <a:buChar char="Ø"/>
              <a:defRPr/>
            </a:pP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2</a:t>
            </a:r>
            <a:r>
              <a:rPr lang="zh-CN" altLang="zh-CN" sz="2200" dirty="0">
                <a:latin typeface="宋体" panose="02010600030101010101" pitchFamily="2" charset="-122"/>
                <a:ea typeface="宋体" panose="02010600030101010101" pitchFamily="2" charset="-122"/>
              </a:rPr>
              <a:t>）一个动作不能引用这个动作右部的符号的综合属性；</a:t>
            </a:r>
          </a:p>
          <a:p>
            <a:pPr marL="342900" lvl="1" indent="-342900">
              <a:buFont typeface="Wingdings" panose="05000000000000000000" pitchFamily="2" charset="2"/>
              <a:buChar char="Ø"/>
              <a:defRPr/>
            </a:pP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3</a:t>
            </a:r>
            <a:r>
              <a:rPr lang="zh-CN" altLang="zh-CN" sz="2200" dirty="0">
                <a:latin typeface="宋体" panose="02010600030101010101" pitchFamily="2" charset="-122"/>
                <a:ea typeface="宋体" panose="02010600030101010101" pitchFamily="2" charset="-122"/>
              </a:rPr>
              <a:t>）产生式左部非终结符的综合属性只有在它所引用的所有属性都计算出来以后才能计算。这种语义规则通常可以放在产生式右部的末尾。</a:t>
            </a:r>
            <a:endParaRPr lang="zh-CN" altLang="en-US" sz="2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723666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665069" y="1995686"/>
            <a:ext cx="2505230" cy="1238438"/>
          </a:xfrm>
        </p:spPr>
        <p:style>
          <a:lnRef idx="2">
            <a:schemeClr val="accent2"/>
          </a:lnRef>
          <a:fillRef idx="1">
            <a:schemeClr val="lt1"/>
          </a:fillRef>
          <a:effectRef idx="0">
            <a:schemeClr val="accent2"/>
          </a:effectRef>
          <a:fontRef idx="minor">
            <a:schemeClr val="dk1"/>
          </a:fontRef>
        </p:style>
        <p:txBody>
          <a:bodyPr>
            <a:noAutofit/>
          </a:bodyPr>
          <a:lstStyle/>
          <a:p>
            <a:pPr marL="109728" indent="0">
              <a:buNone/>
            </a:pPr>
            <a:r>
              <a:rPr lang="zh-CN" altLang="en-US" sz="1800" dirty="0"/>
              <a:t>根结点的</a:t>
            </a:r>
            <a:r>
              <a:rPr lang="en-US" altLang="zh-CN" sz="1800" dirty="0" err="1"/>
              <a:t>val</a:t>
            </a:r>
            <a:r>
              <a:rPr lang="zh-CN" altLang="en-US" sz="1800" dirty="0"/>
              <a:t>值是把</a:t>
            </a:r>
            <a:r>
              <a:rPr lang="en-US" altLang="zh-CN" sz="1800" dirty="0"/>
              <a:t>+</a:t>
            </a:r>
            <a:r>
              <a:rPr lang="zh-CN" altLang="en-US" sz="1800" dirty="0"/>
              <a:t>左边所有文法符号的</a:t>
            </a:r>
            <a:r>
              <a:rPr lang="en-US" altLang="zh-CN" sz="1800" dirty="0" err="1"/>
              <a:t>val</a:t>
            </a:r>
            <a:r>
              <a:rPr lang="zh-CN" altLang="en-US" sz="1800" dirty="0"/>
              <a:t>和右边文法符号的</a:t>
            </a:r>
            <a:r>
              <a:rPr lang="en-US" altLang="zh-CN" sz="1800" dirty="0" err="1"/>
              <a:t>val</a:t>
            </a:r>
            <a:r>
              <a:rPr lang="zh-CN" altLang="en-US" sz="1800" dirty="0"/>
              <a:t>相加，是一个累加</a:t>
            </a:r>
          </a:p>
        </p:txBody>
      </p:sp>
      <p:sp>
        <p:nvSpPr>
          <p:cNvPr id="3" name="标题 2"/>
          <p:cNvSpPr>
            <a:spLocks noGrp="1"/>
          </p:cNvSpPr>
          <p:nvPr>
            <p:ph type="title"/>
          </p:nvPr>
        </p:nvSpPr>
        <p:spPr>
          <a:xfrm>
            <a:off x="0" y="-92546"/>
            <a:ext cx="8532440" cy="576064"/>
          </a:xfrm>
        </p:spPr>
        <p:txBody>
          <a:bodyPr>
            <a:normAutofit/>
          </a:bodyPr>
          <a:lstStyle/>
          <a:p>
            <a:r>
              <a:rPr lang="zh-CN" altLang="en-US" sz="2800" dirty="0"/>
              <a:t>带左递归的文法消除左递归时，翻译模式要随之改变</a:t>
            </a:r>
          </a:p>
        </p:txBody>
      </p:sp>
      <p:graphicFrame>
        <p:nvGraphicFramePr>
          <p:cNvPr id="4" name="表格 3"/>
          <p:cNvGraphicFramePr>
            <a:graphicFrameLocks noGrp="1"/>
          </p:cNvGraphicFramePr>
          <p:nvPr/>
        </p:nvGraphicFramePr>
        <p:xfrm>
          <a:off x="331281" y="649572"/>
          <a:ext cx="5040238" cy="1645920"/>
        </p:xfrm>
        <a:graphic>
          <a:graphicData uri="http://schemas.openxmlformats.org/drawingml/2006/table">
            <a:tbl>
              <a:tblPr firstRow="1" firstCol="1" bandRow="1"/>
              <a:tblGrid>
                <a:gridCol w="1504415">
                  <a:extLst>
                    <a:ext uri="{9D8B030D-6E8A-4147-A177-3AD203B41FA5}">
                      <a16:colId xmlns:a16="http://schemas.microsoft.com/office/drawing/2014/main" val="20000"/>
                    </a:ext>
                  </a:extLst>
                </a:gridCol>
                <a:gridCol w="3535823">
                  <a:extLst>
                    <a:ext uri="{9D8B030D-6E8A-4147-A177-3AD203B41FA5}">
                      <a16:colId xmlns:a16="http://schemas.microsoft.com/office/drawing/2014/main" val="20001"/>
                    </a:ext>
                  </a:extLst>
                </a:gridCol>
              </a:tblGrid>
              <a:tr h="274320">
                <a:tc>
                  <a:txBody>
                    <a:bodyPr/>
                    <a:lstStyle/>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文法</a:t>
                      </a:r>
                    </a:p>
                  </a:txBody>
                  <a:tcPr marL="68575" marR="68575"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 indent="110490" algn="just">
                        <a:spcAft>
                          <a:spcPts val="0"/>
                        </a:spcAft>
                      </a:pPr>
                      <a:r>
                        <a:rPr lang="zh-CN" sz="1600" kern="100">
                          <a:effectLst/>
                          <a:latin typeface="Times New Roman" panose="02020603050405020304" pitchFamily="18" charset="0"/>
                          <a:ea typeface="宋体" panose="02010600030101010101" pitchFamily="2" charset="-122"/>
                        </a:rPr>
                        <a:t>翻译模式</a:t>
                      </a:r>
                    </a:p>
                  </a:txBody>
                  <a:tcPr marL="68575" marR="68575"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371600">
                <a:tc>
                  <a:txBody>
                    <a:bodyPr/>
                    <a:lstStyle/>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1</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+T </a:t>
                      </a:r>
                      <a:endParaRPr lang="zh-CN" sz="1600" kern="100" dirty="0">
                        <a:effectLst/>
                        <a:latin typeface="Times New Roman" panose="02020603050405020304" pitchFamily="18" charset="0"/>
                        <a:ea typeface="宋体" panose="02010600030101010101" pitchFamily="2" charset="-122"/>
                      </a:endParaRPr>
                    </a:p>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2</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fr-FR" sz="1600" kern="100" baseline="-25000" dirty="0">
                          <a:effectLst/>
                          <a:latin typeface="Times New Roman" panose="02020603050405020304" pitchFamily="18" charset="0"/>
                          <a:ea typeface="宋体" panose="02010600030101010101" pitchFamily="2" charset="-122"/>
                        </a:rPr>
                        <a:t>1</a:t>
                      </a:r>
                      <a:r>
                        <a:rPr lang="pt-PT" sz="1600" kern="100" dirty="0">
                          <a:effectLst/>
                          <a:latin typeface="Times New Roman" panose="02020603050405020304" pitchFamily="18" charset="0"/>
                          <a:ea typeface="宋体" panose="02010600030101010101" pitchFamily="2" charset="-122"/>
                        </a:rPr>
                        <a:t>– </a:t>
                      </a:r>
                      <a:r>
                        <a:rPr lang="fr-FR" sz="1600" kern="100" dirty="0">
                          <a:effectLst/>
                          <a:latin typeface="Times New Roman" panose="02020603050405020304" pitchFamily="18" charset="0"/>
                          <a:ea typeface="宋体" panose="02010600030101010101" pitchFamily="2" charset="-122"/>
                        </a:rPr>
                        <a:t>T </a:t>
                      </a:r>
                      <a:endParaRPr lang="zh-CN" sz="1600" kern="100" dirty="0">
                        <a:effectLst/>
                        <a:latin typeface="Times New Roman" panose="02020603050405020304" pitchFamily="18" charset="0"/>
                        <a:ea typeface="宋体" panose="02010600030101010101" pitchFamily="2" charset="-122"/>
                      </a:endParaRPr>
                    </a:p>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3</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endParaRPr lang="zh-CN" sz="1600" kern="100" dirty="0">
                        <a:effectLst/>
                        <a:latin typeface="Times New Roman" panose="02020603050405020304" pitchFamily="18" charset="0"/>
                        <a:ea typeface="宋体" panose="02010600030101010101" pitchFamily="2" charset="-122"/>
                      </a:endParaRPr>
                    </a:p>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4</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endParaRPr lang="zh-CN" sz="1600" kern="100" dirty="0">
                        <a:effectLst/>
                        <a:latin typeface="Times New Roman" panose="02020603050405020304" pitchFamily="18" charset="0"/>
                        <a:ea typeface="宋体" panose="02010600030101010101" pitchFamily="2" charset="-122"/>
                      </a:endParaRPr>
                    </a:p>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5</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en-US" altLang="zh-CN" sz="1600" kern="100" dirty="0" err="1">
                          <a:effectLst/>
                          <a:latin typeface="Times New Roman" panose="02020603050405020304" pitchFamily="18" charset="0"/>
                          <a:ea typeface="宋体" panose="02010600030101010101" pitchFamily="2" charset="-122"/>
                        </a:rPr>
                        <a:t>i</a:t>
                      </a:r>
                      <a:endParaRPr lang="zh-CN" sz="1600" kern="100" dirty="0">
                        <a:effectLst/>
                        <a:latin typeface="Times New Roman" panose="02020603050405020304" pitchFamily="18" charset="0"/>
                        <a:ea typeface="宋体" panose="02010600030101010101" pitchFamily="2" charset="-122"/>
                      </a:endParaRPr>
                    </a:p>
                  </a:txBody>
                  <a:tcPr marL="68575" marR="68575"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1</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+T { E.val = 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.val + T.val}</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2</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-T { E.val = 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.val </a:t>
                      </a:r>
                      <a:r>
                        <a:rPr lang="pt-PT" sz="1600" kern="100" dirty="0">
                          <a:effectLst/>
                          <a:latin typeface="Times New Roman" panose="02020603050405020304" pitchFamily="18" charset="0"/>
                          <a:ea typeface="宋体" panose="02010600030101010101" pitchFamily="2" charset="-122"/>
                        </a:rPr>
                        <a:t>– </a:t>
                      </a:r>
                      <a:r>
                        <a:rPr lang="fr-FR" sz="1600" kern="100" dirty="0">
                          <a:effectLst/>
                          <a:latin typeface="Times New Roman" panose="02020603050405020304" pitchFamily="18" charset="0"/>
                          <a:ea typeface="宋体" panose="02010600030101010101" pitchFamily="2" charset="-122"/>
                        </a:rPr>
                        <a:t>T.val }</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3</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 E.val = T.val}</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4</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 T.val = E.val }</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5</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en-US" altLang="zh-CN" sz="1600" kern="100" dirty="0" err="1">
                          <a:effectLst/>
                          <a:latin typeface="Times New Roman" panose="02020603050405020304" pitchFamily="18" charset="0"/>
                          <a:ea typeface="宋体" panose="02010600030101010101" pitchFamily="2" charset="-122"/>
                        </a:rPr>
                        <a:t>i</a:t>
                      </a:r>
                      <a:r>
                        <a:rPr lang="fr-FR" sz="1600" kern="100" dirty="0">
                          <a:effectLst/>
                          <a:latin typeface="Times New Roman" panose="02020603050405020304" pitchFamily="18" charset="0"/>
                          <a:ea typeface="宋体" panose="02010600030101010101" pitchFamily="2" charset="-122"/>
                        </a:rPr>
                        <a:t>{ T.val = </a:t>
                      </a:r>
                      <a:r>
                        <a:rPr lang="en-US" altLang="zh-CN" sz="1600" kern="100" dirty="0" err="1">
                          <a:effectLst/>
                          <a:latin typeface="Times New Roman" panose="02020603050405020304" pitchFamily="18" charset="0"/>
                          <a:ea typeface="宋体" panose="02010600030101010101" pitchFamily="2" charset="-122"/>
                        </a:rPr>
                        <a:t>i</a:t>
                      </a:r>
                      <a:r>
                        <a:rPr lang="fr-FR" sz="1600" kern="100" dirty="0">
                          <a:effectLst/>
                          <a:latin typeface="Times New Roman" panose="02020603050405020304" pitchFamily="18" charset="0"/>
                          <a:ea typeface="宋体" panose="02010600030101010101" pitchFamily="2" charset="-122"/>
                        </a:rPr>
                        <a:t>.lexval }</a:t>
                      </a:r>
                      <a:endParaRPr lang="zh-CN" sz="1600" kern="100" dirty="0">
                        <a:effectLst/>
                        <a:latin typeface="Times New Roman" panose="02020603050405020304" pitchFamily="18" charset="0"/>
                        <a:ea typeface="宋体" panose="02010600030101010101" pitchFamily="2" charset="-122"/>
                      </a:endParaRPr>
                    </a:p>
                  </a:txBody>
                  <a:tcPr marL="68575" marR="68575"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5" name="表格 4"/>
          <p:cNvGraphicFramePr>
            <a:graphicFrameLocks noGrp="1"/>
          </p:cNvGraphicFramePr>
          <p:nvPr/>
        </p:nvGraphicFramePr>
        <p:xfrm>
          <a:off x="179389" y="2976366"/>
          <a:ext cx="3240483" cy="1760220"/>
        </p:xfrm>
        <a:graphic>
          <a:graphicData uri="http://schemas.openxmlformats.org/drawingml/2006/table">
            <a:tbl>
              <a:tblPr firstRow="1" firstCol="1" bandRow="1"/>
              <a:tblGrid>
                <a:gridCol w="1728315">
                  <a:extLst>
                    <a:ext uri="{9D8B030D-6E8A-4147-A177-3AD203B41FA5}">
                      <a16:colId xmlns:a16="http://schemas.microsoft.com/office/drawing/2014/main" val="20000"/>
                    </a:ext>
                  </a:extLst>
                </a:gridCol>
                <a:gridCol w="1512168">
                  <a:extLst>
                    <a:ext uri="{9D8B030D-6E8A-4147-A177-3AD203B41FA5}">
                      <a16:colId xmlns:a16="http://schemas.microsoft.com/office/drawing/2014/main" val="20001"/>
                    </a:ext>
                  </a:extLst>
                </a:gridCol>
              </a:tblGrid>
              <a:tr h="251460">
                <a:tc>
                  <a:txBody>
                    <a:bodyPr/>
                    <a:lstStyle/>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文法</a:t>
                      </a:r>
                    </a:p>
                  </a:txBody>
                  <a:tcPr marL="68586" marR="6858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635" indent="-635" algn="just">
                        <a:spcAft>
                          <a:spcPts val="0"/>
                        </a:spcAft>
                      </a:pPr>
                      <a:r>
                        <a:rPr lang="zh-CN" sz="1600" kern="100">
                          <a:effectLst/>
                          <a:latin typeface="Times New Roman" panose="02020603050405020304" pitchFamily="18" charset="0"/>
                          <a:ea typeface="宋体" panose="02010600030101010101" pitchFamily="2" charset="-122"/>
                        </a:rPr>
                        <a:t>翻译模式</a:t>
                      </a:r>
                    </a:p>
                  </a:txBody>
                  <a:tcPr marL="68586" marR="6858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508760">
                <a:tc>
                  <a:txBody>
                    <a:bodyPr/>
                    <a:lstStyle/>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1</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TE</a:t>
                      </a:r>
                      <a:r>
                        <a:rPr lang="pt-PT" sz="1600" kern="100" dirty="0">
                          <a:effectLst/>
                          <a:latin typeface="Times New Roman" panose="02020603050405020304" pitchFamily="18" charset="0"/>
                          <a:ea typeface="宋体" panose="02010600030101010101" pitchFamily="2" charset="-122"/>
                        </a:rPr>
                        <a:t>'</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2</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 TE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3</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pt-PT" sz="1600" kern="100" dirty="0">
                          <a:effectLst/>
                          <a:latin typeface="Times New Roman" panose="02020603050405020304" pitchFamily="18" charset="0"/>
                          <a:ea typeface="宋体" panose="02010600030101010101" pitchFamily="2" charset="-122"/>
                        </a:rPr>
                        <a:t> – </a:t>
                      </a:r>
                      <a:r>
                        <a:rPr lang="fr-FR" sz="1600" kern="100" dirty="0">
                          <a:effectLst/>
                          <a:latin typeface="Times New Roman" panose="02020603050405020304" pitchFamily="18" charset="0"/>
                          <a:ea typeface="宋体" panose="02010600030101010101" pitchFamily="2" charset="-122"/>
                        </a:rPr>
                        <a:t>TE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 </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4</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en-US" altLang="zh-CN" sz="1600" kern="100" dirty="0">
                          <a:effectLst/>
                          <a:latin typeface="Times New Roman" panose="02020603050405020304" pitchFamily="18" charset="0"/>
                          <a:ea typeface="宋体" panose="02010600030101010101" pitchFamily="2" charset="-122"/>
                        </a:rPr>
                        <a:t> </a:t>
                      </a:r>
                      <a:r>
                        <a:rPr lang="en-US" sz="1600" kern="100" dirty="0">
                          <a:effectLst/>
                          <a:latin typeface="Times New Roman" panose="02020603050405020304" pitchFamily="18" charset="0"/>
                          <a:ea typeface="宋体" panose="02010600030101010101" pitchFamily="2" charset="-122"/>
                          <a:sym typeface="Symbol" panose="05050102010706020507" pitchFamily="18" charset="2"/>
                        </a:rPr>
                        <a:t></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5</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endParaRPr lang="zh-CN" sz="1600" kern="100" dirty="0">
                        <a:effectLst/>
                        <a:latin typeface="Times New Roman" panose="02020603050405020304" pitchFamily="18" charset="0"/>
                        <a:ea typeface="宋体" panose="02010600030101010101" pitchFamily="2" charset="-122"/>
                      </a:endParaRPr>
                    </a:p>
                    <a:p>
                      <a:pPr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6</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en-US" altLang="zh-CN" sz="1600" kern="100" dirty="0" err="1">
                          <a:effectLst/>
                          <a:latin typeface="Times New Roman" panose="02020603050405020304" pitchFamily="18" charset="0"/>
                          <a:ea typeface="宋体" panose="02010600030101010101" pitchFamily="2" charset="-122"/>
                        </a:rPr>
                        <a:t>i</a:t>
                      </a:r>
                      <a:endParaRPr lang="zh-CN" sz="1600" kern="100" dirty="0">
                        <a:effectLst/>
                        <a:latin typeface="Times New Roman" panose="02020603050405020304" pitchFamily="18" charset="0"/>
                        <a:ea typeface="宋体" panose="02010600030101010101" pitchFamily="2" charset="-122"/>
                      </a:endParaRPr>
                    </a:p>
                  </a:txBody>
                  <a:tcPr marL="68586" marR="6858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635" indent="-635" algn="just">
                        <a:spcAft>
                          <a:spcPts val="0"/>
                        </a:spcAft>
                      </a:pPr>
                      <a:endParaRPr lang="zh-CN" sz="1600" kern="100" dirty="0">
                        <a:effectLst/>
                        <a:latin typeface="Times New Roman" panose="02020603050405020304" pitchFamily="18" charset="0"/>
                        <a:ea typeface="宋体" panose="02010600030101010101" pitchFamily="2" charset="-122"/>
                      </a:endParaRPr>
                    </a:p>
                  </a:txBody>
                  <a:tcPr marL="68586" marR="6858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6" name="矩形 5"/>
          <p:cNvSpPr/>
          <p:nvPr/>
        </p:nvSpPr>
        <p:spPr>
          <a:xfrm>
            <a:off x="288148" y="2332053"/>
            <a:ext cx="5040560" cy="338554"/>
          </a:xfrm>
          <a:prstGeom prst="rect">
            <a:avLst/>
          </a:prstGeom>
        </p:spPr>
        <p:txBody>
          <a:bodyPr wrap="square">
            <a:spAutoFit/>
          </a:bodyPr>
          <a:lstStyle/>
          <a:p>
            <a:pPr eaLnBrk="1" hangingPunct="1">
              <a:buFontTx/>
              <a:buNone/>
              <a:defRPr/>
            </a:pPr>
            <a:r>
              <a:rPr lang="zh-CN" altLang="en-US" sz="1600" kern="100" dirty="0">
                <a:latin typeface="宋体" panose="02010600030101010101" pitchFamily="2" charset="-122"/>
                <a:ea typeface="宋体" panose="02010600030101010101" pitchFamily="2" charset="-122"/>
                <a:cs typeface="Times New Roman" panose="02020603050405020304" pitchFamily="18" charset="0"/>
              </a:rPr>
              <a:t>只带加减运算的</a:t>
            </a:r>
            <a:r>
              <a:rPr lang="zh-CN" altLang="zh-CN" sz="1600" kern="100" dirty="0">
                <a:latin typeface="宋体" panose="02010600030101010101" pitchFamily="2" charset="-122"/>
                <a:ea typeface="宋体" panose="02010600030101010101" pitchFamily="2" charset="-122"/>
                <a:cs typeface="Times New Roman" panose="02020603050405020304" pitchFamily="18" charset="0"/>
              </a:rPr>
              <a:t>算术表达式的左递归文法及翻译模式</a:t>
            </a:r>
            <a:endParaRPr lang="zh-CN" altLang="en-US" sz="1600" dirty="0">
              <a:latin typeface="宋体" panose="02010600030101010101" pitchFamily="2" charset="-122"/>
              <a:ea typeface="宋体" panose="02010600030101010101" pitchFamily="2" charset="-122"/>
            </a:endParaRPr>
          </a:p>
        </p:txBody>
      </p:sp>
      <p:sp>
        <p:nvSpPr>
          <p:cNvPr id="7" name="矩形 6"/>
          <p:cNvSpPr/>
          <p:nvPr/>
        </p:nvSpPr>
        <p:spPr>
          <a:xfrm>
            <a:off x="28065" y="4753476"/>
            <a:ext cx="4183895" cy="338554"/>
          </a:xfrm>
          <a:prstGeom prst="rect">
            <a:avLst/>
          </a:prstGeom>
          <a:solidFill>
            <a:schemeClr val="bg1"/>
          </a:solidFill>
        </p:spPr>
        <p:txBody>
          <a:bodyPr wrap="square">
            <a:spAutoFit/>
          </a:bodyPr>
          <a:lstStyle/>
          <a:p>
            <a:r>
              <a:rPr lang="zh-CN" altLang="en-US" sz="1600" kern="100" dirty="0">
                <a:latin typeface="宋体" panose="02010600030101010101" pitchFamily="2" charset="-122"/>
                <a:ea typeface="宋体" panose="02010600030101010101" pitchFamily="2" charset="-122"/>
                <a:cs typeface="Times New Roman" panose="02020603050405020304" pitchFamily="18" charset="0"/>
              </a:rPr>
              <a:t>只带加减运算的</a:t>
            </a:r>
            <a:r>
              <a:rPr lang="zh-CN" altLang="zh-CN" sz="1600" kern="100" dirty="0">
                <a:latin typeface="宋体" panose="02010600030101010101" pitchFamily="2" charset="-122"/>
                <a:ea typeface="宋体" panose="02010600030101010101" pitchFamily="2" charset="-122"/>
                <a:cs typeface="Times New Roman" panose="02020603050405020304" pitchFamily="18" charset="0"/>
              </a:rPr>
              <a:t>算术表达式的非左递归文法</a:t>
            </a:r>
            <a:endParaRPr lang="zh-CN" altLang="en-US" sz="1600" kern="100" dirty="0">
              <a:latin typeface="宋体" panose="02010600030101010101" pitchFamily="2" charset="-122"/>
              <a:ea typeface="宋体" panose="02010600030101010101" pitchFamily="2" charset="-122"/>
              <a:cs typeface="Times New Roman" panose="02020603050405020304" pitchFamily="18" charset="0"/>
            </a:endParaRPr>
          </a:p>
        </p:txBody>
      </p:sp>
      <p:sp>
        <p:nvSpPr>
          <p:cNvPr id="8" name="矩形 7"/>
          <p:cNvSpPr/>
          <p:nvPr/>
        </p:nvSpPr>
        <p:spPr>
          <a:xfrm>
            <a:off x="2124917" y="3399143"/>
            <a:ext cx="880369" cy="923330"/>
          </a:xfrm>
          <a:prstGeom prst="rect">
            <a:avLst/>
          </a:prstGeom>
          <a:noFill/>
        </p:spPr>
        <p:txBody>
          <a:bodyPr wrap="none" lIns="91440" tIns="45720" rIns="91440" bIns="45720">
            <a:spAutoFit/>
          </a:bodyPr>
          <a:lstStyle/>
          <a:p>
            <a:pPr algn="ctr"/>
            <a:r>
              <a:rPr lang="zh-CN" altLang="en-US" sz="54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t>
            </a:r>
          </a:p>
        </p:txBody>
      </p:sp>
      <p:sp>
        <p:nvSpPr>
          <p:cNvPr id="9" name="TextBox 8"/>
          <p:cNvSpPr txBox="1"/>
          <p:nvPr/>
        </p:nvSpPr>
        <p:spPr>
          <a:xfrm>
            <a:off x="5724128" y="483518"/>
            <a:ext cx="3419872" cy="369332"/>
          </a:xfrm>
          <a:prstGeom prst="rect">
            <a:avLst/>
          </a:prstGeom>
          <a:noFill/>
        </p:spPr>
        <p:txBody>
          <a:bodyPr wrap="square" rtlCol="0">
            <a:spAutoFit/>
          </a:bodyPr>
          <a:lstStyle/>
          <a:p>
            <a:r>
              <a:rPr lang="zh-CN" altLang="en-US" dirty="0">
                <a:solidFill>
                  <a:srgbClr val="FF0000"/>
                </a:solidFill>
              </a:rPr>
              <a:t>考虑句型  </a:t>
            </a:r>
            <a:r>
              <a:rPr lang="en-US" altLang="zh-CN" dirty="0">
                <a:solidFill>
                  <a:srgbClr val="FF0000"/>
                </a:solidFill>
              </a:rPr>
              <a:t>T+T+T </a:t>
            </a:r>
            <a:r>
              <a:rPr lang="zh-CN" altLang="en-US" dirty="0">
                <a:solidFill>
                  <a:srgbClr val="FF0000"/>
                </a:solidFill>
              </a:rPr>
              <a:t>的语法树</a:t>
            </a:r>
          </a:p>
        </p:txBody>
      </p:sp>
      <p:grpSp>
        <p:nvGrpSpPr>
          <p:cNvPr id="12" name="组合 11"/>
          <p:cNvGrpSpPr/>
          <p:nvPr/>
        </p:nvGrpSpPr>
        <p:grpSpPr>
          <a:xfrm>
            <a:off x="5796136" y="744701"/>
            <a:ext cx="2376264" cy="1827049"/>
            <a:chOff x="6012160" y="843558"/>
            <a:chExt cx="2376264" cy="2150948"/>
          </a:xfrm>
        </p:grpSpPr>
        <p:sp>
          <p:nvSpPr>
            <p:cNvPr id="10" name="TextBox 9"/>
            <p:cNvSpPr txBox="1"/>
            <p:nvPr/>
          </p:nvSpPr>
          <p:spPr>
            <a:xfrm>
              <a:off x="7164288" y="843558"/>
              <a:ext cx="648072" cy="369332"/>
            </a:xfrm>
            <a:prstGeom prst="rect">
              <a:avLst/>
            </a:prstGeom>
            <a:noFill/>
          </p:spPr>
          <p:txBody>
            <a:bodyPr wrap="square" rtlCol="0">
              <a:spAutoFit/>
            </a:bodyPr>
            <a:lstStyle/>
            <a:p>
              <a:r>
                <a:rPr lang="en-US" altLang="zh-CN" dirty="0"/>
                <a:t>E</a:t>
              </a:r>
              <a:endParaRPr lang="zh-CN" altLang="en-US" dirty="0"/>
            </a:p>
          </p:txBody>
        </p:sp>
        <p:sp>
          <p:nvSpPr>
            <p:cNvPr id="11" name="TextBox 10"/>
            <p:cNvSpPr txBox="1"/>
            <p:nvPr/>
          </p:nvSpPr>
          <p:spPr>
            <a:xfrm>
              <a:off x="6588224" y="1401038"/>
              <a:ext cx="1800200" cy="369332"/>
            </a:xfrm>
            <a:prstGeom prst="rect">
              <a:avLst/>
            </a:prstGeom>
            <a:noFill/>
          </p:spPr>
          <p:txBody>
            <a:bodyPr wrap="square" rtlCol="0">
              <a:spAutoFit/>
            </a:bodyPr>
            <a:lstStyle/>
            <a:p>
              <a:r>
                <a:rPr lang="en-US" altLang="zh-CN" dirty="0"/>
                <a:t>E</a:t>
              </a:r>
              <a:r>
                <a:rPr lang="en-US" altLang="zh-CN" baseline="-25000" dirty="0"/>
                <a:t>1</a:t>
              </a:r>
              <a:r>
                <a:rPr lang="en-US" altLang="zh-CN" dirty="0"/>
                <a:t>     +       T</a:t>
              </a:r>
              <a:endParaRPr lang="zh-CN" altLang="en-US" dirty="0"/>
            </a:p>
          </p:txBody>
        </p:sp>
        <p:cxnSp>
          <p:nvCxnSpPr>
            <p:cNvPr id="13" name="直接连接符 12"/>
            <p:cNvCxnSpPr/>
            <p:nvPr/>
          </p:nvCxnSpPr>
          <p:spPr>
            <a:xfrm flipH="1">
              <a:off x="6732240" y="1159485"/>
              <a:ext cx="599238"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flipV="1">
              <a:off x="7331478" y="1159485"/>
              <a:ext cx="648071" cy="299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331478" y="1159485"/>
              <a:ext cx="0" cy="313293"/>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6012160" y="1977102"/>
              <a:ext cx="1800200" cy="369332"/>
            </a:xfrm>
            <a:prstGeom prst="rect">
              <a:avLst/>
            </a:prstGeom>
            <a:noFill/>
          </p:spPr>
          <p:txBody>
            <a:bodyPr wrap="square" rtlCol="0">
              <a:spAutoFit/>
            </a:bodyPr>
            <a:lstStyle/>
            <a:p>
              <a:r>
                <a:rPr lang="en-US" altLang="zh-CN" dirty="0"/>
                <a:t>E</a:t>
              </a:r>
              <a:r>
                <a:rPr lang="en-US" altLang="zh-CN" baseline="-25000" dirty="0"/>
                <a:t>1</a:t>
              </a:r>
              <a:r>
                <a:rPr lang="en-US" altLang="zh-CN" dirty="0"/>
                <a:t>     +       T</a:t>
              </a:r>
              <a:endParaRPr lang="zh-CN" altLang="en-US" dirty="0"/>
            </a:p>
          </p:txBody>
        </p:sp>
        <p:cxnSp>
          <p:nvCxnSpPr>
            <p:cNvPr id="27" name="直接连接符 26"/>
            <p:cNvCxnSpPr/>
            <p:nvPr/>
          </p:nvCxnSpPr>
          <p:spPr>
            <a:xfrm flipH="1">
              <a:off x="6156176" y="1735549"/>
              <a:ext cx="576064"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flipV="1">
              <a:off x="6755414" y="1735549"/>
              <a:ext cx="648071" cy="299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6755414" y="1735549"/>
              <a:ext cx="0" cy="313293"/>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6012160" y="2625174"/>
              <a:ext cx="360040" cy="369332"/>
            </a:xfrm>
            <a:prstGeom prst="rect">
              <a:avLst/>
            </a:prstGeom>
            <a:noFill/>
          </p:spPr>
          <p:txBody>
            <a:bodyPr wrap="square" rtlCol="0">
              <a:spAutoFit/>
            </a:bodyPr>
            <a:lstStyle/>
            <a:p>
              <a:r>
                <a:rPr lang="en-US" altLang="zh-CN" dirty="0"/>
                <a:t>T</a:t>
              </a:r>
              <a:endParaRPr lang="zh-CN" altLang="en-US" dirty="0"/>
            </a:p>
          </p:txBody>
        </p:sp>
        <p:cxnSp>
          <p:nvCxnSpPr>
            <p:cNvPr id="35" name="直接连接符 34"/>
            <p:cNvCxnSpPr/>
            <p:nvPr/>
          </p:nvCxnSpPr>
          <p:spPr>
            <a:xfrm>
              <a:off x="6179350" y="2311613"/>
              <a:ext cx="0" cy="31329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3720735" y="2768843"/>
            <a:ext cx="3191525" cy="2467203"/>
            <a:chOff x="3720735" y="2768843"/>
            <a:chExt cx="3191525" cy="2467203"/>
          </a:xfrm>
        </p:grpSpPr>
        <p:sp>
          <p:nvSpPr>
            <p:cNvPr id="36" name="TextBox 35"/>
            <p:cNvSpPr txBox="1"/>
            <p:nvPr/>
          </p:nvSpPr>
          <p:spPr>
            <a:xfrm>
              <a:off x="4296799" y="2768843"/>
              <a:ext cx="648072" cy="369332"/>
            </a:xfrm>
            <a:prstGeom prst="rect">
              <a:avLst/>
            </a:prstGeom>
            <a:noFill/>
          </p:spPr>
          <p:txBody>
            <a:bodyPr wrap="square" rtlCol="0">
              <a:spAutoFit/>
            </a:bodyPr>
            <a:lstStyle/>
            <a:p>
              <a:r>
                <a:rPr lang="en-US" altLang="zh-CN" dirty="0"/>
                <a:t>E</a:t>
              </a:r>
              <a:endParaRPr lang="zh-CN" altLang="en-US" dirty="0"/>
            </a:p>
          </p:txBody>
        </p:sp>
        <p:sp>
          <p:nvSpPr>
            <p:cNvPr id="37" name="TextBox 36"/>
            <p:cNvSpPr txBox="1"/>
            <p:nvPr/>
          </p:nvSpPr>
          <p:spPr>
            <a:xfrm>
              <a:off x="3720735" y="3263607"/>
              <a:ext cx="1800200" cy="369332"/>
            </a:xfrm>
            <a:prstGeom prst="rect">
              <a:avLst/>
            </a:prstGeom>
            <a:noFill/>
          </p:spPr>
          <p:txBody>
            <a:bodyPr wrap="square" rtlCol="0">
              <a:spAutoFit/>
            </a:bodyPr>
            <a:lstStyle/>
            <a:p>
              <a:r>
                <a:rPr lang="en-US" altLang="zh-CN" dirty="0"/>
                <a:t>T               E</a:t>
              </a:r>
              <a:r>
                <a:rPr lang="pt-PT" altLang="zh-CN" kern="100" dirty="0">
                  <a:latin typeface="Times New Roman" panose="02020603050405020304" pitchFamily="18" charset="0"/>
                  <a:ea typeface="宋体" panose="02010600030101010101" pitchFamily="2" charset="-122"/>
                </a:rPr>
                <a:t>'</a:t>
              </a:r>
              <a:endParaRPr lang="zh-CN" altLang="en-US" dirty="0"/>
            </a:p>
          </p:txBody>
        </p:sp>
        <p:cxnSp>
          <p:nvCxnSpPr>
            <p:cNvPr id="38" name="直接连接符 37"/>
            <p:cNvCxnSpPr/>
            <p:nvPr/>
          </p:nvCxnSpPr>
          <p:spPr>
            <a:xfrm flipH="1">
              <a:off x="3864751" y="3084770"/>
              <a:ext cx="599238"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flipV="1">
              <a:off x="4463989" y="3084770"/>
              <a:ext cx="648071" cy="299877"/>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440787" y="3802484"/>
              <a:ext cx="1800200" cy="369332"/>
            </a:xfrm>
            <a:prstGeom prst="rect">
              <a:avLst/>
            </a:prstGeom>
            <a:noFill/>
          </p:spPr>
          <p:txBody>
            <a:bodyPr wrap="square" rtlCol="0">
              <a:spAutoFit/>
            </a:bodyPr>
            <a:lstStyle/>
            <a:p>
              <a:r>
                <a:rPr lang="en-US" altLang="zh-CN" dirty="0"/>
                <a:t>+      T      E</a:t>
              </a:r>
              <a:r>
                <a:rPr lang="pt-PT" altLang="zh-CN" kern="100" dirty="0">
                  <a:latin typeface="Times New Roman" panose="02020603050405020304" pitchFamily="18" charset="0"/>
                  <a:ea typeface="宋体" panose="02010600030101010101" pitchFamily="2" charset="-122"/>
                </a:rPr>
                <a:t>'</a:t>
              </a:r>
              <a:r>
                <a:rPr lang="pt-PT" altLang="zh-CN" kern="100" baseline="-25000" dirty="0">
                  <a:latin typeface="Times New Roman" panose="02020603050405020304" pitchFamily="18" charset="0"/>
                  <a:ea typeface="宋体" panose="02010600030101010101" pitchFamily="2" charset="-122"/>
                </a:rPr>
                <a:t>1</a:t>
              </a:r>
              <a:endParaRPr lang="zh-CN" altLang="en-US" baseline="-25000" dirty="0"/>
            </a:p>
          </p:txBody>
        </p:sp>
        <p:cxnSp>
          <p:nvCxnSpPr>
            <p:cNvPr id="42" name="直接连接符 41"/>
            <p:cNvCxnSpPr/>
            <p:nvPr/>
          </p:nvCxnSpPr>
          <p:spPr>
            <a:xfrm flipH="1">
              <a:off x="4584803" y="3560931"/>
              <a:ext cx="576064"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flipV="1">
              <a:off x="5184041" y="3560931"/>
              <a:ext cx="648071" cy="299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5184041" y="3560931"/>
              <a:ext cx="0" cy="313293"/>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395372" y="4835936"/>
              <a:ext cx="336868" cy="400110"/>
            </a:xfrm>
            <a:prstGeom prst="rect">
              <a:avLst/>
            </a:prstGeom>
            <a:noFill/>
          </p:spPr>
          <p:txBody>
            <a:bodyPr wrap="square" rtlCol="0">
              <a:spAutoFit/>
            </a:bodyPr>
            <a:lstStyle/>
            <a:p>
              <a:r>
                <a:rPr lang="en-US" altLang="zh-CN" sz="2000" kern="100" dirty="0">
                  <a:latin typeface="Times New Roman" panose="02020603050405020304" pitchFamily="18" charset="0"/>
                  <a:ea typeface="宋体" panose="02010600030101010101" pitchFamily="2" charset="-122"/>
                  <a:sym typeface="Symbol" panose="05050102010706020507" pitchFamily="18" charset="2"/>
                </a:rPr>
                <a:t></a:t>
              </a:r>
              <a:endParaRPr lang="zh-CN" altLang="en-US" sz="2000" dirty="0"/>
            </a:p>
          </p:txBody>
        </p:sp>
        <p:cxnSp>
          <p:nvCxnSpPr>
            <p:cNvPr id="46" name="直接连接符 45"/>
            <p:cNvCxnSpPr/>
            <p:nvPr/>
          </p:nvCxnSpPr>
          <p:spPr>
            <a:xfrm>
              <a:off x="6503385" y="4634721"/>
              <a:ext cx="0" cy="313293"/>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5112060" y="4341361"/>
              <a:ext cx="1800200" cy="369332"/>
            </a:xfrm>
            <a:prstGeom prst="rect">
              <a:avLst/>
            </a:prstGeom>
            <a:noFill/>
          </p:spPr>
          <p:txBody>
            <a:bodyPr wrap="square" rtlCol="0">
              <a:spAutoFit/>
            </a:bodyPr>
            <a:lstStyle/>
            <a:p>
              <a:r>
                <a:rPr lang="en-US" altLang="zh-CN" dirty="0"/>
                <a:t>+      T      E</a:t>
              </a:r>
              <a:r>
                <a:rPr lang="pt-PT" altLang="zh-CN" kern="100" dirty="0">
                  <a:latin typeface="Times New Roman" panose="02020603050405020304" pitchFamily="18" charset="0"/>
                  <a:ea typeface="宋体" panose="02010600030101010101" pitchFamily="2" charset="-122"/>
                </a:rPr>
                <a:t>'</a:t>
              </a:r>
              <a:r>
                <a:rPr lang="pt-PT" altLang="zh-CN" kern="100" baseline="-25000" dirty="0">
                  <a:latin typeface="Times New Roman" panose="02020603050405020304" pitchFamily="18" charset="0"/>
                  <a:ea typeface="宋体" panose="02010600030101010101" pitchFamily="2" charset="-122"/>
                </a:rPr>
                <a:t>1</a:t>
              </a:r>
              <a:endParaRPr lang="zh-CN" altLang="en-US" baseline="-25000" dirty="0"/>
            </a:p>
          </p:txBody>
        </p:sp>
        <p:cxnSp>
          <p:nvCxnSpPr>
            <p:cNvPr id="34" name="直接连接符 33"/>
            <p:cNvCxnSpPr/>
            <p:nvPr/>
          </p:nvCxnSpPr>
          <p:spPr>
            <a:xfrm flipH="1">
              <a:off x="5256076" y="4099808"/>
              <a:ext cx="576064"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flipV="1">
              <a:off x="5855314" y="4099808"/>
              <a:ext cx="648071" cy="299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5855314" y="4099808"/>
              <a:ext cx="0" cy="313293"/>
            </a:xfrm>
            <a:prstGeom prst="line">
              <a:avLst/>
            </a:prstGeom>
          </p:spPr>
          <p:style>
            <a:lnRef idx="1">
              <a:schemeClr val="accent1"/>
            </a:lnRef>
            <a:fillRef idx="0">
              <a:schemeClr val="accent1"/>
            </a:fillRef>
            <a:effectRef idx="0">
              <a:schemeClr val="accent1"/>
            </a:effectRef>
            <a:fontRef idx="minor">
              <a:schemeClr val="tx1"/>
            </a:fontRef>
          </p:style>
        </p:cxnSp>
      </p:grpSp>
      <p:sp>
        <p:nvSpPr>
          <p:cNvPr id="49" name="内容占位符 1"/>
          <p:cNvSpPr txBox="1">
            <a:spLocks/>
          </p:cNvSpPr>
          <p:nvPr/>
        </p:nvSpPr>
        <p:spPr>
          <a:xfrm>
            <a:off x="6679825" y="3335968"/>
            <a:ext cx="2505230" cy="1807532"/>
          </a:xfrm>
          <a:prstGeom prst="rect">
            <a:avLst/>
          </a:prstGeom>
        </p:spPr>
        <p:style>
          <a:lnRef idx="2">
            <a:schemeClr val="accent2"/>
          </a:lnRef>
          <a:fillRef idx="1">
            <a:schemeClr val="lt1"/>
          </a:fillRef>
          <a:effectRef idx="0">
            <a:schemeClr val="accent2"/>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marL="109728" indent="0">
              <a:buNone/>
            </a:pPr>
            <a:r>
              <a:rPr lang="zh-CN" altLang="en-US" sz="1800" dirty="0"/>
              <a:t>改造为右递归，根结点的</a:t>
            </a:r>
            <a:r>
              <a:rPr lang="en-US" altLang="zh-CN" sz="1800" dirty="0" err="1"/>
              <a:t>val</a:t>
            </a:r>
            <a:r>
              <a:rPr lang="zh-CN" altLang="en-US" sz="1800" dirty="0"/>
              <a:t>值是把</a:t>
            </a:r>
            <a:r>
              <a:rPr lang="en-US" altLang="zh-CN" sz="1800" dirty="0"/>
              <a:t>+</a:t>
            </a:r>
            <a:r>
              <a:rPr lang="zh-CN" altLang="en-US" sz="1800" dirty="0"/>
              <a:t>左边文法符号</a:t>
            </a:r>
            <a:r>
              <a:rPr lang="en-US" altLang="zh-CN" sz="1800" dirty="0"/>
              <a:t>T</a:t>
            </a:r>
            <a:r>
              <a:rPr lang="zh-CN" altLang="en-US" sz="1800" dirty="0"/>
              <a:t>的</a:t>
            </a:r>
            <a:r>
              <a:rPr lang="en-US" altLang="zh-CN" sz="1800" dirty="0" err="1"/>
              <a:t>val</a:t>
            </a:r>
            <a:r>
              <a:rPr lang="zh-CN" altLang="en-US" sz="1800" dirty="0"/>
              <a:t>和右边文法符号的</a:t>
            </a:r>
            <a:r>
              <a:rPr lang="en-US" altLang="zh-CN" sz="1800" dirty="0" err="1"/>
              <a:t>val</a:t>
            </a:r>
            <a:r>
              <a:rPr lang="zh-CN" altLang="en-US" sz="1800" dirty="0"/>
              <a:t>相加，是随着产生式扩展逐步累加</a:t>
            </a:r>
          </a:p>
        </p:txBody>
      </p:sp>
    </p:spTree>
    <p:extLst>
      <p:ext uri="{BB962C8B-B14F-4D97-AF65-F5344CB8AC3E}">
        <p14:creationId xmlns:p14="http://schemas.microsoft.com/office/powerpoint/2010/main" val="766981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bg/>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P spid="6" grpId="0"/>
      <p:bldP spid="7" grpId="0" animBg="1"/>
      <p:bldP spid="8" grpId="0"/>
      <p:bldP spid="9" grpId="0"/>
      <p:bldP spid="49"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92546"/>
            <a:ext cx="8532440" cy="576064"/>
          </a:xfrm>
        </p:spPr>
        <p:txBody>
          <a:bodyPr>
            <a:normAutofit/>
          </a:bodyPr>
          <a:lstStyle/>
          <a:p>
            <a:r>
              <a:rPr lang="zh-CN" altLang="en-US" sz="2800" dirty="0"/>
              <a:t>带左递归的文法消除左递归时，翻译模式要随之改变</a:t>
            </a:r>
          </a:p>
        </p:txBody>
      </p:sp>
      <p:graphicFrame>
        <p:nvGraphicFramePr>
          <p:cNvPr id="5" name="表格 4"/>
          <p:cNvGraphicFramePr>
            <a:graphicFrameLocks noGrp="1"/>
          </p:cNvGraphicFramePr>
          <p:nvPr/>
        </p:nvGraphicFramePr>
        <p:xfrm>
          <a:off x="136623" y="668184"/>
          <a:ext cx="5587505" cy="1760220"/>
        </p:xfrm>
        <a:graphic>
          <a:graphicData uri="http://schemas.openxmlformats.org/drawingml/2006/table">
            <a:tbl>
              <a:tblPr firstRow="1" firstCol="1" bandRow="1"/>
              <a:tblGrid>
                <a:gridCol w="1627065">
                  <a:extLst>
                    <a:ext uri="{9D8B030D-6E8A-4147-A177-3AD203B41FA5}">
                      <a16:colId xmlns:a16="http://schemas.microsoft.com/office/drawing/2014/main" val="20000"/>
                    </a:ext>
                  </a:extLst>
                </a:gridCol>
                <a:gridCol w="3960440">
                  <a:extLst>
                    <a:ext uri="{9D8B030D-6E8A-4147-A177-3AD203B41FA5}">
                      <a16:colId xmlns:a16="http://schemas.microsoft.com/office/drawing/2014/main" val="20001"/>
                    </a:ext>
                  </a:extLst>
                </a:gridCol>
              </a:tblGrid>
              <a:tr h="251460">
                <a:tc>
                  <a:txBody>
                    <a:bodyPr/>
                    <a:lstStyle/>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文法</a:t>
                      </a:r>
                    </a:p>
                  </a:txBody>
                  <a:tcPr marL="68586" marR="6858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635" indent="-635" algn="just">
                        <a:spcAft>
                          <a:spcPts val="0"/>
                        </a:spcAft>
                      </a:pPr>
                      <a:r>
                        <a:rPr lang="zh-CN" sz="1600" kern="100">
                          <a:effectLst/>
                          <a:latin typeface="Times New Roman" panose="02020603050405020304" pitchFamily="18" charset="0"/>
                          <a:ea typeface="宋体" panose="02010600030101010101" pitchFamily="2" charset="-122"/>
                        </a:rPr>
                        <a:t>翻译模式</a:t>
                      </a:r>
                    </a:p>
                  </a:txBody>
                  <a:tcPr marL="68586" marR="6858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508760">
                <a:tc>
                  <a:txBody>
                    <a:bodyPr/>
                    <a:lstStyle/>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1</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TE</a:t>
                      </a:r>
                      <a:r>
                        <a:rPr lang="pt-PT" sz="1600" kern="100" dirty="0">
                          <a:effectLst/>
                          <a:latin typeface="Times New Roman" panose="02020603050405020304" pitchFamily="18" charset="0"/>
                          <a:ea typeface="宋体" panose="02010600030101010101" pitchFamily="2" charset="-122"/>
                        </a:rPr>
                        <a:t>'</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2</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 TE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3</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pt-PT" sz="1600" kern="100" dirty="0">
                          <a:effectLst/>
                          <a:latin typeface="Times New Roman" panose="02020603050405020304" pitchFamily="18" charset="0"/>
                          <a:ea typeface="宋体" panose="02010600030101010101" pitchFamily="2" charset="-122"/>
                        </a:rPr>
                        <a:t> – </a:t>
                      </a:r>
                      <a:r>
                        <a:rPr lang="fr-FR" sz="1600" kern="100" dirty="0">
                          <a:effectLst/>
                          <a:latin typeface="Times New Roman" panose="02020603050405020304" pitchFamily="18" charset="0"/>
                          <a:ea typeface="宋体" panose="02010600030101010101" pitchFamily="2" charset="-122"/>
                        </a:rPr>
                        <a:t>TE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 </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4</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en-US" altLang="zh-CN" sz="1600" kern="100" dirty="0">
                          <a:effectLst/>
                          <a:latin typeface="Times New Roman" panose="02020603050405020304" pitchFamily="18" charset="0"/>
                          <a:ea typeface="宋体" panose="02010600030101010101" pitchFamily="2" charset="-122"/>
                        </a:rPr>
                        <a:t> </a:t>
                      </a:r>
                      <a:r>
                        <a:rPr lang="en-US" sz="1600" kern="100" dirty="0">
                          <a:effectLst/>
                          <a:latin typeface="Times New Roman" panose="02020603050405020304" pitchFamily="18" charset="0"/>
                          <a:ea typeface="宋体" panose="02010600030101010101" pitchFamily="2" charset="-122"/>
                          <a:sym typeface="Symbol" panose="05050102010706020507" pitchFamily="18" charset="2"/>
                        </a:rPr>
                        <a:t></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5</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endParaRPr lang="zh-CN" sz="1600" kern="100" dirty="0">
                        <a:effectLst/>
                        <a:latin typeface="Times New Roman" panose="02020603050405020304" pitchFamily="18" charset="0"/>
                        <a:ea typeface="宋体" panose="02010600030101010101" pitchFamily="2" charset="-122"/>
                      </a:endParaRPr>
                    </a:p>
                    <a:p>
                      <a:pPr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6</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r>
                        <a:rPr lang="zh-CN" sz="1600" kern="100" dirty="0">
                          <a:effectLst/>
                          <a:latin typeface="Times New Roman" panose="02020603050405020304" pitchFamily="18" charset="0"/>
                          <a:ea typeface="宋体" panose="02010600030101010101" pitchFamily="2" charset="-122"/>
                        </a:rPr>
                        <a:t>→</a:t>
                      </a:r>
                      <a:r>
                        <a:rPr lang="en-US" altLang="zh-CN" sz="1600" kern="100" dirty="0" err="1">
                          <a:effectLst/>
                          <a:latin typeface="Times New Roman" panose="02020603050405020304" pitchFamily="18" charset="0"/>
                          <a:ea typeface="宋体" panose="02010600030101010101" pitchFamily="2" charset="-122"/>
                        </a:rPr>
                        <a:t>i</a:t>
                      </a:r>
                      <a:endParaRPr lang="zh-CN" sz="1600" kern="100" dirty="0">
                        <a:effectLst/>
                        <a:latin typeface="Times New Roman" panose="02020603050405020304" pitchFamily="18" charset="0"/>
                        <a:ea typeface="宋体" panose="02010600030101010101" pitchFamily="2" charset="-122"/>
                      </a:endParaRPr>
                    </a:p>
                  </a:txBody>
                  <a:tcPr marL="68586" marR="6858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635" indent="-635" algn="just">
                        <a:spcAft>
                          <a:spcPts val="0"/>
                        </a:spcAft>
                      </a:pPr>
                      <a:endParaRPr lang="pt-PT" altLang="zh-CN" sz="1600" kern="100" dirty="0">
                        <a:effectLst/>
                        <a:latin typeface="Times New Roman" panose="02020603050405020304" pitchFamily="18" charset="0"/>
                        <a:ea typeface="宋体" panose="02010600030101010101" pitchFamily="2" charset="-122"/>
                      </a:endParaRPr>
                    </a:p>
                    <a:p>
                      <a:pPr marL="635" indent="-635" algn="just">
                        <a:spcAft>
                          <a:spcPts val="0"/>
                        </a:spcAft>
                      </a:pPr>
                      <a:endParaRPr lang="pt-PT" altLang="zh-CN" sz="1600" kern="100" dirty="0">
                        <a:effectLst/>
                        <a:latin typeface="Times New Roman" panose="02020603050405020304" pitchFamily="18" charset="0"/>
                        <a:ea typeface="宋体" panose="02010600030101010101" pitchFamily="2" charset="-122"/>
                      </a:endParaRPr>
                    </a:p>
                    <a:p>
                      <a:pPr marL="635" marR="0" indent="-635" algn="just" defTabSz="914400" rtl="0" eaLnBrk="1" fontAlgn="auto" latinLnBrk="0" hangingPunct="1">
                        <a:lnSpc>
                          <a:spcPct val="100000"/>
                        </a:lnSpc>
                        <a:spcBef>
                          <a:spcPts val="0"/>
                        </a:spcBef>
                        <a:spcAft>
                          <a:spcPts val="0"/>
                        </a:spcAft>
                        <a:buClrTx/>
                        <a:buSzTx/>
                        <a:buFontTx/>
                        <a:buNone/>
                        <a:tabLst/>
                        <a:defRPr/>
                      </a:pPr>
                      <a:endParaRPr lang="pt-PT" altLang="zh-CN" sz="1600" kern="100" dirty="0">
                        <a:effectLst/>
                        <a:latin typeface="Times New Roman" panose="02020603050405020304" pitchFamily="18" charset="0"/>
                        <a:ea typeface="宋体" panose="02010600030101010101" pitchFamily="2" charset="-122"/>
                      </a:endParaRPr>
                    </a:p>
                    <a:p>
                      <a:pPr marL="635" indent="-635" algn="just">
                        <a:spcAft>
                          <a:spcPts val="0"/>
                        </a:spcAft>
                      </a:pPr>
                      <a:endParaRPr lang="pt-PT" altLang="zh-CN" sz="1600" kern="100" dirty="0">
                        <a:solidFill>
                          <a:srgbClr val="FF0000"/>
                        </a:solidFill>
                        <a:effectLst/>
                        <a:latin typeface="Times New Roman" panose="02020603050405020304" pitchFamily="18" charset="0"/>
                        <a:ea typeface="宋体" panose="02010600030101010101" pitchFamily="2" charset="-122"/>
                      </a:endParaRPr>
                    </a:p>
                    <a:p>
                      <a:pPr marL="635" indent="-635" algn="just">
                        <a:spcAft>
                          <a:spcPts val="0"/>
                        </a:spcAft>
                      </a:pPr>
                      <a:endParaRPr lang="fr-FR" altLang="zh-CN" sz="1600" kern="100" dirty="0">
                        <a:effectLst/>
                        <a:latin typeface="Times New Roman" panose="02020603050405020304" pitchFamily="18" charset="0"/>
                        <a:ea typeface="宋体" panose="02010600030101010101" pitchFamily="2" charset="-122"/>
                      </a:endParaRPr>
                    </a:p>
                  </a:txBody>
                  <a:tcPr marL="68586" marR="6858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9" name="TextBox 8"/>
          <p:cNvSpPr txBox="1"/>
          <p:nvPr/>
        </p:nvSpPr>
        <p:spPr>
          <a:xfrm>
            <a:off x="5724128" y="483518"/>
            <a:ext cx="3419872" cy="369332"/>
          </a:xfrm>
          <a:prstGeom prst="rect">
            <a:avLst/>
          </a:prstGeom>
          <a:noFill/>
        </p:spPr>
        <p:txBody>
          <a:bodyPr wrap="square" rtlCol="0">
            <a:spAutoFit/>
          </a:bodyPr>
          <a:lstStyle/>
          <a:p>
            <a:r>
              <a:rPr lang="zh-CN" altLang="en-US" dirty="0">
                <a:solidFill>
                  <a:srgbClr val="FF0000"/>
                </a:solidFill>
              </a:rPr>
              <a:t>考虑句型  </a:t>
            </a:r>
            <a:r>
              <a:rPr lang="en-US" altLang="zh-CN" dirty="0">
                <a:solidFill>
                  <a:srgbClr val="FF0000"/>
                </a:solidFill>
              </a:rPr>
              <a:t>T+T+T </a:t>
            </a:r>
            <a:r>
              <a:rPr lang="zh-CN" altLang="en-US" dirty="0">
                <a:solidFill>
                  <a:srgbClr val="FF0000"/>
                </a:solidFill>
              </a:rPr>
              <a:t>的语法树</a:t>
            </a:r>
          </a:p>
        </p:txBody>
      </p:sp>
      <p:grpSp>
        <p:nvGrpSpPr>
          <p:cNvPr id="16" name="组合 15"/>
          <p:cNvGrpSpPr/>
          <p:nvPr/>
        </p:nvGrpSpPr>
        <p:grpSpPr>
          <a:xfrm>
            <a:off x="2659003" y="2753548"/>
            <a:ext cx="3569181" cy="2467203"/>
            <a:chOff x="3720735" y="2768843"/>
            <a:chExt cx="3191525" cy="2467203"/>
          </a:xfrm>
        </p:grpSpPr>
        <p:sp>
          <p:nvSpPr>
            <p:cNvPr id="36" name="TextBox 35"/>
            <p:cNvSpPr txBox="1"/>
            <p:nvPr/>
          </p:nvSpPr>
          <p:spPr>
            <a:xfrm>
              <a:off x="4296799" y="2768843"/>
              <a:ext cx="648072" cy="369332"/>
            </a:xfrm>
            <a:prstGeom prst="rect">
              <a:avLst/>
            </a:prstGeom>
            <a:noFill/>
          </p:spPr>
          <p:txBody>
            <a:bodyPr wrap="square" rtlCol="0">
              <a:spAutoFit/>
            </a:bodyPr>
            <a:lstStyle/>
            <a:p>
              <a:r>
                <a:rPr lang="en-US" altLang="zh-CN" dirty="0"/>
                <a:t>E</a:t>
              </a:r>
              <a:endParaRPr lang="zh-CN" altLang="en-US" dirty="0"/>
            </a:p>
          </p:txBody>
        </p:sp>
        <p:sp>
          <p:nvSpPr>
            <p:cNvPr id="37" name="TextBox 36"/>
            <p:cNvSpPr txBox="1"/>
            <p:nvPr/>
          </p:nvSpPr>
          <p:spPr>
            <a:xfrm>
              <a:off x="3720735" y="3263607"/>
              <a:ext cx="1800200" cy="369332"/>
            </a:xfrm>
            <a:prstGeom prst="rect">
              <a:avLst/>
            </a:prstGeom>
            <a:noFill/>
          </p:spPr>
          <p:txBody>
            <a:bodyPr wrap="square" rtlCol="0">
              <a:spAutoFit/>
            </a:bodyPr>
            <a:lstStyle/>
            <a:p>
              <a:r>
                <a:rPr lang="en-US" altLang="zh-CN" dirty="0"/>
                <a:t>T                  E</a:t>
              </a:r>
              <a:r>
                <a:rPr lang="pt-PT" altLang="zh-CN" kern="100" dirty="0">
                  <a:latin typeface="Times New Roman" panose="02020603050405020304" pitchFamily="18" charset="0"/>
                  <a:ea typeface="宋体" panose="02010600030101010101" pitchFamily="2" charset="-122"/>
                </a:rPr>
                <a:t>'</a:t>
              </a:r>
              <a:endParaRPr lang="zh-CN" altLang="en-US" dirty="0"/>
            </a:p>
          </p:txBody>
        </p:sp>
        <p:cxnSp>
          <p:nvCxnSpPr>
            <p:cNvPr id="38" name="直接连接符 37"/>
            <p:cNvCxnSpPr/>
            <p:nvPr/>
          </p:nvCxnSpPr>
          <p:spPr>
            <a:xfrm flipH="1">
              <a:off x="3864751" y="3084770"/>
              <a:ext cx="599238"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flipV="1">
              <a:off x="4463989" y="3084770"/>
              <a:ext cx="648071" cy="299877"/>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440787" y="3802484"/>
              <a:ext cx="1800200" cy="369332"/>
            </a:xfrm>
            <a:prstGeom prst="rect">
              <a:avLst/>
            </a:prstGeom>
            <a:noFill/>
          </p:spPr>
          <p:txBody>
            <a:bodyPr wrap="square" rtlCol="0">
              <a:spAutoFit/>
            </a:bodyPr>
            <a:lstStyle/>
            <a:p>
              <a:r>
                <a:rPr lang="en-US" altLang="zh-CN" dirty="0"/>
                <a:t>+       T        E</a:t>
              </a:r>
              <a:r>
                <a:rPr lang="pt-PT" altLang="zh-CN" kern="100" dirty="0">
                  <a:latin typeface="Times New Roman" panose="02020603050405020304" pitchFamily="18" charset="0"/>
                  <a:ea typeface="宋体" panose="02010600030101010101" pitchFamily="2" charset="-122"/>
                </a:rPr>
                <a:t>'</a:t>
              </a:r>
              <a:r>
                <a:rPr lang="pt-PT" altLang="zh-CN" kern="100" baseline="-25000" dirty="0">
                  <a:latin typeface="Times New Roman" panose="02020603050405020304" pitchFamily="18" charset="0"/>
                  <a:ea typeface="宋体" panose="02010600030101010101" pitchFamily="2" charset="-122"/>
                </a:rPr>
                <a:t>1</a:t>
              </a:r>
              <a:endParaRPr lang="zh-CN" altLang="en-US" baseline="-25000" dirty="0"/>
            </a:p>
          </p:txBody>
        </p:sp>
        <p:cxnSp>
          <p:nvCxnSpPr>
            <p:cNvPr id="42" name="直接连接符 41"/>
            <p:cNvCxnSpPr/>
            <p:nvPr/>
          </p:nvCxnSpPr>
          <p:spPr>
            <a:xfrm flipH="1">
              <a:off x="4584803" y="3560931"/>
              <a:ext cx="576064"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flipV="1">
              <a:off x="5184041" y="3560931"/>
              <a:ext cx="648071" cy="299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5184041" y="3560931"/>
              <a:ext cx="0" cy="313293"/>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395372" y="4835936"/>
              <a:ext cx="336868" cy="400110"/>
            </a:xfrm>
            <a:prstGeom prst="rect">
              <a:avLst/>
            </a:prstGeom>
            <a:noFill/>
          </p:spPr>
          <p:txBody>
            <a:bodyPr wrap="square" rtlCol="0">
              <a:spAutoFit/>
            </a:bodyPr>
            <a:lstStyle/>
            <a:p>
              <a:r>
                <a:rPr lang="en-US" altLang="zh-CN" sz="2000" kern="100" dirty="0">
                  <a:latin typeface="Times New Roman" panose="02020603050405020304" pitchFamily="18" charset="0"/>
                  <a:ea typeface="宋体" panose="02010600030101010101" pitchFamily="2" charset="-122"/>
                  <a:sym typeface="Symbol" panose="05050102010706020507" pitchFamily="18" charset="2"/>
                </a:rPr>
                <a:t></a:t>
              </a:r>
              <a:endParaRPr lang="zh-CN" altLang="en-US" sz="2000" dirty="0"/>
            </a:p>
          </p:txBody>
        </p:sp>
        <p:cxnSp>
          <p:nvCxnSpPr>
            <p:cNvPr id="46" name="直接连接符 45"/>
            <p:cNvCxnSpPr/>
            <p:nvPr/>
          </p:nvCxnSpPr>
          <p:spPr>
            <a:xfrm>
              <a:off x="6503385" y="4634721"/>
              <a:ext cx="0" cy="313293"/>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5112060" y="4341361"/>
              <a:ext cx="1800200" cy="369332"/>
            </a:xfrm>
            <a:prstGeom prst="rect">
              <a:avLst/>
            </a:prstGeom>
            <a:noFill/>
          </p:spPr>
          <p:txBody>
            <a:bodyPr wrap="square" rtlCol="0">
              <a:spAutoFit/>
            </a:bodyPr>
            <a:lstStyle/>
            <a:p>
              <a:r>
                <a:rPr lang="en-US" altLang="zh-CN" dirty="0"/>
                <a:t>+       T       E</a:t>
              </a:r>
              <a:r>
                <a:rPr lang="pt-PT" altLang="zh-CN" kern="100" dirty="0">
                  <a:latin typeface="Times New Roman" panose="02020603050405020304" pitchFamily="18" charset="0"/>
                  <a:ea typeface="宋体" panose="02010600030101010101" pitchFamily="2" charset="-122"/>
                </a:rPr>
                <a:t>'</a:t>
              </a:r>
              <a:r>
                <a:rPr lang="pt-PT" altLang="zh-CN" kern="100" baseline="-25000" dirty="0">
                  <a:latin typeface="Times New Roman" panose="02020603050405020304" pitchFamily="18" charset="0"/>
                  <a:ea typeface="宋体" panose="02010600030101010101" pitchFamily="2" charset="-122"/>
                </a:rPr>
                <a:t>1</a:t>
              </a:r>
              <a:endParaRPr lang="zh-CN" altLang="en-US" baseline="-25000" dirty="0"/>
            </a:p>
          </p:txBody>
        </p:sp>
        <p:cxnSp>
          <p:nvCxnSpPr>
            <p:cNvPr id="34" name="直接连接符 33"/>
            <p:cNvCxnSpPr/>
            <p:nvPr/>
          </p:nvCxnSpPr>
          <p:spPr>
            <a:xfrm flipH="1">
              <a:off x="5256076" y="4099808"/>
              <a:ext cx="576064" cy="2713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flipV="1">
              <a:off x="5855314" y="4099808"/>
              <a:ext cx="648071" cy="299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5855314" y="4099808"/>
              <a:ext cx="0" cy="313293"/>
            </a:xfrm>
            <a:prstGeom prst="line">
              <a:avLst/>
            </a:prstGeom>
          </p:spPr>
          <p:style>
            <a:lnRef idx="1">
              <a:schemeClr val="accent1"/>
            </a:lnRef>
            <a:fillRef idx="0">
              <a:schemeClr val="accent1"/>
            </a:fillRef>
            <a:effectRef idx="0">
              <a:schemeClr val="accent1"/>
            </a:effectRef>
            <a:fontRef idx="minor">
              <a:schemeClr val="tx1"/>
            </a:fontRef>
          </p:style>
        </p:cxnSp>
      </p:grpSp>
      <p:sp>
        <p:nvSpPr>
          <p:cNvPr id="49" name="内容占位符 1"/>
          <p:cNvSpPr txBox="1">
            <a:spLocks/>
          </p:cNvSpPr>
          <p:nvPr/>
        </p:nvSpPr>
        <p:spPr>
          <a:xfrm>
            <a:off x="6026862" y="1058459"/>
            <a:ext cx="2948931" cy="2189166"/>
          </a:xfrm>
          <a:prstGeom prst="rect">
            <a:avLst/>
          </a:prstGeom>
        </p:spPr>
        <p:style>
          <a:lnRef idx="2">
            <a:schemeClr val="accent2"/>
          </a:lnRef>
          <a:fillRef idx="1">
            <a:schemeClr val="lt1"/>
          </a:fillRef>
          <a:effectRef idx="0">
            <a:schemeClr val="accent2"/>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marL="109728" indent="0">
              <a:buNone/>
            </a:pPr>
            <a:r>
              <a:rPr lang="zh-CN" altLang="en-US" sz="1800" dirty="0">
                <a:solidFill>
                  <a:srgbClr val="FF0000"/>
                </a:solidFill>
              </a:rPr>
              <a:t>为</a:t>
            </a:r>
            <a:r>
              <a:rPr lang="fr-FR" altLang="zh-CN" sz="1800" kern="100" dirty="0">
                <a:solidFill>
                  <a:srgbClr val="FF0000"/>
                </a:solidFill>
                <a:latin typeface="Times New Roman" panose="02020603050405020304" pitchFamily="18" charset="0"/>
              </a:rPr>
              <a:t>E</a:t>
            </a:r>
            <a:r>
              <a:rPr lang="pt-PT" altLang="zh-CN" sz="1800" kern="100" dirty="0">
                <a:solidFill>
                  <a:srgbClr val="FF0000"/>
                </a:solidFill>
                <a:latin typeface="Times New Roman" panose="02020603050405020304" pitchFamily="18" charset="0"/>
              </a:rPr>
              <a:t>'</a:t>
            </a:r>
            <a:r>
              <a:rPr lang="zh-CN" altLang="en-US" sz="1800" dirty="0">
                <a:solidFill>
                  <a:srgbClr val="FF0000"/>
                </a:solidFill>
              </a:rPr>
              <a:t>设置两个属性</a:t>
            </a:r>
            <a:endParaRPr lang="en-US" altLang="zh-CN" sz="1800" dirty="0">
              <a:solidFill>
                <a:srgbClr val="FF0000"/>
              </a:solidFill>
            </a:endParaRPr>
          </a:p>
          <a:p>
            <a:pPr marL="109728" indent="0">
              <a:buNone/>
            </a:pPr>
            <a:r>
              <a:rPr lang="fr-FR" altLang="zh-CN" sz="1800" kern="100" dirty="0">
                <a:solidFill>
                  <a:srgbClr val="FF0000"/>
                </a:solidFill>
                <a:latin typeface="Times New Roman" panose="02020603050405020304" pitchFamily="18" charset="0"/>
              </a:rPr>
              <a:t>E</a:t>
            </a:r>
            <a:r>
              <a:rPr lang="pt-PT" altLang="zh-CN" sz="1800" kern="100" dirty="0">
                <a:solidFill>
                  <a:srgbClr val="FF0000"/>
                </a:solidFill>
                <a:latin typeface="Times New Roman" panose="02020603050405020304" pitchFamily="18" charset="0"/>
              </a:rPr>
              <a:t>'</a:t>
            </a:r>
            <a:r>
              <a:rPr lang="en-US" altLang="zh-CN" sz="1800" dirty="0">
                <a:solidFill>
                  <a:srgbClr val="FF0000"/>
                </a:solidFill>
              </a:rPr>
              <a:t>.</a:t>
            </a:r>
            <a:r>
              <a:rPr lang="en-US" altLang="zh-CN" sz="1800" dirty="0" err="1">
                <a:solidFill>
                  <a:srgbClr val="FF0000"/>
                </a:solidFill>
              </a:rPr>
              <a:t>i</a:t>
            </a:r>
            <a:r>
              <a:rPr lang="zh-CN" altLang="en-US" sz="1800" dirty="0"/>
              <a:t>：继承属性，用于存放它左边文法符号</a:t>
            </a:r>
            <a:r>
              <a:rPr lang="en-US" altLang="zh-CN" sz="1800" dirty="0" err="1"/>
              <a:t>val</a:t>
            </a:r>
            <a:r>
              <a:rPr lang="zh-CN" altLang="en-US" sz="1800" dirty="0"/>
              <a:t>值；</a:t>
            </a:r>
            <a:endParaRPr lang="en-US" altLang="zh-CN" sz="1800" dirty="0"/>
          </a:p>
        </p:txBody>
      </p:sp>
      <p:sp>
        <p:nvSpPr>
          <p:cNvPr id="15" name="内容占位符 14"/>
          <p:cNvSpPr>
            <a:spLocks noGrp="1"/>
          </p:cNvSpPr>
          <p:nvPr>
            <p:ph idx="1"/>
          </p:nvPr>
        </p:nvSpPr>
        <p:spPr>
          <a:xfrm>
            <a:off x="145646" y="2715766"/>
            <a:ext cx="1922405" cy="373142"/>
          </a:xfrm>
        </p:spPr>
        <p:txBody>
          <a:bodyPr>
            <a:normAutofit fontScale="92500" lnSpcReduction="20000"/>
          </a:bodyPr>
          <a:lstStyle/>
          <a:p>
            <a:pPr marL="109728" indent="0">
              <a:lnSpc>
                <a:spcPct val="110000"/>
              </a:lnSpc>
              <a:spcBef>
                <a:spcPts val="0"/>
              </a:spcBef>
              <a:buNone/>
            </a:pPr>
            <a:r>
              <a:rPr lang="fr-FR" altLang="zh-CN" sz="2000" kern="100" dirty="0">
                <a:solidFill>
                  <a:srgbClr val="0000FF"/>
                </a:solidFill>
              </a:rPr>
              <a:t>(1)E</a:t>
            </a:r>
            <a:r>
              <a:rPr lang="zh-CN" altLang="zh-CN" sz="2000" kern="100" dirty="0">
                <a:solidFill>
                  <a:srgbClr val="0000FF"/>
                </a:solidFill>
              </a:rPr>
              <a:t>→</a:t>
            </a:r>
            <a:r>
              <a:rPr lang="fr-FR" altLang="zh-CN" sz="2000" kern="100" dirty="0">
                <a:solidFill>
                  <a:srgbClr val="0000FF"/>
                </a:solidFill>
              </a:rPr>
              <a:t>TE</a:t>
            </a:r>
            <a:r>
              <a:rPr lang="pt-PT" altLang="zh-CN" sz="2000" kern="100" dirty="0">
                <a:solidFill>
                  <a:srgbClr val="0000FF"/>
                </a:solidFill>
                <a:latin typeface="Times New Roman" panose="02020603050405020304" pitchFamily="18" charset="0"/>
              </a:rPr>
              <a:t>' </a:t>
            </a:r>
            <a:endParaRPr lang="pt-PT" altLang="zh-CN" sz="2000" kern="100" dirty="0">
              <a:solidFill>
                <a:srgbClr val="0000FF"/>
              </a:solidFill>
            </a:endParaRPr>
          </a:p>
        </p:txBody>
      </p:sp>
      <p:sp>
        <p:nvSpPr>
          <p:cNvPr id="17" name="任意多边形 16"/>
          <p:cNvSpPr/>
          <p:nvPr/>
        </p:nvSpPr>
        <p:spPr>
          <a:xfrm>
            <a:off x="2909455" y="3241854"/>
            <a:ext cx="1213658" cy="232866"/>
          </a:xfrm>
          <a:custGeom>
            <a:avLst/>
            <a:gdLst>
              <a:gd name="connsiteX0" fmla="*/ 0 w 1213658"/>
              <a:gd name="connsiteY0" fmla="*/ 232866 h 232866"/>
              <a:gd name="connsiteX1" fmla="*/ 548640 w 1213658"/>
              <a:gd name="connsiteY1" fmla="*/ 110 h 232866"/>
              <a:gd name="connsiteX2" fmla="*/ 1213658 w 1213658"/>
              <a:gd name="connsiteY2" fmla="*/ 199615 h 232866"/>
              <a:gd name="connsiteX3" fmla="*/ 1213658 w 1213658"/>
              <a:gd name="connsiteY3" fmla="*/ 199615 h 232866"/>
            </a:gdLst>
            <a:ahLst/>
            <a:cxnLst>
              <a:cxn ang="0">
                <a:pos x="connsiteX0" y="connsiteY0"/>
              </a:cxn>
              <a:cxn ang="0">
                <a:pos x="connsiteX1" y="connsiteY1"/>
              </a:cxn>
              <a:cxn ang="0">
                <a:pos x="connsiteX2" y="connsiteY2"/>
              </a:cxn>
              <a:cxn ang="0">
                <a:pos x="connsiteX3" y="connsiteY3"/>
              </a:cxn>
            </a:cxnLst>
            <a:rect l="l" t="t" r="r" b="b"/>
            <a:pathLst>
              <a:path w="1213658" h="232866">
                <a:moveTo>
                  <a:pt x="0" y="232866"/>
                </a:moveTo>
                <a:cubicBezTo>
                  <a:pt x="173182" y="119259"/>
                  <a:pt x="346364" y="5652"/>
                  <a:pt x="548640" y="110"/>
                </a:cubicBezTo>
                <a:cubicBezTo>
                  <a:pt x="750916" y="-5432"/>
                  <a:pt x="1213658" y="199615"/>
                  <a:pt x="1213658" y="199615"/>
                </a:cubicBezTo>
                <a:lnTo>
                  <a:pt x="1213658" y="199615"/>
                </a:lnTo>
              </a:path>
            </a:pathLst>
          </a:cu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内容占位符 14"/>
          <p:cNvSpPr txBox="1">
            <a:spLocks/>
          </p:cNvSpPr>
          <p:nvPr/>
        </p:nvSpPr>
        <p:spPr>
          <a:xfrm>
            <a:off x="180822" y="3082013"/>
            <a:ext cx="1922405" cy="617511"/>
          </a:xfrm>
          <a:prstGeom prst="rect">
            <a:avLst/>
          </a:prstGeom>
          <a:ln>
            <a:solidFill>
              <a:srgbClr val="CC00FF"/>
            </a:solidFill>
          </a:ln>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nSpc>
                <a:spcPct val="90000"/>
              </a:lnSpc>
              <a:spcBef>
                <a:spcPts val="0"/>
              </a:spcBef>
              <a:buNone/>
            </a:pPr>
            <a:r>
              <a:rPr lang="fr-FR" altLang="zh-CN" sz="2000" kern="100" dirty="0"/>
              <a:t>E</a:t>
            </a:r>
            <a:r>
              <a:rPr lang="pt-PT" altLang="zh-CN" sz="2000" kern="100" dirty="0">
                <a:latin typeface="Times New Roman" panose="02020603050405020304" pitchFamily="18" charset="0"/>
              </a:rPr>
              <a:t>'</a:t>
            </a:r>
            <a:r>
              <a:rPr lang="fr-FR" altLang="zh-CN" sz="2000" kern="100" dirty="0"/>
              <a:t>.i = T.val</a:t>
            </a:r>
          </a:p>
          <a:p>
            <a:pPr marL="109728" indent="0">
              <a:lnSpc>
                <a:spcPct val="90000"/>
              </a:lnSpc>
              <a:spcBef>
                <a:spcPts val="0"/>
              </a:spcBef>
              <a:buNone/>
            </a:pPr>
            <a:r>
              <a:rPr lang="fr-FR" altLang="zh-CN" sz="2000" kern="100" dirty="0"/>
              <a:t>E.val = E</a:t>
            </a:r>
            <a:r>
              <a:rPr lang="pt-PT" altLang="zh-CN" sz="2000" kern="100" dirty="0">
                <a:latin typeface="Times New Roman" panose="02020603050405020304" pitchFamily="18" charset="0"/>
              </a:rPr>
              <a:t>'</a:t>
            </a:r>
            <a:r>
              <a:rPr lang="fr-FR" altLang="zh-CN" sz="2000" kern="100" dirty="0"/>
              <a:t>.s</a:t>
            </a:r>
            <a:endParaRPr lang="zh-CN" altLang="en-US" sz="2000" dirty="0"/>
          </a:p>
        </p:txBody>
      </p:sp>
      <p:sp>
        <p:nvSpPr>
          <p:cNvPr id="18" name="矩形 17"/>
          <p:cNvSpPr/>
          <p:nvPr/>
        </p:nvSpPr>
        <p:spPr>
          <a:xfrm>
            <a:off x="2153119" y="894747"/>
            <a:ext cx="1389098" cy="313932"/>
          </a:xfrm>
          <a:prstGeom prst="rect">
            <a:avLst/>
          </a:prstGeom>
        </p:spPr>
        <p:txBody>
          <a:bodyPr wrap="none">
            <a:spAutoFit/>
          </a:bodyPr>
          <a:lstStyle/>
          <a:p>
            <a:pPr marL="109728" indent="0">
              <a:lnSpc>
                <a:spcPct val="90000"/>
              </a:lnSpc>
              <a:spcBef>
                <a:spcPts val="0"/>
              </a:spcBef>
              <a:buNone/>
            </a:pPr>
            <a:r>
              <a:rPr lang="fr-FR" altLang="zh-CN" sz="1600" kern="100" dirty="0">
                <a:solidFill>
                  <a:srgbClr val="FF0000"/>
                </a:solidFill>
                <a:latin typeface="Times New Roman" panose="02020603050405020304" pitchFamily="18" charset="0"/>
                <a:cs typeface="Times New Roman" panose="02020603050405020304" pitchFamily="18" charset="0"/>
              </a:rPr>
              <a:t>{E</a:t>
            </a:r>
            <a:r>
              <a:rPr lang="pt-PT" altLang="zh-CN" sz="1600" kern="100" dirty="0">
                <a:solidFill>
                  <a:srgbClr val="FF0000"/>
                </a:solidFill>
                <a:latin typeface="Times New Roman" panose="02020603050405020304" pitchFamily="18" charset="0"/>
                <a:cs typeface="Times New Roman" panose="02020603050405020304" pitchFamily="18" charset="0"/>
              </a:rPr>
              <a:t>'</a:t>
            </a:r>
            <a:r>
              <a:rPr lang="fr-FR" altLang="zh-CN" sz="1600" kern="100" dirty="0">
                <a:solidFill>
                  <a:srgbClr val="FF0000"/>
                </a:solidFill>
                <a:latin typeface="Times New Roman" panose="02020603050405020304" pitchFamily="18" charset="0"/>
                <a:cs typeface="Times New Roman" panose="02020603050405020304" pitchFamily="18" charset="0"/>
              </a:rPr>
              <a:t>.i = T.val}</a:t>
            </a:r>
          </a:p>
        </p:txBody>
      </p:sp>
      <p:sp>
        <p:nvSpPr>
          <p:cNvPr id="19" name="矩形 18"/>
          <p:cNvSpPr/>
          <p:nvPr/>
        </p:nvSpPr>
        <p:spPr>
          <a:xfrm>
            <a:off x="3650218" y="894747"/>
            <a:ext cx="1430520" cy="313932"/>
          </a:xfrm>
          <a:prstGeom prst="rect">
            <a:avLst/>
          </a:prstGeom>
        </p:spPr>
        <p:txBody>
          <a:bodyPr wrap="none">
            <a:spAutoFit/>
          </a:bodyPr>
          <a:lstStyle/>
          <a:p>
            <a:pPr marL="109728" indent="0">
              <a:lnSpc>
                <a:spcPct val="90000"/>
              </a:lnSpc>
              <a:spcBef>
                <a:spcPts val="0"/>
              </a:spcBef>
              <a:buNone/>
            </a:pPr>
            <a:r>
              <a:rPr lang="fr-FR" altLang="zh-CN" sz="1600" kern="100" dirty="0">
                <a:solidFill>
                  <a:srgbClr val="FF0000"/>
                </a:solidFill>
                <a:latin typeface="Times New Roman" panose="02020603050405020304" pitchFamily="18" charset="0"/>
                <a:cs typeface="Times New Roman" panose="02020603050405020304" pitchFamily="18" charset="0"/>
              </a:rPr>
              <a:t>{E.val = E</a:t>
            </a:r>
            <a:r>
              <a:rPr lang="pt-PT" altLang="zh-CN" sz="1600" kern="100" dirty="0">
                <a:solidFill>
                  <a:srgbClr val="FF0000"/>
                </a:solidFill>
                <a:latin typeface="Times New Roman" panose="02020603050405020304" pitchFamily="18" charset="0"/>
                <a:cs typeface="Times New Roman" panose="02020603050405020304" pitchFamily="18" charset="0"/>
              </a:rPr>
              <a:t>'</a:t>
            </a:r>
            <a:r>
              <a:rPr lang="fr-FR" altLang="zh-CN" sz="1600" kern="100" dirty="0">
                <a:solidFill>
                  <a:srgbClr val="FF0000"/>
                </a:solidFill>
                <a:latin typeface="Times New Roman" panose="02020603050405020304" pitchFamily="18" charset="0"/>
                <a:cs typeface="Times New Roman" panose="02020603050405020304" pitchFamily="18" charset="0"/>
              </a:rPr>
              <a:t>.s}</a:t>
            </a:r>
            <a:endParaRPr lang="zh-CN" altLang="en-US" sz="1600" dirty="0">
              <a:solidFill>
                <a:srgbClr val="FF0000"/>
              </a:solidFill>
              <a:latin typeface="Times New Roman" panose="02020603050405020304" pitchFamily="18" charset="0"/>
              <a:cs typeface="Times New Roman" panose="02020603050405020304" pitchFamily="18" charset="0"/>
            </a:endParaRPr>
          </a:p>
        </p:txBody>
      </p:sp>
      <p:sp>
        <p:nvSpPr>
          <p:cNvPr id="20" name="矩形 19"/>
          <p:cNvSpPr/>
          <p:nvPr/>
        </p:nvSpPr>
        <p:spPr>
          <a:xfrm>
            <a:off x="107504" y="3865119"/>
            <a:ext cx="1759456" cy="369332"/>
          </a:xfrm>
          <a:prstGeom prst="rect">
            <a:avLst/>
          </a:prstGeom>
        </p:spPr>
        <p:txBody>
          <a:bodyPr wrap="none">
            <a:spAutoFit/>
          </a:bodyPr>
          <a:lstStyle/>
          <a:p>
            <a:r>
              <a:rPr lang="zh-CN" altLang="zh-CN" kern="100" dirty="0">
                <a:solidFill>
                  <a:srgbClr val="0000FF"/>
                </a:solidFill>
                <a:latin typeface="Times New Roman" panose="02020603050405020304" pitchFamily="18" charset="0"/>
                <a:ea typeface="宋体" panose="02010600030101010101" pitchFamily="2" charset="-122"/>
              </a:rPr>
              <a:t>（</a:t>
            </a:r>
            <a:r>
              <a:rPr lang="fr-FR" altLang="zh-CN" kern="100" dirty="0">
                <a:solidFill>
                  <a:srgbClr val="0000FF"/>
                </a:solidFill>
                <a:latin typeface="Times New Roman" panose="02020603050405020304" pitchFamily="18" charset="0"/>
                <a:ea typeface="宋体" panose="02010600030101010101" pitchFamily="2" charset="-122"/>
              </a:rPr>
              <a:t>2</a:t>
            </a:r>
            <a:r>
              <a:rPr lang="zh-CN" altLang="zh-CN" kern="100" dirty="0">
                <a:solidFill>
                  <a:srgbClr val="0000FF"/>
                </a:solidFill>
                <a:latin typeface="Times New Roman" panose="02020603050405020304" pitchFamily="18" charset="0"/>
                <a:ea typeface="宋体" panose="02010600030101010101" pitchFamily="2" charset="-122"/>
              </a:rPr>
              <a:t>）</a:t>
            </a:r>
            <a:r>
              <a:rPr lang="fr-FR" altLang="zh-CN" kern="100" dirty="0">
                <a:solidFill>
                  <a:srgbClr val="0000FF"/>
                </a:solidFill>
                <a:latin typeface="Times New Roman" panose="02020603050405020304" pitchFamily="18" charset="0"/>
                <a:ea typeface="宋体" panose="02010600030101010101" pitchFamily="2" charset="-122"/>
              </a:rPr>
              <a:t>E</a:t>
            </a:r>
            <a:r>
              <a:rPr lang="pt-PT" altLang="zh-CN" kern="100" dirty="0">
                <a:solidFill>
                  <a:srgbClr val="0000FF"/>
                </a:solidFill>
                <a:latin typeface="Times New Roman" panose="02020603050405020304" pitchFamily="18" charset="0"/>
                <a:ea typeface="宋体" panose="02010600030101010101" pitchFamily="2" charset="-122"/>
              </a:rPr>
              <a:t>'</a:t>
            </a:r>
            <a:r>
              <a:rPr lang="zh-CN" altLang="zh-CN" kern="100" dirty="0">
                <a:solidFill>
                  <a:srgbClr val="0000FF"/>
                </a:solidFill>
                <a:latin typeface="Times New Roman" panose="02020603050405020304" pitchFamily="18" charset="0"/>
                <a:ea typeface="宋体" panose="02010600030101010101" pitchFamily="2" charset="-122"/>
              </a:rPr>
              <a:t>→</a:t>
            </a:r>
            <a:r>
              <a:rPr lang="fr-FR" altLang="zh-CN" kern="100" dirty="0">
                <a:solidFill>
                  <a:srgbClr val="0000FF"/>
                </a:solidFill>
                <a:latin typeface="Times New Roman" panose="02020603050405020304" pitchFamily="18" charset="0"/>
                <a:ea typeface="宋体" panose="02010600030101010101" pitchFamily="2" charset="-122"/>
              </a:rPr>
              <a:t>+ TE</a:t>
            </a:r>
            <a:r>
              <a:rPr lang="pt-PT" altLang="zh-CN" kern="100" dirty="0">
                <a:solidFill>
                  <a:srgbClr val="0000FF"/>
                </a:solidFill>
                <a:latin typeface="Times New Roman" panose="02020603050405020304" pitchFamily="18" charset="0"/>
                <a:ea typeface="宋体" panose="02010600030101010101" pitchFamily="2" charset="-122"/>
              </a:rPr>
              <a:t>'</a:t>
            </a:r>
            <a:r>
              <a:rPr lang="fr-FR" altLang="zh-CN" kern="100" baseline="-25000" dirty="0">
                <a:solidFill>
                  <a:srgbClr val="0000FF"/>
                </a:solidFill>
                <a:latin typeface="Times New Roman" panose="02020603050405020304" pitchFamily="18" charset="0"/>
                <a:ea typeface="宋体" panose="02010600030101010101" pitchFamily="2" charset="-122"/>
              </a:rPr>
              <a:t>1</a:t>
            </a:r>
            <a:endParaRPr lang="zh-CN" altLang="en-US" dirty="0">
              <a:solidFill>
                <a:srgbClr val="0000FF"/>
              </a:solidFill>
            </a:endParaRPr>
          </a:p>
        </p:txBody>
      </p:sp>
      <p:sp>
        <p:nvSpPr>
          <p:cNvPr id="50" name="内容占位符 14"/>
          <p:cNvSpPr txBox="1">
            <a:spLocks/>
          </p:cNvSpPr>
          <p:nvPr/>
        </p:nvSpPr>
        <p:spPr>
          <a:xfrm>
            <a:off x="180823" y="4201976"/>
            <a:ext cx="2302946" cy="617511"/>
          </a:xfrm>
          <a:prstGeom prst="rect">
            <a:avLst/>
          </a:prstGeom>
          <a:solidFill>
            <a:schemeClr val="bg1"/>
          </a:solidFill>
          <a:ln>
            <a:solidFill>
              <a:srgbClr val="CC00FF"/>
            </a:solidFill>
          </a:ln>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nSpc>
                <a:spcPct val="90000"/>
              </a:lnSpc>
              <a:spcBef>
                <a:spcPts val="0"/>
              </a:spcBef>
              <a:buNone/>
            </a:pPr>
            <a:r>
              <a:rPr lang="fr-FR" altLang="zh-CN" sz="2000" kern="100" dirty="0">
                <a:latin typeface="Times New Roman" panose="02020603050405020304" pitchFamily="18" charset="0"/>
              </a:rPr>
              <a:t>E</a:t>
            </a:r>
            <a:r>
              <a:rPr lang="pt-PT" altLang="zh-CN" sz="2000" kern="100" dirty="0">
                <a:latin typeface="Times New Roman" panose="02020603050405020304" pitchFamily="18" charset="0"/>
              </a:rPr>
              <a:t>'</a:t>
            </a:r>
            <a:r>
              <a:rPr lang="fr-FR" altLang="zh-CN" sz="2000" kern="100" baseline="-25000" dirty="0">
                <a:latin typeface="Times New Roman" panose="02020603050405020304" pitchFamily="18" charset="0"/>
              </a:rPr>
              <a:t>1</a:t>
            </a:r>
            <a:r>
              <a:rPr lang="fr-FR" altLang="zh-CN" sz="2000" kern="100" dirty="0">
                <a:latin typeface="Times New Roman" panose="02020603050405020304" pitchFamily="18" charset="0"/>
              </a:rPr>
              <a:t>.i = E</a:t>
            </a:r>
            <a:r>
              <a:rPr lang="pt-PT" altLang="zh-CN" sz="2000" kern="100" dirty="0">
                <a:latin typeface="Times New Roman" panose="02020603050405020304" pitchFamily="18" charset="0"/>
              </a:rPr>
              <a:t>'</a:t>
            </a:r>
            <a:r>
              <a:rPr lang="fr-FR" altLang="zh-CN" sz="2000" kern="100" dirty="0">
                <a:latin typeface="Times New Roman" panose="02020603050405020304" pitchFamily="18" charset="0"/>
              </a:rPr>
              <a:t>.i + T.val</a:t>
            </a:r>
          </a:p>
          <a:p>
            <a:pPr marL="109728" indent="0">
              <a:lnSpc>
                <a:spcPct val="90000"/>
              </a:lnSpc>
              <a:spcBef>
                <a:spcPts val="0"/>
              </a:spcBef>
              <a:buNone/>
            </a:pPr>
            <a:r>
              <a:rPr lang="fr-FR" altLang="zh-CN" sz="2000" kern="100" dirty="0">
                <a:latin typeface="Times New Roman" panose="02020603050405020304" pitchFamily="18" charset="0"/>
              </a:rPr>
              <a:t>E</a:t>
            </a:r>
            <a:r>
              <a:rPr lang="pt-PT" altLang="zh-CN" sz="2000" kern="100" dirty="0">
                <a:latin typeface="Times New Roman" panose="02020603050405020304" pitchFamily="18" charset="0"/>
              </a:rPr>
              <a:t>'</a:t>
            </a:r>
            <a:r>
              <a:rPr lang="fr-FR" altLang="zh-CN" sz="2000" kern="100" dirty="0">
                <a:latin typeface="Times New Roman" panose="02020603050405020304" pitchFamily="18" charset="0"/>
              </a:rPr>
              <a:t>.s = E</a:t>
            </a:r>
            <a:r>
              <a:rPr lang="pt-PT" altLang="zh-CN" sz="2000" kern="100" dirty="0">
                <a:latin typeface="Times New Roman" panose="02020603050405020304" pitchFamily="18" charset="0"/>
              </a:rPr>
              <a:t>'</a:t>
            </a:r>
            <a:r>
              <a:rPr lang="fr-FR" altLang="zh-CN" sz="2000" kern="100" baseline="-25000" dirty="0">
                <a:latin typeface="Times New Roman" panose="02020603050405020304" pitchFamily="18" charset="0"/>
              </a:rPr>
              <a:t>1</a:t>
            </a:r>
            <a:r>
              <a:rPr lang="fr-FR" altLang="zh-CN" sz="2000" kern="100" dirty="0">
                <a:latin typeface="Times New Roman" panose="02020603050405020304" pitchFamily="18" charset="0"/>
              </a:rPr>
              <a:t>.s</a:t>
            </a:r>
            <a:endParaRPr lang="zh-CN" altLang="en-US" sz="2000" dirty="0"/>
          </a:p>
        </p:txBody>
      </p:sp>
      <p:sp>
        <p:nvSpPr>
          <p:cNvPr id="51" name="任意多边形 50"/>
          <p:cNvSpPr/>
          <p:nvPr/>
        </p:nvSpPr>
        <p:spPr>
          <a:xfrm>
            <a:off x="4381781" y="3879062"/>
            <a:ext cx="580881" cy="77929"/>
          </a:xfrm>
          <a:custGeom>
            <a:avLst/>
            <a:gdLst>
              <a:gd name="connsiteX0" fmla="*/ 0 w 1213658"/>
              <a:gd name="connsiteY0" fmla="*/ 232866 h 232866"/>
              <a:gd name="connsiteX1" fmla="*/ 548640 w 1213658"/>
              <a:gd name="connsiteY1" fmla="*/ 110 h 232866"/>
              <a:gd name="connsiteX2" fmla="*/ 1213658 w 1213658"/>
              <a:gd name="connsiteY2" fmla="*/ 199615 h 232866"/>
              <a:gd name="connsiteX3" fmla="*/ 1213658 w 1213658"/>
              <a:gd name="connsiteY3" fmla="*/ 199615 h 232866"/>
            </a:gdLst>
            <a:ahLst/>
            <a:cxnLst>
              <a:cxn ang="0">
                <a:pos x="connsiteX0" y="connsiteY0"/>
              </a:cxn>
              <a:cxn ang="0">
                <a:pos x="connsiteX1" y="connsiteY1"/>
              </a:cxn>
              <a:cxn ang="0">
                <a:pos x="connsiteX2" y="connsiteY2"/>
              </a:cxn>
              <a:cxn ang="0">
                <a:pos x="connsiteX3" y="connsiteY3"/>
              </a:cxn>
            </a:cxnLst>
            <a:rect l="l" t="t" r="r" b="b"/>
            <a:pathLst>
              <a:path w="1213658" h="232866">
                <a:moveTo>
                  <a:pt x="0" y="232866"/>
                </a:moveTo>
                <a:cubicBezTo>
                  <a:pt x="173182" y="119259"/>
                  <a:pt x="346364" y="5652"/>
                  <a:pt x="548640" y="110"/>
                </a:cubicBezTo>
                <a:cubicBezTo>
                  <a:pt x="750916" y="-5432"/>
                  <a:pt x="1213658" y="199615"/>
                  <a:pt x="1213658" y="199615"/>
                </a:cubicBezTo>
                <a:lnTo>
                  <a:pt x="1213658" y="199615"/>
                </a:lnTo>
              </a:path>
            </a:pathLst>
          </a:cu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51"/>
          <p:cNvSpPr/>
          <p:nvPr/>
        </p:nvSpPr>
        <p:spPr>
          <a:xfrm rot="1780532">
            <a:off x="4415613" y="3488371"/>
            <a:ext cx="705769" cy="172361"/>
          </a:xfrm>
          <a:custGeom>
            <a:avLst/>
            <a:gdLst>
              <a:gd name="connsiteX0" fmla="*/ 0 w 1213658"/>
              <a:gd name="connsiteY0" fmla="*/ 232866 h 232866"/>
              <a:gd name="connsiteX1" fmla="*/ 548640 w 1213658"/>
              <a:gd name="connsiteY1" fmla="*/ 110 h 232866"/>
              <a:gd name="connsiteX2" fmla="*/ 1213658 w 1213658"/>
              <a:gd name="connsiteY2" fmla="*/ 199615 h 232866"/>
              <a:gd name="connsiteX3" fmla="*/ 1213658 w 1213658"/>
              <a:gd name="connsiteY3" fmla="*/ 199615 h 232866"/>
            </a:gdLst>
            <a:ahLst/>
            <a:cxnLst>
              <a:cxn ang="0">
                <a:pos x="connsiteX0" y="connsiteY0"/>
              </a:cxn>
              <a:cxn ang="0">
                <a:pos x="connsiteX1" y="connsiteY1"/>
              </a:cxn>
              <a:cxn ang="0">
                <a:pos x="connsiteX2" y="connsiteY2"/>
              </a:cxn>
              <a:cxn ang="0">
                <a:pos x="connsiteX3" y="connsiteY3"/>
              </a:cxn>
            </a:cxnLst>
            <a:rect l="l" t="t" r="r" b="b"/>
            <a:pathLst>
              <a:path w="1213658" h="232866">
                <a:moveTo>
                  <a:pt x="0" y="232866"/>
                </a:moveTo>
                <a:cubicBezTo>
                  <a:pt x="173182" y="119259"/>
                  <a:pt x="346364" y="5652"/>
                  <a:pt x="548640" y="110"/>
                </a:cubicBezTo>
                <a:cubicBezTo>
                  <a:pt x="750916" y="-5432"/>
                  <a:pt x="1213658" y="199615"/>
                  <a:pt x="1213658" y="199615"/>
                </a:cubicBezTo>
                <a:lnTo>
                  <a:pt x="1213658" y="199615"/>
                </a:lnTo>
              </a:path>
            </a:pathLst>
          </a:custGeom>
          <a:noFill/>
          <a:ln w="2857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2291549" y="1123634"/>
            <a:ext cx="1989904" cy="338554"/>
          </a:xfrm>
          <a:prstGeom prst="rect">
            <a:avLst/>
          </a:prstGeom>
        </p:spPr>
        <p:txBody>
          <a:bodyPr wrap="none">
            <a:spAutoFit/>
          </a:bodyPr>
          <a:lstStyle/>
          <a:p>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.i =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.i + T.val }</a:t>
            </a:r>
            <a:endParaRPr lang="zh-CN" altLang="en-US" sz="1600" dirty="0">
              <a:solidFill>
                <a:srgbClr val="FF0000"/>
              </a:solidFill>
              <a:latin typeface="Times New Roman" panose="02020603050405020304" pitchFamily="18" charset="0"/>
              <a:cs typeface="Times New Roman" panose="02020603050405020304" pitchFamily="18" charset="0"/>
            </a:endParaRPr>
          </a:p>
        </p:txBody>
      </p:sp>
      <p:sp>
        <p:nvSpPr>
          <p:cNvPr id="23" name="矩形 22"/>
          <p:cNvSpPr/>
          <p:nvPr/>
        </p:nvSpPr>
        <p:spPr>
          <a:xfrm>
            <a:off x="4427984" y="1123634"/>
            <a:ext cx="1356462" cy="338554"/>
          </a:xfrm>
          <a:prstGeom prst="rect">
            <a:avLst/>
          </a:prstGeom>
        </p:spPr>
        <p:txBody>
          <a:bodyPr wrap="none">
            <a:spAutoFit/>
          </a:bodyPr>
          <a:lstStyle/>
          <a:p>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 =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 }</a:t>
            </a:r>
            <a:endParaRPr lang="zh-CN" altLang="en-US" sz="1600" dirty="0">
              <a:solidFill>
                <a:srgbClr val="FF0000"/>
              </a:solidFill>
              <a:latin typeface="Times New Roman" panose="02020603050405020304" pitchFamily="18" charset="0"/>
              <a:cs typeface="Times New Roman" panose="02020603050405020304" pitchFamily="18" charset="0"/>
            </a:endParaRPr>
          </a:p>
        </p:txBody>
      </p:sp>
      <p:sp>
        <p:nvSpPr>
          <p:cNvPr id="24" name="矩形 23"/>
          <p:cNvSpPr/>
          <p:nvPr/>
        </p:nvSpPr>
        <p:spPr>
          <a:xfrm>
            <a:off x="4003466" y="2931790"/>
            <a:ext cx="508473" cy="369332"/>
          </a:xfrm>
          <a:prstGeom prst="rect">
            <a:avLst/>
          </a:prstGeom>
        </p:spPr>
        <p:txBody>
          <a:bodyPr wrap="none">
            <a:spAutoFit/>
          </a:bodyPr>
          <a:lstStyle/>
          <a:p>
            <a:r>
              <a:rPr lang="fr-FR" altLang="zh-CN" kern="100" dirty="0">
                <a:solidFill>
                  <a:srgbClr val="FF0000"/>
                </a:solidFill>
                <a:latin typeface="Times New Roman" panose="02020603050405020304" pitchFamily="18" charset="0"/>
              </a:rPr>
              <a:t>E</a:t>
            </a:r>
            <a:r>
              <a:rPr lang="pt-PT" altLang="zh-CN" kern="100" dirty="0">
                <a:solidFill>
                  <a:srgbClr val="FF0000"/>
                </a:solidFill>
                <a:latin typeface="Times New Roman" panose="02020603050405020304" pitchFamily="18" charset="0"/>
              </a:rPr>
              <a:t>'</a:t>
            </a:r>
            <a:r>
              <a:rPr lang="en-US" altLang="zh-CN" dirty="0">
                <a:solidFill>
                  <a:srgbClr val="FF0000"/>
                </a:solidFill>
              </a:rPr>
              <a:t>.</a:t>
            </a:r>
            <a:r>
              <a:rPr lang="en-US" altLang="zh-CN" dirty="0" err="1">
                <a:solidFill>
                  <a:srgbClr val="FF0000"/>
                </a:solidFill>
              </a:rPr>
              <a:t>i</a:t>
            </a:r>
            <a:endParaRPr lang="zh-CN" altLang="en-US" dirty="0"/>
          </a:p>
        </p:txBody>
      </p:sp>
      <p:sp>
        <p:nvSpPr>
          <p:cNvPr id="30" name="矩形 29"/>
          <p:cNvSpPr/>
          <p:nvPr/>
        </p:nvSpPr>
        <p:spPr>
          <a:xfrm>
            <a:off x="4522572" y="2884810"/>
            <a:ext cx="558166" cy="369332"/>
          </a:xfrm>
          <a:prstGeom prst="rect">
            <a:avLst/>
          </a:prstGeom>
        </p:spPr>
        <p:txBody>
          <a:bodyPr wrap="none">
            <a:spAutoFit/>
          </a:bodyPr>
          <a:lstStyle/>
          <a:p>
            <a:r>
              <a:rPr lang="fr-FR" altLang="zh-CN" kern="100" dirty="0">
                <a:solidFill>
                  <a:srgbClr val="FF0000"/>
                </a:solidFill>
                <a:latin typeface="Times New Roman" panose="02020603050405020304" pitchFamily="18" charset="0"/>
              </a:rPr>
              <a:t>E</a:t>
            </a:r>
            <a:r>
              <a:rPr lang="pt-PT" altLang="zh-CN" kern="100" dirty="0">
                <a:solidFill>
                  <a:srgbClr val="FF0000"/>
                </a:solidFill>
                <a:latin typeface="Times New Roman" panose="02020603050405020304" pitchFamily="18" charset="0"/>
              </a:rPr>
              <a:t>'</a:t>
            </a:r>
            <a:r>
              <a:rPr lang="en-US" altLang="zh-CN" dirty="0">
                <a:solidFill>
                  <a:srgbClr val="FF0000"/>
                </a:solidFill>
              </a:rPr>
              <a:t>.s</a:t>
            </a:r>
            <a:endParaRPr lang="zh-CN" altLang="en-US" dirty="0"/>
          </a:p>
        </p:txBody>
      </p:sp>
      <p:sp>
        <p:nvSpPr>
          <p:cNvPr id="53" name="矩形 52"/>
          <p:cNvSpPr/>
          <p:nvPr/>
        </p:nvSpPr>
        <p:spPr>
          <a:xfrm>
            <a:off x="2267744" y="1366325"/>
            <a:ext cx="1989904" cy="338554"/>
          </a:xfrm>
          <a:prstGeom prst="rect">
            <a:avLst/>
          </a:prstGeom>
        </p:spPr>
        <p:txBody>
          <a:bodyPr wrap="none">
            <a:spAutoFit/>
          </a:bodyPr>
          <a:lstStyle/>
          <a:p>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.i =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.i </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T.val }</a:t>
            </a:r>
            <a:endParaRPr lang="zh-CN" altLang="en-US" sz="1600" dirty="0">
              <a:solidFill>
                <a:srgbClr val="FF0000"/>
              </a:solidFill>
              <a:latin typeface="Times New Roman" panose="02020603050405020304" pitchFamily="18" charset="0"/>
              <a:cs typeface="Times New Roman" panose="02020603050405020304" pitchFamily="18" charset="0"/>
            </a:endParaRPr>
          </a:p>
        </p:txBody>
      </p:sp>
      <p:sp>
        <p:nvSpPr>
          <p:cNvPr id="54" name="矩形 53"/>
          <p:cNvSpPr/>
          <p:nvPr/>
        </p:nvSpPr>
        <p:spPr>
          <a:xfrm>
            <a:off x="4427984" y="1366325"/>
            <a:ext cx="1356462" cy="338554"/>
          </a:xfrm>
          <a:prstGeom prst="rect">
            <a:avLst/>
          </a:prstGeom>
        </p:spPr>
        <p:txBody>
          <a:bodyPr wrap="none">
            <a:spAutoFit/>
          </a:bodyPr>
          <a:lstStyle/>
          <a:p>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 = E</a:t>
            </a:r>
            <a:r>
              <a:rPr lang="pt-PT"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fr-FR" altLang="zh-CN" sz="16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 }</a:t>
            </a:r>
            <a:endParaRPr lang="zh-CN" altLang="en-US" sz="1600" dirty="0">
              <a:solidFill>
                <a:srgbClr val="FF0000"/>
              </a:solidFill>
              <a:latin typeface="Times New Roman" panose="02020603050405020304" pitchFamily="18" charset="0"/>
              <a:cs typeface="Times New Roman" panose="02020603050405020304" pitchFamily="18" charset="0"/>
            </a:endParaRPr>
          </a:p>
        </p:txBody>
      </p:sp>
      <p:sp>
        <p:nvSpPr>
          <p:cNvPr id="55" name="内容占位符 14"/>
          <p:cNvSpPr txBox="1">
            <a:spLocks/>
          </p:cNvSpPr>
          <p:nvPr/>
        </p:nvSpPr>
        <p:spPr>
          <a:xfrm>
            <a:off x="6437685" y="3556312"/>
            <a:ext cx="1922405" cy="373142"/>
          </a:xfrm>
          <a:prstGeom prst="rect">
            <a:avLst/>
          </a:prstGeom>
        </p:spPr>
        <p:txBody>
          <a:bodyPr vert="horz">
            <a:normAutofit fontScale="925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nSpc>
                <a:spcPct val="110000"/>
              </a:lnSpc>
              <a:spcBef>
                <a:spcPts val="0"/>
              </a:spcBef>
              <a:buNone/>
            </a:pPr>
            <a:r>
              <a:rPr lang="zh-CN" altLang="fr-FR" sz="2000" kern="1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fr-FR" altLang="zh-CN" sz="2000" kern="1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4</a:t>
            </a:r>
            <a:r>
              <a:rPr lang="zh-CN" altLang="fr-FR" sz="2000" kern="1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fr-FR" altLang="zh-CN" sz="2000" kern="1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rPr>
              <a:t>E'→ </a:t>
            </a:r>
            <a:r>
              <a:rPr lang="en-US" altLang="zh-CN" sz="2000" kern="100" dirty="0">
                <a:solidFill>
                  <a:srgbClr val="0000FF"/>
                </a:solidFill>
                <a:latin typeface="Times New Roman" panose="02020603050405020304" pitchFamily="18" charset="0"/>
                <a:sym typeface="Symbol" panose="05050102010706020507" pitchFamily="18" charset="2"/>
              </a:rPr>
              <a:t></a:t>
            </a:r>
            <a:endParaRPr lang="fr-FR" altLang="zh-CN" sz="2000" kern="100" dirty="0">
              <a:solidFill>
                <a:srgbClr val="0000FF"/>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6" name="内容占位符 14"/>
          <p:cNvSpPr txBox="1">
            <a:spLocks/>
          </p:cNvSpPr>
          <p:nvPr/>
        </p:nvSpPr>
        <p:spPr>
          <a:xfrm>
            <a:off x="6660232" y="3922559"/>
            <a:ext cx="1922405" cy="377383"/>
          </a:xfrm>
          <a:prstGeom prst="rect">
            <a:avLst/>
          </a:prstGeom>
          <a:ln>
            <a:solidFill>
              <a:srgbClr val="CC00FF"/>
            </a:solidFill>
          </a:ln>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nSpc>
                <a:spcPct val="90000"/>
              </a:lnSpc>
              <a:spcBef>
                <a:spcPts val="0"/>
              </a:spcBef>
              <a:buNone/>
            </a:pPr>
            <a:r>
              <a:rPr lang="fr-FR" altLang="zh-CN" sz="2000" kern="100" dirty="0">
                <a:latin typeface="Times New Roman" panose="02020603050405020304" pitchFamily="18" charset="0"/>
              </a:rPr>
              <a:t>E</a:t>
            </a:r>
            <a:r>
              <a:rPr lang="pt-PT" altLang="zh-CN" sz="2000" kern="100" dirty="0">
                <a:latin typeface="Times New Roman" panose="02020603050405020304" pitchFamily="18" charset="0"/>
              </a:rPr>
              <a:t>'</a:t>
            </a:r>
            <a:r>
              <a:rPr lang="fr-FR" altLang="zh-CN" sz="2000" kern="100" dirty="0">
                <a:latin typeface="Times New Roman" panose="02020603050405020304" pitchFamily="18" charset="0"/>
              </a:rPr>
              <a:t>.s = E</a:t>
            </a:r>
            <a:r>
              <a:rPr lang="pt-PT" altLang="zh-CN" sz="2000" kern="100" dirty="0">
                <a:latin typeface="Times New Roman" panose="02020603050405020304" pitchFamily="18" charset="0"/>
              </a:rPr>
              <a:t>'</a:t>
            </a:r>
            <a:r>
              <a:rPr lang="fr-FR" altLang="zh-CN" sz="2000" kern="100" dirty="0">
                <a:latin typeface="Times New Roman" panose="02020603050405020304" pitchFamily="18" charset="0"/>
              </a:rPr>
              <a:t>.i</a:t>
            </a:r>
            <a:endParaRPr lang="zh-CN" altLang="en-US" sz="2000" dirty="0"/>
          </a:p>
        </p:txBody>
      </p:sp>
      <p:sp>
        <p:nvSpPr>
          <p:cNvPr id="31" name="矩形 30"/>
          <p:cNvSpPr/>
          <p:nvPr/>
        </p:nvSpPr>
        <p:spPr>
          <a:xfrm>
            <a:off x="1763688" y="882436"/>
            <a:ext cx="2131802" cy="338554"/>
          </a:xfrm>
          <a:prstGeom prst="rect">
            <a:avLst/>
          </a:prstGeom>
        </p:spPr>
        <p:txBody>
          <a:bodyPr wrap="none">
            <a:spAutoFit/>
          </a:bodyPr>
          <a:lstStyle/>
          <a:p>
            <a:r>
              <a:rPr lang="fr-FR" altLang="zh-CN" sz="1600" kern="100" dirty="0">
                <a:latin typeface="Times New Roman" panose="02020603050405020304" pitchFamily="18" charset="0"/>
                <a:ea typeface="宋体" panose="02010600030101010101" pitchFamily="2" charset="-122"/>
                <a:cs typeface="Times New Roman" panose="02020603050405020304" pitchFamily="18" charset="0"/>
              </a:rPr>
              <a:t>E</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dirty="0">
                <a:latin typeface="Times New Roman" panose="02020603050405020304" pitchFamily="18" charset="0"/>
                <a:ea typeface="宋体" panose="02010600030101010101" pitchFamily="2" charset="-122"/>
                <a:cs typeface="Times New Roman" panose="02020603050405020304" pitchFamily="18" charset="0"/>
              </a:rPr>
              <a:t>T                          E</a:t>
            </a:r>
            <a:r>
              <a:rPr lang="pt-PT" altLang="zh-CN" sz="16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
        <p:nvSpPr>
          <p:cNvPr id="57" name="矩形 56"/>
          <p:cNvSpPr/>
          <p:nvPr/>
        </p:nvSpPr>
        <p:spPr>
          <a:xfrm>
            <a:off x="1763688" y="1123634"/>
            <a:ext cx="2865977" cy="338554"/>
          </a:xfrm>
          <a:prstGeom prst="rect">
            <a:avLst/>
          </a:prstGeom>
        </p:spPr>
        <p:txBody>
          <a:bodyPr wrap="none">
            <a:spAutoFit/>
          </a:bodyPr>
          <a:lstStyle/>
          <a:p>
            <a:r>
              <a:rPr lang="fr-FR" altLang="zh-CN" sz="1600" kern="100" dirty="0">
                <a:latin typeface="Times New Roman" panose="02020603050405020304" pitchFamily="18" charset="0"/>
                <a:ea typeface="宋体" panose="02010600030101010101" pitchFamily="2" charset="-122"/>
                <a:cs typeface="Times New Roman" panose="02020603050405020304" pitchFamily="18" charset="0"/>
              </a:rPr>
              <a:t>E</a:t>
            </a:r>
            <a:r>
              <a:rPr lang="pt-PT" altLang="zh-CN" sz="16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dirty="0">
                <a:latin typeface="Times New Roman" panose="02020603050405020304" pitchFamily="18" charset="0"/>
                <a:ea typeface="宋体" panose="02010600030101010101" pitchFamily="2" charset="-122"/>
                <a:cs typeface="Times New Roman" panose="02020603050405020304" pitchFamily="18" charset="0"/>
              </a:rPr>
              <a:t>+T                                    E</a:t>
            </a:r>
            <a:r>
              <a:rPr lang="pt-PT" altLang="zh-CN" sz="1600" kern="100" dirty="0">
                <a:latin typeface="Times New Roman" panose="02020603050405020304" pitchFamily="18" charset="0"/>
                <a:ea typeface="宋体" panose="02010600030101010101" pitchFamily="2" charset="-122"/>
                <a:cs typeface="Times New Roman" panose="02020603050405020304" pitchFamily="18" charset="0"/>
              </a:rPr>
              <a:t>'</a:t>
            </a:r>
            <a:r>
              <a:rPr lang="fr-FR" altLang="zh-CN" sz="1600" kern="100" baseline="-25000" dirty="0">
                <a:latin typeface="Times New Roman" panose="02020603050405020304" pitchFamily="18" charset="0"/>
                <a:ea typeface="宋体" panose="02010600030101010101" pitchFamily="2" charset="-122"/>
                <a:cs typeface="Times New Roman" panose="02020603050405020304" pitchFamily="18" charset="0"/>
              </a:rPr>
              <a:t>1</a:t>
            </a:r>
            <a:endParaRPr lang="zh-CN" altLang="en-US" sz="1600" dirty="0">
              <a:latin typeface="Times New Roman" panose="02020603050405020304" pitchFamily="18" charset="0"/>
              <a:cs typeface="Times New Roman" panose="02020603050405020304" pitchFamily="18" charset="0"/>
            </a:endParaRPr>
          </a:p>
        </p:txBody>
      </p:sp>
      <p:sp>
        <p:nvSpPr>
          <p:cNvPr id="58" name="矩形 57"/>
          <p:cNvSpPr/>
          <p:nvPr/>
        </p:nvSpPr>
        <p:spPr>
          <a:xfrm>
            <a:off x="1763688" y="1366325"/>
            <a:ext cx="2853153" cy="338554"/>
          </a:xfrm>
          <a:prstGeom prst="rect">
            <a:avLst/>
          </a:prstGeom>
        </p:spPr>
        <p:txBody>
          <a:bodyPr wrap="none">
            <a:spAutoFit/>
          </a:bodyPr>
          <a:lstStyle/>
          <a:p>
            <a:r>
              <a:rPr lang="fr-FR" altLang="zh-CN" sz="1600" kern="100" dirty="0">
                <a:latin typeface="Times New Roman" panose="02020603050405020304" pitchFamily="18" charset="0"/>
                <a:ea typeface="宋体" panose="02010600030101010101" pitchFamily="2" charset="-122"/>
              </a:rPr>
              <a:t>E</a:t>
            </a:r>
            <a:r>
              <a:rPr lang="pt-PT" altLang="zh-CN" sz="1600" kern="100" dirty="0">
                <a:latin typeface="Times New Roman" panose="02020603050405020304" pitchFamily="18" charset="0"/>
                <a:ea typeface="宋体" panose="02010600030101010101" pitchFamily="2" charset="-122"/>
              </a:rPr>
              <a:t>'</a:t>
            </a:r>
            <a:r>
              <a:rPr lang="zh-CN" altLang="zh-CN" sz="1600" kern="100" dirty="0">
                <a:latin typeface="Times New Roman" panose="02020603050405020304" pitchFamily="18" charset="0"/>
                <a:ea typeface="宋体" panose="02010600030101010101" pitchFamily="2" charset="-122"/>
              </a:rPr>
              <a:t>→</a:t>
            </a:r>
            <a:r>
              <a:rPr lang="pt-PT" altLang="zh-CN" sz="1600" kern="100" dirty="0">
                <a:latin typeface="Times New Roman" panose="02020603050405020304" pitchFamily="18" charset="0"/>
                <a:ea typeface="宋体" panose="02010600030101010101" pitchFamily="2" charset="-122"/>
              </a:rPr>
              <a:t>–</a:t>
            </a:r>
            <a:r>
              <a:rPr lang="fr-FR" altLang="zh-CN" sz="1600" kern="100" dirty="0">
                <a:latin typeface="Times New Roman" panose="02020603050405020304" pitchFamily="18" charset="0"/>
                <a:ea typeface="宋体" panose="02010600030101010101" pitchFamily="2" charset="-122"/>
              </a:rPr>
              <a:t>T                                    E</a:t>
            </a:r>
            <a:r>
              <a:rPr lang="pt-PT" altLang="zh-CN" sz="1600" kern="100" dirty="0">
                <a:latin typeface="Times New Roman" panose="02020603050405020304" pitchFamily="18" charset="0"/>
                <a:ea typeface="宋体" panose="02010600030101010101" pitchFamily="2" charset="-122"/>
              </a:rPr>
              <a:t>'</a:t>
            </a:r>
            <a:r>
              <a:rPr lang="fr-FR" altLang="zh-CN" sz="1600" kern="100" baseline="-25000" dirty="0">
                <a:latin typeface="Times New Roman" panose="02020603050405020304" pitchFamily="18" charset="0"/>
                <a:ea typeface="宋体" panose="02010600030101010101" pitchFamily="2" charset="-122"/>
              </a:rPr>
              <a:t>1</a:t>
            </a:r>
            <a:endParaRPr lang="zh-CN" altLang="en-US" sz="1600" dirty="0"/>
          </a:p>
        </p:txBody>
      </p:sp>
      <p:sp>
        <p:nvSpPr>
          <p:cNvPr id="59" name="任意多边形 58"/>
          <p:cNvSpPr/>
          <p:nvPr/>
        </p:nvSpPr>
        <p:spPr>
          <a:xfrm rot="1780532" flipH="1">
            <a:off x="4499563" y="3132021"/>
            <a:ext cx="828653" cy="544042"/>
          </a:xfrm>
          <a:custGeom>
            <a:avLst/>
            <a:gdLst>
              <a:gd name="connsiteX0" fmla="*/ 0 w 1213658"/>
              <a:gd name="connsiteY0" fmla="*/ 232866 h 232866"/>
              <a:gd name="connsiteX1" fmla="*/ 548640 w 1213658"/>
              <a:gd name="connsiteY1" fmla="*/ 110 h 232866"/>
              <a:gd name="connsiteX2" fmla="*/ 1213658 w 1213658"/>
              <a:gd name="connsiteY2" fmla="*/ 199615 h 232866"/>
              <a:gd name="connsiteX3" fmla="*/ 1213658 w 1213658"/>
              <a:gd name="connsiteY3" fmla="*/ 199615 h 232866"/>
            </a:gdLst>
            <a:ahLst/>
            <a:cxnLst>
              <a:cxn ang="0">
                <a:pos x="connsiteX0" y="connsiteY0"/>
              </a:cxn>
              <a:cxn ang="0">
                <a:pos x="connsiteX1" y="connsiteY1"/>
              </a:cxn>
              <a:cxn ang="0">
                <a:pos x="connsiteX2" y="connsiteY2"/>
              </a:cxn>
              <a:cxn ang="0">
                <a:pos x="connsiteX3" y="connsiteY3"/>
              </a:cxn>
            </a:cxnLst>
            <a:rect l="l" t="t" r="r" b="b"/>
            <a:pathLst>
              <a:path w="1213658" h="232866">
                <a:moveTo>
                  <a:pt x="0" y="232866"/>
                </a:moveTo>
                <a:cubicBezTo>
                  <a:pt x="173182" y="119259"/>
                  <a:pt x="346364" y="5652"/>
                  <a:pt x="548640" y="110"/>
                </a:cubicBezTo>
                <a:cubicBezTo>
                  <a:pt x="750916" y="-5432"/>
                  <a:pt x="1213658" y="199615"/>
                  <a:pt x="1213658" y="199615"/>
                </a:cubicBezTo>
                <a:lnTo>
                  <a:pt x="1213658" y="199615"/>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4123113" y="3293113"/>
            <a:ext cx="304871" cy="252523"/>
          </a:xfrm>
          <a:prstGeom prst="ellipse">
            <a:avLst/>
          </a:prstGeom>
          <a:noFill/>
          <a:ln w="28575">
            <a:solidFill>
              <a:srgbClr val="CC00FF"/>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p:cNvSpPr/>
          <p:nvPr/>
        </p:nvSpPr>
        <p:spPr>
          <a:xfrm>
            <a:off x="6026861" y="1995686"/>
            <a:ext cx="2926919" cy="1200329"/>
          </a:xfrm>
          <a:prstGeom prst="rect">
            <a:avLst/>
          </a:prstGeom>
        </p:spPr>
        <p:txBody>
          <a:bodyPr wrap="square">
            <a:spAutoFit/>
          </a:bodyPr>
          <a:lstStyle/>
          <a:p>
            <a:pPr marL="109728" indent="0">
              <a:buNone/>
            </a:pPr>
            <a:r>
              <a:rPr lang="fr-FR" altLang="zh-CN" kern="100" dirty="0">
                <a:solidFill>
                  <a:srgbClr val="FF0000"/>
                </a:solidFill>
                <a:latin typeface="宋体" panose="02010600030101010101" pitchFamily="2" charset="-122"/>
                <a:ea typeface="宋体" panose="02010600030101010101" pitchFamily="2" charset="-122"/>
              </a:rPr>
              <a:t>E</a:t>
            </a:r>
            <a:r>
              <a:rPr lang="pt-PT" altLang="zh-CN" kern="100" dirty="0">
                <a:solidFill>
                  <a:srgbClr val="FF0000"/>
                </a:solidFill>
                <a:latin typeface="Times New Roman" panose="02020603050405020304" pitchFamily="18" charset="0"/>
              </a:rPr>
              <a:t>'</a:t>
            </a:r>
            <a:r>
              <a:rPr lang="en-US" altLang="zh-CN" dirty="0">
                <a:solidFill>
                  <a:srgbClr val="FF0000"/>
                </a:solidFill>
                <a:latin typeface="宋体" panose="02010600030101010101" pitchFamily="2" charset="-122"/>
                <a:ea typeface="宋体" panose="02010600030101010101" pitchFamily="2" charset="-122"/>
              </a:rPr>
              <a:t>.s</a:t>
            </a:r>
            <a:r>
              <a:rPr lang="zh-CN" altLang="en-US" dirty="0">
                <a:latin typeface="宋体" panose="02010600030101010101" pitchFamily="2" charset="-122"/>
                <a:ea typeface="宋体" panose="02010600030101010101" pitchFamily="2" charset="-122"/>
              </a:rPr>
              <a:t>：综合属性，用于存放产生式左部符号的</a:t>
            </a:r>
            <a:r>
              <a:rPr lang="en-US" altLang="zh-CN" dirty="0" err="1">
                <a:latin typeface="宋体" panose="02010600030101010101" pitchFamily="2" charset="-122"/>
                <a:ea typeface="宋体" panose="02010600030101010101" pitchFamily="2" charset="-122"/>
              </a:rPr>
              <a:t>val</a:t>
            </a:r>
            <a:r>
              <a:rPr lang="zh-CN" altLang="en-US" dirty="0">
                <a:latin typeface="宋体" panose="02010600030101010101" pitchFamily="2" charset="-122"/>
                <a:ea typeface="宋体" panose="02010600030101010101" pitchFamily="2" charset="-122"/>
              </a:rPr>
              <a:t>值，即右部所有文法符号的累加值</a:t>
            </a:r>
          </a:p>
        </p:txBody>
      </p:sp>
      <p:sp>
        <p:nvSpPr>
          <p:cNvPr id="62" name="任意多边形 61"/>
          <p:cNvSpPr/>
          <p:nvPr/>
        </p:nvSpPr>
        <p:spPr>
          <a:xfrm rot="1780532" flipH="1">
            <a:off x="3686873" y="2627291"/>
            <a:ext cx="828653" cy="544042"/>
          </a:xfrm>
          <a:custGeom>
            <a:avLst/>
            <a:gdLst>
              <a:gd name="connsiteX0" fmla="*/ 0 w 1213658"/>
              <a:gd name="connsiteY0" fmla="*/ 232866 h 232866"/>
              <a:gd name="connsiteX1" fmla="*/ 548640 w 1213658"/>
              <a:gd name="connsiteY1" fmla="*/ 110 h 232866"/>
              <a:gd name="connsiteX2" fmla="*/ 1213658 w 1213658"/>
              <a:gd name="connsiteY2" fmla="*/ 199615 h 232866"/>
              <a:gd name="connsiteX3" fmla="*/ 1213658 w 1213658"/>
              <a:gd name="connsiteY3" fmla="*/ 199615 h 232866"/>
            </a:gdLst>
            <a:ahLst/>
            <a:cxnLst>
              <a:cxn ang="0">
                <a:pos x="connsiteX0" y="connsiteY0"/>
              </a:cxn>
              <a:cxn ang="0">
                <a:pos x="connsiteX1" y="connsiteY1"/>
              </a:cxn>
              <a:cxn ang="0">
                <a:pos x="connsiteX2" y="connsiteY2"/>
              </a:cxn>
              <a:cxn ang="0">
                <a:pos x="connsiteX3" y="connsiteY3"/>
              </a:cxn>
            </a:cxnLst>
            <a:rect l="l" t="t" r="r" b="b"/>
            <a:pathLst>
              <a:path w="1213658" h="232866">
                <a:moveTo>
                  <a:pt x="0" y="232866"/>
                </a:moveTo>
                <a:cubicBezTo>
                  <a:pt x="173182" y="119259"/>
                  <a:pt x="346364" y="5652"/>
                  <a:pt x="548640" y="110"/>
                </a:cubicBezTo>
                <a:cubicBezTo>
                  <a:pt x="750916" y="-5432"/>
                  <a:pt x="1213658" y="199615"/>
                  <a:pt x="1213658" y="199615"/>
                </a:cubicBezTo>
                <a:lnTo>
                  <a:pt x="1213658" y="199615"/>
                </a:lnTo>
              </a:path>
            </a:pathLst>
          </a:custGeom>
          <a:noFill/>
          <a:ln w="28575">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任意多边形 63"/>
          <p:cNvSpPr/>
          <p:nvPr/>
        </p:nvSpPr>
        <p:spPr>
          <a:xfrm rot="20279701">
            <a:off x="5889044" y="4264622"/>
            <a:ext cx="494085" cy="417451"/>
          </a:xfrm>
          <a:custGeom>
            <a:avLst/>
            <a:gdLst>
              <a:gd name="connsiteX0" fmla="*/ 0 w 304800"/>
              <a:gd name="connsiteY0" fmla="*/ 211902 h 356347"/>
              <a:gd name="connsiteX1" fmla="*/ 304800 w 304800"/>
              <a:gd name="connsiteY1" fmla="*/ 349062 h 356347"/>
              <a:gd name="connsiteX2" fmla="*/ 304800 w 304800"/>
              <a:gd name="connsiteY2" fmla="*/ 13782 h 356347"/>
              <a:gd name="connsiteX3" fmla="*/ 0 w 304800"/>
              <a:gd name="connsiteY3" fmla="*/ 59502 h 356347"/>
              <a:gd name="connsiteX4" fmla="*/ 0 w 304800"/>
              <a:gd name="connsiteY4" fmla="*/ 59502 h 356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800" h="356347">
                <a:moveTo>
                  <a:pt x="0" y="211902"/>
                </a:moveTo>
                <a:cubicBezTo>
                  <a:pt x="127000" y="296992"/>
                  <a:pt x="254000" y="382082"/>
                  <a:pt x="304800" y="349062"/>
                </a:cubicBezTo>
                <a:cubicBezTo>
                  <a:pt x="355600" y="316042"/>
                  <a:pt x="355600" y="62042"/>
                  <a:pt x="304800" y="13782"/>
                </a:cubicBezTo>
                <a:cubicBezTo>
                  <a:pt x="254000" y="-34478"/>
                  <a:pt x="0" y="59502"/>
                  <a:pt x="0" y="59502"/>
                </a:cubicBezTo>
                <a:lnTo>
                  <a:pt x="0" y="59502"/>
                </a:lnTo>
              </a:path>
            </a:pathLst>
          </a:custGeom>
          <a:noFill/>
          <a:ln>
            <a:solidFill>
              <a:srgbClr val="00B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5924234" y="4555257"/>
            <a:ext cx="508473" cy="369332"/>
          </a:xfrm>
          <a:prstGeom prst="rect">
            <a:avLst/>
          </a:prstGeom>
        </p:spPr>
        <p:txBody>
          <a:bodyPr wrap="none">
            <a:spAutoFit/>
          </a:bodyPr>
          <a:lstStyle/>
          <a:p>
            <a:r>
              <a:rPr lang="fr-FR" altLang="zh-CN" kern="100" dirty="0">
                <a:solidFill>
                  <a:srgbClr val="FF0000"/>
                </a:solidFill>
                <a:latin typeface="Times New Roman" panose="02020603050405020304" pitchFamily="18" charset="0"/>
              </a:rPr>
              <a:t>E</a:t>
            </a:r>
            <a:r>
              <a:rPr lang="pt-PT" altLang="zh-CN" kern="100" dirty="0">
                <a:solidFill>
                  <a:srgbClr val="FF0000"/>
                </a:solidFill>
                <a:latin typeface="Times New Roman" panose="02020603050405020304" pitchFamily="18" charset="0"/>
              </a:rPr>
              <a:t>'</a:t>
            </a:r>
            <a:r>
              <a:rPr lang="en-US" altLang="zh-CN" dirty="0">
                <a:solidFill>
                  <a:srgbClr val="FF0000"/>
                </a:solidFill>
              </a:rPr>
              <a:t>.</a:t>
            </a:r>
            <a:r>
              <a:rPr lang="en-US" altLang="zh-CN" dirty="0" err="1">
                <a:solidFill>
                  <a:srgbClr val="FF0000"/>
                </a:solidFill>
              </a:rPr>
              <a:t>i</a:t>
            </a:r>
            <a:endParaRPr lang="zh-CN" altLang="en-US" dirty="0"/>
          </a:p>
        </p:txBody>
      </p:sp>
      <p:sp>
        <p:nvSpPr>
          <p:cNvPr id="66" name="矩形 65"/>
          <p:cNvSpPr/>
          <p:nvPr/>
        </p:nvSpPr>
        <p:spPr>
          <a:xfrm>
            <a:off x="5650132" y="3899847"/>
            <a:ext cx="558166" cy="369332"/>
          </a:xfrm>
          <a:prstGeom prst="rect">
            <a:avLst/>
          </a:prstGeom>
        </p:spPr>
        <p:txBody>
          <a:bodyPr wrap="none">
            <a:spAutoFit/>
          </a:bodyPr>
          <a:lstStyle/>
          <a:p>
            <a:r>
              <a:rPr lang="fr-FR" altLang="zh-CN" kern="100" dirty="0">
                <a:solidFill>
                  <a:srgbClr val="FF0000"/>
                </a:solidFill>
                <a:latin typeface="Times New Roman" panose="02020603050405020304" pitchFamily="18" charset="0"/>
              </a:rPr>
              <a:t>E</a:t>
            </a:r>
            <a:r>
              <a:rPr lang="pt-PT" altLang="zh-CN" kern="100" dirty="0">
                <a:solidFill>
                  <a:srgbClr val="FF0000"/>
                </a:solidFill>
                <a:latin typeface="Times New Roman" panose="02020603050405020304" pitchFamily="18" charset="0"/>
              </a:rPr>
              <a:t>'</a:t>
            </a:r>
            <a:r>
              <a:rPr lang="en-US" altLang="zh-CN" dirty="0">
                <a:solidFill>
                  <a:srgbClr val="FF0000"/>
                </a:solidFill>
              </a:rPr>
              <a:t>.s</a:t>
            </a:r>
            <a:endParaRPr lang="zh-CN" altLang="en-US" dirty="0"/>
          </a:p>
        </p:txBody>
      </p:sp>
      <p:sp>
        <p:nvSpPr>
          <p:cNvPr id="67" name="矩形 66"/>
          <p:cNvSpPr/>
          <p:nvPr/>
        </p:nvSpPr>
        <p:spPr>
          <a:xfrm>
            <a:off x="1763688" y="1851670"/>
            <a:ext cx="2134687" cy="338554"/>
          </a:xfrm>
          <a:prstGeom prst="rect">
            <a:avLst/>
          </a:prstGeom>
        </p:spPr>
        <p:txBody>
          <a:bodyPr wrap="none">
            <a:spAutoFit/>
          </a:bodyPr>
          <a:lstStyle/>
          <a:p>
            <a:pPr marL="635" indent="-635" algn="just">
              <a:spcAft>
                <a:spcPts val="0"/>
              </a:spcAft>
            </a:pPr>
            <a:r>
              <a:rPr lang="fr-FR" altLang="zh-CN" sz="1600" kern="100" dirty="0">
                <a:latin typeface="Times New Roman" panose="02020603050405020304" pitchFamily="18" charset="0"/>
                <a:ea typeface="宋体" panose="02010600030101010101" pitchFamily="2" charset="-122"/>
              </a:rPr>
              <a:t>T</a:t>
            </a:r>
            <a:r>
              <a:rPr lang="zh-CN" altLang="zh-CN" sz="1600" kern="100" dirty="0">
                <a:latin typeface="Times New Roman" panose="02020603050405020304" pitchFamily="18" charset="0"/>
                <a:ea typeface="宋体" panose="02010600030101010101" pitchFamily="2" charset="-122"/>
              </a:rPr>
              <a:t>→</a:t>
            </a:r>
            <a:r>
              <a:rPr lang="fr-FR" altLang="zh-CN" sz="1600" kern="100" dirty="0">
                <a:latin typeface="Times New Roman" panose="02020603050405020304" pitchFamily="18" charset="0"/>
                <a:ea typeface="宋体" panose="02010600030101010101" pitchFamily="2" charset="-122"/>
              </a:rPr>
              <a:t>(E) </a:t>
            </a:r>
            <a:r>
              <a:rPr lang="fr-FR" altLang="zh-CN" sz="1600" kern="100" dirty="0">
                <a:solidFill>
                  <a:srgbClr val="FF0000"/>
                </a:solidFill>
                <a:latin typeface="Times New Roman" panose="02020603050405020304" pitchFamily="18" charset="0"/>
                <a:ea typeface="宋体" panose="02010600030101010101" pitchFamily="2" charset="-122"/>
              </a:rPr>
              <a:t>{T.val = E.val }</a:t>
            </a:r>
            <a:endParaRPr lang="pt-PT" altLang="zh-CN" sz="1600" kern="100" dirty="0">
              <a:solidFill>
                <a:srgbClr val="FF0000"/>
              </a:solidFill>
              <a:latin typeface="Times New Roman" panose="02020603050405020304" pitchFamily="18" charset="0"/>
              <a:ea typeface="宋体" panose="02010600030101010101" pitchFamily="2" charset="-122"/>
            </a:endParaRPr>
          </a:p>
        </p:txBody>
      </p:sp>
      <p:sp>
        <p:nvSpPr>
          <p:cNvPr id="68" name="矩形 67"/>
          <p:cNvSpPr/>
          <p:nvPr/>
        </p:nvSpPr>
        <p:spPr>
          <a:xfrm>
            <a:off x="1763688" y="2139702"/>
            <a:ext cx="2113848" cy="338554"/>
          </a:xfrm>
          <a:prstGeom prst="rect">
            <a:avLst/>
          </a:prstGeom>
        </p:spPr>
        <p:txBody>
          <a:bodyPr wrap="none">
            <a:spAutoFit/>
          </a:bodyPr>
          <a:lstStyle/>
          <a:p>
            <a:pPr marL="635" indent="-635" algn="just">
              <a:spcAft>
                <a:spcPts val="0"/>
              </a:spcAft>
            </a:pPr>
            <a:r>
              <a:rPr lang="fr-FR" altLang="zh-CN" sz="1600" kern="100" dirty="0">
                <a:latin typeface="Times New Roman" panose="02020603050405020304" pitchFamily="18" charset="0"/>
                <a:ea typeface="宋体" panose="02010600030101010101" pitchFamily="2" charset="-122"/>
              </a:rPr>
              <a:t>T</a:t>
            </a:r>
            <a:r>
              <a:rPr lang="zh-CN" altLang="zh-CN" sz="1600" kern="100" dirty="0">
                <a:latin typeface="Times New Roman" panose="02020603050405020304" pitchFamily="18" charset="0"/>
                <a:ea typeface="宋体" panose="02010600030101010101" pitchFamily="2" charset="-122"/>
              </a:rPr>
              <a:t>→</a:t>
            </a:r>
            <a:r>
              <a:rPr lang="en-US" altLang="zh-CN" sz="1600" kern="100" dirty="0" err="1">
                <a:latin typeface="Times New Roman" panose="02020603050405020304" pitchFamily="18" charset="0"/>
                <a:ea typeface="宋体" panose="02010600030101010101" pitchFamily="2" charset="-122"/>
              </a:rPr>
              <a:t>i</a:t>
            </a:r>
            <a:r>
              <a:rPr lang="en-US" altLang="zh-CN" sz="1600" kern="100" dirty="0">
                <a:latin typeface="Times New Roman" panose="02020603050405020304" pitchFamily="18" charset="0"/>
                <a:ea typeface="宋体" panose="02010600030101010101" pitchFamily="2" charset="-122"/>
              </a:rPr>
              <a:t> </a:t>
            </a:r>
            <a:r>
              <a:rPr lang="fr-FR" altLang="zh-CN" sz="1600" kern="100" dirty="0">
                <a:solidFill>
                  <a:srgbClr val="FF0000"/>
                </a:solidFill>
                <a:latin typeface="Times New Roman" panose="02020603050405020304" pitchFamily="18" charset="0"/>
                <a:ea typeface="宋体" panose="02010600030101010101" pitchFamily="2" charset="-122"/>
              </a:rPr>
              <a:t>{T.val = i.lexval }</a:t>
            </a:r>
            <a:endParaRPr lang="zh-CN" altLang="zh-CN" sz="1600" kern="100" dirty="0">
              <a:solidFill>
                <a:srgbClr val="FF0000"/>
              </a:solidFill>
              <a:latin typeface="Times New Roman" panose="02020603050405020304" pitchFamily="18" charset="0"/>
              <a:ea typeface="宋体" panose="02010600030101010101" pitchFamily="2" charset="-122"/>
            </a:endParaRPr>
          </a:p>
        </p:txBody>
      </p:sp>
      <p:sp>
        <p:nvSpPr>
          <p:cNvPr id="69" name="矩形 68"/>
          <p:cNvSpPr/>
          <p:nvPr/>
        </p:nvSpPr>
        <p:spPr>
          <a:xfrm>
            <a:off x="1763688" y="1585124"/>
            <a:ext cx="1721946" cy="338554"/>
          </a:xfrm>
          <a:prstGeom prst="rect">
            <a:avLst/>
          </a:prstGeom>
        </p:spPr>
        <p:txBody>
          <a:bodyPr wrap="none">
            <a:spAutoFit/>
          </a:bodyPr>
          <a:lstStyle/>
          <a:p>
            <a:r>
              <a:rPr lang="fr-FR" altLang="zh-CN" sz="1600" kern="100" dirty="0">
                <a:latin typeface="Times New Roman" panose="02020603050405020304" pitchFamily="18" charset="0"/>
                <a:ea typeface="宋体" panose="02010600030101010101" pitchFamily="2" charset="-122"/>
              </a:rPr>
              <a:t>E</a:t>
            </a:r>
            <a:r>
              <a:rPr lang="pt-PT" altLang="zh-CN" sz="1600" kern="100" dirty="0">
                <a:latin typeface="Times New Roman" panose="02020603050405020304" pitchFamily="18" charset="0"/>
                <a:ea typeface="宋体" panose="02010600030101010101" pitchFamily="2" charset="-122"/>
              </a:rPr>
              <a:t>'</a:t>
            </a:r>
            <a:r>
              <a:rPr lang="zh-CN" altLang="zh-CN" sz="1600" kern="100" dirty="0">
                <a:latin typeface="Times New Roman" panose="02020603050405020304" pitchFamily="18" charset="0"/>
                <a:ea typeface="宋体" panose="02010600030101010101" pitchFamily="2" charset="-122"/>
              </a:rPr>
              <a:t>→ </a:t>
            </a:r>
            <a:r>
              <a:rPr lang="en-US" altLang="zh-CN" sz="1600" kern="100" dirty="0">
                <a:latin typeface="Times New Roman" panose="02020603050405020304" pitchFamily="18" charset="0"/>
                <a:ea typeface="宋体" panose="02010600030101010101" pitchFamily="2" charset="-122"/>
                <a:sym typeface="Symbol" panose="05050102010706020507" pitchFamily="18" charset="2"/>
              </a:rPr>
              <a:t> </a:t>
            </a:r>
            <a:r>
              <a:rPr lang="fr-FR" altLang="zh-CN" sz="1600" kern="100" dirty="0">
                <a:solidFill>
                  <a:srgbClr val="FF0000"/>
                </a:solidFill>
                <a:latin typeface="Times New Roman" panose="02020603050405020304" pitchFamily="18" charset="0"/>
                <a:ea typeface="宋体" panose="02010600030101010101" pitchFamily="2" charset="-122"/>
              </a:rPr>
              <a:t>{E</a:t>
            </a:r>
            <a:r>
              <a:rPr lang="pt-PT" altLang="zh-CN" sz="1600" kern="100" dirty="0">
                <a:solidFill>
                  <a:srgbClr val="FF0000"/>
                </a:solidFill>
                <a:latin typeface="Times New Roman" panose="02020603050405020304" pitchFamily="18" charset="0"/>
                <a:ea typeface="宋体" panose="02010600030101010101" pitchFamily="2" charset="-122"/>
              </a:rPr>
              <a:t>'</a:t>
            </a:r>
            <a:r>
              <a:rPr lang="fr-FR" altLang="zh-CN" sz="1600" kern="100" dirty="0">
                <a:solidFill>
                  <a:srgbClr val="FF0000"/>
                </a:solidFill>
                <a:latin typeface="Times New Roman" panose="02020603050405020304" pitchFamily="18" charset="0"/>
                <a:ea typeface="宋体" panose="02010600030101010101" pitchFamily="2" charset="-122"/>
              </a:rPr>
              <a:t>.s = E</a:t>
            </a:r>
            <a:r>
              <a:rPr lang="pt-PT" altLang="zh-CN" sz="1600" kern="100" dirty="0">
                <a:solidFill>
                  <a:srgbClr val="FF0000"/>
                </a:solidFill>
                <a:latin typeface="Times New Roman" panose="02020603050405020304" pitchFamily="18" charset="0"/>
                <a:ea typeface="宋体" panose="02010600030101010101" pitchFamily="2" charset="-122"/>
              </a:rPr>
              <a:t>'</a:t>
            </a:r>
            <a:r>
              <a:rPr lang="fr-FR" altLang="zh-CN" sz="1600" kern="100" dirty="0">
                <a:solidFill>
                  <a:srgbClr val="FF0000"/>
                </a:solidFill>
                <a:latin typeface="Times New Roman" panose="02020603050405020304" pitchFamily="18" charset="0"/>
                <a:ea typeface="宋体" panose="02010600030101010101" pitchFamily="2" charset="-122"/>
              </a:rPr>
              <a:t>.i}</a:t>
            </a:r>
            <a:endParaRPr lang="zh-CN" altLang="en-US" sz="1600" dirty="0"/>
          </a:p>
        </p:txBody>
      </p:sp>
    </p:spTree>
    <p:extLst>
      <p:ext uri="{BB962C8B-B14F-4D97-AF65-F5344CB8AC3E}">
        <p14:creationId xmlns:p14="http://schemas.microsoft.com/office/powerpoint/2010/main" val="1660202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10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wipe(right)">
                                      <p:cBhvr>
                                        <p:cTn id="32" dur="1000"/>
                                        <p:tgtEl>
                                          <p:spTgt spid="62"/>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1"/>
                                        </p:tgtEl>
                                        <p:attrNameLst>
                                          <p:attrName>style.visibility</p:attrName>
                                        </p:attrNameLst>
                                      </p:cBhvr>
                                      <p:to>
                                        <p:strVal val="visible"/>
                                      </p:to>
                                    </p:set>
                                    <p:animEffect transition="in" filter="wipe(left)">
                                      <p:cBhvr>
                                        <p:cTn id="57" dur="1000"/>
                                        <p:tgtEl>
                                          <p:spTgt spid="5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2"/>
                                        </p:tgtEl>
                                        <p:attrNameLst>
                                          <p:attrName>style.visibility</p:attrName>
                                        </p:attrNameLst>
                                      </p:cBhvr>
                                      <p:to>
                                        <p:strVal val="visible"/>
                                      </p:to>
                                    </p:set>
                                    <p:animEffect transition="in" filter="wipe(left)">
                                      <p:cBhvr>
                                        <p:cTn id="62" dur="1000"/>
                                        <p:tgtEl>
                                          <p:spTgt spid="5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2" fill="hold" grpId="0" nodeType="click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wipe(right)">
                                      <p:cBhvr>
                                        <p:cTn id="67" dur="1000"/>
                                        <p:tgtEl>
                                          <p:spTgt spid="59"/>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50"/>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57"/>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22"/>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3"/>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58"/>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53"/>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54"/>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55"/>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65"/>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64"/>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66"/>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56"/>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69"/>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67"/>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15" grpId="0" build="p"/>
      <p:bldP spid="17" grpId="0" animBg="1"/>
      <p:bldP spid="40" grpId="0" animBg="1"/>
      <p:bldP spid="18" grpId="0"/>
      <p:bldP spid="19" grpId="0"/>
      <p:bldP spid="20" grpId="0"/>
      <p:bldP spid="50" grpId="0" animBg="1"/>
      <p:bldP spid="51" grpId="0" animBg="1"/>
      <p:bldP spid="52" grpId="0" animBg="1"/>
      <p:bldP spid="22" grpId="0"/>
      <p:bldP spid="23" grpId="0"/>
      <p:bldP spid="24" grpId="0"/>
      <p:bldP spid="30" grpId="0"/>
      <p:bldP spid="53" grpId="0"/>
      <p:bldP spid="54" grpId="0"/>
      <p:bldP spid="55" grpId="0"/>
      <p:bldP spid="56" grpId="0" animBg="1"/>
      <p:bldP spid="31" grpId="0"/>
      <p:bldP spid="57" grpId="0"/>
      <p:bldP spid="58" grpId="0"/>
      <p:bldP spid="59" grpId="0" animBg="1"/>
      <p:bldP spid="60" grpId="0" animBg="1"/>
      <p:bldP spid="61" grpId="0"/>
      <p:bldP spid="62" grpId="0" animBg="1"/>
      <p:bldP spid="64" grpId="0" animBg="1"/>
      <p:bldP spid="65" grpId="0"/>
      <p:bldP spid="66" grpId="0"/>
      <p:bldP spid="67" grpId="0"/>
      <p:bldP spid="68" grpId="0"/>
      <p:bldP spid="69" grpId="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30480" y="123478"/>
            <a:ext cx="5292725" cy="828675"/>
          </a:xfrm>
        </p:spPr>
        <p:txBody>
          <a:bodyPr/>
          <a:lstStyle/>
          <a:p>
            <a:pPr algn="l"/>
            <a:r>
              <a:rPr lang="zh-CN" altLang="en-US" b="1" dirty="0"/>
              <a:t>计算表达式9－5＋2 </a:t>
            </a:r>
          </a:p>
        </p:txBody>
      </p:sp>
      <p:sp>
        <p:nvSpPr>
          <p:cNvPr id="151559" name="Rectangle 7"/>
          <p:cNvSpPr>
            <a:spLocks noChangeArrowheads="1"/>
          </p:cNvSpPr>
          <p:nvPr/>
        </p:nvSpPr>
        <p:spPr bwMode="auto">
          <a:xfrm>
            <a:off x="2209800" y="108585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a:latin typeface="+mn-lt"/>
              </a:rPr>
              <a:t>E</a:t>
            </a:r>
          </a:p>
        </p:txBody>
      </p:sp>
      <p:sp>
        <p:nvSpPr>
          <p:cNvPr id="151561" name="Line 9"/>
          <p:cNvSpPr>
            <a:spLocks noChangeShapeType="1"/>
          </p:cNvSpPr>
          <p:nvPr/>
        </p:nvSpPr>
        <p:spPr bwMode="auto">
          <a:xfrm flipH="1">
            <a:off x="1295400" y="1428750"/>
            <a:ext cx="990600" cy="5143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62" name="Line 10"/>
          <p:cNvSpPr>
            <a:spLocks noChangeShapeType="1"/>
          </p:cNvSpPr>
          <p:nvPr/>
        </p:nvSpPr>
        <p:spPr bwMode="auto">
          <a:xfrm>
            <a:off x="2590800" y="1428750"/>
            <a:ext cx="609600" cy="4000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63" name="Rectangle 11"/>
          <p:cNvSpPr>
            <a:spLocks noChangeArrowheads="1"/>
          </p:cNvSpPr>
          <p:nvPr/>
        </p:nvSpPr>
        <p:spPr bwMode="auto">
          <a:xfrm>
            <a:off x="1066800" y="1943100"/>
            <a:ext cx="5334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a:latin typeface="+mn-lt"/>
              </a:rPr>
              <a:t>T</a:t>
            </a:r>
          </a:p>
        </p:txBody>
      </p:sp>
      <p:sp>
        <p:nvSpPr>
          <p:cNvPr id="151564" name="Rectangle 12"/>
          <p:cNvSpPr>
            <a:spLocks noChangeArrowheads="1"/>
          </p:cNvSpPr>
          <p:nvPr/>
        </p:nvSpPr>
        <p:spPr bwMode="auto">
          <a:xfrm>
            <a:off x="3124200" y="188595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latin typeface="+mn-lt"/>
              </a:rPr>
              <a:t>E</a:t>
            </a:r>
            <a:r>
              <a:rPr lang="en-US" altLang="zh-CN" sz="2600" dirty="0"/>
              <a:t>'</a:t>
            </a:r>
            <a:endParaRPr kumimoji="1" lang="en-US" altLang="zh-CN" sz="2600" b="1" dirty="0">
              <a:latin typeface="+mn-lt"/>
            </a:endParaRPr>
          </a:p>
        </p:txBody>
      </p:sp>
      <p:sp>
        <p:nvSpPr>
          <p:cNvPr id="151565" name="Line 13"/>
          <p:cNvSpPr>
            <a:spLocks noChangeShapeType="1"/>
          </p:cNvSpPr>
          <p:nvPr/>
        </p:nvSpPr>
        <p:spPr bwMode="auto">
          <a:xfrm>
            <a:off x="1219200" y="2343150"/>
            <a:ext cx="0" cy="5143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66" name="Rectangle 14"/>
          <p:cNvSpPr>
            <a:spLocks noChangeArrowheads="1"/>
          </p:cNvSpPr>
          <p:nvPr/>
        </p:nvSpPr>
        <p:spPr bwMode="auto">
          <a:xfrm>
            <a:off x="1043608" y="2857500"/>
            <a:ext cx="685800" cy="397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err="1">
                <a:latin typeface="+mn-lt"/>
              </a:rPr>
              <a:t>i</a:t>
            </a:r>
            <a:endParaRPr kumimoji="1" lang="en-US" altLang="zh-CN" sz="2600" b="1" dirty="0">
              <a:latin typeface="+mn-lt"/>
            </a:endParaRPr>
          </a:p>
        </p:txBody>
      </p:sp>
      <p:sp>
        <p:nvSpPr>
          <p:cNvPr id="151567" name="Rectangle 15"/>
          <p:cNvSpPr>
            <a:spLocks noChangeArrowheads="1"/>
          </p:cNvSpPr>
          <p:nvPr/>
        </p:nvSpPr>
        <p:spPr bwMode="auto">
          <a:xfrm>
            <a:off x="843082" y="2842002"/>
            <a:ext cx="22860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err="1">
                <a:latin typeface="+mn-lt"/>
              </a:rPr>
              <a:t>i.lexval</a:t>
            </a:r>
            <a:r>
              <a:rPr kumimoji="1" lang="en-US" altLang="zh-CN" sz="2600" b="1" dirty="0">
                <a:latin typeface="+mn-lt"/>
              </a:rPr>
              <a:t>=9</a:t>
            </a:r>
          </a:p>
        </p:txBody>
      </p:sp>
      <p:sp>
        <p:nvSpPr>
          <p:cNvPr id="151568" name="Line 16"/>
          <p:cNvSpPr>
            <a:spLocks noChangeShapeType="1"/>
          </p:cNvSpPr>
          <p:nvPr/>
        </p:nvSpPr>
        <p:spPr bwMode="auto">
          <a:xfrm flipV="1">
            <a:off x="1600200" y="2343150"/>
            <a:ext cx="0" cy="51435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69" name="Rectangle 17"/>
          <p:cNvSpPr>
            <a:spLocks noChangeArrowheads="1"/>
          </p:cNvSpPr>
          <p:nvPr/>
        </p:nvSpPr>
        <p:spPr bwMode="auto">
          <a:xfrm>
            <a:off x="1066800" y="1943100"/>
            <a:ext cx="16002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a:solidFill>
                  <a:srgbClr val="FF3300"/>
                </a:solidFill>
                <a:latin typeface="+mn-lt"/>
              </a:rPr>
              <a:t>T.val=9</a:t>
            </a:r>
          </a:p>
        </p:txBody>
      </p:sp>
      <p:sp>
        <p:nvSpPr>
          <p:cNvPr id="151570" name="Line 18"/>
          <p:cNvSpPr>
            <a:spLocks noChangeShapeType="1"/>
          </p:cNvSpPr>
          <p:nvPr/>
        </p:nvSpPr>
        <p:spPr bwMode="auto">
          <a:xfrm>
            <a:off x="2514600" y="2114550"/>
            <a:ext cx="533400" cy="0"/>
          </a:xfrm>
          <a:prstGeom prst="line">
            <a:avLst/>
          </a:prstGeom>
          <a:noFill/>
          <a:ln w="38100">
            <a:solidFill>
              <a:srgbClr val="3366CC"/>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71" name="Rectangle 19"/>
          <p:cNvSpPr>
            <a:spLocks noChangeArrowheads="1"/>
          </p:cNvSpPr>
          <p:nvPr/>
        </p:nvSpPr>
        <p:spPr bwMode="auto">
          <a:xfrm>
            <a:off x="3119438" y="1883668"/>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solidFill>
                  <a:srgbClr val="3366CC"/>
                </a:solidFill>
                <a:latin typeface="+mn-lt"/>
              </a:rPr>
              <a:t>E</a:t>
            </a:r>
            <a:r>
              <a:rPr lang="en-US" altLang="zh-CN" sz="2600" dirty="0">
                <a:solidFill>
                  <a:srgbClr val="0070C0"/>
                </a:solidFill>
              </a:rPr>
              <a:t>'</a:t>
            </a:r>
            <a:r>
              <a:rPr kumimoji="1" lang="en-US" altLang="zh-CN" sz="2600" b="1" dirty="0">
                <a:solidFill>
                  <a:srgbClr val="3366CC"/>
                </a:solidFill>
                <a:latin typeface="+mn-lt"/>
              </a:rPr>
              <a:t>.</a:t>
            </a:r>
            <a:r>
              <a:rPr kumimoji="1" lang="en-US" altLang="zh-CN" sz="2600" b="1" dirty="0" err="1">
                <a:solidFill>
                  <a:srgbClr val="3366CC"/>
                </a:solidFill>
                <a:latin typeface="+mn-lt"/>
              </a:rPr>
              <a:t>i</a:t>
            </a:r>
            <a:r>
              <a:rPr kumimoji="1" lang="en-US" altLang="zh-CN" sz="2600" b="1" dirty="0">
                <a:solidFill>
                  <a:srgbClr val="3366CC"/>
                </a:solidFill>
                <a:latin typeface="+mn-lt"/>
              </a:rPr>
              <a:t>=9</a:t>
            </a:r>
          </a:p>
        </p:txBody>
      </p:sp>
      <p:sp>
        <p:nvSpPr>
          <p:cNvPr id="151572" name="Line 20"/>
          <p:cNvSpPr>
            <a:spLocks noChangeShapeType="1"/>
          </p:cNvSpPr>
          <p:nvPr/>
        </p:nvSpPr>
        <p:spPr bwMode="auto">
          <a:xfrm flipH="1">
            <a:off x="2895600" y="2286000"/>
            <a:ext cx="838200" cy="6286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73" name="Rectangle 21"/>
          <p:cNvSpPr>
            <a:spLocks noChangeArrowheads="1"/>
          </p:cNvSpPr>
          <p:nvPr/>
        </p:nvSpPr>
        <p:spPr bwMode="auto">
          <a:xfrm>
            <a:off x="2743200" y="285750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latin typeface="+mn-lt"/>
              </a:rPr>
              <a:t>-</a:t>
            </a:r>
          </a:p>
        </p:txBody>
      </p:sp>
      <p:sp>
        <p:nvSpPr>
          <p:cNvPr id="151574" name="Line 22"/>
          <p:cNvSpPr>
            <a:spLocks noChangeShapeType="1"/>
          </p:cNvSpPr>
          <p:nvPr/>
        </p:nvSpPr>
        <p:spPr bwMode="auto">
          <a:xfrm flipH="1">
            <a:off x="3810000" y="2286000"/>
            <a:ext cx="0" cy="6286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76" name="Rectangle 24"/>
          <p:cNvSpPr>
            <a:spLocks noChangeArrowheads="1"/>
          </p:cNvSpPr>
          <p:nvPr/>
        </p:nvSpPr>
        <p:spPr bwMode="auto">
          <a:xfrm>
            <a:off x="3657600" y="285750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a:latin typeface="+mn-lt"/>
              </a:rPr>
              <a:t>T</a:t>
            </a:r>
          </a:p>
        </p:txBody>
      </p:sp>
      <p:sp>
        <p:nvSpPr>
          <p:cNvPr id="151586" name="Line 34"/>
          <p:cNvSpPr>
            <a:spLocks noChangeShapeType="1"/>
          </p:cNvSpPr>
          <p:nvPr/>
        </p:nvSpPr>
        <p:spPr bwMode="auto">
          <a:xfrm>
            <a:off x="3962400" y="2286000"/>
            <a:ext cx="1676400" cy="6286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87" name="Rectangle 35"/>
          <p:cNvSpPr>
            <a:spLocks noChangeArrowheads="1"/>
          </p:cNvSpPr>
          <p:nvPr/>
        </p:nvSpPr>
        <p:spPr bwMode="auto">
          <a:xfrm>
            <a:off x="5486400" y="285750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latin typeface="+mn-lt"/>
              </a:rPr>
              <a:t>E</a:t>
            </a:r>
            <a:r>
              <a:rPr lang="en-US" altLang="zh-CN" sz="2600" dirty="0"/>
              <a:t>'</a:t>
            </a:r>
            <a:endParaRPr kumimoji="1" lang="en-US" altLang="zh-CN" sz="2600" b="1" dirty="0">
              <a:latin typeface="+mn-lt"/>
            </a:endParaRPr>
          </a:p>
        </p:txBody>
      </p:sp>
      <p:sp>
        <p:nvSpPr>
          <p:cNvPr id="151589" name="Line 37"/>
          <p:cNvSpPr>
            <a:spLocks noChangeShapeType="1"/>
          </p:cNvSpPr>
          <p:nvPr/>
        </p:nvSpPr>
        <p:spPr bwMode="auto">
          <a:xfrm>
            <a:off x="3810000" y="3257550"/>
            <a:ext cx="0" cy="5143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90" name="Rectangle 38"/>
          <p:cNvSpPr>
            <a:spLocks noChangeArrowheads="1"/>
          </p:cNvSpPr>
          <p:nvPr/>
        </p:nvSpPr>
        <p:spPr bwMode="auto">
          <a:xfrm>
            <a:off x="3657600" y="3755876"/>
            <a:ext cx="9144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err="1">
                <a:latin typeface="+mn-lt"/>
              </a:rPr>
              <a:t>i</a:t>
            </a:r>
            <a:endParaRPr kumimoji="1" lang="en-US" altLang="zh-CN" sz="2600" b="1" dirty="0">
              <a:latin typeface="+mn-lt"/>
            </a:endParaRPr>
          </a:p>
        </p:txBody>
      </p:sp>
      <p:sp>
        <p:nvSpPr>
          <p:cNvPr id="151591" name="Rectangle 39"/>
          <p:cNvSpPr>
            <a:spLocks noChangeArrowheads="1"/>
          </p:cNvSpPr>
          <p:nvPr/>
        </p:nvSpPr>
        <p:spPr bwMode="auto">
          <a:xfrm>
            <a:off x="3453626" y="3755876"/>
            <a:ext cx="22860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err="1">
                <a:latin typeface="+mn-lt"/>
              </a:rPr>
              <a:t>i.lexval</a:t>
            </a:r>
            <a:r>
              <a:rPr kumimoji="1" lang="en-US" altLang="zh-CN" sz="2600" b="1" dirty="0">
                <a:latin typeface="+mn-lt"/>
              </a:rPr>
              <a:t>=5</a:t>
            </a:r>
          </a:p>
        </p:txBody>
      </p:sp>
      <p:sp>
        <p:nvSpPr>
          <p:cNvPr id="151592" name="Line 40"/>
          <p:cNvSpPr>
            <a:spLocks noChangeShapeType="1"/>
          </p:cNvSpPr>
          <p:nvPr/>
        </p:nvSpPr>
        <p:spPr bwMode="auto">
          <a:xfrm flipV="1">
            <a:off x="4191000" y="3257550"/>
            <a:ext cx="0" cy="51435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93" name="Rectangle 41"/>
          <p:cNvSpPr>
            <a:spLocks noChangeArrowheads="1"/>
          </p:cNvSpPr>
          <p:nvPr/>
        </p:nvSpPr>
        <p:spPr bwMode="auto">
          <a:xfrm>
            <a:off x="3657600" y="285750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a:solidFill>
                  <a:srgbClr val="FF3300"/>
                </a:solidFill>
                <a:latin typeface="+mn-lt"/>
              </a:rPr>
              <a:t>T.val=5</a:t>
            </a:r>
          </a:p>
        </p:txBody>
      </p:sp>
      <p:sp>
        <p:nvSpPr>
          <p:cNvPr id="151594" name="Line 42"/>
          <p:cNvSpPr>
            <a:spLocks noChangeShapeType="1"/>
          </p:cNvSpPr>
          <p:nvPr/>
        </p:nvSpPr>
        <p:spPr bwMode="auto">
          <a:xfrm>
            <a:off x="3962400" y="2400300"/>
            <a:ext cx="1524000" cy="571500"/>
          </a:xfrm>
          <a:prstGeom prst="line">
            <a:avLst/>
          </a:prstGeom>
          <a:noFill/>
          <a:ln w="38100">
            <a:solidFill>
              <a:srgbClr val="3366CC"/>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95" name="Line 43"/>
          <p:cNvSpPr>
            <a:spLocks noChangeShapeType="1"/>
          </p:cNvSpPr>
          <p:nvPr/>
        </p:nvSpPr>
        <p:spPr bwMode="auto">
          <a:xfrm>
            <a:off x="4876800" y="3086100"/>
            <a:ext cx="609600" cy="0"/>
          </a:xfrm>
          <a:prstGeom prst="line">
            <a:avLst/>
          </a:prstGeom>
          <a:noFill/>
          <a:ln w="38100">
            <a:solidFill>
              <a:srgbClr val="3366CC"/>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96" name="Rectangle 44"/>
          <p:cNvSpPr>
            <a:spLocks noChangeArrowheads="1"/>
          </p:cNvSpPr>
          <p:nvPr/>
        </p:nvSpPr>
        <p:spPr bwMode="auto">
          <a:xfrm>
            <a:off x="5486400" y="2859782"/>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solidFill>
                  <a:srgbClr val="0070C0"/>
                </a:solidFill>
                <a:latin typeface="+mn-lt"/>
              </a:rPr>
              <a:t>E</a:t>
            </a:r>
            <a:r>
              <a:rPr lang="en-US" altLang="zh-CN" sz="2600" dirty="0">
                <a:solidFill>
                  <a:srgbClr val="0070C0"/>
                </a:solidFill>
              </a:rPr>
              <a:t>'</a:t>
            </a:r>
            <a:r>
              <a:rPr kumimoji="1" lang="en-US" altLang="zh-CN" sz="2600" b="1" dirty="0">
                <a:solidFill>
                  <a:srgbClr val="0070C0"/>
                </a:solidFill>
                <a:latin typeface="+mn-lt"/>
              </a:rPr>
              <a:t>.</a:t>
            </a:r>
            <a:r>
              <a:rPr kumimoji="1" lang="en-US" altLang="zh-CN" sz="2600" b="1" dirty="0" err="1">
                <a:solidFill>
                  <a:srgbClr val="0070C0"/>
                </a:solidFill>
                <a:latin typeface="+mn-lt"/>
              </a:rPr>
              <a:t>i</a:t>
            </a:r>
            <a:r>
              <a:rPr kumimoji="1" lang="en-US" altLang="zh-CN" sz="2600" b="1" dirty="0">
                <a:solidFill>
                  <a:srgbClr val="0070C0"/>
                </a:solidFill>
                <a:latin typeface="+mn-lt"/>
              </a:rPr>
              <a:t>=4</a:t>
            </a:r>
          </a:p>
        </p:txBody>
      </p:sp>
      <p:sp>
        <p:nvSpPr>
          <p:cNvPr id="151597" name="Line 45"/>
          <p:cNvSpPr>
            <a:spLocks noChangeShapeType="1"/>
          </p:cNvSpPr>
          <p:nvPr/>
        </p:nvSpPr>
        <p:spPr bwMode="auto">
          <a:xfrm flipH="1">
            <a:off x="5562600" y="3200400"/>
            <a:ext cx="609600" cy="6286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98" name="Rectangle 46"/>
          <p:cNvSpPr>
            <a:spLocks noChangeArrowheads="1"/>
          </p:cNvSpPr>
          <p:nvPr/>
        </p:nvSpPr>
        <p:spPr bwMode="auto">
          <a:xfrm>
            <a:off x="5410200" y="377190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latin typeface="+mn-lt"/>
              </a:rPr>
              <a:t>+</a:t>
            </a:r>
          </a:p>
        </p:txBody>
      </p:sp>
      <p:sp>
        <p:nvSpPr>
          <p:cNvPr id="151599" name="Line 47"/>
          <p:cNvSpPr>
            <a:spLocks noChangeShapeType="1"/>
          </p:cNvSpPr>
          <p:nvPr/>
        </p:nvSpPr>
        <p:spPr bwMode="auto">
          <a:xfrm flipH="1">
            <a:off x="6248400" y="3200400"/>
            <a:ext cx="0" cy="6286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00" name="Line 48"/>
          <p:cNvSpPr>
            <a:spLocks noChangeShapeType="1"/>
          </p:cNvSpPr>
          <p:nvPr/>
        </p:nvSpPr>
        <p:spPr bwMode="auto">
          <a:xfrm>
            <a:off x="6400800" y="3200400"/>
            <a:ext cx="1676400" cy="6286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01" name="Rectangle 49"/>
          <p:cNvSpPr>
            <a:spLocks noChangeArrowheads="1"/>
          </p:cNvSpPr>
          <p:nvPr/>
        </p:nvSpPr>
        <p:spPr bwMode="auto">
          <a:xfrm>
            <a:off x="6096000" y="377190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a:latin typeface="+mn-lt"/>
              </a:rPr>
              <a:t>T</a:t>
            </a:r>
          </a:p>
        </p:txBody>
      </p:sp>
      <p:sp>
        <p:nvSpPr>
          <p:cNvPr id="151602" name="Rectangle 50"/>
          <p:cNvSpPr>
            <a:spLocks noChangeArrowheads="1"/>
          </p:cNvSpPr>
          <p:nvPr/>
        </p:nvSpPr>
        <p:spPr bwMode="auto">
          <a:xfrm>
            <a:off x="7907338" y="382905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latin typeface="+mn-lt"/>
              </a:rPr>
              <a:t>E</a:t>
            </a:r>
            <a:r>
              <a:rPr lang="en-US" altLang="zh-CN" sz="2600" dirty="0"/>
              <a:t>'</a:t>
            </a:r>
            <a:endParaRPr kumimoji="1" lang="en-US" altLang="zh-CN" sz="2600" b="1" dirty="0">
              <a:latin typeface="+mn-lt"/>
            </a:endParaRPr>
          </a:p>
        </p:txBody>
      </p:sp>
      <p:sp>
        <p:nvSpPr>
          <p:cNvPr id="151603" name="Line 51"/>
          <p:cNvSpPr>
            <a:spLocks noChangeShapeType="1"/>
          </p:cNvSpPr>
          <p:nvPr/>
        </p:nvSpPr>
        <p:spPr bwMode="auto">
          <a:xfrm>
            <a:off x="6324600" y="4171950"/>
            <a:ext cx="0" cy="5143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04" name="Rectangle 52"/>
          <p:cNvSpPr>
            <a:spLocks noChangeArrowheads="1"/>
          </p:cNvSpPr>
          <p:nvPr/>
        </p:nvSpPr>
        <p:spPr bwMode="auto">
          <a:xfrm>
            <a:off x="6210300" y="4619972"/>
            <a:ext cx="4953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err="1">
                <a:latin typeface="+mn-lt"/>
              </a:rPr>
              <a:t>i</a:t>
            </a:r>
            <a:endParaRPr kumimoji="1" lang="en-US" altLang="zh-CN" sz="2600" b="1" dirty="0">
              <a:latin typeface="+mn-lt"/>
            </a:endParaRPr>
          </a:p>
        </p:txBody>
      </p:sp>
      <p:sp>
        <p:nvSpPr>
          <p:cNvPr id="151605" name="Rectangle 53"/>
          <p:cNvSpPr>
            <a:spLocks noChangeArrowheads="1"/>
          </p:cNvSpPr>
          <p:nvPr/>
        </p:nvSpPr>
        <p:spPr bwMode="auto">
          <a:xfrm>
            <a:off x="6210300" y="4588976"/>
            <a:ext cx="22860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err="1">
                <a:latin typeface="+mn-lt"/>
              </a:rPr>
              <a:t>i.lexval</a:t>
            </a:r>
            <a:r>
              <a:rPr kumimoji="1" lang="en-US" altLang="zh-CN" sz="2600" b="1" dirty="0">
                <a:latin typeface="+mn-lt"/>
              </a:rPr>
              <a:t>=2</a:t>
            </a:r>
          </a:p>
        </p:txBody>
      </p:sp>
      <p:sp>
        <p:nvSpPr>
          <p:cNvPr id="151606" name="Line 54"/>
          <p:cNvSpPr>
            <a:spLocks noChangeShapeType="1"/>
          </p:cNvSpPr>
          <p:nvPr/>
        </p:nvSpPr>
        <p:spPr bwMode="auto">
          <a:xfrm flipV="1">
            <a:off x="6705600" y="4171950"/>
            <a:ext cx="0" cy="51435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07" name="Rectangle 55"/>
          <p:cNvSpPr>
            <a:spLocks noChangeArrowheads="1"/>
          </p:cNvSpPr>
          <p:nvPr/>
        </p:nvSpPr>
        <p:spPr bwMode="auto">
          <a:xfrm>
            <a:off x="6096000" y="377190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a:solidFill>
                  <a:srgbClr val="FF3300"/>
                </a:solidFill>
                <a:latin typeface="+mn-lt"/>
              </a:rPr>
              <a:t>T.val=2</a:t>
            </a:r>
          </a:p>
        </p:txBody>
      </p:sp>
      <p:sp>
        <p:nvSpPr>
          <p:cNvPr id="151608" name="Line 56"/>
          <p:cNvSpPr>
            <a:spLocks noChangeShapeType="1"/>
          </p:cNvSpPr>
          <p:nvPr/>
        </p:nvSpPr>
        <p:spPr bwMode="auto">
          <a:xfrm>
            <a:off x="6324600" y="3257550"/>
            <a:ext cx="1524000" cy="571500"/>
          </a:xfrm>
          <a:prstGeom prst="line">
            <a:avLst/>
          </a:prstGeom>
          <a:noFill/>
          <a:ln w="38100">
            <a:solidFill>
              <a:srgbClr val="3366CC"/>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09" name="Line 57"/>
          <p:cNvSpPr>
            <a:spLocks noChangeShapeType="1"/>
          </p:cNvSpPr>
          <p:nvPr/>
        </p:nvSpPr>
        <p:spPr bwMode="auto">
          <a:xfrm>
            <a:off x="7391400" y="4000500"/>
            <a:ext cx="533400" cy="0"/>
          </a:xfrm>
          <a:prstGeom prst="line">
            <a:avLst/>
          </a:prstGeom>
          <a:noFill/>
          <a:ln w="19050">
            <a:solidFill>
              <a:srgbClr val="3366CC"/>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10" name="Rectangle 58"/>
          <p:cNvSpPr>
            <a:spLocks noChangeArrowheads="1"/>
          </p:cNvSpPr>
          <p:nvPr/>
        </p:nvSpPr>
        <p:spPr bwMode="auto">
          <a:xfrm>
            <a:off x="7907338" y="3827884"/>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solidFill>
                  <a:srgbClr val="3366CC"/>
                </a:solidFill>
                <a:latin typeface="+mn-lt"/>
              </a:rPr>
              <a:t>E</a:t>
            </a:r>
            <a:r>
              <a:rPr lang="en-US" altLang="zh-CN" sz="2600" dirty="0">
                <a:solidFill>
                  <a:srgbClr val="0070C0"/>
                </a:solidFill>
              </a:rPr>
              <a:t>'</a:t>
            </a:r>
            <a:r>
              <a:rPr kumimoji="1" lang="en-US" altLang="zh-CN" sz="2600" b="1" dirty="0">
                <a:solidFill>
                  <a:srgbClr val="3366CC"/>
                </a:solidFill>
                <a:latin typeface="+mn-lt"/>
              </a:rPr>
              <a:t>.</a:t>
            </a:r>
            <a:r>
              <a:rPr kumimoji="1" lang="en-US" altLang="zh-CN" sz="2600" b="1" dirty="0" err="1">
                <a:solidFill>
                  <a:srgbClr val="3366CC"/>
                </a:solidFill>
                <a:latin typeface="+mn-lt"/>
              </a:rPr>
              <a:t>i</a:t>
            </a:r>
            <a:r>
              <a:rPr kumimoji="1" lang="en-US" altLang="zh-CN" sz="2600" b="1" dirty="0">
                <a:solidFill>
                  <a:srgbClr val="3366CC"/>
                </a:solidFill>
                <a:latin typeface="+mn-lt"/>
              </a:rPr>
              <a:t>=6</a:t>
            </a:r>
          </a:p>
        </p:txBody>
      </p:sp>
      <p:sp>
        <p:nvSpPr>
          <p:cNvPr id="151611" name="Line 59"/>
          <p:cNvSpPr>
            <a:spLocks noChangeShapeType="1"/>
          </p:cNvSpPr>
          <p:nvPr/>
        </p:nvSpPr>
        <p:spPr bwMode="auto">
          <a:xfrm>
            <a:off x="8153400" y="4171950"/>
            <a:ext cx="0" cy="514350"/>
          </a:xfrm>
          <a:prstGeom prst="line">
            <a:avLst/>
          </a:prstGeom>
          <a:noFill/>
          <a:ln w="3810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12" name="Rectangle 60"/>
          <p:cNvSpPr>
            <a:spLocks noChangeArrowheads="1"/>
          </p:cNvSpPr>
          <p:nvPr/>
        </p:nvSpPr>
        <p:spPr bwMode="auto">
          <a:xfrm>
            <a:off x="7696200" y="4572000"/>
            <a:ext cx="9144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defRPr/>
            </a:pPr>
            <a:r>
              <a:rPr kumimoji="1" lang="en-US" altLang="zh-CN" sz="2600" b="1">
                <a:latin typeface="+mn-lt"/>
                <a:sym typeface="Symbol" pitchFamily="18" charset="2"/>
              </a:rPr>
              <a:t></a:t>
            </a:r>
            <a:endParaRPr kumimoji="1" lang="en-US" altLang="zh-CN" sz="2600" b="1">
              <a:latin typeface="+mn-lt"/>
            </a:endParaRPr>
          </a:p>
        </p:txBody>
      </p:sp>
      <p:sp>
        <p:nvSpPr>
          <p:cNvPr id="151613" name="Line 61"/>
          <p:cNvSpPr>
            <a:spLocks noChangeShapeType="1"/>
          </p:cNvSpPr>
          <p:nvPr/>
        </p:nvSpPr>
        <p:spPr bwMode="auto">
          <a:xfrm flipV="1">
            <a:off x="8534400" y="3543300"/>
            <a:ext cx="0" cy="285750"/>
          </a:xfrm>
          <a:prstGeom prst="line">
            <a:avLst/>
          </a:prstGeom>
          <a:noFill/>
          <a:ln w="1905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14" name="Rectangle 62"/>
          <p:cNvSpPr>
            <a:spLocks noChangeArrowheads="1"/>
          </p:cNvSpPr>
          <p:nvPr/>
        </p:nvSpPr>
        <p:spPr bwMode="auto">
          <a:xfrm>
            <a:off x="7924800" y="331470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solidFill>
                  <a:srgbClr val="FF3300"/>
                </a:solidFill>
                <a:latin typeface="+mn-lt"/>
              </a:rPr>
              <a:t>E</a:t>
            </a:r>
            <a:r>
              <a:rPr lang="en-US" altLang="zh-CN" sz="2600" dirty="0">
                <a:solidFill>
                  <a:srgbClr val="FF0000"/>
                </a:solidFill>
              </a:rPr>
              <a:t>'</a:t>
            </a:r>
            <a:r>
              <a:rPr kumimoji="1" lang="en-US" altLang="zh-CN" sz="2600" b="1" dirty="0">
                <a:solidFill>
                  <a:srgbClr val="FF3300"/>
                </a:solidFill>
                <a:latin typeface="+mn-lt"/>
              </a:rPr>
              <a:t>.s=6</a:t>
            </a:r>
          </a:p>
        </p:txBody>
      </p:sp>
      <p:sp>
        <p:nvSpPr>
          <p:cNvPr id="151615" name="Line 63"/>
          <p:cNvSpPr>
            <a:spLocks noChangeShapeType="1"/>
          </p:cNvSpPr>
          <p:nvPr/>
        </p:nvSpPr>
        <p:spPr bwMode="auto">
          <a:xfrm flipH="1" flipV="1">
            <a:off x="7010400" y="3200400"/>
            <a:ext cx="990600" cy="34290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16" name="Rectangle 64"/>
          <p:cNvSpPr>
            <a:spLocks noChangeArrowheads="1"/>
          </p:cNvSpPr>
          <p:nvPr/>
        </p:nvSpPr>
        <p:spPr bwMode="auto">
          <a:xfrm>
            <a:off x="6553200" y="285750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solidFill>
                  <a:srgbClr val="FF3300"/>
                </a:solidFill>
                <a:latin typeface="+mn-lt"/>
              </a:rPr>
              <a:t>E</a:t>
            </a:r>
            <a:r>
              <a:rPr lang="en-US" altLang="zh-CN" sz="2600" dirty="0">
                <a:solidFill>
                  <a:srgbClr val="FF0000"/>
                </a:solidFill>
              </a:rPr>
              <a:t>'</a:t>
            </a:r>
            <a:r>
              <a:rPr kumimoji="1" lang="en-US" altLang="zh-CN" sz="2600" b="1" dirty="0">
                <a:solidFill>
                  <a:srgbClr val="FF3300"/>
                </a:solidFill>
                <a:latin typeface="+mn-lt"/>
              </a:rPr>
              <a:t>.s=6</a:t>
            </a:r>
          </a:p>
        </p:txBody>
      </p:sp>
      <p:sp>
        <p:nvSpPr>
          <p:cNvPr id="151617" name="Line 65"/>
          <p:cNvSpPr>
            <a:spLocks noChangeShapeType="1"/>
          </p:cNvSpPr>
          <p:nvPr/>
        </p:nvSpPr>
        <p:spPr bwMode="auto">
          <a:xfrm flipH="1" flipV="1">
            <a:off x="4876800" y="2286000"/>
            <a:ext cx="1676400" cy="62865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18" name="Rectangle 66"/>
          <p:cNvSpPr>
            <a:spLocks noChangeArrowheads="1"/>
          </p:cNvSpPr>
          <p:nvPr/>
        </p:nvSpPr>
        <p:spPr bwMode="auto">
          <a:xfrm>
            <a:off x="4191000" y="188595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solidFill>
                  <a:srgbClr val="FF3300"/>
                </a:solidFill>
                <a:latin typeface="+mn-lt"/>
              </a:rPr>
              <a:t>E</a:t>
            </a:r>
            <a:r>
              <a:rPr lang="en-US" altLang="zh-CN" sz="2600" dirty="0">
                <a:solidFill>
                  <a:srgbClr val="FF0000"/>
                </a:solidFill>
              </a:rPr>
              <a:t>'</a:t>
            </a:r>
            <a:r>
              <a:rPr kumimoji="1" lang="en-US" altLang="zh-CN" sz="2600" b="1" dirty="0">
                <a:solidFill>
                  <a:srgbClr val="FF3300"/>
                </a:solidFill>
                <a:latin typeface="+mn-lt"/>
              </a:rPr>
              <a:t>.s=6</a:t>
            </a:r>
          </a:p>
        </p:txBody>
      </p:sp>
      <p:sp>
        <p:nvSpPr>
          <p:cNvPr id="151619" name="Line 67"/>
          <p:cNvSpPr>
            <a:spLocks noChangeShapeType="1"/>
          </p:cNvSpPr>
          <p:nvPr/>
        </p:nvSpPr>
        <p:spPr bwMode="auto">
          <a:xfrm flipH="1" flipV="1">
            <a:off x="2971800" y="1371600"/>
            <a:ext cx="1295400" cy="62865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20" name="Rectangle 68"/>
          <p:cNvSpPr>
            <a:spLocks noChangeArrowheads="1"/>
          </p:cNvSpPr>
          <p:nvPr/>
        </p:nvSpPr>
        <p:spPr bwMode="auto">
          <a:xfrm>
            <a:off x="2209800" y="108585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err="1">
                <a:solidFill>
                  <a:srgbClr val="FF3300"/>
                </a:solidFill>
                <a:latin typeface="+mn-lt"/>
              </a:rPr>
              <a:t>E.val</a:t>
            </a:r>
            <a:r>
              <a:rPr kumimoji="1" lang="en-US" altLang="zh-CN" sz="2600" b="1" dirty="0">
                <a:solidFill>
                  <a:srgbClr val="FF3300"/>
                </a:solidFill>
                <a:latin typeface="+mn-lt"/>
              </a:rPr>
              <a:t>=6</a:t>
            </a:r>
          </a:p>
        </p:txBody>
      </p:sp>
      <p:sp>
        <p:nvSpPr>
          <p:cNvPr id="66613" name="Rectangle 69"/>
          <p:cNvSpPr>
            <a:spLocks noGrp="1" noChangeArrowheads="1"/>
          </p:cNvSpPr>
          <p:nvPr>
            <p:ph type="body" idx="1"/>
          </p:nvPr>
        </p:nvSpPr>
        <p:spPr>
          <a:xfrm>
            <a:off x="5724526" y="-1"/>
            <a:ext cx="3419475" cy="2000251"/>
          </a:xfrm>
          <a:solidFill>
            <a:srgbClr val="FFFF99"/>
          </a:solidFill>
          <a:ln w="15875">
            <a:solidFill>
              <a:srgbClr val="FF0000"/>
            </a:solidFill>
            <a:miter lim="800000"/>
            <a:headEnd/>
            <a:tailEnd/>
          </a:ln>
        </p:spPr>
        <p:txBody>
          <a:bodyPr>
            <a:noAutofit/>
          </a:bodyPr>
          <a:lstStyle/>
          <a:p>
            <a:pPr>
              <a:spcBef>
                <a:spcPct val="0"/>
              </a:spcBef>
              <a:buFont typeface="Wingdings" pitchFamily="2" charset="2"/>
              <a:buNone/>
              <a:defRPr/>
            </a:pPr>
            <a:r>
              <a:rPr lang="en-US" altLang="zh-CN" sz="1600" dirty="0">
                <a:latin typeface="+mn-lt"/>
              </a:rPr>
              <a:t>E</a:t>
            </a:r>
            <a:r>
              <a:rPr lang="en-US" altLang="zh-CN" sz="1600" dirty="0">
                <a:latin typeface="+mn-lt"/>
                <a:sym typeface="Wingdings" panose="05000000000000000000" pitchFamily="2" charset="2"/>
              </a:rPr>
              <a:t></a:t>
            </a:r>
            <a:r>
              <a:rPr lang="en-US" altLang="zh-CN" sz="1600" dirty="0">
                <a:latin typeface="+mn-lt"/>
              </a:rPr>
              <a:t>T </a:t>
            </a:r>
            <a:r>
              <a:rPr lang="en-US" altLang="zh-CN" sz="1600" dirty="0">
                <a:solidFill>
                  <a:srgbClr val="0000FF"/>
                </a:solidFill>
                <a:latin typeface="+mn-lt"/>
              </a:rPr>
              <a:t>{E'.</a:t>
            </a:r>
            <a:r>
              <a:rPr lang="en-US" altLang="zh-CN" sz="1600" dirty="0" err="1">
                <a:solidFill>
                  <a:srgbClr val="0000FF"/>
                </a:solidFill>
                <a:latin typeface="+mn-lt"/>
              </a:rPr>
              <a:t>i</a:t>
            </a:r>
            <a:r>
              <a:rPr lang="en-US" altLang="zh-CN" sz="1600" dirty="0">
                <a:solidFill>
                  <a:srgbClr val="0000FF"/>
                </a:solidFill>
                <a:latin typeface="+mn-lt"/>
              </a:rPr>
              <a:t>:=</a:t>
            </a:r>
            <a:r>
              <a:rPr lang="en-US" altLang="zh-CN" sz="1600" dirty="0" err="1">
                <a:solidFill>
                  <a:srgbClr val="0000FF"/>
                </a:solidFill>
                <a:latin typeface="+mn-lt"/>
              </a:rPr>
              <a:t>T.val</a:t>
            </a:r>
            <a:r>
              <a:rPr lang="en-US" altLang="zh-CN" sz="1600" dirty="0">
                <a:solidFill>
                  <a:srgbClr val="0000FF"/>
                </a:solidFill>
                <a:latin typeface="+mn-lt"/>
              </a:rPr>
              <a:t>} </a:t>
            </a:r>
            <a:r>
              <a:rPr lang="en-US" altLang="zh-CN" sz="1600" dirty="0">
                <a:latin typeface="+mn-lt"/>
              </a:rPr>
              <a:t>E</a:t>
            </a:r>
            <a:r>
              <a:rPr lang="en-US" altLang="zh-CN" sz="1600" dirty="0">
                <a:solidFill>
                  <a:srgbClr val="0000FF"/>
                </a:solidFill>
                <a:latin typeface="+mn-lt"/>
              </a:rPr>
              <a:t>'</a:t>
            </a:r>
            <a:r>
              <a:rPr lang="en-US" altLang="zh-CN" sz="1600" dirty="0">
                <a:latin typeface="+mn-lt"/>
              </a:rPr>
              <a:t> </a:t>
            </a:r>
            <a:r>
              <a:rPr lang="en-US" altLang="zh-CN" sz="1600" dirty="0">
                <a:solidFill>
                  <a:srgbClr val="0000FF"/>
                </a:solidFill>
                <a:latin typeface="+mn-lt"/>
              </a:rPr>
              <a:t>{ </a:t>
            </a:r>
            <a:r>
              <a:rPr lang="en-US" altLang="zh-CN" sz="1600" dirty="0" err="1">
                <a:solidFill>
                  <a:srgbClr val="0000FF"/>
                </a:solidFill>
                <a:latin typeface="+mn-lt"/>
              </a:rPr>
              <a:t>E.val</a:t>
            </a:r>
            <a:r>
              <a:rPr lang="en-US" altLang="zh-CN" sz="1600" dirty="0">
                <a:solidFill>
                  <a:srgbClr val="0000FF"/>
                </a:solidFill>
                <a:latin typeface="+mn-lt"/>
              </a:rPr>
              <a:t>:=E'.s}</a:t>
            </a:r>
          </a:p>
          <a:p>
            <a:pPr>
              <a:spcBef>
                <a:spcPct val="0"/>
              </a:spcBef>
              <a:buFont typeface="Wingdings" pitchFamily="2" charset="2"/>
              <a:buNone/>
              <a:defRPr/>
            </a:pPr>
            <a:r>
              <a:rPr lang="en-US" altLang="zh-CN" sz="1600" dirty="0">
                <a:latin typeface="+mn-lt"/>
              </a:rPr>
              <a:t>E' </a:t>
            </a:r>
            <a:r>
              <a:rPr lang="en-US" altLang="zh-CN" sz="1600" dirty="0">
                <a:latin typeface="+mn-lt"/>
                <a:sym typeface="Wingdings" panose="05000000000000000000" pitchFamily="2" charset="2"/>
              </a:rPr>
              <a:t></a:t>
            </a:r>
            <a:r>
              <a:rPr lang="en-US" altLang="zh-CN" sz="1600" dirty="0">
                <a:latin typeface="+mn-lt"/>
              </a:rPr>
              <a:t>+T</a:t>
            </a:r>
            <a:r>
              <a:rPr lang="en-US" altLang="zh-CN" sz="1600" dirty="0">
                <a:solidFill>
                  <a:srgbClr val="0000FF"/>
                </a:solidFill>
                <a:latin typeface="+mn-lt"/>
              </a:rPr>
              <a:t> {E'</a:t>
            </a:r>
            <a:r>
              <a:rPr lang="en-US" altLang="zh-CN" sz="1600" baseline="-25000" dirty="0">
                <a:solidFill>
                  <a:srgbClr val="0000FF"/>
                </a:solidFill>
                <a:latin typeface="+mn-lt"/>
              </a:rPr>
              <a:t>1</a:t>
            </a:r>
            <a:r>
              <a:rPr lang="en-US" altLang="zh-CN" sz="1600" dirty="0">
                <a:solidFill>
                  <a:srgbClr val="0000FF"/>
                </a:solidFill>
                <a:latin typeface="+mn-lt"/>
              </a:rPr>
              <a:t>.i:=E'.</a:t>
            </a:r>
            <a:r>
              <a:rPr lang="en-US" altLang="zh-CN" sz="1600" dirty="0" err="1">
                <a:solidFill>
                  <a:srgbClr val="0000FF"/>
                </a:solidFill>
                <a:latin typeface="+mn-lt"/>
              </a:rPr>
              <a:t>i+T.val</a:t>
            </a:r>
            <a:r>
              <a:rPr lang="en-US" altLang="zh-CN" sz="1600" dirty="0">
                <a:solidFill>
                  <a:srgbClr val="0000FF"/>
                </a:solidFill>
                <a:latin typeface="+mn-lt"/>
              </a:rPr>
              <a:t> }</a:t>
            </a:r>
          </a:p>
          <a:p>
            <a:pPr>
              <a:spcBef>
                <a:spcPct val="0"/>
              </a:spcBef>
              <a:buFont typeface="Wingdings" pitchFamily="2" charset="2"/>
              <a:buNone/>
              <a:defRPr/>
            </a:pPr>
            <a:r>
              <a:rPr lang="en-US" altLang="zh-CN" sz="1600" dirty="0">
                <a:latin typeface="+mn-lt"/>
              </a:rPr>
              <a:t>	   E'</a:t>
            </a:r>
            <a:r>
              <a:rPr lang="en-US" altLang="zh-CN" sz="1600" baseline="-25000" dirty="0">
                <a:latin typeface="+mn-lt"/>
              </a:rPr>
              <a:t>1  </a:t>
            </a:r>
            <a:r>
              <a:rPr lang="en-US" altLang="zh-CN" sz="1600" dirty="0">
                <a:solidFill>
                  <a:srgbClr val="0000FF"/>
                </a:solidFill>
                <a:latin typeface="+mn-lt"/>
              </a:rPr>
              <a:t>{E'.s:= E'</a:t>
            </a:r>
            <a:r>
              <a:rPr lang="en-US" altLang="zh-CN" sz="1600" baseline="-25000" dirty="0">
                <a:solidFill>
                  <a:srgbClr val="0000FF"/>
                </a:solidFill>
                <a:latin typeface="+mn-lt"/>
              </a:rPr>
              <a:t>1</a:t>
            </a:r>
            <a:r>
              <a:rPr lang="en-US" altLang="zh-CN" sz="1600" dirty="0">
                <a:solidFill>
                  <a:srgbClr val="0000FF"/>
                </a:solidFill>
                <a:latin typeface="+mn-lt"/>
              </a:rPr>
              <a:t>.s }</a:t>
            </a:r>
          </a:p>
          <a:p>
            <a:pPr>
              <a:spcBef>
                <a:spcPct val="0"/>
              </a:spcBef>
              <a:buFont typeface="Wingdings" pitchFamily="2" charset="2"/>
              <a:buNone/>
              <a:defRPr/>
            </a:pPr>
            <a:r>
              <a:rPr lang="en-US" altLang="zh-CN" sz="1600" dirty="0">
                <a:latin typeface="+mn-lt"/>
              </a:rPr>
              <a:t>E' </a:t>
            </a:r>
            <a:r>
              <a:rPr lang="en-US" altLang="zh-CN" sz="1600" dirty="0">
                <a:latin typeface="+mn-lt"/>
                <a:sym typeface="Wingdings" panose="05000000000000000000" pitchFamily="2" charset="2"/>
              </a:rPr>
              <a:t></a:t>
            </a:r>
            <a:r>
              <a:rPr lang="en-US" altLang="zh-CN" sz="1600" dirty="0">
                <a:latin typeface="+mn-lt"/>
              </a:rPr>
              <a:t>-T </a:t>
            </a:r>
            <a:r>
              <a:rPr lang="en-US" altLang="zh-CN" sz="1600" dirty="0">
                <a:solidFill>
                  <a:srgbClr val="0000FF"/>
                </a:solidFill>
                <a:latin typeface="+mn-lt"/>
              </a:rPr>
              <a:t>{ E'</a:t>
            </a:r>
            <a:r>
              <a:rPr lang="en-US" altLang="zh-CN" sz="1600" baseline="-25000" dirty="0">
                <a:solidFill>
                  <a:srgbClr val="0000FF"/>
                </a:solidFill>
                <a:latin typeface="+mn-lt"/>
              </a:rPr>
              <a:t>1</a:t>
            </a:r>
            <a:r>
              <a:rPr lang="en-US" altLang="zh-CN" sz="1600" dirty="0">
                <a:solidFill>
                  <a:srgbClr val="0000FF"/>
                </a:solidFill>
                <a:latin typeface="+mn-lt"/>
              </a:rPr>
              <a:t>.i:=E'.</a:t>
            </a:r>
            <a:r>
              <a:rPr lang="en-US" altLang="zh-CN" sz="1600" dirty="0" err="1">
                <a:solidFill>
                  <a:srgbClr val="0000FF"/>
                </a:solidFill>
                <a:latin typeface="+mn-lt"/>
              </a:rPr>
              <a:t>i-T.val</a:t>
            </a:r>
            <a:r>
              <a:rPr lang="en-US" altLang="zh-CN" sz="1600" dirty="0">
                <a:solidFill>
                  <a:srgbClr val="0000FF"/>
                </a:solidFill>
                <a:latin typeface="+mn-lt"/>
              </a:rPr>
              <a:t> }</a:t>
            </a:r>
          </a:p>
          <a:p>
            <a:pPr>
              <a:spcBef>
                <a:spcPct val="0"/>
              </a:spcBef>
              <a:buFont typeface="Wingdings" pitchFamily="2" charset="2"/>
              <a:buNone/>
              <a:defRPr/>
            </a:pPr>
            <a:r>
              <a:rPr lang="en-US" altLang="zh-CN" sz="1600" dirty="0">
                <a:latin typeface="+mn-lt"/>
              </a:rPr>
              <a:t>	   E'</a:t>
            </a:r>
            <a:r>
              <a:rPr lang="en-US" altLang="zh-CN" sz="1600" baseline="-25000" dirty="0">
                <a:latin typeface="+mn-lt"/>
              </a:rPr>
              <a:t>1</a:t>
            </a:r>
            <a:r>
              <a:rPr lang="en-US" altLang="zh-CN" sz="1600" dirty="0">
                <a:solidFill>
                  <a:srgbClr val="0000FF"/>
                </a:solidFill>
                <a:latin typeface="+mn-lt"/>
              </a:rPr>
              <a:t> { E'.s:= E'</a:t>
            </a:r>
            <a:r>
              <a:rPr lang="en-US" altLang="zh-CN" sz="1600" baseline="-25000" dirty="0">
                <a:solidFill>
                  <a:srgbClr val="0000FF"/>
                </a:solidFill>
                <a:latin typeface="+mn-lt"/>
              </a:rPr>
              <a:t>1</a:t>
            </a:r>
            <a:r>
              <a:rPr lang="en-US" altLang="zh-CN" sz="1600" dirty="0">
                <a:solidFill>
                  <a:srgbClr val="0000FF"/>
                </a:solidFill>
                <a:latin typeface="+mn-lt"/>
              </a:rPr>
              <a:t>.s }</a:t>
            </a:r>
          </a:p>
          <a:p>
            <a:pPr>
              <a:spcBef>
                <a:spcPct val="0"/>
              </a:spcBef>
              <a:buFont typeface="Wingdings" pitchFamily="2" charset="2"/>
              <a:buNone/>
              <a:defRPr/>
            </a:pPr>
            <a:r>
              <a:rPr lang="en-US" altLang="zh-CN" sz="1600" dirty="0">
                <a:latin typeface="+mn-lt"/>
              </a:rPr>
              <a:t>E' </a:t>
            </a:r>
            <a:r>
              <a:rPr lang="en-US" altLang="zh-CN" sz="1600" dirty="0">
                <a:latin typeface="+mn-lt"/>
                <a:sym typeface="Wingdings" panose="05000000000000000000" pitchFamily="2" charset="2"/>
              </a:rPr>
              <a:t></a:t>
            </a:r>
            <a:r>
              <a:rPr lang="en-US" altLang="zh-CN" sz="1600" dirty="0">
                <a:latin typeface="+mn-lt"/>
              </a:rPr>
              <a:t> </a:t>
            </a:r>
            <a:r>
              <a:rPr lang="en-US" altLang="zh-CN" sz="1600" dirty="0">
                <a:latin typeface="+mn-lt"/>
                <a:sym typeface="Symbol" pitchFamily="18" charset="2"/>
              </a:rPr>
              <a:t> </a:t>
            </a:r>
            <a:r>
              <a:rPr lang="en-US" altLang="zh-CN" sz="1600" dirty="0">
                <a:solidFill>
                  <a:srgbClr val="0000FF"/>
                </a:solidFill>
                <a:latin typeface="+mn-lt"/>
              </a:rPr>
              <a:t> { E'.s:=E'.</a:t>
            </a:r>
            <a:r>
              <a:rPr lang="en-US" altLang="zh-CN" sz="1600" dirty="0" err="1">
                <a:solidFill>
                  <a:srgbClr val="0000FF"/>
                </a:solidFill>
                <a:latin typeface="+mn-lt"/>
              </a:rPr>
              <a:t>i</a:t>
            </a:r>
            <a:r>
              <a:rPr lang="en-US" altLang="zh-CN" sz="1600" dirty="0">
                <a:solidFill>
                  <a:srgbClr val="0000FF"/>
                </a:solidFill>
                <a:latin typeface="+mn-lt"/>
              </a:rPr>
              <a:t> }</a:t>
            </a:r>
          </a:p>
          <a:p>
            <a:pPr>
              <a:spcBef>
                <a:spcPct val="0"/>
              </a:spcBef>
              <a:buFont typeface="Wingdings" pitchFamily="2" charset="2"/>
              <a:buNone/>
              <a:defRPr/>
            </a:pPr>
            <a:r>
              <a:rPr lang="en-US" altLang="zh-CN" sz="1600" dirty="0">
                <a:latin typeface="+mn-lt"/>
              </a:rPr>
              <a:t>T </a:t>
            </a:r>
            <a:r>
              <a:rPr lang="en-US" altLang="zh-CN" sz="1600" dirty="0">
                <a:latin typeface="+mn-lt"/>
                <a:sym typeface="Wingdings" panose="05000000000000000000" pitchFamily="2" charset="2"/>
              </a:rPr>
              <a:t></a:t>
            </a:r>
            <a:r>
              <a:rPr lang="en-US" altLang="zh-CN" sz="1600" dirty="0">
                <a:latin typeface="+mn-lt"/>
              </a:rPr>
              <a:t>( E ) </a:t>
            </a:r>
            <a:r>
              <a:rPr lang="en-US" altLang="zh-CN" sz="1600" dirty="0">
                <a:solidFill>
                  <a:srgbClr val="0000FF"/>
                </a:solidFill>
                <a:latin typeface="+mn-lt"/>
              </a:rPr>
              <a:t>{ </a:t>
            </a:r>
            <a:r>
              <a:rPr lang="en-US" altLang="zh-CN" sz="1600" dirty="0" err="1">
                <a:solidFill>
                  <a:srgbClr val="0000FF"/>
                </a:solidFill>
                <a:latin typeface="+mn-lt"/>
              </a:rPr>
              <a:t>T.val</a:t>
            </a:r>
            <a:r>
              <a:rPr lang="en-US" altLang="zh-CN" sz="1600" dirty="0">
                <a:solidFill>
                  <a:srgbClr val="0000FF"/>
                </a:solidFill>
                <a:latin typeface="+mn-lt"/>
              </a:rPr>
              <a:t>:=</a:t>
            </a:r>
            <a:r>
              <a:rPr lang="en-US" altLang="zh-CN" sz="1600" dirty="0" err="1">
                <a:solidFill>
                  <a:srgbClr val="0000FF"/>
                </a:solidFill>
                <a:latin typeface="+mn-lt"/>
              </a:rPr>
              <a:t>E.val</a:t>
            </a:r>
            <a:r>
              <a:rPr lang="en-US" altLang="zh-CN" sz="1600" dirty="0">
                <a:solidFill>
                  <a:srgbClr val="0000FF"/>
                </a:solidFill>
                <a:latin typeface="+mn-lt"/>
              </a:rPr>
              <a:t> }</a:t>
            </a:r>
          </a:p>
          <a:p>
            <a:pPr>
              <a:spcBef>
                <a:spcPct val="0"/>
              </a:spcBef>
              <a:buFont typeface="Wingdings" pitchFamily="2" charset="2"/>
              <a:buNone/>
              <a:defRPr/>
            </a:pPr>
            <a:r>
              <a:rPr lang="en-US" altLang="zh-CN" sz="1600" dirty="0">
                <a:latin typeface="+mn-lt"/>
              </a:rPr>
              <a:t>T </a:t>
            </a:r>
            <a:r>
              <a:rPr lang="en-US" altLang="zh-CN" sz="1600" dirty="0">
                <a:latin typeface="+mn-lt"/>
                <a:sym typeface="Wingdings" panose="05000000000000000000" pitchFamily="2" charset="2"/>
              </a:rPr>
              <a:t></a:t>
            </a:r>
            <a:r>
              <a:rPr lang="en-US" altLang="zh-CN" sz="1600" dirty="0" err="1">
                <a:latin typeface="+mn-lt"/>
                <a:sym typeface="Wingdings" panose="05000000000000000000" pitchFamily="2" charset="2"/>
              </a:rPr>
              <a:t>i</a:t>
            </a:r>
            <a:r>
              <a:rPr lang="en-US" altLang="zh-CN" sz="1600" dirty="0">
                <a:latin typeface="+mn-lt"/>
              </a:rPr>
              <a:t>  </a:t>
            </a:r>
            <a:r>
              <a:rPr lang="en-US" altLang="zh-CN" sz="1600" dirty="0">
                <a:solidFill>
                  <a:srgbClr val="0000FF"/>
                </a:solidFill>
                <a:latin typeface="+mn-lt"/>
              </a:rPr>
              <a:t>{</a:t>
            </a:r>
            <a:r>
              <a:rPr lang="en-US" altLang="zh-CN" sz="1600" dirty="0" err="1">
                <a:solidFill>
                  <a:srgbClr val="0000FF"/>
                </a:solidFill>
                <a:latin typeface="+mn-lt"/>
              </a:rPr>
              <a:t>T.val</a:t>
            </a:r>
            <a:r>
              <a:rPr lang="en-US" altLang="zh-CN" sz="1600" dirty="0">
                <a:solidFill>
                  <a:srgbClr val="0000FF"/>
                </a:solidFill>
                <a:latin typeface="+mn-lt"/>
              </a:rPr>
              <a:t>:=</a:t>
            </a:r>
            <a:r>
              <a:rPr lang="en-US" altLang="zh-CN" sz="1600" dirty="0" err="1">
                <a:solidFill>
                  <a:srgbClr val="0000FF"/>
                </a:solidFill>
                <a:latin typeface="+mn-lt"/>
              </a:rPr>
              <a:t>i.lexval</a:t>
            </a:r>
            <a:r>
              <a:rPr lang="en-US" altLang="zh-CN" sz="1600" dirty="0">
                <a:solidFill>
                  <a:srgbClr val="0000FF"/>
                </a:solidFill>
                <a:latin typeface="+mn-lt"/>
              </a:rPr>
              <a:t> }</a:t>
            </a:r>
          </a:p>
        </p:txBody>
      </p:sp>
    </p:spTree>
    <p:extLst>
      <p:ext uri="{BB962C8B-B14F-4D97-AF65-F5344CB8AC3E}">
        <p14:creationId xmlns:p14="http://schemas.microsoft.com/office/powerpoint/2010/main" val="3866322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1559"/>
                                        </p:tgtEl>
                                        <p:attrNameLst>
                                          <p:attrName>style.visibility</p:attrName>
                                        </p:attrNameLst>
                                      </p:cBhvr>
                                      <p:to>
                                        <p:strVal val="visible"/>
                                      </p:to>
                                    </p:set>
                                    <p:animEffect transition="in" filter="wipe(up)">
                                      <p:cBhvr>
                                        <p:cTn id="7" dur="500"/>
                                        <p:tgtEl>
                                          <p:spTgt spid="1515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51561"/>
                                        </p:tgtEl>
                                        <p:attrNameLst>
                                          <p:attrName>style.visibility</p:attrName>
                                        </p:attrNameLst>
                                      </p:cBhvr>
                                      <p:to>
                                        <p:strVal val="visible"/>
                                      </p:to>
                                    </p:set>
                                    <p:animEffect transition="in" filter="wipe(up)">
                                      <p:cBhvr>
                                        <p:cTn id="12" dur="500"/>
                                        <p:tgtEl>
                                          <p:spTgt spid="151561"/>
                                        </p:tgtEl>
                                      </p:cBhvr>
                                    </p:animEffect>
                                  </p:childTnLst>
                                </p:cTn>
                              </p:par>
                              <p:par>
                                <p:cTn id="13" presetID="22" presetClass="entr" presetSubtype="1" fill="hold" nodeType="withEffect">
                                  <p:stCondLst>
                                    <p:cond delay="0"/>
                                  </p:stCondLst>
                                  <p:childTnLst>
                                    <p:set>
                                      <p:cBhvr>
                                        <p:cTn id="14" dur="1" fill="hold">
                                          <p:stCondLst>
                                            <p:cond delay="0"/>
                                          </p:stCondLst>
                                        </p:cTn>
                                        <p:tgtEl>
                                          <p:spTgt spid="151562"/>
                                        </p:tgtEl>
                                        <p:attrNameLst>
                                          <p:attrName>style.visibility</p:attrName>
                                        </p:attrNameLst>
                                      </p:cBhvr>
                                      <p:to>
                                        <p:strVal val="visible"/>
                                      </p:to>
                                    </p:set>
                                    <p:animEffect transition="in" filter="wipe(up)">
                                      <p:cBhvr>
                                        <p:cTn id="15" dur="500"/>
                                        <p:tgtEl>
                                          <p:spTgt spid="15156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51563"/>
                                        </p:tgtEl>
                                        <p:attrNameLst>
                                          <p:attrName>style.visibility</p:attrName>
                                        </p:attrNameLst>
                                      </p:cBhvr>
                                      <p:to>
                                        <p:strVal val="visible"/>
                                      </p:to>
                                    </p:set>
                                    <p:animEffect transition="in" filter="wipe(up)">
                                      <p:cBhvr>
                                        <p:cTn id="20" dur="500"/>
                                        <p:tgtEl>
                                          <p:spTgt spid="151563"/>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151564"/>
                                        </p:tgtEl>
                                        <p:attrNameLst>
                                          <p:attrName>style.visibility</p:attrName>
                                        </p:attrNameLst>
                                      </p:cBhvr>
                                      <p:to>
                                        <p:strVal val="visible"/>
                                      </p:to>
                                    </p:set>
                                    <p:animEffect transition="in" filter="wipe(up)">
                                      <p:cBhvr>
                                        <p:cTn id="23" dur="500"/>
                                        <p:tgtEl>
                                          <p:spTgt spid="15156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151565"/>
                                        </p:tgtEl>
                                        <p:attrNameLst>
                                          <p:attrName>style.visibility</p:attrName>
                                        </p:attrNameLst>
                                      </p:cBhvr>
                                      <p:to>
                                        <p:strVal val="visible"/>
                                      </p:to>
                                    </p:set>
                                    <p:animEffect transition="in" filter="wipe(up)">
                                      <p:cBhvr>
                                        <p:cTn id="28" dur="500"/>
                                        <p:tgtEl>
                                          <p:spTgt spid="15156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51566"/>
                                        </p:tgtEl>
                                        <p:attrNameLst>
                                          <p:attrName>style.visibility</p:attrName>
                                        </p:attrNameLst>
                                      </p:cBhvr>
                                      <p:to>
                                        <p:strVal val="visible"/>
                                      </p:to>
                                    </p:set>
                                    <p:animEffect transition="in" filter="wipe(up)">
                                      <p:cBhvr>
                                        <p:cTn id="33" dur="500"/>
                                        <p:tgtEl>
                                          <p:spTgt spid="15156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51567"/>
                                        </p:tgtEl>
                                        <p:attrNameLst>
                                          <p:attrName>style.visibility</p:attrName>
                                        </p:attrNameLst>
                                      </p:cBhvr>
                                      <p:to>
                                        <p:strVal val="visible"/>
                                      </p:to>
                                    </p:set>
                                    <p:animEffect transition="in" filter="wipe(up)">
                                      <p:cBhvr>
                                        <p:cTn id="38" dur="500"/>
                                        <p:tgtEl>
                                          <p:spTgt spid="15156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nodeType="clickEffect">
                                  <p:stCondLst>
                                    <p:cond delay="0"/>
                                  </p:stCondLst>
                                  <p:childTnLst>
                                    <p:set>
                                      <p:cBhvr>
                                        <p:cTn id="42" dur="1" fill="hold">
                                          <p:stCondLst>
                                            <p:cond delay="0"/>
                                          </p:stCondLst>
                                        </p:cTn>
                                        <p:tgtEl>
                                          <p:spTgt spid="151568"/>
                                        </p:tgtEl>
                                        <p:attrNameLst>
                                          <p:attrName>style.visibility</p:attrName>
                                        </p:attrNameLst>
                                      </p:cBhvr>
                                      <p:to>
                                        <p:strVal val="visible"/>
                                      </p:to>
                                    </p:set>
                                    <p:animEffect transition="in" filter="wipe(down)">
                                      <p:cBhvr>
                                        <p:cTn id="43" dur="500"/>
                                        <p:tgtEl>
                                          <p:spTgt spid="15156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151569"/>
                                        </p:tgtEl>
                                        <p:attrNameLst>
                                          <p:attrName>style.visibility</p:attrName>
                                        </p:attrNameLst>
                                      </p:cBhvr>
                                      <p:to>
                                        <p:strVal val="visible"/>
                                      </p:to>
                                    </p:set>
                                    <p:animEffect transition="in" filter="wipe(up)">
                                      <p:cBhvr>
                                        <p:cTn id="48" dur="500"/>
                                        <p:tgtEl>
                                          <p:spTgt spid="15156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51570"/>
                                        </p:tgtEl>
                                        <p:attrNameLst>
                                          <p:attrName>style.visibility</p:attrName>
                                        </p:attrNameLst>
                                      </p:cBhvr>
                                      <p:to>
                                        <p:strVal val="visible"/>
                                      </p:to>
                                    </p:set>
                                    <p:animEffect transition="in" filter="wipe(left)">
                                      <p:cBhvr>
                                        <p:cTn id="53" dur="500"/>
                                        <p:tgtEl>
                                          <p:spTgt spid="15157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151571"/>
                                        </p:tgtEl>
                                        <p:attrNameLst>
                                          <p:attrName>style.visibility</p:attrName>
                                        </p:attrNameLst>
                                      </p:cBhvr>
                                      <p:to>
                                        <p:strVal val="visible"/>
                                      </p:to>
                                    </p:set>
                                    <p:animEffect transition="in" filter="wipe(up)">
                                      <p:cBhvr>
                                        <p:cTn id="58" dur="500"/>
                                        <p:tgtEl>
                                          <p:spTgt spid="15157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1" fill="hold" nodeType="clickEffect">
                                  <p:stCondLst>
                                    <p:cond delay="0"/>
                                  </p:stCondLst>
                                  <p:childTnLst>
                                    <p:set>
                                      <p:cBhvr>
                                        <p:cTn id="62" dur="1" fill="hold">
                                          <p:stCondLst>
                                            <p:cond delay="0"/>
                                          </p:stCondLst>
                                        </p:cTn>
                                        <p:tgtEl>
                                          <p:spTgt spid="151572"/>
                                        </p:tgtEl>
                                        <p:attrNameLst>
                                          <p:attrName>style.visibility</p:attrName>
                                        </p:attrNameLst>
                                      </p:cBhvr>
                                      <p:to>
                                        <p:strVal val="visible"/>
                                      </p:to>
                                    </p:set>
                                    <p:animEffect transition="in" filter="wipe(up)">
                                      <p:cBhvr>
                                        <p:cTn id="63" dur="500"/>
                                        <p:tgtEl>
                                          <p:spTgt spid="151572"/>
                                        </p:tgtEl>
                                      </p:cBhvr>
                                    </p:animEffect>
                                  </p:childTnLst>
                                </p:cTn>
                              </p:par>
                              <p:par>
                                <p:cTn id="64" presetID="22" presetClass="entr" presetSubtype="1" fill="hold" nodeType="withEffect">
                                  <p:stCondLst>
                                    <p:cond delay="0"/>
                                  </p:stCondLst>
                                  <p:childTnLst>
                                    <p:set>
                                      <p:cBhvr>
                                        <p:cTn id="65" dur="1" fill="hold">
                                          <p:stCondLst>
                                            <p:cond delay="0"/>
                                          </p:stCondLst>
                                        </p:cTn>
                                        <p:tgtEl>
                                          <p:spTgt spid="151574"/>
                                        </p:tgtEl>
                                        <p:attrNameLst>
                                          <p:attrName>style.visibility</p:attrName>
                                        </p:attrNameLst>
                                      </p:cBhvr>
                                      <p:to>
                                        <p:strVal val="visible"/>
                                      </p:to>
                                    </p:set>
                                    <p:animEffect transition="in" filter="wipe(up)">
                                      <p:cBhvr>
                                        <p:cTn id="66" dur="500"/>
                                        <p:tgtEl>
                                          <p:spTgt spid="151574"/>
                                        </p:tgtEl>
                                      </p:cBhvr>
                                    </p:animEffect>
                                  </p:childTnLst>
                                </p:cTn>
                              </p:par>
                              <p:par>
                                <p:cTn id="67" presetID="22" presetClass="entr" presetSubtype="1" fill="hold" nodeType="withEffect">
                                  <p:stCondLst>
                                    <p:cond delay="0"/>
                                  </p:stCondLst>
                                  <p:childTnLst>
                                    <p:set>
                                      <p:cBhvr>
                                        <p:cTn id="68" dur="1" fill="hold">
                                          <p:stCondLst>
                                            <p:cond delay="0"/>
                                          </p:stCondLst>
                                        </p:cTn>
                                        <p:tgtEl>
                                          <p:spTgt spid="151586"/>
                                        </p:tgtEl>
                                        <p:attrNameLst>
                                          <p:attrName>style.visibility</p:attrName>
                                        </p:attrNameLst>
                                      </p:cBhvr>
                                      <p:to>
                                        <p:strVal val="visible"/>
                                      </p:to>
                                    </p:set>
                                    <p:animEffect transition="in" filter="wipe(up)">
                                      <p:cBhvr>
                                        <p:cTn id="69" dur="500"/>
                                        <p:tgtEl>
                                          <p:spTgt spid="151586"/>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151573"/>
                                        </p:tgtEl>
                                        <p:attrNameLst>
                                          <p:attrName>style.visibility</p:attrName>
                                        </p:attrNameLst>
                                      </p:cBhvr>
                                      <p:to>
                                        <p:strVal val="visible"/>
                                      </p:to>
                                    </p:set>
                                    <p:animEffect transition="in" filter="wipe(up)">
                                      <p:cBhvr>
                                        <p:cTn id="74" dur="500"/>
                                        <p:tgtEl>
                                          <p:spTgt spid="151573"/>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151576"/>
                                        </p:tgtEl>
                                        <p:attrNameLst>
                                          <p:attrName>style.visibility</p:attrName>
                                        </p:attrNameLst>
                                      </p:cBhvr>
                                      <p:to>
                                        <p:strVal val="visible"/>
                                      </p:to>
                                    </p:set>
                                    <p:animEffect transition="in" filter="wipe(up)">
                                      <p:cBhvr>
                                        <p:cTn id="77" dur="500"/>
                                        <p:tgtEl>
                                          <p:spTgt spid="151576"/>
                                        </p:tgtEl>
                                      </p:cBhvr>
                                    </p:animEffect>
                                  </p:childTnLst>
                                </p:cTn>
                              </p:par>
                              <p:par>
                                <p:cTn id="78" presetID="22" presetClass="entr" presetSubtype="1" fill="hold" grpId="0" nodeType="withEffect">
                                  <p:stCondLst>
                                    <p:cond delay="0"/>
                                  </p:stCondLst>
                                  <p:childTnLst>
                                    <p:set>
                                      <p:cBhvr>
                                        <p:cTn id="79" dur="1" fill="hold">
                                          <p:stCondLst>
                                            <p:cond delay="0"/>
                                          </p:stCondLst>
                                        </p:cTn>
                                        <p:tgtEl>
                                          <p:spTgt spid="151587"/>
                                        </p:tgtEl>
                                        <p:attrNameLst>
                                          <p:attrName>style.visibility</p:attrName>
                                        </p:attrNameLst>
                                      </p:cBhvr>
                                      <p:to>
                                        <p:strVal val="visible"/>
                                      </p:to>
                                    </p:set>
                                    <p:animEffect transition="in" filter="wipe(up)">
                                      <p:cBhvr>
                                        <p:cTn id="80" dur="500"/>
                                        <p:tgtEl>
                                          <p:spTgt spid="151587"/>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151589"/>
                                        </p:tgtEl>
                                        <p:attrNameLst>
                                          <p:attrName>style.visibility</p:attrName>
                                        </p:attrNameLst>
                                      </p:cBhvr>
                                      <p:to>
                                        <p:strVal val="visible"/>
                                      </p:to>
                                    </p:set>
                                    <p:animEffect transition="in" filter="wipe(up)">
                                      <p:cBhvr>
                                        <p:cTn id="85" dur="500"/>
                                        <p:tgtEl>
                                          <p:spTgt spid="15158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151590"/>
                                        </p:tgtEl>
                                        <p:attrNameLst>
                                          <p:attrName>style.visibility</p:attrName>
                                        </p:attrNameLst>
                                      </p:cBhvr>
                                      <p:to>
                                        <p:strVal val="visible"/>
                                      </p:to>
                                    </p:set>
                                    <p:animEffect transition="in" filter="wipe(up)">
                                      <p:cBhvr>
                                        <p:cTn id="90" dur="500"/>
                                        <p:tgtEl>
                                          <p:spTgt spid="15159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grpId="0" nodeType="clickEffect">
                                  <p:stCondLst>
                                    <p:cond delay="0"/>
                                  </p:stCondLst>
                                  <p:childTnLst>
                                    <p:set>
                                      <p:cBhvr>
                                        <p:cTn id="94" dur="1" fill="hold">
                                          <p:stCondLst>
                                            <p:cond delay="0"/>
                                          </p:stCondLst>
                                        </p:cTn>
                                        <p:tgtEl>
                                          <p:spTgt spid="151591"/>
                                        </p:tgtEl>
                                        <p:attrNameLst>
                                          <p:attrName>style.visibility</p:attrName>
                                        </p:attrNameLst>
                                      </p:cBhvr>
                                      <p:to>
                                        <p:strVal val="visible"/>
                                      </p:to>
                                    </p:set>
                                    <p:animEffect transition="in" filter="wipe(up)">
                                      <p:cBhvr>
                                        <p:cTn id="95" dur="500"/>
                                        <p:tgtEl>
                                          <p:spTgt spid="151591"/>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4" fill="hold" nodeType="clickEffect">
                                  <p:stCondLst>
                                    <p:cond delay="0"/>
                                  </p:stCondLst>
                                  <p:childTnLst>
                                    <p:set>
                                      <p:cBhvr>
                                        <p:cTn id="99" dur="1" fill="hold">
                                          <p:stCondLst>
                                            <p:cond delay="0"/>
                                          </p:stCondLst>
                                        </p:cTn>
                                        <p:tgtEl>
                                          <p:spTgt spid="151592"/>
                                        </p:tgtEl>
                                        <p:attrNameLst>
                                          <p:attrName>style.visibility</p:attrName>
                                        </p:attrNameLst>
                                      </p:cBhvr>
                                      <p:to>
                                        <p:strVal val="visible"/>
                                      </p:to>
                                    </p:set>
                                    <p:animEffect transition="in" filter="wipe(down)">
                                      <p:cBhvr>
                                        <p:cTn id="100" dur="500"/>
                                        <p:tgtEl>
                                          <p:spTgt spid="151592"/>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1" fill="hold" grpId="0" nodeType="clickEffect">
                                  <p:stCondLst>
                                    <p:cond delay="0"/>
                                  </p:stCondLst>
                                  <p:childTnLst>
                                    <p:set>
                                      <p:cBhvr>
                                        <p:cTn id="104" dur="1" fill="hold">
                                          <p:stCondLst>
                                            <p:cond delay="0"/>
                                          </p:stCondLst>
                                        </p:cTn>
                                        <p:tgtEl>
                                          <p:spTgt spid="151593"/>
                                        </p:tgtEl>
                                        <p:attrNameLst>
                                          <p:attrName>style.visibility</p:attrName>
                                        </p:attrNameLst>
                                      </p:cBhvr>
                                      <p:to>
                                        <p:strVal val="visible"/>
                                      </p:to>
                                    </p:set>
                                    <p:animEffect transition="in" filter="wipe(up)">
                                      <p:cBhvr>
                                        <p:cTn id="105" dur="500"/>
                                        <p:tgtEl>
                                          <p:spTgt spid="151593"/>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1" fill="hold" nodeType="clickEffect">
                                  <p:stCondLst>
                                    <p:cond delay="0"/>
                                  </p:stCondLst>
                                  <p:childTnLst>
                                    <p:set>
                                      <p:cBhvr>
                                        <p:cTn id="109" dur="1" fill="hold">
                                          <p:stCondLst>
                                            <p:cond delay="0"/>
                                          </p:stCondLst>
                                        </p:cTn>
                                        <p:tgtEl>
                                          <p:spTgt spid="151594"/>
                                        </p:tgtEl>
                                        <p:attrNameLst>
                                          <p:attrName>style.visibility</p:attrName>
                                        </p:attrNameLst>
                                      </p:cBhvr>
                                      <p:to>
                                        <p:strVal val="visible"/>
                                      </p:to>
                                    </p:set>
                                    <p:animEffect transition="in" filter="wipe(up)">
                                      <p:cBhvr>
                                        <p:cTn id="110" dur="500"/>
                                        <p:tgtEl>
                                          <p:spTgt spid="151594"/>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151595"/>
                                        </p:tgtEl>
                                        <p:attrNameLst>
                                          <p:attrName>style.visibility</p:attrName>
                                        </p:attrNameLst>
                                      </p:cBhvr>
                                      <p:to>
                                        <p:strVal val="visible"/>
                                      </p:to>
                                    </p:set>
                                    <p:animEffect transition="in" filter="wipe(left)">
                                      <p:cBhvr>
                                        <p:cTn id="115" dur="500"/>
                                        <p:tgtEl>
                                          <p:spTgt spid="151595"/>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1" fill="hold" grpId="0" nodeType="clickEffect">
                                  <p:stCondLst>
                                    <p:cond delay="0"/>
                                  </p:stCondLst>
                                  <p:childTnLst>
                                    <p:set>
                                      <p:cBhvr>
                                        <p:cTn id="119" dur="1" fill="hold">
                                          <p:stCondLst>
                                            <p:cond delay="0"/>
                                          </p:stCondLst>
                                        </p:cTn>
                                        <p:tgtEl>
                                          <p:spTgt spid="151596"/>
                                        </p:tgtEl>
                                        <p:attrNameLst>
                                          <p:attrName>style.visibility</p:attrName>
                                        </p:attrNameLst>
                                      </p:cBhvr>
                                      <p:to>
                                        <p:strVal val="visible"/>
                                      </p:to>
                                    </p:set>
                                    <p:animEffect transition="in" filter="wipe(up)">
                                      <p:cBhvr>
                                        <p:cTn id="120" dur="500"/>
                                        <p:tgtEl>
                                          <p:spTgt spid="151596"/>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1" fill="hold" nodeType="clickEffect">
                                  <p:stCondLst>
                                    <p:cond delay="0"/>
                                  </p:stCondLst>
                                  <p:childTnLst>
                                    <p:set>
                                      <p:cBhvr>
                                        <p:cTn id="124" dur="1" fill="hold">
                                          <p:stCondLst>
                                            <p:cond delay="0"/>
                                          </p:stCondLst>
                                        </p:cTn>
                                        <p:tgtEl>
                                          <p:spTgt spid="151597"/>
                                        </p:tgtEl>
                                        <p:attrNameLst>
                                          <p:attrName>style.visibility</p:attrName>
                                        </p:attrNameLst>
                                      </p:cBhvr>
                                      <p:to>
                                        <p:strVal val="visible"/>
                                      </p:to>
                                    </p:set>
                                    <p:animEffect transition="in" filter="wipe(up)">
                                      <p:cBhvr>
                                        <p:cTn id="125" dur="500"/>
                                        <p:tgtEl>
                                          <p:spTgt spid="151597"/>
                                        </p:tgtEl>
                                      </p:cBhvr>
                                    </p:animEffect>
                                  </p:childTnLst>
                                </p:cTn>
                              </p:par>
                              <p:par>
                                <p:cTn id="126" presetID="22" presetClass="entr" presetSubtype="1" fill="hold" nodeType="withEffect">
                                  <p:stCondLst>
                                    <p:cond delay="0"/>
                                  </p:stCondLst>
                                  <p:childTnLst>
                                    <p:set>
                                      <p:cBhvr>
                                        <p:cTn id="127" dur="1" fill="hold">
                                          <p:stCondLst>
                                            <p:cond delay="0"/>
                                          </p:stCondLst>
                                        </p:cTn>
                                        <p:tgtEl>
                                          <p:spTgt spid="151599"/>
                                        </p:tgtEl>
                                        <p:attrNameLst>
                                          <p:attrName>style.visibility</p:attrName>
                                        </p:attrNameLst>
                                      </p:cBhvr>
                                      <p:to>
                                        <p:strVal val="visible"/>
                                      </p:to>
                                    </p:set>
                                    <p:animEffect transition="in" filter="wipe(up)">
                                      <p:cBhvr>
                                        <p:cTn id="128" dur="500"/>
                                        <p:tgtEl>
                                          <p:spTgt spid="151599"/>
                                        </p:tgtEl>
                                      </p:cBhvr>
                                    </p:animEffect>
                                  </p:childTnLst>
                                </p:cTn>
                              </p:par>
                              <p:par>
                                <p:cTn id="129" presetID="22" presetClass="entr" presetSubtype="1" fill="hold" nodeType="withEffect">
                                  <p:stCondLst>
                                    <p:cond delay="0"/>
                                  </p:stCondLst>
                                  <p:childTnLst>
                                    <p:set>
                                      <p:cBhvr>
                                        <p:cTn id="130" dur="1" fill="hold">
                                          <p:stCondLst>
                                            <p:cond delay="0"/>
                                          </p:stCondLst>
                                        </p:cTn>
                                        <p:tgtEl>
                                          <p:spTgt spid="151600"/>
                                        </p:tgtEl>
                                        <p:attrNameLst>
                                          <p:attrName>style.visibility</p:attrName>
                                        </p:attrNameLst>
                                      </p:cBhvr>
                                      <p:to>
                                        <p:strVal val="visible"/>
                                      </p:to>
                                    </p:set>
                                    <p:animEffect transition="in" filter="wipe(up)">
                                      <p:cBhvr>
                                        <p:cTn id="131" dur="500"/>
                                        <p:tgtEl>
                                          <p:spTgt spid="151600"/>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1" fill="hold" grpId="0" nodeType="clickEffect">
                                  <p:stCondLst>
                                    <p:cond delay="0"/>
                                  </p:stCondLst>
                                  <p:childTnLst>
                                    <p:set>
                                      <p:cBhvr>
                                        <p:cTn id="135" dur="1" fill="hold">
                                          <p:stCondLst>
                                            <p:cond delay="0"/>
                                          </p:stCondLst>
                                        </p:cTn>
                                        <p:tgtEl>
                                          <p:spTgt spid="151598"/>
                                        </p:tgtEl>
                                        <p:attrNameLst>
                                          <p:attrName>style.visibility</p:attrName>
                                        </p:attrNameLst>
                                      </p:cBhvr>
                                      <p:to>
                                        <p:strVal val="visible"/>
                                      </p:to>
                                    </p:set>
                                    <p:animEffect transition="in" filter="wipe(up)">
                                      <p:cBhvr>
                                        <p:cTn id="136" dur="500"/>
                                        <p:tgtEl>
                                          <p:spTgt spid="151598"/>
                                        </p:tgtEl>
                                      </p:cBhvr>
                                    </p:animEffect>
                                  </p:childTnLst>
                                </p:cTn>
                              </p:par>
                              <p:par>
                                <p:cTn id="137" presetID="22" presetClass="entr" presetSubtype="1" fill="hold" grpId="0" nodeType="withEffect">
                                  <p:stCondLst>
                                    <p:cond delay="0"/>
                                  </p:stCondLst>
                                  <p:childTnLst>
                                    <p:set>
                                      <p:cBhvr>
                                        <p:cTn id="138" dur="1" fill="hold">
                                          <p:stCondLst>
                                            <p:cond delay="0"/>
                                          </p:stCondLst>
                                        </p:cTn>
                                        <p:tgtEl>
                                          <p:spTgt spid="151601"/>
                                        </p:tgtEl>
                                        <p:attrNameLst>
                                          <p:attrName>style.visibility</p:attrName>
                                        </p:attrNameLst>
                                      </p:cBhvr>
                                      <p:to>
                                        <p:strVal val="visible"/>
                                      </p:to>
                                    </p:set>
                                    <p:animEffect transition="in" filter="wipe(up)">
                                      <p:cBhvr>
                                        <p:cTn id="139" dur="500"/>
                                        <p:tgtEl>
                                          <p:spTgt spid="151601"/>
                                        </p:tgtEl>
                                      </p:cBhvr>
                                    </p:animEffect>
                                  </p:childTnLst>
                                </p:cTn>
                              </p:par>
                              <p:par>
                                <p:cTn id="140" presetID="22" presetClass="entr" presetSubtype="1" fill="hold" grpId="0" nodeType="withEffect">
                                  <p:stCondLst>
                                    <p:cond delay="0"/>
                                  </p:stCondLst>
                                  <p:childTnLst>
                                    <p:set>
                                      <p:cBhvr>
                                        <p:cTn id="141" dur="1" fill="hold">
                                          <p:stCondLst>
                                            <p:cond delay="0"/>
                                          </p:stCondLst>
                                        </p:cTn>
                                        <p:tgtEl>
                                          <p:spTgt spid="151602"/>
                                        </p:tgtEl>
                                        <p:attrNameLst>
                                          <p:attrName>style.visibility</p:attrName>
                                        </p:attrNameLst>
                                      </p:cBhvr>
                                      <p:to>
                                        <p:strVal val="visible"/>
                                      </p:to>
                                    </p:set>
                                    <p:animEffect transition="in" filter="wipe(up)">
                                      <p:cBhvr>
                                        <p:cTn id="142" dur="500"/>
                                        <p:tgtEl>
                                          <p:spTgt spid="151602"/>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1" fill="hold" nodeType="clickEffect">
                                  <p:stCondLst>
                                    <p:cond delay="0"/>
                                  </p:stCondLst>
                                  <p:childTnLst>
                                    <p:set>
                                      <p:cBhvr>
                                        <p:cTn id="146" dur="1" fill="hold">
                                          <p:stCondLst>
                                            <p:cond delay="0"/>
                                          </p:stCondLst>
                                        </p:cTn>
                                        <p:tgtEl>
                                          <p:spTgt spid="151603"/>
                                        </p:tgtEl>
                                        <p:attrNameLst>
                                          <p:attrName>style.visibility</p:attrName>
                                        </p:attrNameLst>
                                      </p:cBhvr>
                                      <p:to>
                                        <p:strVal val="visible"/>
                                      </p:to>
                                    </p:set>
                                    <p:animEffect transition="in" filter="wipe(up)">
                                      <p:cBhvr>
                                        <p:cTn id="147" dur="500"/>
                                        <p:tgtEl>
                                          <p:spTgt spid="151603"/>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1" fill="hold" grpId="0" nodeType="clickEffect">
                                  <p:stCondLst>
                                    <p:cond delay="0"/>
                                  </p:stCondLst>
                                  <p:childTnLst>
                                    <p:set>
                                      <p:cBhvr>
                                        <p:cTn id="151" dur="1" fill="hold">
                                          <p:stCondLst>
                                            <p:cond delay="0"/>
                                          </p:stCondLst>
                                        </p:cTn>
                                        <p:tgtEl>
                                          <p:spTgt spid="151604"/>
                                        </p:tgtEl>
                                        <p:attrNameLst>
                                          <p:attrName>style.visibility</p:attrName>
                                        </p:attrNameLst>
                                      </p:cBhvr>
                                      <p:to>
                                        <p:strVal val="visible"/>
                                      </p:to>
                                    </p:set>
                                    <p:animEffect transition="in" filter="wipe(up)">
                                      <p:cBhvr>
                                        <p:cTn id="152" dur="500"/>
                                        <p:tgtEl>
                                          <p:spTgt spid="151604"/>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1" fill="hold" grpId="0" nodeType="clickEffect">
                                  <p:stCondLst>
                                    <p:cond delay="0"/>
                                  </p:stCondLst>
                                  <p:childTnLst>
                                    <p:set>
                                      <p:cBhvr>
                                        <p:cTn id="156" dur="1" fill="hold">
                                          <p:stCondLst>
                                            <p:cond delay="0"/>
                                          </p:stCondLst>
                                        </p:cTn>
                                        <p:tgtEl>
                                          <p:spTgt spid="151605"/>
                                        </p:tgtEl>
                                        <p:attrNameLst>
                                          <p:attrName>style.visibility</p:attrName>
                                        </p:attrNameLst>
                                      </p:cBhvr>
                                      <p:to>
                                        <p:strVal val="visible"/>
                                      </p:to>
                                    </p:set>
                                    <p:animEffect transition="in" filter="wipe(up)">
                                      <p:cBhvr>
                                        <p:cTn id="157" dur="500"/>
                                        <p:tgtEl>
                                          <p:spTgt spid="151605"/>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4" fill="hold" nodeType="clickEffect">
                                  <p:stCondLst>
                                    <p:cond delay="0"/>
                                  </p:stCondLst>
                                  <p:childTnLst>
                                    <p:set>
                                      <p:cBhvr>
                                        <p:cTn id="161" dur="1" fill="hold">
                                          <p:stCondLst>
                                            <p:cond delay="0"/>
                                          </p:stCondLst>
                                        </p:cTn>
                                        <p:tgtEl>
                                          <p:spTgt spid="151606"/>
                                        </p:tgtEl>
                                        <p:attrNameLst>
                                          <p:attrName>style.visibility</p:attrName>
                                        </p:attrNameLst>
                                      </p:cBhvr>
                                      <p:to>
                                        <p:strVal val="visible"/>
                                      </p:to>
                                    </p:set>
                                    <p:animEffect transition="in" filter="wipe(down)">
                                      <p:cBhvr>
                                        <p:cTn id="162" dur="500"/>
                                        <p:tgtEl>
                                          <p:spTgt spid="151606"/>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1" fill="hold" grpId="0" nodeType="clickEffect">
                                  <p:stCondLst>
                                    <p:cond delay="0"/>
                                  </p:stCondLst>
                                  <p:childTnLst>
                                    <p:set>
                                      <p:cBhvr>
                                        <p:cTn id="166" dur="1" fill="hold">
                                          <p:stCondLst>
                                            <p:cond delay="0"/>
                                          </p:stCondLst>
                                        </p:cTn>
                                        <p:tgtEl>
                                          <p:spTgt spid="151607"/>
                                        </p:tgtEl>
                                        <p:attrNameLst>
                                          <p:attrName>style.visibility</p:attrName>
                                        </p:attrNameLst>
                                      </p:cBhvr>
                                      <p:to>
                                        <p:strVal val="visible"/>
                                      </p:to>
                                    </p:set>
                                    <p:animEffect transition="in" filter="wipe(up)">
                                      <p:cBhvr>
                                        <p:cTn id="167" dur="500"/>
                                        <p:tgtEl>
                                          <p:spTgt spid="151607"/>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1" fill="hold" nodeType="clickEffect">
                                  <p:stCondLst>
                                    <p:cond delay="0"/>
                                  </p:stCondLst>
                                  <p:childTnLst>
                                    <p:set>
                                      <p:cBhvr>
                                        <p:cTn id="171" dur="1" fill="hold">
                                          <p:stCondLst>
                                            <p:cond delay="0"/>
                                          </p:stCondLst>
                                        </p:cTn>
                                        <p:tgtEl>
                                          <p:spTgt spid="151608"/>
                                        </p:tgtEl>
                                        <p:attrNameLst>
                                          <p:attrName>style.visibility</p:attrName>
                                        </p:attrNameLst>
                                      </p:cBhvr>
                                      <p:to>
                                        <p:strVal val="visible"/>
                                      </p:to>
                                    </p:set>
                                    <p:animEffect transition="in" filter="wipe(up)">
                                      <p:cBhvr>
                                        <p:cTn id="172" dur="500"/>
                                        <p:tgtEl>
                                          <p:spTgt spid="151608"/>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22" presetClass="entr" presetSubtype="8" fill="hold" nodeType="clickEffect">
                                  <p:stCondLst>
                                    <p:cond delay="0"/>
                                  </p:stCondLst>
                                  <p:childTnLst>
                                    <p:set>
                                      <p:cBhvr>
                                        <p:cTn id="176" dur="1" fill="hold">
                                          <p:stCondLst>
                                            <p:cond delay="0"/>
                                          </p:stCondLst>
                                        </p:cTn>
                                        <p:tgtEl>
                                          <p:spTgt spid="151609"/>
                                        </p:tgtEl>
                                        <p:attrNameLst>
                                          <p:attrName>style.visibility</p:attrName>
                                        </p:attrNameLst>
                                      </p:cBhvr>
                                      <p:to>
                                        <p:strVal val="visible"/>
                                      </p:to>
                                    </p:set>
                                    <p:animEffect transition="in" filter="wipe(left)">
                                      <p:cBhvr>
                                        <p:cTn id="177" dur="500"/>
                                        <p:tgtEl>
                                          <p:spTgt spid="151609"/>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2" presetClass="entr" presetSubtype="1" fill="hold" grpId="0" nodeType="clickEffect">
                                  <p:stCondLst>
                                    <p:cond delay="0"/>
                                  </p:stCondLst>
                                  <p:childTnLst>
                                    <p:set>
                                      <p:cBhvr>
                                        <p:cTn id="181" dur="1" fill="hold">
                                          <p:stCondLst>
                                            <p:cond delay="0"/>
                                          </p:stCondLst>
                                        </p:cTn>
                                        <p:tgtEl>
                                          <p:spTgt spid="151610"/>
                                        </p:tgtEl>
                                        <p:attrNameLst>
                                          <p:attrName>style.visibility</p:attrName>
                                        </p:attrNameLst>
                                      </p:cBhvr>
                                      <p:to>
                                        <p:strVal val="visible"/>
                                      </p:to>
                                    </p:set>
                                    <p:animEffect transition="in" filter="wipe(up)">
                                      <p:cBhvr>
                                        <p:cTn id="182" dur="500"/>
                                        <p:tgtEl>
                                          <p:spTgt spid="151610"/>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2" presetClass="entr" presetSubtype="1" fill="hold" nodeType="clickEffect">
                                  <p:stCondLst>
                                    <p:cond delay="0"/>
                                  </p:stCondLst>
                                  <p:childTnLst>
                                    <p:set>
                                      <p:cBhvr>
                                        <p:cTn id="186" dur="1" fill="hold">
                                          <p:stCondLst>
                                            <p:cond delay="0"/>
                                          </p:stCondLst>
                                        </p:cTn>
                                        <p:tgtEl>
                                          <p:spTgt spid="151611"/>
                                        </p:tgtEl>
                                        <p:attrNameLst>
                                          <p:attrName>style.visibility</p:attrName>
                                        </p:attrNameLst>
                                      </p:cBhvr>
                                      <p:to>
                                        <p:strVal val="visible"/>
                                      </p:to>
                                    </p:set>
                                    <p:animEffect transition="in" filter="wipe(up)">
                                      <p:cBhvr>
                                        <p:cTn id="187" dur="500"/>
                                        <p:tgtEl>
                                          <p:spTgt spid="151611"/>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2" presetClass="entr" presetSubtype="1" fill="hold" grpId="0" nodeType="clickEffect">
                                  <p:stCondLst>
                                    <p:cond delay="0"/>
                                  </p:stCondLst>
                                  <p:childTnLst>
                                    <p:set>
                                      <p:cBhvr>
                                        <p:cTn id="191" dur="1" fill="hold">
                                          <p:stCondLst>
                                            <p:cond delay="0"/>
                                          </p:stCondLst>
                                        </p:cTn>
                                        <p:tgtEl>
                                          <p:spTgt spid="151612"/>
                                        </p:tgtEl>
                                        <p:attrNameLst>
                                          <p:attrName>style.visibility</p:attrName>
                                        </p:attrNameLst>
                                      </p:cBhvr>
                                      <p:to>
                                        <p:strVal val="visible"/>
                                      </p:to>
                                    </p:set>
                                    <p:animEffect transition="in" filter="wipe(up)">
                                      <p:cBhvr>
                                        <p:cTn id="192" dur="500"/>
                                        <p:tgtEl>
                                          <p:spTgt spid="151612"/>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22" presetClass="entr" presetSubtype="4" fill="hold" nodeType="clickEffect">
                                  <p:stCondLst>
                                    <p:cond delay="0"/>
                                  </p:stCondLst>
                                  <p:childTnLst>
                                    <p:set>
                                      <p:cBhvr>
                                        <p:cTn id="196" dur="1" fill="hold">
                                          <p:stCondLst>
                                            <p:cond delay="0"/>
                                          </p:stCondLst>
                                        </p:cTn>
                                        <p:tgtEl>
                                          <p:spTgt spid="151613"/>
                                        </p:tgtEl>
                                        <p:attrNameLst>
                                          <p:attrName>style.visibility</p:attrName>
                                        </p:attrNameLst>
                                      </p:cBhvr>
                                      <p:to>
                                        <p:strVal val="visible"/>
                                      </p:to>
                                    </p:set>
                                    <p:animEffect transition="in" filter="wipe(down)">
                                      <p:cBhvr>
                                        <p:cTn id="197" dur="500"/>
                                        <p:tgtEl>
                                          <p:spTgt spid="151613"/>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2" presetClass="entr" presetSubtype="1" fill="hold" grpId="0" nodeType="clickEffect">
                                  <p:stCondLst>
                                    <p:cond delay="0"/>
                                  </p:stCondLst>
                                  <p:childTnLst>
                                    <p:set>
                                      <p:cBhvr>
                                        <p:cTn id="201" dur="1" fill="hold">
                                          <p:stCondLst>
                                            <p:cond delay="0"/>
                                          </p:stCondLst>
                                        </p:cTn>
                                        <p:tgtEl>
                                          <p:spTgt spid="151614"/>
                                        </p:tgtEl>
                                        <p:attrNameLst>
                                          <p:attrName>style.visibility</p:attrName>
                                        </p:attrNameLst>
                                      </p:cBhvr>
                                      <p:to>
                                        <p:strVal val="visible"/>
                                      </p:to>
                                    </p:set>
                                    <p:animEffect transition="in" filter="wipe(up)">
                                      <p:cBhvr>
                                        <p:cTn id="202" dur="500"/>
                                        <p:tgtEl>
                                          <p:spTgt spid="151614"/>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22" presetClass="entr" presetSubtype="4" fill="hold" nodeType="clickEffect">
                                  <p:stCondLst>
                                    <p:cond delay="0"/>
                                  </p:stCondLst>
                                  <p:childTnLst>
                                    <p:set>
                                      <p:cBhvr>
                                        <p:cTn id="206" dur="1" fill="hold">
                                          <p:stCondLst>
                                            <p:cond delay="0"/>
                                          </p:stCondLst>
                                        </p:cTn>
                                        <p:tgtEl>
                                          <p:spTgt spid="151615"/>
                                        </p:tgtEl>
                                        <p:attrNameLst>
                                          <p:attrName>style.visibility</p:attrName>
                                        </p:attrNameLst>
                                      </p:cBhvr>
                                      <p:to>
                                        <p:strVal val="visible"/>
                                      </p:to>
                                    </p:set>
                                    <p:animEffect transition="in" filter="wipe(down)">
                                      <p:cBhvr>
                                        <p:cTn id="207" dur="500"/>
                                        <p:tgtEl>
                                          <p:spTgt spid="151615"/>
                                        </p:tgtEl>
                                      </p:cBhvr>
                                    </p:animEffect>
                                  </p:childTnLst>
                                </p:cTn>
                              </p:par>
                            </p:childTnLst>
                          </p:cTn>
                        </p:par>
                      </p:childTnLst>
                    </p:cTn>
                  </p:par>
                  <p:par>
                    <p:cTn id="208" fill="hold" nodeType="clickPar">
                      <p:stCondLst>
                        <p:cond delay="indefinite"/>
                      </p:stCondLst>
                      <p:childTnLst>
                        <p:par>
                          <p:cTn id="209" fill="hold" nodeType="withGroup">
                            <p:stCondLst>
                              <p:cond delay="0"/>
                            </p:stCondLst>
                            <p:childTnLst>
                              <p:par>
                                <p:cTn id="210" presetID="22" presetClass="entr" presetSubtype="1" fill="hold" grpId="0" nodeType="clickEffect">
                                  <p:stCondLst>
                                    <p:cond delay="0"/>
                                  </p:stCondLst>
                                  <p:childTnLst>
                                    <p:set>
                                      <p:cBhvr>
                                        <p:cTn id="211" dur="1" fill="hold">
                                          <p:stCondLst>
                                            <p:cond delay="0"/>
                                          </p:stCondLst>
                                        </p:cTn>
                                        <p:tgtEl>
                                          <p:spTgt spid="151616"/>
                                        </p:tgtEl>
                                        <p:attrNameLst>
                                          <p:attrName>style.visibility</p:attrName>
                                        </p:attrNameLst>
                                      </p:cBhvr>
                                      <p:to>
                                        <p:strVal val="visible"/>
                                      </p:to>
                                    </p:set>
                                    <p:animEffect transition="in" filter="wipe(up)">
                                      <p:cBhvr>
                                        <p:cTn id="212" dur="500"/>
                                        <p:tgtEl>
                                          <p:spTgt spid="151616"/>
                                        </p:tgtEl>
                                      </p:cBhvr>
                                    </p:animEffect>
                                  </p:childTnLst>
                                </p:cTn>
                              </p:par>
                            </p:childTnLst>
                          </p:cTn>
                        </p:par>
                      </p:childTnLst>
                    </p:cTn>
                  </p:par>
                  <p:par>
                    <p:cTn id="213" fill="hold" nodeType="clickPar">
                      <p:stCondLst>
                        <p:cond delay="indefinite"/>
                      </p:stCondLst>
                      <p:childTnLst>
                        <p:par>
                          <p:cTn id="214" fill="hold" nodeType="withGroup">
                            <p:stCondLst>
                              <p:cond delay="0"/>
                            </p:stCondLst>
                            <p:childTnLst>
                              <p:par>
                                <p:cTn id="215" presetID="22" presetClass="entr" presetSubtype="4" fill="hold" nodeType="clickEffect">
                                  <p:stCondLst>
                                    <p:cond delay="0"/>
                                  </p:stCondLst>
                                  <p:childTnLst>
                                    <p:set>
                                      <p:cBhvr>
                                        <p:cTn id="216" dur="1" fill="hold">
                                          <p:stCondLst>
                                            <p:cond delay="0"/>
                                          </p:stCondLst>
                                        </p:cTn>
                                        <p:tgtEl>
                                          <p:spTgt spid="151617"/>
                                        </p:tgtEl>
                                        <p:attrNameLst>
                                          <p:attrName>style.visibility</p:attrName>
                                        </p:attrNameLst>
                                      </p:cBhvr>
                                      <p:to>
                                        <p:strVal val="visible"/>
                                      </p:to>
                                    </p:set>
                                    <p:animEffect transition="in" filter="wipe(down)">
                                      <p:cBhvr>
                                        <p:cTn id="217" dur="500"/>
                                        <p:tgtEl>
                                          <p:spTgt spid="151617"/>
                                        </p:tgtEl>
                                      </p:cBhvr>
                                    </p:animEffect>
                                  </p:childTnLst>
                                </p:cTn>
                              </p:par>
                            </p:childTnLst>
                          </p:cTn>
                        </p:par>
                      </p:childTnLst>
                    </p:cTn>
                  </p:par>
                  <p:par>
                    <p:cTn id="218" fill="hold" nodeType="clickPar">
                      <p:stCondLst>
                        <p:cond delay="indefinite"/>
                      </p:stCondLst>
                      <p:childTnLst>
                        <p:par>
                          <p:cTn id="219" fill="hold" nodeType="withGroup">
                            <p:stCondLst>
                              <p:cond delay="0"/>
                            </p:stCondLst>
                            <p:childTnLst>
                              <p:par>
                                <p:cTn id="220" presetID="22" presetClass="entr" presetSubtype="1" fill="hold" grpId="0" nodeType="clickEffect">
                                  <p:stCondLst>
                                    <p:cond delay="0"/>
                                  </p:stCondLst>
                                  <p:childTnLst>
                                    <p:set>
                                      <p:cBhvr>
                                        <p:cTn id="221" dur="1" fill="hold">
                                          <p:stCondLst>
                                            <p:cond delay="0"/>
                                          </p:stCondLst>
                                        </p:cTn>
                                        <p:tgtEl>
                                          <p:spTgt spid="151618"/>
                                        </p:tgtEl>
                                        <p:attrNameLst>
                                          <p:attrName>style.visibility</p:attrName>
                                        </p:attrNameLst>
                                      </p:cBhvr>
                                      <p:to>
                                        <p:strVal val="visible"/>
                                      </p:to>
                                    </p:set>
                                    <p:animEffect transition="in" filter="wipe(up)">
                                      <p:cBhvr>
                                        <p:cTn id="222" dur="500"/>
                                        <p:tgtEl>
                                          <p:spTgt spid="151618"/>
                                        </p:tgtEl>
                                      </p:cBhvr>
                                    </p:animEffec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22" presetClass="entr" presetSubtype="4" fill="hold" nodeType="clickEffect">
                                  <p:stCondLst>
                                    <p:cond delay="0"/>
                                  </p:stCondLst>
                                  <p:childTnLst>
                                    <p:set>
                                      <p:cBhvr>
                                        <p:cTn id="226" dur="1" fill="hold">
                                          <p:stCondLst>
                                            <p:cond delay="0"/>
                                          </p:stCondLst>
                                        </p:cTn>
                                        <p:tgtEl>
                                          <p:spTgt spid="151619"/>
                                        </p:tgtEl>
                                        <p:attrNameLst>
                                          <p:attrName>style.visibility</p:attrName>
                                        </p:attrNameLst>
                                      </p:cBhvr>
                                      <p:to>
                                        <p:strVal val="visible"/>
                                      </p:to>
                                    </p:set>
                                    <p:animEffect transition="in" filter="wipe(down)">
                                      <p:cBhvr>
                                        <p:cTn id="227" dur="500"/>
                                        <p:tgtEl>
                                          <p:spTgt spid="151619"/>
                                        </p:tgtEl>
                                      </p:cBhvr>
                                    </p:animEffect>
                                  </p:childTnLst>
                                </p:cTn>
                              </p:par>
                            </p:childTnLst>
                          </p:cTn>
                        </p:par>
                      </p:childTnLst>
                    </p:cTn>
                  </p:par>
                  <p:par>
                    <p:cTn id="228" fill="hold" nodeType="clickPar">
                      <p:stCondLst>
                        <p:cond delay="indefinite"/>
                      </p:stCondLst>
                      <p:childTnLst>
                        <p:par>
                          <p:cTn id="229" fill="hold" nodeType="withGroup">
                            <p:stCondLst>
                              <p:cond delay="0"/>
                            </p:stCondLst>
                            <p:childTnLst>
                              <p:par>
                                <p:cTn id="230" presetID="22" presetClass="entr" presetSubtype="1" fill="hold" grpId="0" nodeType="clickEffect">
                                  <p:stCondLst>
                                    <p:cond delay="0"/>
                                  </p:stCondLst>
                                  <p:childTnLst>
                                    <p:set>
                                      <p:cBhvr>
                                        <p:cTn id="231" dur="1" fill="hold">
                                          <p:stCondLst>
                                            <p:cond delay="0"/>
                                          </p:stCondLst>
                                        </p:cTn>
                                        <p:tgtEl>
                                          <p:spTgt spid="151620"/>
                                        </p:tgtEl>
                                        <p:attrNameLst>
                                          <p:attrName>style.visibility</p:attrName>
                                        </p:attrNameLst>
                                      </p:cBhvr>
                                      <p:to>
                                        <p:strVal val="visible"/>
                                      </p:to>
                                    </p:set>
                                    <p:animEffect transition="in" filter="wipe(up)">
                                      <p:cBhvr>
                                        <p:cTn id="232" dur="500"/>
                                        <p:tgtEl>
                                          <p:spTgt spid="151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9" grpId="0" autoUpdateAnimBg="0"/>
      <p:bldP spid="151563" grpId="0" autoUpdateAnimBg="0"/>
      <p:bldP spid="151564" grpId="0" autoUpdateAnimBg="0"/>
      <p:bldP spid="151566" grpId="0" autoUpdateAnimBg="0"/>
      <p:bldP spid="151567" grpId="0" autoUpdateAnimBg="0"/>
      <p:bldP spid="151569" grpId="0" autoUpdateAnimBg="0"/>
      <p:bldP spid="151571" grpId="0" autoUpdateAnimBg="0"/>
      <p:bldP spid="151573" grpId="0" autoUpdateAnimBg="0"/>
      <p:bldP spid="151576" grpId="0" autoUpdateAnimBg="0"/>
      <p:bldP spid="151587" grpId="0" autoUpdateAnimBg="0"/>
      <p:bldP spid="151590" grpId="0" autoUpdateAnimBg="0"/>
      <p:bldP spid="151591" grpId="0" autoUpdateAnimBg="0"/>
      <p:bldP spid="151593" grpId="0" autoUpdateAnimBg="0"/>
      <p:bldP spid="151596" grpId="0" autoUpdateAnimBg="0"/>
      <p:bldP spid="151598" grpId="0" autoUpdateAnimBg="0"/>
      <p:bldP spid="151601" grpId="0" autoUpdateAnimBg="0"/>
      <p:bldP spid="151602" grpId="0" autoUpdateAnimBg="0"/>
      <p:bldP spid="151604" grpId="0" autoUpdateAnimBg="0"/>
      <p:bldP spid="151605" grpId="0" autoUpdateAnimBg="0"/>
      <p:bldP spid="151607" grpId="0" autoUpdateAnimBg="0"/>
      <p:bldP spid="151610" grpId="0" autoUpdateAnimBg="0"/>
      <p:bldP spid="151612" grpId="0" autoUpdateAnimBg="0"/>
      <p:bldP spid="151614" grpId="0" autoUpdateAnimBg="0"/>
      <p:bldP spid="151616" grpId="0" autoUpdateAnimBg="0"/>
      <p:bldP spid="151618" grpId="0" autoUpdateAnimBg="0"/>
      <p:bldP spid="151620"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30480" y="123478"/>
            <a:ext cx="5292725" cy="828675"/>
          </a:xfrm>
        </p:spPr>
        <p:txBody>
          <a:bodyPr/>
          <a:lstStyle/>
          <a:p>
            <a:pPr algn="l"/>
            <a:r>
              <a:rPr lang="zh-CN" altLang="en-US" b="1" dirty="0"/>
              <a:t>计算表达式</a:t>
            </a:r>
            <a:r>
              <a:rPr lang="en-US" altLang="zh-CN" b="1" dirty="0"/>
              <a:t>4</a:t>
            </a:r>
            <a:r>
              <a:rPr lang="zh-CN" altLang="en-US" b="1" dirty="0"/>
              <a:t>＋</a:t>
            </a:r>
            <a:r>
              <a:rPr lang="en-US" altLang="zh-CN" b="1" dirty="0"/>
              <a:t>3</a:t>
            </a:r>
            <a:r>
              <a:rPr lang="zh-CN" altLang="en-US" b="1" dirty="0"/>
              <a:t>－5</a:t>
            </a:r>
          </a:p>
        </p:txBody>
      </p:sp>
      <p:sp>
        <p:nvSpPr>
          <p:cNvPr id="151559" name="Rectangle 7"/>
          <p:cNvSpPr>
            <a:spLocks noChangeArrowheads="1"/>
          </p:cNvSpPr>
          <p:nvPr/>
        </p:nvSpPr>
        <p:spPr bwMode="auto">
          <a:xfrm>
            <a:off x="2209800" y="108585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a:latin typeface="+mn-lt"/>
              </a:rPr>
              <a:t>E</a:t>
            </a:r>
          </a:p>
        </p:txBody>
      </p:sp>
      <p:sp>
        <p:nvSpPr>
          <p:cNvPr id="151561" name="Line 9"/>
          <p:cNvSpPr>
            <a:spLocks noChangeShapeType="1"/>
          </p:cNvSpPr>
          <p:nvPr/>
        </p:nvSpPr>
        <p:spPr bwMode="auto">
          <a:xfrm flipH="1">
            <a:off x="1295400" y="1428750"/>
            <a:ext cx="990600" cy="514350"/>
          </a:xfrm>
          <a:prstGeom prst="line">
            <a:avLst/>
          </a:prstGeom>
          <a:noFill/>
          <a:ln w="1905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62" name="Line 10"/>
          <p:cNvSpPr>
            <a:spLocks noChangeShapeType="1"/>
          </p:cNvSpPr>
          <p:nvPr/>
        </p:nvSpPr>
        <p:spPr bwMode="auto">
          <a:xfrm>
            <a:off x="2590800" y="1428750"/>
            <a:ext cx="609600" cy="400050"/>
          </a:xfrm>
          <a:prstGeom prst="line">
            <a:avLst/>
          </a:prstGeom>
          <a:noFill/>
          <a:ln w="1905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63" name="Rectangle 11"/>
          <p:cNvSpPr>
            <a:spLocks noChangeArrowheads="1"/>
          </p:cNvSpPr>
          <p:nvPr/>
        </p:nvSpPr>
        <p:spPr bwMode="auto">
          <a:xfrm>
            <a:off x="1066800" y="1943100"/>
            <a:ext cx="5334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a:latin typeface="+mn-lt"/>
              </a:rPr>
              <a:t>T</a:t>
            </a:r>
          </a:p>
        </p:txBody>
      </p:sp>
      <p:sp>
        <p:nvSpPr>
          <p:cNvPr id="151564" name="Rectangle 12"/>
          <p:cNvSpPr>
            <a:spLocks noChangeArrowheads="1"/>
          </p:cNvSpPr>
          <p:nvPr/>
        </p:nvSpPr>
        <p:spPr bwMode="auto">
          <a:xfrm>
            <a:off x="3124200" y="188595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a:latin typeface="+mn-lt"/>
              </a:rPr>
              <a:t>E</a:t>
            </a:r>
            <a:r>
              <a:rPr lang="en-US" altLang="zh-CN" sz="2600" dirty="0"/>
              <a:t>'</a:t>
            </a:r>
            <a:endParaRPr kumimoji="1" lang="en-US" altLang="zh-CN" sz="2600" dirty="0">
              <a:latin typeface="+mn-lt"/>
            </a:endParaRPr>
          </a:p>
        </p:txBody>
      </p:sp>
      <p:sp>
        <p:nvSpPr>
          <p:cNvPr id="151565" name="Line 13"/>
          <p:cNvSpPr>
            <a:spLocks noChangeShapeType="1"/>
          </p:cNvSpPr>
          <p:nvPr/>
        </p:nvSpPr>
        <p:spPr bwMode="auto">
          <a:xfrm>
            <a:off x="1219200" y="2343150"/>
            <a:ext cx="0" cy="514350"/>
          </a:xfrm>
          <a:prstGeom prst="line">
            <a:avLst/>
          </a:prstGeom>
          <a:noFill/>
          <a:ln w="1905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66" name="Rectangle 14"/>
          <p:cNvSpPr>
            <a:spLocks noChangeArrowheads="1"/>
          </p:cNvSpPr>
          <p:nvPr/>
        </p:nvSpPr>
        <p:spPr bwMode="auto">
          <a:xfrm>
            <a:off x="1043608" y="2894444"/>
            <a:ext cx="685800" cy="397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err="1">
                <a:latin typeface="+mn-lt"/>
              </a:rPr>
              <a:t>i</a:t>
            </a:r>
            <a:endParaRPr kumimoji="1" lang="en-US" altLang="zh-CN" sz="2600" dirty="0">
              <a:latin typeface="+mn-lt"/>
            </a:endParaRPr>
          </a:p>
        </p:txBody>
      </p:sp>
      <p:sp>
        <p:nvSpPr>
          <p:cNvPr id="151567" name="Rectangle 15"/>
          <p:cNvSpPr>
            <a:spLocks noChangeArrowheads="1"/>
          </p:cNvSpPr>
          <p:nvPr/>
        </p:nvSpPr>
        <p:spPr bwMode="auto">
          <a:xfrm>
            <a:off x="843082" y="2878946"/>
            <a:ext cx="22860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err="1">
                <a:latin typeface="+mn-lt"/>
              </a:rPr>
              <a:t>i.lexval</a:t>
            </a:r>
            <a:r>
              <a:rPr kumimoji="1" lang="en-US" altLang="zh-CN" sz="2600" dirty="0">
                <a:latin typeface="+mn-lt"/>
              </a:rPr>
              <a:t>=4</a:t>
            </a:r>
          </a:p>
        </p:txBody>
      </p:sp>
      <p:sp>
        <p:nvSpPr>
          <p:cNvPr id="151568" name="Line 16"/>
          <p:cNvSpPr>
            <a:spLocks noChangeShapeType="1"/>
          </p:cNvSpPr>
          <p:nvPr/>
        </p:nvSpPr>
        <p:spPr bwMode="auto">
          <a:xfrm flipV="1">
            <a:off x="1475656" y="2343150"/>
            <a:ext cx="0" cy="514350"/>
          </a:xfrm>
          <a:prstGeom prst="line">
            <a:avLst/>
          </a:prstGeom>
          <a:noFill/>
          <a:ln w="1905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69" name="Rectangle 17"/>
          <p:cNvSpPr>
            <a:spLocks noChangeArrowheads="1"/>
          </p:cNvSpPr>
          <p:nvPr/>
        </p:nvSpPr>
        <p:spPr bwMode="auto">
          <a:xfrm>
            <a:off x="1066800" y="1943100"/>
            <a:ext cx="16002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err="1">
                <a:solidFill>
                  <a:srgbClr val="FF3300"/>
                </a:solidFill>
                <a:latin typeface="+mn-lt"/>
              </a:rPr>
              <a:t>T.val</a:t>
            </a:r>
            <a:r>
              <a:rPr kumimoji="1" lang="en-US" altLang="zh-CN" sz="2600" dirty="0">
                <a:solidFill>
                  <a:srgbClr val="FF3300"/>
                </a:solidFill>
                <a:latin typeface="+mn-lt"/>
              </a:rPr>
              <a:t>=4</a:t>
            </a:r>
          </a:p>
        </p:txBody>
      </p:sp>
      <p:sp>
        <p:nvSpPr>
          <p:cNvPr id="151570" name="Line 18"/>
          <p:cNvSpPr>
            <a:spLocks noChangeShapeType="1"/>
          </p:cNvSpPr>
          <p:nvPr/>
        </p:nvSpPr>
        <p:spPr bwMode="auto">
          <a:xfrm flipV="1">
            <a:off x="2514600" y="2114549"/>
            <a:ext cx="604838" cy="1"/>
          </a:xfrm>
          <a:prstGeom prst="line">
            <a:avLst/>
          </a:prstGeom>
          <a:noFill/>
          <a:ln w="19050">
            <a:solidFill>
              <a:srgbClr val="3366CC"/>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71" name="Rectangle 19"/>
          <p:cNvSpPr>
            <a:spLocks noChangeArrowheads="1"/>
          </p:cNvSpPr>
          <p:nvPr/>
        </p:nvSpPr>
        <p:spPr bwMode="auto">
          <a:xfrm>
            <a:off x="3119438" y="1883668"/>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a:solidFill>
                  <a:srgbClr val="3366CC"/>
                </a:solidFill>
                <a:latin typeface="+mn-lt"/>
              </a:rPr>
              <a:t>E</a:t>
            </a:r>
            <a:r>
              <a:rPr lang="en-US" altLang="zh-CN" sz="2600" dirty="0">
                <a:solidFill>
                  <a:srgbClr val="0070C0"/>
                </a:solidFill>
              </a:rPr>
              <a:t>’</a:t>
            </a:r>
            <a:r>
              <a:rPr kumimoji="1" lang="en-US" altLang="zh-CN" sz="2600" dirty="0">
                <a:solidFill>
                  <a:srgbClr val="3366CC"/>
                </a:solidFill>
                <a:latin typeface="+mn-lt"/>
              </a:rPr>
              <a:t>.</a:t>
            </a:r>
            <a:r>
              <a:rPr kumimoji="1" lang="en-US" altLang="zh-CN" sz="2600" dirty="0" err="1">
                <a:solidFill>
                  <a:srgbClr val="3366CC"/>
                </a:solidFill>
                <a:latin typeface="+mn-lt"/>
              </a:rPr>
              <a:t>i</a:t>
            </a:r>
            <a:r>
              <a:rPr kumimoji="1" lang="en-US" altLang="zh-CN" sz="2600" dirty="0">
                <a:solidFill>
                  <a:srgbClr val="3366CC"/>
                </a:solidFill>
                <a:latin typeface="+mn-lt"/>
              </a:rPr>
              <a:t>=4</a:t>
            </a:r>
          </a:p>
        </p:txBody>
      </p:sp>
      <p:sp>
        <p:nvSpPr>
          <p:cNvPr id="151572" name="Line 20"/>
          <p:cNvSpPr>
            <a:spLocks noChangeShapeType="1"/>
          </p:cNvSpPr>
          <p:nvPr/>
        </p:nvSpPr>
        <p:spPr bwMode="auto">
          <a:xfrm flipH="1">
            <a:off x="2895600" y="2286000"/>
            <a:ext cx="838200" cy="628650"/>
          </a:xfrm>
          <a:prstGeom prst="line">
            <a:avLst/>
          </a:prstGeom>
          <a:noFill/>
          <a:ln w="1905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73" name="Rectangle 21"/>
          <p:cNvSpPr>
            <a:spLocks noChangeArrowheads="1"/>
          </p:cNvSpPr>
          <p:nvPr/>
        </p:nvSpPr>
        <p:spPr bwMode="auto">
          <a:xfrm>
            <a:off x="2743200" y="2894444"/>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a:latin typeface="+mn-lt"/>
              </a:rPr>
              <a:t>+</a:t>
            </a:r>
          </a:p>
        </p:txBody>
      </p:sp>
      <p:sp>
        <p:nvSpPr>
          <p:cNvPr id="151574" name="Line 22"/>
          <p:cNvSpPr>
            <a:spLocks noChangeShapeType="1"/>
          </p:cNvSpPr>
          <p:nvPr/>
        </p:nvSpPr>
        <p:spPr bwMode="auto">
          <a:xfrm flipH="1">
            <a:off x="3810000" y="2286000"/>
            <a:ext cx="0" cy="628650"/>
          </a:xfrm>
          <a:prstGeom prst="line">
            <a:avLst/>
          </a:prstGeom>
          <a:noFill/>
          <a:ln w="1905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76" name="Rectangle 24"/>
          <p:cNvSpPr>
            <a:spLocks noChangeArrowheads="1"/>
          </p:cNvSpPr>
          <p:nvPr/>
        </p:nvSpPr>
        <p:spPr bwMode="auto">
          <a:xfrm>
            <a:off x="3613301" y="2894444"/>
            <a:ext cx="55418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a:latin typeface="+mn-lt"/>
              </a:rPr>
              <a:t>T</a:t>
            </a:r>
          </a:p>
        </p:txBody>
      </p:sp>
      <p:sp>
        <p:nvSpPr>
          <p:cNvPr id="151586" name="Line 34"/>
          <p:cNvSpPr>
            <a:spLocks noChangeShapeType="1"/>
          </p:cNvSpPr>
          <p:nvPr/>
        </p:nvSpPr>
        <p:spPr bwMode="auto">
          <a:xfrm>
            <a:off x="3962400" y="2286000"/>
            <a:ext cx="1676400" cy="628650"/>
          </a:xfrm>
          <a:prstGeom prst="line">
            <a:avLst/>
          </a:prstGeom>
          <a:noFill/>
          <a:ln w="1905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87" name="Rectangle 35"/>
          <p:cNvSpPr>
            <a:spLocks noChangeArrowheads="1"/>
          </p:cNvSpPr>
          <p:nvPr/>
        </p:nvSpPr>
        <p:spPr bwMode="auto">
          <a:xfrm>
            <a:off x="5486400" y="2894444"/>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a:latin typeface="+mn-lt"/>
              </a:rPr>
              <a:t>E</a:t>
            </a:r>
            <a:r>
              <a:rPr lang="en-US" altLang="zh-CN" sz="2600" dirty="0"/>
              <a:t>'</a:t>
            </a:r>
            <a:endParaRPr kumimoji="1" lang="en-US" altLang="zh-CN" sz="2600" dirty="0">
              <a:latin typeface="+mn-lt"/>
            </a:endParaRPr>
          </a:p>
        </p:txBody>
      </p:sp>
      <p:sp>
        <p:nvSpPr>
          <p:cNvPr id="151589" name="Line 37"/>
          <p:cNvSpPr>
            <a:spLocks noChangeShapeType="1"/>
          </p:cNvSpPr>
          <p:nvPr/>
        </p:nvSpPr>
        <p:spPr bwMode="auto">
          <a:xfrm>
            <a:off x="3810000" y="3294494"/>
            <a:ext cx="0" cy="514350"/>
          </a:xfrm>
          <a:prstGeom prst="line">
            <a:avLst/>
          </a:prstGeom>
          <a:noFill/>
          <a:ln w="1905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90" name="Rectangle 38"/>
          <p:cNvSpPr>
            <a:spLocks noChangeArrowheads="1"/>
          </p:cNvSpPr>
          <p:nvPr/>
        </p:nvSpPr>
        <p:spPr bwMode="auto">
          <a:xfrm>
            <a:off x="3657600" y="3848236"/>
            <a:ext cx="9144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err="1">
                <a:latin typeface="+mn-lt"/>
              </a:rPr>
              <a:t>i</a:t>
            </a:r>
            <a:endParaRPr kumimoji="1" lang="en-US" altLang="zh-CN" sz="2600" dirty="0">
              <a:latin typeface="+mn-lt"/>
            </a:endParaRPr>
          </a:p>
        </p:txBody>
      </p:sp>
      <p:sp>
        <p:nvSpPr>
          <p:cNvPr id="151591" name="Rectangle 39"/>
          <p:cNvSpPr>
            <a:spLocks noChangeArrowheads="1"/>
          </p:cNvSpPr>
          <p:nvPr/>
        </p:nvSpPr>
        <p:spPr bwMode="auto">
          <a:xfrm>
            <a:off x="3453626" y="3848236"/>
            <a:ext cx="22860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err="1">
                <a:latin typeface="+mn-lt"/>
              </a:rPr>
              <a:t>i.lexval</a:t>
            </a:r>
            <a:r>
              <a:rPr kumimoji="1" lang="en-US" altLang="zh-CN" sz="2600" dirty="0">
                <a:latin typeface="+mn-lt"/>
              </a:rPr>
              <a:t>=3</a:t>
            </a:r>
          </a:p>
        </p:txBody>
      </p:sp>
      <p:sp>
        <p:nvSpPr>
          <p:cNvPr id="151592" name="Line 40"/>
          <p:cNvSpPr>
            <a:spLocks noChangeShapeType="1"/>
          </p:cNvSpPr>
          <p:nvPr/>
        </p:nvSpPr>
        <p:spPr bwMode="auto">
          <a:xfrm flipV="1">
            <a:off x="4067944" y="3294494"/>
            <a:ext cx="0" cy="514350"/>
          </a:xfrm>
          <a:prstGeom prst="line">
            <a:avLst/>
          </a:prstGeom>
          <a:noFill/>
          <a:ln w="1905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93" name="Rectangle 41"/>
          <p:cNvSpPr>
            <a:spLocks noChangeArrowheads="1"/>
          </p:cNvSpPr>
          <p:nvPr/>
        </p:nvSpPr>
        <p:spPr bwMode="auto">
          <a:xfrm>
            <a:off x="3613332" y="2894444"/>
            <a:ext cx="98886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err="1">
                <a:solidFill>
                  <a:srgbClr val="FF3300"/>
                </a:solidFill>
                <a:latin typeface="+mn-lt"/>
              </a:rPr>
              <a:t>T.val</a:t>
            </a:r>
            <a:r>
              <a:rPr kumimoji="1" lang="en-US" altLang="zh-CN" sz="2600" dirty="0">
                <a:solidFill>
                  <a:srgbClr val="FF3300"/>
                </a:solidFill>
                <a:latin typeface="+mn-lt"/>
              </a:rPr>
              <a:t>=3</a:t>
            </a:r>
          </a:p>
        </p:txBody>
      </p:sp>
      <p:sp>
        <p:nvSpPr>
          <p:cNvPr id="151594" name="Line 42"/>
          <p:cNvSpPr>
            <a:spLocks noChangeShapeType="1"/>
          </p:cNvSpPr>
          <p:nvPr/>
        </p:nvSpPr>
        <p:spPr bwMode="auto">
          <a:xfrm>
            <a:off x="3962399" y="2400299"/>
            <a:ext cx="1554197" cy="588637"/>
          </a:xfrm>
          <a:prstGeom prst="line">
            <a:avLst/>
          </a:prstGeom>
          <a:noFill/>
          <a:ln w="19050">
            <a:solidFill>
              <a:srgbClr val="3366CC"/>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95" name="Line 43"/>
          <p:cNvSpPr>
            <a:spLocks noChangeShapeType="1"/>
          </p:cNvSpPr>
          <p:nvPr/>
        </p:nvSpPr>
        <p:spPr bwMode="auto">
          <a:xfrm>
            <a:off x="4970512" y="3123044"/>
            <a:ext cx="609600" cy="0"/>
          </a:xfrm>
          <a:prstGeom prst="line">
            <a:avLst/>
          </a:prstGeom>
          <a:noFill/>
          <a:ln w="19050">
            <a:solidFill>
              <a:srgbClr val="3366CC"/>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96" name="Rectangle 44"/>
          <p:cNvSpPr>
            <a:spLocks noChangeArrowheads="1"/>
          </p:cNvSpPr>
          <p:nvPr/>
        </p:nvSpPr>
        <p:spPr bwMode="auto">
          <a:xfrm>
            <a:off x="5486400" y="2896726"/>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a:solidFill>
                  <a:srgbClr val="0070C0"/>
                </a:solidFill>
                <a:latin typeface="+mn-lt"/>
              </a:rPr>
              <a:t>E</a:t>
            </a:r>
            <a:r>
              <a:rPr lang="en-US" altLang="zh-CN" sz="2600" dirty="0">
                <a:solidFill>
                  <a:srgbClr val="0070C0"/>
                </a:solidFill>
              </a:rPr>
              <a:t>’</a:t>
            </a:r>
            <a:r>
              <a:rPr kumimoji="1" lang="en-US" altLang="zh-CN" sz="2600" dirty="0">
                <a:solidFill>
                  <a:srgbClr val="0070C0"/>
                </a:solidFill>
                <a:latin typeface="+mn-lt"/>
              </a:rPr>
              <a:t>.</a:t>
            </a:r>
            <a:r>
              <a:rPr kumimoji="1" lang="en-US" altLang="zh-CN" sz="2600" dirty="0" err="1">
                <a:solidFill>
                  <a:srgbClr val="0070C0"/>
                </a:solidFill>
                <a:latin typeface="+mn-lt"/>
              </a:rPr>
              <a:t>i</a:t>
            </a:r>
            <a:r>
              <a:rPr kumimoji="1" lang="en-US" altLang="zh-CN" sz="2600" dirty="0">
                <a:solidFill>
                  <a:srgbClr val="0070C0"/>
                </a:solidFill>
                <a:latin typeface="+mn-lt"/>
              </a:rPr>
              <a:t>=7</a:t>
            </a:r>
          </a:p>
        </p:txBody>
      </p:sp>
      <p:sp>
        <p:nvSpPr>
          <p:cNvPr id="151597" name="Line 45"/>
          <p:cNvSpPr>
            <a:spLocks noChangeShapeType="1"/>
          </p:cNvSpPr>
          <p:nvPr/>
        </p:nvSpPr>
        <p:spPr bwMode="auto">
          <a:xfrm flipH="1">
            <a:off x="5562600" y="3237344"/>
            <a:ext cx="609600" cy="628650"/>
          </a:xfrm>
          <a:prstGeom prst="line">
            <a:avLst/>
          </a:prstGeom>
          <a:noFill/>
          <a:ln w="1905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598" name="Rectangle 46"/>
          <p:cNvSpPr>
            <a:spLocks noChangeArrowheads="1"/>
          </p:cNvSpPr>
          <p:nvPr/>
        </p:nvSpPr>
        <p:spPr bwMode="auto">
          <a:xfrm>
            <a:off x="5308086" y="3864260"/>
            <a:ext cx="609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zh-CN" altLang="en-US" sz="2600" dirty="0">
                <a:latin typeface="+mn-lt"/>
              </a:rPr>
              <a:t>－</a:t>
            </a:r>
            <a:endParaRPr kumimoji="1" lang="en-US" altLang="zh-CN" sz="2600" dirty="0">
              <a:latin typeface="+mn-lt"/>
            </a:endParaRPr>
          </a:p>
        </p:txBody>
      </p:sp>
      <p:sp>
        <p:nvSpPr>
          <p:cNvPr id="151599" name="Line 47"/>
          <p:cNvSpPr>
            <a:spLocks noChangeShapeType="1"/>
          </p:cNvSpPr>
          <p:nvPr/>
        </p:nvSpPr>
        <p:spPr bwMode="auto">
          <a:xfrm flipH="1">
            <a:off x="6248400" y="3237344"/>
            <a:ext cx="0" cy="628650"/>
          </a:xfrm>
          <a:prstGeom prst="line">
            <a:avLst/>
          </a:prstGeom>
          <a:noFill/>
          <a:ln w="1905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00" name="Line 48"/>
          <p:cNvSpPr>
            <a:spLocks noChangeShapeType="1"/>
          </p:cNvSpPr>
          <p:nvPr/>
        </p:nvSpPr>
        <p:spPr bwMode="auto">
          <a:xfrm>
            <a:off x="6400800" y="3237344"/>
            <a:ext cx="1676400" cy="628650"/>
          </a:xfrm>
          <a:prstGeom prst="line">
            <a:avLst/>
          </a:prstGeom>
          <a:noFill/>
          <a:ln w="1905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01" name="Rectangle 49"/>
          <p:cNvSpPr>
            <a:spLocks noChangeArrowheads="1"/>
          </p:cNvSpPr>
          <p:nvPr/>
        </p:nvSpPr>
        <p:spPr bwMode="auto">
          <a:xfrm>
            <a:off x="6040584" y="386426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a:latin typeface="+mn-lt"/>
              </a:rPr>
              <a:t>T</a:t>
            </a:r>
          </a:p>
        </p:txBody>
      </p:sp>
      <p:sp>
        <p:nvSpPr>
          <p:cNvPr id="151602" name="Rectangle 50"/>
          <p:cNvSpPr>
            <a:spLocks noChangeArrowheads="1"/>
          </p:cNvSpPr>
          <p:nvPr/>
        </p:nvSpPr>
        <p:spPr bwMode="auto">
          <a:xfrm>
            <a:off x="7907338" y="3884466"/>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latin typeface="+mn-lt"/>
              </a:rPr>
              <a:t>E</a:t>
            </a:r>
            <a:r>
              <a:rPr lang="en-US" altLang="zh-CN" sz="2600" dirty="0"/>
              <a:t>'</a:t>
            </a:r>
            <a:endParaRPr kumimoji="1" lang="en-US" altLang="zh-CN" sz="2600" b="1" dirty="0">
              <a:latin typeface="+mn-lt"/>
            </a:endParaRPr>
          </a:p>
        </p:txBody>
      </p:sp>
      <p:sp>
        <p:nvSpPr>
          <p:cNvPr id="151603" name="Line 51"/>
          <p:cNvSpPr>
            <a:spLocks noChangeShapeType="1"/>
          </p:cNvSpPr>
          <p:nvPr/>
        </p:nvSpPr>
        <p:spPr bwMode="auto">
          <a:xfrm>
            <a:off x="6241476" y="4264310"/>
            <a:ext cx="0" cy="514350"/>
          </a:xfrm>
          <a:prstGeom prst="line">
            <a:avLst/>
          </a:prstGeom>
          <a:noFill/>
          <a:ln w="1905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04" name="Rectangle 52"/>
          <p:cNvSpPr>
            <a:spLocks noChangeArrowheads="1"/>
          </p:cNvSpPr>
          <p:nvPr/>
        </p:nvSpPr>
        <p:spPr bwMode="auto">
          <a:xfrm>
            <a:off x="6099468" y="4795456"/>
            <a:ext cx="4953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err="1">
                <a:latin typeface="+mn-lt"/>
              </a:rPr>
              <a:t>i</a:t>
            </a:r>
            <a:endParaRPr kumimoji="1" lang="en-US" altLang="zh-CN" sz="2600" dirty="0">
              <a:latin typeface="+mn-lt"/>
            </a:endParaRPr>
          </a:p>
        </p:txBody>
      </p:sp>
      <p:sp>
        <p:nvSpPr>
          <p:cNvPr id="151605" name="Rectangle 53"/>
          <p:cNvSpPr>
            <a:spLocks noChangeArrowheads="1"/>
          </p:cNvSpPr>
          <p:nvPr/>
        </p:nvSpPr>
        <p:spPr bwMode="auto">
          <a:xfrm>
            <a:off x="6099468" y="4764460"/>
            <a:ext cx="22860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err="1">
                <a:latin typeface="+mn-lt"/>
              </a:rPr>
              <a:t>i.lexval</a:t>
            </a:r>
            <a:r>
              <a:rPr kumimoji="1" lang="en-US" altLang="zh-CN" sz="2600" dirty="0">
                <a:latin typeface="+mn-lt"/>
              </a:rPr>
              <a:t>=5</a:t>
            </a:r>
          </a:p>
        </p:txBody>
      </p:sp>
      <p:sp>
        <p:nvSpPr>
          <p:cNvPr id="151606" name="Line 54"/>
          <p:cNvSpPr>
            <a:spLocks noChangeShapeType="1"/>
          </p:cNvSpPr>
          <p:nvPr/>
        </p:nvSpPr>
        <p:spPr bwMode="auto">
          <a:xfrm flipV="1">
            <a:off x="6516216" y="4264310"/>
            <a:ext cx="0" cy="514350"/>
          </a:xfrm>
          <a:prstGeom prst="line">
            <a:avLst/>
          </a:prstGeom>
          <a:noFill/>
          <a:ln w="1905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07" name="Rectangle 55"/>
          <p:cNvSpPr>
            <a:spLocks noChangeArrowheads="1"/>
          </p:cNvSpPr>
          <p:nvPr/>
        </p:nvSpPr>
        <p:spPr bwMode="auto">
          <a:xfrm>
            <a:off x="6040584" y="386426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err="1">
                <a:solidFill>
                  <a:srgbClr val="FF3300"/>
                </a:solidFill>
                <a:latin typeface="+mn-lt"/>
              </a:rPr>
              <a:t>T.val</a:t>
            </a:r>
            <a:r>
              <a:rPr kumimoji="1" lang="en-US" altLang="zh-CN" sz="2600" dirty="0">
                <a:solidFill>
                  <a:srgbClr val="FF3300"/>
                </a:solidFill>
                <a:latin typeface="+mn-lt"/>
              </a:rPr>
              <a:t>=5</a:t>
            </a:r>
          </a:p>
        </p:txBody>
      </p:sp>
      <p:sp>
        <p:nvSpPr>
          <p:cNvPr id="151608" name="Line 56"/>
          <p:cNvSpPr>
            <a:spLocks noChangeShapeType="1"/>
          </p:cNvSpPr>
          <p:nvPr/>
        </p:nvSpPr>
        <p:spPr bwMode="auto">
          <a:xfrm>
            <a:off x="6324600" y="3294493"/>
            <a:ext cx="1620984" cy="656903"/>
          </a:xfrm>
          <a:prstGeom prst="line">
            <a:avLst/>
          </a:prstGeom>
          <a:noFill/>
          <a:ln w="19050">
            <a:solidFill>
              <a:srgbClr val="3366CC"/>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09" name="Line 57"/>
          <p:cNvSpPr>
            <a:spLocks noChangeShapeType="1"/>
          </p:cNvSpPr>
          <p:nvPr/>
        </p:nvSpPr>
        <p:spPr bwMode="auto">
          <a:xfrm>
            <a:off x="7422976" y="4092860"/>
            <a:ext cx="533400" cy="0"/>
          </a:xfrm>
          <a:prstGeom prst="line">
            <a:avLst/>
          </a:prstGeom>
          <a:noFill/>
          <a:ln w="19050">
            <a:solidFill>
              <a:srgbClr val="3366CC"/>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10" name="Rectangle 58"/>
          <p:cNvSpPr>
            <a:spLocks noChangeArrowheads="1"/>
          </p:cNvSpPr>
          <p:nvPr/>
        </p:nvSpPr>
        <p:spPr bwMode="auto">
          <a:xfrm>
            <a:off x="7907338" y="388330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solidFill>
                  <a:srgbClr val="3366CC"/>
                </a:solidFill>
                <a:latin typeface="+mn-lt"/>
              </a:rPr>
              <a:t>E</a:t>
            </a:r>
            <a:r>
              <a:rPr lang="en-US" altLang="zh-CN" sz="2600" dirty="0">
                <a:solidFill>
                  <a:srgbClr val="0070C0"/>
                </a:solidFill>
              </a:rPr>
              <a:t>’</a:t>
            </a:r>
            <a:r>
              <a:rPr kumimoji="1" lang="en-US" altLang="zh-CN" sz="2600" b="1" dirty="0">
                <a:solidFill>
                  <a:srgbClr val="3366CC"/>
                </a:solidFill>
                <a:latin typeface="+mn-lt"/>
              </a:rPr>
              <a:t>.</a:t>
            </a:r>
            <a:r>
              <a:rPr kumimoji="1" lang="en-US" altLang="zh-CN" sz="2600" b="1" dirty="0" err="1">
                <a:solidFill>
                  <a:srgbClr val="3366CC"/>
                </a:solidFill>
                <a:latin typeface="+mn-lt"/>
              </a:rPr>
              <a:t>i</a:t>
            </a:r>
            <a:r>
              <a:rPr kumimoji="1" lang="en-US" altLang="zh-CN" sz="2600" b="1" dirty="0">
                <a:solidFill>
                  <a:srgbClr val="3366CC"/>
                </a:solidFill>
                <a:latin typeface="+mn-lt"/>
              </a:rPr>
              <a:t>=2</a:t>
            </a:r>
          </a:p>
        </p:txBody>
      </p:sp>
      <p:sp>
        <p:nvSpPr>
          <p:cNvPr id="151611" name="Line 59"/>
          <p:cNvSpPr>
            <a:spLocks noChangeShapeType="1"/>
          </p:cNvSpPr>
          <p:nvPr/>
        </p:nvSpPr>
        <p:spPr bwMode="auto">
          <a:xfrm>
            <a:off x="8153400" y="4264310"/>
            <a:ext cx="0" cy="514350"/>
          </a:xfrm>
          <a:prstGeom prst="line">
            <a:avLst/>
          </a:prstGeom>
          <a:noFill/>
          <a:ln w="19050">
            <a:solidFill>
              <a:schemeClr val="tx1"/>
            </a:solidFill>
            <a:prstDash val="dash"/>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12" name="Rectangle 60"/>
          <p:cNvSpPr>
            <a:spLocks noChangeArrowheads="1"/>
          </p:cNvSpPr>
          <p:nvPr/>
        </p:nvSpPr>
        <p:spPr bwMode="auto">
          <a:xfrm>
            <a:off x="7696200" y="4747484"/>
            <a:ext cx="9144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defRPr/>
            </a:pPr>
            <a:r>
              <a:rPr kumimoji="1" lang="en-US" altLang="zh-CN" sz="2600" dirty="0">
                <a:latin typeface="+mn-lt"/>
                <a:sym typeface="Symbol" pitchFamily="18" charset="2"/>
              </a:rPr>
              <a:t></a:t>
            </a:r>
            <a:endParaRPr kumimoji="1" lang="en-US" altLang="zh-CN" sz="2600" dirty="0">
              <a:latin typeface="+mn-lt"/>
            </a:endParaRPr>
          </a:p>
        </p:txBody>
      </p:sp>
      <p:sp>
        <p:nvSpPr>
          <p:cNvPr id="151613" name="Line 61"/>
          <p:cNvSpPr>
            <a:spLocks noChangeShapeType="1"/>
          </p:cNvSpPr>
          <p:nvPr/>
        </p:nvSpPr>
        <p:spPr bwMode="auto">
          <a:xfrm flipV="1">
            <a:off x="8534400" y="3694829"/>
            <a:ext cx="0" cy="259773"/>
          </a:xfrm>
          <a:prstGeom prst="line">
            <a:avLst/>
          </a:prstGeom>
          <a:noFill/>
          <a:ln w="1905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14" name="Rectangle 62"/>
          <p:cNvSpPr>
            <a:spLocks noChangeArrowheads="1"/>
          </p:cNvSpPr>
          <p:nvPr/>
        </p:nvSpPr>
        <p:spPr bwMode="auto">
          <a:xfrm>
            <a:off x="7924800" y="331470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b="1" dirty="0">
                <a:solidFill>
                  <a:srgbClr val="FF3300"/>
                </a:solidFill>
                <a:latin typeface="+mn-lt"/>
              </a:rPr>
              <a:t>E</a:t>
            </a:r>
            <a:r>
              <a:rPr lang="en-US" altLang="zh-CN" sz="2600" dirty="0">
                <a:solidFill>
                  <a:srgbClr val="FF0000"/>
                </a:solidFill>
              </a:rPr>
              <a:t>’</a:t>
            </a:r>
            <a:r>
              <a:rPr kumimoji="1" lang="en-US" altLang="zh-CN" sz="2600" b="1" dirty="0">
                <a:solidFill>
                  <a:srgbClr val="FF3300"/>
                </a:solidFill>
                <a:latin typeface="+mn-lt"/>
              </a:rPr>
              <a:t>.s=2</a:t>
            </a:r>
          </a:p>
        </p:txBody>
      </p:sp>
      <p:sp>
        <p:nvSpPr>
          <p:cNvPr id="151615" name="Line 63"/>
          <p:cNvSpPr>
            <a:spLocks noChangeShapeType="1"/>
          </p:cNvSpPr>
          <p:nvPr/>
        </p:nvSpPr>
        <p:spPr bwMode="auto">
          <a:xfrm flipH="1" flipV="1">
            <a:off x="7037784" y="3184758"/>
            <a:ext cx="990600" cy="342900"/>
          </a:xfrm>
          <a:prstGeom prst="line">
            <a:avLst/>
          </a:prstGeom>
          <a:noFill/>
          <a:ln w="1905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16" name="Rectangle 64"/>
          <p:cNvSpPr>
            <a:spLocks noChangeArrowheads="1"/>
          </p:cNvSpPr>
          <p:nvPr/>
        </p:nvSpPr>
        <p:spPr bwMode="auto">
          <a:xfrm>
            <a:off x="6506980" y="2780418"/>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a:solidFill>
                  <a:srgbClr val="FF3300"/>
                </a:solidFill>
                <a:latin typeface="+mn-lt"/>
              </a:rPr>
              <a:t>E</a:t>
            </a:r>
            <a:r>
              <a:rPr lang="en-US" altLang="zh-CN" sz="2600" dirty="0">
                <a:solidFill>
                  <a:srgbClr val="FF0000"/>
                </a:solidFill>
              </a:rPr>
              <a:t>’</a:t>
            </a:r>
            <a:r>
              <a:rPr kumimoji="1" lang="en-US" altLang="zh-CN" sz="2600" dirty="0">
                <a:solidFill>
                  <a:srgbClr val="FF3300"/>
                </a:solidFill>
                <a:latin typeface="+mn-lt"/>
              </a:rPr>
              <a:t>.s=2</a:t>
            </a:r>
          </a:p>
        </p:txBody>
      </p:sp>
      <p:sp>
        <p:nvSpPr>
          <p:cNvPr id="151617" name="Line 65"/>
          <p:cNvSpPr>
            <a:spLocks noChangeShapeType="1"/>
          </p:cNvSpPr>
          <p:nvPr/>
        </p:nvSpPr>
        <p:spPr bwMode="auto">
          <a:xfrm flipH="1" flipV="1">
            <a:off x="4876800" y="2211710"/>
            <a:ext cx="1676400" cy="628650"/>
          </a:xfrm>
          <a:prstGeom prst="line">
            <a:avLst/>
          </a:prstGeom>
          <a:noFill/>
          <a:ln w="1905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18" name="Rectangle 66"/>
          <p:cNvSpPr>
            <a:spLocks noChangeArrowheads="1"/>
          </p:cNvSpPr>
          <p:nvPr/>
        </p:nvSpPr>
        <p:spPr bwMode="auto">
          <a:xfrm>
            <a:off x="4191000" y="188595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a:solidFill>
                  <a:srgbClr val="FF3300"/>
                </a:solidFill>
                <a:latin typeface="+mn-lt"/>
              </a:rPr>
              <a:t>E</a:t>
            </a:r>
            <a:r>
              <a:rPr lang="en-US" altLang="zh-CN" sz="2600" dirty="0">
                <a:solidFill>
                  <a:srgbClr val="FF0000"/>
                </a:solidFill>
              </a:rPr>
              <a:t>’</a:t>
            </a:r>
            <a:r>
              <a:rPr kumimoji="1" lang="en-US" altLang="zh-CN" sz="2600" dirty="0">
                <a:solidFill>
                  <a:srgbClr val="FF3300"/>
                </a:solidFill>
                <a:latin typeface="+mn-lt"/>
              </a:rPr>
              <a:t>.s=2</a:t>
            </a:r>
          </a:p>
        </p:txBody>
      </p:sp>
      <p:sp>
        <p:nvSpPr>
          <p:cNvPr id="151619" name="Line 67"/>
          <p:cNvSpPr>
            <a:spLocks noChangeShapeType="1"/>
          </p:cNvSpPr>
          <p:nvPr/>
        </p:nvSpPr>
        <p:spPr bwMode="auto">
          <a:xfrm flipH="1" flipV="1">
            <a:off x="3043238" y="1409352"/>
            <a:ext cx="1223962" cy="590897"/>
          </a:xfrm>
          <a:prstGeom prst="line">
            <a:avLst/>
          </a:prstGeom>
          <a:noFill/>
          <a:ln w="1905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51620" name="Rectangle 68"/>
          <p:cNvSpPr>
            <a:spLocks noChangeArrowheads="1"/>
          </p:cNvSpPr>
          <p:nvPr/>
        </p:nvSpPr>
        <p:spPr bwMode="auto">
          <a:xfrm>
            <a:off x="2209800" y="1085850"/>
            <a:ext cx="14478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anchor="ct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buFontTx/>
              <a:buNone/>
              <a:defRPr/>
            </a:pPr>
            <a:r>
              <a:rPr kumimoji="1" lang="en-US" altLang="zh-CN" sz="2600" dirty="0" err="1">
                <a:solidFill>
                  <a:srgbClr val="FF3300"/>
                </a:solidFill>
                <a:latin typeface="+mn-lt"/>
              </a:rPr>
              <a:t>E.val</a:t>
            </a:r>
            <a:r>
              <a:rPr kumimoji="1" lang="en-US" altLang="zh-CN" sz="2600" dirty="0">
                <a:solidFill>
                  <a:srgbClr val="FF3300"/>
                </a:solidFill>
                <a:latin typeface="+mn-lt"/>
              </a:rPr>
              <a:t>=2</a:t>
            </a:r>
          </a:p>
        </p:txBody>
      </p:sp>
      <p:sp>
        <p:nvSpPr>
          <p:cNvPr id="4" name="Rectangle 69">
            <a:extLst>
              <a:ext uri="{FF2B5EF4-FFF2-40B4-BE49-F238E27FC236}">
                <a16:creationId xmlns:a16="http://schemas.microsoft.com/office/drawing/2014/main" id="{D1914BED-B5E7-2DDE-F939-BFE09321260C}"/>
              </a:ext>
            </a:extLst>
          </p:cNvPr>
          <p:cNvSpPr txBox="1">
            <a:spLocks noChangeArrowheads="1"/>
          </p:cNvSpPr>
          <p:nvPr/>
        </p:nvSpPr>
        <p:spPr>
          <a:xfrm>
            <a:off x="5724526" y="-1"/>
            <a:ext cx="3419475" cy="2000251"/>
          </a:xfrm>
          <a:prstGeom prst="rect">
            <a:avLst/>
          </a:prstGeom>
          <a:solidFill>
            <a:srgbClr val="FFFF99"/>
          </a:solidFill>
          <a:ln w="15875">
            <a:solidFill>
              <a:srgbClr val="FF0000"/>
            </a:solidFill>
            <a:miter lim="800000"/>
            <a:headEnd/>
            <a:tailEnd/>
          </a:ln>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spcBef>
                <a:spcPct val="0"/>
              </a:spcBef>
              <a:buFont typeface="Wingdings" pitchFamily="2" charset="2"/>
              <a:buNone/>
              <a:defRPr/>
            </a:pPr>
            <a:r>
              <a:rPr lang="en-US" altLang="zh-CN" sz="1600">
                <a:latin typeface="+mn-lt"/>
              </a:rPr>
              <a:t>E</a:t>
            </a:r>
            <a:r>
              <a:rPr lang="en-US" altLang="zh-CN" sz="1600">
                <a:latin typeface="+mn-lt"/>
                <a:sym typeface="Wingdings" panose="05000000000000000000" pitchFamily="2" charset="2"/>
              </a:rPr>
              <a:t></a:t>
            </a:r>
            <a:r>
              <a:rPr lang="en-US" altLang="zh-CN" sz="1600">
                <a:latin typeface="+mn-lt"/>
              </a:rPr>
              <a:t>T </a:t>
            </a:r>
            <a:r>
              <a:rPr lang="en-US" altLang="zh-CN" sz="1600">
                <a:solidFill>
                  <a:srgbClr val="0000FF"/>
                </a:solidFill>
                <a:latin typeface="+mn-lt"/>
              </a:rPr>
              <a:t>{E'.i:=T.val} </a:t>
            </a:r>
            <a:r>
              <a:rPr lang="en-US" altLang="zh-CN" sz="1600">
                <a:latin typeface="+mn-lt"/>
              </a:rPr>
              <a:t>E</a:t>
            </a:r>
            <a:r>
              <a:rPr lang="en-US" altLang="zh-CN" sz="1600">
                <a:solidFill>
                  <a:srgbClr val="0000FF"/>
                </a:solidFill>
                <a:latin typeface="+mn-lt"/>
              </a:rPr>
              <a:t>'</a:t>
            </a:r>
            <a:r>
              <a:rPr lang="en-US" altLang="zh-CN" sz="1600">
                <a:latin typeface="+mn-lt"/>
              </a:rPr>
              <a:t> </a:t>
            </a:r>
            <a:r>
              <a:rPr lang="en-US" altLang="zh-CN" sz="1600">
                <a:solidFill>
                  <a:srgbClr val="0000FF"/>
                </a:solidFill>
                <a:latin typeface="+mn-lt"/>
              </a:rPr>
              <a:t>{ E.val:=E'.s}</a:t>
            </a:r>
          </a:p>
          <a:p>
            <a:pPr>
              <a:spcBef>
                <a:spcPct val="0"/>
              </a:spcBef>
              <a:buFont typeface="Wingdings" pitchFamily="2" charset="2"/>
              <a:buNone/>
              <a:defRPr/>
            </a:pPr>
            <a:r>
              <a:rPr lang="en-US" altLang="zh-CN" sz="1600">
                <a:latin typeface="+mn-lt"/>
              </a:rPr>
              <a:t>E' </a:t>
            </a:r>
            <a:r>
              <a:rPr lang="en-US" altLang="zh-CN" sz="1600">
                <a:latin typeface="+mn-lt"/>
                <a:sym typeface="Wingdings" panose="05000000000000000000" pitchFamily="2" charset="2"/>
              </a:rPr>
              <a:t></a:t>
            </a:r>
            <a:r>
              <a:rPr lang="en-US" altLang="zh-CN" sz="1600">
                <a:latin typeface="+mn-lt"/>
              </a:rPr>
              <a:t>+T</a:t>
            </a:r>
            <a:r>
              <a:rPr lang="en-US" altLang="zh-CN" sz="1600">
                <a:solidFill>
                  <a:srgbClr val="0000FF"/>
                </a:solidFill>
                <a:latin typeface="+mn-lt"/>
              </a:rPr>
              <a:t> {E'</a:t>
            </a:r>
            <a:r>
              <a:rPr lang="en-US" altLang="zh-CN" sz="1600" baseline="-25000">
                <a:solidFill>
                  <a:srgbClr val="0000FF"/>
                </a:solidFill>
                <a:latin typeface="+mn-lt"/>
              </a:rPr>
              <a:t>1</a:t>
            </a:r>
            <a:r>
              <a:rPr lang="en-US" altLang="zh-CN" sz="1600">
                <a:solidFill>
                  <a:srgbClr val="0000FF"/>
                </a:solidFill>
                <a:latin typeface="+mn-lt"/>
              </a:rPr>
              <a:t>.i:=E'.i+T.val }</a:t>
            </a:r>
          </a:p>
          <a:p>
            <a:pPr>
              <a:spcBef>
                <a:spcPct val="0"/>
              </a:spcBef>
              <a:buFont typeface="Wingdings" pitchFamily="2" charset="2"/>
              <a:buNone/>
              <a:defRPr/>
            </a:pPr>
            <a:r>
              <a:rPr lang="en-US" altLang="zh-CN" sz="1600">
                <a:latin typeface="+mn-lt"/>
              </a:rPr>
              <a:t>	   E'</a:t>
            </a:r>
            <a:r>
              <a:rPr lang="en-US" altLang="zh-CN" sz="1600" baseline="-25000">
                <a:latin typeface="+mn-lt"/>
              </a:rPr>
              <a:t>1  </a:t>
            </a:r>
            <a:r>
              <a:rPr lang="en-US" altLang="zh-CN" sz="1600">
                <a:solidFill>
                  <a:srgbClr val="0000FF"/>
                </a:solidFill>
                <a:latin typeface="+mn-lt"/>
              </a:rPr>
              <a:t>{E'.s:= E'</a:t>
            </a:r>
            <a:r>
              <a:rPr lang="en-US" altLang="zh-CN" sz="1600" baseline="-25000">
                <a:solidFill>
                  <a:srgbClr val="0000FF"/>
                </a:solidFill>
                <a:latin typeface="+mn-lt"/>
              </a:rPr>
              <a:t>1</a:t>
            </a:r>
            <a:r>
              <a:rPr lang="en-US" altLang="zh-CN" sz="1600">
                <a:solidFill>
                  <a:srgbClr val="0000FF"/>
                </a:solidFill>
                <a:latin typeface="+mn-lt"/>
              </a:rPr>
              <a:t>.s }</a:t>
            </a:r>
          </a:p>
          <a:p>
            <a:pPr>
              <a:spcBef>
                <a:spcPct val="0"/>
              </a:spcBef>
              <a:buFont typeface="Wingdings" pitchFamily="2" charset="2"/>
              <a:buNone/>
              <a:defRPr/>
            </a:pPr>
            <a:r>
              <a:rPr lang="en-US" altLang="zh-CN" sz="1600">
                <a:latin typeface="+mn-lt"/>
              </a:rPr>
              <a:t>E' </a:t>
            </a:r>
            <a:r>
              <a:rPr lang="en-US" altLang="zh-CN" sz="1600">
                <a:latin typeface="+mn-lt"/>
                <a:sym typeface="Wingdings" panose="05000000000000000000" pitchFamily="2" charset="2"/>
              </a:rPr>
              <a:t></a:t>
            </a:r>
            <a:r>
              <a:rPr lang="en-US" altLang="zh-CN" sz="1600">
                <a:latin typeface="+mn-lt"/>
              </a:rPr>
              <a:t>-T </a:t>
            </a:r>
            <a:r>
              <a:rPr lang="en-US" altLang="zh-CN" sz="1600">
                <a:solidFill>
                  <a:srgbClr val="0000FF"/>
                </a:solidFill>
                <a:latin typeface="+mn-lt"/>
              </a:rPr>
              <a:t>{ E'</a:t>
            </a:r>
            <a:r>
              <a:rPr lang="en-US" altLang="zh-CN" sz="1600" baseline="-25000">
                <a:solidFill>
                  <a:srgbClr val="0000FF"/>
                </a:solidFill>
                <a:latin typeface="+mn-lt"/>
              </a:rPr>
              <a:t>1</a:t>
            </a:r>
            <a:r>
              <a:rPr lang="en-US" altLang="zh-CN" sz="1600">
                <a:solidFill>
                  <a:srgbClr val="0000FF"/>
                </a:solidFill>
                <a:latin typeface="+mn-lt"/>
              </a:rPr>
              <a:t>.i:=E'.i-T.val }</a:t>
            </a:r>
          </a:p>
          <a:p>
            <a:pPr>
              <a:spcBef>
                <a:spcPct val="0"/>
              </a:spcBef>
              <a:buFont typeface="Wingdings" pitchFamily="2" charset="2"/>
              <a:buNone/>
              <a:defRPr/>
            </a:pPr>
            <a:r>
              <a:rPr lang="en-US" altLang="zh-CN" sz="1600">
                <a:latin typeface="+mn-lt"/>
              </a:rPr>
              <a:t>	   E'</a:t>
            </a:r>
            <a:r>
              <a:rPr lang="en-US" altLang="zh-CN" sz="1600" baseline="-25000">
                <a:latin typeface="+mn-lt"/>
              </a:rPr>
              <a:t>1</a:t>
            </a:r>
            <a:r>
              <a:rPr lang="en-US" altLang="zh-CN" sz="1600">
                <a:solidFill>
                  <a:srgbClr val="0000FF"/>
                </a:solidFill>
                <a:latin typeface="+mn-lt"/>
              </a:rPr>
              <a:t> { E'.s:= E'</a:t>
            </a:r>
            <a:r>
              <a:rPr lang="en-US" altLang="zh-CN" sz="1600" baseline="-25000">
                <a:solidFill>
                  <a:srgbClr val="0000FF"/>
                </a:solidFill>
                <a:latin typeface="+mn-lt"/>
              </a:rPr>
              <a:t>1</a:t>
            </a:r>
            <a:r>
              <a:rPr lang="en-US" altLang="zh-CN" sz="1600">
                <a:solidFill>
                  <a:srgbClr val="0000FF"/>
                </a:solidFill>
                <a:latin typeface="+mn-lt"/>
              </a:rPr>
              <a:t>.s }</a:t>
            </a:r>
          </a:p>
          <a:p>
            <a:pPr>
              <a:spcBef>
                <a:spcPct val="0"/>
              </a:spcBef>
              <a:buFont typeface="Wingdings" pitchFamily="2" charset="2"/>
              <a:buNone/>
              <a:defRPr/>
            </a:pPr>
            <a:r>
              <a:rPr lang="en-US" altLang="zh-CN" sz="1600">
                <a:latin typeface="+mn-lt"/>
              </a:rPr>
              <a:t>E' </a:t>
            </a:r>
            <a:r>
              <a:rPr lang="en-US" altLang="zh-CN" sz="1600">
                <a:latin typeface="+mn-lt"/>
                <a:sym typeface="Wingdings" panose="05000000000000000000" pitchFamily="2" charset="2"/>
              </a:rPr>
              <a:t></a:t>
            </a:r>
            <a:r>
              <a:rPr lang="en-US" altLang="zh-CN" sz="1600">
                <a:latin typeface="+mn-lt"/>
              </a:rPr>
              <a:t> </a:t>
            </a:r>
            <a:r>
              <a:rPr lang="en-US" altLang="zh-CN" sz="1600">
                <a:latin typeface="+mn-lt"/>
                <a:sym typeface="Symbol" pitchFamily="18" charset="2"/>
              </a:rPr>
              <a:t> </a:t>
            </a:r>
            <a:r>
              <a:rPr lang="en-US" altLang="zh-CN" sz="1600">
                <a:solidFill>
                  <a:srgbClr val="0000FF"/>
                </a:solidFill>
                <a:latin typeface="+mn-lt"/>
              </a:rPr>
              <a:t> { E'.s:=E'.i }</a:t>
            </a:r>
          </a:p>
          <a:p>
            <a:pPr>
              <a:spcBef>
                <a:spcPct val="0"/>
              </a:spcBef>
              <a:buFont typeface="Wingdings" pitchFamily="2" charset="2"/>
              <a:buNone/>
              <a:defRPr/>
            </a:pPr>
            <a:r>
              <a:rPr lang="en-US" altLang="zh-CN" sz="1600">
                <a:latin typeface="+mn-lt"/>
              </a:rPr>
              <a:t>T </a:t>
            </a:r>
            <a:r>
              <a:rPr lang="en-US" altLang="zh-CN" sz="1600">
                <a:latin typeface="+mn-lt"/>
                <a:sym typeface="Wingdings" panose="05000000000000000000" pitchFamily="2" charset="2"/>
              </a:rPr>
              <a:t></a:t>
            </a:r>
            <a:r>
              <a:rPr lang="en-US" altLang="zh-CN" sz="1600">
                <a:latin typeface="+mn-lt"/>
              </a:rPr>
              <a:t>( E ) </a:t>
            </a:r>
            <a:r>
              <a:rPr lang="en-US" altLang="zh-CN" sz="1600">
                <a:solidFill>
                  <a:srgbClr val="0000FF"/>
                </a:solidFill>
                <a:latin typeface="+mn-lt"/>
              </a:rPr>
              <a:t>{ T.val:=E.val }</a:t>
            </a:r>
          </a:p>
          <a:p>
            <a:pPr>
              <a:spcBef>
                <a:spcPct val="0"/>
              </a:spcBef>
              <a:buFont typeface="Wingdings" pitchFamily="2" charset="2"/>
              <a:buNone/>
              <a:defRPr/>
            </a:pPr>
            <a:r>
              <a:rPr lang="en-US" altLang="zh-CN" sz="1600">
                <a:latin typeface="+mn-lt"/>
              </a:rPr>
              <a:t>T </a:t>
            </a:r>
            <a:r>
              <a:rPr lang="en-US" altLang="zh-CN" sz="1600">
                <a:latin typeface="+mn-lt"/>
                <a:sym typeface="Wingdings" panose="05000000000000000000" pitchFamily="2" charset="2"/>
              </a:rPr>
              <a:t>i</a:t>
            </a:r>
            <a:r>
              <a:rPr lang="en-US" altLang="zh-CN" sz="1600">
                <a:latin typeface="+mn-lt"/>
              </a:rPr>
              <a:t>  </a:t>
            </a:r>
            <a:r>
              <a:rPr lang="en-US" altLang="zh-CN" sz="1600">
                <a:solidFill>
                  <a:srgbClr val="0000FF"/>
                </a:solidFill>
                <a:latin typeface="+mn-lt"/>
              </a:rPr>
              <a:t>{T.val:=i.lexval }</a:t>
            </a:r>
            <a:endParaRPr lang="en-US" altLang="zh-CN" sz="1600" dirty="0">
              <a:solidFill>
                <a:srgbClr val="0000FF"/>
              </a:solidFill>
              <a:latin typeface="+mn-lt"/>
            </a:endParaRPr>
          </a:p>
        </p:txBody>
      </p:sp>
    </p:spTree>
    <p:extLst>
      <p:ext uri="{BB962C8B-B14F-4D97-AF65-F5344CB8AC3E}">
        <p14:creationId xmlns:p14="http://schemas.microsoft.com/office/powerpoint/2010/main" val="57549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1559"/>
                                        </p:tgtEl>
                                        <p:attrNameLst>
                                          <p:attrName>style.visibility</p:attrName>
                                        </p:attrNameLst>
                                      </p:cBhvr>
                                      <p:to>
                                        <p:strVal val="visible"/>
                                      </p:to>
                                    </p:set>
                                    <p:animEffect transition="in" filter="wipe(up)">
                                      <p:cBhvr>
                                        <p:cTn id="7" dur="500"/>
                                        <p:tgtEl>
                                          <p:spTgt spid="1515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51561"/>
                                        </p:tgtEl>
                                        <p:attrNameLst>
                                          <p:attrName>style.visibility</p:attrName>
                                        </p:attrNameLst>
                                      </p:cBhvr>
                                      <p:to>
                                        <p:strVal val="visible"/>
                                      </p:to>
                                    </p:set>
                                    <p:animEffect transition="in" filter="wipe(up)">
                                      <p:cBhvr>
                                        <p:cTn id="12" dur="500"/>
                                        <p:tgtEl>
                                          <p:spTgt spid="151561"/>
                                        </p:tgtEl>
                                      </p:cBhvr>
                                    </p:animEffect>
                                  </p:childTnLst>
                                </p:cTn>
                              </p:par>
                              <p:par>
                                <p:cTn id="13" presetID="22" presetClass="entr" presetSubtype="1" fill="hold" nodeType="withEffect">
                                  <p:stCondLst>
                                    <p:cond delay="0"/>
                                  </p:stCondLst>
                                  <p:childTnLst>
                                    <p:set>
                                      <p:cBhvr>
                                        <p:cTn id="14" dur="1" fill="hold">
                                          <p:stCondLst>
                                            <p:cond delay="0"/>
                                          </p:stCondLst>
                                        </p:cTn>
                                        <p:tgtEl>
                                          <p:spTgt spid="151562"/>
                                        </p:tgtEl>
                                        <p:attrNameLst>
                                          <p:attrName>style.visibility</p:attrName>
                                        </p:attrNameLst>
                                      </p:cBhvr>
                                      <p:to>
                                        <p:strVal val="visible"/>
                                      </p:to>
                                    </p:set>
                                    <p:animEffect transition="in" filter="wipe(up)">
                                      <p:cBhvr>
                                        <p:cTn id="15" dur="500"/>
                                        <p:tgtEl>
                                          <p:spTgt spid="15156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51563"/>
                                        </p:tgtEl>
                                        <p:attrNameLst>
                                          <p:attrName>style.visibility</p:attrName>
                                        </p:attrNameLst>
                                      </p:cBhvr>
                                      <p:to>
                                        <p:strVal val="visible"/>
                                      </p:to>
                                    </p:set>
                                    <p:animEffect transition="in" filter="wipe(up)">
                                      <p:cBhvr>
                                        <p:cTn id="20" dur="500"/>
                                        <p:tgtEl>
                                          <p:spTgt spid="151563"/>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151564"/>
                                        </p:tgtEl>
                                        <p:attrNameLst>
                                          <p:attrName>style.visibility</p:attrName>
                                        </p:attrNameLst>
                                      </p:cBhvr>
                                      <p:to>
                                        <p:strVal val="visible"/>
                                      </p:to>
                                    </p:set>
                                    <p:animEffect transition="in" filter="wipe(up)">
                                      <p:cBhvr>
                                        <p:cTn id="23" dur="500"/>
                                        <p:tgtEl>
                                          <p:spTgt spid="15156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151565"/>
                                        </p:tgtEl>
                                        <p:attrNameLst>
                                          <p:attrName>style.visibility</p:attrName>
                                        </p:attrNameLst>
                                      </p:cBhvr>
                                      <p:to>
                                        <p:strVal val="visible"/>
                                      </p:to>
                                    </p:set>
                                    <p:animEffect transition="in" filter="wipe(up)">
                                      <p:cBhvr>
                                        <p:cTn id="28" dur="500"/>
                                        <p:tgtEl>
                                          <p:spTgt spid="15156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51566"/>
                                        </p:tgtEl>
                                        <p:attrNameLst>
                                          <p:attrName>style.visibility</p:attrName>
                                        </p:attrNameLst>
                                      </p:cBhvr>
                                      <p:to>
                                        <p:strVal val="visible"/>
                                      </p:to>
                                    </p:set>
                                    <p:animEffect transition="in" filter="wipe(up)">
                                      <p:cBhvr>
                                        <p:cTn id="33" dur="500"/>
                                        <p:tgtEl>
                                          <p:spTgt spid="15156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51567"/>
                                        </p:tgtEl>
                                        <p:attrNameLst>
                                          <p:attrName>style.visibility</p:attrName>
                                        </p:attrNameLst>
                                      </p:cBhvr>
                                      <p:to>
                                        <p:strVal val="visible"/>
                                      </p:to>
                                    </p:set>
                                    <p:animEffect transition="in" filter="wipe(up)">
                                      <p:cBhvr>
                                        <p:cTn id="38" dur="500"/>
                                        <p:tgtEl>
                                          <p:spTgt spid="15156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nodeType="clickEffect">
                                  <p:stCondLst>
                                    <p:cond delay="0"/>
                                  </p:stCondLst>
                                  <p:childTnLst>
                                    <p:set>
                                      <p:cBhvr>
                                        <p:cTn id="42" dur="1" fill="hold">
                                          <p:stCondLst>
                                            <p:cond delay="0"/>
                                          </p:stCondLst>
                                        </p:cTn>
                                        <p:tgtEl>
                                          <p:spTgt spid="151568"/>
                                        </p:tgtEl>
                                        <p:attrNameLst>
                                          <p:attrName>style.visibility</p:attrName>
                                        </p:attrNameLst>
                                      </p:cBhvr>
                                      <p:to>
                                        <p:strVal val="visible"/>
                                      </p:to>
                                    </p:set>
                                    <p:animEffect transition="in" filter="wipe(down)">
                                      <p:cBhvr>
                                        <p:cTn id="43" dur="500"/>
                                        <p:tgtEl>
                                          <p:spTgt spid="15156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151569"/>
                                        </p:tgtEl>
                                        <p:attrNameLst>
                                          <p:attrName>style.visibility</p:attrName>
                                        </p:attrNameLst>
                                      </p:cBhvr>
                                      <p:to>
                                        <p:strVal val="visible"/>
                                      </p:to>
                                    </p:set>
                                    <p:animEffect transition="in" filter="wipe(up)">
                                      <p:cBhvr>
                                        <p:cTn id="48" dur="500"/>
                                        <p:tgtEl>
                                          <p:spTgt spid="15156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51570"/>
                                        </p:tgtEl>
                                        <p:attrNameLst>
                                          <p:attrName>style.visibility</p:attrName>
                                        </p:attrNameLst>
                                      </p:cBhvr>
                                      <p:to>
                                        <p:strVal val="visible"/>
                                      </p:to>
                                    </p:set>
                                    <p:animEffect transition="in" filter="wipe(left)">
                                      <p:cBhvr>
                                        <p:cTn id="53" dur="500"/>
                                        <p:tgtEl>
                                          <p:spTgt spid="15157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151571"/>
                                        </p:tgtEl>
                                        <p:attrNameLst>
                                          <p:attrName>style.visibility</p:attrName>
                                        </p:attrNameLst>
                                      </p:cBhvr>
                                      <p:to>
                                        <p:strVal val="visible"/>
                                      </p:to>
                                    </p:set>
                                    <p:animEffect transition="in" filter="wipe(up)">
                                      <p:cBhvr>
                                        <p:cTn id="58" dur="500"/>
                                        <p:tgtEl>
                                          <p:spTgt spid="15157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1" fill="hold" nodeType="clickEffect">
                                  <p:stCondLst>
                                    <p:cond delay="0"/>
                                  </p:stCondLst>
                                  <p:childTnLst>
                                    <p:set>
                                      <p:cBhvr>
                                        <p:cTn id="62" dur="1" fill="hold">
                                          <p:stCondLst>
                                            <p:cond delay="0"/>
                                          </p:stCondLst>
                                        </p:cTn>
                                        <p:tgtEl>
                                          <p:spTgt spid="151572"/>
                                        </p:tgtEl>
                                        <p:attrNameLst>
                                          <p:attrName>style.visibility</p:attrName>
                                        </p:attrNameLst>
                                      </p:cBhvr>
                                      <p:to>
                                        <p:strVal val="visible"/>
                                      </p:to>
                                    </p:set>
                                    <p:animEffect transition="in" filter="wipe(up)">
                                      <p:cBhvr>
                                        <p:cTn id="63" dur="500"/>
                                        <p:tgtEl>
                                          <p:spTgt spid="151572"/>
                                        </p:tgtEl>
                                      </p:cBhvr>
                                    </p:animEffect>
                                  </p:childTnLst>
                                </p:cTn>
                              </p:par>
                              <p:par>
                                <p:cTn id="64" presetID="22" presetClass="entr" presetSubtype="1" fill="hold" nodeType="withEffect">
                                  <p:stCondLst>
                                    <p:cond delay="0"/>
                                  </p:stCondLst>
                                  <p:childTnLst>
                                    <p:set>
                                      <p:cBhvr>
                                        <p:cTn id="65" dur="1" fill="hold">
                                          <p:stCondLst>
                                            <p:cond delay="0"/>
                                          </p:stCondLst>
                                        </p:cTn>
                                        <p:tgtEl>
                                          <p:spTgt spid="151574"/>
                                        </p:tgtEl>
                                        <p:attrNameLst>
                                          <p:attrName>style.visibility</p:attrName>
                                        </p:attrNameLst>
                                      </p:cBhvr>
                                      <p:to>
                                        <p:strVal val="visible"/>
                                      </p:to>
                                    </p:set>
                                    <p:animEffect transition="in" filter="wipe(up)">
                                      <p:cBhvr>
                                        <p:cTn id="66" dur="500"/>
                                        <p:tgtEl>
                                          <p:spTgt spid="151574"/>
                                        </p:tgtEl>
                                      </p:cBhvr>
                                    </p:animEffect>
                                  </p:childTnLst>
                                </p:cTn>
                              </p:par>
                              <p:par>
                                <p:cTn id="67" presetID="22" presetClass="entr" presetSubtype="1" fill="hold" nodeType="withEffect">
                                  <p:stCondLst>
                                    <p:cond delay="0"/>
                                  </p:stCondLst>
                                  <p:childTnLst>
                                    <p:set>
                                      <p:cBhvr>
                                        <p:cTn id="68" dur="1" fill="hold">
                                          <p:stCondLst>
                                            <p:cond delay="0"/>
                                          </p:stCondLst>
                                        </p:cTn>
                                        <p:tgtEl>
                                          <p:spTgt spid="151586"/>
                                        </p:tgtEl>
                                        <p:attrNameLst>
                                          <p:attrName>style.visibility</p:attrName>
                                        </p:attrNameLst>
                                      </p:cBhvr>
                                      <p:to>
                                        <p:strVal val="visible"/>
                                      </p:to>
                                    </p:set>
                                    <p:animEffect transition="in" filter="wipe(up)">
                                      <p:cBhvr>
                                        <p:cTn id="69" dur="500"/>
                                        <p:tgtEl>
                                          <p:spTgt spid="151586"/>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151573"/>
                                        </p:tgtEl>
                                        <p:attrNameLst>
                                          <p:attrName>style.visibility</p:attrName>
                                        </p:attrNameLst>
                                      </p:cBhvr>
                                      <p:to>
                                        <p:strVal val="visible"/>
                                      </p:to>
                                    </p:set>
                                    <p:animEffect transition="in" filter="wipe(up)">
                                      <p:cBhvr>
                                        <p:cTn id="74" dur="500"/>
                                        <p:tgtEl>
                                          <p:spTgt spid="151573"/>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151576"/>
                                        </p:tgtEl>
                                        <p:attrNameLst>
                                          <p:attrName>style.visibility</p:attrName>
                                        </p:attrNameLst>
                                      </p:cBhvr>
                                      <p:to>
                                        <p:strVal val="visible"/>
                                      </p:to>
                                    </p:set>
                                    <p:animEffect transition="in" filter="wipe(up)">
                                      <p:cBhvr>
                                        <p:cTn id="77" dur="500"/>
                                        <p:tgtEl>
                                          <p:spTgt spid="151576"/>
                                        </p:tgtEl>
                                      </p:cBhvr>
                                    </p:animEffect>
                                  </p:childTnLst>
                                </p:cTn>
                              </p:par>
                              <p:par>
                                <p:cTn id="78" presetID="22" presetClass="entr" presetSubtype="1" fill="hold" grpId="0" nodeType="withEffect">
                                  <p:stCondLst>
                                    <p:cond delay="0"/>
                                  </p:stCondLst>
                                  <p:childTnLst>
                                    <p:set>
                                      <p:cBhvr>
                                        <p:cTn id="79" dur="1" fill="hold">
                                          <p:stCondLst>
                                            <p:cond delay="0"/>
                                          </p:stCondLst>
                                        </p:cTn>
                                        <p:tgtEl>
                                          <p:spTgt spid="151587"/>
                                        </p:tgtEl>
                                        <p:attrNameLst>
                                          <p:attrName>style.visibility</p:attrName>
                                        </p:attrNameLst>
                                      </p:cBhvr>
                                      <p:to>
                                        <p:strVal val="visible"/>
                                      </p:to>
                                    </p:set>
                                    <p:animEffect transition="in" filter="wipe(up)">
                                      <p:cBhvr>
                                        <p:cTn id="80" dur="500"/>
                                        <p:tgtEl>
                                          <p:spTgt spid="151587"/>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151589"/>
                                        </p:tgtEl>
                                        <p:attrNameLst>
                                          <p:attrName>style.visibility</p:attrName>
                                        </p:attrNameLst>
                                      </p:cBhvr>
                                      <p:to>
                                        <p:strVal val="visible"/>
                                      </p:to>
                                    </p:set>
                                    <p:animEffect transition="in" filter="wipe(up)">
                                      <p:cBhvr>
                                        <p:cTn id="85" dur="500"/>
                                        <p:tgtEl>
                                          <p:spTgt spid="15158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151590"/>
                                        </p:tgtEl>
                                        <p:attrNameLst>
                                          <p:attrName>style.visibility</p:attrName>
                                        </p:attrNameLst>
                                      </p:cBhvr>
                                      <p:to>
                                        <p:strVal val="visible"/>
                                      </p:to>
                                    </p:set>
                                    <p:animEffect transition="in" filter="wipe(up)">
                                      <p:cBhvr>
                                        <p:cTn id="90" dur="500"/>
                                        <p:tgtEl>
                                          <p:spTgt spid="15159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grpId="0" nodeType="clickEffect">
                                  <p:stCondLst>
                                    <p:cond delay="0"/>
                                  </p:stCondLst>
                                  <p:childTnLst>
                                    <p:set>
                                      <p:cBhvr>
                                        <p:cTn id="94" dur="1" fill="hold">
                                          <p:stCondLst>
                                            <p:cond delay="0"/>
                                          </p:stCondLst>
                                        </p:cTn>
                                        <p:tgtEl>
                                          <p:spTgt spid="151591"/>
                                        </p:tgtEl>
                                        <p:attrNameLst>
                                          <p:attrName>style.visibility</p:attrName>
                                        </p:attrNameLst>
                                      </p:cBhvr>
                                      <p:to>
                                        <p:strVal val="visible"/>
                                      </p:to>
                                    </p:set>
                                    <p:animEffect transition="in" filter="wipe(up)">
                                      <p:cBhvr>
                                        <p:cTn id="95" dur="500"/>
                                        <p:tgtEl>
                                          <p:spTgt spid="151591"/>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4" fill="hold" nodeType="clickEffect">
                                  <p:stCondLst>
                                    <p:cond delay="0"/>
                                  </p:stCondLst>
                                  <p:childTnLst>
                                    <p:set>
                                      <p:cBhvr>
                                        <p:cTn id="99" dur="1" fill="hold">
                                          <p:stCondLst>
                                            <p:cond delay="0"/>
                                          </p:stCondLst>
                                        </p:cTn>
                                        <p:tgtEl>
                                          <p:spTgt spid="151592"/>
                                        </p:tgtEl>
                                        <p:attrNameLst>
                                          <p:attrName>style.visibility</p:attrName>
                                        </p:attrNameLst>
                                      </p:cBhvr>
                                      <p:to>
                                        <p:strVal val="visible"/>
                                      </p:to>
                                    </p:set>
                                    <p:animEffect transition="in" filter="wipe(down)">
                                      <p:cBhvr>
                                        <p:cTn id="100" dur="500"/>
                                        <p:tgtEl>
                                          <p:spTgt spid="151592"/>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1" fill="hold" grpId="0" nodeType="clickEffect">
                                  <p:stCondLst>
                                    <p:cond delay="0"/>
                                  </p:stCondLst>
                                  <p:childTnLst>
                                    <p:set>
                                      <p:cBhvr>
                                        <p:cTn id="104" dur="1" fill="hold">
                                          <p:stCondLst>
                                            <p:cond delay="0"/>
                                          </p:stCondLst>
                                        </p:cTn>
                                        <p:tgtEl>
                                          <p:spTgt spid="151593"/>
                                        </p:tgtEl>
                                        <p:attrNameLst>
                                          <p:attrName>style.visibility</p:attrName>
                                        </p:attrNameLst>
                                      </p:cBhvr>
                                      <p:to>
                                        <p:strVal val="visible"/>
                                      </p:to>
                                    </p:set>
                                    <p:animEffect transition="in" filter="wipe(up)">
                                      <p:cBhvr>
                                        <p:cTn id="105" dur="500"/>
                                        <p:tgtEl>
                                          <p:spTgt spid="151593"/>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1" fill="hold" nodeType="clickEffect">
                                  <p:stCondLst>
                                    <p:cond delay="0"/>
                                  </p:stCondLst>
                                  <p:childTnLst>
                                    <p:set>
                                      <p:cBhvr>
                                        <p:cTn id="109" dur="1" fill="hold">
                                          <p:stCondLst>
                                            <p:cond delay="0"/>
                                          </p:stCondLst>
                                        </p:cTn>
                                        <p:tgtEl>
                                          <p:spTgt spid="151594"/>
                                        </p:tgtEl>
                                        <p:attrNameLst>
                                          <p:attrName>style.visibility</p:attrName>
                                        </p:attrNameLst>
                                      </p:cBhvr>
                                      <p:to>
                                        <p:strVal val="visible"/>
                                      </p:to>
                                    </p:set>
                                    <p:animEffect transition="in" filter="wipe(up)">
                                      <p:cBhvr>
                                        <p:cTn id="110" dur="500"/>
                                        <p:tgtEl>
                                          <p:spTgt spid="151594"/>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151595"/>
                                        </p:tgtEl>
                                        <p:attrNameLst>
                                          <p:attrName>style.visibility</p:attrName>
                                        </p:attrNameLst>
                                      </p:cBhvr>
                                      <p:to>
                                        <p:strVal val="visible"/>
                                      </p:to>
                                    </p:set>
                                    <p:animEffect transition="in" filter="wipe(left)">
                                      <p:cBhvr>
                                        <p:cTn id="115" dur="500"/>
                                        <p:tgtEl>
                                          <p:spTgt spid="151595"/>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1" fill="hold" grpId="0" nodeType="clickEffect">
                                  <p:stCondLst>
                                    <p:cond delay="0"/>
                                  </p:stCondLst>
                                  <p:childTnLst>
                                    <p:set>
                                      <p:cBhvr>
                                        <p:cTn id="119" dur="1" fill="hold">
                                          <p:stCondLst>
                                            <p:cond delay="0"/>
                                          </p:stCondLst>
                                        </p:cTn>
                                        <p:tgtEl>
                                          <p:spTgt spid="151596"/>
                                        </p:tgtEl>
                                        <p:attrNameLst>
                                          <p:attrName>style.visibility</p:attrName>
                                        </p:attrNameLst>
                                      </p:cBhvr>
                                      <p:to>
                                        <p:strVal val="visible"/>
                                      </p:to>
                                    </p:set>
                                    <p:animEffect transition="in" filter="wipe(up)">
                                      <p:cBhvr>
                                        <p:cTn id="120" dur="500"/>
                                        <p:tgtEl>
                                          <p:spTgt spid="151596"/>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1" fill="hold" nodeType="clickEffect">
                                  <p:stCondLst>
                                    <p:cond delay="0"/>
                                  </p:stCondLst>
                                  <p:childTnLst>
                                    <p:set>
                                      <p:cBhvr>
                                        <p:cTn id="124" dur="1" fill="hold">
                                          <p:stCondLst>
                                            <p:cond delay="0"/>
                                          </p:stCondLst>
                                        </p:cTn>
                                        <p:tgtEl>
                                          <p:spTgt spid="151597"/>
                                        </p:tgtEl>
                                        <p:attrNameLst>
                                          <p:attrName>style.visibility</p:attrName>
                                        </p:attrNameLst>
                                      </p:cBhvr>
                                      <p:to>
                                        <p:strVal val="visible"/>
                                      </p:to>
                                    </p:set>
                                    <p:animEffect transition="in" filter="wipe(up)">
                                      <p:cBhvr>
                                        <p:cTn id="125" dur="500"/>
                                        <p:tgtEl>
                                          <p:spTgt spid="151597"/>
                                        </p:tgtEl>
                                      </p:cBhvr>
                                    </p:animEffect>
                                  </p:childTnLst>
                                </p:cTn>
                              </p:par>
                              <p:par>
                                <p:cTn id="126" presetID="22" presetClass="entr" presetSubtype="1" fill="hold" nodeType="withEffect">
                                  <p:stCondLst>
                                    <p:cond delay="0"/>
                                  </p:stCondLst>
                                  <p:childTnLst>
                                    <p:set>
                                      <p:cBhvr>
                                        <p:cTn id="127" dur="1" fill="hold">
                                          <p:stCondLst>
                                            <p:cond delay="0"/>
                                          </p:stCondLst>
                                        </p:cTn>
                                        <p:tgtEl>
                                          <p:spTgt spid="151599"/>
                                        </p:tgtEl>
                                        <p:attrNameLst>
                                          <p:attrName>style.visibility</p:attrName>
                                        </p:attrNameLst>
                                      </p:cBhvr>
                                      <p:to>
                                        <p:strVal val="visible"/>
                                      </p:to>
                                    </p:set>
                                    <p:animEffect transition="in" filter="wipe(up)">
                                      <p:cBhvr>
                                        <p:cTn id="128" dur="500"/>
                                        <p:tgtEl>
                                          <p:spTgt spid="151599"/>
                                        </p:tgtEl>
                                      </p:cBhvr>
                                    </p:animEffect>
                                  </p:childTnLst>
                                </p:cTn>
                              </p:par>
                              <p:par>
                                <p:cTn id="129" presetID="22" presetClass="entr" presetSubtype="1" fill="hold" nodeType="withEffect">
                                  <p:stCondLst>
                                    <p:cond delay="0"/>
                                  </p:stCondLst>
                                  <p:childTnLst>
                                    <p:set>
                                      <p:cBhvr>
                                        <p:cTn id="130" dur="1" fill="hold">
                                          <p:stCondLst>
                                            <p:cond delay="0"/>
                                          </p:stCondLst>
                                        </p:cTn>
                                        <p:tgtEl>
                                          <p:spTgt spid="151600"/>
                                        </p:tgtEl>
                                        <p:attrNameLst>
                                          <p:attrName>style.visibility</p:attrName>
                                        </p:attrNameLst>
                                      </p:cBhvr>
                                      <p:to>
                                        <p:strVal val="visible"/>
                                      </p:to>
                                    </p:set>
                                    <p:animEffect transition="in" filter="wipe(up)">
                                      <p:cBhvr>
                                        <p:cTn id="131" dur="500"/>
                                        <p:tgtEl>
                                          <p:spTgt spid="151600"/>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1" fill="hold" grpId="0" nodeType="clickEffect">
                                  <p:stCondLst>
                                    <p:cond delay="0"/>
                                  </p:stCondLst>
                                  <p:childTnLst>
                                    <p:set>
                                      <p:cBhvr>
                                        <p:cTn id="135" dur="1" fill="hold">
                                          <p:stCondLst>
                                            <p:cond delay="0"/>
                                          </p:stCondLst>
                                        </p:cTn>
                                        <p:tgtEl>
                                          <p:spTgt spid="151598"/>
                                        </p:tgtEl>
                                        <p:attrNameLst>
                                          <p:attrName>style.visibility</p:attrName>
                                        </p:attrNameLst>
                                      </p:cBhvr>
                                      <p:to>
                                        <p:strVal val="visible"/>
                                      </p:to>
                                    </p:set>
                                    <p:animEffect transition="in" filter="wipe(up)">
                                      <p:cBhvr>
                                        <p:cTn id="136" dur="500"/>
                                        <p:tgtEl>
                                          <p:spTgt spid="151598"/>
                                        </p:tgtEl>
                                      </p:cBhvr>
                                    </p:animEffect>
                                  </p:childTnLst>
                                </p:cTn>
                              </p:par>
                              <p:par>
                                <p:cTn id="137" presetID="22" presetClass="entr" presetSubtype="1" fill="hold" grpId="0" nodeType="withEffect">
                                  <p:stCondLst>
                                    <p:cond delay="0"/>
                                  </p:stCondLst>
                                  <p:childTnLst>
                                    <p:set>
                                      <p:cBhvr>
                                        <p:cTn id="138" dur="1" fill="hold">
                                          <p:stCondLst>
                                            <p:cond delay="0"/>
                                          </p:stCondLst>
                                        </p:cTn>
                                        <p:tgtEl>
                                          <p:spTgt spid="151601"/>
                                        </p:tgtEl>
                                        <p:attrNameLst>
                                          <p:attrName>style.visibility</p:attrName>
                                        </p:attrNameLst>
                                      </p:cBhvr>
                                      <p:to>
                                        <p:strVal val="visible"/>
                                      </p:to>
                                    </p:set>
                                    <p:animEffect transition="in" filter="wipe(up)">
                                      <p:cBhvr>
                                        <p:cTn id="139" dur="500"/>
                                        <p:tgtEl>
                                          <p:spTgt spid="151601"/>
                                        </p:tgtEl>
                                      </p:cBhvr>
                                    </p:animEffect>
                                  </p:childTnLst>
                                </p:cTn>
                              </p:par>
                              <p:par>
                                <p:cTn id="140" presetID="22" presetClass="entr" presetSubtype="1" fill="hold" grpId="0" nodeType="withEffect">
                                  <p:stCondLst>
                                    <p:cond delay="0"/>
                                  </p:stCondLst>
                                  <p:childTnLst>
                                    <p:set>
                                      <p:cBhvr>
                                        <p:cTn id="141" dur="1" fill="hold">
                                          <p:stCondLst>
                                            <p:cond delay="0"/>
                                          </p:stCondLst>
                                        </p:cTn>
                                        <p:tgtEl>
                                          <p:spTgt spid="151602"/>
                                        </p:tgtEl>
                                        <p:attrNameLst>
                                          <p:attrName>style.visibility</p:attrName>
                                        </p:attrNameLst>
                                      </p:cBhvr>
                                      <p:to>
                                        <p:strVal val="visible"/>
                                      </p:to>
                                    </p:set>
                                    <p:animEffect transition="in" filter="wipe(up)">
                                      <p:cBhvr>
                                        <p:cTn id="142" dur="500"/>
                                        <p:tgtEl>
                                          <p:spTgt spid="151602"/>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1" fill="hold" nodeType="clickEffect">
                                  <p:stCondLst>
                                    <p:cond delay="0"/>
                                  </p:stCondLst>
                                  <p:childTnLst>
                                    <p:set>
                                      <p:cBhvr>
                                        <p:cTn id="146" dur="1" fill="hold">
                                          <p:stCondLst>
                                            <p:cond delay="0"/>
                                          </p:stCondLst>
                                        </p:cTn>
                                        <p:tgtEl>
                                          <p:spTgt spid="151603"/>
                                        </p:tgtEl>
                                        <p:attrNameLst>
                                          <p:attrName>style.visibility</p:attrName>
                                        </p:attrNameLst>
                                      </p:cBhvr>
                                      <p:to>
                                        <p:strVal val="visible"/>
                                      </p:to>
                                    </p:set>
                                    <p:animEffect transition="in" filter="wipe(up)">
                                      <p:cBhvr>
                                        <p:cTn id="147" dur="500"/>
                                        <p:tgtEl>
                                          <p:spTgt spid="151603"/>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1" fill="hold" grpId="0" nodeType="clickEffect">
                                  <p:stCondLst>
                                    <p:cond delay="0"/>
                                  </p:stCondLst>
                                  <p:childTnLst>
                                    <p:set>
                                      <p:cBhvr>
                                        <p:cTn id="151" dur="1" fill="hold">
                                          <p:stCondLst>
                                            <p:cond delay="0"/>
                                          </p:stCondLst>
                                        </p:cTn>
                                        <p:tgtEl>
                                          <p:spTgt spid="151604"/>
                                        </p:tgtEl>
                                        <p:attrNameLst>
                                          <p:attrName>style.visibility</p:attrName>
                                        </p:attrNameLst>
                                      </p:cBhvr>
                                      <p:to>
                                        <p:strVal val="visible"/>
                                      </p:to>
                                    </p:set>
                                    <p:animEffect transition="in" filter="wipe(up)">
                                      <p:cBhvr>
                                        <p:cTn id="152" dur="500"/>
                                        <p:tgtEl>
                                          <p:spTgt spid="151604"/>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1" fill="hold" grpId="0" nodeType="clickEffect">
                                  <p:stCondLst>
                                    <p:cond delay="0"/>
                                  </p:stCondLst>
                                  <p:childTnLst>
                                    <p:set>
                                      <p:cBhvr>
                                        <p:cTn id="156" dur="1" fill="hold">
                                          <p:stCondLst>
                                            <p:cond delay="0"/>
                                          </p:stCondLst>
                                        </p:cTn>
                                        <p:tgtEl>
                                          <p:spTgt spid="151605"/>
                                        </p:tgtEl>
                                        <p:attrNameLst>
                                          <p:attrName>style.visibility</p:attrName>
                                        </p:attrNameLst>
                                      </p:cBhvr>
                                      <p:to>
                                        <p:strVal val="visible"/>
                                      </p:to>
                                    </p:set>
                                    <p:animEffect transition="in" filter="wipe(up)">
                                      <p:cBhvr>
                                        <p:cTn id="157" dur="500"/>
                                        <p:tgtEl>
                                          <p:spTgt spid="151605"/>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4" fill="hold" nodeType="clickEffect">
                                  <p:stCondLst>
                                    <p:cond delay="0"/>
                                  </p:stCondLst>
                                  <p:childTnLst>
                                    <p:set>
                                      <p:cBhvr>
                                        <p:cTn id="161" dur="1" fill="hold">
                                          <p:stCondLst>
                                            <p:cond delay="0"/>
                                          </p:stCondLst>
                                        </p:cTn>
                                        <p:tgtEl>
                                          <p:spTgt spid="151606"/>
                                        </p:tgtEl>
                                        <p:attrNameLst>
                                          <p:attrName>style.visibility</p:attrName>
                                        </p:attrNameLst>
                                      </p:cBhvr>
                                      <p:to>
                                        <p:strVal val="visible"/>
                                      </p:to>
                                    </p:set>
                                    <p:animEffect transition="in" filter="wipe(down)">
                                      <p:cBhvr>
                                        <p:cTn id="162" dur="500"/>
                                        <p:tgtEl>
                                          <p:spTgt spid="151606"/>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1" fill="hold" grpId="0" nodeType="clickEffect">
                                  <p:stCondLst>
                                    <p:cond delay="0"/>
                                  </p:stCondLst>
                                  <p:childTnLst>
                                    <p:set>
                                      <p:cBhvr>
                                        <p:cTn id="166" dur="1" fill="hold">
                                          <p:stCondLst>
                                            <p:cond delay="0"/>
                                          </p:stCondLst>
                                        </p:cTn>
                                        <p:tgtEl>
                                          <p:spTgt spid="151607"/>
                                        </p:tgtEl>
                                        <p:attrNameLst>
                                          <p:attrName>style.visibility</p:attrName>
                                        </p:attrNameLst>
                                      </p:cBhvr>
                                      <p:to>
                                        <p:strVal val="visible"/>
                                      </p:to>
                                    </p:set>
                                    <p:animEffect transition="in" filter="wipe(up)">
                                      <p:cBhvr>
                                        <p:cTn id="167" dur="500"/>
                                        <p:tgtEl>
                                          <p:spTgt spid="151607"/>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1" fill="hold" nodeType="clickEffect">
                                  <p:stCondLst>
                                    <p:cond delay="0"/>
                                  </p:stCondLst>
                                  <p:childTnLst>
                                    <p:set>
                                      <p:cBhvr>
                                        <p:cTn id="171" dur="1" fill="hold">
                                          <p:stCondLst>
                                            <p:cond delay="0"/>
                                          </p:stCondLst>
                                        </p:cTn>
                                        <p:tgtEl>
                                          <p:spTgt spid="151608"/>
                                        </p:tgtEl>
                                        <p:attrNameLst>
                                          <p:attrName>style.visibility</p:attrName>
                                        </p:attrNameLst>
                                      </p:cBhvr>
                                      <p:to>
                                        <p:strVal val="visible"/>
                                      </p:to>
                                    </p:set>
                                    <p:animEffect transition="in" filter="wipe(up)">
                                      <p:cBhvr>
                                        <p:cTn id="172" dur="500"/>
                                        <p:tgtEl>
                                          <p:spTgt spid="151608"/>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22" presetClass="entr" presetSubtype="8" fill="hold" nodeType="clickEffect">
                                  <p:stCondLst>
                                    <p:cond delay="0"/>
                                  </p:stCondLst>
                                  <p:childTnLst>
                                    <p:set>
                                      <p:cBhvr>
                                        <p:cTn id="176" dur="1" fill="hold">
                                          <p:stCondLst>
                                            <p:cond delay="0"/>
                                          </p:stCondLst>
                                        </p:cTn>
                                        <p:tgtEl>
                                          <p:spTgt spid="151609"/>
                                        </p:tgtEl>
                                        <p:attrNameLst>
                                          <p:attrName>style.visibility</p:attrName>
                                        </p:attrNameLst>
                                      </p:cBhvr>
                                      <p:to>
                                        <p:strVal val="visible"/>
                                      </p:to>
                                    </p:set>
                                    <p:animEffect transition="in" filter="wipe(left)">
                                      <p:cBhvr>
                                        <p:cTn id="177" dur="500"/>
                                        <p:tgtEl>
                                          <p:spTgt spid="151609"/>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2" presetClass="entr" presetSubtype="1" fill="hold" grpId="0" nodeType="clickEffect">
                                  <p:stCondLst>
                                    <p:cond delay="0"/>
                                  </p:stCondLst>
                                  <p:childTnLst>
                                    <p:set>
                                      <p:cBhvr>
                                        <p:cTn id="181" dur="1" fill="hold">
                                          <p:stCondLst>
                                            <p:cond delay="0"/>
                                          </p:stCondLst>
                                        </p:cTn>
                                        <p:tgtEl>
                                          <p:spTgt spid="151610"/>
                                        </p:tgtEl>
                                        <p:attrNameLst>
                                          <p:attrName>style.visibility</p:attrName>
                                        </p:attrNameLst>
                                      </p:cBhvr>
                                      <p:to>
                                        <p:strVal val="visible"/>
                                      </p:to>
                                    </p:set>
                                    <p:animEffect transition="in" filter="wipe(up)">
                                      <p:cBhvr>
                                        <p:cTn id="182" dur="500"/>
                                        <p:tgtEl>
                                          <p:spTgt spid="151610"/>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2" presetClass="entr" presetSubtype="1" fill="hold" nodeType="clickEffect">
                                  <p:stCondLst>
                                    <p:cond delay="0"/>
                                  </p:stCondLst>
                                  <p:childTnLst>
                                    <p:set>
                                      <p:cBhvr>
                                        <p:cTn id="186" dur="1" fill="hold">
                                          <p:stCondLst>
                                            <p:cond delay="0"/>
                                          </p:stCondLst>
                                        </p:cTn>
                                        <p:tgtEl>
                                          <p:spTgt spid="151611"/>
                                        </p:tgtEl>
                                        <p:attrNameLst>
                                          <p:attrName>style.visibility</p:attrName>
                                        </p:attrNameLst>
                                      </p:cBhvr>
                                      <p:to>
                                        <p:strVal val="visible"/>
                                      </p:to>
                                    </p:set>
                                    <p:animEffect transition="in" filter="wipe(up)">
                                      <p:cBhvr>
                                        <p:cTn id="187" dur="500"/>
                                        <p:tgtEl>
                                          <p:spTgt spid="151611"/>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2" presetClass="entr" presetSubtype="1" fill="hold" grpId="0" nodeType="clickEffect">
                                  <p:stCondLst>
                                    <p:cond delay="0"/>
                                  </p:stCondLst>
                                  <p:childTnLst>
                                    <p:set>
                                      <p:cBhvr>
                                        <p:cTn id="191" dur="1" fill="hold">
                                          <p:stCondLst>
                                            <p:cond delay="0"/>
                                          </p:stCondLst>
                                        </p:cTn>
                                        <p:tgtEl>
                                          <p:spTgt spid="151612"/>
                                        </p:tgtEl>
                                        <p:attrNameLst>
                                          <p:attrName>style.visibility</p:attrName>
                                        </p:attrNameLst>
                                      </p:cBhvr>
                                      <p:to>
                                        <p:strVal val="visible"/>
                                      </p:to>
                                    </p:set>
                                    <p:animEffect transition="in" filter="wipe(up)">
                                      <p:cBhvr>
                                        <p:cTn id="192" dur="500"/>
                                        <p:tgtEl>
                                          <p:spTgt spid="151612"/>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22" presetClass="entr" presetSubtype="4" fill="hold" nodeType="clickEffect">
                                  <p:stCondLst>
                                    <p:cond delay="0"/>
                                  </p:stCondLst>
                                  <p:childTnLst>
                                    <p:set>
                                      <p:cBhvr>
                                        <p:cTn id="196" dur="1" fill="hold">
                                          <p:stCondLst>
                                            <p:cond delay="0"/>
                                          </p:stCondLst>
                                        </p:cTn>
                                        <p:tgtEl>
                                          <p:spTgt spid="151613"/>
                                        </p:tgtEl>
                                        <p:attrNameLst>
                                          <p:attrName>style.visibility</p:attrName>
                                        </p:attrNameLst>
                                      </p:cBhvr>
                                      <p:to>
                                        <p:strVal val="visible"/>
                                      </p:to>
                                    </p:set>
                                    <p:animEffect transition="in" filter="wipe(down)">
                                      <p:cBhvr>
                                        <p:cTn id="197" dur="500"/>
                                        <p:tgtEl>
                                          <p:spTgt spid="151613"/>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2" presetClass="entr" presetSubtype="1" fill="hold" grpId="0" nodeType="clickEffect">
                                  <p:stCondLst>
                                    <p:cond delay="0"/>
                                  </p:stCondLst>
                                  <p:childTnLst>
                                    <p:set>
                                      <p:cBhvr>
                                        <p:cTn id="201" dur="1" fill="hold">
                                          <p:stCondLst>
                                            <p:cond delay="0"/>
                                          </p:stCondLst>
                                        </p:cTn>
                                        <p:tgtEl>
                                          <p:spTgt spid="151614"/>
                                        </p:tgtEl>
                                        <p:attrNameLst>
                                          <p:attrName>style.visibility</p:attrName>
                                        </p:attrNameLst>
                                      </p:cBhvr>
                                      <p:to>
                                        <p:strVal val="visible"/>
                                      </p:to>
                                    </p:set>
                                    <p:animEffect transition="in" filter="wipe(up)">
                                      <p:cBhvr>
                                        <p:cTn id="202" dur="500"/>
                                        <p:tgtEl>
                                          <p:spTgt spid="151614"/>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22" presetClass="entr" presetSubtype="4" fill="hold" nodeType="clickEffect">
                                  <p:stCondLst>
                                    <p:cond delay="0"/>
                                  </p:stCondLst>
                                  <p:childTnLst>
                                    <p:set>
                                      <p:cBhvr>
                                        <p:cTn id="206" dur="1" fill="hold">
                                          <p:stCondLst>
                                            <p:cond delay="0"/>
                                          </p:stCondLst>
                                        </p:cTn>
                                        <p:tgtEl>
                                          <p:spTgt spid="151615"/>
                                        </p:tgtEl>
                                        <p:attrNameLst>
                                          <p:attrName>style.visibility</p:attrName>
                                        </p:attrNameLst>
                                      </p:cBhvr>
                                      <p:to>
                                        <p:strVal val="visible"/>
                                      </p:to>
                                    </p:set>
                                    <p:animEffect transition="in" filter="wipe(down)">
                                      <p:cBhvr>
                                        <p:cTn id="207" dur="500"/>
                                        <p:tgtEl>
                                          <p:spTgt spid="151615"/>
                                        </p:tgtEl>
                                      </p:cBhvr>
                                    </p:animEffect>
                                  </p:childTnLst>
                                </p:cTn>
                              </p:par>
                            </p:childTnLst>
                          </p:cTn>
                        </p:par>
                      </p:childTnLst>
                    </p:cTn>
                  </p:par>
                  <p:par>
                    <p:cTn id="208" fill="hold" nodeType="clickPar">
                      <p:stCondLst>
                        <p:cond delay="indefinite"/>
                      </p:stCondLst>
                      <p:childTnLst>
                        <p:par>
                          <p:cTn id="209" fill="hold" nodeType="withGroup">
                            <p:stCondLst>
                              <p:cond delay="0"/>
                            </p:stCondLst>
                            <p:childTnLst>
                              <p:par>
                                <p:cTn id="210" presetID="22" presetClass="entr" presetSubtype="1" fill="hold" grpId="0" nodeType="clickEffect">
                                  <p:stCondLst>
                                    <p:cond delay="0"/>
                                  </p:stCondLst>
                                  <p:childTnLst>
                                    <p:set>
                                      <p:cBhvr>
                                        <p:cTn id="211" dur="1" fill="hold">
                                          <p:stCondLst>
                                            <p:cond delay="0"/>
                                          </p:stCondLst>
                                        </p:cTn>
                                        <p:tgtEl>
                                          <p:spTgt spid="151616"/>
                                        </p:tgtEl>
                                        <p:attrNameLst>
                                          <p:attrName>style.visibility</p:attrName>
                                        </p:attrNameLst>
                                      </p:cBhvr>
                                      <p:to>
                                        <p:strVal val="visible"/>
                                      </p:to>
                                    </p:set>
                                    <p:animEffect transition="in" filter="wipe(up)">
                                      <p:cBhvr>
                                        <p:cTn id="212" dur="500"/>
                                        <p:tgtEl>
                                          <p:spTgt spid="151616"/>
                                        </p:tgtEl>
                                      </p:cBhvr>
                                    </p:animEffect>
                                  </p:childTnLst>
                                </p:cTn>
                              </p:par>
                            </p:childTnLst>
                          </p:cTn>
                        </p:par>
                      </p:childTnLst>
                    </p:cTn>
                  </p:par>
                  <p:par>
                    <p:cTn id="213" fill="hold" nodeType="clickPar">
                      <p:stCondLst>
                        <p:cond delay="indefinite"/>
                      </p:stCondLst>
                      <p:childTnLst>
                        <p:par>
                          <p:cTn id="214" fill="hold" nodeType="withGroup">
                            <p:stCondLst>
                              <p:cond delay="0"/>
                            </p:stCondLst>
                            <p:childTnLst>
                              <p:par>
                                <p:cTn id="215" presetID="22" presetClass="entr" presetSubtype="4" fill="hold" nodeType="clickEffect">
                                  <p:stCondLst>
                                    <p:cond delay="0"/>
                                  </p:stCondLst>
                                  <p:childTnLst>
                                    <p:set>
                                      <p:cBhvr>
                                        <p:cTn id="216" dur="1" fill="hold">
                                          <p:stCondLst>
                                            <p:cond delay="0"/>
                                          </p:stCondLst>
                                        </p:cTn>
                                        <p:tgtEl>
                                          <p:spTgt spid="151617"/>
                                        </p:tgtEl>
                                        <p:attrNameLst>
                                          <p:attrName>style.visibility</p:attrName>
                                        </p:attrNameLst>
                                      </p:cBhvr>
                                      <p:to>
                                        <p:strVal val="visible"/>
                                      </p:to>
                                    </p:set>
                                    <p:animEffect transition="in" filter="wipe(down)">
                                      <p:cBhvr>
                                        <p:cTn id="217" dur="500"/>
                                        <p:tgtEl>
                                          <p:spTgt spid="151617"/>
                                        </p:tgtEl>
                                      </p:cBhvr>
                                    </p:animEffect>
                                  </p:childTnLst>
                                </p:cTn>
                              </p:par>
                            </p:childTnLst>
                          </p:cTn>
                        </p:par>
                      </p:childTnLst>
                    </p:cTn>
                  </p:par>
                  <p:par>
                    <p:cTn id="218" fill="hold" nodeType="clickPar">
                      <p:stCondLst>
                        <p:cond delay="indefinite"/>
                      </p:stCondLst>
                      <p:childTnLst>
                        <p:par>
                          <p:cTn id="219" fill="hold" nodeType="withGroup">
                            <p:stCondLst>
                              <p:cond delay="0"/>
                            </p:stCondLst>
                            <p:childTnLst>
                              <p:par>
                                <p:cTn id="220" presetID="22" presetClass="entr" presetSubtype="1" fill="hold" grpId="0" nodeType="clickEffect">
                                  <p:stCondLst>
                                    <p:cond delay="0"/>
                                  </p:stCondLst>
                                  <p:childTnLst>
                                    <p:set>
                                      <p:cBhvr>
                                        <p:cTn id="221" dur="1" fill="hold">
                                          <p:stCondLst>
                                            <p:cond delay="0"/>
                                          </p:stCondLst>
                                        </p:cTn>
                                        <p:tgtEl>
                                          <p:spTgt spid="151618"/>
                                        </p:tgtEl>
                                        <p:attrNameLst>
                                          <p:attrName>style.visibility</p:attrName>
                                        </p:attrNameLst>
                                      </p:cBhvr>
                                      <p:to>
                                        <p:strVal val="visible"/>
                                      </p:to>
                                    </p:set>
                                    <p:animEffect transition="in" filter="wipe(up)">
                                      <p:cBhvr>
                                        <p:cTn id="222" dur="500"/>
                                        <p:tgtEl>
                                          <p:spTgt spid="151618"/>
                                        </p:tgtEl>
                                      </p:cBhvr>
                                    </p:animEffec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22" presetClass="entr" presetSubtype="4" fill="hold" nodeType="clickEffect">
                                  <p:stCondLst>
                                    <p:cond delay="0"/>
                                  </p:stCondLst>
                                  <p:childTnLst>
                                    <p:set>
                                      <p:cBhvr>
                                        <p:cTn id="226" dur="1" fill="hold">
                                          <p:stCondLst>
                                            <p:cond delay="0"/>
                                          </p:stCondLst>
                                        </p:cTn>
                                        <p:tgtEl>
                                          <p:spTgt spid="151619"/>
                                        </p:tgtEl>
                                        <p:attrNameLst>
                                          <p:attrName>style.visibility</p:attrName>
                                        </p:attrNameLst>
                                      </p:cBhvr>
                                      <p:to>
                                        <p:strVal val="visible"/>
                                      </p:to>
                                    </p:set>
                                    <p:animEffect transition="in" filter="wipe(down)">
                                      <p:cBhvr>
                                        <p:cTn id="227" dur="500"/>
                                        <p:tgtEl>
                                          <p:spTgt spid="151619"/>
                                        </p:tgtEl>
                                      </p:cBhvr>
                                    </p:animEffect>
                                  </p:childTnLst>
                                </p:cTn>
                              </p:par>
                            </p:childTnLst>
                          </p:cTn>
                        </p:par>
                      </p:childTnLst>
                    </p:cTn>
                  </p:par>
                  <p:par>
                    <p:cTn id="228" fill="hold" nodeType="clickPar">
                      <p:stCondLst>
                        <p:cond delay="indefinite"/>
                      </p:stCondLst>
                      <p:childTnLst>
                        <p:par>
                          <p:cTn id="229" fill="hold" nodeType="withGroup">
                            <p:stCondLst>
                              <p:cond delay="0"/>
                            </p:stCondLst>
                            <p:childTnLst>
                              <p:par>
                                <p:cTn id="230" presetID="22" presetClass="entr" presetSubtype="1" fill="hold" grpId="0" nodeType="clickEffect">
                                  <p:stCondLst>
                                    <p:cond delay="0"/>
                                  </p:stCondLst>
                                  <p:childTnLst>
                                    <p:set>
                                      <p:cBhvr>
                                        <p:cTn id="231" dur="1" fill="hold">
                                          <p:stCondLst>
                                            <p:cond delay="0"/>
                                          </p:stCondLst>
                                        </p:cTn>
                                        <p:tgtEl>
                                          <p:spTgt spid="151620"/>
                                        </p:tgtEl>
                                        <p:attrNameLst>
                                          <p:attrName>style.visibility</p:attrName>
                                        </p:attrNameLst>
                                      </p:cBhvr>
                                      <p:to>
                                        <p:strVal val="visible"/>
                                      </p:to>
                                    </p:set>
                                    <p:animEffect transition="in" filter="wipe(up)">
                                      <p:cBhvr>
                                        <p:cTn id="232" dur="500"/>
                                        <p:tgtEl>
                                          <p:spTgt spid="151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9" grpId="0" autoUpdateAnimBg="0"/>
      <p:bldP spid="151563" grpId="0" autoUpdateAnimBg="0"/>
      <p:bldP spid="151564" grpId="0" autoUpdateAnimBg="0"/>
      <p:bldP spid="151566" grpId="0" autoUpdateAnimBg="0"/>
      <p:bldP spid="151567" grpId="0" autoUpdateAnimBg="0"/>
      <p:bldP spid="151569" grpId="0" autoUpdateAnimBg="0"/>
      <p:bldP spid="151571" grpId="0" autoUpdateAnimBg="0"/>
      <p:bldP spid="151573" grpId="0" autoUpdateAnimBg="0"/>
      <p:bldP spid="151576" grpId="0" autoUpdateAnimBg="0"/>
      <p:bldP spid="151587" grpId="0" autoUpdateAnimBg="0"/>
      <p:bldP spid="151590" grpId="0" autoUpdateAnimBg="0"/>
      <p:bldP spid="151591" grpId="0" autoUpdateAnimBg="0"/>
      <p:bldP spid="151593" grpId="0" autoUpdateAnimBg="0"/>
      <p:bldP spid="151596" grpId="0" autoUpdateAnimBg="0"/>
      <p:bldP spid="151598" grpId="0" autoUpdateAnimBg="0"/>
      <p:bldP spid="151601" grpId="0" autoUpdateAnimBg="0"/>
      <p:bldP spid="151602" grpId="0" autoUpdateAnimBg="0"/>
      <p:bldP spid="151604" grpId="0" autoUpdateAnimBg="0"/>
      <p:bldP spid="151605" grpId="0" autoUpdateAnimBg="0"/>
      <p:bldP spid="151607" grpId="0" autoUpdateAnimBg="0"/>
      <p:bldP spid="151610" grpId="0" autoUpdateAnimBg="0"/>
      <p:bldP spid="151612" grpId="0" autoUpdateAnimBg="0"/>
      <p:bldP spid="151614" grpId="0" autoUpdateAnimBg="0"/>
      <p:bldP spid="151616" grpId="0" autoUpdateAnimBg="0"/>
      <p:bldP spid="151618" grpId="0" autoUpdateAnimBg="0"/>
      <p:bldP spid="151620"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107504" y="56683"/>
          <a:ext cx="5040238" cy="858883"/>
        </p:xfrm>
        <a:graphic>
          <a:graphicData uri="http://schemas.openxmlformats.org/drawingml/2006/table">
            <a:tbl>
              <a:tblPr firstRow="1" firstCol="1" bandRow="1"/>
              <a:tblGrid>
                <a:gridCol w="1583854">
                  <a:extLst>
                    <a:ext uri="{9D8B030D-6E8A-4147-A177-3AD203B41FA5}">
                      <a16:colId xmlns:a16="http://schemas.microsoft.com/office/drawing/2014/main" val="20000"/>
                    </a:ext>
                  </a:extLst>
                </a:gridCol>
                <a:gridCol w="3456384">
                  <a:extLst>
                    <a:ext uri="{9D8B030D-6E8A-4147-A177-3AD203B41FA5}">
                      <a16:colId xmlns:a16="http://schemas.microsoft.com/office/drawing/2014/main" val="20001"/>
                    </a:ext>
                  </a:extLst>
                </a:gridCol>
              </a:tblGrid>
              <a:tr h="274320">
                <a:tc>
                  <a:txBody>
                    <a:bodyPr/>
                    <a:lstStyle/>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文法</a:t>
                      </a:r>
                    </a:p>
                  </a:txBody>
                  <a:tcPr marL="68575" marR="68575"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 indent="110490" algn="just">
                        <a:spcAft>
                          <a:spcPts val="0"/>
                        </a:spcAft>
                      </a:pPr>
                      <a:r>
                        <a:rPr lang="zh-CN" sz="1600" kern="100">
                          <a:effectLst/>
                          <a:latin typeface="Times New Roman" panose="02020603050405020304" pitchFamily="18" charset="0"/>
                          <a:ea typeface="宋体" panose="02010600030101010101" pitchFamily="2" charset="-122"/>
                        </a:rPr>
                        <a:t>翻译模式</a:t>
                      </a:r>
                    </a:p>
                  </a:txBody>
                  <a:tcPr marL="68575" marR="68575"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84563">
                <a:tc>
                  <a:txBody>
                    <a:bodyPr/>
                    <a:lstStyle/>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1</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+T </a:t>
                      </a:r>
                      <a:endParaRPr lang="zh-CN" sz="1600" kern="100" dirty="0">
                        <a:effectLst/>
                        <a:latin typeface="Times New Roman" panose="02020603050405020304" pitchFamily="18" charset="0"/>
                        <a:ea typeface="宋体" panose="02010600030101010101" pitchFamily="2" charset="-122"/>
                      </a:endParaRPr>
                    </a:p>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3</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a:t>
                      </a:r>
                      <a:endParaRPr lang="zh-CN" sz="1600" kern="100" dirty="0">
                        <a:effectLst/>
                        <a:latin typeface="Times New Roman" panose="02020603050405020304" pitchFamily="18" charset="0"/>
                        <a:ea typeface="宋体" panose="02010600030101010101" pitchFamily="2" charset="-122"/>
                      </a:endParaRPr>
                    </a:p>
                  </a:txBody>
                  <a:tcPr marL="68575" marR="68575"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1</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+T { E.val = E</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.val + T.val}</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3</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 E.val = T.val}</a:t>
                      </a:r>
                      <a:endParaRPr lang="zh-CN" sz="1600" kern="100" dirty="0">
                        <a:effectLst/>
                        <a:latin typeface="Times New Roman" panose="02020603050405020304" pitchFamily="18" charset="0"/>
                        <a:ea typeface="宋体" panose="02010600030101010101" pitchFamily="2" charset="-122"/>
                      </a:endParaRPr>
                    </a:p>
                  </a:txBody>
                  <a:tcPr marL="68575" marR="68575"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7" name="表格 6"/>
          <p:cNvGraphicFramePr>
            <a:graphicFrameLocks noGrp="1"/>
          </p:cNvGraphicFramePr>
          <p:nvPr/>
        </p:nvGraphicFramePr>
        <p:xfrm>
          <a:off x="35434" y="1491630"/>
          <a:ext cx="5760763" cy="1080120"/>
        </p:xfrm>
        <a:graphic>
          <a:graphicData uri="http://schemas.openxmlformats.org/drawingml/2006/table">
            <a:tbl>
              <a:tblPr firstRow="1" firstCol="1" bandRow="1"/>
              <a:tblGrid>
                <a:gridCol w="1656307">
                  <a:extLst>
                    <a:ext uri="{9D8B030D-6E8A-4147-A177-3AD203B41FA5}">
                      <a16:colId xmlns:a16="http://schemas.microsoft.com/office/drawing/2014/main" val="20000"/>
                    </a:ext>
                  </a:extLst>
                </a:gridCol>
                <a:gridCol w="4104456">
                  <a:extLst>
                    <a:ext uri="{9D8B030D-6E8A-4147-A177-3AD203B41FA5}">
                      <a16:colId xmlns:a16="http://schemas.microsoft.com/office/drawing/2014/main" val="20001"/>
                    </a:ext>
                  </a:extLst>
                </a:gridCol>
              </a:tblGrid>
              <a:tr h="251460">
                <a:tc>
                  <a:txBody>
                    <a:bodyPr/>
                    <a:lstStyle/>
                    <a:p>
                      <a:pPr marL="1270" indent="-1270" algn="just">
                        <a:spcAft>
                          <a:spcPts val="0"/>
                        </a:spcAft>
                      </a:pPr>
                      <a:r>
                        <a:rPr lang="zh-CN" sz="1600" kern="100" dirty="0">
                          <a:effectLst/>
                          <a:latin typeface="Times New Roman" panose="02020603050405020304" pitchFamily="18" charset="0"/>
                          <a:ea typeface="宋体" panose="02010600030101010101" pitchFamily="2" charset="-122"/>
                        </a:rPr>
                        <a:t>文法</a:t>
                      </a:r>
                    </a:p>
                  </a:txBody>
                  <a:tcPr marL="68586" marR="6858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 indent="-635" algn="just">
                        <a:spcAft>
                          <a:spcPts val="0"/>
                        </a:spcAft>
                      </a:pPr>
                      <a:r>
                        <a:rPr lang="zh-CN" sz="1600" kern="100" dirty="0">
                          <a:effectLst/>
                          <a:latin typeface="Times New Roman" panose="02020603050405020304" pitchFamily="18" charset="0"/>
                          <a:ea typeface="宋体" panose="02010600030101010101" pitchFamily="2" charset="-122"/>
                        </a:rPr>
                        <a:t>翻译模式</a:t>
                      </a:r>
                    </a:p>
                  </a:txBody>
                  <a:tcPr marL="68586" marR="6858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28660">
                <a:tc>
                  <a:txBody>
                    <a:bodyPr/>
                    <a:lstStyle/>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1</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 E</a:t>
                      </a:r>
                      <a:r>
                        <a:rPr lang="pt-PT" sz="1600" kern="100" dirty="0">
                          <a:effectLst/>
                          <a:latin typeface="Times New Roman" panose="02020603050405020304" pitchFamily="18" charset="0"/>
                          <a:ea typeface="宋体" panose="02010600030101010101" pitchFamily="2" charset="-122"/>
                        </a:rPr>
                        <a:t>'</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2</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 T 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4</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 </a:t>
                      </a:r>
                      <a:r>
                        <a:rPr lang="en-US" sz="1600" kern="100" dirty="0">
                          <a:effectLst/>
                          <a:latin typeface="Times New Roman" panose="02020603050405020304" pitchFamily="18" charset="0"/>
                          <a:ea typeface="宋体" panose="02010600030101010101" pitchFamily="2" charset="-122"/>
                          <a:sym typeface="Symbol" panose="05050102010706020507" pitchFamily="18" charset="2"/>
                        </a:rPr>
                        <a:t></a:t>
                      </a:r>
                      <a:endParaRPr lang="zh-CN" sz="1600" kern="100" dirty="0">
                        <a:effectLst/>
                        <a:latin typeface="Times New Roman" panose="02020603050405020304" pitchFamily="18" charset="0"/>
                        <a:ea typeface="宋体" panose="02010600030101010101" pitchFamily="2" charset="-122"/>
                      </a:endParaRPr>
                    </a:p>
                  </a:txBody>
                  <a:tcPr marL="68586" marR="68586"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 indent="-635" algn="just">
                        <a:spcAft>
                          <a:spcPts val="0"/>
                        </a:spcAft>
                      </a:pPr>
                      <a:r>
                        <a:rPr lang="fr-FR" sz="1600" kern="100" dirty="0">
                          <a:effectLst/>
                          <a:latin typeface="Times New Roman" panose="02020603050405020304" pitchFamily="18" charset="0"/>
                          <a:ea typeface="宋体" panose="02010600030101010101" pitchFamily="2" charset="-122"/>
                        </a:rPr>
                        <a:t>E</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T{E</a:t>
                      </a:r>
                      <a:r>
                        <a:rPr lang="pt-PT"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.i = T.val} E</a:t>
                      </a:r>
                      <a:r>
                        <a:rPr lang="pt-PT"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 { E.val = E</a:t>
                      </a:r>
                      <a:r>
                        <a:rPr lang="pt-PT"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.s }</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 T { 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.i = E</a:t>
                      </a:r>
                      <a:r>
                        <a:rPr lang="pt-PT" altLang="zh-CN"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.i + T.val } 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 { E</a:t>
                      </a:r>
                      <a:r>
                        <a:rPr lang="pt-PT"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.s = E</a:t>
                      </a:r>
                      <a:r>
                        <a:rPr lang="pt-PT" sz="1600" kern="100" dirty="0">
                          <a:effectLst/>
                          <a:latin typeface="Times New Roman" panose="02020603050405020304" pitchFamily="18" charset="0"/>
                          <a:ea typeface="宋体" panose="02010600030101010101" pitchFamily="2" charset="-122"/>
                        </a:rPr>
                        <a:t>'</a:t>
                      </a:r>
                      <a:r>
                        <a:rPr lang="fr-FR" sz="1600" kern="100" baseline="-25000" dirty="0">
                          <a:effectLst/>
                          <a:latin typeface="Times New Roman" panose="02020603050405020304" pitchFamily="18" charset="0"/>
                          <a:ea typeface="宋体" panose="02010600030101010101" pitchFamily="2" charset="-122"/>
                        </a:rPr>
                        <a:t>1</a:t>
                      </a:r>
                      <a:r>
                        <a:rPr lang="fr-FR" sz="1600" kern="100" dirty="0">
                          <a:effectLst/>
                          <a:latin typeface="Times New Roman" panose="02020603050405020304" pitchFamily="18" charset="0"/>
                          <a:ea typeface="宋体" panose="02010600030101010101" pitchFamily="2" charset="-122"/>
                        </a:rPr>
                        <a:t>.s }</a:t>
                      </a:r>
                      <a:endParaRPr lang="zh-CN" sz="1600" kern="100" dirty="0">
                        <a:effectLst/>
                        <a:latin typeface="Times New Roman" panose="02020603050405020304" pitchFamily="18" charset="0"/>
                        <a:ea typeface="宋体" panose="02010600030101010101" pitchFamily="2" charset="-122"/>
                      </a:endParaRPr>
                    </a:p>
                    <a:p>
                      <a:pPr marL="635" indent="-635" algn="just">
                        <a:spcAft>
                          <a:spcPts val="0"/>
                        </a:spcAft>
                      </a:pPr>
                      <a:r>
                        <a:rPr lang="fr-FR" sz="1600" kern="100" dirty="0">
                          <a:effectLst/>
                          <a:latin typeface="Times New Roman" panose="02020603050405020304" pitchFamily="18" charset="0"/>
                          <a:ea typeface="宋体" panose="02010600030101010101" pitchFamily="2" charset="-122"/>
                        </a:rPr>
                        <a:t>E</a:t>
                      </a:r>
                      <a:r>
                        <a:rPr lang="pt-PT" sz="1600" kern="100" dirty="0">
                          <a:effectLst/>
                          <a:latin typeface="Times New Roman" panose="02020603050405020304" pitchFamily="18" charset="0"/>
                          <a:ea typeface="宋体" panose="02010600030101010101" pitchFamily="2" charset="-122"/>
                        </a:rPr>
                        <a:t>'</a:t>
                      </a:r>
                      <a:r>
                        <a:rPr lang="zh-CN" sz="1600" kern="100" dirty="0">
                          <a:effectLst/>
                          <a:latin typeface="Times New Roman" panose="02020603050405020304" pitchFamily="18" charset="0"/>
                          <a:ea typeface="宋体" panose="02010600030101010101" pitchFamily="2" charset="-122"/>
                        </a:rPr>
                        <a:t>→ </a:t>
                      </a:r>
                      <a:r>
                        <a:rPr lang="en-US" sz="1600" kern="100" dirty="0">
                          <a:effectLst/>
                          <a:latin typeface="Times New Roman" panose="02020603050405020304" pitchFamily="18" charset="0"/>
                          <a:ea typeface="宋体" panose="02010600030101010101" pitchFamily="2" charset="-122"/>
                          <a:sym typeface="Symbol" panose="05050102010706020507" pitchFamily="18" charset="2"/>
                        </a:rPr>
                        <a:t></a:t>
                      </a:r>
                      <a:r>
                        <a:rPr lang="fr-FR" sz="1600" kern="100" dirty="0">
                          <a:effectLst/>
                          <a:latin typeface="Times New Roman" panose="02020603050405020304" pitchFamily="18" charset="0"/>
                          <a:ea typeface="宋体" panose="02010600030101010101" pitchFamily="2" charset="-122"/>
                        </a:rPr>
                        <a:t>{ E</a:t>
                      </a:r>
                      <a:r>
                        <a:rPr lang="pt-PT"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.s = E</a:t>
                      </a:r>
                      <a:r>
                        <a:rPr lang="pt-PT" sz="1600" kern="100" dirty="0">
                          <a:effectLst/>
                          <a:latin typeface="Times New Roman" panose="02020603050405020304" pitchFamily="18" charset="0"/>
                          <a:ea typeface="宋体" panose="02010600030101010101" pitchFamily="2" charset="-122"/>
                        </a:rPr>
                        <a:t>'</a:t>
                      </a:r>
                      <a:r>
                        <a:rPr lang="fr-FR" sz="1600" kern="100" dirty="0">
                          <a:effectLst/>
                          <a:latin typeface="Times New Roman" panose="02020603050405020304" pitchFamily="18" charset="0"/>
                          <a:ea typeface="宋体" panose="02010600030101010101" pitchFamily="2" charset="-122"/>
                        </a:rPr>
                        <a:t>.i}</a:t>
                      </a:r>
                      <a:endParaRPr lang="zh-CN" sz="1600" kern="100" dirty="0">
                        <a:effectLst/>
                        <a:latin typeface="Times New Roman" panose="02020603050405020304" pitchFamily="18" charset="0"/>
                        <a:ea typeface="宋体" panose="02010600030101010101" pitchFamily="2" charset="-122"/>
                      </a:endParaRPr>
                    </a:p>
                  </a:txBody>
                  <a:tcPr marL="68586" marR="68586"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1" name="表格 10"/>
          <p:cNvGraphicFramePr>
            <a:graphicFrameLocks noGrp="1"/>
          </p:cNvGraphicFramePr>
          <p:nvPr/>
        </p:nvGraphicFramePr>
        <p:xfrm>
          <a:off x="6228184" y="931094"/>
          <a:ext cx="2736304" cy="920576"/>
        </p:xfrm>
        <a:graphic>
          <a:graphicData uri="http://schemas.openxmlformats.org/drawingml/2006/table">
            <a:tbl>
              <a:tblPr firstRow="1" firstCol="1" bandRow="1"/>
              <a:tblGrid>
                <a:gridCol w="1440160">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tblGrid>
              <a:tr h="310976">
                <a:tc>
                  <a:txBody>
                    <a:bodyPr/>
                    <a:lstStyle/>
                    <a:p>
                      <a:pPr algn="just">
                        <a:spcAft>
                          <a:spcPts val="0"/>
                        </a:spcAft>
                      </a:pPr>
                      <a:r>
                        <a:rPr lang="zh-CN" sz="2000" kern="100" dirty="0">
                          <a:effectLst/>
                          <a:latin typeface="宋体" panose="02010600030101010101" pitchFamily="2" charset="-122"/>
                          <a:ea typeface="宋体" panose="02010600030101010101" pitchFamily="2" charset="-122"/>
                        </a:rPr>
                        <a:t>左递归文法</a:t>
                      </a:r>
                    </a:p>
                  </a:txBody>
                  <a:tcPr marL="68584" marR="68584"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2000" kern="100" dirty="0">
                          <a:effectLst/>
                          <a:latin typeface="宋体" panose="02010600030101010101" pitchFamily="2" charset="-122"/>
                          <a:ea typeface="宋体" panose="02010600030101010101" pitchFamily="2" charset="-122"/>
                        </a:rPr>
                        <a:t>A→AY | X</a:t>
                      </a:r>
                      <a:endParaRPr lang="zh-CN" sz="2000" kern="100" dirty="0">
                        <a:effectLst/>
                        <a:latin typeface="宋体" panose="02010600030101010101" pitchFamily="2" charset="-122"/>
                        <a:ea typeface="宋体" panose="02010600030101010101" pitchFamily="2" charset="-122"/>
                      </a:endParaRPr>
                    </a:p>
                  </a:txBody>
                  <a:tcPr marL="68584" marR="68584"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95982">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zh-CN" sz="2000" kern="100" dirty="0">
                          <a:effectLst/>
                          <a:latin typeface="宋体" panose="02010600030101010101" pitchFamily="2" charset="-122"/>
                          <a:ea typeface="宋体" panose="02010600030101010101" pitchFamily="2" charset="-122"/>
                        </a:rPr>
                        <a:t>非左递归文法</a:t>
                      </a:r>
                    </a:p>
                  </a:txBody>
                  <a:tcPr marL="68584" marR="68584"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100" dirty="0">
                          <a:effectLst/>
                          <a:latin typeface="宋体" panose="02010600030101010101" pitchFamily="2" charset="-122"/>
                          <a:ea typeface="宋体" panose="02010600030101010101" pitchFamily="2" charset="-122"/>
                        </a:rPr>
                        <a:t>A→XR</a:t>
                      </a:r>
                      <a:endParaRPr lang="zh-CN" sz="2000" kern="100" dirty="0">
                        <a:effectLst/>
                        <a:latin typeface="宋体" panose="02010600030101010101" pitchFamily="2" charset="-122"/>
                        <a:ea typeface="宋体" panose="02010600030101010101" pitchFamily="2" charset="-122"/>
                      </a:endParaRPr>
                    </a:p>
                    <a:p>
                      <a:pPr algn="just">
                        <a:spcAft>
                          <a:spcPts val="0"/>
                        </a:spcAft>
                      </a:pPr>
                      <a:r>
                        <a:rPr lang="en-US" sz="2000" kern="100" dirty="0">
                          <a:effectLst/>
                          <a:latin typeface="宋体" panose="02010600030101010101" pitchFamily="2" charset="-122"/>
                          <a:ea typeface="宋体" panose="02010600030101010101" pitchFamily="2" charset="-122"/>
                        </a:rPr>
                        <a:t>R→YR | </a:t>
                      </a:r>
                      <a:r>
                        <a:rPr lang="en-US" sz="2000" kern="100" dirty="0">
                          <a:effectLst/>
                          <a:latin typeface="宋体" panose="02010600030101010101" pitchFamily="2" charset="-122"/>
                          <a:ea typeface="宋体" panose="02010600030101010101" pitchFamily="2" charset="-122"/>
                          <a:sym typeface="Symbol" panose="05050102010706020507" pitchFamily="18" charset="2"/>
                        </a:rPr>
                        <a:t></a:t>
                      </a:r>
                      <a:endParaRPr lang="zh-CN" sz="2000" kern="100" dirty="0">
                        <a:effectLst/>
                        <a:latin typeface="宋体" panose="02010600030101010101" pitchFamily="2" charset="-122"/>
                        <a:ea typeface="宋体" panose="02010600030101010101" pitchFamily="2" charset="-122"/>
                      </a:endParaRPr>
                    </a:p>
                  </a:txBody>
                  <a:tcPr marL="68584" marR="68584"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2" name="Rectangle 2"/>
          <p:cNvSpPr>
            <a:spLocks noChangeArrowheads="1"/>
          </p:cNvSpPr>
          <p:nvPr/>
        </p:nvSpPr>
        <p:spPr bwMode="auto">
          <a:xfrm>
            <a:off x="6156324" y="0"/>
            <a:ext cx="2880519" cy="830997"/>
          </a:xfrm>
          <a:prstGeom prst="rect">
            <a:avLst/>
          </a:prstGeom>
          <a:ln/>
        </p:spPr>
        <p:style>
          <a:lnRef idx="2">
            <a:schemeClr val="accent1"/>
          </a:lnRef>
          <a:fillRef idx="1">
            <a:schemeClr val="lt1"/>
          </a:fillRef>
          <a:effectRef idx="0">
            <a:schemeClr val="accent1"/>
          </a:effectRef>
          <a:fontRef idx="minor">
            <a:schemeClr val="dk1"/>
          </a:fontRef>
        </p:style>
        <p:txBody>
          <a:bodyPr wrap="square" anchor="ctr">
            <a:spAutoFit/>
          </a:bodyPr>
          <a:lstStyle>
            <a:lvl1pPr indent="2286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indent="0">
              <a:spcBef>
                <a:spcPct val="0"/>
              </a:spcBef>
              <a:buFontTx/>
              <a:buNone/>
            </a:pPr>
            <a:r>
              <a:rPr lang="zh-CN" altLang="zh-CN" sz="2400" dirty="0">
                <a:latin typeface="Times New Roman" pitchFamily="18" charset="0"/>
                <a:cs typeface="Times New Roman" pitchFamily="18" charset="0"/>
              </a:rPr>
              <a:t>一般情况下左递归文法的消除方法</a:t>
            </a:r>
            <a:endParaRPr lang="zh-CN" altLang="zh-CN" sz="2400" dirty="0"/>
          </a:p>
        </p:txBody>
      </p:sp>
      <p:graphicFrame>
        <p:nvGraphicFramePr>
          <p:cNvPr id="13" name="表格 12"/>
          <p:cNvGraphicFramePr>
            <a:graphicFrameLocks noGrp="1"/>
          </p:cNvGraphicFramePr>
          <p:nvPr/>
        </p:nvGraphicFramePr>
        <p:xfrm>
          <a:off x="4139952" y="3083422"/>
          <a:ext cx="5003753" cy="632325"/>
        </p:xfrm>
        <a:graphic>
          <a:graphicData uri="http://schemas.openxmlformats.org/drawingml/2006/table">
            <a:tbl>
              <a:tblPr firstRow="1" firstCol="1" bandRow="1"/>
              <a:tblGrid>
                <a:gridCol w="966761">
                  <a:extLst>
                    <a:ext uri="{9D8B030D-6E8A-4147-A177-3AD203B41FA5}">
                      <a16:colId xmlns:a16="http://schemas.microsoft.com/office/drawing/2014/main" val="20000"/>
                    </a:ext>
                  </a:extLst>
                </a:gridCol>
                <a:gridCol w="4036992">
                  <a:extLst>
                    <a:ext uri="{9D8B030D-6E8A-4147-A177-3AD203B41FA5}">
                      <a16:colId xmlns:a16="http://schemas.microsoft.com/office/drawing/2014/main" val="20001"/>
                    </a:ext>
                  </a:extLst>
                </a:gridCol>
              </a:tblGrid>
              <a:tr h="632325">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rPr>
                        <a:t>左递归文法</a:t>
                      </a:r>
                      <a:endParaRPr lang="zh-CN" sz="1800" kern="100" dirty="0">
                        <a:effectLst/>
                        <a:latin typeface="Times New Roman" panose="02020603050405020304" pitchFamily="18" charset="0"/>
                        <a:ea typeface="宋体" panose="02010600030101010101" pitchFamily="2" charset="-122"/>
                      </a:endParaRPr>
                    </a:p>
                  </a:txBody>
                  <a:tcPr marL="68581" marR="685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kern="100" dirty="0">
                          <a:effectLst/>
                          <a:latin typeface="Times New Roman" panose="02020603050405020304" pitchFamily="18" charset="0"/>
                          <a:ea typeface="宋体" panose="02010600030101010101" pitchFamily="2" charset="-122"/>
                        </a:rPr>
                        <a:t>A→A</a:t>
                      </a:r>
                      <a:r>
                        <a:rPr lang="en-US" sz="1800" kern="100" baseline="-25000" dirty="0">
                          <a:effectLst/>
                          <a:latin typeface="Times New Roman" panose="02020603050405020304" pitchFamily="18" charset="0"/>
                          <a:ea typeface="宋体" panose="02010600030101010101" pitchFamily="2" charset="-122"/>
                        </a:rPr>
                        <a:t>1</a:t>
                      </a:r>
                      <a:r>
                        <a:rPr lang="en-US" sz="1800" kern="100" dirty="0">
                          <a:effectLst/>
                          <a:latin typeface="宋体" panose="02010600030101010101" pitchFamily="2" charset="-122"/>
                          <a:ea typeface="宋体" panose="02010600030101010101" pitchFamily="2" charset="-122"/>
                        </a:rPr>
                        <a:t>Y</a:t>
                      </a:r>
                      <a:r>
                        <a:rPr lang="en-US" sz="1800" kern="100" dirty="0">
                          <a:effectLst/>
                          <a:latin typeface="Times New Roman" panose="02020603050405020304" pitchFamily="18" charset="0"/>
                          <a:ea typeface="宋体" panose="02010600030101010101" pitchFamily="2" charset="-122"/>
                        </a:rPr>
                        <a:t> {</a:t>
                      </a:r>
                      <a:r>
                        <a:rPr lang="en-US" sz="1800" kern="100" dirty="0" err="1">
                          <a:effectLst/>
                          <a:latin typeface="Times New Roman" panose="02020603050405020304" pitchFamily="18" charset="0"/>
                          <a:ea typeface="宋体" panose="02010600030101010101" pitchFamily="2" charset="-122"/>
                        </a:rPr>
                        <a:t>A.a</a:t>
                      </a:r>
                      <a:r>
                        <a:rPr lang="en-US" sz="1800" kern="100" dirty="0">
                          <a:effectLst/>
                          <a:latin typeface="Times New Roman" panose="02020603050405020304" pitchFamily="18" charset="0"/>
                          <a:ea typeface="宋体" panose="02010600030101010101" pitchFamily="2" charset="-122"/>
                        </a:rPr>
                        <a:t> = g(A</a:t>
                      </a:r>
                      <a:r>
                        <a:rPr lang="en-US" sz="1800" kern="100" baseline="-25000" dirty="0">
                          <a:effectLst/>
                          <a:latin typeface="Times New Roman" panose="02020603050405020304" pitchFamily="18" charset="0"/>
                          <a:ea typeface="宋体" panose="02010600030101010101" pitchFamily="2" charset="-122"/>
                        </a:rPr>
                        <a:t>1</a:t>
                      </a:r>
                      <a:r>
                        <a:rPr lang="en-US" sz="1800" kern="100" dirty="0">
                          <a:effectLst/>
                          <a:latin typeface="Times New Roman" panose="02020603050405020304" pitchFamily="18" charset="0"/>
                          <a:ea typeface="宋体" panose="02010600030101010101" pitchFamily="2" charset="-122"/>
                        </a:rPr>
                        <a:t>.a,</a:t>
                      </a:r>
                      <a:r>
                        <a:rPr lang="en-US" sz="1800" kern="100" dirty="0">
                          <a:effectLst/>
                          <a:latin typeface="宋体" panose="02010600030101010101" pitchFamily="2" charset="-122"/>
                          <a:ea typeface="宋体" panose="02010600030101010101" pitchFamily="2" charset="-122"/>
                        </a:rPr>
                        <a:t> </a:t>
                      </a:r>
                      <a:r>
                        <a:rPr lang="en-US" sz="1800" kern="100" dirty="0" err="1">
                          <a:effectLst/>
                          <a:latin typeface="宋体" panose="02010600030101010101" pitchFamily="2" charset="-122"/>
                          <a:ea typeface="宋体" panose="02010600030101010101" pitchFamily="2" charset="-122"/>
                        </a:rPr>
                        <a:t>Y</a:t>
                      </a:r>
                      <a:r>
                        <a:rPr lang="en-US" sz="1800" kern="100" dirty="0" err="1">
                          <a:effectLst/>
                          <a:latin typeface="Times New Roman" panose="02020603050405020304" pitchFamily="18" charset="0"/>
                          <a:ea typeface="宋体" panose="02010600030101010101" pitchFamily="2" charset="-122"/>
                        </a:rPr>
                        <a:t>.y</a:t>
                      </a:r>
                      <a:r>
                        <a:rPr lang="en-US" sz="1800" kern="100" dirty="0">
                          <a:effectLst/>
                          <a:latin typeface="Times New Roman" panose="02020603050405020304" pitchFamily="18" charset="0"/>
                          <a:ea typeface="宋体" panose="02010600030101010101" pitchFamily="2" charset="-122"/>
                        </a:rPr>
                        <a:t>)}</a:t>
                      </a:r>
                      <a:endParaRPr lang="zh-CN" sz="1800" kern="100" dirty="0">
                        <a:effectLst/>
                        <a:latin typeface="Times New Roman" panose="02020603050405020304" pitchFamily="18" charset="0"/>
                        <a:ea typeface="宋体" panose="02010600030101010101" pitchFamily="2" charset="-122"/>
                      </a:endParaRPr>
                    </a:p>
                    <a:p>
                      <a:pPr algn="just">
                        <a:lnSpc>
                          <a:spcPct val="100000"/>
                        </a:lnSpc>
                        <a:spcAft>
                          <a:spcPts val="0"/>
                        </a:spcAft>
                      </a:pPr>
                      <a:r>
                        <a:rPr lang="en-US" sz="1800" kern="100" dirty="0">
                          <a:effectLst/>
                          <a:latin typeface="Times New Roman" panose="02020603050405020304" pitchFamily="18" charset="0"/>
                          <a:ea typeface="宋体" panose="02010600030101010101" pitchFamily="2" charset="-122"/>
                        </a:rPr>
                        <a:t>A→X {</a:t>
                      </a:r>
                      <a:r>
                        <a:rPr lang="en-US" sz="1800" kern="100" dirty="0" err="1">
                          <a:effectLst/>
                          <a:latin typeface="Times New Roman" panose="02020603050405020304" pitchFamily="18" charset="0"/>
                          <a:ea typeface="宋体" panose="02010600030101010101" pitchFamily="2" charset="-122"/>
                        </a:rPr>
                        <a:t>A.a</a:t>
                      </a:r>
                      <a:r>
                        <a:rPr lang="en-US" sz="1800" kern="100" dirty="0">
                          <a:effectLst/>
                          <a:latin typeface="Times New Roman" panose="02020603050405020304" pitchFamily="18" charset="0"/>
                          <a:ea typeface="宋体" panose="02010600030101010101" pitchFamily="2" charset="-122"/>
                        </a:rPr>
                        <a:t> = f(</a:t>
                      </a:r>
                      <a:r>
                        <a:rPr lang="en-US" sz="1800" kern="100" dirty="0" err="1">
                          <a:effectLst/>
                          <a:latin typeface="Times New Roman" panose="02020603050405020304" pitchFamily="18" charset="0"/>
                          <a:ea typeface="宋体" panose="02010600030101010101" pitchFamily="2" charset="-122"/>
                        </a:rPr>
                        <a:t>X.x</a:t>
                      </a:r>
                      <a:r>
                        <a:rPr lang="en-US" sz="1800" kern="100" dirty="0">
                          <a:effectLst/>
                          <a:latin typeface="Times New Roman" panose="02020603050405020304" pitchFamily="18" charset="0"/>
                          <a:ea typeface="宋体" panose="02010600030101010101" pitchFamily="2" charset="-122"/>
                        </a:rPr>
                        <a:t>)}</a:t>
                      </a:r>
                      <a:endParaRPr lang="zh-CN" sz="1800" kern="100" dirty="0">
                        <a:effectLst/>
                        <a:latin typeface="Times New Roman" panose="02020603050405020304" pitchFamily="18" charset="0"/>
                        <a:ea typeface="宋体" panose="02010600030101010101" pitchFamily="2" charset="-122"/>
                      </a:endParaRPr>
                    </a:p>
                  </a:txBody>
                  <a:tcPr marL="68581" marR="68581" marT="0" marB="0">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2" name="下箭头 1"/>
          <p:cNvSpPr/>
          <p:nvPr/>
        </p:nvSpPr>
        <p:spPr>
          <a:xfrm>
            <a:off x="1547664" y="915566"/>
            <a:ext cx="288032" cy="504056"/>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4" name="Rectangle 2"/>
          <p:cNvSpPr>
            <a:spLocks noChangeArrowheads="1"/>
          </p:cNvSpPr>
          <p:nvPr/>
        </p:nvSpPr>
        <p:spPr bwMode="auto">
          <a:xfrm>
            <a:off x="161510" y="3147814"/>
            <a:ext cx="3348372" cy="830997"/>
          </a:xfrm>
          <a:prstGeom prst="rect">
            <a:avLst/>
          </a:prstGeom>
          <a:ln/>
        </p:spPr>
        <p:style>
          <a:lnRef idx="2">
            <a:schemeClr val="accent2"/>
          </a:lnRef>
          <a:fillRef idx="1">
            <a:schemeClr val="lt1"/>
          </a:fillRef>
          <a:effectRef idx="0">
            <a:schemeClr val="accent2"/>
          </a:effectRef>
          <a:fontRef idx="minor">
            <a:schemeClr val="dk1"/>
          </a:fontRef>
        </p:style>
        <p:txBody>
          <a:bodyPr wrap="square" anchor="ctr">
            <a:spAutoFit/>
          </a:bodyPr>
          <a:lstStyle>
            <a:lvl1pPr indent="2286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indent="0">
              <a:spcBef>
                <a:spcPct val="0"/>
              </a:spcBef>
              <a:buFontTx/>
              <a:buNone/>
            </a:pPr>
            <a:r>
              <a:rPr lang="zh-CN" altLang="en-US" sz="2400" dirty="0">
                <a:latin typeface="Times New Roman" pitchFamily="18" charset="0"/>
                <a:cs typeface="Times New Roman" pitchFamily="18" charset="0"/>
              </a:rPr>
              <a:t>对只含有综合属性的左递归文法的改造有效</a:t>
            </a:r>
            <a:endParaRPr lang="zh-CN" altLang="zh-CN" sz="2400" dirty="0"/>
          </a:p>
        </p:txBody>
      </p:sp>
      <p:graphicFrame>
        <p:nvGraphicFramePr>
          <p:cNvPr id="3" name="表格 2"/>
          <p:cNvGraphicFramePr>
            <a:graphicFrameLocks noGrp="1"/>
          </p:cNvGraphicFramePr>
          <p:nvPr/>
        </p:nvGraphicFramePr>
        <p:xfrm>
          <a:off x="4139952" y="3712438"/>
          <a:ext cx="5003753" cy="822960"/>
        </p:xfrm>
        <a:graphic>
          <a:graphicData uri="http://schemas.openxmlformats.org/drawingml/2006/table">
            <a:tbl>
              <a:tblPr firstRow="1" firstCol="1" bandRow="1"/>
              <a:tblGrid>
                <a:gridCol w="966761">
                  <a:extLst>
                    <a:ext uri="{9D8B030D-6E8A-4147-A177-3AD203B41FA5}">
                      <a16:colId xmlns:a16="http://schemas.microsoft.com/office/drawing/2014/main" val="20000"/>
                    </a:ext>
                  </a:extLst>
                </a:gridCol>
                <a:gridCol w="4036992">
                  <a:extLst>
                    <a:ext uri="{9D8B030D-6E8A-4147-A177-3AD203B41FA5}">
                      <a16:colId xmlns:a16="http://schemas.microsoft.com/office/drawing/2014/main" val="20001"/>
                    </a:ext>
                  </a:extLst>
                </a:gridCol>
              </a:tblGrid>
              <a:tr h="51668">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rPr>
                        <a:t>非左递归文法</a:t>
                      </a:r>
                    </a:p>
                    <a:p>
                      <a:pPr algn="just">
                        <a:lnSpc>
                          <a:spcPct val="100000"/>
                        </a:lnSpc>
                        <a:spcAft>
                          <a:spcPts val="0"/>
                        </a:spcAft>
                      </a:pPr>
                      <a:endParaRPr lang="zh-CN" sz="1800" kern="100" dirty="0">
                        <a:solidFill>
                          <a:srgbClr val="0000FF"/>
                        </a:solidFill>
                        <a:effectLst/>
                        <a:latin typeface="Times New Roman" panose="02020603050405020304" pitchFamily="18" charset="0"/>
                        <a:ea typeface="宋体" panose="02010600030101010101" pitchFamily="2" charset="-122"/>
                      </a:endParaRPr>
                    </a:p>
                  </a:txBody>
                  <a:tcPr marL="68581" marR="68581"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kern="100" dirty="0">
                          <a:effectLst/>
                          <a:latin typeface="Times New Roman" panose="02020603050405020304" pitchFamily="18" charset="0"/>
                          <a:ea typeface="宋体" panose="02010600030101010101" pitchFamily="2" charset="-122"/>
                        </a:rPr>
                        <a:t>A→X</a:t>
                      </a:r>
                      <a:r>
                        <a:rPr lang="en-US" sz="1800" kern="100" dirty="0">
                          <a:solidFill>
                            <a:srgbClr val="0000FF"/>
                          </a:solidFill>
                          <a:effectLst/>
                          <a:latin typeface="Times New Roman" panose="02020603050405020304" pitchFamily="18" charset="0"/>
                          <a:ea typeface="宋体" panose="02010600030101010101" pitchFamily="2" charset="-122"/>
                        </a:rPr>
                        <a:t>{</a:t>
                      </a:r>
                      <a:r>
                        <a:rPr lang="en-US" sz="1800" kern="100" dirty="0" err="1">
                          <a:solidFill>
                            <a:srgbClr val="0000FF"/>
                          </a:solidFill>
                          <a:effectLst/>
                          <a:latin typeface="Times New Roman" panose="02020603050405020304" pitchFamily="18" charset="0"/>
                          <a:ea typeface="宋体" panose="02010600030101010101" pitchFamily="2" charset="-122"/>
                        </a:rPr>
                        <a:t>R.i</a:t>
                      </a:r>
                      <a:r>
                        <a:rPr lang="en-US" sz="1800" kern="100" dirty="0">
                          <a:solidFill>
                            <a:srgbClr val="0000FF"/>
                          </a:solidFill>
                          <a:effectLst/>
                          <a:latin typeface="Times New Roman" panose="02020603050405020304" pitchFamily="18" charset="0"/>
                          <a:ea typeface="宋体" panose="02010600030101010101" pitchFamily="2" charset="-122"/>
                        </a:rPr>
                        <a:t> = f(</a:t>
                      </a:r>
                      <a:r>
                        <a:rPr lang="en-US" sz="1800" kern="100" dirty="0" err="1">
                          <a:solidFill>
                            <a:srgbClr val="0000FF"/>
                          </a:solidFill>
                          <a:effectLst/>
                          <a:latin typeface="Times New Roman" panose="02020603050405020304" pitchFamily="18" charset="0"/>
                          <a:ea typeface="宋体" panose="02010600030101010101" pitchFamily="2" charset="-122"/>
                        </a:rPr>
                        <a:t>X.x</a:t>
                      </a:r>
                      <a:r>
                        <a:rPr lang="en-US" sz="1800" kern="100" dirty="0">
                          <a:solidFill>
                            <a:srgbClr val="0000FF"/>
                          </a:solidFill>
                          <a:effectLst/>
                          <a:latin typeface="Times New Roman" panose="02020603050405020304" pitchFamily="18" charset="0"/>
                          <a:ea typeface="宋体" panose="02010600030101010101" pitchFamily="2" charset="-122"/>
                        </a:rPr>
                        <a:t>)} </a:t>
                      </a:r>
                      <a:r>
                        <a:rPr lang="en-US" sz="1800" kern="100" dirty="0">
                          <a:effectLst/>
                          <a:latin typeface="Times New Roman" panose="02020603050405020304" pitchFamily="18" charset="0"/>
                          <a:ea typeface="宋体" panose="02010600030101010101" pitchFamily="2" charset="-122"/>
                        </a:rPr>
                        <a:t>R </a:t>
                      </a:r>
                      <a:r>
                        <a:rPr lang="en-US" sz="1800" kern="100" dirty="0">
                          <a:solidFill>
                            <a:srgbClr val="0000FF"/>
                          </a:solidFill>
                          <a:effectLst/>
                          <a:latin typeface="Times New Roman" panose="02020603050405020304" pitchFamily="18" charset="0"/>
                          <a:ea typeface="宋体" panose="02010600030101010101" pitchFamily="2" charset="-122"/>
                        </a:rPr>
                        <a:t>{</a:t>
                      </a:r>
                      <a:r>
                        <a:rPr lang="en-US" sz="1800" kern="100" dirty="0" err="1">
                          <a:solidFill>
                            <a:srgbClr val="0000FF"/>
                          </a:solidFill>
                          <a:effectLst/>
                          <a:latin typeface="Times New Roman" panose="02020603050405020304" pitchFamily="18" charset="0"/>
                          <a:ea typeface="宋体" panose="02010600030101010101" pitchFamily="2" charset="-122"/>
                        </a:rPr>
                        <a:t>A.</a:t>
                      </a:r>
                      <a:r>
                        <a:rPr lang="en-US" altLang="zh-CN" sz="1800" kern="100" dirty="0" err="1">
                          <a:solidFill>
                            <a:srgbClr val="0000FF"/>
                          </a:solidFill>
                          <a:effectLst/>
                          <a:latin typeface="Times New Roman" panose="02020603050405020304" pitchFamily="18" charset="0"/>
                          <a:ea typeface="宋体" panose="02010600030101010101" pitchFamily="2" charset="-122"/>
                        </a:rPr>
                        <a:t>a</a:t>
                      </a:r>
                      <a:r>
                        <a:rPr lang="en-US" sz="1800" kern="100" dirty="0">
                          <a:solidFill>
                            <a:srgbClr val="0000FF"/>
                          </a:solidFill>
                          <a:effectLst/>
                          <a:latin typeface="Times New Roman" panose="02020603050405020304" pitchFamily="18" charset="0"/>
                          <a:ea typeface="宋体" panose="02010600030101010101" pitchFamily="2" charset="-122"/>
                        </a:rPr>
                        <a:t> = R.s}</a:t>
                      </a:r>
                      <a:endParaRPr lang="zh-CN" sz="1800" kern="100" dirty="0">
                        <a:solidFill>
                          <a:srgbClr val="0000FF"/>
                        </a:solidFill>
                        <a:effectLst/>
                        <a:latin typeface="Times New Roman" panose="02020603050405020304" pitchFamily="18" charset="0"/>
                        <a:ea typeface="宋体" panose="02010600030101010101" pitchFamily="2" charset="-122"/>
                      </a:endParaRPr>
                    </a:p>
                    <a:p>
                      <a:pPr algn="just">
                        <a:lnSpc>
                          <a:spcPct val="100000"/>
                        </a:lnSpc>
                        <a:spcAft>
                          <a:spcPts val="0"/>
                        </a:spcAft>
                      </a:pPr>
                      <a:r>
                        <a:rPr lang="en-US" sz="1800" kern="100" dirty="0">
                          <a:effectLst/>
                          <a:latin typeface="Times New Roman" panose="02020603050405020304" pitchFamily="18" charset="0"/>
                          <a:ea typeface="宋体" panose="02010600030101010101" pitchFamily="2" charset="-122"/>
                        </a:rPr>
                        <a:t>R→Y</a:t>
                      </a:r>
                      <a:r>
                        <a:rPr lang="en-US" sz="1800" kern="100" dirty="0">
                          <a:solidFill>
                            <a:srgbClr val="0000FF"/>
                          </a:solidFill>
                          <a:effectLst/>
                          <a:latin typeface="Times New Roman" panose="02020603050405020304" pitchFamily="18" charset="0"/>
                          <a:ea typeface="宋体" panose="02010600030101010101" pitchFamily="2" charset="-122"/>
                        </a:rPr>
                        <a:t>{R</a:t>
                      </a:r>
                      <a:r>
                        <a:rPr lang="en-US" sz="1800" kern="100" baseline="-25000" dirty="0">
                          <a:solidFill>
                            <a:srgbClr val="0000FF"/>
                          </a:solidFill>
                          <a:effectLst/>
                          <a:latin typeface="Times New Roman" panose="02020603050405020304" pitchFamily="18" charset="0"/>
                          <a:ea typeface="宋体" panose="02010600030101010101" pitchFamily="2" charset="-122"/>
                        </a:rPr>
                        <a:t>1</a:t>
                      </a:r>
                      <a:r>
                        <a:rPr lang="en-US" sz="1800" kern="100" dirty="0">
                          <a:solidFill>
                            <a:srgbClr val="0000FF"/>
                          </a:solidFill>
                          <a:effectLst/>
                          <a:latin typeface="Times New Roman" panose="02020603050405020304" pitchFamily="18" charset="0"/>
                          <a:ea typeface="宋体" panose="02010600030101010101" pitchFamily="2" charset="-122"/>
                        </a:rPr>
                        <a:t>.i = g(</a:t>
                      </a:r>
                      <a:r>
                        <a:rPr lang="en-US" sz="1800" kern="100" dirty="0" err="1">
                          <a:solidFill>
                            <a:srgbClr val="0000FF"/>
                          </a:solidFill>
                          <a:effectLst/>
                          <a:latin typeface="Times New Roman" panose="02020603050405020304" pitchFamily="18" charset="0"/>
                          <a:ea typeface="宋体" panose="02010600030101010101" pitchFamily="2" charset="-122"/>
                        </a:rPr>
                        <a:t>R.i</a:t>
                      </a:r>
                      <a:r>
                        <a:rPr lang="en-US" sz="1800" kern="100" dirty="0">
                          <a:solidFill>
                            <a:srgbClr val="0000FF"/>
                          </a:solidFill>
                          <a:effectLst/>
                          <a:latin typeface="Times New Roman" panose="02020603050405020304" pitchFamily="18" charset="0"/>
                          <a:ea typeface="宋体" panose="02010600030101010101" pitchFamily="2" charset="-122"/>
                        </a:rPr>
                        <a:t>, </a:t>
                      </a:r>
                      <a:r>
                        <a:rPr lang="en-US" sz="1800" kern="100" dirty="0" err="1">
                          <a:solidFill>
                            <a:srgbClr val="0000FF"/>
                          </a:solidFill>
                          <a:effectLst/>
                          <a:latin typeface="Times New Roman" panose="02020603050405020304" pitchFamily="18" charset="0"/>
                          <a:ea typeface="宋体" panose="02010600030101010101" pitchFamily="2" charset="-122"/>
                        </a:rPr>
                        <a:t>Y.y</a:t>
                      </a:r>
                      <a:r>
                        <a:rPr lang="en-US" sz="1800" kern="100" dirty="0">
                          <a:solidFill>
                            <a:srgbClr val="0000FF"/>
                          </a:solidFill>
                          <a:effectLst/>
                          <a:latin typeface="Times New Roman" panose="02020603050405020304" pitchFamily="18" charset="0"/>
                          <a:ea typeface="宋体" panose="02010600030101010101" pitchFamily="2" charset="-122"/>
                        </a:rPr>
                        <a:t>)}</a:t>
                      </a:r>
                      <a:r>
                        <a:rPr lang="en-US" sz="1800" kern="100" dirty="0">
                          <a:effectLst/>
                          <a:latin typeface="Times New Roman" panose="02020603050405020304" pitchFamily="18" charset="0"/>
                          <a:ea typeface="宋体" panose="02010600030101010101" pitchFamily="2" charset="-122"/>
                        </a:rPr>
                        <a:t> R</a:t>
                      </a:r>
                      <a:r>
                        <a:rPr lang="en-US" sz="1800" kern="100" baseline="-25000" dirty="0">
                          <a:effectLst/>
                          <a:latin typeface="Times New Roman" panose="02020603050405020304" pitchFamily="18" charset="0"/>
                          <a:ea typeface="宋体" panose="02010600030101010101" pitchFamily="2" charset="-122"/>
                        </a:rPr>
                        <a:t>1</a:t>
                      </a:r>
                      <a:r>
                        <a:rPr lang="en-US" sz="1800" kern="100" dirty="0">
                          <a:solidFill>
                            <a:srgbClr val="0000FF"/>
                          </a:solidFill>
                          <a:effectLst/>
                          <a:latin typeface="Times New Roman" panose="02020603050405020304" pitchFamily="18" charset="0"/>
                          <a:ea typeface="宋体" panose="02010600030101010101" pitchFamily="2" charset="-122"/>
                        </a:rPr>
                        <a:t>{R.s = R</a:t>
                      </a:r>
                      <a:r>
                        <a:rPr lang="en-US" sz="1800" kern="100" baseline="-25000" dirty="0">
                          <a:solidFill>
                            <a:srgbClr val="0000FF"/>
                          </a:solidFill>
                          <a:effectLst/>
                          <a:latin typeface="Times New Roman" panose="02020603050405020304" pitchFamily="18" charset="0"/>
                          <a:ea typeface="宋体" panose="02010600030101010101" pitchFamily="2" charset="-122"/>
                        </a:rPr>
                        <a:t>1</a:t>
                      </a:r>
                      <a:r>
                        <a:rPr lang="en-US" sz="1800" kern="100" dirty="0">
                          <a:solidFill>
                            <a:srgbClr val="0000FF"/>
                          </a:solidFill>
                          <a:effectLst/>
                          <a:latin typeface="Times New Roman" panose="02020603050405020304" pitchFamily="18" charset="0"/>
                          <a:ea typeface="宋体" panose="02010600030101010101" pitchFamily="2" charset="-122"/>
                        </a:rPr>
                        <a:t>.s}</a:t>
                      </a:r>
                      <a:endParaRPr lang="zh-CN" sz="1800" kern="100" dirty="0">
                        <a:solidFill>
                          <a:srgbClr val="0000FF"/>
                        </a:solidFill>
                        <a:effectLst/>
                        <a:latin typeface="Times New Roman" panose="02020603050405020304" pitchFamily="18" charset="0"/>
                        <a:ea typeface="宋体" panose="02010600030101010101" pitchFamily="2" charset="-122"/>
                      </a:endParaRPr>
                    </a:p>
                    <a:p>
                      <a:pPr algn="just">
                        <a:lnSpc>
                          <a:spcPct val="100000"/>
                        </a:lnSpc>
                        <a:spcAft>
                          <a:spcPts val="0"/>
                        </a:spcAft>
                      </a:pPr>
                      <a:r>
                        <a:rPr lang="en-US" sz="1800" kern="100" dirty="0">
                          <a:effectLst/>
                          <a:latin typeface="Times New Roman" panose="02020603050405020304" pitchFamily="18" charset="0"/>
                          <a:ea typeface="宋体" panose="02010600030101010101" pitchFamily="2" charset="-122"/>
                        </a:rPr>
                        <a:t>R→ </a:t>
                      </a:r>
                      <a:r>
                        <a:rPr lang="en-US" sz="1800" kern="100" dirty="0">
                          <a:effectLst/>
                          <a:latin typeface="Times New Roman" panose="02020603050405020304" pitchFamily="18" charset="0"/>
                          <a:ea typeface="宋体" panose="02010600030101010101" pitchFamily="2" charset="-122"/>
                          <a:sym typeface="Symbol" panose="05050102010706020507" pitchFamily="18" charset="2"/>
                        </a:rPr>
                        <a:t></a:t>
                      </a:r>
                      <a:r>
                        <a:rPr lang="en-US" sz="1800" kern="100" dirty="0">
                          <a:solidFill>
                            <a:srgbClr val="0000FF"/>
                          </a:solidFill>
                          <a:effectLst/>
                          <a:latin typeface="Times New Roman" panose="02020603050405020304" pitchFamily="18" charset="0"/>
                          <a:ea typeface="宋体" panose="02010600030101010101" pitchFamily="2" charset="-122"/>
                        </a:rPr>
                        <a:t>{R.s = </a:t>
                      </a:r>
                      <a:r>
                        <a:rPr lang="en-US" sz="1800" kern="100" dirty="0" err="1">
                          <a:solidFill>
                            <a:srgbClr val="0000FF"/>
                          </a:solidFill>
                          <a:effectLst/>
                          <a:latin typeface="Times New Roman" panose="02020603050405020304" pitchFamily="18" charset="0"/>
                          <a:ea typeface="宋体" panose="02010600030101010101" pitchFamily="2" charset="-122"/>
                        </a:rPr>
                        <a:t>R.i</a:t>
                      </a:r>
                      <a:r>
                        <a:rPr lang="en-US" sz="1800" kern="100" dirty="0">
                          <a:solidFill>
                            <a:srgbClr val="0000FF"/>
                          </a:solidFill>
                          <a:effectLst/>
                          <a:latin typeface="Times New Roman" panose="02020603050405020304" pitchFamily="18" charset="0"/>
                          <a:ea typeface="宋体" panose="02010600030101010101" pitchFamily="2" charset="-122"/>
                        </a:rPr>
                        <a:t>}</a:t>
                      </a:r>
                      <a:endParaRPr lang="zh-CN" sz="1800" kern="100" dirty="0">
                        <a:solidFill>
                          <a:srgbClr val="0000FF"/>
                        </a:solidFill>
                        <a:effectLst/>
                        <a:latin typeface="Times New Roman" panose="02020603050405020304" pitchFamily="18" charset="0"/>
                        <a:ea typeface="宋体" panose="02010600030101010101" pitchFamily="2" charset="-122"/>
                      </a:endParaRPr>
                    </a:p>
                  </a:txBody>
                  <a:tcPr marL="68581" marR="68581" marT="0" marB="0">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636847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041258"/>
            <a:ext cx="7332457" cy="769441"/>
          </a:xfrm>
          <a:prstGeom prst="rect">
            <a:avLst/>
          </a:prstGeom>
        </p:spPr>
        <p:txBody>
          <a:bodyPr wrap="non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、常见语句的语法制导翻译</a:t>
            </a:r>
          </a:p>
        </p:txBody>
      </p:sp>
    </p:spTree>
    <p:extLst>
      <p:ext uri="{BB962C8B-B14F-4D97-AF65-F5344CB8AC3E}">
        <p14:creationId xmlns:p14="http://schemas.microsoft.com/office/powerpoint/2010/main" val="21837711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51520" y="123478"/>
            <a:ext cx="8497887" cy="628650"/>
          </a:xfrm>
        </p:spPr>
        <p:txBody>
          <a:bodyPr>
            <a:noAutofit/>
          </a:bodyPr>
          <a:lstStyle/>
          <a:p>
            <a:pPr eaLnBrk="1" hangingPunct="1"/>
            <a:r>
              <a:rPr kumimoji="1" lang="en-US" altLang="zh-CN" b="1" dirty="0">
                <a:solidFill>
                  <a:srgbClr val="CC0099"/>
                </a:solidFill>
                <a:latin typeface="Times New Roman" pitchFamily="18" charset="0"/>
                <a:ea typeface="隶书" pitchFamily="49" charset="-122"/>
              </a:rPr>
              <a:t>5.4 </a:t>
            </a:r>
            <a:r>
              <a:rPr kumimoji="1" lang="zh-CN" altLang="en-US" b="1" dirty="0">
                <a:solidFill>
                  <a:srgbClr val="CC0099"/>
                </a:solidFill>
                <a:latin typeface="Times New Roman" pitchFamily="18" charset="0"/>
                <a:ea typeface="隶书" pitchFamily="49" charset="-122"/>
              </a:rPr>
              <a:t>常见语句的语法制导的翻译</a:t>
            </a:r>
          </a:p>
        </p:txBody>
      </p:sp>
      <p:sp>
        <p:nvSpPr>
          <p:cNvPr id="25603" name="Rectangle 3"/>
          <p:cNvSpPr>
            <a:spLocks noGrp="1" noChangeArrowheads="1"/>
          </p:cNvSpPr>
          <p:nvPr>
            <p:ph type="body" idx="1"/>
          </p:nvPr>
        </p:nvSpPr>
        <p:spPr>
          <a:xfrm>
            <a:off x="354014" y="971550"/>
            <a:ext cx="8435975" cy="4171950"/>
          </a:xfrm>
        </p:spPr>
        <p:txBody>
          <a:bodyPr/>
          <a:lstStyle/>
          <a:p>
            <a:pPr eaLnBrk="1" hangingPunct="1">
              <a:lnSpc>
                <a:spcPct val="90000"/>
              </a:lnSpc>
            </a:pPr>
            <a:r>
              <a:rPr lang="zh-CN" altLang="en-US" sz="2800" b="1" dirty="0"/>
              <a:t>高级语言的语句分类：</a:t>
            </a:r>
          </a:p>
          <a:p>
            <a:pPr lvl="1" eaLnBrk="1" hangingPunct="1">
              <a:lnSpc>
                <a:spcPct val="90000"/>
              </a:lnSpc>
            </a:pPr>
            <a:r>
              <a:rPr lang="zh-CN" altLang="en-US" dirty="0"/>
              <a:t>声明语句</a:t>
            </a:r>
            <a:r>
              <a:rPr lang="en-US" altLang="zh-CN" dirty="0"/>
              <a:t>——</a:t>
            </a:r>
            <a:r>
              <a:rPr lang="zh-CN" altLang="en-US" dirty="0"/>
              <a:t>声明各种名字的属性</a:t>
            </a:r>
          </a:p>
          <a:p>
            <a:pPr lvl="1" eaLnBrk="1" hangingPunct="1">
              <a:lnSpc>
                <a:spcPct val="90000"/>
              </a:lnSpc>
            </a:pPr>
            <a:r>
              <a:rPr lang="zh-CN" altLang="en-US" dirty="0"/>
              <a:t>可执行语句</a:t>
            </a:r>
            <a:r>
              <a:rPr lang="en-US" altLang="zh-CN" dirty="0"/>
              <a:t>——</a:t>
            </a:r>
            <a:r>
              <a:rPr lang="zh-CN" altLang="en-US" dirty="0"/>
              <a:t>用于完成指定的功能，涉及到指令代码</a:t>
            </a:r>
          </a:p>
          <a:p>
            <a:pPr eaLnBrk="1" hangingPunct="1">
              <a:lnSpc>
                <a:spcPct val="90000"/>
              </a:lnSpc>
            </a:pPr>
            <a:r>
              <a:rPr lang="zh-CN" altLang="en-US" sz="2800" b="1" dirty="0"/>
              <a:t>语义处理也分两类：</a:t>
            </a:r>
          </a:p>
          <a:p>
            <a:pPr lvl="1" eaLnBrk="1" hangingPunct="1">
              <a:lnSpc>
                <a:spcPct val="90000"/>
              </a:lnSpc>
            </a:pPr>
            <a:r>
              <a:rPr lang="zh-CN" altLang="en-US" dirty="0"/>
              <a:t>处理声明语句时，将所定义的名字的各种属性登记到符号表中</a:t>
            </a:r>
          </a:p>
          <a:p>
            <a:pPr lvl="1" eaLnBrk="1" hangingPunct="1">
              <a:lnSpc>
                <a:spcPct val="90000"/>
              </a:lnSpc>
            </a:pPr>
            <a:r>
              <a:rPr lang="zh-CN" altLang="en-US" dirty="0"/>
              <a:t>处理可执行语句时，首先应根据各源语句的语法单位的</a:t>
            </a:r>
            <a:r>
              <a:rPr lang="zh-CN" altLang="en-US" dirty="0">
                <a:solidFill>
                  <a:srgbClr val="FF0000"/>
                </a:solidFill>
              </a:rPr>
              <a:t>语义</a:t>
            </a:r>
            <a:r>
              <a:rPr lang="zh-CN" altLang="en-US" dirty="0"/>
              <a:t>设计出它的</a:t>
            </a:r>
            <a:r>
              <a:rPr lang="zh-CN" altLang="en-US" b="1" dirty="0">
                <a:solidFill>
                  <a:srgbClr val="0033CC"/>
                </a:solidFill>
              </a:rPr>
              <a:t>目标代码结构</a:t>
            </a:r>
            <a:r>
              <a:rPr lang="zh-CN" altLang="en-US" dirty="0"/>
              <a:t>，找出源与目标的对应关系，给出各文法符号的属性和各个产生式对应的属性计算规则（即从源到目标的</a:t>
            </a:r>
            <a:r>
              <a:rPr lang="zh-CN" altLang="en-US" b="1" dirty="0">
                <a:solidFill>
                  <a:srgbClr val="0033CC"/>
                </a:solidFill>
              </a:rPr>
              <a:t>变换算法</a:t>
            </a:r>
            <a:r>
              <a:rPr lang="zh-CN" altLang="en-US" dirty="0"/>
              <a:t>），可执行语句的属性计算主要是进行翻译。将这些属性计算规则写成语义子程序。</a:t>
            </a:r>
            <a:endParaRPr lang="zh-CN" altLang="en-US" sz="2400" dirty="0"/>
          </a:p>
        </p:txBody>
      </p:sp>
    </p:spTree>
    <p:extLst>
      <p:ext uri="{BB962C8B-B14F-4D97-AF65-F5344CB8AC3E}">
        <p14:creationId xmlns:p14="http://schemas.microsoft.com/office/powerpoint/2010/main" val="21646347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5603">
                                            <p:txEl>
                                              <p:pRg st="3" end="3"/>
                                            </p:txEl>
                                          </p:spTgt>
                                        </p:tgtEl>
                                        <p:attrNameLst>
                                          <p:attrName>style.visibility</p:attrName>
                                        </p:attrNameLst>
                                      </p:cBhvr>
                                      <p:to>
                                        <p:strVal val="visible"/>
                                      </p:to>
                                    </p:set>
                                    <p:animEffect transition="in" filter="strips(downLeft)">
                                      <p:cBhvr>
                                        <p:cTn id="7" dur="500"/>
                                        <p:tgtEl>
                                          <p:spTgt spid="2560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5603">
                                            <p:txEl>
                                              <p:pRg st="4" end="4"/>
                                            </p:txEl>
                                          </p:spTgt>
                                        </p:tgtEl>
                                        <p:attrNameLst>
                                          <p:attrName>style.visibility</p:attrName>
                                        </p:attrNameLst>
                                      </p:cBhvr>
                                      <p:to>
                                        <p:strVal val="visible"/>
                                      </p:to>
                                    </p:set>
                                    <p:animEffect transition="in" filter="strips(downLeft)">
                                      <p:cBhvr>
                                        <p:cTn id="12" dur="500"/>
                                        <p:tgtEl>
                                          <p:spTgt spid="2560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25603">
                                            <p:txEl>
                                              <p:pRg st="5" end="5"/>
                                            </p:txEl>
                                          </p:spTgt>
                                        </p:tgtEl>
                                        <p:attrNameLst>
                                          <p:attrName>style.visibility</p:attrName>
                                        </p:attrNameLst>
                                      </p:cBhvr>
                                      <p:to>
                                        <p:strVal val="visible"/>
                                      </p:to>
                                    </p:set>
                                    <p:animEffect transition="in" filter="strips(downLeft)">
                                      <p:cBhvr>
                                        <p:cTn id="17" dur="500"/>
                                        <p:tgtEl>
                                          <p:spTgt spid="256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395288" y="465535"/>
            <a:ext cx="8229600" cy="691753"/>
          </a:xfrm>
        </p:spPr>
        <p:txBody>
          <a:bodyPr>
            <a:normAutofit fontScale="90000"/>
          </a:bodyPr>
          <a:lstStyle/>
          <a:p>
            <a:pPr eaLnBrk="1" hangingPunct="1"/>
            <a:r>
              <a:rPr lang="zh-CN" altLang="en-US" sz="4000" b="1">
                <a:ea typeface="楷体_GB2312" pitchFamily="49" charset="-122"/>
              </a:rPr>
              <a:t>声明语句的处理</a:t>
            </a:r>
          </a:p>
        </p:txBody>
      </p:sp>
      <p:sp>
        <p:nvSpPr>
          <p:cNvPr id="62467" name="Rectangle 3"/>
          <p:cNvSpPr>
            <a:spLocks noGrp="1" noChangeArrowheads="1"/>
          </p:cNvSpPr>
          <p:nvPr>
            <p:ph type="body" idx="1"/>
          </p:nvPr>
        </p:nvSpPr>
        <p:spPr>
          <a:xfrm>
            <a:off x="827088" y="1275160"/>
            <a:ext cx="7777162" cy="2887265"/>
          </a:xfrm>
        </p:spPr>
        <p:txBody>
          <a:bodyPr/>
          <a:lstStyle/>
          <a:p>
            <a:pPr eaLnBrk="1" hangingPunct="1"/>
            <a:r>
              <a:rPr lang="zh-CN" altLang="en-US" dirty="0"/>
              <a:t>声明语句的作用：</a:t>
            </a:r>
          </a:p>
          <a:p>
            <a:pPr lvl="1" eaLnBrk="1" hangingPunct="1"/>
            <a:r>
              <a:rPr lang="zh-CN" altLang="en-US" dirty="0"/>
              <a:t>就是声明某个名字的类型、值等属性信息，在处理时主要是填写和修改符号表</a:t>
            </a:r>
          </a:p>
          <a:p>
            <a:pPr eaLnBrk="1" hangingPunct="1"/>
            <a:r>
              <a:rPr lang="zh-CN" altLang="en-US" dirty="0"/>
              <a:t>声明语句分多种，此处举例三种的处理：</a:t>
            </a:r>
          </a:p>
          <a:p>
            <a:pPr lvl="1" eaLnBrk="1" hangingPunct="1"/>
            <a:r>
              <a:rPr lang="zh-CN" altLang="en-US" dirty="0">
                <a:solidFill>
                  <a:srgbClr val="0033CC"/>
                </a:solidFill>
              </a:rPr>
              <a:t>变量声明语句</a:t>
            </a:r>
            <a:r>
              <a:rPr lang="zh-CN" altLang="en-US" dirty="0"/>
              <a:t>的处理</a:t>
            </a:r>
          </a:p>
          <a:p>
            <a:pPr lvl="1" eaLnBrk="1" hangingPunct="1"/>
            <a:r>
              <a:rPr lang="zh-CN" altLang="en-US" dirty="0">
                <a:solidFill>
                  <a:srgbClr val="0033CC"/>
                </a:solidFill>
              </a:rPr>
              <a:t>常量声明语句</a:t>
            </a:r>
            <a:r>
              <a:rPr lang="zh-CN" altLang="en-US" dirty="0"/>
              <a:t>的处理</a:t>
            </a:r>
            <a:endParaRPr lang="en-US" altLang="zh-CN" dirty="0"/>
          </a:p>
          <a:p>
            <a:pPr lvl="1" eaLnBrk="1" hangingPunct="1"/>
            <a:r>
              <a:rPr lang="zh-CN" altLang="en-US" dirty="0">
                <a:solidFill>
                  <a:srgbClr val="0033CC"/>
                </a:solidFill>
              </a:rPr>
              <a:t>函数声明语句</a:t>
            </a:r>
            <a:r>
              <a:rPr lang="zh-CN" altLang="en-US" dirty="0"/>
              <a:t>的处理</a:t>
            </a:r>
          </a:p>
        </p:txBody>
      </p:sp>
    </p:spTree>
    <p:extLst>
      <p:ext uri="{BB962C8B-B14F-4D97-AF65-F5344CB8AC3E}">
        <p14:creationId xmlns:p14="http://schemas.microsoft.com/office/powerpoint/2010/main" val="22916875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041258"/>
            <a:ext cx="7332457" cy="1446550"/>
          </a:xfrm>
          <a:prstGeom prst="rect">
            <a:avLst/>
          </a:prstGeom>
        </p:spPr>
        <p:txBody>
          <a:bodyPr wrap="non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、常见语句的语法制导翻译</a:t>
            </a:r>
            <a:endParaRPr lang="en-US" altLang="zh-CN" sz="4400" b="1" dirty="0">
              <a:solidFill>
                <a:srgbClr val="CC0099"/>
              </a:solidFill>
              <a:ea typeface="隶书" pitchFamily="49" charset="-122"/>
            </a:endParaRPr>
          </a:p>
          <a:p>
            <a:r>
              <a:rPr lang="en-US" altLang="zh-CN" sz="4400" b="1" dirty="0">
                <a:solidFill>
                  <a:srgbClr val="CC0099"/>
                </a:solidFill>
                <a:ea typeface="隶书" pitchFamily="49" charset="-122"/>
              </a:rPr>
              <a:t>    </a:t>
            </a:r>
            <a:r>
              <a:rPr lang="en-US" altLang="zh-CN" sz="3600" b="1" dirty="0">
                <a:solidFill>
                  <a:srgbClr val="CC0099"/>
                </a:solidFill>
                <a:ea typeface="隶书" pitchFamily="49" charset="-122"/>
              </a:rPr>
              <a:t>——</a:t>
            </a:r>
            <a:r>
              <a:rPr lang="zh-CN" altLang="en-US" sz="3600" b="1" dirty="0">
                <a:solidFill>
                  <a:srgbClr val="CC0099"/>
                </a:solidFill>
                <a:ea typeface="隶书" pitchFamily="49" charset="-122"/>
              </a:rPr>
              <a:t>常量声明的语义处理</a:t>
            </a:r>
            <a:endParaRPr lang="zh-CN" altLang="en-US" sz="4400" b="1" dirty="0">
              <a:solidFill>
                <a:srgbClr val="CC0099"/>
              </a:solidFill>
              <a:ea typeface="隶书" pitchFamily="49" charset="-122"/>
            </a:endParaRPr>
          </a:p>
        </p:txBody>
      </p:sp>
    </p:spTree>
    <p:extLst>
      <p:ext uri="{BB962C8B-B14F-4D97-AF65-F5344CB8AC3E}">
        <p14:creationId xmlns:p14="http://schemas.microsoft.com/office/powerpoint/2010/main" val="18344936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4808" y="-92546"/>
            <a:ext cx="5282604" cy="681038"/>
          </a:xfrm>
        </p:spPr>
        <p:txBody>
          <a:bodyPr>
            <a:normAutofit/>
          </a:bodyPr>
          <a:lstStyle/>
          <a:p>
            <a:pPr eaLnBrk="1" hangingPunct="1"/>
            <a:r>
              <a:rPr lang="zh-CN" altLang="en-US" b="1" dirty="0"/>
              <a:t>常量声明语句的语义处理</a:t>
            </a:r>
          </a:p>
        </p:txBody>
      </p:sp>
      <p:sp>
        <p:nvSpPr>
          <p:cNvPr id="63491" name="Rectangle 4"/>
          <p:cNvSpPr>
            <a:spLocks noChangeArrowheads="1"/>
          </p:cNvSpPr>
          <p:nvPr/>
        </p:nvSpPr>
        <p:spPr bwMode="auto">
          <a:xfrm>
            <a:off x="323528" y="556568"/>
            <a:ext cx="4944268" cy="431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buFontTx/>
              <a:buNone/>
            </a:pPr>
            <a:r>
              <a:rPr lang="zh-CN" altLang="en-US" sz="2800" b="1" dirty="0">
                <a:solidFill>
                  <a:srgbClr val="0033CC"/>
                </a:solidFill>
              </a:rPr>
              <a:t>１</a:t>
            </a:r>
            <a:r>
              <a:rPr lang="en-US" altLang="zh-CN" sz="2800" b="1" dirty="0">
                <a:solidFill>
                  <a:srgbClr val="0033CC"/>
                </a:solidFill>
              </a:rPr>
              <a:t>. </a:t>
            </a:r>
            <a:r>
              <a:rPr lang="zh-CN" altLang="en-US" sz="2800" b="1" dirty="0">
                <a:solidFill>
                  <a:srgbClr val="0033CC"/>
                </a:solidFill>
              </a:rPr>
              <a:t>常量声明语句的文法描述</a:t>
            </a:r>
          </a:p>
        </p:txBody>
      </p:sp>
      <p:sp>
        <p:nvSpPr>
          <p:cNvPr id="63492" name="Text Box 11"/>
          <p:cNvSpPr txBox="1">
            <a:spLocks noChangeArrowheads="1"/>
          </p:cNvSpPr>
          <p:nvPr/>
        </p:nvSpPr>
        <p:spPr bwMode="auto">
          <a:xfrm>
            <a:off x="1189038" y="4573192"/>
            <a:ext cx="6940550" cy="523220"/>
          </a:xfrm>
          <a:prstGeom prst="rect">
            <a:avLst/>
          </a:prstGeom>
          <a:solidFill>
            <a:schemeClr val="bg1"/>
          </a:solidFill>
          <a:ln>
            <a:noFill/>
          </a:ln>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buFontTx/>
              <a:buNone/>
            </a:pPr>
            <a:r>
              <a:rPr lang="zh-CN" altLang="en-US" sz="2800" b="1" dirty="0">
                <a:solidFill>
                  <a:srgbClr val="FF3300"/>
                </a:solidFill>
              </a:rPr>
              <a:t>例：</a:t>
            </a:r>
            <a:r>
              <a:rPr lang="en-US" altLang="zh-CN" sz="2800" b="1" dirty="0" err="1">
                <a:solidFill>
                  <a:srgbClr val="FF3300"/>
                </a:solidFill>
              </a:rPr>
              <a:t>const</a:t>
            </a:r>
            <a:r>
              <a:rPr lang="en-US" altLang="zh-CN" sz="2800" b="1" dirty="0">
                <a:solidFill>
                  <a:srgbClr val="FF3300"/>
                </a:solidFill>
              </a:rPr>
              <a:t> </a:t>
            </a:r>
            <a:r>
              <a:rPr lang="en-US" altLang="zh-CN" sz="2800" b="1" dirty="0" err="1">
                <a:solidFill>
                  <a:srgbClr val="FF3300"/>
                </a:solidFill>
              </a:rPr>
              <a:t>int</a:t>
            </a:r>
            <a:r>
              <a:rPr lang="en-US" altLang="zh-CN" sz="2800" b="1" dirty="0">
                <a:solidFill>
                  <a:srgbClr val="FF3300"/>
                </a:solidFill>
              </a:rPr>
              <a:t> A = 123, B = 456;</a:t>
            </a:r>
            <a:endParaRPr lang="zh-CN" altLang="en-US" sz="2800" b="1" dirty="0">
              <a:solidFill>
                <a:srgbClr val="FF3300"/>
              </a:solidFill>
            </a:endParaRPr>
          </a:p>
        </p:txBody>
      </p:sp>
      <p:sp>
        <p:nvSpPr>
          <p:cNvPr id="63493" name="Rectangle 20"/>
          <p:cNvSpPr>
            <a:spLocks noChangeArrowheads="1"/>
          </p:cNvSpPr>
          <p:nvPr/>
        </p:nvSpPr>
        <p:spPr bwMode="auto">
          <a:xfrm>
            <a:off x="635001" y="2584348"/>
            <a:ext cx="7494587" cy="1920526"/>
          </a:xfrm>
          <a:prstGeom prst="rect">
            <a:avLst/>
          </a:prstGeom>
          <a:ln/>
        </p:spPr>
        <p:style>
          <a:lnRef idx="2">
            <a:schemeClr val="accent2"/>
          </a:lnRef>
          <a:fillRef idx="1">
            <a:schemeClr val="lt1"/>
          </a:fillRef>
          <a:effectRef idx="0">
            <a:schemeClr val="accent2"/>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90000"/>
              </a:lnSpc>
              <a:buFontTx/>
              <a:buNone/>
            </a:pPr>
            <a:r>
              <a:rPr lang="zh-CN" altLang="zh-CN" sz="2200" dirty="0">
                <a:latin typeface="宋体" panose="02010600030101010101" pitchFamily="2" charset="-122"/>
              </a:rPr>
              <a:t>（</a:t>
            </a:r>
            <a:r>
              <a:rPr lang="fr-FR" altLang="zh-CN" sz="2200" dirty="0">
                <a:latin typeface="宋体" panose="02010600030101010101" pitchFamily="2" charset="-122"/>
              </a:rPr>
              <a:t>1</a:t>
            </a:r>
            <a:r>
              <a:rPr lang="zh-CN" altLang="zh-CN" sz="2200" dirty="0">
                <a:latin typeface="宋体" panose="02010600030101010101" pitchFamily="2" charset="-122"/>
              </a:rPr>
              <a:t>）</a:t>
            </a:r>
            <a:r>
              <a:rPr lang="fr-FR" altLang="zh-CN" sz="2200" dirty="0">
                <a:latin typeface="宋体" panose="02010600030101010101" pitchFamily="2" charset="-122"/>
              </a:rPr>
              <a:t>&lt;ConstDCL&gt; → &lt;ConstHead&gt;&lt;ConstTDef&gt;</a:t>
            </a:r>
            <a:endParaRPr lang="zh-CN" altLang="zh-CN" sz="2200" dirty="0">
              <a:latin typeface="宋体" panose="02010600030101010101" pitchFamily="2" charset="-122"/>
            </a:endParaRPr>
          </a:p>
          <a:p>
            <a:pPr>
              <a:lnSpc>
                <a:spcPct val="90000"/>
              </a:lnSpc>
              <a:buFontTx/>
              <a:buNone/>
            </a:pPr>
            <a:r>
              <a:rPr lang="zh-CN" altLang="zh-CN" sz="2200" dirty="0">
                <a:latin typeface="宋体" panose="02010600030101010101" pitchFamily="2" charset="-122"/>
              </a:rPr>
              <a:t>（</a:t>
            </a:r>
            <a:r>
              <a:rPr lang="fr-FR" altLang="zh-CN" sz="2200" dirty="0">
                <a:latin typeface="宋体" panose="02010600030101010101" pitchFamily="2" charset="-122"/>
              </a:rPr>
              <a:t>2</a:t>
            </a:r>
            <a:r>
              <a:rPr lang="zh-CN" altLang="zh-CN" sz="2200" dirty="0">
                <a:latin typeface="宋体" panose="02010600030101010101" pitchFamily="2" charset="-122"/>
              </a:rPr>
              <a:t>）</a:t>
            </a:r>
            <a:r>
              <a:rPr lang="fr-FR" altLang="zh-CN" sz="2200" dirty="0">
                <a:latin typeface="宋体" panose="02010600030101010101" pitchFamily="2" charset="-122"/>
              </a:rPr>
              <a:t>           → </a:t>
            </a:r>
            <a:r>
              <a:rPr lang="en-US" altLang="zh-CN" sz="2200" dirty="0">
                <a:latin typeface="宋体" panose="02010600030101010101" pitchFamily="2" charset="-122"/>
                <a:sym typeface="Symbol" pitchFamily="18" charset="2"/>
              </a:rPr>
              <a:t></a:t>
            </a:r>
            <a:endParaRPr lang="zh-CN" altLang="zh-CN" sz="2200" dirty="0">
              <a:latin typeface="宋体" panose="02010600030101010101" pitchFamily="2" charset="-122"/>
            </a:endParaRPr>
          </a:p>
          <a:p>
            <a:pPr>
              <a:lnSpc>
                <a:spcPct val="90000"/>
              </a:lnSpc>
              <a:buFontTx/>
              <a:buNone/>
            </a:pPr>
            <a:r>
              <a:rPr lang="zh-CN" altLang="zh-CN" sz="2200" dirty="0">
                <a:latin typeface="宋体" panose="02010600030101010101" pitchFamily="2" charset="-122"/>
              </a:rPr>
              <a:t>（</a:t>
            </a:r>
            <a:r>
              <a:rPr lang="fr-FR" altLang="zh-CN" sz="2200" dirty="0">
                <a:latin typeface="宋体" panose="02010600030101010101" pitchFamily="2" charset="-122"/>
              </a:rPr>
              <a:t>3</a:t>
            </a:r>
            <a:r>
              <a:rPr lang="zh-CN" altLang="zh-CN" sz="2200" dirty="0">
                <a:latin typeface="宋体" panose="02010600030101010101" pitchFamily="2" charset="-122"/>
              </a:rPr>
              <a:t>）</a:t>
            </a:r>
            <a:r>
              <a:rPr lang="fr-FR" altLang="zh-CN" sz="2200" dirty="0">
                <a:latin typeface="宋体" panose="02010600030101010101" pitchFamily="2" charset="-122"/>
              </a:rPr>
              <a:t>&lt;ConstHead&gt; → const &lt;ConstType&gt;</a:t>
            </a:r>
            <a:endParaRPr lang="zh-CN" altLang="zh-CN" sz="2200" dirty="0">
              <a:latin typeface="宋体" panose="02010600030101010101" pitchFamily="2" charset="-122"/>
            </a:endParaRPr>
          </a:p>
          <a:p>
            <a:pPr>
              <a:lnSpc>
                <a:spcPct val="90000"/>
              </a:lnSpc>
              <a:buFontTx/>
              <a:buNone/>
            </a:pPr>
            <a:r>
              <a:rPr lang="zh-CN" altLang="zh-CN" sz="2200" dirty="0">
                <a:latin typeface="宋体" panose="02010600030101010101" pitchFamily="2" charset="-122"/>
              </a:rPr>
              <a:t>（</a:t>
            </a:r>
            <a:r>
              <a:rPr lang="fr-FR" altLang="zh-CN" sz="2200" dirty="0">
                <a:latin typeface="宋体" panose="02010600030101010101" pitchFamily="2" charset="-122"/>
              </a:rPr>
              <a:t>4</a:t>
            </a:r>
            <a:r>
              <a:rPr lang="zh-CN" altLang="zh-CN" sz="2200" dirty="0">
                <a:latin typeface="宋体" panose="02010600030101010101" pitchFamily="2" charset="-122"/>
              </a:rPr>
              <a:t>）</a:t>
            </a:r>
            <a:r>
              <a:rPr lang="fr-FR" altLang="zh-CN" sz="2200" dirty="0">
                <a:latin typeface="宋体" panose="02010600030101010101" pitchFamily="2" charset="-122"/>
              </a:rPr>
              <a:t>&lt;ConstType&gt; → int | float | char</a:t>
            </a:r>
            <a:endParaRPr lang="zh-CN" altLang="zh-CN" sz="2200" dirty="0">
              <a:latin typeface="宋体" panose="02010600030101010101" pitchFamily="2" charset="-122"/>
            </a:endParaRPr>
          </a:p>
          <a:p>
            <a:pPr>
              <a:lnSpc>
                <a:spcPct val="90000"/>
              </a:lnSpc>
              <a:buFontTx/>
              <a:buNone/>
            </a:pPr>
            <a:r>
              <a:rPr lang="zh-CN" altLang="zh-CN" sz="2200" dirty="0">
                <a:latin typeface="宋体" panose="02010600030101010101" pitchFamily="2" charset="-122"/>
              </a:rPr>
              <a:t>（</a:t>
            </a:r>
            <a:r>
              <a:rPr lang="fr-FR" altLang="zh-CN" sz="2200" dirty="0">
                <a:latin typeface="宋体" panose="02010600030101010101" pitchFamily="2" charset="-122"/>
              </a:rPr>
              <a:t>5</a:t>
            </a:r>
            <a:r>
              <a:rPr lang="zh-CN" altLang="zh-CN" sz="2200" dirty="0">
                <a:latin typeface="宋体" panose="02010600030101010101" pitchFamily="2" charset="-122"/>
              </a:rPr>
              <a:t>）</a:t>
            </a:r>
            <a:r>
              <a:rPr lang="fr-FR" altLang="zh-CN" sz="2200" dirty="0">
                <a:latin typeface="宋体" panose="02010600030101010101" pitchFamily="2" charset="-122"/>
              </a:rPr>
              <a:t>&lt;ConstTDef&gt; →id=value, &lt;ConstTDef&gt;</a:t>
            </a:r>
            <a:endParaRPr lang="zh-CN" altLang="zh-CN" sz="2200" dirty="0">
              <a:latin typeface="宋体" panose="02010600030101010101" pitchFamily="2" charset="-122"/>
            </a:endParaRPr>
          </a:p>
          <a:p>
            <a:pPr>
              <a:lnSpc>
                <a:spcPct val="90000"/>
              </a:lnSpc>
              <a:buFontTx/>
              <a:buNone/>
            </a:pPr>
            <a:r>
              <a:rPr lang="zh-CN" altLang="zh-CN" sz="2200" dirty="0">
                <a:latin typeface="宋体" panose="02010600030101010101" pitchFamily="2" charset="-122"/>
              </a:rPr>
              <a:t>（</a:t>
            </a:r>
            <a:r>
              <a:rPr lang="fr-FR" altLang="zh-CN" sz="2200" dirty="0">
                <a:latin typeface="宋体" panose="02010600030101010101" pitchFamily="2" charset="-122"/>
              </a:rPr>
              <a:t>6</a:t>
            </a:r>
            <a:r>
              <a:rPr lang="zh-CN" altLang="zh-CN" sz="2200" dirty="0">
                <a:latin typeface="宋体" panose="02010600030101010101" pitchFamily="2" charset="-122"/>
              </a:rPr>
              <a:t>）</a:t>
            </a:r>
            <a:r>
              <a:rPr lang="fr-FR" altLang="zh-CN" sz="2200" dirty="0">
                <a:latin typeface="宋体" panose="02010600030101010101" pitchFamily="2" charset="-122"/>
              </a:rPr>
              <a:t>&lt;ConstTDef&gt; → id=value; </a:t>
            </a:r>
            <a:endParaRPr lang="fr-FR" altLang="zh-CN" sz="2200" dirty="0">
              <a:latin typeface="宋体" pitchFamily="2" charset="-122"/>
              <a:cs typeface="Times New Roman" pitchFamily="18" charset="0"/>
              <a:sym typeface="Symbol" pitchFamily="18" charset="2"/>
            </a:endParaRPr>
          </a:p>
        </p:txBody>
      </p:sp>
      <p:sp>
        <p:nvSpPr>
          <p:cNvPr id="2" name="矩形 1"/>
          <p:cNvSpPr/>
          <p:nvPr/>
        </p:nvSpPr>
        <p:spPr>
          <a:xfrm>
            <a:off x="635001" y="1116606"/>
            <a:ext cx="7494587" cy="13111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90000"/>
              </a:lnSpc>
              <a:spcBef>
                <a:spcPct val="0"/>
              </a:spcBef>
              <a:buFontTx/>
              <a:buNone/>
              <a:defRPr/>
            </a:pPr>
            <a:r>
              <a:rPr lang="en-US" altLang="zh-CN" sz="2200" dirty="0">
                <a:latin typeface="宋体" panose="02010600030101010101" pitchFamily="2" charset="-122"/>
                <a:ea typeface="宋体" panose="02010600030101010101" pitchFamily="2" charset="-122"/>
              </a:rPr>
              <a:t>&lt;</a:t>
            </a:r>
            <a:r>
              <a:rPr lang="zh-CN" altLang="zh-CN" sz="2200" dirty="0">
                <a:latin typeface="宋体" panose="02010600030101010101" pitchFamily="2" charset="-122"/>
                <a:ea typeface="宋体" panose="02010600030101010101" pitchFamily="2" charset="-122"/>
              </a:rPr>
              <a:t>常量声明</a:t>
            </a:r>
            <a:r>
              <a:rPr lang="en-US" altLang="zh-CN" sz="2200" dirty="0">
                <a:latin typeface="宋体" panose="02010600030101010101" pitchFamily="2" charset="-122"/>
                <a:ea typeface="宋体" panose="02010600030101010101" pitchFamily="2" charset="-122"/>
              </a:rPr>
              <a:t>&gt;</a:t>
            </a:r>
            <a:r>
              <a:rPr lang="zh-CN" altLang="zh-CN" sz="2200" dirty="0">
                <a:latin typeface="宋体" panose="02010600030101010101" pitchFamily="2" charset="-122"/>
                <a:ea typeface="宋体" panose="02010600030101010101" pitchFamily="2" charset="-122"/>
              </a:rPr>
              <a:t>→</a:t>
            </a:r>
            <a:r>
              <a:rPr lang="en-US" altLang="zh-CN" sz="2200" dirty="0" err="1">
                <a:latin typeface="宋体" panose="02010600030101010101" pitchFamily="2" charset="-122"/>
                <a:ea typeface="宋体" panose="02010600030101010101" pitchFamily="2" charset="-122"/>
              </a:rPr>
              <a:t>const</a:t>
            </a:r>
            <a:r>
              <a:rPr lang="en-US" altLang="zh-CN" sz="2200" dirty="0">
                <a:latin typeface="宋体" panose="02010600030101010101" pitchFamily="2" charset="-122"/>
                <a:ea typeface="宋体" panose="02010600030101010101" pitchFamily="2" charset="-122"/>
              </a:rPr>
              <a:t> &lt;</a:t>
            </a:r>
            <a:r>
              <a:rPr lang="zh-CN" altLang="zh-CN" sz="2200" dirty="0">
                <a:latin typeface="宋体" panose="02010600030101010101" pitchFamily="2" charset="-122"/>
                <a:ea typeface="宋体" panose="02010600030101010101" pitchFamily="2" charset="-122"/>
              </a:rPr>
              <a:t>常量类型</a:t>
            </a:r>
            <a:r>
              <a:rPr lang="en-US" altLang="zh-CN" sz="2200" dirty="0">
                <a:latin typeface="宋体" panose="02010600030101010101" pitchFamily="2" charset="-122"/>
                <a:ea typeface="宋体" panose="02010600030101010101" pitchFamily="2" charset="-122"/>
              </a:rPr>
              <a:t>&gt; &lt;</a:t>
            </a:r>
            <a:r>
              <a:rPr lang="zh-CN" altLang="zh-CN" sz="2200" dirty="0">
                <a:latin typeface="宋体" panose="02010600030101010101" pitchFamily="2" charset="-122"/>
                <a:ea typeface="宋体" panose="02010600030101010101" pitchFamily="2" charset="-122"/>
              </a:rPr>
              <a:t>常量声明表</a:t>
            </a:r>
            <a:r>
              <a:rPr lang="en-US" altLang="zh-CN" sz="2200" dirty="0">
                <a:latin typeface="宋体" panose="02010600030101010101" pitchFamily="2" charset="-122"/>
                <a:ea typeface="宋体" panose="02010600030101010101" pitchFamily="2" charset="-122"/>
              </a:rPr>
              <a:t>&gt;|</a:t>
            </a:r>
            <a:r>
              <a:rPr lang="en-US" altLang="zh-CN" sz="2000" dirty="0">
                <a:sym typeface="Symbol" pitchFamily="18" charset="2"/>
              </a:rPr>
              <a:t> </a:t>
            </a:r>
            <a:r>
              <a:rPr lang="en-US" altLang="zh-CN" sz="2200" dirty="0">
                <a:sym typeface="Symbol" pitchFamily="18" charset="2"/>
              </a:rPr>
              <a:t></a:t>
            </a:r>
            <a:endParaRPr lang="zh-CN" altLang="zh-CN" sz="2200" dirty="0">
              <a:latin typeface="宋体" panose="02010600030101010101" pitchFamily="2" charset="-122"/>
              <a:ea typeface="宋体" panose="02010600030101010101" pitchFamily="2" charset="-122"/>
            </a:endParaRPr>
          </a:p>
          <a:p>
            <a:pPr>
              <a:lnSpc>
                <a:spcPct val="90000"/>
              </a:lnSpc>
              <a:spcBef>
                <a:spcPct val="0"/>
              </a:spcBef>
              <a:buFontTx/>
              <a:buNone/>
              <a:defRPr/>
            </a:pPr>
            <a:r>
              <a:rPr lang="en-US" altLang="zh-CN" sz="2200" dirty="0">
                <a:latin typeface="宋体" panose="02010600030101010101" pitchFamily="2" charset="-122"/>
                <a:ea typeface="宋体" panose="02010600030101010101" pitchFamily="2" charset="-122"/>
              </a:rPr>
              <a:t>&lt;</a:t>
            </a:r>
            <a:r>
              <a:rPr lang="zh-CN" altLang="zh-CN" sz="2200" dirty="0">
                <a:latin typeface="宋体" panose="02010600030101010101" pitchFamily="2" charset="-122"/>
                <a:ea typeface="宋体" panose="02010600030101010101" pitchFamily="2" charset="-122"/>
              </a:rPr>
              <a:t>常量类型</a:t>
            </a:r>
            <a:r>
              <a:rPr lang="en-US" altLang="zh-CN" sz="2200" dirty="0">
                <a:latin typeface="宋体" panose="02010600030101010101" pitchFamily="2" charset="-122"/>
                <a:ea typeface="宋体" panose="02010600030101010101" pitchFamily="2" charset="-122"/>
              </a:rPr>
              <a:t>&gt;</a:t>
            </a:r>
            <a:r>
              <a:rPr lang="zh-CN" altLang="zh-CN" sz="2200" dirty="0">
                <a:latin typeface="宋体" panose="02010600030101010101" pitchFamily="2" charset="-122"/>
                <a:ea typeface="宋体" panose="02010600030101010101" pitchFamily="2" charset="-122"/>
              </a:rPr>
              <a:t>→</a:t>
            </a:r>
            <a:r>
              <a:rPr lang="en-US" altLang="zh-CN" sz="2200" dirty="0" err="1">
                <a:latin typeface="宋体" panose="02010600030101010101" pitchFamily="2" charset="-122"/>
                <a:ea typeface="宋体" panose="02010600030101010101" pitchFamily="2" charset="-122"/>
              </a:rPr>
              <a:t>int|char|float</a:t>
            </a:r>
            <a:endParaRPr lang="zh-CN" altLang="zh-CN" sz="2200" dirty="0">
              <a:latin typeface="宋体" panose="02010600030101010101" pitchFamily="2" charset="-122"/>
              <a:ea typeface="宋体" panose="02010600030101010101" pitchFamily="2" charset="-122"/>
            </a:endParaRPr>
          </a:p>
          <a:p>
            <a:pPr>
              <a:lnSpc>
                <a:spcPct val="90000"/>
              </a:lnSpc>
              <a:spcBef>
                <a:spcPct val="0"/>
              </a:spcBef>
              <a:buFontTx/>
              <a:buNone/>
              <a:defRPr/>
            </a:pPr>
            <a:r>
              <a:rPr lang="en-US" altLang="zh-CN" sz="2200" dirty="0">
                <a:latin typeface="宋体" panose="02010600030101010101" pitchFamily="2" charset="-122"/>
                <a:ea typeface="宋体" panose="02010600030101010101" pitchFamily="2" charset="-122"/>
              </a:rPr>
              <a:t>&lt;</a:t>
            </a:r>
            <a:r>
              <a:rPr lang="zh-CN" altLang="zh-CN" sz="2200" dirty="0">
                <a:latin typeface="宋体" panose="02010600030101010101" pitchFamily="2" charset="-122"/>
                <a:ea typeface="宋体" panose="02010600030101010101" pitchFamily="2" charset="-122"/>
              </a:rPr>
              <a:t>常量声明表</a:t>
            </a:r>
            <a:r>
              <a:rPr lang="en-US" altLang="zh-CN" sz="2200" dirty="0">
                <a:latin typeface="宋体" panose="02010600030101010101" pitchFamily="2" charset="-122"/>
                <a:ea typeface="宋体" panose="02010600030101010101" pitchFamily="2" charset="-122"/>
              </a:rPr>
              <a:t>&gt;</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&lt;</a:t>
            </a:r>
            <a:r>
              <a:rPr lang="zh-CN" altLang="zh-CN" sz="2200" dirty="0">
                <a:latin typeface="宋体" panose="02010600030101010101" pitchFamily="2" charset="-122"/>
                <a:ea typeface="宋体" panose="02010600030101010101" pitchFamily="2" charset="-122"/>
              </a:rPr>
              <a:t>标识符</a:t>
            </a:r>
            <a:r>
              <a:rPr lang="en-US" altLang="zh-CN" sz="2200" dirty="0">
                <a:latin typeface="宋体" panose="02010600030101010101" pitchFamily="2" charset="-122"/>
                <a:ea typeface="宋体" panose="02010600030101010101" pitchFamily="2" charset="-122"/>
              </a:rPr>
              <a:t>&gt; = &lt;</a:t>
            </a:r>
            <a:r>
              <a:rPr lang="zh-CN" altLang="zh-CN" sz="2200" dirty="0">
                <a:latin typeface="宋体" panose="02010600030101010101" pitchFamily="2" charset="-122"/>
                <a:ea typeface="宋体" panose="02010600030101010101" pitchFamily="2" charset="-122"/>
              </a:rPr>
              <a:t>常量</a:t>
            </a:r>
            <a:r>
              <a:rPr lang="en-US" altLang="zh-CN" sz="2200" dirty="0">
                <a:latin typeface="宋体" panose="02010600030101010101" pitchFamily="2" charset="-122"/>
                <a:ea typeface="宋体" panose="02010600030101010101" pitchFamily="2" charset="-122"/>
              </a:rPr>
              <a:t>&gt;;</a:t>
            </a:r>
          </a:p>
          <a:p>
            <a:pPr>
              <a:lnSpc>
                <a:spcPct val="90000"/>
              </a:lnSpc>
              <a:spcBef>
                <a:spcPct val="0"/>
              </a:spcBef>
              <a:buFontTx/>
              <a:buNone/>
              <a:defRPr/>
            </a:pPr>
            <a:r>
              <a:rPr lang="en-US" altLang="zh-CN" sz="2200" dirty="0">
                <a:latin typeface="宋体" panose="02010600030101010101" pitchFamily="2" charset="-122"/>
                <a:ea typeface="宋体" panose="02010600030101010101" pitchFamily="2" charset="-122"/>
              </a:rPr>
              <a:t>             |&lt;</a:t>
            </a:r>
            <a:r>
              <a:rPr lang="zh-CN" altLang="zh-CN" sz="2200" dirty="0">
                <a:latin typeface="宋体" panose="02010600030101010101" pitchFamily="2" charset="-122"/>
                <a:ea typeface="宋体" panose="02010600030101010101" pitchFamily="2" charset="-122"/>
              </a:rPr>
              <a:t>标识符</a:t>
            </a:r>
            <a:r>
              <a:rPr lang="en-US" altLang="zh-CN" sz="2200" dirty="0">
                <a:latin typeface="宋体" panose="02010600030101010101" pitchFamily="2" charset="-122"/>
                <a:ea typeface="宋体" panose="02010600030101010101" pitchFamily="2" charset="-122"/>
              </a:rPr>
              <a:t>&gt; = &lt;</a:t>
            </a:r>
            <a:r>
              <a:rPr lang="zh-CN" altLang="zh-CN" sz="2200" dirty="0">
                <a:latin typeface="宋体" panose="02010600030101010101" pitchFamily="2" charset="-122"/>
                <a:ea typeface="宋体" panose="02010600030101010101" pitchFamily="2" charset="-122"/>
              </a:rPr>
              <a:t>常量</a:t>
            </a:r>
            <a:r>
              <a:rPr lang="en-US" altLang="zh-CN" sz="2200" dirty="0">
                <a:latin typeface="宋体" panose="02010600030101010101" pitchFamily="2" charset="-122"/>
                <a:ea typeface="宋体" panose="02010600030101010101" pitchFamily="2" charset="-122"/>
              </a:rPr>
              <a:t>&gt;,&lt;</a:t>
            </a:r>
            <a:r>
              <a:rPr lang="zh-CN" altLang="zh-CN" sz="2200" dirty="0">
                <a:latin typeface="宋体" panose="02010600030101010101" pitchFamily="2" charset="-122"/>
                <a:ea typeface="宋体" panose="02010600030101010101" pitchFamily="2" charset="-122"/>
              </a:rPr>
              <a:t>常量声明表</a:t>
            </a:r>
            <a:r>
              <a:rPr lang="en-US" altLang="zh-CN" sz="2200" dirty="0">
                <a:latin typeface="宋体" panose="02010600030101010101" pitchFamily="2" charset="-122"/>
                <a:ea typeface="宋体" panose="02010600030101010101" pitchFamily="2" charset="-122"/>
              </a:rPr>
              <a:t>&gt;</a:t>
            </a:r>
            <a:endParaRPr lang="zh-CN" altLang="zh-CN" sz="2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33234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animBg="1"/>
      <p:bldP spid="63493"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0"/>
          <p:cNvSpPr>
            <a:spLocks noChangeArrowheads="1"/>
          </p:cNvSpPr>
          <p:nvPr/>
        </p:nvSpPr>
        <p:spPr bwMode="auto">
          <a:xfrm>
            <a:off x="1589" y="130701"/>
            <a:ext cx="5794547" cy="1754326"/>
          </a:xfrm>
          <a:prstGeom prst="rect">
            <a:avLst/>
          </a:prstGeom>
          <a:ln/>
        </p:spPr>
        <p:style>
          <a:lnRef idx="2">
            <a:schemeClr val="accent2"/>
          </a:lnRef>
          <a:fillRef idx="1">
            <a:schemeClr val="lt1"/>
          </a:fillRef>
          <a:effectRef idx="0">
            <a:schemeClr val="accent2"/>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90000"/>
              </a:lnSpc>
              <a:buFontTx/>
              <a:buNone/>
            </a:pPr>
            <a:r>
              <a:rPr lang="zh-CN" altLang="zh-CN" sz="2000" dirty="0"/>
              <a:t>（</a:t>
            </a:r>
            <a:r>
              <a:rPr lang="fr-FR" altLang="zh-CN" sz="2000" dirty="0"/>
              <a:t>1</a:t>
            </a:r>
            <a:r>
              <a:rPr lang="zh-CN" altLang="zh-CN" sz="2000" dirty="0"/>
              <a:t>）</a:t>
            </a:r>
            <a:r>
              <a:rPr lang="fr-FR" altLang="zh-CN" sz="2000" dirty="0"/>
              <a:t>&lt;ConstDCL&gt; → &lt;ConstHead&gt;&lt;ConstTDef&gt;</a:t>
            </a:r>
            <a:endParaRPr lang="zh-CN" altLang="zh-CN" sz="2000" dirty="0"/>
          </a:p>
          <a:p>
            <a:pPr>
              <a:lnSpc>
                <a:spcPct val="90000"/>
              </a:lnSpc>
              <a:buFontTx/>
              <a:buNone/>
            </a:pPr>
            <a:r>
              <a:rPr lang="zh-CN" altLang="zh-CN" sz="2000" dirty="0"/>
              <a:t>（</a:t>
            </a:r>
            <a:r>
              <a:rPr lang="fr-FR" altLang="zh-CN" sz="2000" dirty="0"/>
              <a:t>2</a:t>
            </a:r>
            <a:r>
              <a:rPr lang="zh-CN" altLang="zh-CN" sz="2000" dirty="0"/>
              <a:t>）</a:t>
            </a:r>
            <a:r>
              <a:rPr lang="fr-FR" altLang="zh-CN" sz="2000" dirty="0"/>
              <a:t>                      → </a:t>
            </a:r>
            <a:r>
              <a:rPr lang="en-US" altLang="zh-CN" sz="2000" dirty="0">
                <a:sym typeface="Symbol" pitchFamily="18" charset="2"/>
              </a:rPr>
              <a:t></a:t>
            </a:r>
            <a:endParaRPr lang="zh-CN" altLang="zh-CN" sz="2000" dirty="0"/>
          </a:p>
          <a:p>
            <a:pPr>
              <a:lnSpc>
                <a:spcPct val="90000"/>
              </a:lnSpc>
              <a:buFontTx/>
              <a:buNone/>
            </a:pPr>
            <a:r>
              <a:rPr lang="zh-CN" altLang="zh-CN" sz="2000" dirty="0"/>
              <a:t>（</a:t>
            </a:r>
            <a:r>
              <a:rPr lang="fr-FR" altLang="zh-CN" sz="2000" dirty="0"/>
              <a:t>3</a:t>
            </a:r>
            <a:r>
              <a:rPr lang="zh-CN" altLang="zh-CN" sz="2000" dirty="0"/>
              <a:t>）</a:t>
            </a:r>
            <a:r>
              <a:rPr lang="fr-FR" altLang="zh-CN" sz="2000" dirty="0"/>
              <a:t>&lt;ConstHead&gt; → const &lt;ConstType&gt;</a:t>
            </a:r>
            <a:endParaRPr lang="zh-CN" altLang="zh-CN" sz="2000" dirty="0"/>
          </a:p>
          <a:p>
            <a:pPr>
              <a:lnSpc>
                <a:spcPct val="90000"/>
              </a:lnSpc>
              <a:buFontTx/>
              <a:buNone/>
            </a:pPr>
            <a:r>
              <a:rPr lang="zh-CN" altLang="zh-CN" sz="2000" dirty="0"/>
              <a:t>（</a:t>
            </a:r>
            <a:r>
              <a:rPr lang="fr-FR" altLang="zh-CN" sz="2000" dirty="0"/>
              <a:t>4</a:t>
            </a:r>
            <a:r>
              <a:rPr lang="zh-CN" altLang="zh-CN" sz="2000" dirty="0"/>
              <a:t>）</a:t>
            </a:r>
            <a:r>
              <a:rPr lang="fr-FR" altLang="zh-CN" sz="2000" dirty="0"/>
              <a:t>&lt;ConstType&gt; → int | float | char</a:t>
            </a:r>
            <a:endParaRPr lang="zh-CN" altLang="zh-CN" sz="2000" dirty="0"/>
          </a:p>
          <a:p>
            <a:pPr>
              <a:lnSpc>
                <a:spcPct val="90000"/>
              </a:lnSpc>
              <a:buFontTx/>
              <a:buNone/>
            </a:pPr>
            <a:r>
              <a:rPr lang="zh-CN" altLang="zh-CN" sz="2000" dirty="0"/>
              <a:t>（</a:t>
            </a:r>
            <a:r>
              <a:rPr lang="fr-FR" altLang="zh-CN" sz="2000" dirty="0"/>
              <a:t>5</a:t>
            </a:r>
            <a:r>
              <a:rPr lang="zh-CN" altLang="zh-CN" sz="2000" dirty="0"/>
              <a:t>）</a:t>
            </a:r>
            <a:r>
              <a:rPr lang="fr-FR" altLang="zh-CN" sz="2000" dirty="0"/>
              <a:t>&lt;ConstTDef&gt; →id=value, &lt;ConstTDef&gt;</a:t>
            </a:r>
            <a:r>
              <a:rPr lang="fr-FR" altLang="zh-CN" sz="2000" baseline="30000" dirty="0"/>
              <a:t>(1)</a:t>
            </a:r>
            <a:endParaRPr lang="zh-CN" altLang="zh-CN" sz="2000" dirty="0"/>
          </a:p>
          <a:p>
            <a:pPr>
              <a:lnSpc>
                <a:spcPct val="90000"/>
              </a:lnSpc>
              <a:buFontTx/>
              <a:buNone/>
            </a:pPr>
            <a:r>
              <a:rPr lang="zh-CN" altLang="zh-CN" sz="2000" dirty="0"/>
              <a:t>（</a:t>
            </a:r>
            <a:r>
              <a:rPr lang="fr-FR" altLang="zh-CN" sz="2000" dirty="0"/>
              <a:t>6</a:t>
            </a:r>
            <a:r>
              <a:rPr lang="zh-CN" altLang="zh-CN" sz="2000" dirty="0"/>
              <a:t>）</a:t>
            </a:r>
            <a:r>
              <a:rPr lang="fr-FR" altLang="zh-CN" sz="2000" dirty="0"/>
              <a:t>&lt;ConstTDef&gt; → id=value; </a:t>
            </a:r>
            <a:endParaRPr lang="fr-FR" altLang="zh-CN" sz="2000" dirty="0">
              <a:latin typeface="宋体" pitchFamily="2" charset="-122"/>
              <a:cs typeface="Times New Roman" pitchFamily="18" charset="0"/>
              <a:sym typeface="Symbol" pitchFamily="18" charset="2"/>
            </a:endParaRPr>
          </a:p>
        </p:txBody>
      </p:sp>
      <p:sp>
        <p:nvSpPr>
          <p:cNvPr id="64515" name="矩形 6"/>
          <p:cNvSpPr>
            <a:spLocks noChangeArrowheads="1"/>
          </p:cNvSpPr>
          <p:nvPr/>
        </p:nvSpPr>
        <p:spPr bwMode="auto">
          <a:xfrm>
            <a:off x="30164" y="4731990"/>
            <a:ext cx="3912931" cy="461665"/>
          </a:xfrm>
          <a:prstGeom prst="rect">
            <a:avLst/>
          </a:prstGeom>
          <a:solidFill>
            <a:schemeClr val="bg1"/>
          </a:solidFill>
          <a:ln>
            <a:noFill/>
          </a:ln>
        </p:spPr>
        <p:txBody>
          <a:bodyPr wrap="non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buFontTx/>
              <a:buNone/>
            </a:pPr>
            <a:r>
              <a:rPr lang="en-US" altLang="zh-CN" sz="2400" dirty="0" err="1">
                <a:solidFill>
                  <a:srgbClr val="FF0000"/>
                </a:solidFill>
              </a:rPr>
              <a:t>const</a:t>
            </a:r>
            <a:r>
              <a:rPr lang="en-US" altLang="zh-CN" sz="2400" dirty="0">
                <a:solidFill>
                  <a:srgbClr val="FF0000"/>
                </a:solidFill>
              </a:rPr>
              <a:t> </a:t>
            </a:r>
            <a:r>
              <a:rPr lang="en-US" altLang="zh-CN" sz="2400" dirty="0" err="1">
                <a:solidFill>
                  <a:srgbClr val="FF0000"/>
                </a:solidFill>
              </a:rPr>
              <a:t>int</a:t>
            </a:r>
            <a:r>
              <a:rPr lang="en-US" altLang="zh-CN" sz="2400" dirty="0">
                <a:solidFill>
                  <a:srgbClr val="FF0000"/>
                </a:solidFill>
              </a:rPr>
              <a:t> A = 123</a:t>
            </a:r>
            <a:r>
              <a:rPr lang="zh-CN" altLang="zh-CN" sz="2400" dirty="0">
                <a:solidFill>
                  <a:srgbClr val="FF0000"/>
                </a:solidFill>
              </a:rPr>
              <a:t>，</a:t>
            </a:r>
            <a:r>
              <a:rPr lang="en-US" altLang="zh-CN" sz="2400" dirty="0">
                <a:solidFill>
                  <a:srgbClr val="FF0000"/>
                </a:solidFill>
              </a:rPr>
              <a:t>B = 456;</a:t>
            </a:r>
            <a:endParaRPr lang="zh-CN" altLang="zh-CN" sz="2400" dirty="0">
              <a:solidFill>
                <a:srgbClr val="FF0000"/>
              </a:solidFill>
            </a:endParaRPr>
          </a:p>
        </p:txBody>
      </p:sp>
      <p:sp>
        <p:nvSpPr>
          <p:cNvPr id="64516" name="Rectangle 6"/>
          <p:cNvSpPr>
            <a:spLocks noChangeArrowheads="1"/>
          </p:cNvSpPr>
          <p:nvPr/>
        </p:nvSpPr>
        <p:spPr bwMode="auto">
          <a:xfrm>
            <a:off x="0" y="-231153"/>
            <a:ext cx="186013" cy="462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endParaRPr lang="zh-CN" altLang="en-US" sz="2400"/>
          </a:p>
        </p:txBody>
      </p:sp>
      <p:graphicFrame>
        <p:nvGraphicFramePr>
          <p:cNvPr id="9" name="对象 8"/>
          <p:cNvGraphicFramePr>
            <a:graphicFrameLocks noChangeAspect="1"/>
          </p:cNvGraphicFramePr>
          <p:nvPr>
            <p:extLst>
              <p:ext uri="{D42A27DB-BD31-4B8C-83A1-F6EECF244321}">
                <p14:modId xmlns:p14="http://schemas.microsoft.com/office/powerpoint/2010/main" val="389869047"/>
              </p:ext>
            </p:extLst>
          </p:nvPr>
        </p:nvGraphicFramePr>
        <p:xfrm>
          <a:off x="2" y="1779662"/>
          <a:ext cx="4788022" cy="3010823"/>
        </p:xfrm>
        <a:graphic>
          <a:graphicData uri="http://schemas.openxmlformats.org/presentationml/2006/ole">
            <mc:AlternateContent xmlns:mc="http://schemas.openxmlformats.org/markup-compatibility/2006">
              <mc:Choice xmlns:v="urn:schemas-microsoft-com:vml" Requires="v">
                <p:oleObj spid="_x0000_s15365" name="Visio" r:id="rId3" imgW="3196893" imgH="1593000" progId="Visio.Drawing.11">
                  <p:embed/>
                </p:oleObj>
              </mc:Choice>
              <mc:Fallback>
                <p:oleObj name="Visio" r:id="rId3" imgW="3196893" imgH="1593000" progId="Visio.Drawing.11">
                  <p:embed/>
                  <p:pic>
                    <p:nvPicPr>
                      <p:cNvPr id="9" name="对象 8"/>
                      <p:cNvPicPr>
                        <a:picLocks noChangeAspect="1" noChangeArrowheads="1"/>
                      </p:cNvPicPr>
                      <p:nvPr/>
                    </p:nvPicPr>
                    <p:blipFill>
                      <a:blip r:embed="rId4"/>
                      <a:srcRect/>
                      <a:stretch>
                        <a:fillRect/>
                      </a:stretch>
                    </p:blipFill>
                    <p:spPr bwMode="auto">
                      <a:xfrm>
                        <a:off x="2" y="1779662"/>
                        <a:ext cx="4788022" cy="3010823"/>
                      </a:xfrm>
                      <a:prstGeom prst="rect">
                        <a:avLst/>
                      </a:prstGeom>
                      <a:noFill/>
                      <a:ln>
                        <a:noFill/>
                      </a:ln>
                    </p:spPr>
                  </p:pic>
                </p:oleObj>
              </mc:Fallback>
            </mc:AlternateContent>
          </a:graphicData>
        </a:graphic>
      </p:graphicFrame>
      <p:sp>
        <p:nvSpPr>
          <p:cNvPr id="13" name="Line 16"/>
          <p:cNvSpPr>
            <a:spLocks noChangeShapeType="1"/>
          </p:cNvSpPr>
          <p:nvPr/>
        </p:nvSpPr>
        <p:spPr bwMode="auto">
          <a:xfrm flipV="1">
            <a:off x="1115616" y="3796407"/>
            <a:ext cx="0" cy="431006"/>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4" name="Line 16"/>
          <p:cNvSpPr>
            <a:spLocks noChangeShapeType="1"/>
          </p:cNvSpPr>
          <p:nvPr/>
        </p:nvSpPr>
        <p:spPr bwMode="auto">
          <a:xfrm flipH="1" flipV="1">
            <a:off x="1187623" y="3086695"/>
            <a:ext cx="527455" cy="536377"/>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5" name="Line 16"/>
          <p:cNvSpPr>
            <a:spLocks noChangeShapeType="1"/>
          </p:cNvSpPr>
          <p:nvPr/>
        </p:nvSpPr>
        <p:spPr bwMode="auto">
          <a:xfrm flipV="1">
            <a:off x="1393017" y="2931790"/>
            <a:ext cx="1298062" cy="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6" name="Line 16"/>
          <p:cNvSpPr>
            <a:spLocks noChangeShapeType="1"/>
          </p:cNvSpPr>
          <p:nvPr/>
        </p:nvSpPr>
        <p:spPr bwMode="auto">
          <a:xfrm flipH="1">
            <a:off x="2555776" y="3086696"/>
            <a:ext cx="507720" cy="320278"/>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7" name="Line 16"/>
          <p:cNvSpPr>
            <a:spLocks noChangeShapeType="1"/>
          </p:cNvSpPr>
          <p:nvPr/>
        </p:nvSpPr>
        <p:spPr bwMode="auto">
          <a:xfrm>
            <a:off x="3724020" y="3086696"/>
            <a:ext cx="420182" cy="432197"/>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8" name="Line 16"/>
          <p:cNvSpPr>
            <a:spLocks noChangeShapeType="1"/>
          </p:cNvSpPr>
          <p:nvPr/>
        </p:nvSpPr>
        <p:spPr bwMode="auto">
          <a:xfrm>
            <a:off x="4211960" y="3939902"/>
            <a:ext cx="0" cy="432197"/>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graphicFrame>
        <p:nvGraphicFramePr>
          <p:cNvPr id="19" name="表格 18"/>
          <p:cNvGraphicFramePr>
            <a:graphicFrameLocks noGrp="1"/>
          </p:cNvGraphicFramePr>
          <p:nvPr>
            <p:extLst>
              <p:ext uri="{D42A27DB-BD31-4B8C-83A1-F6EECF244321}">
                <p14:modId xmlns:p14="http://schemas.microsoft.com/office/powerpoint/2010/main" val="1449459940"/>
              </p:ext>
            </p:extLst>
          </p:nvPr>
        </p:nvGraphicFramePr>
        <p:xfrm>
          <a:off x="5414964" y="1939899"/>
          <a:ext cx="3729037" cy="1279923"/>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457200">
                <a:tc>
                  <a:txBody>
                    <a:bodyPr/>
                    <a:lstStyle/>
                    <a:p>
                      <a:pPr algn="ctr">
                        <a:spcAft>
                          <a:spcPts val="0"/>
                        </a:spcAft>
                      </a:pPr>
                      <a:r>
                        <a:rPr lang="zh-CN" sz="1500" kern="100" dirty="0">
                          <a:effectLst/>
                          <a:latin typeface="Times New Roman"/>
                          <a:ea typeface="宋体"/>
                        </a:rPr>
                        <a:t>入口</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dirty="0">
                          <a:effectLst/>
                          <a:latin typeface="Times New Roman"/>
                          <a:ea typeface="宋体"/>
                        </a:rPr>
                        <a:t>常量名</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a:effectLst/>
                          <a:latin typeface="Times New Roman"/>
                          <a:ea typeface="宋体"/>
                        </a:rPr>
                        <a:t>常量类型</a:t>
                      </a:r>
                      <a:r>
                        <a:rPr lang="fr-FR" sz="1500" kern="100">
                          <a:effectLst/>
                          <a:latin typeface="Times New Roman"/>
                          <a:ea typeface="宋体"/>
                        </a:rPr>
                        <a:t>(type)</a:t>
                      </a:r>
                      <a:endParaRPr lang="zh-CN" sz="1500" kern="10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a:effectLst/>
                          <a:latin typeface="Times New Roman"/>
                          <a:ea typeface="宋体"/>
                        </a:rPr>
                        <a:t>值</a:t>
                      </a:r>
                      <a:r>
                        <a:rPr lang="fr-FR" sz="1500" kern="100">
                          <a:effectLst/>
                          <a:latin typeface="Times New Roman"/>
                          <a:ea typeface="宋体"/>
                        </a:rPr>
                        <a:t>(val)</a:t>
                      </a:r>
                      <a:endParaRPr lang="zh-CN" sz="1500" kern="10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0"/>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1"/>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2"/>
                  </a:ext>
                </a:extLst>
              </a:tr>
              <a:tr h="274241">
                <a:tc>
                  <a:txBody>
                    <a:bodyPr/>
                    <a:lstStyle/>
                    <a:p>
                      <a:pPr algn="ctr">
                        <a:spcAft>
                          <a:spcPts val="0"/>
                        </a:spcAft>
                      </a:pPr>
                      <a:r>
                        <a:rPr lang="en-US" altLang="zh-CN" sz="1500" kern="100" dirty="0">
                          <a:effectLst/>
                          <a:latin typeface="Times New Roman"/>
                          <a:ea typeface="宋体"/>
                        </a:rPr>
                        <a:t>……</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3"/>
                  </a:ext>
                </a:extLst>
              </a:tr>
            </a:tbl>
          </a:graphicData>
        </a:graphic>
      </p:graphicFrame>
      <p:sp>
        <p:nvSpPr>
          <p:cNvPr id="20" name="Text Box 6"/>
          <p:cNvSpPr txBox="1">
            <a:spLocks noChangeArrowheads="1"/>
          </p:cNvSpPr>
          <p:nvPr/>
        </p:nvSpPr>
        <p:spPr bwMode="auto">
          <a:xfrm>
            <a:off x="6084168" y="130701"/>
            <a:ext cx="3059832" cy="1169551"/>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lvl1pPr marL="900113" indent="-900113">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buFontTx/>
              <a:buNone/>
              <a:defRPr/>
            </a:pPr>
            <a:r>
              <a:rPr lang="zh-CN" altLang="en-US" sz="2000" b="1" dirty="0">
                <a:solidFill>
                  <a:srgbClr val="0033CC"/>
                </a:solidFill>
              </a:rPr>
              <a:t>常量声明语句的处理</a:t>
            </a:r>
          </a:p>
          <a:p>
            <a:pPr marL="0" indent="0" eaLnBrk="1" hangingPunct="1">
              <a:lnSpc>
                <a:spcPct val="100000"/>
              </a:lnSpc>
              <a:spcBef>
                <a:spcPct val="50000"/>
              </a:spcBef>
              <a:buFontTx/>
              <a:buNone/>
              <a:defRPr/>
            </a:pPr>
            <a:r>
              <a:rPr lang="zh-CN" altLang="en-US" sz="2000" dirty="0"/>
              <a:t>语义动作是将常量的名字、值、类型填入符号表</a:t>
            </a:r>
          </a:p>
        </p:txBody>
      </p:sp>
      <p:graphicFrame>
        <p:nvGraphicFramePr>
          <p:cNvPr id="2" name="表格 1"/>
          <p:cNvGraphicFramePr>
            <a:graphicFrameLocks noGrp="1"/>
          </p:cNvGraphicFramePr>
          <p:nvPr>
            <p:extLst>
              <p:ext uri="{D42A27DB-BD31-4B8C-83A1-F6EECF244321}">
                <p14:modId xmlns:p14="http://schemas.microsoft.com/office/powerpoint/2010/main" val="3809510755"/>
              </p:ext>
            </p:extLst>
          </p:nvPr>
        </p:nvGraphicFramePr>
        <p:xfrm>
          <a:off x="4848788" y="3366825"/>
          <a:ext cx="4211960" cy="1654069"/>
        </p:xfrm>
        <a:graphic>
          <a:graphicData uri="http://schemas.openxmlformats.org/drawingml/2006/table">
            <a:tbl>
              <a:tblPr>
                <a:tableStyleId>{5C22544A-7EE6-4342-B048-85BDC9FD1C3A}</a:tableStyleId>
              </a:tblPr>
              <a:tblGrid>
                <a:gridCol w="4211960">
                  <a:extLst>
                    <a:ext uri="{9D8B030D-6E8A-4147-A177-3AD203B41FA5}">
                      <a16:colId xmlns:a16="http://schemas.microsoft.com/office/drawing/2014/main" val="20000"/>
                    </a:ext>
                  </a:extLst>
                </a:gridCol>
              </a:tblGrid>
              <a:tr h="404389">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US" altLang="zh-CN" sz="1600" kern="100" dirty="0">
                          <a:solidFill>
                            <a:schemeClr val="tx1"/>
                          </a:solidFill>
                          <a:effectLst/>
                          <a:latin typeface="+mn-lt"/>
                          <a:ea typeface="+mn-ea"/>
                          <a:cs typeface="+mn-cs"/>
                        </a:rPr>
                        <a:t>(</a:t>
                      </a:r>
                      <a:r>
                        <a:rPr kumimoji="0" lang="fr-FR" sz="1600" kern="100" dirty="0">
                          <a:solidFill>
                            <a:schemeClr val="tx1"/>
                          </a:solidFill>
                          <a:effectLst/>
                          <a:latin typeface="+mn-lt"/>
                          <a:ea typeface="+mn-ea"/>
                          <a:cs typeface="+mn-cs"/>
                        </a:rPr>
                        <a:t>5</a:t>
                      </a:r>
                      <a:r>
                        <a:rPr kumimoji="0" lang="en-US" altLang="zh-CN" sz="1600" kern="100" dirty="0">
                          <a:solidFill>
                            <a:schemeClr val="tx1"/>
                          </a:solidFill>
                          <a:effectLst/>
                          <a:latin typeface="+mn-lt"/>
                          <a:ea typeface="+mn-ea"/>
                          <a:cs typeface="+mn-cs"/>
                        </a:rPr>
                        <a:t>)</a:t>
                      </a:r>
                      <a:r>
                        <a:rPr kumimoji="0" lang="fr-FR" altLang="zh-CN" sz="1400" kern="100" dirty="0">
                          <a:solidFill>
                            <a:schemeClr val="tx1"/>
                          </a:solidFill>
                          <a:effectLst/>
                          <a:latin typeface="+mn-lt"/>
                          <a:ea typeface="+mn-ea"/>
                          <a:cs typeface="+mn-cs"/>
                        </a:rPr>
                        <a:t>&lt;ConstTDef&gt;→id=value, &lt;ConstTDef&gt;</a:t>
                      </a:r>
                      <a:r>
                        <a:rPr kumimoji="0" lang="fr-FR" altLang="zh-CN" sz="1400" kern="100" baseline="30000" dirty="0">
                          <a:solidFill>
                            <a:schemeClr val="tx1"/>
                          </a:solidFill>
                          <a:effectLst/>
                          <a:latin typeface="+mn-lt"/>
                          <a:ea typeface="+mn-ea"/>
                          <a:cs typeface="+mn-cs"/>
                        </a:rPr>
                        <a:t>(1)</a:t>
                      </a:r>
                      <a:endParaRPr kumimoji="0" lang="zh-CN" altLang="zh-CN" sz="1400" kern="100" baseline="30000" dirty="0">
                        <a:solidFill>
                          <a:schemeClr val="tx1"/>
                        </a:solidFill>
                        <a:effectLst/>
                        <a:latin typeface="+mn-lt"/>
                        <a:ea typeface="+mn-ea"/>
                        <a:cs typeface="+mn-cs"/>
                      </a:endParaRPr>
                    </a:p>
                  </a:txBody>
                  <a:tcPr marL="68580" marR="68580" marT="0" marB="0">
                    <a:noFill/>
                  </a:tcPr>
                </a:tc>
                <a:extLst>
                  <a:ext uri="{0D108BD9-81ED-4DB2-BD59-A6C34878D82A}">
                    <a16:rowId xmlns:a16="http://schemas.microsoft.com/office/drawing/2014/main" val="10000"/>
                  </a:ext>
                </a:extLst>
              </a:tr>
              <a:tr h="1017687">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sz="1600" kern="100" dirty="0">
                          <a:solidFill>
                            <a:schemeClr val="tx1"/>
                          </a:solidFill>
                          <a:effectLst/>
                          <a:latin typeface="+mn-lt"/>
                          <a:ea typeface="+mn-ea"/>
                          <a:cs typeface="+mn-cs"/>
                        </a:rPr>
                        <a:t>{  InsertConst(</a:t>
                      </a:r>
                      <a:r>
                        <a:rPr kumimoji="0" lang="en-US" altLang="zh-CN" sz="1800" kern="1200" dirty="0">
                          <a:solidFill>
                            <a:schemeClr val="dk1"/>
                          </a:solidFill>
                          <a:effectLst/>
                          <a:latin typeface="+mn-lt"/>
                          <a:ea typeface="+mn-ea"/>
                          <a:cs typeface="+mn-cs"/>
                        </a:rPr>
                        <a:t>entry(id).name</a:t>
                      </a:r>
                      <a:r>
                        <a:rPr kumimoji="0" lang="zh-CN" sz="1600" kern="100" dirty="0">
                          <a:solidFill>
                            <a:schemeClr val="tx1"/>
                          </a:solidFill>
                          <a:effectLst/>
                          <a:latin typeface="+mn-lt"/>
                          <a:ea typeface="+mn-ea"/>
                          <a:cs typeface="+mn-cs"/>
                        </a:rPr>
                        <a:t>); //将常量插入符号表</a:t>
                      </a:r>
                    </a:p>
                    <a:p>
                      <a:pPr indent="171450" algn="just">
                        <a:spcAft>
                          <a:spcPts val="0"/>
                        </a:spcAft>
                      </a:pPr>
                      <a:r>
                        <a:rPr kumimoji="0" lang="zh-CN" sz="1600" kern="100" dirty="0">
                          <a:solidFill>
                            <a:schemeClr val="tx1"/>
                          </a:solidFill>
                          <a:effectLst/>
                          <a:latin typeface="+mn-lt"/>
                          <a:ea typeface="+mn-ea"/>
                          <a:cs typeface="+mn-cs"/>
                        </a:rPr>
                        <a:t>entry(id).val= value;</a:t>
                      </a:r>
                    </a:p>
                    <a:p>
                      <a:pPr indent="171450" algn="just">
                        <a:spcAft>
                          <a:spcPts val="0"/>
                        </a:spcAft>
                      </a:pPr>
                      <a:r>
                        <a:rPr kumimoji="0" lang="zh-CN" sz="1600" kern="100" dirty="0">
                          <a:solidFill>
                            <a:schemeClr val="tx1"/>
                          </a:solidFill>
                          <a:effectLst/>
                          <a:latin typeface="+mn-lt"/>
                          <a:ea typeface="+mn-ea"/>
                          <a:cs typeface="+mn-cs"/>
                        </a:rPr>
                        <a:t>entry(id).type=</a:t>
                      </a:r>
                      <a:r>
                        <a:rPr kumimoji="0" lang="fr-FR" sz="1600" kern="100" dirty="0">
                          <a:solidFill>
                            <a:schemeClr val="tx1"/>
                          </a:solidFill>
                          <a:effectLst/>
                          <a:latin typeface="+mn-lt"/>
                          <a:ea typeface="+mn-ea"/>
                          <a:cs typeface="+mn-cs"/>
                        </a:rPr>
                        <a:t>&lt;ConstTDef&gt;.in</a:t>
                      </a:r>
                      <a:r>
                        <a:rPr kumimoji="0" lang="zh-CN" sz="1600" kern="100" dirty="0">
                          <a:solidFill>
                            <a:schemeClr val="tx1"/>
                          </a:solidFill>
                          <a:effectLst/>
                          <a:latin typeface="+mn-lt"/>
                          <a:ea typeface="+mn-ea"/>
                          <a:cs typeface="+mn-cs"/>
                        </a:rPr>
                        <a:t>; </a:t>
                      </a:r>
                    </a:p>
                    <a:p>
                      <a:pPr indent="171450" algn="just">
                        <a:spcAft>
                          <a:spcPts val="0"/>
                        </a:spcAft>
                      </a:pPr>
                      <a:r>
                        <a:rPr kumimoji="0" lang="fr-FR" sz="1600" kern="100" dirty="0">
                          <a:solidFill>
                            <a:schemeClr val="tx1"/>
                          </a:solidFill>
                          <a:effectLst/>
                          <a:latin typeface="+mn-lt"/>
                          <a:ea typeface="+mn-ea"/>
                          <a:cs typeface="+mn-cs"/>
                        </a:rPr>
                        <a:t>&lt;ConstTDef&gt;</a:t>
                      </a:r>
                      <a:r>
                        <a:rPr kumimoji="0" lang="fr-FR" sz="1600" kern="100" baseline="30000" dirty="0">
                          <a:solidFill>
                            <a:schemeClr val="tx1"/>
                          </a:solidFill>
                          <a:effectLst/>
                          <a:latin typeface="+mn-lt"/>
                          <a:ea typeface="+mn-ea"/>
                          <a:cs typeface="+mn-cs"/>
                        </a:rPr>
                        <a:t>(1)</a:t>
                      </a:r>
                      <a:r>
                        <a:rPr kumimoji="0" lang="fr-FR" sz="1600" kern="100" dirty="0">
                          <a:solidFill>
                            <a:schemeClr val="tx1"/>
                          </a:solidFill>
                          <a:effectLst/>
                          <a:latin typeface="+mn-lt"/>
                          <a:ea typeface="+mn-ea"/>
                          <a:cs typeface="+mn-cs"/>
                        </a:rPr>
                        <a:t>.in = &lt;ConstTDef&gt;.in; }</a:t>
                      </a:r>
                      <a:endParaRPr kumimoji="0" lang="zh-CN" sz="1600" kern="100" dirty="0">
                        <a:solidFill>
                          <a:schemeClr val="tx1"/>
                        </a:solidFill>
                        <a:effectLst/>
                        <a:latin typeface="+mn-lt"/>
                        <a:ea typeface="+mn-ea"/>
                        <a:cs typeface="+mn-cs"/>
                      </a:endParaRPr>
                    </a:p>
                  </a:txBody>
                  <a:tcPr marL="68580" marR="68580" marT="0" marB="0">
                    <a:noFill/>
                  </a:tcPr>
                </a:tc>
                <a:extLst>
                  <a:ext uri="{0D108BD9-81ED-4DB2-BD59-A6C34878D82A}">
                    <a16:rowId xmlns:a16="http://schemas.microsoft.com/office/drawing/2014/main" val="10001"/>
                  </a:ext>
                </a:extLst>
              </a:tr>
            </a:tbl>
          </a:graphicData>
        </a:graphic>
      </p:graphicFrame>
      <p:graphicFrame>
        <p:nvGraphicFramePr>
          <p:cNvPr id="21" name="表格 20"/>
          <p:cNvGraphicFramePr>
            <a:graphicFrameLocks noGrp="1"/>
          </p:cNvGraphicFramePr>
          <p:nvPr>
            <p:extLst>
              <p:ext uri="{D42A27DB-BD31-4B8C-83A1-F6EECF244321}">
                <p14:modId xmlns:p14="http://schemas.microsoft.com/office/powerpoint/2010/main" val="3139519589"/>
              </p:ext>
            </p:extLst>
          </p:nvPr>
        </p:nvGraphicFramePr>
        <p:xfrm>
          <a:off x="4848788" y="3366825"/>
          <a:ext cx="4151784" cy="1468120"/>
        </p:xfrm>
        <a:graphic>
          <a:graphicData uri="http://schemas.openxmlformats.org/drawingml/2006/table">
            <a:tbl>
              <a:tblPr firstRow="1" bandRow="1">
                <a:tableStyleId>{5C22544A-7EE6-4342-B048-85BDC9FD1C3A}</a:tableStyleId>
              </a:tblPr>
              <a:tblGrid>
                <a:gridCol w="4151784">
                  <a:extLst>
                    <a:ext uri="{9D8B030D-6E8A-4147-A177-3AD203B41FA5}">
                      <a16:colId xmlns:a16="http://schemas.microsoft.com/office/drawing/2014/main" val="20000"/>
                    </a:ext>
                  </a:extLst>
                </a:gridCol>
              </a:tblGrid>
              <a:tr h="370840">
                <a:tc>
                  <a:txBody>
                    <a:bodyPr/>
                    <a:lstStyle/>
                    <a:p>
                      <a:r>
                        <a:rPr lang="en-US" altLang="zh-CN" sz="1600" b="0" dirty="0">
                          <a:solidFill>
                            <a:schemeClr val="tx1"/>
                          </a:solidFill>
                          <a:latin typeface="宋体" panose="02010600030101010101" pitchFamily="2" charset="-122"/>
                          <a:ea typeface="宋体" panose="02010600030101010101" pitchFamily="2" charset="-122"/>
                        </a:rPr>
                        <a:t>(6)&lt;</a:t>
                      </a:r>
                      <a:r>
                        <a:rPr lang="en-US" altLang="zh-CN" sz="1600" b="0" dirty="0" err="1">
                          <a:solidFill>
                            <a:schemeClr val="tx1"/>
                          </a:solidFill>
                          <a:latin typeface="宋体" panose="02010600030101010101" pitchFamily="2" charset="-122"/>
                          <a:ea typeface="宋体" panose="02010600030101010101" pitchFamily="2" charset="-122"/>
                        </a:rPr>
                        <a:t>ConstTDef</a:t>
                      </a:r>
                      <a:r>
                        <a:rPr lang="en-US" altLang="zh-CN" sz="1600" b="0" dirty="0">
                          <a:solidFill>
                            <a:schemeClr val="tx1"/>
                          </a:solidFill>
                          <a:latin typeface="宋体" panose="02010600030101010101" pitchFamily="2" charset="-122"/>
                          <a:ea typeface="宋体" panose="02010600030101010101" pitchFamily="2" charset="-122"/>
                        </a:rPr>
                        <a:t>&gt;→id=value;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latin typeface="宋体" panose="02010600030101010101" pitchFamily="2" charset="-122"/>
                          <a:ea typeface="宋体" panose="02010600030101010101" pitchFamily="2" charset="-122"/>
                        </a:rPr>
                        <a:t>{</a:t>
                      </a:r>
                      <a:r>
                        <a:rPr lang="en-US" altLang="zh-CN" sz="1600" dirty="0" err="1">
                          <a:solidFill>
                            <a:schemeClr val="tx1"/>
                          </a:solidFill>
                          <a:latin typeface="宋体" panose="02010600030101010101" pitchFamily="2" charset="-122"/>
                          <a:ea typeface="宋体" panose="02010600030101010101" pitchFamily="2" charset="-122"/>
                        </a:rPr>
                        <a:t>InsertConst</a:t>
                      </a:r>
                      <a:r>
                        <a:rPr lang="en-US" altLang="zh-CN" sz="1600" dirty="0">
                          <a:solidFill>
                            <a:schemeClr val="tx1"/>
                          </a:solidFill>
                          <a:latin typeface="宋体" panose="02010600030101010101" pitchFamily="2" charset="-122"/>
                          <a:ea typeface="宋体" panose="02010600030101010101" pitchFamily="2" charset="-122"/>
                        </a:rPr>
                        <a:t>(</a:t>
                      </a:r>
                      <a:r>
                        <a:rPr kumimoji="0" lang="en-US" altLang="zh-CN" sz="1800" kern="1200" dirty="0">
                          <a:solidFill>
                            <a:schemeClr val="dk1"/>
                          </a:solidFill>
                          <a:effectLst/>
                          <a:latin typeface="+mn-lt"/>
                          <a:ea typeface="+mn-ea"/>
                          <a:cs typeface="+mn-cs"/>
                        </a:rPr>
                        <a:t>entry(id).name</a:t>
                      </a:r>
                      <a:r>
                        <a:rPr lang="en-US" altLang="zh-CN" sz="1600" dirty="0">
                          <a:solidFill>
                            <a:schemeClr val="tx1"/>
                          </a:solidFill>
                          <a:latin typeface="宋体" panose="02010600030101010101" pitchFamily="2" charset="-122"/>
                          <a:ea typeface="宋体" panose="02010600030101010101" pitchFamily="2" charset="-122"/>
                        </a:rPr>
                        <a:t>); //</a:t>
                      </a:r>
                      <a:r>
                        <a:rPr lang="zh-CN" altLang="en-US" sz="1600" dirty="0">
                          <a:solidFill>
                            <a:schemeClr val="tx1"/>
                          </a:solidFill>
                          <a:latin typeface="宋体" panose="02010600030101010101" pitchFamily="2" charset="-122"/>
                          <a:ea typeface="宋体" panose="02010600030101010101" pitchFamily="2" charset="-122"/>
                        </a:rPr>
                        <a:t>将常量插入符号表</a:t>
                      </a:r>
                    </a:p>
                    <a:p>
                      <a:r>
                        <a:rPr lang="en-US" altLang="zh-CN" sz="1600" dirty="0">
                          <a:solidFill>
                            <a:schemeClr val="tx1"/>
                          </a:solidFill>
                          <a:latin typeface="宋体" panose="02010600030101010101" pitchFamily="2" charset="-122"/>
                          <a:ea typeface="宋体" panose="02010600030101010101" pitchFamily="2" charset="-122"/>
                        </a:rPr>
                        <a:t>entry(id).</a:t>
                      </a:r>
                      <a:r>
                        <a:rPr lang="en-US" altLang="zh-CN" sz="1600" dirty="0" err="1">
                          <a:solidFill>
                            <a:schemeClr val="tx1"/>
                          </a:solidFill>
                          <a:latin typeface="宋体" panose="02010600030101010101" pitchFamily="2" charset="-122"/>
                          <a:ea typeface="宋体" panose="02010600030101010101" pitchFamily="2" charset="-122"/>
                        </a:rPr>
                        <a:t>val</a:t>
                      </a:r>
                      <a:r>
                        <a:rPr lang="en-US" altLang="zh-CN" sz="1600" dirty="0">
                          <a:solidFill>
                            <a:schemeClr val="tx1"/>
                          </a:solidFill>
                          <a:latin typeface="宋体" panose="02010600030101010101" pitchFamily="2" charset="-122"/>
                          <a:ea typeface="宋体" panose="02010600030101010101" pitchFamily="2" charset="-122"/>
                        </a:rPr>
                        <a:t>= value;</a:t>
                      </a:r>
                    </a:p>
                    <a:p>
                      <a:r>
                        <a:rPr lang="en-US" altLang="zh-CN" sz="1600" dirty="0">
                          <a:solidFill>
                            <a:schemeClr val="tx1"/>
                          </a:solidFill>
                          <a:latin typeface="宋体" panose="02010600030101010101" pitchFamily="2" charset="-122"/>
                          <a:ea typeface="宋体" panose="02010600030101010101" pitchFamily="2" charset="-122"/>
                        </a:rPr>
                        <a:t>entry(id).type=&lt;</a:t>
                      </a:r>
                      <a:r>
                        <a:rPr lang="en-US" altLang="zh-CN" sz="1600" dirty="0" err="1">
                          <a:solidFill>
                            <a:schemeClr val="tx1"/>
                          </a:solidFill>
                          <a:latin typeface="宋体" panose="02010600030101010101" pitchFamily="2" charset="-122"/>
                          <a:ea typeface="宋体" panose="02010600030101010101" pitchFamily="2" charset="-122"/>
                        </a:rPr>
                        <a:t>ConstTDef</a:t>
                      </a:r>
                      <a:r>
                        <a:rPr lang="en-US" altLang="zh-CN" sz="1600" dirty="0">
                          <a:solidFill>
                            <a:schemeClr val="tx1"/>
                          </a:solidFill>
                          <a:latin typeface="宋体" panose="02010600030101010101" pitchFamily="2" charset="-122"/>
                          <a:ea typeface="宋体" panose="02010600030101010101" pitchFamily="2" charset="-122"/>
                        </a:rPr>
                        <a:t>&gt;.in;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2" name="表格 21"/>
          <p:cNvGraphicFramePr>
            <a:graphicFrameLocks noGrp="1"/>
          </p:cNvGraphicFramePr>
          <p:nvPr>
            <p:extLst>
              <p:ext uri="{D42A27DB-BD31-4B8C-83A1-F6EECF244321}">
                <p14:modId xmlns:p14="http://schemas.microsoft.com/office/powerpoint/2010/main" val="3487797135"/>
              </p:ext>
            </p:extLst>
          </p:nvPr>
        </p:nvGraphicFramePr>
        <p:xfrm>
          <a:off x="4848788" y="3366825"/>
          <a:ext cx="4151784" cy="741680"/>
        </p:xfrm>
        <a:graphic>
          <a:graphicData uri="http://schemas.openxmlformats.org/drawingml/2006/table">
            <a:tbl>
              <a:tblPr firstRow="1" bandRow="1">
                <a:tableStyleId>{5C22544A-7EE6-4342-B048-85BDC9FD1C3A}</a:tableStyleId>
              </a:tblPr>
              <a:tblGrid>
                <a:gridCol w="4151784">
                  <a:extLst>
                    <a:ext uri="{9D8B030D-6E8A-4147-A177-3AD203B41FA5}">
                      <a16:colId xmlns:a16="http://schemas.microsoft.com/office/drawing/2014/main" val="20000"/>
                    </a:ext>
                  </a:extLst>
                </a:gridCol>
              </a:tblGrid>
              <a:tr h="370840">
                <a:tc>
                  <a:txBody>
                    <a:bodyPr/>
                    <a:lstStyle/>
                    <a:p>
                      <a:r>
                        <a:rPr lang="en-US" altLang="zh-CN" sz="1600" b="0" dirty="0">
                          <a:solidFill>
                            <a:schemeClr val="tx1"/>
                          </a:solidFill>
                          <a:latin typeface="宋体" panose="02010600030101010101" pitchFamily="2" charset="-122"/>
                          <a:ea typeface="宋体" panose="02010600030101010101" pitchFamily="2" charset="-122"/>
                        </a:rPr>
                        <a:t>(3)&lt;</a:t>
                      </a:r>
                      <a:r>
                        <a:rPr lang="en-US" altLang="zh-CN" sz="1600" b="0" dirty="0" err="1">
                          <a:solidFill>
                            <a:schemeClr val="tx1"/>
                          </a:solidFill>
                          <a:latin typeface="宋体" panose="02010600030101010101" pitchFamily="2" charset="-122"/>
                          <a:ea typeface="宋体" panose="02010600030101010101" pitchFamily="2" charset="-122"/>
                        </a:rPr>
                        <a:t>ConstHead</a:t>
                      </a:r>
                      <a:r>
                        <a:rPr lang="en-US" altLang="zh-CN" sz="1600" b="0" dirty="0">
                          <a:solidFill>
                            <a:schemeClr val="tx1"/>
                          </a:solidFill>
                          <a:latin typeface="宋体" panose="02010600030101010101" pitchFamily="2" charset="-122"/>
                          <a:ea typeface="宋体" panose="02010600030101010101" pitchFamily="2" charset="-122"/>
                        </a:rPr>
                        <a:t>&gt;→</a:t>
                      </a:r>
                      <a:r>
                        <a:rPr lang="en-US" altLang="zh-CN" sz="1600" b="0" dirty="0" err="1">
                          <a:solidFill>
                            <a:schemeClr val="tx1"/>
                          </a:solidFill>
                          <a:latin typeface="宋体" panose="02010600030101010101" pitchFamily="2" charset="-122"/>
                          <a:ea typeface="宋体" panose="02010600030101010101" pitchFamily="2" charset="-122"/>
                        </a:rPr>
                        <a:t>const</a:t>
                      </a:r>
                      <a:r>
                        <a:rPr lang="en-US" altLang="zh-CN" sz="1600" b="0" dirty="0">
                          <a:solidFill>
                            <a:schemeClr val="tx1"/>
                          </a:solidFill>
                          <a:latin typeface="宋体" panose="02010600030101010101" pitchFamily="2" charset="-122"/>
                          <a:ea typeface="宋体" panose="02010600030101010101" pitchFamily="2" charset="-122"/>
                        </a:rPr>
                        <a:t> &lt;</a:t>
                      </a:r>
                      <a:r>
                        <a:rPr lang="en-US" altLang="zh-CN" sz="1600" b="0" dirty="0" err="1">
                          <a:solidFill>
                            <a:schemeClr val="tx1"/>
                          </a:solidFill>
                          <a:latin typeface="宋体" panose="02010600030101010101" pitchFamily="2" charset="-122"/>
                          <a:ea typeface="宋体" panose="02010600030101010101" pitchFamily="2" charset="-122"/>
                        </a:rPr>
                        <a:t>ConstType</a:t>
                      </a:r>
                      <a:r>
                        <a:rPr lang="en-US" altLang="zh-CN" sz="1600" b="0" dirty="0">
                          <a:solidFill>
                            <a:schemeClr val="tx1"/>
                          </a:solidFill>
                          <a:latin typeface="宋体" panose="02010600030101010101" pitchFamily="2" charset="-122"/>
                          <a:ea typeface="宋体" panose="02010600030101010101" pitchFamily="2" charset="-122"/>
                        </a:rPr>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altLang="zh-CN" sz="1600" dirty="0">
                          <a:solidFill>
                            <a:schemeClr val="tx1"/>
                          </a:solidFill>
                          <a:latin typeface="宋体" panose="02010600030101010101" pitchFamily="2" charset="-122"/>
                          <a:ea typeface="宋体" panose="02010600030101010101" pitchFamily="2" charset="-122"/>
                        </a:rPr>
                        <a:t>{&lt;</a:t>
                      </a:r>
                      <a:r>
                        <a:rPr lang="en-US" altLang="zh-CN" sz="1600" dirty="0" err="1">
                          <a:solidFill>
                            <a:schemeClr val="tx1"/>
                          </a:solidFill>
                          <a:latin typeface="宋体" panose="02010600030101010101" pitchFamily="2" charset="-122"/>
                          <a:ea typeface="宋体" panose="02010600030101010101" pitchFamily="2" charset="-122"/>
                        </a:rPr>
                        <a:t>ConstHead</a:t>
                      </a:r>
                      <a:r>
                        <a:rPr lang="en-US" altLang="zh-CN" sz="1600" dirty="0">
                          <a:solidFill>
                            <a:schemeClr val="tx1"/>
                          </a:solidFill>
                          <a:latin typeface="宋体" panose="02010600030101010101" pitchFamily="2" charset="-122"/>
                          <a:ea typeface="宋体" panose="02010600030101010101" pitchFamily="2" charset="-122"/>
                        </a:rPr>
                        <a:t>&gt;.type = &lt;</a:t>
                      </a:r>
                      <a:r>
                        <a:rPr lang="en-US" altLang="zh-CN" sz="1600" dirty="0" err="1">
                          <a:solidFill>
                            <a:schemeClr val="tx1"/>
                          </a:solidFill>
                          <a:latin typeface="宋体" panose="02010600030101010101" pitchFamily="2" charset="-122"/>
                          <a:ea typeface="宋体" panose="02010600030101010101" pitchFamily="2" charset="-122"/>
                        </a:rPr>
                        <a:t>ConstType</a:t>
                      </a:r>
                      <a:r>
                        <a:rPr lang="en-US" altLang="zh-CN" sz="1600" dirty="0">
                          <a:solidFill>
                            <a:schemeClr val="tx1"/>
                          </a:solidFill>
                          <a:latin typeface="宋体" panose="02010600030101010101" pitchFamily="2" charset="-122"/>
                          <a:ea typeface="宋体" panose="02010600030101010101" pitchFamily="2" charset="-122"/>
                        </a:rPr>
                        <a:t>&gt;.type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3" name="表格 22"/>
          <p:cNvGraphicFramePr>
            <a:graphicFrameLocks noGrp="1"/>
          </p:cNvGraphicFramePr>
          <p:nvPr>
            <p:extLst>
              <p:ext uri="{D42A27DB-BD31-4B8C-83A1-F6EECF244321}">
                <p14:modId xmlns:p14="http://schemas.microsoft.com/office/powerpoint/2010/main" val="839085582"/>
              </p:ext>
            </p:extLst>
          </p:nvPr>
        </p:nvGraphicFramePr>
        <p:xfrm>
          <a:off x="4848788" y="3366825"/>
          <a:ext cx="4151784" cy="741680"/>
        </p:xfrm>
        <a:graphic>
          <a:graphicData uri="http://schemas.openxmlformats.org/drawingml/2006/table">
            <a:tbl>
              <a:tblPr firstRow="1" bandRow="1">
                <a:tableStyleId>{5C22544A-7EE6-4342-B048-85BDC9FD1C3A}</a:tableStyleId>
              </a:tblPr>
              <a:tblGrid>
                <a:gridCol w="4151784">
                  <a:extLst>
                    <a:ext uri="{9D8B030D-6E8A-4147-A177-3AD203B41FA5}">
                      <a16:colId xmlns:a16="http://schemas.microsoft.com/office/drawing/2014/main" val="20000"/>
                    </a:ext>
                  </a:extLst>
                </a:gridCol>
              </a:tblGrid>
              <a:tr h="370840">
                <a:tc>
                  <a:txBody>
                    <a:bodyPr/>
                    <a:lstStyle/>
                    <a:p>
                      <a:r>
                        <a:rPr lang="en-US" altLang="zh-CN" sz="1600" b="0" dirty="0">
                          <a:solidFill>
                            <a:schemeClr val="tx1"/>
                          </a:solidFill>
                          <a:latin typeface="宋体" panose="02010600030101010101" pitchFamily="2" charset="-122"/>
                          <a:ea typeface="宋体" panose="02010600030101010101" pitchFamily="2" charset="-122"/>
                        </a:rPr>
                        <a:t>(2) &lt;</a:t>
                      </a:r>
                      <a:r>
                        <a:rPr lang="en-US" altLang="zh-CN" sz="1600" b="0" dirty="0" err="1">
                          <a:solidFill>
                            <a:schemeClr val="tx1"/>
                          </a:solidFill>
                          <a:latin typeface="宋体" panose="02010600030101010101" pitchFamily="2" charset="-122"/>
                          <a:ea typeface="宋体" panose="02010600030101010101" pitchFamily="2" charset="-122"/>
                        </a:rPr>
                        <a:t>ConstDCL</a:t>
                      </a:r>
                      <a:r>
                        <a:rPr lang="en-US" altLang="zh-CN" sz="1600" b="0" dirty="0">
                          <a:solidFill>
                            <a:schemeClr val="tx1"/>
                          </a:solidFill>
                          <a:latin typeface="宋体" panose="02010600030101010101" pitchFamily="2" charset="-122"/>
                          <a:ea typeface="宋体" panose="02010600030101010101" pitchFamily="2" charset="-122"/>
                        </a:rPr>
                        <a:t>&gt; →</a:t>
                      </a:r>
                      <a:r>
                        <a:rPr lang="en-US" altLang="zh-CN" sz="1600" kern="100" dirty="0">
                          <a:solidFill>
                            <a:schemeClr val="tx1"/>
                          </a:solidFill>
                          <a:effectLst/>
                          <a:sym typeface="Symbol"/>
                        </a:rPr>
                        <a:t></a:t>
                      </a:r>
                      <a:endParaRPr lang="en-US" altLang="zh-CN" sz="16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altLang="zh-CN" sz="1600" dirty="0">
                          <a:solidFill>
                            <a:schemeClr val="tx1"/>
                          </a:solidFill>
                          <a:latin typeface="宋体" panose="02010600030101010101" pitchFamily="2" charset="-122"/>
                          <a:ea typeface="宋体" panose="02010600030101010101" pitchFamily="2" charset="-122"/>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1163831803"/>
              </p:ext>
            </p:extLst>
          </p:nvPr>
        </p:nvGraphicFramePr>
        <p:xfrm>
          <a:off x="4848788" y="3366825"/>
          <a:ext cx="4151784" cy="741680"/>
        </p:xfrm>
        <a:graphic>
          <a:graphicData uri="http://schemas.openxmlformats.org/drawingml/2006/table">
            <a:tbl>
              <a:tblPr firstRow="1" bandRow="1">
                <a:tableStyleId>{5C22544A-7EE6-4342-B048-85BDC9FD1C3A}</a:tableStyleId>
              </a:tblPr>
              <a:tblGrid>
                <a:gridCol w="4151784">
                  <a:extLst>
                    <a:ext uri="{9D8B030D-6E8A-4147-A177-3AD203B41FA5}">
                      <a16:colId xmlns:a16="http://schemas.microsoft.com/office/drawing/2014/main" val="20000"/>
                    </a:ext>
                  </a:extLst>
                </a:gridCol>
              </a:tblGrid>
              <a:tr h="370840">
                <a:tc>
                  <a:txBody>
                    <a:bodyPr/>
                    <a:lstStyle/>
                    <a:p>
                      <a:r>
                        <a:rPr lang="en-US" altLang="zh-CN" sz="1600" b="0" dirty="0">
                          <a:solidFill>
                            <a:schemeClr val="tx1"/>
                          </a:solidFill>
                          <a:latin typeface="宋体" panose="02010600030101010101" pitchFamily="2" charset="-122"/>
                          <a:ea typeface="宋体" panose="02010600030101010101" pitchFamily="2" charset="-122"/>
                        </a:rPr>
                        <a:t>(1) &lt;</a:t>
                      </a:r>
                      <a:r>
                        <a:rPr lang="en-US" altLang="zh-CN" sz="1600" b="0" dirty="0" err="1">
                          <a:solidFill>
                            <a:schemeClr val="tx1"/>
                          </a:solidFill>
                          <a:latin typeface="宋体" panose="02010600030101010101" pitchFamily="2" charset="-122"/>
                          <a:ea typeface="宋体" panose="02010600030101010101" pitchFamily="2" charset="-122"/>
                        </a:rPr>
                        <a:t>ConstDCL</a:t>
                      </a:r>
                      <a:r>
                        <a:rPr lang="en-US" altLang="zh-CN" sz="1600" b="0" dirty="0">
                          <a:solidFill>
                            <a:schemeClr val="tx1"/>
                          </a:solidFill>
                          <a:latin typeface="宋体" panose="02010600030101010101" pitchFamily="2" charset="-122"/>
                          <a:ea typeface="宋体" panose="02010600030101010101" pitchFamily="2" charset="-122"/>
                        </a:rPr>
                        <a:t>&gt;→&lt;</a:t>
                      </a:r>
                      <a:r>
                        <a:rPr lang="en-US" altLang="zh-CN" sz="1600" b="0" dirty="0" err="1">
                          <a:solidFill>
                            <a:schemeClr val="tx1"/>
                          </a:solidFill>
                          <a:latin typeface="宋体" panose="02010600030101010101" pitchFamily="2" charset="-122"/>
                          <a:ea typeface="宋体" panose="02010600030101010101" pitchFamily="2" charset="-122"/>
                        </a:rPr>
                        <a:t>ConstHead</a:t>
                      </a:r>
                      <a:r>
                        <a:rPr lang="en-US" altLang="zh-CN" sz="1600" b="0" dirty="0">
                          <a:solidFill>
                            <a:schemeClr val="tx1"/>
                          </a:solidFill>
                          <a:latin typeface="宋体" panose="02010600030101010101" pitchFamily="2" charset="-122"/>
                          <a:ea typeface="宋体" panose="02010600030101010101" pitchFamily="2" charset="-122"/>
                        </a:rPr>
                        <a:t>&gt;&lt;</a:t>
                      </a:r>
                      <a:r>
                        <a:rPr lang="en-US" altLang="zh-CN" sz="1600" b="0" dirty="0" err="1">
                          <a:solidFill>
                            <a:schemeClr val="tx1"/>
                          </a:solidFill>
                          <a:latin typeface="宋体" panose="02010600030101010101" pitchFamily="2" charset="-122"/>
                          <a:ea typeface="宋体" panose="02010600030101010101" pitchFamily="2" charset="-122"/>
                        </a:rPr>
                        <a:t>ConstTDef</a:t>
                      </a:r>
                      <a:r>
                        <a:rPr lang="en-US" altLang="zh-CN" sz="1600" b="0" dirty="0">
                          <a:solidFill>
                            <a:schemeClr val="tx1"/>
                          </a:solidFill>
                          <a:latin typeface="宋体" panose="02010600030101010101" pitchFamily="2" charset="-122"/>
                          <a:ea typeface="宋体" panose="02010600030101010101" pitchFamily="2" charset="-122"/>
                        </a:rPr>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altLang="zh-CN" sz="1600" dirty="0">
                          <a:solidFill>
                            <a:schemeClr val="tx1"/>
                          </a:solidFill>
                          <a:latin typeface="宋体" panose="02010600030101010101" pitchFamily="2" charset="-122"/>
                          <a:ea typeface="宋体" panose="02010600030101010101" pitchFamily="2" charset="-122"/>
                        </a:rPr>
                        <a:t>{&lt;</a:t>
                      </a:r>
                      <a:r>
                        <a:rPr lang="en-US" altLang="zh-CN" sz="1600" dirty="0" err="1">
                          <a:solidFill>
                            <a:schemeClr val="tx1"/>
                          </a:solidFill>
                          <a:latin typeface="宋体" panose="02010600030101010101" pitchFamily="2" charset="-122"/>
                          <a:ea typeface="宋体" panose="02010600030101010101" pitchFamily="2" charset="-122"/>
                        </a:rPr>
                        <a:t>ConstTDef</a:t>
                      </a:r>
                      <a:r>
                        <a:rPr lang="en-US" altLang="zh-CN" sz="1600" dirty="0">
                          <a:solidFill>
                            <a:schemeClr val="tx1"/>
                          </a:solidFill>
                          <a:latin typeface="宋体" panose="02010600030101010101" pitchFamily="2" charset="-122"/>
                          <a:ea typeface="宋体" panose="02010600030101010101" pitchFamily="2" charset="-122"/>
                        </a:rPr>
                        <a:t>&gt;.in = &lt;</a:t>
                      </a:r>
                      <a:r>
                        <a:rPr lang="en-US" altLang="zh-CN" sz="1600" dirty="0" err="1">
                          <a:solidFill>
                            <a:schemeClr val="tx1"/>
                          </a:solidFill>
                          <a:latin typeface="宋体" panose="02010600030101010101" pitchFamily="2" charset="-122"/>
                          <a:ea typeface="宋体" panose="02010600030101010101" pitchFamily="2" charset="-122"/>
                        </a:rPr>
                        <a:t>ConstHead</a:t>
                      </a:r>
                      <a:r>
                        <a:rPr lang="en-US" altLang="zh-CN" sz="1600" dirty="0">
                          <a:solidFill>
                            <a:schemeClr val="tx1"/>
                          </a:solidFill>
                          <a:latin typeface="宋体" panose="02010600030101010101" pitchFamily="2" charset="-122"/>
                          <a:ea typeface="宋体" panose="02010600030101010101" pitchFamily="2" charset="-122"/>
                        </a:rPr>
                        <a:t>&gt;.type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3783059990"/>
              </p:ext>
            </p:extLst>
          </p:nvPr>
        </p:nvGraphicFramePr>
        <p:xfrm>
          <a:off x="4848788" y="3366825"/>
          <a:ext cx="4151784" cy="741680"/>
        </p:xfrm>
        <a:graphic>
          <a:graphicData uri="http://schemas.openxmlformats.org/drawingml/2006/table">
            <a:tbl>
              <a:tblPr firstRow="1" bandRow="1">
                <a:tableStyleId>{5C22544A-7EE6-4342-B048-85BDC9FD1C3A}</a:tableStyleId>
              </a:tblPr>
              <a:tblGrid>
                <a:gridCol w="4151784">
                  <a:extLst>
                    <a:ext uri="{9D8B030D-6E8A-4147-A177-3AD203B41FA5}">
                      <a16:colId xmlns:a16="http://schemas.microsoft.com/office/drawing/2014/main" val="20000"/>
                    </a:ext>
                  </a:extLst>
                </a:gridCol>
              </a:tblGrid>
              <a:tr h="370840">
                <a:tc>
                  <a:txBody>
                    <a:bodyPr/>
                    <a:lstStyle/>
                    <a:p>
                      <a:r>
                        <a:rPr lang="en-US" altLang="zh-CN" sz="1600" b="0" dirty="0">
                          <a:solidFill>
                            <a:schemeClr val="tx1"/>
                          </a:solidFill>
                          <a:latin typeface="宋体" panose="02010600030101010101" pitchFamily="2" charset="-122"/>
                          <a:ea typeface="宋体" panose="02010600030101010101" pitchFamily="2" charset="-122"/>
                        </a:rPr>
                        <a:t>(4) &lt;</a:t>
                      </a:r>
                      <a:r>
                        <a:rPr lang="en-US" altLang="zh-CN" sz="1600" b="0" dirty="0" err="1">
                          <a:solidFill>
                            <a:schemeClr val="tx1"/>
                          </a:solidFill>
                          <a:latin typeface="宋体" panose="02010600030101010101" pitchFamily="2" charset="-122"/>
                          <a:ea typeface="宋体" panose="02010600030101010101" pitchFamily="2" charset="-122"/>
                        </a:rPr>
                        <a:t>ConstType</a:t>
                      </a:r>
                      <a:r>
                        <a:rPr lang="en-US" altLang="zh-CN" sz="1600" b="0" dirty="0">
                          <a:solidFill>
                            <a:schemeClr val="tx1"/>
                          </a:solidFill>
                          <a:latin typeface="宋体" panose="02010600030101010101" pitchFamily="2" charset="-122"/>
                          <a:ea typeface="宋体" panose="02010600030101010101" pitchFamily="2" charset="-122"/>
                        </a:rPr>
                        <a:t>&gt; →</a:t>
                      </a:r>
                      <a:r>
                        <a:rPr lang="en-US" altLang="zh-CN" sz="1600" b="0" dirty="0" err="1">
                          <a:solidFill>
                            <a:schemeClr val="tx1"/>
                          </a:solidFill>
                          <a:latin typeface="宋体" panose="02010600030101010101" pitchFamily="2" charset="-122"/>
                          <a:ea typeface="宋体" panose="02010600030101010101" pitchFamily="2" charset="-122"/>
                        </a:rPr>
                        <a:t>int</a:t>
                      </a:r>
                      <a:endParaRPr lang="en-US" altLang="zh-CN" sz="1600" b="0" dirty="0">
                        <a:solidFill>
                          <a:schemeClr val="tx1"/>
                        </a:solidFill>
                        <a:latin typeface="宋体" panose="02010600030101010101" pitchFamily="2" charset="-122"/>
                        <a:ea typeface="宋体"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altLang="zh-CN" sz="1600" dirty="0">
                          <a:solidFill>
                            <a:schemeClr val="tx1"/>
                          </a:solidFill>
                          <a:latin typeface="宋体" panose="02010600030101010101" pitchFamily="2" charset="-122"/>
                          <a:ea typeface="宋体" panose="02010600030101010101" pitchFamily="2" charset="-122"/>
                        </a:rPr>
                        <a:t>{&lt;</a:t>
                      </a:r>
                      <a:r>
                        <a:rPr lang="en-US" altLang="zh-CN" sz="1600" dirty="0" err="1">
                          <a:solidFill>
                            <a:schemeClr val="tx1"/>
                          </a:solidFill>
                          <a:latin typeface="宋体" panose="02010600030101010101" pitchFamily="2" charset="-122"/>
                          <a:ea typeface="宋体" panose="02010600030101010101" pitchFamily="2" charset="-122"/>
                        </a:rPr>
                        <a:t>ConstType</a:t>
                      </a:r>
                      <a:r>
                        <a:rPr lang="en-US" altLang="zh-CN" sz="1600" dirty="0">
                          <a:solidFill>
                            <a:schemeClr val="tx1"/>
                          </a:solidFill>
                          <a:latin typeface="宋体" panose="02010600030101010101" pitchFamily="2" charset="-122"/>
                          <a:ea typeface="宋体" panose="02010600030101010101" pitchFamily="2" charset="-122"/>
                        </a:rPr>
                        <a:t>&gt;.type = </a:t>
                      </a:r>
                      <a:r>
                        <a:rPr lang="en-US" altLang="zh-CN" sz="1600" dirty="0" err="1">
                          <a:solidFill>
                            <a:schemeClr val="tx1"/>
                          </a:solidFill>
                          <a:latin typeface="宋体" panose="02010600030101010101" pitchFamily="2" charset="-122"/>
                          <a:ea typeface="宋体" panose="02010600030101010101" pitchFamily="2" charset="-122"/>
                        </a:rPr>
                        <a:t>int</a:t>
                      </a:r>
                      <a:r>
                        <a:rPr lang="en-US" altLang="zh-CN" sz="1600" dirty="0">
                          <a:solidFill>
                            <a:schemeClr val="tx1"/>
                          </a:solidFill>
                          <a:latin typeface="宋体" panose="02010600030101010101" pitchFamily="2" charset="-122"/>
                          <a:ea typeface="宋体" panose="02010600030101010101" pitchFamily="2" charset="-122"/>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3" name="表格 2"/>
          <p:cNvGraphicFramePr>
            <a:graphicFrameLocks noGrp="1"/>
          </p:cNvGraphicFramePr>
          <p:nvPr>
            <p:extLst>
              <p:ext uri="{D42A27DB-BD31-4B8C-83A1-F6EECF244321}">
                <p14:modId xmlns:p14="http://schemas.microsoft.com/office/powerpoint/2010/main" val="4111821279"/>
              </p:ext>
            </p:extLst>
          </p:nvPr>
        </p:nvGraphicFramePr>
        <p:xfrm>
          <a:off x="5414963" y="2369517"/>
          <a:ext cx="3729037" cy="274241"/>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274241">
                <a:tc>
                  <a:txBody>
                    <a:bodyPr/>
                    <a:lstStyle/>
                    <a:p>
                      <a:pPr algn="ctr">
                        <a:spcAft>
                          <a:spcPts val="0"/>
                        </a:spcAft>
                      </a:pPr>
                      <a:r>
                        <a:rPr lang="fr-FR" sz="1500" kern="100" dirty="0">
                          <a:effectLst/>
                          <a:latin typeface="Times New Roman"/>
                          <a:ea typeface="宋体"/>
                        </a:rPr>
                        <a:t>1</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A</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123</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2511652552"/>
              </p:ext>
            </p:extLst>
          </p:nvPr>
        </p:nvGraphicFramePr>
        <p:xfrm>
          <a:off x="5414010" y="2657549"/>
          <a:ext cx="3729037" cy="274241"/>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274241">
                <a:tc>
                  <a:txBody>
                    <a:bodyPr/>
                    <a:lstStyle/>
                    <a:p>
                      <a:pPr algn="ctr">
                        <a:spcAft>
                          <a:spcPts val="0"/>
                        </a:spcAft>
                      </a:pPr>
                      <a:r>
                        <a:rPr lang="fr-FR" sz="1500" kern="100" dirty="0">
                          <a:effectLst/>
                          <a:latin typeface="Times New Roman"/>
                          <a:ea typeface="宋体"/>
                        </a:rPr>
                        <a:t>2</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B</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a:effectLst/>
                          <a:latin typeface="Times New Roman"/>
                          <a:ea typeface="宋体"/>
                        </a:rPr>
                        <a:t>int</a:t>
                      </a:r>
                      <a:endParaRPr lang="zh-CN" sz="1500" kern="10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456</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6" name="表格 25"/>
          <p:cNvGraphicFramePr>
            <a:graphicFrameLocks noGrp="1"/>
          </p:cNvGraphicFramePr>
          <p:nvPr>
            <p:extLst>
              <p:ext uri="{D42A27DB-BD31-4B8C-83A1-F6EECF244321}">
                <p14:modId xmlns:p14="http://schemas.microsoft.com/office/powerpoint/2010/main" val="1411217377"/>
              </p:ext>
            </p:extLst>
          </p:nvPr>
        </p:nvGraphicFramePr>
        <p:xfrm>
          <a:off x="5414963" y="1914080"/>
          <a:ext cx="3729037" cy="1279923"/>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457200">
                <a:tc>
                  <a:txBody>
                    <a:bodyPr/>
                    <a:lstStyle/>
                    <a:p>
                      <a:pPr algn="ctr">
                        <a:spcAft>
                          <a:spcPts val="0"/>
                        </a:spcAft>
                      </a:pPr>
                      <a:r>
                        <a:rPr lang="zh-CN" sz="1500" kern="100" dirty="0">
                          <a:effectLst/>
                          <a:latin typeface="Times New Roman"/>
                          <a:ea typeface="宋体"/>
                        </a:rPr>
                        <a:t>入口</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dirty="0">
                          <a:effectLst/>
                          <a:latin typeface="Times New Roman"/>
                          <a:ea typeface="宋体"/>
                        </a:rPr>
                        <a:t>常量名</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a:effectLst/>
                          <a:latin typeface="Times New Roman"/>
                          <a:ea typeface="宋体"/>
                        </a:rPr>
                        <a:t>常量类型</a:t>
                      </a:r>
                      <a:r>
                        <a:rPr lang="fr-FR" sz="1500" kern="100">
                          <a:effectLst/>
                          <a:latin typeface="Times New Roman"/>
                          <a:ea typeface="宋体"/>
                        </a:rPr>
                        <a:t>(type)</a:t>
                      </a:r>
                      <a:endParaRPr lang="zh-CN" sz="1500" kern="10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dirty="0">
                          <a:effectLst/>
                          <a:latin typeface="Times New Roman"/>
                          <a:ea typeface="宋体"/>
                        </a:rPr>
                        <a:t>值</a:t>
                      </a:r>
                      <a:r>
                        <a:rPr lang="fr-FR" sz="1500" kern="100" dirty="0">
                          <a:effectLst/>
                          <a:latin typeface="Times New Roman"/>
                          <a:ea typeface="宋体"/>
                        </a:rPr>
                        <a:t>(val)</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0"/>
                  </a:ext>
                </a:extLst>
              </a:tr>
              <a:tr h="274241">
                <a:tc>
                  <a:txBody>
                    <a:bodyPr/>
                    <a:lstStyle/>
                    <a:p>
                      <a:pPr algn="ctr">
                        <a:spcAft>
                          <a:spcPts val="0"/>
                        </a:spcAft>
                      </a:pPr>
                      <a:r>
                        <a:rPr lang="en-US" altLang="zh-CN" sz="1500" kern="100" dirty="0">
                          <a:effectLst/>
                          <a:latin typeface="Times New Roman"/>
                          <a:ea typeface="宋体"/>
                        </a:rPr>
                        <a:t>1</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en-US" altLang="zh-CN" sz="1500" kern="100" dirty="0">
                          <a:effectLst/>
                          <a:latin typeface="Times New Roman"/>
                          <a:ea typeface="宋体"/>
                        </a:rPr>
                        <a:t>A</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en-US" altLang="zh-CN" sz="1500" kern="100" dirty="0" err="1">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en-US" altLang="zh-CN" sz="1500" kern="100" dirty="0">
                          <a:effectLst/>
                          <a:latin typeface="Times New Roman"/>
                          <a:ea typeface="宋体"/>
                        </a:rPr>
                        <a:t>123</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1"/>
                  </a:ext>
                </a:extLst>
              </a:tr>
              <a:tr h="274241">
                <a:tc>
                  <a:txBody>
                    <a:bodyPr/>
                    <a:lstStyle/>
                    <a:p>
                      <a:pPr algn="ctr">
                        <a:spcAft>
                          <a:spcPts val="0"/>
                        </a:spcAft>
                      </a:pPr>
                      <a:r>
                        <a:rPr lang="en-US" altLang="zh-CN" sz="1500" kern="100" dirty="0">
                          <a:effectLst/>
                          <a:latin typeface="Times New Roman"/>
                          <a:ea typeface="宋体"/>
                        </a:rPr>
                        <a:t>2</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en-US" altLang="zh-CN" sz="1500" kern="100" dirty="0">
                          <a:effectLst/>
                          <a:latin typeface="Times New Roman"/>
                          <a:ea typeface="宋体"/>
                        </a:rPr>
                        <a:t>B</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en-US" altLang="zh-CN" sz="1500" kern="100" dirty="0" err="1">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en-US" altLang="zh-CN" sz="1500" kern="100" dirty="0">
                          <a:effectLst/>
                          <a:latin typeface="Times New Roman"/>
                          <a:ea typeface="宋体"/>
                        </a:rPr>
                        <a:t>456</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2"/>
                  </a:ext>
                </a:extLst>
              </a:tr>
              <a:tr h="274241">
                <a:tc>
                  <a:txBody>
                    <a:bodyPr/>
                    <a:lstStyle/>
                    <a:p>
                      <a:pPr algn="ctr">
                        <a:spcAft>
                          <a:spcPts val="0"/>
                        </a:spcAft>
                      </a:pPr>
                      <a:r>
                        <a:rPr lang="en-US" altLang="zh-CN" sz="1500" kern="100" dirty="0">
                          <a:effectLst/>
                          <a:latin typeface="Times New Roman"/>
                          <a:ea typeface="宋体"/>
                        </a:rPr>
                        <a:t>……</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046715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6"/>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499"/>
                                          </p:stCondLst>
                                        </p:cTn>
                                        <p:tgtEl>
                                          <p:spTgt spid="1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down)">
                                      <p:cBhvr>
                                        <p:cTn id="21" dur="500"/>
                                        <p:tgtEl>
                                          <p:spTgt spid="1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down)">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25"/>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left)">
                                      <p:cBhvr>
                                        <p:cTn id="41" dur="500"/>
                                        <p:tgtEl>
                                          <p:spTgt spid="1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xit" presetSubtype="0" fill="hold" nodeType="clickEffect">
                                  <p:stCondLst>
                                    <p:cond delay="0"/>
                                  </p:stCondLst>
                                  <p:childTnLst>
                                    <p:set>
                                      <p:cBhvr>
                                        <p:cTn id="45" dur="1" fill="hold">
                                          <p:stCondLst>
                                            <p:cond delay="0"/>
                                          </p:stCondLst>
                                        </p:cTn>
                                        <p:tgtEl>
                                          <p:spTgt spid="22"/>
                                        </p:tgtEl>
                                        <p:attrNameLst>
                                          <p:attrName>style.visibility</p:attrName>
                                        </p:attrNameLst>
                                      </p:cBhvr>
                                      <p:to>
                                        <p:strVal val="hidden"/>
                                      </p:to>
                                    </p:set>
                                  </p:childTnLst>
                                </p:cTn>
                              </p:par>
                              <p:par>
                                <p:cTn id="46" presetID="1" presetClass="entr" presetSubtype="0" fill="hold" nodeType="withEffect">
                                  <p:stCondLst>
                                    <p:cond delay="0"/>
                                  </p:stCondLst>
                                  <p:childTnLst>
                                    <p:set>
                                      <p:cBhvr>
                                        <p:cTn id="47" dur="1" fill="hold">
                                          <p:stCondLst>
                                            <p:cond delay="0"/>
                                          </p:stCondLst>
                                        </p:cTn>
                                        <p:tgtEl>
                                          <p:spTgt spid="2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up)">
                                      <p:cBhvr>
                                        <p:cTn id="52" dur="500"/>
                                        <p:tgtEl>
                                          <p:spTgt spid="16"/>
                                        </p:tgtEl>
                                      </p:cBhvr>
                                    </p:animEffect>
                                  </p:childTnLst>
                                </p:cTn>
                              </p:par>
                              <p:par>
                                <p:cTn id="53" presetID="22" presetClass="entr" presetSubtype="1" fill="hold"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up)">
                                      <p:cBhvr>
                                        <p:cTn id="55" dur="500"/>
                                        <p:tgtEl>
                                          <p:spTgt spid="17"/>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nodeType="clickEffect">
                                  <p:stCondLst>
                                    <p:cond delay="0"/>
                                  </p:stCondLst>
                                  <p:childTnLst>
                                    <p:set>
                                      <p:cBhvr>
                                        <p:cTn id="59" dur="1" fill="hold">
                                          <p:stCondLst>
                                            <p:cond delay="0"/>
                                          </p:stCondLst>
                                        </p:cTn>
                                        <p:tgtEl>
                                          <p:spTgt spid="24"/>
                                        </p:tgtEl>
                                        <p:attrNameLst>
                                          <p:attrName>style.visibility</p:attrName>
                                        </p:attrNameLst>
                                      </p:cBhvr>
                                      <p:to>
                                        <p:strVal val="hidden"/>
                                      </p:to>
                                    </p:set>
                                  </p:childTnLst>
                                </p:cTn>
                              </p:par>
                              <p:par>
                                <p:cTn id="60" presetID="1" presetClass="entr" presetSubtype="0" fill="hold" nodeType="withEffect">
                                  <p:stCondLst>
                                    <p:cond delay="0"/>
                                  </p:stCondLst>
                                  <p:childTnLst>
                                    <p:set>
                                      <p:cBhvr>
                                        <p:cTn id="61" dur="1" fill="hold">
                                          <p:stCondLst>
                                            <p:cond delay="0"/>
                                          </p:stCondLst>
                                        </p:cTn>
                                        <p:tgtEl>
                                          <p:spTgt spid="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3"/>
                                        </p:tgtEl>
                                        <p:attrNameLst>
                                          <p:attrName>style.visibility</p:attrName>
                                        </p:attrNameLst>
                                      </p:cBhvr>
                                      <p:to>
                                        <p:strVal val="visible"/>
                                      </p:to>
                                    </p:se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wipe(up)">
                                      <p:cBhvr>
                                        <p:cTn id="70" dur="500"/>
                                        <p:tgtEl>
                                          <p:spTgt spid="18"/>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nodeType="clickEffect">
                                  <p:stCondLst>
                                    <p:cond delay="0"/>
                                  </p:stCondLst>
                                  <p:childTnLst>
                                    <p:set>
                                      <p:cBhvr>
                                        <p:cTn id="74" dur="1" fill="hold">
                                          <p:stCondLst>
                                            <p:cond delay="0"/>
                                          </p:stCondLst>
                                        </p:cTn>
                                        <p:tgtEl>
                                          <p:spTgt spid="2"/>
                                        </p:tgtEl>
                                        <p:attrNameLst>
                                          <p:attrName>style.visibility</p:attrName>
                                        </p:attrNameLst>
                                      </p:cBhvr>
                                      <p:to>
                                        <p:strVal val="hidden"/>
                                      </p:to>
                                    </p:set>
                                  </p:childTnLst>
                                </p:cTn>
                              </p:par>
                              <p:par>
                                <p:cTn id="75" presetID="1" presetClass="entr" presetSubtype="0" fill="hold" nodeType="withEffect">
                                  <p:stCondLst>
                                    <p:cond delay="0"/>
                                  </p:stCondLst>
                                  <p:childTnLst>
                                    <p:set>
                                      <p:cBhvr>
                                        <p:cTn id="76" dur="1" fill="hold">
                                          <p:stCondLst>
                                            <p:cond delay="0"/>
                                          </p:stCondLst>
                                        </p:cTn>
                                        <p:tgtEl>
                                          <p:spTgt spid="2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21"/>
                                        </p:tgtEl>
                                        <p:attrNameLst>
                                          <p:attrName>style.visibility</p:attrName>
                                        </p:attrNameLst>
                                      </p:cBhvr>
                                      <p:to>
                                        <p:strVal val="hidden"/>
                                      </p:to>
                                    </p:set>
                                  </p:childTnLst>
                                </p:cTn>
                              </p:par>
                              <p:par>
                                <p:cTn id="85" presetID="1" presetClass="entr" presetSubtype="0" fill="hold" nodeType="withEffect">
                                  <p:stCondLst>
                                    <p:cond delay="0"/>
                                  </p:stCondLst>
                                  <p:childTnLst>
                                    <p:set>
                                      <p:cBhvr>
                                        <p:cTn id="8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9" name="Text Box 39"/>
          <p:cNvSpPr txBox="1">
            <a:spLocks noChangeArrowheads="1"/>
          </p:cNvSpPr>
          <p:nvPr/>
        </p:nvSpPr>
        <p:spPr bwMode="auto">
          <a:xfrm>
            <a:off x="107950" y="4267141"/>
            <a:ext cx="4211638" cy="830997"/>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buFontTx/>
              <a:buNone/>
            </a:pPr>
            <a:r>
              <a:rPr lang="en-US" altLang="zh-CN" sz="2400"/>
              <a:t>const int A = 123</a:t>
            </a:r>
            <a:r>
              <a:rPr lang="zh-CN" altLang="zh-CN" sz="2400"/>
              <a:t>，</a:t>
            </a:r>
            <a:r>
              <a:rPr lang="en-US" altLang="zh-CN" sz="2400"/>
              <a:t>B = 456;</a:t>
            </a:r>
            <a:endParaRPr lang="zh-CN" altLang="zh-CN" sz="2400"/>
          </a:p>
          <a:p>
            <a:pPr>
              <a:lnSpc>
                <a:spcPct val="100000"/>
              </a:lnSpc>
              <a:buFontTx/>
              <a:buNone/>
            </a:pPr>
            <a:r>
              <a:rPr lang="en-US" altLang="zh-CN" sz="2400"/>
              <a:t>const char K = </a:t>
            </a:r>
            <a:r>
              <a:rPr lang="pt-PT" altLang="zh-CN" sz="2400"/>
              <a:t>'</a:t>
            </a:r>
            <a:r>
              <a:rPr lang="en-US" altLang="zh-CN" sz="2400"/>
              <a:t>s</a:t>
            </a:r>
            <a:r>
              <a:rPr lang="pt-PT" altLang="zh-CN" sz="2400"/>
              <a:t>'</a:t>
            </a:r>
            <a:r>
              <a:rPr lang="en-US" altLang="zh-CN" sz="2400"/>
              <a:t>;</a:t>
            </a:r>
            <a:endParaRPr lang="zh-CN" altLang="zh-CN" sz="2400"/>
          </a:p>
        </p:txBody>
      </p:sp>
      <p:graphicFrame>
        <p:nvGraphicFramePr>
          <p:cNvPr id="34" name="表格 33"/>
          <p:cNvGraphicFramePr>
            <a:graphicFrameLocks noGrp="1"/>
          </p:cNvGraphicFramePr>
          <p:nvPr>
            <p:extLst>
              <p:ext uri="{D42A27DB-BD31-4B8C-83A1-F6EECF244321}">
                <p14:modId xmlns:p14="http://schemas.microsoft.com/office/powerpoint/2010/main" val="1394895068"/>
              </p:ext>
            </p:extLst>
          </p:nvPr>
        </p:nvGraphicFramePr>
        <p:xfrm>
          <a:off x="4716016" y="3947089"/>
          <a:ext cx="4356099" cy="1144941"/>
        </p:xfrm>
        <a:graphic>
          <a:graphicData uri="http://schemas.openxmlformats.org/drawingml/2006/table">
            <a:tbl>
              <a:tblPr/>
              <a:tblGrid>
                <a:gridCol w="648090">
                  <a:extLst>
                    <a:ext uri="{9D8B030D-6E8A-4147-A177-3AD203B41FA5}">
                      <a16:colId xmlns:a16="http://schemas.microsoft.com/office/drawing/2014/main" val="20000"/>
                    </a:ext>
                  </a:extLst>
                </a:gridCol>
                <a:gridCol w="1141466">
                  <a:extLst>
                    <a:ext uri="{9D8B030D-6E8A-4147-A177-3AD203B41FA5}">
                      <a16:colId xmlns:a16="http://schemas.microsoft.com/office/drawing/2014/main" val="20001"/>
                    </a:ext>
                  </a:extLst>
                </a:gridCol>
                <a:gridCol w="1558402">
                  <a:extLst>
                    <a:ext uri="{9D8B030D-6E8A-4147-A177-3AD203B41FA5}">
                      <a16:colId xmlns:a16="http://schemas.microsoft.com/office/drawing/2014/main" val="20002"/>
                    </a:ext>
                  </a:extLst>
                </a:gridCol>
                <a:gridCol w="1008141">
                  <a:extLst>
                    <a:ext uri="{9D8B030D-6E8A-4147-A177-3AD203B41FA5}">
                      <a16:colId xmlns:a16="http://schemas.microsoft.com/office/drawing/2014/main" val="20003"/>
                    </a:ext>
                  </a:extLst>
                </a:gridCol>
              </a:tblGrid>
              <a:tr h="322218">
                <a:tc>
                  <a:txBody>
                    <a:bodyPr/>
                    <a:lstStyle/>
                    <a:p>
                      <a:pPr algn="ctr">
                        <a:spcAft>
                          <a:spcPts val="0"/>
                        </a:spcAft>
                      </a:pPr>
                      <a:r>
                        <a:rPr lang="zh-CN" sz="1500" kern="100" dirty="0">
                          <a:effectLst/>
                          <a:latin typeface="Times New Roman"/>
                          <a:ea typeface="宋体"/>
                        </a:rPr>
                        <a:t>入口</a:t>
                      </a: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dirty="0">
                          <a:effectLst/>
                          <a:latin typeface="Times New Roman"/>
                          <a:ea typeface="宋体"/>
                        </a:rPr>
                        <a:t>常量名</a:t>
                      </a: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a:effectLst/>
                          <a:latin typeface="Times New Roman"/>
                          <a:ea typeface="宋体"/>
                        </a:rPr>
                        <a:t>常量类型</a:t>
                      </a:r>
                      <a:r>
                        <a:rPr lang="fr-FR" sz="1500" kern="100">
                          <a:effectLst/>
                          <a:latin typeface="Times New Roman"/>
                          <a:ea typeface="宋体"/>
                        </a:rPr>
                        <a:t>(type)</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a:effectLst/>
                          <a:latin typeface="Times New Roman"/>
                          <a:ea typeface="宋体"/>
                        </a:rPr>
                        <a:t>值</a:t>
                      </a:r>
                      <a:r>
                        <a:rPr lang="fr-FR" sz="1500" kern="100">
                          <a:effectLst/>
                          <a:latin typeface="Times New Roman"/>
                          <a:ea typeface="宋体"/>
                        </a:rPr>
                        <a:t>(val)</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0"/>
                  </a:ext>
                </a:extLst>
              </a:tr>
              <a:tr h="274241">
                <a:tc>
                  <a:txBody>
                    <a:bodyPr/>
                    <a:lstStyle/>
                    <a:p>
                      <a:pPr algn="ctr">
                        <a:spcAft>
                          <a:spcPts val="0"/>
                        </a:spcAft>
                      </a:pPr>
                      <a:r>
                        <a:rPr lang="fr-FR" sz="1500" kern="100">
                          <a:effectLst/>
                          <a:latin typeface="Times New Roman"/>
                          <a:ea typeface="宋体"/>
                        </a:rPr>
                        <a:t>1</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dirty="0">
                          <a:effectLst/>
                          <a:latin typeface="Times New Roman"/>
                          <a:ea typeface="宋体"/>
                        </a:rPr>
                        <a:t>A</a:t>
                      </a:r>
                      <a:endParaRPr lang="zh-CN" sz="1500" kern="100" dirty="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a:effectLst/>
                          <a:latin typeface="Times New Roman"/>
                          <a:ea typeface="宋体"/>
                        </a:rPr>
                        <a:t>int</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a:effectLst/>
                          <a:latin typeface="Times New Roman"/>
                          <a:ea typeface="宋体"/>
                        </a:rPr>
                        <a:t>123</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1"/>
                  </a:ext>
                </a:extLst>
              </a:tr>
              <a:tr h="274241">
                <a:tc>
                  <a:txBody>
                    <a:bodyPr/>
                    <a:lstStyle/>
                    <a:p>
                      <a:pPr algn="ctr">
                        <a:spcAft>
                          <a:spcPts val="0"/>
                        </a:spcAft>
                      </a:pPr>
                      <a:r>
                        <a:rPr lang="fr-FR" sz="1500" kern="100">
                          <a:effectLst/>
                          <a:latin typeface="Times New Roman"/>
                          <a:ea typeface="宋体"/>
                        </a:rPr>
                        <a:t>2</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a:effectLst/>
                          <a:latin typeface="Times New Roman"/>
                          <a:ea typeface="宋体"/>
                        </a:rPr>
                        <a:t>B</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a:effectLst/>
                          <a:latin typeface="Times New Roman"/>
                          <a:ea typeface="宋体"/>
                        </a:rPr>
                        <a:t>int</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a:effectLst/>
                          <a:latin typeface="Times New Roman"/>
                          <a:ea typeface="宋体"/>
                        </a:rPr>
                        <a:t>456</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2"/>
                  </a:ext>
                </a:extLst>
              </a:tr>
              <a:tr h="274241">
                <a:tc>
                  <a:txBody>
                    <a:bodyPr/>
                    <a:lstStyle/>
                    <a:p>
                      <a:pPr algn="ctr">
                        <a:spcAft>
                          <a:spcPts val="0"/>
                        </a:spcAft>
                      </a:pPr>
                      <a:r>
                        <a:rPr lang="fr-FR" sz="1500" kern="100" dirty="0">
                          <a:effectLst/>
                          <a:latin typeface="Times New Roman"/>
                          <a:ea typeface="宋体"/>
                        </a:rPr>
                        <a:t>3</a:t>
                      </a:r>
                      <a:endParaRPr lang="zh-CN" sz="1500" kern="100" dirty="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a:effectLst/>
                          <a:latin typeface="Times New Roman"/>
                          <a:ea typeface="宋体"/>
                        </a:rPr>
                        <a:t>K</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fr-FR" sz="1500" kern="100">
                          <a:effectLst/>
                          <a:latin typeface="Times New Roman"/>
                          <a:ea typeface="宋体"/>
                        </a:rPr>
                        <a:t>char</a:t>
                      </a:r>
                      <a:endParaRPr lang="zh-CN" sz="1500" kern="10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en-US" sz="1500" kern="100" dirty="0">
                          <a:effectLst/>
                          <a:latin typeface="Times New Roman"/>
                          <a:ea typeface="宋体"/>
                        </a:rPr>
                        <a:t>‘s’</a:t>
                      </a:r>
                      <a:endParaRPr lang="zh-CN" sz="1500" kern="100" dirty="0">
                        <a:effectLst/>
                        <a:latin typeface="Times New Roman"/>
                        <a:ea typeface="宋体"/>
                      </a:endParaRPr>
                    </a:p>
                  </a:txBody>
                  <a:tcPr marL="68582" marR="6858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3"/>
                  </a:ext>
                </a:extLst>
              </a:tr>
            </a:tbl>
          </a:graphicData>
        </a:graphic>
      </p:graphicFrame>
      <p:graphicFrame>
        <p:nvGraphicFramePr>
          <p:cNvPr id="2" name="表格 1"/>
          <p:cNvGraphicFramePr>
            <a:graphicFrameLocks noGrp="1"/>
          </p:cNvGraphicFramePr>
          <p:nvPr>
            <p:extLst>
              <p:ext uri="{D42A27DB-BD31-4B8C-83A1-F6EECF244321}">
                <p14:modId xmlns:p14="http://schemas.microsoft.com/office/powerpoint/2010/main" val="1735112239"/>
              </p:ext>
            </p:extLst>
          </p:nvPr>
        </p:nvGraphicFramePr>
        <p:xfrm>
          <a:off x="0" y="86916"/>
          <a:ext cx="9144000" cy="3650714"/>
        </p:xfrm>
        <a:graphic>
          <a:graphicData uri="http://schemas.openxmlformats.org/drawingml/2006/table">
            <a:tbl>
              <a:tblPr>
                <a:tableStyleId>{5C22544A-7EE6-4342-B048-85BDC9FD1C3A}</a:tableStyleId>
              </a:tblPr>
              <a:tblGrid>
                <a:gridCol w="827585">
                  <a:extLst>
                    <a:ext uri="{9D8B030D-6E8A-4147-A177-3AD203B41FA5}">
                      <a16:colId xmlns:a16="http://schemas.microsoft.com/office/drawing/2014/main" val="20000"/>
                    </a:ext>
                  </a:extLst>
                </a:gridCol>
                <a:gridCol w="3384375">
                  <a:extLst>
                    <a:ext uri="{9D8B030D-6E8A-4147-A177-3AD203B41FA5}">
                      <a16:colId xmlns:a16="http://schemas.microsoft.com/office/drawing/2014/main" val="20001"/>
                    </a:ext>
                  </a:extLst>
                </a:gridCol>
                <a:gridCol w="4932040">
                  <a:extLst>
                    <a:ext uri="{9D8B030D-6E8A-4147-A177-3AD203B41FA5}">
                      <a16:colId xmlns:a16="http://schemas.microsoft.com/office/drawing/2014/main" val="20002"/>
                    </a:ext>
                  </a:extLst>
                </a:gridCol>
              </a:tblGrid>
              <a:tr h="228600">
                <a:tc>
                  <a:txBody>
                    <a:bodyPr/>
                    <a:lstStyle/>
                    <a:p>
                      <a:pPr algn="just">
                        <a:spcAft>
                          <a:spcPts val="0"/>
                        </a:spcAft>
                      </a:pPr>
                      <a:r>
                        <a:rPr lang="zh-CN" sz="1700" kern="100" dirty="0">
                          <a:effectLst/>
                        </a:rPr>
                        <a:t>编号</a:t>
                      </a:r>
                      <a:endParaRPr lang="zh-CN" sz="17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zh-CN" sz="1700" kern="100">
                          <a:effectLst/>
                        </a:rPr>
                        <a:t>产生式</a:t>
                      </a:r>
                      <a:endParaRPr lang="zh-CN" sz="17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zh-CN" sz="1700" kern="100">
                          <a:effectLst/>
                        </a:rPr>
                        <a:t>语义规则</a:t>
                      </a:r>
                      <a:endParaRPr lang="zh-CN" sz="17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00834">
                <a:tc>
                  <a:txBody>
                    <a:bodyPr/>
                    <a:lstStyle/>
                    <a:p>
                      <a:pPr algn="just">
                        <a:spcAft>
                          <a:spcPts val="0"/>
                        </a:spcAft>
                      </a:pPr>
                      <a:r>
                        <a:rPr lang="zh-CN" sz="1700" kern="100">
                          <a:effectLst/>
                        </a:rPr>
                        <a:t>（6）</a:t>
                      </a:r>
                      <a:endParaRPr lang="zh-CN" sz="17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fr-FR" sz="1700" kern="100" dirty="0">
                          <a:effectLst/>
                        </a:rPr>
                        <a:t>&lt;ConstTDef&gt;→id=value;</a:t>
                      </a:r>
                      <a:endParaRPr lang="zh-CN" sz="17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sz="1700" kern="100" dirty="0">
                          <a:effectLst/>
                        </a:rPr>
                        <a:t>{InsertConst(</a:t>
                      </a:r>
                      <a:r>
                        <a:rPr kumimoji="0" lang="en-US" altLang="zh-CN" sz="1700" kern="1200" dirty="0">
                          <a:solidFill>
                            <a:schemeClr val="dk1"/>
                          </a:solidFill>
                          <a:effectLst/>
                          <a:latin typeface="+mn-lt"/>
                          <a:ea typeface="+mn-ea"/>
                          <a:cs typeface="+mn-cs"/>
                        </a:rPr>
                        <a:t>entry(id).name</a:t>
                      </a:r>
                      <a:r>
                        <a:rPr lang="zh-CN" sz="1700" kern="100" dirty="0">
                          <a:effectLst/>
                        </a:rPr>
                        <a:t>);//常量插入符号表</a:t>
                      </a:r>
                    </a:p>
                    <a:p>
                      <a:pPr indent="171450" algn="just">
                        <a:spcAft>
                          <a:spcPts val="0"/>
                        </a:spcAft>
                      </a:pPr>
                      <a:r>
                        <a:rPr lang="zh-CN" sz="1700" kern="100" dirty="0">
                          <a:effectLst/>
                        </a:rPr>
                        <a:t>entry(id).val= value;</a:t>
                      </a:r>
                    </a:p>
                    <a:p>
                      <a:pPr indent="171450" algn="just">
                        <a:spcAft>
                          <a:spcPts val="0"/>
                        </a:spcAft>
                      </a:pPr>
                      <a:r>
                        <a:rPr lang="zh-CN" sz="1700" kern="100" dirty="0">
                          <a:effectLst/>
                        </a:rPr>
                        <a:t>entry(id).type=</a:t>
                      </a:r>
                      <a:r>
                        <a:rPr lang="fr-FR" sz="1700" kern="100" dirty="0">
                          <a:effectLst/>
                        </a:rPr>
                        <a:t>&lt;ConstTDef&gt;.in</a:t>
                      </a:r>
                      <a:r>
                        <a:rPr lang="zh-CN" sz="1700" kern="100" dirty="0">
                          <a:effectLst/>
                        </a:rPr>
                        <a:t>;        </a:t>
                      </a:r>
                      <a:r>
                        <a:rPr lang="fr-FR" sz="1700" kern="100" dirty="0">
                          <a:effectLst/>
                        </a:rPr>
                        <a:t>}</a:t>
                      </a:r>
                      <a:endParaRPr lang="zh-CN" sz="17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025986">
                <a:tc>
                  <a:txBody>
                    <a:bodyPr/>
                    <a:lstStyle/>
                    <a:p>
                      <a:pPr algn="just">
                        <a:spcAft>
                          <a:spcPts val="0"/>
                        </a:spcAft>
                      </a:pPr>
                      <a:r>
                        <a:rPr lang="zh-CN" sz="1700" kern="100">
                          <a:effectLst/>
                        </a:rPr>
                        <a:t>（</a:t>
                      </a:r>
                      <a:r>
                        <a:rPr lang="fr-FR" sz="1700" kern="100">
                          <a:effectLst/>
                        </a:rPr>
                        <a:t>5</a:t>
                      </a:r>
                      <a:r>
                        <a:rPr lang="zh-CN" sz="1700" kern="100">
                          <a:effectLst/>
                        </a:rPr>
                        <a:t>）</a:t>
                      </a:r>
                      <a:endParaRPr lang="zh-CN" sz="17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fr-FR" sz="1700" kern="100" dirty="0">
                          <a:effectLst/>
                        </a:rPr>
                        <a:t>&lt;ConstTDef&gt;→id=value, &lt;ConstTDef&gt;</a:t>
                      </a:r>
                      <a:r>
                        <a:rPr lang="fr-FR" altLang="zh-CN" sz="1700" kern="1200" baseline="30000" dirty="0">
                          <a:solidFill>
                            <a:schemeClr val="dk1"/>
                          </a:solidFill>
                          <a:effectLst/>
                          <a:latin typeface="+mn-lt"/>
                          <a:ea typeface="+mn-ea"/>
                          <a:cs typeface="+mn-cs"/>
                        </a:rPr>
                        <a:t>(1)</a:t>
                      </a:r>
                      <a:endParaRPr lang="zh-CN" sz="17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sz="1700" kern="100" dirty="0">
                          <a:effectLst/>
                        </a:rPr>
                        <a:t>{InsertConst(</a:t>
                      </a:r>
                      <a:r>
                        <a:rPr kumimoji="0" lang="en-US" altLang="zh-CN" sz="1700" kern="1200" dirty="0">
                          <a:solidFill>
                            <a:schemeClr val="dk1"/>
                          </a:solidFill>
                          <a:effectLst/>
                          <a:latin typeface="+mn-lt"/>
                          <a:ea typeface="+mn-ea"/>
                          <a:cs typeface="+mn-cs"/>
                        </a:rPr>
                        <a:t>entry(id).name</a:t>
                      </a:r>
                      <a:r>
                        <a:rPr lang="zh-CN" sz="1700" kern="100" dirty="0">
                          <a:effectLst/>
                        </a:rPr>
                        <a:t>);//常量插入符号表</a:t>
                      </a:r>
                    </a:p>
                    <a:p>
                      <a:pPr indent="171450" algn="just">
                        <a:spcAft>
                          <a:spcPts val="0"/>
                        </a:spcAft>
                      </a:pPr>
                      <a:r>
                        <a:rPr lang="zh-CN" sz="1700" kern="100" dirty="0">
                          <a:effectLst/>
                        </a:rPr>
                        <a:t>entry(id).val= value;</a:t>
                      </a:r>
                    </a:p>
                    <a:p>
                      <a:pPr indent="171450" algn="just">
                        <a:spcAft>
                          <a:spcPts val="0"/>
                        </a:spcAft>
                      </a:pPr>
                      <a:r>
                        <a:rPr lang="zh-CN" sz="1700" kern="100" dirty="0">
                          <a:effectLst/>
                        </a:rPr>
                        <a:t>entry(id).type=</a:t>
                      </a:r>
                      <a:r>
                        <a:rPr lang="fr-FR" sz="1700" kern="100" dirty="0">
                          <a:effectLst/>
                        </a:rPr>
                        <a:t>&lt;ConstTDef&gt;.in</a:t>
                      </a:r>
                      <a:r>
                        <a:rPr lang="zh-CN" sz="1700" kern="100" dirty="0">
                          <a:effectLst/>
                        </a:rPr>
                        <a:t>; </a:t>
                      </a:r>
                      <a:endParaRPr lang="en-US" altLang="zh-CN" sz="1700" kern="100" dirty="0">
                        <a:effectLst/>
                      </a:endParaRPr>
                    </a:p>
                    <a:p>
                      <a:pPr indent="171450" algn="just">
                        <a:spcAft>
                          <a:spcPts val="0"/>
                        </a:spcAft>
                      </a:pPr>
                      <a:r>
                        <a:rPr lang="fr-FR" altLang="zh-CN" sz="1700" kern="1200" dirty="0">
                          <a:solidFill>
                            <a:srgbClr val="FF0000"/>
                          </a:solidFill>
                          <a:effectLst/>
                          <a:latin typeface="+mn-lt"/>
                          <a:ea typeface="+mn-ea"/>
                          <a:cs typeface="+mn-cs"/>
                        </a:rPr>
                        <a:t>&lt;ConstTDef&gt;</a:t>
                      </a:r>
                      <a:r>
                        <a:rPr lang="fr-FR" altLang="zh-CN" sz="1700" kern="1200" baseline="30000" dirty="0">
                          <a:solidFill>
                            <a:srgbClr val="FF0000"/>
                          </a:solidFill>
                          <a:effectLst/>
                          <a:latin typeface="+mn-lt"/>
                          <a:ea typeface="+mn-ea"/>
                          <a:cs typeface="+mn-cs"/>
                        </a:rPr>
                        <a:t>(1)</a:t>
                      </a:r>
                      <a:r>
                        <a:rPr lang="fr-FR" altLang="zh-CN" sz="1700" kern="1200" dirty="0">
                          <a:solidFill>
                            <a:srgbClr val="FF0000"/>
                          </a:solidFill>
                          <a:effectLst/>
                          <a:latin typeface="+mn-lt"/>
                          <a:ea typeface="+mn-ea"/>
                          <a:cs typeface="+mn-cs"/>
                        </a:rPr>
                        <a:t>.in=&lt;ConstTDef&gt;.in </a:t>
                      </a:r>
                      <a:r>
                        <a:rPr lang="zh-CN" sz="1700" kern="100" dirty="0">
                          <a:solidFill>
                            <a:srgbClr val="FF0000"/>
                          </a:solidFill>
                          <a:effectLst/>
                        </a:rPr>
                        <a:t>  </a:t>
                      </a:r>
                      <a:r>
                        <a:rPr lang="zh-CN" sz="1700" kern="100" dirty="0">
                          <a:effectLst/>
                        </a:rPr>
                        <a:t>   </a:t>
                      </a:r>
                      <a:r>
                        <a:rPr lang="fr-FR" sz="1700" kern="100" dirty="0">
                          <a:effectLst/>
                        </a:rPr>
                        <a:t>}</a:t>
                      </a:r>
                      <a:endParaRPr lang="zh-CN" sz="17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algn="just">
                        <a:spcAft>
                          <a:spcPts val="0"/>
                        </a:spcAft>
                      </a:pPr>
                      <a:r>
                        <a:rPr lang="zh-CN" sz="1700" kern="100">
                          <a:effectLst/>
                        </a:rPr>
                        <a:t>（</a:t>
                      </a:r>
                      <a:r>
                        <a:rPr lang="fr-FR" sz="1700" kern="100">
                          <a:effectLst/>
                        </a:rPr>
                        <a:t>4</a:t>
                      </a:r>
                      <a:r>
                        <a:rPr lang="zh-CN" sz="1700" kern="100">
                          <a:effectLst/>
                        </a:rPr>
                        <a:t>）</a:t>
                      </a:r>
                      <a:endParaRPr lang="zh-CN" sz="17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fr-FR" sz="1700" kern="100" dirty="0">
                          <a:effectLst/>
                        </a:rPr>
                        <a:t>&lt;ConstType&gt; →int</a:t>
                      </a:r>
                      <a:endParaRPr lang="zh-CN" sz="17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fr-FR" sz="1700" kern="100" dirty="0">
                          <a:effectLst/>
                        </a:rPr>
                        <a:t>{&lt;ConstType&gt;.type = int      }</a:t>
                      </a:r>
                      <a:endParaRPr lang="zh-CN" sz="17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algn="just">
                        <a:spcAft>
                          <a:spcPts val="0"/>
                        </a:spcAft>
                      </a:pPr>
                      <a:r>
                        <a:rPr lang="zh-CN" sz="1700" kern="100">
                          <a:effectLst/>
                        </a:rPr>
                        <a:t>（</a:t>
                      </a:r>
                      <a:r>
                        <a:rPr lang="fr-FR" sz="1700" kern="100">
                          <a:effectLst/>
                        </a:rPr>
                        <a:t>3</a:t>
                      </a:r>
                      <a:r>
                        <a:rPr lang="zh-CN" sz="1700" kern="100">
                          <a:effectLst/>
                        </a:rPr>
                        <a:t>）</a:t>
                      </a:r>
                      <a:endParaRPr lang="zh-CN" sz="17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fr-FR" sz="1700" kern="100" dirty="0">
                          <a:effectLst/>
                        </a:rPr>
                        <a:t>&lt;ConstHead&gt;→const &lt;ConstType&gt;</a:t>
                      </a:r>
                      <a:endParaRPr lang="zh-CN" sz="17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fr-FR" sz="1700" kern="100" dirty="0">
                          <a:effectLst/>
                        </a:rPr>
                        <a:t>{&lt;ConstHead&gt;.type = &lt;ConstType&gt;.type   }</a:t>
                      </a:r>
                      <a:endParaRPr lang="zh-CN" sz="17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algn="just">
                        <a:spcAft>
                          <a:spcPts val="0"/>
                        </a:spcAft>
                      </a:pPr>
                      <a:r>
                        <a:rPr lang="zh-CN" sz="1700" kern="100">
                          <a:effectLst/>
                        </a:rPr>
                        <a:t>（</a:t>
                      </a:r>
                      <a:r>
                        <a:rPr lang="fr-FR" sz="1700" kern="100">
                          <a:effectLst/>
                        </a:rPr>
                        <a:t>2</a:t>
                      </a:r>
                      <a:r>
                        <a:rPr lang="zh-CN" sz="1700" kern="100">
                          <a:effectLst/>
                        </a:rPr>
                        <a:t>）</a:t>
                      </a:r>
                      <a:endParaRPr lang="zh-CN" sz="17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fr-FR" sz="1700" kern="100" dirty="0">
                          <a:effectLst/>
                        </a:rPr>
                        <a:t>&lt;ConstDCL&gt; →</a:t>
                      </a:r>
                      <a:r>
                        <a:rPr lang="en-US" sz="1700" kern="100" dirty="0">
                          <a:effectLst/>
                          <a:sym typeface="Symbol"/>
                        </a:rPr>
                        <a:t></a:t>
                      </a:r>
                      <a:endParaRPr lang="zh-CN" sz="17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fr-FR" sz="1700" kern="100" dirty="0">
                          <a:effectLst/>
                        </a:rPr>
                        <a:t>{     }</a:t>
                      </a:r>
                      <a:endParaRPr lang="zh-CN" sz="17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algn="just">
                        <a:spcAft>
                          <a:spcPts val="0"/>
                        </a:spcAft>
                      </a:pPr>
                      <a:r>
                        <a:rPr lang="zh-CN" sz="1700" kern="100">
                          <a:effectLst/>
                        </a:rPr>
                        <a:t>（</a:t>
                      </a:r>
                      <a:r>
                        <a:rPr lang="fr-FR" sz="1700" kern="100">
                          <a:effectLst/>
                        </a:rPr>
                        <a:t>1</a:t>
                      </a:r>
                      <a:r>
                        <a:rPr lang="zh-CN" sz="1700" kern="100">
                          <a:effectLst/>
                        </a:rPr>
                        <a:t>）</a:t>
                      </a:r>
                      <a:endParaRPr lang="zh-CN" sz="1700" kern="10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fr-FR" sz="1700" kern="100" dirty="0">
                          <a:effectLst/>
                        </a:rPr>
                        <a:t>&lt;ConstDCL&gt;→&lt;ConstHead&gt;&lt;ConstTDef&gt;</a:t>
                      </a:r>
                      <a:endParaRPr lang="zh-CN" sz="17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fr-FR" sz="1700" kern="100" dirty="0">
                          <a:effectLst/>
                        </a:rPr>
                        <a:t>{&lt;ConstTDef&gt;.in = &lt;ConstHead&gt;.type      }</a:t>
                      </a:r>
                      <a:endParaRPr lang="zh-CN" sz="17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365670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26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9"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041258"/>
            <a:ext cx="7332457" cy="1446550"/>
          </a:xfrm>
          <a:prstGeom prst="rect">
            <a:avLst/>
          </a:prstGeom>
        </p:spPr>
        <p:txBody>
          <a:bodyPr wrap="non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、常见语句的语法制导翻译</a:t>
            </a:r>
            <a:endParaRPr lang="en-US" altLang="zh-CN" sz="4400" b="1" dirty="0">
              <a:solidFill>
                <a:srgbClr val="CC0099"/>
              </a:solidFill>
              <a:ea typeface="隶书" pitchFamily="49" charset="-122"/>
            </a:endParaRPr>
          </a:p>
          <a:p>
            <a:r>
              <a:rPr lang="en-US" altLang="zh-CN" sz="4400" b="1" dirty="0">
                <a:solidFill>
                  <a:srgbClr val="CC0099"/>
                </a:solidFill>
                <a:ea typeface="隶书" pitchFamily="49" charset="-122"/>
              </a:rPr>
              <a:t>    </a:t>
            </a:r>
            <a:r>
              <a:rPr lang="en-US" altLang="zh-CN" sz="3600" b="1" dirty="0">
                <a:solidFill>
                  <a:srgbClr val="CC0099"/>
                </a:solidFill>
                <a:ea typeface="隶书" pitchFamily="49" charset="-122"/>
              </a:rPr>
              <a:t>——</a:t>
            </a:r>
            <a:r>
              <a:rPr lang="zh-CN" altLang="en-US" sz="3600" b="1" dirty="0">
                <a:solidFill>
                  <a:srgbClr val="CC0099"/>
                </a:solidFill>
                <a:ea typeface="隶书" pitchFamily="49" charset="-122"/>
              </a:rPr>
              <a:t>变量声明的语义处理</a:t>
            </a:r>
            <a:endParaRPr lang="zh-CN" altLang="en-US" sz="4400" b="1" dirty="0">
              <a:solidFill>
                <a:srgbClr val="CC0099"/>
              </a:solidFill>
              <a:ea typeface="隶书" pitchFamily="49" charset="-122"/>
            </a:endParaRPr>
          </a:p>
        </p:txBody>
      </p:sp>
    </p:spTree>
    <p:extLst>
      <p:ext uri="{BB962C8B-B14F-4D97-AF65-F5344CB8AC3E}">
        <p14:creationId xmlns:p14="http://schemas.microsoft.com/office/powerpoint/2010/main" val="39321173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9689" y="0"/>
            <a:ext cx="8229600" cy="857250"/>
          </a:xfrm>
        </p:spPr>
        <p:txBody>
          <a:bodyPr/>
          <a:lstStyle/>
          <a:p>
            <a:pPr eaLnBrk="1" hangingPunct="1"/>
            <a:r>
              <a:rPr lang="zh-CN" altLang="en-US" sz="4000" b="1">
                <a:ea typeface="楷体_GB2312" pitchFamily="49" charset="-122"/>
              </a:rPr>
              <a:t>变量声明语句</a:t>
            </a:r>
          </a:p>
        </p:txBody>
      </p:sp>
      <p:sp>
        <p:nvSpPr>
          <p:cNvPr id="66563" name="Rectangle 3"/>
          <p:cNvSpPr>
            <a:spLocks noGrp="1" noChangeArrowheads="1"/>
          </p:cNvSpPr>
          <p:nvPr>
            <p:ph type="body" sz="half" idx="1"/>
          </p:nvPr>
        </p:nvSpPr>
        <p:spPr>
          <a:xfrm>
            <a:off x="468314" y="897732"/>
            <a:ext cx="8207375" cy="431006"/>
          </a:xfrm>
        </p:spPr>
        <p:txBody>
          <a:bodyPr>
            <a:normAutofit fontScale="92500" lnSpcReduction="20000"/>
          </a:bodyPr>
          <a:lstStyle/>
          <a:p>
            <a:pPr eaLnBrk="1" hangingPunct="1">
              <a:buFontTx/>
              <a:buNone/>
            </a:pPr>
            <a:r>
              <a:rPr lang="zh-CN" altLang="en-US" sz="2800" b="1">
                <a:solidFill>
                  <a:srgbClr val="0033CC"/>
                </a:solidFill>
              </a:rPr>
              <a:t>１</a:t>
            </a:r>
            <a:r>
              <a:rPr lang="en-US" altLang="zh-CN" sz="2800" b="1">
                <a:solidFill>
                  <a:srgbClr val="0033CC"/>
                </a:solidFill>
              </a:rPr>
              <a:t>. </a:t>
            </a:r>
            <a:r>
              <a:rPr lang="zh-CN" altLang="en-US" sz="2800" b="1">
                <a:solidFill>
                  <a:srgbClr val="0033CC"/>
                </a:solidFill>
              </a:rPr>
              <a:t>变量声明语句的文法描述</a:t>
            </a:r>
          </a:p>
        </p:txBody>
      </p:sp>
      <p:sp>
        <p:nvSpPr>
          <p:cNvPr id="66564" name="Rectangle 2"/>
          <p:cNvSpPr>
            <a:spLocks noChangeArrowheads="1"/>
          </p:cNvSpPr>
          <p:nvPr/>
        </p:nvSpPr>
        <p:spPr bwMode="auto">
          <a:xfrm>
            <a:off x="684215" y="1472238"/>
            <a:ext cx="7704210" cy="1446550"/>
          </a:xfrm>
          <a:prstGeom prst="rect">
            <a:avLst/>
          </a:prstGeom>
          <a:ln/>
        </p:spPr>
        <p:style>
          <a:lnRef idx="2">
            <a:schemeClr val="accent1"/>
          </a:lnRef>
          <a:fillRef idx="1">
            <a:schemeClr val="lt1"/>
          </a:fillRef>
          <a:effectRef idx="0">
            <a:schemeClr val="accent1"/>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buFontTx/>
              <a:buNone/>
            </a:pPr>
            <a:r>
              <a:rPr lang="en-US" altLang="zh-CN" sz="2200" dirty="0"/>
              <a:t>&lt;</a:t>
            </a:r>
            <a:r>
              <a:rPr lang="zh-CN" altLang="zh-CN" sz="2200" dirty="0"/>
              <a:t>变量声明</a:t>
            </a:r>
            <a:r>
              <a:rPr lang="en-US" altLang="zh-CN" sz="2200" dirty="0"/>
              <a:t>&gt;</a:t>
            </a:r>
            <a:r>
              <a:rPr lang="zh-CN" altLang="zh-CN" sz="2200" dirty="0"/>
              <a:t>→</a:t>
            </a:r>
            <a:r>
              <a:rPr lang="en-US" altLang="zh-CN" sz="2200" dirty="0"/>
              <a:t>&lt;</a:t>
            </a:r>
            <a:r>
              <a:rPr lang="zh-CN" altLang="zh-CN" sz="2200" dirty="0"/>
              <a:t>变量类型</a:t>
            </a:r>
            <a:r>
              <a:rPr lang="en-US" altLang="zh-CN" sz="2200" dirty="0"/>
              <a:t>&gt; &lt;</a:t>
            </a:r>
            <a:r>
              <a:rPr lang="zh-CN" altLang="zh-CN" sz="2200" dirty="0"/>
              <a:t>变量声明表</a:t>
            </a:r>
            <a:r>
              <a:rPr lang="en-US" altLang="zh-CN" sz="2200" dirty="0"/>
              <a:t>&gt;</a:t>
            </a:r>
            <a:endParaRPr lang="zh-CN" altLang="zh-CN" sz="2200" dirty="0"/>
          </a:p>
          <a:p>
            <a:pPr>
              <a:lnSpc>
                <a:spcPct val="100000"/>
              </a:lnSpc>
              <a:buFontTx/>
              <a:buNone/>
            </a:pPr>
            <a:r>
              <a:rPr lang="en-US" altLang="zh-CN" sz="2200" dirty="0"/>
              <a:t>&lt;</a:t>
            </a:r>
            <a:r>
              <a:rPr lang="zh-CN" altLang="zh-CN" sz="2200" dirty="0"/>
              <a:t>变量声明表</a:t>
            </a:r>
            <a:r>
              <a:rPr lang="en-US" altLang="zh-CN" sz="2200" dirty="0"/>
              <a:t>&gt;</a:t>
            </a:r>
            <a:r>
              <a:rPr lang="zh-CN" altLang="zh-CN" sz="2200" dirty="0"/>
              <a:t>→</a:t>
            </a:r>
            <a:r>
              <a:rPr lang="en-US" altLang="zh-CN" sz="2200" dirty="0"/>
              <a:t>&lt;</a:t>
            </a:r>
            <a:r>
              <a:rPr lang="zh-CN" altLang="zh-CN" sz="2200" dirty="0"/>
              <a:t>单变量声明</a:t>
            </a:r>
            <a:r>
              <a:rPr lang="en-US" altLang="zh-CN" sz="2200" dirty="0"/>
              <a:t>&gt;;|&lt;</a:t>
            </a:r>
            <a:r>
              <a:rPr lang="zh-CN" altLang="zh-CN" sz="2200" dirty="0"/>
              <a:t>单变量声明</a:t>
            </a:r>
            <a:r>
              <a:rPr lang="en-US" altLang="zh-CN" sz="2200" dirty="0"/>
              <a:t>&gt;,&lt;</a:t>
            </a:r>
            <a:r>
              <a:rPr lang="zh-CN" altLang="zh-CN" sz="2200" dirty="0"/>
              <a:t>变量声明表</a:t>
            </a:r>
            <a:r>
              <a:rPr lang="en-US" altLang="zh-CN" sz="2200" dirty="0"/>
              <a:t>&gt;</a:t>
            </a:r>
            <a:endParaRPr lang="zh-CN" altLang="zh-CN" sz="2200" dirty="0"/>
          </a:p>
          <a:p>
            <a:pPr>
              <a:lnSpc>
                <a:spcPct val="100000"/>
              </a:lnSpc>
              <a:buFontTx/>
              <a:buNone/>
            </a:pPr>
            <a:r>
              <a:rPr lang="en-US" altLang="zh-CN" sz="2200" dirty="0"/>
              <a:t>&lt;</a:t>
            </a:r>
            <a:r>
              <a:rPr lang="zh-CN" altLang="zh-CN" sz="2200" dirty="0"/>
              <a:t>单变量声明</a:t>
            </a:r>
            <a:r>
              <a:rPr lang="en-US" altLang="zh-CN" sz="2200" dirty="0"/>
              <a:t>&gt;</a:t>
            </a:r>
            <a:r>
              <a:rPr lang="zh-CN" altLang="zh-CN" sz="2200" dirty="0"/>
              <a:t>→</a:t>
            </a:r>
            <a:r>
              <a:rPr lang="en-US" altLang="zh-CN" sz="2200" dirty="0"/>
              <a:t>&lt;</a:t>
            </a:r>
            <a:r>
              <a:rPr lang="zh-CN" altLang="zh-CN" sz="2200" dirty="0"/>
              <a:t>变量</a:t>
            </a:r>
            <a:r>
              <a:rPr lang="en-US" altLang="zh-CN" sz="2200" dirty="0"/>
              <a:t>&gt;|&lt;</a:t>
            </a:r>
            <a:r>
              <a:rPr lang="zh-CN" altLang="zh-CN" sz="2200" dirty="0"/>
              <a:t>变量</a:t>
            </a:r>
            <a:r>
              <a:rPr lang="en-US" altLang="zh-CN" sz="2200" dirty="0"/>
              <a:t>&gt;=&lt;</a:t>
            </a:r>
            <a:r>
              <a:rPr lang="zh-CN" altLang="zh-CN" sz="2200" dirty="0"/>
              <a:t>表达式</a:t>
            </a:r>
            <a:r>
              <a:rPr lang="en-US" altLang="zh-CN" sz="2200" dirty="0"/>
              <a:t>&gt;</a:t>
            </a:r>
            <a:endParaRPr lang="zh-CN" altLang="zh-CN" sz="2200" dirty="0"/>
          </a:p>
          <a:p>
            <a:pPr>
              <a:lnSpc>
                <a:spcPct val="100000"/>
              </a:lnSpc>
              <a:buFontTx/>
              <a:buNone/>
            </a:pPr>
            <a:r>
              <a:rPr lang="en-US" altLang="zh-CN" sz="2200" dirty="0"/>
              <a:t>&lt;</a:t>
            </a:r>
            <a:r>
              <a:rPr lang="zh-CN" altLang="zh-CN" sz="2200" dirty="0"/>
              <a:t>变量类型</a:t>
            </a:r>
            <a:r>
              <a:rPr lang="en-US" altLang="zh-CN" sz="2200" dirty="0"/>
              <a:t>&gt;</a:t>
            </a:r>
            <a:r>
              <a:rPr lang="zh-CN" altLang="zh-CN" sz="2200" dirty="0"/>
              <a:t>→</a:t>
            </a:r>
            <a:r>
              <a:rPr lang="en-US" altLang="zh-CN" sz="2200" dirty="0" err="1"/>
              <a:t>int|char|float</a:t>
            </a:r>
            <a:endParaRPr lang="zh-CN" altLang="zh-CN" sz="2200" dirty="0"/>
          </a:p>
        </p:txBody>
      </p:sp>
      <p:sp>
        <p:nvSpPr>
          <p:cNvPr id="66565" name="矩形 1"/>
          <p:cNvSpPr>
            <a:spLocks noChangeArrowheads="1"/>
          </p:cNvSpPr>
          <p:nvPr/>
        </p:nvSpPr>
        <p:spPr bwMode="auto">
          <a:xfrm>
            <a:off x="709614" y="3327797"/>
            <a:ext cx="75596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r>
              <a:rPr lang="zh-CN" altLang="zh-CN" sz="2400" dirty="0"/>
              <a:t>使用</a:t>
            </a:r>
            <a:r>
              <a:rPr lang="zh-CN" altLang="zh-CN" sz="2400" dirty="0">
                <a:solidFill>
                  <a:srgbClr val="FF0000"/>
                </a:solidFill>
              </a:rPr>
              <a:t>综合属性</a:t>
            </a:r>
            <a:r>
              <a:rPr lang="zh-CN" altLang="zh-CN" sz="2400" dirty="0"/>
              <a:t>还是使用</a:t>
            </a:r>
            <a:r>
              <a:rPr lang="zh-CN" altLang="zh-CN" sz="2400" dirty="0">
                <a:solidFill>
                  <a:srgbClr val="FF0000"/>
                </a:solidFill>
              </a:rPr>
              <a:t>继承属性和综合属性的结合</a:t>
            </a:r>
            <a:r>
              <a:rPr lang="zh-CN" altLang="zh-CN" sz="2400" dirty="0"/>
              <a:t>，可以用两种方式来定义语义规则</a:t>
            </a:r>
            <a:endParaRPr lang="zh-CN" altLang="en-US" sz="2400" dirty="0"/>
          </a:p>
        </p:txBody>
      </p:sp>
    </p:spTree>
    <p:extLst>
      <p:ext uri="{BB962C8B-B14F-4D97-AF65-F5344CB8AC3E}">
        <p14:creationId xmlns:p14="http://schemas.microsoft.com/office/powerpoint/2010/main" val="38183520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0" y="-20894"/>
            <a:ext cx="8229600" cy="504412"/>
          </a:xfrm>
        </p:spPr>
        <p:txBody>
          <a:bodyPr>
            <a:normAutofit fontScale="90000"/>
          </a:bodyPr>
          <a:lstStyle/>
          <a:p>
            <a:pPr eaLnBrk="1" hangingPunct="1"/>
            <a:r>
              <a:rPr lang="zh-CN" altLang="en-US" sz="4000" b="0" dirty="0">
                <a:effectLst/>
              </a:rPr>
              <a:t>变量声明语句的语义处理</a:t>
            </a:r>
          </a:p>
        </p:txBody>
      </p:sp>
      <p:sp>
        <p:nvSpPr>
          <p:cNvPr id="67587" name="Rectangle 3"/>
          <p:cNvSpPr>
            <a:spLocks noGrp="1" noChangeArrowheads="1"/>
          </p:cNvSpPr>
          <p:nvPr>
            <p:ph type="body" sz="half" idx="1"/>
          </p:nvPr>
        </p:nvSpPr>
        <p:spPr>
          <a:xfrm>
            <a:off x="395536" y="534177"/>
            <a:ext cx="8496174" cy="885446"/>
          </a:xfrm>
        </p:spPr>
        <p:txBody>
          <a:bodyPr>
            <a:noAutofit/>
          </a:bodyPr>
          <a:lstStyle/>
          <a:p>
            <a:pPr eaLnBrk="1" hangingPunct="1">
              <a:buFontTx/>
              <a:buNone/>
            </a:pPr>
            <a:r>
              <a:rPr lang="zh-CN" altLang="en-US" sz="2200" b="1" dirty="0">
                <a:solidFill>
                  <a:srgbClr val="0033CC"/>
                </a:solidFill>
              </a:rPr>
              <a:t>第一种方式：使用综合属性和继承属性</a:t>
            </a:r>
            <a:r>
              <a:rPr lang="zh-CN" altLang="zh-CN" sz="2200" dirty="0"/>
              <a:t>相结合的方式来定义语义规则，这种方式不用修改文法，上述文法可以直接简写为</a:t>
            </a:r>
            <a:r>
              <a:rPr lang="zh-CN" altLang="en-US" sz="2200" dirty="0"/>
              <a:t>：</a:t>
            </a:r>
          </a:p>
          <a:p>
            <a:pPr eaLnBrk="1" hangingPunct="1">
              <a:buFontTx/>
              <a:buNone/>
            </a:pPr>
            <a:endParaRPr lang="zh-CN" altLang="en-US" sz="2200" b="1" dirty="0">
              <a:solidFill>
                <a:srgbClr val="0033CC"/>
              </a:solidFill>
            </a:endParaRPr>
          </a:p>
        </p:txBody>
      </p:sp>
      <p:sp>
        <p:nvSpPr>
          <p:cNvPr id="66564" name="Rectangle 2"/>
          <p:cNvSpPr>
            <a:spLocks noChangeArrowheads="1"/>
          </p:cNvSpPr>
          <p:nvPr/>
        </p:nvSpPr>
        <p:spPr bwMode="auto">
          <a:xfrm>
            <a:off x="661743" y="3003798"/>
            <a:ext cx="5134394" cy="1754326"/>
          </a:xfrm>
          <a:prstGeom prst="rect">
            <a:avLst/>
          </a:prstGeom>
          <a:ln/>
        </p:spPr>
        <p:style>
          <a:lnRef idx="2">
            <a:schemeClr val="accent2"/>
          </a:lnRef>
          <a:fillRef idx="1">
            <a:schemeClr val="lt1"/>
          </a:fillRef>
          <a:effectRef idx="0">
            <a:schemeClr val="accent2"/>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90000"/>
              </a:lnSpc>
              <a:buFontTx/>
              <a:buNone/>
              <a:defRPr/>
            </a:pPr>
            <a:r>
              <a:rPr lang="zh-CN" altLang="zh-CN" sz="2000" dirty="0"/>
              <a:t>（</a:t>
            </a:r>
            <a:r>
              <a:rPr lang="en-US" altLang="zh-CN" sz="2000" dirty="0"/>
              <a:t>1</a:t>
            </a:r>
            <a:r>
              <a:rPr lang="zh-CN" altLang="zh-CN" sz="2000" dirty="0"/>
              <a:t>）</a:t>
            </a:r>
            <a:r>
              <a:rPr lang="en-US" altLang="zh-CN" sz="2000" dirty="0"/>
              <a:t>&lt;</a:t>
            </a:r>
            <a:r>
              <a:rPr lang="en-US" altLang="zh-CN" sz="2000" dirty="0" err="1"/>
              <a:t>VarDCL</a:t>
            </a:r>
            <a:r>
              <a:rPr lang="en-US" altLang="zh-CN" sz="2000" dirty="0"/>
              <a:t>&gt;→&lt;</a:t>
            </a:r>
            <a:r>
              <a:rPr lang="en-US" altLang="zh-CN" sz="2000" dirty="0" err="1"/>
              <a:t>VarType</a:t>
            </a:r>
            <a:r>
              <a:rPr lang="en-US" altLang="zh-CN" sz="2000" dirty="0"/>
              <a:t>&gt;&lt;IDS&gt; | </a:t>
            </a:r>
            <a:r>
              <a:rPr lang="en-US" altLang="zh-CN" sz="2000" dirty="0">
                <a:sym typeface="Symbol" pitchFamily="18" charset="2"/>
              </a:rPr>
              <a:t></a:t>
            </a:r>
            <a:endParaRPr lang="zh-CN" altLang="zh-CN" sz="2000" dirty="0"/>
          </a:p>
          <a:p>
            <a:pPr>
              <a:lnSpc>
                <a:spcPct val="90000"/>
              </a:lnSpc>
              <a:buFontTx/>
              <a:buNone/>
              <a:defRPr/>
            </a:pPr>
            <a:r>
              <a:rPr lang="zh-CN" altLang="zh-CN" sz="2000" dirty="0"/>
              <a:t>（</a:t>
            </a:r>
            <a:r>
              <a:rPr lang="en-US" altLang="zh-CN" sz="2000" dirty="0"/>
              <a:t>2</a:t>
            </a:r>
            <a:r>
              <a:rPr lang="zh-CN" altLang="zh-CN" sz="2000" dirty="0"/>
              <a:t>）</a:t>
            </a:r>
            <a:r>
              <a:rPr lang="en-US" altLang="zh-CN" sz="2000" dirty="0"/>
              <a:t>&lt;</a:t>
            </a:r>
            <a:r>
              <a:rPr lang="en-US" altLang="zh-CN" sz="2000" dirty="0" err="1"/>
              <a:t>VarType</a:t>
            </a:r>
            <a:r>
              <a:rPr lang="en-US" altLang="zh-CN" sz="2000" dirty="0"/>
              <a:t>&gt;→</a:t>
            </a:r>
            <a:r>
              <a:rPr lang="en-US" altLang="zh-CN" sz="2000" dirty="0" err="1"/>
              <a:t>int</a:t>
            </a:r>
            <a:endParaRPr lang="zh-CN" altLang="zh-CN" sz="2000" dirty="0"/>
          </a:p>
          <a:p>
            <a:pPr>
              <a:lnSpc>
                <a:spcPct val="90000"/>
              </a:lnSpc>
              <a:buFontTx/>
              <a:buNone/>
              <a:defRPr/>
            </a:pPr>
            <a:r>
              <a:rPr lang="zh-CN" altLang="zh-CN" sz="2000" dirty="0"/>
              <a:t>（</a:t>
            </a:r>
            <a:r>
              <a:rPr lang="en-US" altLang="zh-CN" sz="2000" dirty="0"/>
              <a:t>3</a:t>
            </a:r>
            <a:r>
              <a:rPr lang="zh-CN" altLang="zh-CN" sz="2000" dirty="0"/>
              <a:t>）</a:t>
            </a:r>
            <a:r>
              <a:rPr lang="en-US" altLang="zh-CN" sz="2000" dirty="0"/>
              <a:t>&lt;IDS&gt;→&lt;SIDS&gt;;</a:t>
            </a:r>
            <a:endParaRPr lang="zh-CN" altLang="zh-CN" sz="2000" dirty="0"/>
          </a:p>
          <a:p>
            <a:pPr>
              <a:lnSpc>
                <a:spcPct val="90000"/>
              </a:lnSpc>
              <a:buFontTx/>
              <a:buNone/>
              <a:defRPr/>
            </a:pPr>
            <a:r>
              <a:rPr lang="zh-CN" altLang="zh-CN" sz="2000" dirty="0"/>
              <a:t>（</a:t>
            </a:r>
            <a:r>
              <a:rPr lang="en-US" altLang="zh-CN" sz="2000" dirty="0"/>
              <a:t>4</a:t>
            </a:r>
            <a:r>
              <a:rPr lang="zh-CN" altLang="zh-CN" sz="2000" dirty="0"/>
              <a:t>）</a:t>
            </a:r>
            <a:r>
              <a:rPr lang="en-US" altLang="zh-CN" sz="2000" dirty="0"/>
              <a:t>&lt;IDS&gt;→&lt;SIDS&gt;, &lt;IDS&gt;</a:t>
            </a:r>
            <a:r>
              <a:rPr lang="en-US" altLang="zh-CN" sz="2000" baseline="30000" dirty="0"/>
              <a:t> (1)</a:t>
            </a:r>
            <a:endParaRPr lang="zh-CN" altLang="zh-CN" sz="2000" dirty="0"/>
          </a:p>
          <a:p>
            <a:pPr>
              <a:lnSpc>
                <a:spcPct val="90000"/>
              </a:lnSpc>
              <a:buFontTx/>
              <a:buNone/>
              <a:defRPr/>
            </a:pPr>
            <a:r>
              <a:rPr lang="zh-CN" altLang="zh-CN" sz="2000" dirty="0"/>
              <a:t>（</a:t>
            </a:r>
            <a:r>
              <a:rPr lang="en-US" altLang="zh-CN" sz="2000" dirty="0"/>
              <a:t>5</a:t>
            </a:r>
            <a:r>
              <a:rPr lang="zh-CN" altLang="zh-CN" sz="2000" dirty="0"/>
              <a:t>）</a:t>
            </a:r>
            <a:r>
              <a:rPr lang="en-US" altLang="zh-CN" sz="2000" dirty="0"/>
              <a:t>&lt;SIDS&gt;→id</a:t>
            </a:r>
            <a:endParaRPr lang="zh-CN" altLang="zh-CN" sz="2000" dirty="0"/>
          </a:p>
          <a:p>
            <a:pPr>
              <a:lnSpc>
                <a:spcPct val="90000"/>
              </a:lnSpc>
              <a:buFontTx/>
              <a:buNone/>
              <a:defRPr/>
            </a:pPr>
            <a:r>
              <a:rPr lang="zh-CN" altLang="zh-CN" sz="2000" dirty="0"/>
              <a:t>（</a:t>
            </a:r>
            <a:r>
              <a:rPr lang="en-US" altLang="zh-CN" sz="2000" dirty="0"/>
              <a:t>6</a:t>
            </a:r>
            <a:r>
              <a:rPr lang="zh-CN" altLang="zh-CN" sz="2000" dirty="0"/>
              <a:t>）</a:t>
            </a:r>
            <a:r>
              <a:rPr lang="en-US" altLang="zh-CN" sz="2000" dirty="0"/>
              <a:t>&lt;SIDS&gt;→id = &lt;expr&gt;</a:t>
            </a:r>
            <a:endParaRPr lang="en-US" altLang="zh-CN" sz="2000" dirty="0">
              <a:latin typeface="Times New Roman" pitchFamily="18" charset="0"/>
              <a:cs typeface="Times New Roman" pitchFamily="18" charset="0"/>
              <a:sym typeface="Symbol" pitchFamily="18" charset="2"/>
            </a:endParaRPr>
          </a:p>
        </p:txBody>
      </p:sp>
      <p:sp>
        <p:nvSpPr>
          <p:cNvPr id="67589" name="Rectangle 2"/>
          <p:cNvSpPr>
            <a:spLocks noChangeArrowheads="1"/>
          </p:cNvSpPr>
          <p:nvPr/>
        </p:nvSpPr>
        <p:spPr bwMode="auto">
          <a:xfrm>
            <a:off x="657225" y="1491630"/>
            <a:ext cx="7155135" cy="1323439"/>
          </a:xfrm>
          <a:prstGeom prst="rect">
            <a:avLst/>
          </a:prstGeom>
          <a:ln/>
        </p:spPr>
        <p:style>
          <a:lnRef idx="2">
            <a:schemeClr val="accent1"/>
          </a:lnRef>
          <a:fillRef idx="1">
            <a:schemeClr val="lt1"/>
          </a:fillRef>
          <a:effectRef idx="0">
            <a:schemeClr val="accent1"/>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buFontTx/>
              <a:buNone/>
            </a:pPr>
            <a:r>
              <a:rPr lang="en-US" altLang="zh-CN" sz="2000" dirty="0"/>
              <a:t>&lt;</a:t>
            </a:r>
            <a:r>
              <a:rPr lang="zh-CN" altLang="zh-CN" sz="2000" dirty="0"/>
              <a:t>变量声明</a:t>
            </a:r>
            <a:r>
              <a:rPr lang="en-US" altLang="zh-CN" sz="2000" dirty="0"/>
              <a:t>&gt;</a:t>
            </a:r>
            <a:r>
              <a:rPr lang="zh-CN" altLang="zh-CN" sz="2000" dirty="0"/>
              <a:t>→</a:t>
            </a:r>
            <a:r>
              <a:rPr lang="en-US" altLang="zh-CN" sz="2000" dirty="0"/>
              <a:t>&lt;</a:t>
            </a:r>
            <a:r>
              <a:rPr lang="zh-CN" altLang="zh-CN" sz="2000" dirty="0"/>
              <a:t>变量类型</a:t>
            </a:r>
            <a:r>
              <a:rPr lang="en-US" altLang="zh-CN" sz="2000" dirty="0"/>
              <a:t>&gt; &lt;</a:t>
            </a:r>
            <a:r>
              <a:rPr lang="zh-CN" altLang="zh-CN" sz="2000" dirty="0"/>
              <a:t>变量声明表</a:t>
            </a:r>
            <a:r>
              <a:rPr lang="en-US" altLang="zh-CN" sz="2000" dirty="0"/>
              <a:t>&gt;</a:t>
            </a:r>
            <a:endParaRPr lang="zh-CN" altLang="zh-CN" sz="2000" dirty="0"/>
          </a:p>
          <a:p>
            <a:pPr>
              <a:lnSpc>
                <a:spcPct val="100000"/>
              </a:lnSpc>
              <a:buFontTx/>
              <a:buNone/>
            </a:pPr>
            <a:r>
              <a:rPr lang="en-US" altLang="zh-CN" sz="2000" dirty="0"/>
              <a:t>&lt;</a:t>
            </a:r>
            <a:r>
              <a:rPr lang="zh-CN" altLang="zh-CN" sz="2000" dirty="0"/>
              <a:t>变量声明表</a:t>
            </a:r>
            <a:r>
              <a:rPr lang="en-US" altLang="zh-CN" sz="2000" dirty="0"/>
              <a:t>&gt;</a:t>
            </a:r>
            <a:r>
              <a:rPr lang="zh-CN" altLang="zh-CN" sz="2000" dirty="0"/>
              <a:t>→</a:t>
            </a:r>
            <a:r>
              <a:rPr lang="en-US" altLang="zh-CN" sz="2000" dirty="0"/>
              <a:t>&lt;</a:t>
            </a:r>
            <a:r>
              <a:rPr lang="zh-CN" altLang="zh-CN" sz="2000" dirty="0"/>
              <a:t>单变量声明</a:t>
            </a:r>
            <a:r>
              <a:rPr lang="en-US" altLang="zh-CN" sz="2000" dirty="0"/>
              <a:t>&gt;;|&lt;</a:t>
            </a:r>
            <a:r>
              <a:rPr lang="zh-CN" altLang="zh-CN" sz="2000" dirty="0"/>
              <a:t>单变量声明</a:t>
            </a:r>
            <a:r>
              <a:rPr lang="en-US" altLang="zh-CN" sz="2000" dirty="0"/>
              <a:t>&gt;,&lt;</a:t>
            </a:r>
            <a:r>
              <a:rPr lang="zh-CN" altLang="zh-CN" sz="2000" dirty="0"/>
              <a:t>变量声明表</a:t>
            </a:r>
            <a:r>
              <a:rPr lang="en-US" altLang="zh-CN" sz="2000" dirty="0"/>
              <a:t>&gt;</a:t>
            </a:r>
            <a:endParaRPr lang="zh-CN" altLang="zh-CN" sz="2000" dirty="0"/>
          </a:p>
          <a:p>
            <a:pPr>
              <a:lnSpc>
                <a:spcPct val="100000"/>
              </a:lnSpc>
              <a:buFontTx/>
              <a:buNone/>
            </a:pPr>
            <a:r>
              <a:rPr lang="en-US" altLang="zh-CN" sz="2000" dirty="0"/>
              <a:t>&lt;</a:t>
            </a:r>
            <a:r>
              <a:rPr lang="zh-CN" altLang="zh-CN" sz="2000" dirty="0"/>
              <a:t>单变量声明</a:t>
            </a:r>
            <a:r>
              <a:rPr lang="en-US" altLang="zh-CN" sz="2000" dirty="0"/>
              <a:t>&gt;</a:t>
            </a:r>
            <a:r>
              <a:rPr lang="zh-CN" altLang="zh-CN" sz="2000" dirty="0"/>
              <a:t>→</a:t>
            </a:r>
            <a:r>
              <a:rPr lang="en-US" altLang="zh-CN" sz="2000" dirty="0"/>
              <a:t>&lt;</a:t>
            </a:r>
            <a:r>
              <a:rPr lang="zh-CN" altLang="zh-CN" sz="2000" dirty="0"/>
              <a:t>变量</a:t>
            </a:r>
            <a:r>
              <a:rPr lang="en-US" altLang="zh-CN" sz="2000" dirty="0"/>
              <a:t>&gt;|&lt;</a:t>
            </a:r>
            <a:r>
              <a:rPr lang="zh-CN" altLang="zh-CN" sz="2000" dirty="0"/>
              <a:t>变量</a:t>
            </a:r>
            <a:r>
              <a:rPr lang="en-US" altLang="zh-CN" sz="2000" dirty="0"/>
              <a:t>&gt;=&lt;</a:t>
            </a:r>
            <a:r>
              <a:rPr lang="zh-CN" altLang="zh-CN" sz="2000" dirty="0"/>
              <a:t>表达式</a:t>
            </a:r>
            <a:r>
              <a:rPr lang="en-US" altLang="zh-CN" sz="2000" dirty="0"/>
              <a:t>&gt;</a:t>
            </a:r>
            <a:endParaRPr lang="zh-CN" altLang="zh-CN" sz="2000" dirty="0"/>
          </a:p>
          <a:p>
            <a:pPr>
              <a:lnSpc>
                <a:spcPct val="100000"/>
              </a:lnSpc>
              <a:buFontTx/>
              <a:buNone/>
            </a:pPr>
            <a:r>
              <a:rPr lang="en-US" altLang="zh-CN" sz="2000" dirty="0"/>
              <a:t>&lt;</a:t>
            </a:r>
            <a:r>
              <a:rPr lang="zh-CN" altLang="zh-CN" sz="2000" dirty="0"/>
              <a:t>变量类型</a:t>
            </a:r>
            <a:r>
              <a:rPr lang="en-US" altLang="zh-CN" sz="2000" dirty="0"/>
              <a:t>&gt;</a:t>
            </a:r>
            <a:r>
              <a:rPr lang="zh-CN" altLang="zh-CN" sz="2000" dirty="0"/>
              <a:t>→</a:t>
            </a:r>
            <a:r>
              <a:rPr lang="en-US" altLang="zh-CN" sz="2000" dirty="0" err="1"/>
              <a:t>int|char|float</a:t>
            </a:r>
            <a:endParaRPr lang="zh-CN" altLang="zh-CN" sz="2000" dirty="0"/>
          </a:p>
        </p:txBody>
      </p:sp>
      <p:sp>
        <p:nvSpPr>
          <p:cNvPr id="2" name="矩形 1"/>
          <p:cNvSpPr/>
          <p:nvPr/>
        </p:nvSpPr>
        <p:spPr>
          <a:xfrm>
            <a:off x="6573372" y="4388792"/>
            <a:ext cx="2037737" cy="523220"/>
          </a:xfrm>
          <a:prstGeom prst="rect">
            <a:avLst/>
          </a:prstGeom>
        </p:spPr>
        <p:txBody>
          <a:bodyPr wrap="none">
            <a:spAutoFit/>
          </a:bodyPr>
          <a:lstStyle/>
          <a:p>
            <a:r>
              <a:rPr lang="en-US" altLang="zh-CN" sz="2800" dirty="0" err="1">
                <a:solidFill>
                  <a:srgbClr val="FF0000"/>
                </a:solidFill>
              </a:rPr>
              <a:t>int</a:t>
            </a:r>
            <a:r>
              <a:rPr lang="en-US" altLang="zh-CN" sz="2800" dirty="0">
                <a:solidFill>
                  <a:srgbClr val="FF0000"/>
                </a:solidFill>
              </a:rPr>
              <a:t> </a:t>
            </a:r>
            <a:r>
              <a:rPr lang="en-US" altLang="zh-CN" sz="2800" dirty="0" err="1">
                <a:solidFill>
                  <a:srgbClr val="FF0000"/>
                </a:solidFill>
              </a:rPr>
              <a:t>i,j,k</a:t>
            </a:r>
            <a:r>
              <a:rPr lang="en-US" altLang="zh-CN" sz="2800" dirty="0">
                <a:solidFill>
                  <a:srgbClr val="FF0000"/>
                </a:solidFill>
              </a:rPr>
              <a:t>=3;</a:t>
            </a:r>
            <a:endParaRPr lang="zh-CN" altLang="en-US" sz="2800" dirty="0">
              <a:solidFill>
                <a:srgbClr val="FF0000"/>
              </a:solidFill>
            </a:endParaRPr>
          </a:p>
        </p:txBody>
      </p:sp>
    </p:spTree>
    <p:extLst>
      <p:ext uri="{BB962C8B-B14F-4D97-AF65-F5344CB8AC3E}">
        <p14:creationId xmlns:p14="http://schemas.microsoft.com/office/powerpoint/2010/main" val="3920537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对象 14"/>
          <p:cNvGraphicFramePr>
            <a:graphicFrameLocks noChangeAspect="1"/>
          </p:cNvGraphicFramePr>
          <p:nvPr>
            <p:extLst>
              <p:ext uri="{D42A27DB-BD31-4B8C-83A1-F6EECF244321}">
                <p14:modId xmlns:p14="http://schemas.microsoft.com/office/powerpoint/2010/main" val="284347504"/>
              </p:ext>
            </p:extLst>
          </p:nvPr>
        </p:nvGraphicFramePr>
        <p:xfrm>
          <a:off x="-36512" y="844574"/>
          <a:ext cx="4967809" cy="3887416"/>
        </p:xfrm>
        <a:graphic>
          <a:graphicData uri="http://schemas.openxmlformats.org/presentationml/2006/ole">
            <mc:AlternateContent xmlns:mc="http://schemas.openxmlformats.org/markup-compatibility/2006">
              <mc:Choice xmlns:v="urn:schemas-microsoft-com:vml" Requires="v">
                <p:oleObj spid="_x0000_s16389" name="Visio" r:id="rId3" imgW="3899714" imgH="1955880" progId="Visio.Drawing.11">
                  <p:embed/>
                </p:oleObj>
              </mc:Choice>
              <mc:Fallback>
                <p:oleObj name="Visio" r:id="rId3" imgW="3899714" imgH="1955880" progId="Visio.Drawing.11">
                  <p:embed/>
                  <p:pic>
                    <p:nvPicPr>
                      <p:cNvPr id="15" name="对象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12" y="844574"/>
                        <a:ext cx="4967809" cy="3887416"/>
                      </a:xfrm>
                      <a:prstGeom prst="rect">
                        <a:avLst/>
                      </a:prstGeom>
                      <a:noFill/>
                    </p:spPr>
                  </p:pic>
                </p:oleObj>
              </mc:Fallback>
            </mc:AlternateContent>
          </a:graphicData>
        </a:graphic>
      </p:graphicFrame>
      <p:sp>
        <p:nvSpPr>
          <p:cNvPr id="69634" name="标题 1"/>
          <p:cNvSpPr>
            <a:spLocks noGrp="1"/>
          </p:cNvSpPr>
          <p:nvPr>
            <p:ph type="title"/>
          </p:nvPr>
        </p:nvSpPr>
        <p:spPr>
          <a:xfrm>
            <a:off x="-1" y="0"/>
            <a:ext cx="4571999" cy="555526"/>
          </a:xfrm>
        </p:spPr>
        <p:txBody>
          <a:bodyPr>
            <a:normAutofit fontScale="90000"/>
          </a:bodyPr>
          <a:lstStyle/>
          <a:p>
            <a:r>
              <a:rPr lang="en-US" altLang="zh-CN" sz="3600" dirty="0" err="1">
                <a:solidFill>
                  <a:srgbClr val="FF0000"/>
                </a:solidFill>
              </a:rPr>
              <a:t>int</a:t>
            </a:r>
            <a:r>
              <a:rPr lang="en-US" altLang="zh-CN" sz="3600" dirty="0">
                <a:solidFill>
                  <a:srgbClr val="FF0000"/>
                </a:solidFill>
              </a:rPr>
              <a:t> </a:t>
            </a:r>
            <a:r>
              <a:rPr lang="en-US" altLang="zh-CN" dirty="0" err="1">
                <a:solidFill>
                  <a:srgbClr val="FF0000"/>
                </a:solidFill>
              </a:rPr>
              <a:t>i</a:t>
            </a:r>
            <a:r>
              <a:rPr lang="en-US" altLang="zh-CN" sz="3600" dirty="0" err="1">
                <a:solidFill>
                  <a:srgbClr val="FF0000"/>
                </a:solidFill>
              </a:rPr>
              <a:t>,j,k</a:t>
            </a:r>
            <a:r>
              <a:rPr lang="en-US" altLang="zh-CN" sz="3600" dirty="0">
                <a:solidFill>
                  <a:srgbClr val="FF0000"/>
                </a:solidFill>
              </a:rPr>
              <a:t>=3;</a:t>
            </a:r>
            <a:r>
              <a:rPr lang="zh-CN" altLang="zh-CN" sz="3600" dirty="0"/>
              <a:t>的语法树</a:t>
            </a:r>
            <a:endParaRPr lang="zh-CN" altLang="en-US" sz="3600" dirty="0"/>
          </a:p>
        </p:txBody>
      </p:sp>
      <p:sp>
        <p:nvSpPr>
          <p:cNvPr id="5" name="Line 16"/>
          <p:cNvSpPr>
            <a:spLocks noChangeShapeType="1"/>
          </p:cNvSpPr>
          <p:nvPr/>
        </p:nvSpPr>
        <p:spPr bwMode="auto">
          <a:xfrm flipV="1">
            <a:off x="539552" y="1703592"/>
            <a:ext cx="0" cy="508118"/>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6" name="Line 16"/>
          <p:cNvSpPr>
            <a:spLocks noChangeShapeType="1"/>
          </p:cNvSpPr>
          <p:nvPr/>
        </p:nvSpPr>
        <p:spPr bwMode="auto">
          <a:xfrm flipV="1">
            <a:off x="877761" y="1563638"/>
            <a:ext cx="1606007" cy="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7" name="Line 16"/>
          <p:cNvSpPr>
            <a:spLocks noChangeShapeType="1"/>
          </p:cNvSpPr>
          <p:nvPr/>
        </p:nvSpPr>
        <p:spPr bwMode="auto">
          <a:xfrm flipH="1">
            <a:off x="1187624" y="1703592"/>
            <a:ext cx="1296144" cy="314294"/>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8" name="Line 16"/>
          <p:cNvSpPr>
            <a:spLocks noChangeShapeType="1"/>
          </p:cNvSpPr>
          <p:nvPr/>
        </p:nvSpPr>
        <p:spPr bwMode="auto">
          <a:xfrm>
            <a:off x="2794739" y="1703592"/>
            <a:ext cx="1129189" cy="43611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9" name="Line 16"/>
          <p:cNvSpPr>
            <a:spLocks noChangeShapeType="1"/>
          </p:cNvSpPr>
          <p:nvPr/>
        </p:nvSpPr>
        <p:spPr bwMode="auto">
          <a:xfrm>
            <a:off x="4572000" y="3075806"/>
            <a:ext cx="0" cy="491589"/>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0" name="Line 16"/>
          <p:cNvSpPr>
            <a:spLocks noChangeShapeType="1"/>
          </p:cNvSpPr>
          <p:nvPr/>
        </p:nvSpPr>
        <p:spPr bwMode="auto">
          <a:xfrm>
            <a:off x="4572000" y="3867894"/>
            <a:ext cx="0" cy="504056"/>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2" name="Rectangle 3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Line 16"/>
          <p:cNvSpPr>
            <a:spLocks noChangeShapeType="1"/>
          </p:cNvSpPr>
          <p:nvPr/>
        </p:nvSpPr>
        <p:spPr bwMode="auto">
          <a:xfrm flipH="1">
            <a:off x="2348263" y="2382711"/>
            <a:ext cx="1401753" cy="32382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4" name="Line 16"/>
          <p:cNvSpPr>
            <a:spLocks noChangeShapeType="1"/>
          </p:cNvSpPr>
          <p:nvPr/>
        </p:nvSpPr>
        <p:spPr bwMode="auto">
          <a:xfrm>
            <a:off x="4094362" y="2382711"/>
            <a:ext cx="477638" cy="317278"/>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graphicFrame>
        <p:nvGraphicFramePr>
          <p:cNvPr id="11" name="表格 10"/>
          <p:cNvGraphicFramePr>
            <a:graphicFrameLocks noGrp="1"/>
          </p:cNvGraphicFramePr>
          <p:nvPr>
            <p:extLst>
              <p:ext uri="{D42A27DB-BD31-4B8C-83A1-F6EECF244321}">
                <p14:modId xmlns:p14="http://schemas.microsoft.com/office/powerpoint/2010/main" val="1037208277"/>
              </p:ext>
            </p:extLst>
          </p:nvPr>
        </p:nvGraphicFramePr>
        <p:xfrm>
          <a:off x="5076232" y="2017886"/>
          <a:ext cx="3914067" cy="914400"/>
        </p:xfrm>
        <a:graphic>
          <a:graphicData uri="http://schemas.openxmlformats.org/drawingml/2006/table">
            <a:tbl>
              <a:tblPr firstRow="1" firstCol="1" bandRow="1">
                <a:tableStyleId>{5C22544A-7EE6-4342-B048-85BDC9FD1C3A}</a:tableStyleId>
              </a:tblPr>
              <a:tblGrid>
                <a:gridCol w="3914067">
                  <a:extLst>
                    <a:ext uri="{9D8B030D-6E8A-4147-A177-3AD203B41FA5}">
                      <a16:colId xmlns:a16="http://schemas.microsoft.com/office/drawing/2014/main" val="20000"/>
                    </a:ext>
                  </a:extLst>
                </a:gridCol>
              </a:tblGrid>
              <a:tr h="457200">
                <a:tc>
                  <a:txBody>
                    <a:bodyPr/>
                    <a:lstStyle/>
                    <a:p>
                      <a:pPr algn="just">
                        <a:spcAft>
                          <a:spcPts val="0"/>
                        </a:spcAft>
                      </a:pPr>
                      <a:r>
                        <a:rPr lang="en-US" sz="1800" b="0" kern="100" dirty="0">
                          <a:solidFill>
                            <a:schemeClr val="tx1"/>
                          </a:solidFill>
                          <a:effectLst/>
                          <a:latin typeface="宋体" panose="02010600030101010101" pitchFamily="2" charset="-122"/>
                          <a:ea typeface="宋体" panose="02010600030101010101" pitchFamily="2" charset="-122"/>
                        </a:rPr>
                        <a:t>(1)&lt;</a:t>
                      </a:r>
                      <a:r>
                        <a:rPr lang="en-US" sz="1800" b="0" kern="100" dirty="0" err="1">
                          <a:solidFill>
                            <a:schemeClr val="tx1"/>
                          </a:solidFill>
                          <a:effectLst/>
                          <a:latin typeface="宋体" panose="02010600030101010101" pitchFamily="2" charset="-122"/>
                          <a:ea typeface="宋体" panose="02010600030101010101" pitchFamily="2" charset="-122"/>
                        </a:rPr>
                        <a:t>VarDCL</a:t>
                      </a:r>
                      <a:r>
                        <a:rPr lang="en-US" sz="1800" b="0" kern="100" dirty="0">
                          <a:solidFill>
                            <a:schemeClr val="tx1"/>
                          </a:solidFill>
                          <a:effectLst/>
                          <a:latin typeface="宋体" panose="02010600030101010101" pitchFamily="2" charset="-122"/>
                          <a:ea typeface="宋体" panose="02010600030101010101" pitchFamily="2" charset="-122"/>
                        </a:rPr>
                        <a:t>&gt;→&lt;</a:t>
                      </a:r>
                      <a:r>
                        <a:rPr lang="en-US" sz="1800" b="0" kern="100" dirty="0" err="1">
                          <a:solidFill>
                            <a:schemeClr val="tx1"/>
                          </a:solidFill>
                          <a:effectLst/>
                          <a:latin typeface="宋体" panose="02010600030101010101" pitchFamily="2" charset="-122"/>
                          <a:ea typeface="宋体" panose="02010600030101010101" pitchFamily="2" charset="-122"/>
                        </a:rPr>
                        <a:t>VarType</a:t>
                      </a:r>
                      <a:r>
                        <a:rPr lang="en-US" sz="1800" b="0" kern="100" dirty="0">
                          <a:solidFill>
                            <a:schemeClr val="tx1"/>
                          </a:solidFill>
                          <a:effectLst/>
                          <a:latin typeface="宋体" panose="02010600030101010101" pitchFamily="2" charset="-122"/>
                          <a:ea typeface="宋体" panose="02010600030101010101" pitchFamily="2" charset="-122"/>
                        </a:rPr>
                        <a:t>&gt;&lt;IDS&gt;</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7200">
                <a:tc>
                  <a:txBody>
                    <a:bodyPr/>
                    <a:lstStyle/>
                    <a:p>
                      <a:pPr algn="just">
                        <a:spcAft>
                          <a:spcPts val="0"/>
                        </a:spcAft>
                      </a:pPr>
                      <a:r>
                        <a:rPr lang="en-US" altLang="zh-CN" sz="1800" b="0" kern="100" dirty="0">
                          <a:solidFill>
                            <a:schemeClr val="tx1"/>
                          </a:solidFill>
                          <a:effectLst/>
                          <a:latin typeface="宋体" panose="02010600030101010101" pitchFamily="2" charset="-122"/>
                          <a:ea typeface="宋体" panose="02010600030101010101" pitchFamily="2" charset="-122"/>
                        </a:rPr>
                        <a:t>{ &lt;IDS&gt;.in = &lt;</a:t>
                      </a:r>
                      <a:r>
                        <a:rPr lang="en-US" altLang="zh-CN" sz="1800" b="0" kern="100" dirty="0" err="1">
                          <a:solidFill>
                            <a:schemeClr val="tx1"/>
                          </a:solidFill>
                          <a:effectLst/>
                          <a:latin typeface="宋体" panose="02010600030101010101" pitchFamily="2" charset="-122"/>
                          <a:ea typeface="宋体" panose="02010600030101010101" pitchFamily="2" charset="-122"/>
                        </a:rPr>
                        <a:t>VarType</a:t>
                      </a:r>
                      <a:r>
                        <a:rPr lang="en-US" altLang="zh-CN" sz="1800" b="0" kern="100" dirty="0">
                          <a:solidFill>
                            <a:schemeClr val="tx1"/>
                          </a:solidFill>
                          <a:effectLst/>
                          <a:latin typeface="宋体" panose="02010600030101010101" pitchFamily="2" charset="-122"/>
                          <a:ea typeface="宋体" panose="02010600030101010101" pitchFamily="2" charset="-122"/>
                        </a:rPr>
                        <a:t>&gt;.type   }</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16" name="Rectangle 2"/>
          <p:cNvSpPr>
            <a:spLocks noChangeArrowheads="1"/>
          </p:cNvSpPr>
          <p:nvPr/>
        </p:nvSpPr>
        <p:spPr bwMode="auto">
          <a:xfrm>
            <a:off x="5076232" y="-14583"/>
            <a:ext cx="4126105" cy="1837426"/>
          </a:xfrm>
          <a:prstGeom prst="rect">
            <a:avLst/>
          </a:prstGeom>
          <a:ln/>
        </p:spPr>
        <p:style>
          <a:lnRef idx="2">
            <a:schemeClr val="accent2"/>
          </a:lnRef>
          <a:fillRef idx="1">
            <a:schemeClr val="lt1"/>
          </a:fillRef>
          <a:effectRef idx="0">
            <a:schemeClr val="accent2"/>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90000"/>
              </a:lnSpc>
              <a:buFontTx/>
              <a:buNone/>
              <a:defRPr/>
            </a:pPr>
            <a:r>
              <a:rPr lang="zh-CN" altLang="zh-CN" sz="1800" dirty="0">
                <a:latin typeface="宋体" panose="02010600030101010101" pitchFamily="2" charset="-122"/>
              </a:rPr>
              <a:t>（</a:t>
            </a:r>
            <a:r>
              <a:rPr lang="en-US" altLang="zh-CN" sz="1800" dirty="0">
                <a:latin typeface="宋体" panose="02010600030101010101" pitchFamily="2" charset="-122"/>
              </a:rPr>
              <a:t>1</a:t>
            </a:r>
            <a:r>
              <a:rPr lang="zh-CN" altLang="zh-CN" sz="1800" dirty="0">
                <a:latin typeface="宋体" panose="02010600030101010101" pitchFamily="2" charset="-122"/>
              </a:rPr>
              <a:t>）</a:t>
            </a:r>
            <a:r>
              <a:rPr lang="en-US" altLang="zh-CN" sz="1800" dirty="0">
                <a:latin typeface="宋体" panose="02010600030101010101" pitchFamily="2" charset="-122"/>
              </a:rPr>
              <a:t>&lt;</a:t>
            </a:r>
            <a:r>
              <a:rPr lang="en-US" altLang="zh-CN" sz="1800" dirty="0" err="1">
                <a:latin typeface="宋体" panose="02010600030101010101" pitchFamily="2" charset="-122"/>
              </a:rPr>
              <a:t>VarDCL</a:t>
            </a:r>
            <a:r>
              <a:rPr lang="en-US" altLang="zh-CN" sz="1800" dirty="0">
                <a:latin typeface="宋体" panose="02010600030101010101" pitchFamily="2" charset="-122"/>
              </a:rPr>
              <a:t>&gt;→&lt;</a:t>
            </a:r>
            <a:r>
              <a:rPr lang="en-US" altLang="zh-CN" sz="1800" dirty="0" err="1">
                <a:latin typeface="宋体" panose="02010600030101010101" pitchFamily="2" charset="-122"/>
              </a:rPr>
              <a:t>VarType</a:t>
            </a:r>
            <a:r>
              <a:rPr lang="en-US" altLang="zh-CN" sz="1800" dirty="0">
                <a:latin typeface="宋体" panose="02010600030101010101" pitchFamily="2" charset="-122"/>
              </a:rPr>
              <a:t>&gt;&lt;IDS&gt; </a:t>
            </a:r>
          </a:p>
          <a:p>
            <a:pPr>
              <a:lnSpc>
                <a:spcPct val="90000"/>
              </a:lnSpc>
              <a:buFontTx/>
              <a:buNone/>
              <a:defRPr/>
            </a:pPr>
            <a:r>
              <a:rPr lang="en-US" altLang="zh-CN" sz="1800" dirty="0">
                <a:latin typeface="宋体" panose="02010600030101010101" pitchFamily="2" charset="-122"/>
              </a:rPr>
              <a:t>             → </a:t>
            </a:r>
            <a:r>
              <a:rPr lang="en-US" altLang="zh-CN" sz="1800" dirty="0">
                <a:latin typeface="宋体" panose="02010600030101010101" pitchFamily="2" charset="-122"/>
                <a:sym typeface="Symbol" pitchFamily="18" charset="2"/>
              </a:rPr>
              <a:t></a:t>
            </a:r>
            <a:endParaRPr lang="zh-CN" altLang="zh-CN" sz="1800" dirty="0">
              <a:latin typeface="宋体" panose="02010600030101010101" pitchFamily="2" charset="-122"/>
            </a:endParaRPr>
          </a:p>
          <a:p>
            <a:pPr>
              <a:lnSpc>
                <a:spcPct val="90000"/>
              </a:lnSpc>
              <a:buFontTx/>
              <a:buNone/>
              <a:defRPr/>
            </a:pPr>
            <a:r>
              <a:rPr lang="zh-CN" altLang="zh-CN" sz="1800" dirty="0">
                <a:latin typeface="宋体" panose="02010600030101010101" pitchFamily="2" charset="-122"/>
              </a:rPr>
              <a:t>（</a:t>
            </a:r>
            <a:r>
              <a:rPr lang="en-US" altLang="zh-CN" sz="1800" dirty="0">
                <a:latin typeface="宋体" panose="02010600030101010101" pitchFamily="2" charset="-122"/>
              </a:rPr>
              <a:t>2</a:t>
            </a:r>
            <a:r>
              <a:rPr lang="zh-CN" altLang="zh-CN" sz="1800" dirty="0">
                <a:latin typeface="宋体" panose="02010600030101010101" pitchFamily="2" charset="-122"/>
              </a:rPr>
              <a:t>）</a:t>
            </a:r>
            <a:r>
              <a:rPr lang="en-US" altLang="zh-CN" sz="1800" dirty="0">
                <a:latin typeface="宋体" panose="02010600030101010101" pitchFamily="2" charset="-122"/>
              </a:rPr>
              <a:t>&lt;</a:t>
            </a:r>
            <a:r>
              <a:rPr lang="en-US" altLang="zh-CN" sz="1800" dirty="0" err="1">
                <a:latin typeface="宋体" panose="02010600030101010101" pitchFamily="2" charset="-122"/>
              </a:rPr>
              <a:t>VarType</a:t>
            </a:r>
            <a:r>
              <a:rPr lang="en-US" altLang="zh-CN" sz="1800" dirty="0">
                <a:latin typeface="宋体" panose="02010600030101010101" pitchFamily="2" charset="-122"/>
              </a:rPr>
              <a:t>&gt;→</a:t>
            </a:r>
            <a:r>
              <a:rPr lang="en-US" altLang="zh-CN" sz="1800" dirty="0" err="1">
                <a:latin typeface="宋体" panose="02010600030101010101" pitchFamily="2" charset="-122"/>
              </a:rPr>
              <a:t>int</a:t>
            </a:r>
            <a:endParaRPr lang="zh-CN" altLang="zh-CN" sz="1800" dirty="0">
              <a:latin typeface="宋体" panose="02010600030101010101" pitchFamily="2" charset="-122"/>
            </a:endParaRPr>
          </a:p>
          <a:p>
            <a:pPr>
              <a:lnSpc>
                <a:spcPct val="90000"/>
              </a:lnSpc>
              <a:buFontTx/>
              <a:buNone/>
              <a:defRPr/>
            </a:pPr>
            <a:r>
              <a:rPr lang="zh-CN" altLang="zh-CN" sz="1800" dirty="0">
                <a:latin typeface="宋体" panose="02010600030101010101" pitchFamily="2" charset="-122"/>
              </a:rPr>
              <a:t>（</a:t>
            </a:r>
            <a:r>
              <a:rPr lang="en-US" altLang="zh-CN" sz="1800" dirty="0">
                <a:latin typeface="宋体" panose="02010600030101010101" pitchFamily="2" charset="-122"/>
              </a:rPr>
              <a:t>3</a:t>
            </a:r>
            <a:r>
              <a:rPr lang="zh-CN" altLang="zh-CN" sz="1800" dirty="0">
                <a:latin typeface="宋体" panose="02010600030101010101" pitchFamily="2" charset="-122"/>
              </a:rPr>
              <a:t>）</a:t>
            </a:r>
            <a:r>
              <a:rPr lang="en-US" altLang="zh-CN" sz="1800" dirty="0">
                <a:latin typeface="宋体" panose="02010600030101010101" pitchFamily="2" charset="-122"/>
              </a:rPr>
              <a:t>&lt;IDS&gt;→&lt;SIDS&gt;;</a:t>
            </a:r>
            <a:endParaRPr lang="zh-CN" altLang="zh-CN" sz="1800" dirty="0">
              <a:latin typeface="宋体" panose="02010600030101010101" pitchFamily="2" charset="-122"/>
            </a:endParaRPr>
          </a:p>
          <a:p>
            <a:pPr>
              <a:lnSpc>
                <a:spcPct val="90000"/>
              </a:lnSpc>
              <a:buFontTx/>
              <a:buNone/>
              <a:defRPr/>
            </a:pPr>
            <a:r>
              <a:rPr lang="zh-CN" altLang="zh-CN" sz="1800" dirty="0">
                <a:latin typeface="宋体" panose="02010600030101010101" pitchFamily="2" charset="-122"/>
              </a:rPr>
              <a:t>（</a:t>
            </a:r>
            <a:r>
              <a:rPr lang="en-US" altLang="zh-CN" sz="1800" dirty="0">
                <a:latin typeface="宋体" panose="02010600030101010101" pitchFamily="2" charset="-122"/>
              </a:rPr>
              <a:t>4</a:t>
            </a:r>
            <a:r>
              <a:rPr lang="zh-CN" altLang="zh-CN" sz="1800" dirty="0">
                <a:latin typeface="宋体" panose="02010600030101010101" pitchFamily="2" charset="-122"/>
              </a:rPr>
              <a:t>）</a:t>
            </a:r>
            <a:r>
              <a:rPr lang="en-US" altLang="zh-CN" sz="1800" dirty="0">
                <a:latin typeface="宋体" panose="02010600030101010101" pitchFamily="2" charset="-122"/>
              </a:rPr>
              <a:t>&lt;IDS&gt;→&lt;SIDS&gt;, &lt;IDS&gt;</a:t>
            </a:r>
            <a:r>
              <a:rPr lang="en-US" altLang="zh-CN" sz="1800" baseline="30000" dirty="0">
                <a:latin typeface="宋体" panose="02010600030101010101" pitchFamily="2" charset="-122"/>
              </a:rPr>
              <a:t> (1)</a:t>
            </a:r>
            <a:endParaRPr lang="zh-CN" altLang="zh-CN" sz="1800" dirty="0">
              <a:latin typeface="宋体" panose="02010600030101010101" pitchFamily="2" charset="-122"/>
            </a:endParaRPr>
          </a:p>
          <a:p>
            <a:pPr>
              <a:lnSpc>
                <a:spcPct val="90000"/>
              </a:lnSpc>
              <a:buFontTx/>
              <a:buNone/>
              <a:defRPr/>
            </a:pPr>
            <a:r>
              <a:rPr lang="zh-CN" altLang="zh-CN" sz="1800" dirty="0">
                <a:latin typeface="宋体" panose="02010600030101010101" pitchFamily="2" charset="-122"/>
              </a:rPr>
              <a:t>（</a:t>
            </a:r>
            <a:r>
              <a:rPr lang="en-US" altLang="zh-CN" sz="1800" dirty="0">
                <a:latin typeface="宋体" panose="02010600030101010101" pitchFamily="2" charset="-122"/>
              </a:rPr>
              <a:t>5</a:t>
            </a:r>
            <a:r>
              <a:rPr lang="zh-CN" altLang="zh-CN" sz="1800" dirty="0">
                <a:latin typeface="宋体" panose="02010600030101010101" pitchFamily="2" charset="-122"/>
              </a:rPr>
              <a:t>）</a:t>
            </a:r>
            <a:r>
              <a:rPr lang="en-US" altLang="zh-CN" sz="1800" dirty="0">
                <a:latin typeface="宋体" panose="02010600030101010101" pitchFamily="2" charset="-122"/>
              </a:rPr>
              <a:t>&lt;SIDS&gt;→id</a:t>
            </a:r>
            <a:endParaRPr lang="zh-CN" altLang="zh-CN" sz="1800" dirty="0">
              <a:latin typeface="宋体" panose="02010600030101010101" pitchFamily="2" charset="-122"/>
            </a:endParaRPr>
          </a:p>
          <a:p>
            <a:pPr>
              <a:lnSpc>
                <a:spcPct val="90000"/>
              </a:lnSpc>
              <a:buFontTx/>
              <a:buNone/>
              <a:defRPr/>
            </a:pPr>
            <a:r>
              <a:rPr lang="zh-CN" altLang="zh-CN" sz="1800" dirty="0">
                <a:latin typeface="宋体" panose="02010600030101010101" pitchFamily="2" charset="-122"/>
              </a:rPr>
              <a:t>（</a:t>
            </a:r>
            <a:r>
              <a:rPr lang="en-US" altLang="zh-CN" sz="1800" dirty="0">
                <a:latin typeface="宋体" panose="02010600030101010101" pitchFamily="2" charset="-122"/>
              </a:rPr>
              <a:t>6</a:t>
            </a:r>
            <a:r>
              <a:rPr lang="zh-CN" altLang="zh-CN" sz="1800" dirty="0">
                <a:latin typeface="宋体" panose="02010600030101010101" pitchFamily="2" charset="-122"/>
              </a:rPr>
              <a:t>）</a:t>
            </a:r>
            <a:r>
              <a:rPr lang="en-US" altLang="zh-CN" sz="1800" dirty="0">
                <a:latin typeface="宋体" panose="02010600030101010101" pitchFamily="2" charset="-122"/>
              </a:rPr>
              <a:t>&lt;SIDS&gt;→id = &lt;expr&gt;</a:t>
            </a:r>
            <a:endParaRPr lang="en-US" altLang="zh-CN" sz="1800" dirty="0">
              <a:latin typeface="宋体" panose="02010600030101010101" pitchFamily="2" charset="-122"/>
              <a:cs typeface="Times New Roman" pitchFamily="18" charset="0"/>
              <a:sym typeface="Symbol" pitchFamily="18" charset="2"/>
            </a:endParaRPr>
          </a:p>
        </p:txBody>
      </p:sp>
      <p:sp>
        <p:nvSpPr>
          <p:cNvPr id="12" name="Rectangle 3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 name="表格 18"/>
          <p:cNvGraphicFramePr>
            <a:graphicFrameLocks noGrp="1"/>
          </p:cNvGraphicFramePr>
          <p:nvPr>
            <p:extLst>
              <p:ext uri="{D42A27DB-BD31-4B8C-83A1-F6EECF244321}">
                <p14:modId xmlns:p14="http://schemas.microsoft.com/office/powerpoint/2010/main" val="3670569691"/>
              </p:ext>
            </p:extLst>
          </p:nvPr>
        </p:nvGraphicFramePr>
        <p:xfrm>
          <a:off x="5076232" y="2017886"/>
          <a:ext cx="3914067" cy="914400"/>
        </p:xfrm>
        <a:graphic>
          <a:graphicData uri="http://schemas.openxmlformats.org/drawingml/2006/table">
            <a:tbl>
              <a:tblPr firstRow="1" firstCol="1" bandRow="1">
                <a:tableStyleId>{5C22544A-7EE6-4342-B048-85BDC9FD1C3A}</a:tableStyleId>
              </a:tblPr>
              <a:tblGrid>
                <a:gridCol w="3914067">
                  <a:extLst>
                    <a:ext uri="{9D8B030D-6E8A-4147-A177-3AD203B41FA5}">
                      <a16:colId xmlns:a16="http://schemas.microsoft.com/office/drawing/2014/main" val="20000"/>
                    </a:ext>
                  </a:extLst>
                </a:gridCol>
              </a:tblGrid>
              <a:tr h="457200">
                <a:tc>
                  <a:txBody>
                    <a:bodyPr/>
                    <a:lstStyle/>
                    <a:p>
                      <a:pPr algn="just">
                        <a:spcAft>
                          <a:spcPts val="0"/>
                        </a:spcAft>
                      </a:pPr>
                      <a:r>
                        <a:rPr lang="en-US" sz="1800" b="0" kern="100" dirty="0">
                          <a:solidFill>
                            <a:schemeClr val="tx1"/>
                          </a:solidFill>
                          <a:effectLst/>
                          <a:latin typeface="宋体" panose="02010600030101010101" pitchFamily="2" charset="-122"/>
                          <a:ea typeface="宋体" panose="02010600030101010101" pitchFamily="2" charset="-122"/>
                        </a:rPr>
                        <a:t>(2)</a:t>
                      </a:r>
                      <a:r>
                        <a:rPr lang="en-US" altLang="zh-CN" sz="1800" b="0" dirty="0">
                          <a:solidFill>
                            <a:schemeClr val="tx1"/>
                          </a:solidFill>
                          <a:latin typeface="宋体" panose="02010600030101010101" pitchFamily="2" charset="-122"/>
                        </a:rPr>
                        <a:t> &lt;</a:t>
                      </a:r>
                      <a:r>
                        <a:rPr lang="en-US" altLang="zh-CN" sz="1800" b="0" dirty="0" err="1">
                          <a:solidFill>
                            <a:schemeClr val="tx1"/>
                          </a:solidFill>
                          <a:latin typeface="宋体" panose="02010600030101010101" pitchFamily="2" charset="-122"/>
                        </a:rPr>
                        <a:t>VarType</a:t>
                      </a:r>
                      <a:r>
                        <a:rPr lang="en-US" altLang="zh-CN" sz="1800" b="0" dirty="0">
                          <a:solidFill>
                            <a:schemeClr val="tx1"/>
                          </a:solidFill>
                          <a:latin typeface="宋体" panose="02010600030101010101" pitchFamily="2" charset="-122"/>
                        </a:rPr>
                        <a:t>&gt;→</a:t>
                      </a:r>
                      <a:r>
                        <a:rPr lang="en-US" altLang="zh-CN" sz="1800" b="0" dirty="0" err="1">
                          <a:solidFill>
                            <a:schemeClr val="tx1"/>
                          </a:solidFill>
                          <a:latin typeface="宋体" panose="02010600030101010101" pitchFamily="2" charset="-122"/>
                        </a:rPr>
                        <a:t>int</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7200">
                <a:tc>
                  <a:txBody>
                    <a:bodyPr/>
                    <a:lstStyle/>
                    <a:p>
                      <a:pPr algn="just">
                        <a:spcAft>
                          <a:spcPts val="0"/>
                        </a:spcAft>
                      </a:pPr>
                      <a:r>
                        <a:rPr lang="en-US" altLang="zh-CN" sz="1800" b="0" kern="100" dirty="0">
                          <a:solidFill>
                            <a:schemeClr val="tx1"/>
                          </a:solidFill>
                          <a:effectLst/>
                          <a:latin typeface="宋体" panose="02010600030101010101" pitchFamily="2" charset="-122"/>
                          <a:ea typeface="宋体" panose="02010600030101010101" pitchFamily="2" charset="-122"/>
                        </a:rPr>
                        <a:t>{ &lt;</a:t>
                      </a:r>
                      <a:r>
                        <a:rPr lang="en-US" altLang="zh-CN" sz="1800" b="0" kern="100" dirty="0" err="1">
                          <a:solidFill>
                            <a:schemeClr val="tx1"/>
                          </a:solidFill>
                          <a:effectLst/>
                          <a:latin typeface="宋体" panose="02010600030101010101" pitchFamily="2" charset="-122"/>
                          <a:ea typeface="宋体" panose="02010600030101010101" pitchFamily="2" charset="-122"/>
                        </a:rPr>
                        <a:t>VarType</a:t>
                      </a:r>
                      <a:r>
                        <a:rPr lang="en-US" altLang="zh-CN" sz="1800" b="0" kern="100" dirty="0">
                          <a:solidFill>
                            <a:schemeClr val="tx1"/>
                          </a:solidFill>
                          <a:effectLst/>
                          <a:latin typeface="宋体" panose="02010600030101010101" pitchFamily="2" charset="-122"/>
                          <a:ea typeface="宋体" panose="02010600030101010101" pitchFamily="2" charset="-122"/>
                        </a:rPr>
                        <a:t>&gt;.type = </a:t>
                      </a:r>
                      <a:r>
                        <a:rPr lang="en-US" altLang="zh-CN" sz="1800" b="0" kern="100" dirty="0" err="1">
                          <a:solidFill>
                            <a:schemeClr val="tx1"/>
                          </a:solidFill>
                          <a:effectLst/>
                          <a:latin typeface="宋体" panose="02010600030101010101" pitchFamily="2" charset="-122"/>
                          <a:ea typeface="宋体" panose="02010600030101010101" pitchFamily="2" charset="-122"/>
                        </a:rPr>
                        <a:t>int</a:t>
                      </a:r>
                      <a:r>
                        <a:rPr lang="en-US" altLang="zh-CN" sz="1800" b="0" kern="100" dirty="0">
                          <a:solidFill>
                            <a:schemeClr val="tx1"/>
                          </a:solidFill>
                          <a:effectLst/>
                          <a:latin typeface="宋体" panose="02010600030101010101" pitchFamily="2" charset="-122"/>
                          <a:ea typeface="宋体" panose="02010600030101010101" pitchFamily="2" charset="-122"/>
                        </a:rPr>
                        <a:t>      }</a:t>
                      </a:r>
                      <a:endParaRPr lang="zh-CN" alt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0" name="表格 19"/>
          <p:cNvGraphicFramePr>
            <a:graphicFrameLocks noGrp="1"/>
          </p:cNvGraphicFramePr>
          <p:nvPr>
            <p:extLst>
              <p:ext uri="{D42A27DB-BD31-4B8C-83A1-F6EECF244321}">
                <p14:modId xmlns:p14="http://schemas.microsoft.com/office/powerpoint/2010/main" val="3602989732"/>
              </p:ext>
            </p:extLst>
          </p:nvPr>
        </p:nvGraphicFramePr>
        <p:xfrm>
          <a:off x="5076232" y="2017886"/>
          <a:ext cx="3914067" cy="914400"/>
        </p:xfrm>
        <a:graphic>
          <a:graphicData uri="http://schemas.openxmlformats.org/drawingml/2006/table">
            <a:tbl>
              <a:tblPr firstRow="1" firstCol="1" bandRow="1">
                <a:tableStyleId>{5C22544A-7EE6-4342-B048-85BDC9FD1C3A}</a:tableStyleId>
              </a:tblPr>
              <a:tblGrid>
                <a:gridCol w="3914067">
                  <a:extLst>
                    <a:ext uri="{9D8B030D-6E8A-4147-A177-3AD203B41FA5}">
                      <a16:colId xmlns:a16="http://schemas.microsoft.com/office/drawing/2014/main" val="20000"/>
                    </a:ext>
                  </a:extLst>
                </a:gridCol>
              </a:tblGrid>
              <a:tr h="45720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b="0" kern="100" dirty="0">
                          <a:solidFill>
                            <a:schemeClr val="tx1"/>
                          </a:solidFill>
                          <a:effectLst/>
                          <a:latin typeface="宋体" panose="02010600030101010101" pitchFamily="2" charset="-122"/>
                          <a:ea typeface="宋体" panose="02010600030101010101" pitchFamily="2" charset="-122"/>
                        </a:rPr>
                        <a:t>(3)</a:t>
                      </a:r>
                      <a:r>
                        <a:rPr lang="en-US" altLang="zh-CN" sz="1800" b="0" kern="100" dirty="0">
                          <a:solidFill>
                            <a:schemeClr val="tx1"/>
                          </a:solidFill>
                          <a:effectLst/>
                          <a:latin typeface="宋体" panose="02010600030101010101" pitchFamily="2" charset="-122"/>
                          <a:ea typeface="宋体" panose="02010600030101010101" pitchFamily="2" charset="-122"/>
                        </a:rPr>
                        <a:t> &lt;IDS&gt;→&lt;SIDS&gt;;</a:t>
                      </a:r>
                      <a:endParaRPr lang="zh-CN" alt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7200">
                <a:tc>
                  <a:txBody>
                    <a:bodyPr/>
                    <a:lstStyle/>
                    <a:p>
                      <a:pPr algn="just">
                        <a:spcAft>
                          <a:spcPts val="0"/>
                        </a:spcAft>
                      </a:pPr>
                      <a:r>
                        <a:rPr lang="en-US" altLang="zh-CN" sz="1800" b="0" kern="100" dirty="0">
                          <a:solidFill>
                            <a:schemeClr val="tx1"/>
                          </a:solidFill>
                          <a:effectLst/>
                          <a:latin typeface="宋体" panose="02010600030101010101" pitchFamily="2" charset="-122"/>
                          <a:ea typeface="宋体" panose="02010600030101010101" pitchFamily="2" charset="-122"/>
                        </a:rPr>
                        <a:t>{&lt;SIDS&gt;.in = &lt;IDS&gt;.in </a:t>
                      </a:r>
                      <a:r>
                        <a:rPr lang="en-US" altLang="zh-CN" sz="1800" b="0" kern="100" baseline="0" dirty="0">
                          <a:solidFill>
                            <a:schemeClr val="tx1"/>
                          </a:solidFill>
                          <a:effectLst/>
                          <a:latin typeface="宋体" panose="02010600030101010101" pitchFamily="2" charset="-122"/>
                          <a:ea typeface="宋体" panose="02010600030101010101" pitchFamily="2" charset="-122"/>
                        </a:rPr>
                        <a:t>  </a:t>
                      </a:r>
                      <a:r>
                        <a:rPr lang="en-US" altLang="zh-CN" sz="1800" b="0" kern="100" dirty="0">
                          <a:solidFill>
                            <a:schemeClr val="tx1"/>
                          </a:solidFill>
                          <a:effectLst/>
                          <a:latin typeface="宋体" panose="02010600030101010101" pitchFamily="2" charset="-122"/>
                          <a:ea typeface="宋体" panose="02010600030101010101" pitchFamily="2" charset="-122"/>
                        </a:rPr>
                        <a:t>}</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1" name="表格 20"/>
          <p:cNvGraphicFramePr>
            <a:graphicFrameLocks noGrp="1"/>
          </p:cNvGraphicFramePr>
          <p:nvPr>
            <p:extLst>
              <p:ext uri="{D42A27DB-BD31-4B8C-83A1-F6EECF244321}">
                <p14:modId xmlns:p14="http://schemas.microsoft.com/office/powerpoint/2010/main" val="4003631762"/>
              </p:ext>
            </p:extLst>
          </p:nvPr>
        </p:nvGraphicFramePr>
        <p:xfrm>
          <a:off x="5076232" y="2017886"/>
          <a:ext cx="3914067" cy="1005840"/>
        </p:xfrm>
        <a:graphic>
          <a:graphicData uri="http://schemas.openxmlformats.org/drawingml/2006/table">
            <a:tbl>
              <a:tblPr firstRow="1" firstCol="1" bandRow="1">
                <a:tableStyleId>{5C22544A-7EE6-4342-B048-85BDC9FD1C3A}</a:tableStyleId>
              </a:tblPr>
              <a:tblGrid>
                <a:gridCol w="3914067">
                  <a:extLst>
                    <a:ext uri="{9D8B030D-6E8A-4147-A177-3AD203B41FA5}">
                      <a16:colId xmlns:a16="http://schemas.microsoft.com/office/drawing/2014/main" val="20000"/>
                    </a:ext>
                  </a:extLst>
                </a:gridCol>
              </a:tblGrid>
              <a:tr h="457200">
                <a:tc>
                  <a:txBody>
                    <a:bodyPr/>
                    <a:lstStyle/>
                    <a:p>
                      <a:pPr algn="just">
                        <a:spcAft>
                          <a:spcPts val="0"/>
                        </a:spcAft>
                      </a:pPr>
                      <a:r>
                        <a:rPr lang="en-US" sz="1800" b="0" kern="100" dirty="0">
                          <a:solidFill>
                            <a:schemeClr val="tx1"/>
                          </a:solidFill>
                          <a:effectLst/>
                          <a:latin typeface="宋体" panose="02010600030101010101" pitchFamily="2" charset="-122"/>
                          <a:ea typeface="宋体" panose="02010600030101010101" pitchFamily="2" charset="-122"/>
                        </a:rPr>
                        <a:t>(4)</a:t>
                      </a:r>
                      <a:r>
                        <a:rPr lang="en-US" altLang="zh-CN" sz="1800" kern="100" dirty="0">
                          <a:solidFill>
                            <a:schemeClr val="tx1"/>
                          </a:solidFill>
                          <a:effectLst/>
                          <a:latin typeface="宋体" panose="02010600030101010101" pitchFamily="2" charset="-122"/>
                          <a:ea typeface="宋体" panose="02010600030101010101" pitchFamily="2" charset="-122"/>
                        </a:rPr>
                        <a:t> </a:t>
                      </a:r>
                      <a:r>
                        <a:rPr lang="en-US" altLang="zh-CN" sz="1800" b="0" kern="100" dirty="0">
                          <a:solidFill>
                            <a:schemeClr val="tx1"/>
                          </a:solidFill>
                          <a:effectLst/>
                          <a:latin typeface="宋体" panose="02010600030101010101" pitchFamily="2" charset="-122"/>
                          <a:ea typeface="宋体" panose="02010600030101010101" pitchFamily="2" charset="-122"/>
                        </a:rPr>
                        <a:t>&lt;IDS&gt;→&lt;SIDS&gt;, &lt;IDS&gt;</a:t>
                      </a:r>
                      <a:r>
                        <a:rPr lang="en-US" altLang="zh-CN" sz="1800" b="0" kern="100" baseline="30000" dirty="0">
                          <a:solidFill>
                            <a:schemeClr val="tx1"/>
                          </a:solidFill>
                          <a:effectLst/>
                          <a:latin typeface="宋体" panose="02010600030101010101" pitchFamily="2" charset="-122"/>
                          <a:ea typeface="宋体" panose="02010600030101010101" pitchFamily="2" charset="-122"/>
                        </a:rPr>
                        <a:t>(1)</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7200">
                <a:tc>
                  <a:txBody>
                    <a:bodyPr/>
                    <a:lstStyle/>
                    <a:p>
                      <a:pPr algn="just">
                        <a:spcAft>
                          <a:spcPts val="0"/>
                        </a:spcAft>
                      </a:pPr>
                      <a:r>
                        <a:rPr lang="en-US" altLang="zh-CN" sz="1800" b="0" kern="100" dirty="0">
                          <a:solidFill>
                            <a:schemeClr val="tx1"/>
                          </a:solidFill>
                          <a:effectLst/>
                          <a:latin typeface="宋体" panose="02010600030101010101" pitchFamily="2" charset="-122"/>
                          <a:ea typeface="宋体" panose="02010600030101010101" pitchFamily="2" charset="-122"/>
                        </a:rPr>
                        <a:t>{&lt;SIDS&gt;.in = &lt;IDS&gt;.in;</a:t>
                      </a:r>
                      <a:endParaRPr lang="zh-CN" altLang="zh-CN" sz="1800" b="0" kern="100" dirty="0">
                        <a:solidFill>
                          <a:schemeClr val="tx1"/>
                        </a:solidFill>
                        <a:effectLst/>
                        <a:latin typeface="宋体" panose="02010600030101010101" pitchFamily="2" charset="-122"/>
                        <a:ea typeface="宋体" panose="02010600030101010101" pitchFamily="2" charset="-122"/>
                      </a:endParaRPr>
                    </a:p>
                    <a:p>
                      <a:pPr algn="just">
                        <a:spcAft>
                          <a:spcPts val="0"/>
                        </a:spcAft>
                      </a:pPr>
                      <a:r>
                        <a:rPr lang="en-US" altLang="zh-CN" sz="1800" b="0" kern="100" dirty="0">
                          <a:solidFill>
                            <a:schemeClr val="tx1"/>
                          </a:solidFill>
                          <a:effectLst/>
                          <a:latin typeface="宋体" panose="02010600030101010101" pitchFamily="2" charset="-122"/>
                          <a:ea typeface="宋体" panose="02010600030101010101" pitchFamily="2" charset="-122"/>
                        </a:rPr>
                        <a:t> &lt;IDS&gt;</a:t>
                      </a:r>
                      <a:r>
                        <a:rPr lang="en-US" altLang="zh-CN" sz="1800" b="0" kern="100" baseline="30000" dirty="0">
                          <a:solidFill>
                            <a:schemeClr val="tx1"/>
                          </a:solidFill>
                          <a:effectLst/>
                          <a:latin typeface="宋体" panose="02010600030101010101" pitchFamily="2" charset="-122"/>
                          <a:ea typeface="宋体" panose="02010600030101010101" pitchFamily="2" charset="-122"/>
                        </a:rPr>
                        <a:t>(1)</a:t>
                      </a:r>
                      <a:r>
                        <a:rPr lang="en-US" altLang="zh-CN" sz="1800" b="0" kern="100" dirty="0">
                          <a:solidFill>
                            <a:schemeClr val="tx1"/>
                          </a:solidFill>
                          <a:effectLst/>
                          <a:latin typeface="宋体" panose="02010600030101010101" pitchFamily="2" charset="-122"/>
                          <a:ea typeface="宋体" panose="02010600030101010101" pitchFamily="2" charset="-122"/>
                        </a:rPr>
                        <a:t>.in = &lt;IDS&gt;.in    }</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2" name="表格 21"/>
          <p:cNvGraphicFramePr>
            <a:graphicFrameLocks noGrp="1"/>
          </p:cNvGraphicFramePr>
          <p:nvPr>
            <p:extLst>
              <p:ext uri="{D42A27DB-BD31-4B8C-83A1-F6EECF244321}">
                <p14:modId xmlns:p14="http://schemas.microsoft.com/office/powerpoint/2010/main" val="62834347"/>
              </p:ext>
            </p:extLst>
          </p:nvPr>
        </p:nvGraphicFramePr>
        <p:xfrm>
          <a:off x="5148065" y="1940849"/>
          <a:ext cx="3914067" cy="1249680"/>
        </p:xfrm>
        <a:graphic>
          <a:graphicData uri="http://schemas.openxmlformats.org/drawingml/2006/table">
            <a:tbl>
              <a:tblPr firstRow="1" firstCol="1" bandRow="1">
                <a:tableStyleId>{5C22544A-7EE6-4342-B048-85BDC9FD1C3A}</a:tableStyleId>
              </a:tblPr>
              <a:tblGrid>
                <a:gridCol w="3914067">
                  <a:extLst>
                    <a:ext uri="{9D8B030D-6E8A-4147-A177-3AD203B41FA5}">
                      <a16:colId xmlns:a16="http://schemas.microsoft.com/office/drawing/2014/main" val="20000"/>
                    </a:ext>
                  </a:extLst>
                </a:gridCol>
              </a:tblGrid>
              <a:tr h="457200">
                <a:tc>
                  <a:txBody>
                    <a:bodyPr/>
                    <a:lstStyle/>
                    <a:p>
                      <a:pPr algn="just">
                        <a:spcAft>
                          <a:spcPts val="0"/>
                        </a:spcAft>
                      </a:pPr>
                      <a:r>
                        <a:rPr lang="en-US" sz="1800" b="0" kern="100" dirty="0">
                          <a:solidFill>
                            <a:schemeClr val="tx1"/>
                          </a:solidFill>
                          <a:effectLst/>
                          <a:latin typeface="宋体" panose="02010600030101010101" pitchFamily="2" charset="-122"/>
                          <a:ea typeface="宋体" panose="02010600030101010101" pitchFamily="2" charset="-122"/>
                        </a:rPr>
                        <a:t>(5) &lt;SIDS&gt;→id</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720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800" b="0" kern="100" dirty="0">
                          <a:solidFill>
                            <a:schemeClr val="tx1"/>
                          </a:solidFill>
                          <a:effectLst/>
                          <a:latin typeface="宋体" panose="02010600030101010101" pitchFamily="2" charset="-122"/>
                          <a:ea typeface="宋体" panose="02010600030101010101" pitchFamily="2" charset="-122"/>
                        </a:rPr>
                        <a:t>{</a:t>
                      </a:r>
                      <a:r>
                        <a:rPr lang="en-US" altLang="zh-CN" sz="1800" b="0" kern="100" dirty="0" err="1">
                          <a:solidFill>
                            <a:schemeClr val="tx1"/>
                          </a:solidFill>
                          <a:effectLst/>
                          <a:latin typeface="宋体" panose="02010600030101010101" pitchFamily="2" charset="-122"/>
                          <a:ea typeface="宋体" panose="02010600030101010101" pitchFamily="2" charset="-122"/>
                        </a:rPr>
                        <a:t>InsertVarible</a:t>
                      </a:r>
                      <a:r>
                        <a:rPr lang="en-US" altLang="zh-CN" sz="1800" b="0" kern="100" dirty="0">
                          <a:solidFill>
                            <a:schemeClr val="tx1"/>
                          </a:solidFill>
                          <a:effectLst/>
                          <a:latin typeface="宋体" panose="02010600030101010101" pitchFamily="2" charset="-122"/>
                          <a:ea typeface="宋体" panose="02010600030101010101" pitchFamily="2" charset="-122"/>
                        </a:rPr>
                        <a:t>(</a:t>
                      </a:r>
                      <a:r>
                        <a:rPr kumimoji="0" lang="en-US" altLang="zh-CN" sz="1800" b="1" kern="1200" dirty="0">
                          <a:solidFill>
                            <a:schemeClr val="tx1"/>
                          </a:solidFill>
                          <a:effectLst/>
                          <a:latin typeface="+mn-lt"/>
                          <a:ea typeface="+mn-ea"/>
                          <a:cs typeface="+mn-cs"/>
                        </a:rPr>
                        <a:t>entry(id).name</a:t>
                      </a:r>
                      <a:r>
                        <a:rPr lang="en-US" altLang="zh-CN" sz="1800" b="0" kern="100" dirty="0">
                          <a:solidFill>
                            <a:schemeClr val="tx1"/>
                          </a:solidFill>
                          <a:effectLst/>
                          <a:latin typeface="宋体" panose="02010600030101010101" pitchFamily="2" charset="-122"/>
                          <a:ea typeface="宋体" panose="02010600030101010101" pitchFamily="2" charset="-122"/>
                        </a:rPr>
                        <a:t>);</a:t>
                      </a:r>
                      <a:r>
                        <a:rPr lang="en-US" altLang="zh-CN" sz="1600" b="0" kern="100" dirty="0">
                          <a:solidFill>
                            <a:schemeClr val="tx1"/>
                          </a:solidFill>
                          <a:effectLst/>
                          <a:latin typeface="宋体" panose="02010600030101010101" pitchFamily="2" charset="-122"/>
                          <a:ea typeface="宋体" panose="02010600030101010101" pitchFamily="2" charset="-122"/>
                        </a:rPr>
                        <a:t>//</a:t>
                      </a:r>
                      <a:r>
                        <a:rPr lang="zh-CN" altLang="en-US" sz="1600" b="0" kern="100" dirty="0">
                          <a:solidFill>
                            <a:schemeClr val="tx1"/>
                          </a:solidFill>
                          <a:effectLst/>
                          <a:latin typeface="宋体" panose="02010600030101010101" pitchFamily="2" charset="-122"/>
                          <a:ea typeface="宋体" panose="02010600030101010101" pitchFamily="2" charset="-122"/>
                        </a:rPr>
                        <a:t>变量名</a:t>
                      </a:r>
                      <a:r>
                        <a:rPr lang="zh-CN" altLang="zh-CN" sz="1600" b="0" kern="100" dirty="0">
                          <a:solidFill>
                            <a:schemeClr val="tx1"/>
                          </a:solidFill>
                          <a:effectLst/>
                          <a:latin typeface="宋体" panose="02010600030101010101" pitchFamily="2" charset="-122"/>
                          <a:ea typeface="宋体" panose="02010600030101010101" pitchFamily="2" charset="-122"/>
                        </a:rPr>
                        <a:t>插入符号表</a:t>
                      </a:r>
                      <a:endParaRPr lang="zh-CN" altLang="zh-CN" sz="1800" b="0" kern="100" dirty="0">
                        <a:solidFill>
                          <a:schemeClr val="tx1"/>
                        </a:solidFill>
                        <a:effectLst/>
                        <a:latin typeface="宋体" panose="02010600030101010101" pitchFamily="2" charset="-122"/>
                        <a:ea typeface="宋体" panose="02010600030101010101" pitchFamily="2" charset="-122"/>
                      </a:endParaRPr>
                    </a:p>
                    <a:p>
                      <a:pPr indent="171450" algn="just">
                        <a:spcAft>
                          <a:spcPts val="0"/>
                        </a:spcAft>
                      </a:pPr>
                      <a:r>
                        <a:rPr lang="en-US" altLang="zh-CN" sz="1800" b="0" kern="100" dirty="0">
                          <a:solidFill>
                            <a:schemeClr val="tx1"/>
                          </a:solidFill>
                          <a:effectLst/>
                          <a:latin typeface="宋体" panose="02010600030101010101" pitchFamily="2" charset="-122"/>
                          <a:ea typeface="宋体" panose="02010600030101010101" pitchFamily="2" charset="-122"/>
                        </a:rPr>
                        <a:t>entry(id).type  =&lt;SIDS&gt;.in    }</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23" name="表格 22"/>
          <p:cNvGraphicFramePr>
            <a:graphicFrameLocks noGrp="1"/>
          </p:cNvGraphicFramePr>
          <p:nvPr>
            <p:extLst>
              <p:ext uri="{D42A27DB-BD31-4B8C-83A1-F6EECF244321}">
                <p14:modId xmlns:p14="http://schemas.microsoft.com/office/powerpoint/2010/main" val="1018194398"/>
              </p:ext>
            </p:extLst>
          </p:nvPr>
        </p:nvGraphicFramePr>
        <p:xfrm>
          <a:off x="5075576" y="1957651"/>
          <a:ext cx="3914067" cy="1524000"/>
        </p:xfrm>
        <a:graphic>
          <a:graphicData uri="http://schemas.openxmlformats.org/drawingml/2006/table">
            <a:tbl>
              <a:tblPr firstRow="1" firstCol="1" bandRow="1">
                <a:tableStyleId>{5C22544A-7EE6-4342-B048-85BDC9FD1C3A}</a:tableStyleId>
              </a:tblPr>
              <a:tblGrid>
                <a:gridCol w="3914067">
                  <a:extLst>
                    <a:ext uri="{9D8B030D-6E8A-4147-A177-3AD203B41FA5}">
                      <a16:colId xmlns:a16="http://schemas.microsoft.com/office/drawing/2014/main" val="20000"/>
                    </a:ext>
                  </a:extLst>
                </a:gridCol>
              </a:tblGrid>
              <a:tr h="457200">
                <a:tc>
                  <a:txBody>
                    <a:bodyPr/>
                    <a:lstStyle/>
                    <a:p>
                      <a:pPr algn="just">
                        <a:spcAft>
                          <a:spcPts val="0"/>
                        </a:spcAft>
                      </a:pPr>
                      <a:r>
                        <a:rPr lang="en-US" sz="1800" b="0" kern="100" dirty="0">
                          <a:solidFill>
                            <a:schemeClr val="tx1"/>
                          </a:solidFill>
                          <a:effectLst/>
                          <a:latin typeface="宋体" panose="02010600030101010101" pitchFamily="2" charset="-122"/>
                          <a:ea typeface="宋体" panose="02010600030101010101" pitchFamily="2" charset="-122"/>
                        </a:rPr>
                        <a:t>(6) &lt;SIDS&gt;→id = &lt;expr&gt;</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720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800" b="0" kern="100" dirty="0">
                          <a:solidFill>
                            <a:schemeClr val="tx1"/>
                          </a:solidFill>
                          <a:effectLst/>
                          <a:latin typeface="宋体" panose="02010600030101010101" pitchFamily="2" charset="-122"/>
                          <a:ea typeface="宋体" panose="02010600030101010101" pitchFamily="2" charset="-122"/>
                        </a:rPr>
                        <a:t>{</a:t>
                      </a:r>
                      <a:r>
                        <a:rPr lang="en-US" altLang="zh-CN" sz="1800" b="0" kern="100" dirty="0" err="1">
                          <a:solidFill>
                            <a:schemeClr val="tx1"/>
                          </a:solidFill>
                          <a:effectLst/>
                          <a:latin typeface="宋体" panose="02010600030101010101" pitchFamily="2" charset="-122"/>
                          <a:ea typeface="宋体" panose="02010600030101010101" pitchFamily="2" charset="-122"/>
                        </a:rPr>
                        <a:t>InsertVarible</a:t>
                      </a:r>
                      <a:r>
                        <a:rPr lang="en-US" altLang="zh-CN" sz="1800" b="0" kern="100" dirty="0">
                          <a:solidFill>
                            <a:schemeClr val="tx1"/>
                          </a:solidFill>
                          <a:effectLst/>
                          <a:latin typeface="宋体" panose="02010600030101010101" pitchFamily="2" charset="-122"/>
                          <a:ea typeface="宋体" panose="02010600030101010101" pitchFamily="2" charset="-122"/>
                        </a:rPr>
                        <a:t>(</a:t>
                      </a:r>
                      <a:r>
                        <a:rPr kumimoji="0" lang="en-US" altLang="zh-CN" sz="1800" b="1" kern="1200" dirty="0">
                          <a:solidFill>
                            <a:schemeClr val="tx1"/>
                          </a:solidFill>
                          <a:effectLst/>
                          <a:latin typeface="+mn-lt"/>
                          <a:ea typeface="+mn-ea"/>
                          <a:cs typeface="+mn-cs"/>
                        </a:rPr>
                        <a:t>entry(id).name</a:t>
                      </a:r>
                      <a:r>
                        <a:rPr lang="en-US" altLang="zh-CN" sz="1800" b="0" kern="100" dirty="0">
                          <a:solidFill>
                            <a:schemeClr val="tx1"/>
                          </a:solidFill>
                          <a:effectLst/>
                          <a:latin typeface="宋体" panose="02010600030101010101" pitchFamily="2" charset="-122"/>
                          <a:ea typeface="宋体" panose="02010600030101010101" pitchFamily="2" charset="-122"/>
                        </a:rPr>
                        <a:t>);</a:t>
                      </a:r>
                      <a:r>
                        <a:rPr lang="en-US" altLang="zh-CN" sz="1600" b="0" kern="100" dirty="0">
                          <a:solidFill>
                            <a:schemeClr val="tx1"/>
                          </a:solidFill>
                          <a:effectLst/>
                          <a:latin typeface="宋体" panose="02010600030101010101" pitchFamily="2" charset="-122"/>
                          <a:ea typeface="宋体" panose="02010600030101010101" pitchFamily="2" charset="-122"/>
                        </a:rPr>
                        <a:t>//</a:t>
                      </a:r>
                      <a:r>
                        <a:rPr lang="zh-CN" altLang="en-US" sz="1600" b="0" kern="100" dirty="0">
                          <a:solidFill>
                            <a:schemeClr val="tx1"/>
                          </a:solidFill>
                          <a:effectLst/>
                          <a:latin typeface="宋体" panose="02010600030101010101" pitchFamily="2" charset="-122"/>
                          <a:ea typeface="宋体" panose="02010600030101010101" pitchFamily="2" charset="-122"/>
                        </a:rPr>
                        <a:t>变量名插入符号表</a:t>
                      </a:r>
                      <a:endParaRPr lang="zh-CN" altLang="en-US" sz="1800" b="0" kern="100" dirty="0">
                        <a:solidFill>
                          <a:schemeClr val="tx1"/>
                        </a:solidFill>
                        <a:effectLst/>
                        <a:latin typeface="宋体" panose="02010600030101010101" pitchFamily="2" charset="-122"/>
                        <a:ea typeface="宋体" panose="02010600030101010101" pitchFamily="2" charset="-122"/>
                      </a:endParaRPr>
                    </a:p>
                    <a:p>
                      <a:pPr algn="just">
                        <a:spcAft>
                          <a:spcPts val="0"/>
                        </a:spcAft>
                      </a:pPr>
                      <a:r>
                        <a:rPr lang="zh-CN" altLang="en-US" sz="1800" b="0" kern="100" dirty="0">
                          <a:solidFill>
                            <a:schemeClr val="tx1"/>
                          </a:solidFill>
                          <a:effectLst/>
                          <a:latin typeface="宋体" panose="02010600030101010101" pitchFamily="2" charset="-122"/>
                          <a:ea typeface="宋体" panose="02010600030101010101" pitchFamily="2" charset="-122"/>
                        </a:rPr>
                        <a:t>   </a:t>
                      </a:r>
                      <a:r>
                        <a:rPr lang="en-US" altLang="zh-CN" sz="1800" b="0" kern="100" dirty="0">
                          <a:solidFill>
                            <a:schemeClr val="tx1"/>
                          </a:solidFill>
                          <a:effectLst/>
                          <a:latin typeface="宋体" panose="02010600030101010101" pitchFamily="2" charset="-122"/>
                          <a:ea typeface="宋体" panose="02010600030101010101" pitchFamily="2" charset="-122"/>
                        </a:rPr>
                        <a:t>entry(id).type = &lt;SIDS&gt;.in;</a:t>
                      </a:r>
                    </a:p>
                    <a:p>
                      <a:pPr algn="just">
                        <a:spcAft>
                          <a:spcPts val="0"/>
                        </a:spcAft>
                      </a:pPr>
                      <a:r>
                        <a:rPr lang="en-US" altLang="zh-CN" sz="1800" b="0" kern="100" dirty="0">
                          <a:solidFill>
                            <a:schemeClr val="tx1"/>
                          </a:solidFill>
                          <a:effectLst/>
                          <a:latin typeface="宋体" panose="02010600030101010101" pitchFamily="2" charset="-122"/>
                          <a:ea typeface="宋体" panose="02010600030101010101" pitchFamily="2" charset="-122"/>
                        </a:rPr>
                        <a:t>  entry(id).</a:t>
                      </a:r>
                      <a:r>
                        <a:rPr lang="en-US" altLang="zh-CN" sz="1800" b="0" kern="100" dirty="0" err="1">
                          <a:solidFill>
                            <a:schemeClr val="tx1"/>
                          </a:solidFill>
                          <a:effectLst/>
                          <a:latin typeface="宋体" panose="02010600030101010101" pitchFamily="2" charset="-122"/>
                          <a:ea typeface="宋体" panose="02010600030101010101" pitchFamily="2" charset="-122"/>
                        </a:rPr>
                        <a:t>val</a:t>
                      </a:r>
                      <a:r>
                        <a:rPr lang="en-US" altLang="zh-CN" sz="1800" b="0" kern="100" dirty="0">
                          <a:solidFill>
                            <a:schemeClr val="tx1"/>
                          </a:solidFill>
                          <a:effectLst/>
                          <a:latin typeface="宋体" panose="02010600030101010101" pitchFamily="2" charset="-122"/>
                          <a:ea typeface="宋体" panose="02010600030101010101" pitchFamily="2" charset="-122"/>
                        </a:rPr>
                        <a:t>=&lt;expr&gt;.PLACE   }</a:t>
                      </a:r>
                      <a:endParaRPr lang="zh-CN" sz="1800" b="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26" name="Line 16"/>
          <p:cNvSpPr>
            <a:spLocks noChangeShapeType="1"/>
          </p:cNvSpPr>
          <p:nvPr/>
        </p:nvSpPr>
        <p:spPr bwMode="auto">
          <a:xfrm>
            <a:off x="1187624" y="2382710"/>
            <a:ext cx="0" cy="549080"/>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27" name="Line 16"/>
          <p:cNvSpPr>
            <a:spLocks noChangeShapeType="1"/>
          </p:cNvSpPr>
          <p:nvPr/>
        </p:nvSpPr>
        <p:spPr bwMode="auto">
          <a:xfrm>
            <a:off x="2267744" y="3075805"/>
            <a:ext cx="0" cy="491589"/>
          </a:xfrm>
          <a:prstGeom prst="line">
            <a:avLst/>
          </a:prstGeom>
          <a:noFill/>
          <a:ln w="3810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graphicFrame>
        <p:nvGraphicFramePr>
          <p:cNvPr id="28" name="表格 27"/>
          <p:cNvGraphicFramePr>
            <a:graphicFrameLocks noGrp="1"/>
          </p:cNvGraphicFramePr>
          <p:nvPr>
            <p:extLst>
              <p:ext uri="{D42A27DB-BD31-4B8C-83A1-F6EECF244321}">
                <p14:modId xmlns:p14="http://schemas.microsoft.com/office/powerpoint/2010/main" val="1978349869"/>
              </p:ext>
            </p:extLst>
          </p:nvPr>
        </p:nvGraphicFramePr>
        <p:xfrm>
          <a:off x="5274765" y="3651870"/>
          <a:ext cx="3729037" cy="1279923"/>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457200">
                <a:tc>
                  <a:txBody>
                    <a:bodyPr/>
                    <a:lstStyle/>
                    <a:p>
                      <a:pPr algn="ctr">
                        <a:spcAft>
                          <a:spcPts val="0"/>
                        </a:spcAft>
                      </a:pPr>
                      <a:r>
                        <a:rPr lang="zh-CN" sz="1500" kern="100" dirty="0">
                          <a:effectLst/>
                          <a:latin typeface="Times New Roman"/>
                          <a:ea typeface="宋体"/>
                        </a:rPr>
                        <a:t>入口</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altLang="en-US" sz="1500" kern="100" dirty="0">
                          <a:effectLst/>
                          <a:latin typeface="Times New Roman"/>
                          <a:ea typeface="宋体"/>
                        </a:rPr>
                        <a:t>变</a:t>
                      </a:r>
                      <a:r>
                        <a:rPr lang="zh-CN" sz="1500" kern="100" dirty="0">
                          <a:effectLst/>
                          <a:latin typeface="Times New Roman"/>
                          <a:ea typeface="宋体"/>
                        </a:rPr>
                        <a:t>量名</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altLang="en-US" sz="1500" kern="100" dirty="0">
                          <a:effectLst/>
                          <a:latin typeface="Times New Roman"/>
                          <a:ea typeface="宋体"/>
                        </a:rPr>
                        <a:t>变量</a:t>
                      </a:r>
                      <a:r>
                        <a:rPr lang="zh-CN" sz="1500" kern="100" dirty="0">
                          <a:effectLst/>
                          <a:latin typeface="Times New Roman"/>
                          <a:ea typeface="宋体"/>
                        </a:rPr>
                        <a:t>类型</a:t>
                      </a:r>
                      <a:r>
                        <a:rPr lang="fr-FR" sz="1500" kern="100" dirty="0">
                          <a:effectLst/>
                          <a:latin typeface="Times New Roman"/>
                          <a:ea typeface="宋体"/>
                        </a:rPr>
                        <a:t>(type)</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a:effectLst/>
                          <a:latin typeface="Times New Roman"/>
                          <a:ea typeface="宋体"/>
                        </a:rPr>
                        <a:t>值</a:t>
                      </a:r>
                      <a:r>
                        <a:rPr lang="fr-FR" sz="1500" kern="100">
                          <a:effectLst/>
                          <a:latin typeface="Times New Roman"/>
                          <a:ea typeface="宋体"/>
                        </a:rPr>
                        <a:t>(val)</a:t>
                      </a:r>
                      <a:endParaRPr lang="zh-CN" sz="1500" kern="10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0"/>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1"/>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2"/>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3"/>
                  </a:ext>
                </a:extLst>
              </a:tr>
            </a:tbl>
          </a:graphicData>
        </a:graphic>
      </p:graphicFrame>
      <p:graphicFrame>
        <p:nvGraphicFramePr>
          <p:cNvPr id="18" name="表格 17"/>
          <p:cNvGraphicFramePr>
            <a:graphicFrameLocks noGrp="1"/>
          </p:cNvGraphicFramePr>
          <p:nvPr>
            <p:extLst>
              <p:ext uri="{D42A27DB-BD31-4B8C-83A1-F6EECF244321}">
                <p14:modId xmlns:p14="http://schemas.microsoft.com/office/powerpoint/2010/main" val="2199126221"/>
              </p:ext>
            </p:extLst>
          </p:nvPr>
        </p:nvGraphicFramePr>
        <p:xfrm>
          <a:off x="5274765" y="4153496"/>
          <a:ext cx="3729037" cy="274241"/>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274241">
                <a:tc>
                  <a:txBody>
                    <a:bodyPr/>
                    <a:lstStyle/>
                    <a:p>
                      <a:pPr algn="ctr">
                        <a:spcAft>
                          <a:spcPts val="0"/>
                        </a:spcAft>
                      </a:pPr>
                      <a:r>
                        <a:rPr lang="fr-FR" sz="1500" kern="100" dirty="0">
                          <a:effectLst/>
                          <a:latin typeface="Times New Roman"/>
                          <a:ea typeface="宋体"/>
                        </a:rPr>
                        <a:t>1</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a:effectLst/>
                          <a:latin typeface="Times New Roman"/>
                          <a:ea typeface="宋体"/>
                        </a:rPr>
                        <a:t>i</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2624226388"/>
              </p:ext>
            </p:extLst>
          </p:nvPr>
        </p:nvGraphicFramePr>
        <p:xfrm>
          <a:off x="5274765" y="4441528"/>
          <a:ext cx="3729037" cy="274241"/>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274241">
                <a:tc>
                  <a:txBody>
                    <a:bodyPr/>
                    <a:lstStyle/>
                    <a:p>
                      <a:pPr algn="ctr">
                        <a:spcAft>
                          <a:spcPts val="0"/>
                        </a:spcAft>
                      </a:pPr>
                      <a:r>
                        <a:rPr lang="fr-FR" sz="1500" kern="100" dirty="0">
                          <a:effectLst/>
                          <a:latin typeface="Times New Roman"/>
                          <a:ea typeface="宋体"/>
                        </a:rPr>
                        <a:t>2</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a:effectLst/>
                          <a:latin typeface="Times New Roman"/>
                          <a:ea typeface="宋体"/>
                        </a:rPr>
                        <a:t>j</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9" name="表格 28"/>
          <p:cNvGraphicFramePr>
            <a:graphicFrameLocks noGrp="1"/>
          </p:cNvGraphicFramePr>
          <p:nvPr>
            <p:extLst>
              <p:ext uri="{D42A27DB-BD31-4B8C-83A1-F6EECF244321}">
                <p14:modId xmlns:p14="http://schemas.microsoft.com/office/powerpoint/2010/main" val="494822608"/>
              </p:ext>
            </p:extLst>
          </p:nvPr>
        </p:nvGraphicFramePr>
        <p:xfrm>
          <a:off x="5274765" y="4709022"/>
          <a:ext cx="3729037" cy="274241"/>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274241">
                <a:tc>
                  <a:txBody>
                    <a:bodyPr/>
                    <a:lstStyle/>
                    <a:p>
                      <a:pPr algn="ctr">
                        <a:spcAft>
                          <a:spcPts val="0"/>
                        </a:spcAft>
                      </a:pPr>
                      <a:r>
                        <a:rPr lang="en-US" altLang="zh-CN" sz="1500" kern="100" dirty="0">
                          <a:effectLst/>
                          <a:latin typeface="Times New Roman"/>
                          <a:ea typeface="宋体"/>
                        </a:rPr>
                        <a:t>3</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a:effectLst/>
                          <a:latin typeface="Times New Roman"/>
                          <a:ea typeface="宋体"/>
                        </a:rPr>
                        <a:t>k</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err="1">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a:effectLst/>
                          <a:latin typeface="Times New Roman"/>
                          <a:ea typeface="宋体"/>
                        </a:rPr>
                        <a:t>3</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435480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9"/>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right)">
                                      <p:cBhvr>
                                        <p:cTn id="35" dur="500"/>
                                        <p:tgtEl>
                                          <p:spTgt spid="7"/>
                                        </p:tgtEl>
                                      </p:cBhvr>
                                    </p:animEffect>
                                  </p:childTnLst>
                                </p:cTn>
                              </p:par>
                              <p:par>
                                <p:cTn id="36" presetID="22" presetClass="entr" presetSubtype="8" fill="hold"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left)">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11"/>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wipe(up)">
                                      <p:cBhvr>
                                        <p:cTn id="49" dur="500"/>
                                        <p:tgtEl>
                                          <p:spTgt spid="26"/>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nodeType="clickEffect">
                                  <p:stCondLst>
                                    <p:cond delay="0"/>
                                  </p:stCondLst>
                                  <p:childTnLst>
                                    <p:set>
                                      <p:cBhvr>
                                        <p:cTn id="53" dur="1" fill="hold">
                                          <p:stCondLst>
                                            <p:cond delay="0"/>
                                          </p:stCondLst>
                                        </p:cTn>
                                        <p:tgtEl>
                                          <p:spTgt spid="21"/>
                                        </p:tgtEl>
                                        <p:attrNameLst>
                                          <p:attrName>style.visibility</p:attrName>
                                        </p:attrNameLst>
                                      </p:cBhvr>
                                      <p:to>
                                        <p:strVal val="hidden"/>
                                      </p:to>
                                    </p:set>
                                  </p:childTnLst>
                                </p:cTn>
                              </p:par>
                              <p:par>
                                <p:cTn id="54" presetID="1" presetClass="entr" presetSubtype="0"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1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2" fill="hold" nodeType="click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wipe(right)">
                                      <p:cBhvr>
                                        <p:cTn id="64" dur="500"/>
                                        <p:tgtEl>
                                          <p:spTgt spid="13"/>
                                        </p:tgtEl>
                                      </p:cBhvr>
                                    </p:animEffect>
                                  </p:childTnLst>
                                </p:cTn>
                              </p:par>
                              <p:par>
                                <p:cTn id="65" presetID="22" presetClass="entr" presetSubtype="8" fill="hold"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wipe(left)">
                                      <p:cBhvr>
                                        <p:cTn id="67" dur="50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nodeType="click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wipe(up)">
                                      <p:cBhvr>
                                        <p:cTn id="72" dur="500"/>
                                        <p:tgtEl>
                                          <p:spTgt spid="27"/>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nodeType="click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wipe(up)">
                                      <p:cBhvr>
                                        <p:cTn id="81" dur="500"/>
                                        <p:tgtEl>
                                          <p:spTgt spid="9"/>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xit" presetSubtype="0" fill="hold" nodeType="clickEffect">
                                  <p:stCondLst>
                                    <p:cond delay="0"/>
                                  </p:stCondLst>
                                  <p:childTnLst>
                                    <p:set>
                                      <p:cBhvr>
                                        <p:cTn id="85" dur="1" fill="hold">
                                          <p:stCondLst>
                                            <p:cond delay="0"/>
                                          </p:stCondLst>
                                        </p:cTn>
                                        <p:tgtEl>
                                          <p:spTgt spid="22"/>
                                        </p:tgtEl>
                                        <p:attrNameLst>
                                          <p:attrName>style.visibility</p:attrName>
                                        </p:attrNameLst>
                                      </p:cBhvr>
                                      <p:to>
                                        <p:strVal val="hidden"/>
                                      </p:to>
                                    </p:set>
                                  </p:childTnLst>
                                </p:cTn>
                              </p:par>
                              <p:par>
                                <p:cTn id="86" presetID="1" presetClass="entr" presetSubtype="0" fill="hold" nodeType="withEffect">
                                  <p:stCondLst>
                                    <p:cond delay="0"/>
                                  </p:stCondLst>
                                  <p:childTnLst>
                                    <p:set>
                                      <p:cBhvr>
                                        <p:cTn id="87" dur="1" fill="hold">
                                          <p:stCondLst>
                                            <p:cond delay="0"/>
                                          </p:stCondLst>
                                        </p:cTn>
                                        <p:tgtEl>
                                          <p:spTgt spid="20"/>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nodeType="clickEffect">
                                  <p:stCondLst>
                                    <p:cond delay="0"/>
                                  </p:stCondLst>
                                  <p:childTnLst>
                                    <p:set>
                                      <p:cBhvr>
                                        <p:cTn id="91" dur="1" fill="hold">
                                          <p:stCondLst>
                                            <p:cond delay="0"/>
                                          </p:stCondLst>
                                        </p:cTn>
                                        <p:tgtEl>
                                          <p:spTgt spid="10"/>
                                        </p:tgtEl>
                                        <p:attrNameLst>
                                          <p:attrName>style.visibility</p:attrName>
                                        </p:attrNameLst>
                                      </p:cBhvr>
                                      <p:to>
                                        <p:strVal val="visible"/>
                                      </p:to>
                                    </p:set>
                                    <p:animEffect transition="in" filter="wipe(up)">
                                      <p:cBhvr>
                                        <p:cTn id="92" dur="500"/>
                                        <p:tgtEl>
                                          <p:spTgt spid="10"/>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nodeType="clickEffect">
                                  <p:stCondLst>
                                    <p:cond delay="0"/>
                                  </p:stCondLst>
                                  <p:childTnLst>
                                    <p:set>
                                      <p:cBhvr>
                                        <p:cTn id="96" dur="1" fill="hold">
                                          <p:stCondLst>
                                            <p:cond delay="0"/>
                                          </p:stCondLst>
                                        </p:cTn>
                                        <p:tgtEl>
                                          <p:spTgt spid="20"/>
                                        </p:tgtEl>
                                        <p:attrNameLst>
                                          <p:attrName>style.visibility</p:attrName>
                                        </p:attrNameLst>
                                      </p:cBhvr>
                                      <p:to>
                                        <p:strVal val="hidden"/>
                                      </p:to>
                                    </p:set>
                                  </p:childTnLst>
                                </p:cTn>
                              </p:par>
                              <p:par>
                                <p:cTn id="97" presetID="1" presetClass="entr" presetSubtype="0" fill="hold" nodeType="withEffect">
                                  <p:stCondLst>
                                    <p:cond delay="0"/>
                                  </p:stCondLst>
                                  <p:childTnLst>
                                    <p:set>
                                      <p:cBhvr>
                                        <p:cTn id="98" dur="1" fill="hold">
                                          <p:stCondLst>
                                            <p:cond delay="0"/>
                                          </p:stCondLst>
                                        </p:cTn>
                                        <p:tgtEl>
                                          <p:spTgt spid="2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a:xfrm>
            <a:off x="23664" y="-20538"/>
            <a:ext cx="8229600" cy="478532"/>
          </a:xfrm>
        </p:spPr>
        <p:txBody>
          <a:bodyPr>
            <a:noAutofit/>
          </a:bodyPr>
          <a:lstStyle/>
          <a:p>
            <a:r>
              <a:rPr lang="zh-CN" altLang="en-US" b="0" dirty="0">
                <a:effectLst/>
              </a:rPr>
              <a:t>变量声明语句的语义规则</a:t>
            </a:r>
          </a:p>
        </p:txBody>
      </p:sp>
      <p:graphicFrame>
        <p:nvGraphicFramePr>
          <p:cNvPr id="5" name="内容占位符 4"/>
          <p:cNvGraphicFramePr>
            <a:graphicFrameLocks noGrp="1"/>
          </p:cNvGraphicFramePr>
          <p:nvPr>
            <p:ph sz="half" idx="2"/>
            <p:extLst>
              <p:ext uri="{D42A27DB-BD31-4B8C-83A1-F6EECF244321}">
                <p14:modId xmlns:p14="http://schemas.microsoft.com/office/powerpoint/2010/main" val="2224551796"/>
              </p:ext>
            </p:extLst>
          </p:nvPr>
        </p:nvGraphicFramePr>
        <p:xfrm>
          <a:off x="179512" y="627534"/>
          <a:ext cx="8856984" cy="4389120"/>
        </p:xfrm>
        <a:graphic>
          <a:graphicData uri="http://schemas.openxmlformats.org/drawingml/2006/table">
            <a:tbl>
              <a:tblPr firstRow="1" firstCol="1" bandRow="1">
                <a:tableStyleId>{5C22544A-7EE6-4342-B048-85BDC9FD1C3A}</a:tableStyleId>
              </a:tblPr>
              <a:tblGrid>
                <a:gridCol w="812154">
                  <a:extLst>
                    <a:ext uri="{9D8B030D-6E8A-4147-A177-3AD203B41FA5}">
                      <a16:colId xmlns:a16="http://schemas.microsoft.com/office/drawing/2014/main" val="20000"/>
                    </a:ext>
                  </a:extLst>
                </a:gridCol>
                <a:gridCol w="2932262">
                  <a:extLst>
                    <a:ext uri="{9D8B030D-6E8A-4147-A177-3AD203B41FA5}">
                      <a16:colId xmlns:a16="http://schemas.microsoft.com/office/drawing/2014/main" val="20001"/>
                    </a:ext>
                  </a:extLst>
                </a:gridCol>
                <a:gridCol w="5112568">
                  <a:extLst>
                    <a:ext uri="{9D8B030D-6E8A-4147-A177-3AD203B41FA5}">
                      <a16:colId xmlns:a16="http://schemas.microsoft.com/office/drawing/2014/main" val="20002"/>
                    </a:ext>
                  </a:extLst>
                </a:gridCol>
              </a:tblGrid>
              <a:tr h="228600">
                <a:tc>
                  <a:txBody>
                    <a:bodyPr/>
                    <a:lstStyle/>
                    <a:p>
                      <a:pPr algn="just">
                        <a:spcAft>
                          <a:spcPts val="0"/>
                        </a:spcAft>
                      </a:pPr>
                      <a:r>
                        <a:rPr lang="zh-CN" sz="1800" kern="100" dirty="0">
                          <a:solidFill>
                            <a:schemeClr val="tx1"/>
                          </a:solidFill>
                          <a:effectLst/>
                          <a:latin typeface="宋体" panose="02010600030101010101" pitchFamily="2" charset="-122"/>
                          <a:ea typeface="宋体" panose="02010600030101010101" pitchFamily="2" charset="-122"/>
                        </a:rPr>
                        <a:t>编号</a:t>
                      </a:r>
                    </a:p>
                  </a:txBody>
                  <a:tcPr marL="51135" marR="511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1800" kern="100">
                          <a:solidFill>
                            <a:schemeClr val="tx1"/>
                          </a:solidFill>
                          <a:effectLst/>
                          <a:latin typeface="宋体" panose="02010600030101010101" pitchFamily="2" charset="-122"/>
                          <a:ea typeface="宋体" panose="02010600030101010101" pitchFamily="2" charset="-122"/>
                        </a:rPr>
                        <a:t>产生式</a:t>
                      </a:r>
                    </a:p>
                  </a:txBody>
                  <a:tcPr marL="51135" marR="511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1800" kern="100">
                          <a:solidFill>
                            <a:schemeClr val="tx1"/>
                          </a:solidFill>
                          <a:effectLst/>
                          <a:latin typeface="宋体" panose="02010600030101010101" pitchFamily="2" charset="-122"/>
                          <a:ea typeface="宋体" panose="02010600030101010101" pitchFamily="2" charset="-122"/>
                        </a:rPr>
                        <a:t>语义规则</a:t>
                      </a:r>
                    </a:p>
                  </a:txBody>
                  <a:tcPr marL="51135" marR="511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7200">
                <a:tc>
                  <a:txBody>
                    <a:bodyPr/>
                    <a:lstStyle/>
                    <a:p>
                      <a:pPr algn="just">
                        <a:spcAft>
                          <a:spcPts val="0"/>
                        </a:spcAft>
                      </a:pPr>
                      <a:r>
                        <a:rPr lang="zh-CN" sz="1800" kern="100" dirty="0">
                          <a:solidFill>
                            <a:schemeClr val="tx1"/>
                          </a:solidFill>
                          <a:effectLst/>
                          <a:latin typeface="宋体" panose="02010600030101010101" pitchFamily="2" charset="-122"/>
                          <a:ea typeface="宋体" panose="02010600030101010101" pitchFamily="2" charset="-122"/>
                        </a:rPr>
                        <a:t>（</a:t>
                      </a:r>
                      <a:r>
                        <a:rPr lang="en-US" sz="1800" kern="100" dirty="0">
                          <a:solidFill>
                            <a:schemeClr val="tx1"/>
                          </a:solidFill>
                          <a:effectLst/>
                          <a:latin typeface="宋体" panose="02010600030101010101" pitchFamily="2" charset="-122"/>
                          <a:ea typeface="宋体" panose="02010600030101010101" pitchFamily="2" charset="-122"/>
                        </a:rPr>
                        <a:t>1</a:t>
                      </a:r>
                      <a:r>
                        <a:rPr lang="zh-CN" sz="1800" kern="100" dirty="0">
                          <a:solidFill>
                            <a:schemeClr val="tx1"/>
                          </a:solidFill>
                          <a:effectLst/>
                          <a:latin typeface="宋体" panose="02010600030101010101" pitchFamily="2" charset="-122"/>
                          <a:ea typeface="宋体" panose="02010600030101010101" pitchFamily="2" charset="-122"/>
                        </a:rPr>
                        <a:t>）</a:t>
                      </a: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&lt;</a:t>
                      </a:r>
                      <a:r>
                        <a:rPr lang="en-US" sz="1800" kern="100" dirty="0" err="1">
                          <a:solidFill>
                            <a:schemeClr val="tx1"/>
                          </a:solidFill>
                          <a:effectLst/>
                          <a:latin typeface="宋体" panose="02010600030101010101" pitchFamily="2" charset="-122"/>
                          <a:ea typeface="宋体" panose="02010600030101010101" pitchFamily="2" charset="-122"/>
                        </a:rPr>
                        <a:t>VarDCL</a:t>
                      </a:r>
                      <a:r>
                        <a:rPr lang="en-US" sz="1800" kern="100" dirty="0">
                          <a:solidFill>
                            <a:schemeClr val="tx1"/>
                          </a:solidFill>
                          <a:effectLst/>
                          <a:latin typeface="宋体" panose="02010600030101010101" pitchFamily="2" charset="-122"/>
                          <a:ea typeface="宋体" panose="02010600030101010101" pitchFamily="2" charset="-122"/>
                        </a:rPr>
                        <a:t>&gt;→&lt;</a:t>
                      </a:r>
                      <a:r>
                        <a:rPr lang="en-US" sz="1800" kern="100" dirty="0" err="1">
                          <a:solidFill>
                            <a:schemeClr val="tx1"/>
                          </a:solidFill>
                          <a:effectLst/>
                          <a:latin typeface="宋体" panose="02010600030101010101" pitchFamily="2" charset="-122"/>
                          <a:ea typeface="宋体" panose="02010600030101010101" pitchFamily="2" charset="-122"/>
                        </a:rPr>
                        <a:t>VarType</a:t>
                      </a:r>
                      <a:r>
                        <a:rPr lang="en-US" sz="1800" kern="100" dirty="0">
                          <a:solidFill>
                            <a:schemeClr val="tx1"/>
                          </a:solidFill>
                          <a:effectLst/>
                          <a:latin typeface="宋体" panose="02010600030101010101" pitchFamily="2" charset="-122"/>
                          <a:ea typeface="宋体" panose="02010600030101010101" pitchFamily="2" charset="-122"/>
                        </a:rPr>
                        <a:t>&gt;&lt;IDS&gt;</a:t>
                      </a:r>
                      <a:endParaRPr lang="zh-CN" sz="180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{&lt;IDS&gt;.in = &lt;</a:t>
                      </a:r>
                      <a:r>
                        <a:rPr lang="en-US" sz="1800" kern="100" dirty="0" err="1">
                          <a:solidFill>
                            <a:schemeClr val="tx1"/>
                          </a:solidFill>
                          <a:effectLst/>
                          <a:latin typeface="宋体" panose="02010600030101010101" pitchFamily="2" charset="-122"/>
                          <a:ea typeface="宋体" panose="02010600030101010101" pitchFamily="2" charset="-122"/>
                        </a:rPr>
                        <a:t>VarType</a:t>
                      </a:r>
                      <a:r>
                        <a:rPr lang="en-US" sz="1800" kern="100" dirty="0">
                          <a:solidFill>
                            <a:schemeClr val="tx1"/>
                          </a:solidFill>
                          <a:effectLst/>
                          <a:latin typeface="宋体" panose="02010600030101010101" pitchFamily="2" charset="-122"/>
                          <a:ea typeface="宋体" panose="02010600030101010101" pitchFamily="2" charset="-122"/>
                        </a:rPr>
                        <a:t>&gt;.type          }</a:t>
                      </a:r>
                      <a:endParaRPr lang="zh-CN" sz="180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8600">
                <a:tc>
                  <a:txBody>
                    <a:bodyPr/>
                    <a:lstStyle/>
                    <a:p>
                      <a:pPr algn="just">
                        <a:spcAft>
                          <a:spcPts val="0"/>
                        </a:spcAft>
                      </a:pPr>
                      <a:r>
                        <a:rPr lang="en-US" sz="1800" kern="100">
                          <a:solidFill>
                            <a:schemeClr val="tx1"/>
                          </a:solidFill>
                          <a:effectLst/>
                          <a:latin typeface="宋体" panose="02010600030101010101" pitchFamily="2" charset="-122"/>
                          <a:ea typeface="宋体" panose="02010600030101010101" pitchFamily="2" charset="-122"/>
                        </a:rPr>
                        <a:t> </a:t>
                      </a:r>
                      <a:endParaRPr lang="zh-CN" sz="1800" kern="10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&lt;</a:t>
                      </a:r>
                      <a:r>
                        <a:rPr lang="en-US" sz="1800" kern="100" dirty="0" err="1">
                          <a:solidFill>
                            <a:schemeClr val="tx1"/>
                          </a:solidFill>
                          <a:effectLst/>
                          <a:latin typeface="宋体" panose="02010600030101010101" pitchFamily="2" charset="-122"/>
                          <a:ea typeface="宋体" panose="02010600030101010101" pitchFamily="2" charset="-122"/>
                        </a:rPr>
                        <a:t>VarDCL</a:t>
                      </a:r>
                      <a:r>
                        <a:rPr lang="en-US" sz="1800" kern="100" dirty="0">
                          <a:solidFill>
                            <a:schemeClr val="tx1"/>
                          </a:solidFill>
                          <a:effectLst/>
                          <a:latin typeface="宋体" panose="02010600030101010101" pitchFamily="2" charset="-122"/>
                          <a:ea typeface="宋体" panose="02010600030101010101" pitchFamily="2" charset="-122"/>
                        </a:rPr>
                        <a:t>&gt;→</a:t>
                      </a:r>
                      <a:r>
                        <a:rPr lang="en-US" sz="1800" kern="100" dirty="0">
                          <a:solidFill>
                            <a:schemeClr val="tx1"/>
                          </a:solidFill>
                          <a:effectLst/>
                          <a:latin typeface="宋体" panose="02010600030101010101" pitchFamily="2" charset="-122"/>
                          <a:ea typeface="宋体" panose="02010600030101010101" pitchFamily="2" charset="-122"/>
                          <a:sym typeface="Symbol"/>
                        </a:rPr>
                        <a:t></a:t>
                      </a:r>
                      <a:endParaRPr lang="zh-CN" sz="180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      }</a:t>
                      </a:r>
                      <a:endParaRPr lang="zh-CN" sz="180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57200">
                <a:tc>
                  <a:txBody>
                    <a:bodyPr/>
                    <a:lstStyle/>
                    <a:p>
                      <a:pPr algn="just">
                        <a:spcAft>
                          <a:spcPts val="0"/>
                        </a:spcAft>
                      </a:pPr>
                      <a:r>
                        <a:rPr lang="zh-CN" sz="1800" kern="100">
                          <a:solidFill>
                            <a:schemeClr val="tx1"/>
                          </a:solidFill>
                          <a:effectLst/>
                          <a:latin typeface="宋体" panose="02010600030101010101" pitchFamily="2" charset="-122"/>
                          <a:ea typeface="宋体" panose="02010600030101010101" pitchFamily="2" charset="-122"/>
                        </a:rPr>
                        <a:t>（</a:t>
                      </a:r>
                      <a:r>
                        <a:rPr lang="en-US" sz="1800" kern="100">
                          <a:solidFill>
                            <a:schemeClr val="tx1"/>
                          </a:solidFill>
                          <a:effectLst/>
                          <a:latin typeface="宋体" panose="02010600030101010101" pitchFamily="2" charset="-122"/>
                          <a:ea typeface="宋体" panose="02010600030101010101" pitchFamily="2" charset="-122"/>
                        </a:rPr>
                        <a:t>2</a:t>
                      </a:r>
                      <a:r>
                        <a:rPr lang="zh-CN" sz="1800" kern="100">
                          <a:solidFill>
                            <a:schemeClr val="tx1"/>
                          </a:solidFill>
                          <a:effectLst/>
                          <a:latin typeface="宋体" panose="02010600030101010101" pitchFamily="2" charset="-122"/>
                          <a:ea typeface="宋体" panose="02010600030101010101" pitchFamily="2" charset="-122"/>
                        </a:rPr>
                        <a:t>）</a:t>
                      </a: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&lt;</a:t>
                      </a:r>
                      <a:r>
                        <a:rPr lang="en-US" sz="1800" kern="100" dirty="0" err="1">
                          <a:solidFill>
                            <a:schemeClr val="tx1"/>
                          </a:solidFill>
                          <a:effectLst/>
                          <a:latin typeface="宋体" panose="02010600030101010101" pitchFamily="2" charset="-122"/>
                          <a:ea typeface="宋体" panose="02010600030101010101" pitchFamily="2" charset="-122"/>
                        </a:rPr>
                        <a:t>VarType</a:t>
                      </a:r>
                      <a:r>
                        <a:rPr lang="en-US" sz="1800" kern="100" dirty="0">
                          <a:solidFill>
                            <a:schemeClr val="tx1"/>
                          </a:solidFill>
                          <a:effectLst/>
                          <a:latin typeface="宋体" panose="02010600030101010101" pitchFamily="2" charset="-122"/>
                          <a:ea typeface="宋体" panose="02010600030101010101" pitchFamily="2" charset="-122"/>
                        </a:rPr>
                        <a:t>&gt;→</a:t>
                      </a:r>
                      <a:r>
                        <a:rPr lang="en-US" sz="1800" kern="100" dirty="0" err="1">
                          <a:solidFill>
                            <a:schemeClr val="tx1"/>
                          </a:solidFill>
                          <a:effectLst/>
                          <a:latin typeface="宋体" panose="02010600030101010101" pitchFamily="2" charset="-122"/>
                          <a:ea typeface="宋体" panose="02010600030101010101" pitchFamily="2" charset="-122"/>
                        </a:rPr>
                        <a:t>int</a:t>
                      </a:r>
                      <a:endParaRPr lang="zh-CN" sz="180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 &lt;</a:t>
                      </a:r>
                      <a:r>
                        <a:rPr lang="en-US" sz="1800" kern="100" dirty="0" err="1">
                          <a:solidFill>
                            <a:schemeClr val="tx1"/>
                          </a:solidFill>
                          <a:effectLst/>
                          <a:latin typeface="宋体" panose="02010600030101010101" pitchFamily="2" charset="-122"/>
                          <a:ea typeface="宋体" panose="02010600030101010101" pitchFamily="2" charset="-122"/>
                        </a:rPr>
                        <a:t>VarType</a:t>
                      </a:r>
                      <a:r>
                        <a:rPr lang="en-US" sz="1800" kern="100" dirty="0">
                          <a:solidFill>
                            <a:schemeClr val="tx1"/>
                          </a:solidFill>
                          <a:effectLst/>
                          <a:latin typeface="宋体" panose="02010600030101010101" pitchFamily="2" charset="-122"/>
                          <a:ea typeface="宋体" panose="02010600030101010101" pitchFamily="2" charset="-122"/>
                        </a:rPr>
                        <a:t>&gt;.type = </a:t>
                      </a:r>
                      <a:r>
                        <a:rPr lang="en-US" sz="1800" kern="100" dirty="0" err="1">
                          <a:solidFill>
                            <a:schemeClr val="tx1"/>
                          </a:solidFill>
                          <a:effectLst/>
                          <a:latin typeface="宋体" panose="02010600030101010101" pitchFamily="2" charset="-122"/>
                          <a:ea typeface="宋体" panose="02010600030101010101" pitchFamily="2" charset="-122"/>
                        </a:rPr>
                        <a:t>int</a:t>
                      </a:r>
                      <a:r>
                        <a:rPr lang="en-US" sz="1800" kern="100" dirty="0">
                          <a:solidFill>
                            <a:schemeClr val="tx1"/>
                          </a:solidFill>
                          <a:effectLst/>
                          <a:latin typeface="宋体" panose="02010600030101010101" pitchFamily="2" charset="-122"/>
                          <a:ea typeface="宋体" panose="02010600030101010101" pitchFamily="2" charset="-122"/>
                        </a:rPr>
                        <a:t>                  }</a:t>
                      </a:r>
                      <a:endParaRPr lang="zh-CN" sz="180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57200">
                <a:tc>
                  <a:txBody>
                    <a:bodyPr/>
                    <a:lstStyle/>
                    <a:p>
                      <a:pPr algn="just">
                        <a:spcAft>
                          <a:spcPts val="0"/>
                        </a:spcAft>
                      </a:pPr>
                      <a:r>
                        <a:rPr lang="zh-CN" sz="1800" kern="100">
                          <a:solidFill>
                            <a:schemeClr val="tx1"/>
                          </a:solidFill>
                          <a:effectLst/>
                          <a:latin typeface="宋体" panose="02010600030101010101" pitchFamily="2" charset="-122"/>
                          <a:ea typeface="宋体" panose="02010600030101010101" pitchFamily="2" charset="-122"/>
                        </a:rPr>
                        <a:t>（</a:t>
                      </a:r>
                      <a:r>
                        <a:rPr lang="en-US" sz="1800" kern="100">
                          <a:solidFill>
                            <a:schemeClr val="tx1"/>
                          </a:solidFill>
                          <a:effectLst/>
                          <a:latin typeface="宋体" panose="02010600030101010101" pitchFamily="2" charset="-122"/>
                          <a:ea typeface="宋体" panose="02010600030101010101" pitchFamily="2" charset="-122"/>
                        </a:rPr>
                        <a:t>3</a:t>
                      </a:r>
                      <a:r>
                        <a:rPr lang="zh-CN" sz="1800" kern="100">
                          <a:solidFill>
                            <a:schemeClr val="tx1"/>
                          </a:solidFill>
                          <a:effectLst/>
                          <a:latin typeface="宋体" panose="02010600030101010101" pitchFamily="2" charset="-122"/>
                          <a:ea typeface="宋体" panose="02010600030101010101" pitchFamily="2" charset="-122"/>
                        </a:rPr>
                        <a:t>）</a:t>
                      </a: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&lt;IDS&gt;→&lt;SIDS&gt;;</a:t>
                      </a:r>
                      <a:endParaRPr lang="zh-CN" sz="180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 &lt;SIDS&gt;.in = &lt;IDS&gt;.in                   }</a:t>
                      </a:r>
                      <a:endParaRPr lang="zh-CN" sz="180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508600">
                <a:tc>
                  <a:txBody>
                    <a:bodyPr/>
                    <a:lstStyle/>
                    <a:p>
                      <a:pPr algn="just">
                        <a:spcAft>
                          <a:spcPts val="0"/>
                        </a:spcAft>
                      </a:pPr>
                      <a:r>
                        <a:rPr lang="zh-CN" sz="1800" kern="100">
                          <a:solidFill>
                            <a:schemeClr val="tx1"/>
                          </a:solidFill>
                          <a:effectLst/>
                          <a:latin typeface="宋体" panose="02010600030101010101" pitchFamily="2" charset="-122"/>
                          <a:ea typeface="宋体" panose="02010600030101010101" pitchFamily="2" charset="-122"/>
                        </a:rPr>
                        <a:t>（</a:t>
                      </a:r>
                      <a:r>
                        <a:rPr lang="en-US" sz="1800" kern="100">
                          <a:solidFill>
                            <a:schemeClr val="tx1"/>
                          </a:solidFill>
                          <a:effectLst/>
                          <a:latin typeface="宋体" panose="02010600030101010101" pitchFamily="2" charset="-122"/>
                          <a:ea typeface="宋体" panose="02010600030101010101" pitchFamily="2" charset="-122"/>
                        </a:rPr>
                        <a:t>4</a:t>
                      </a:r>
                      <a:r>
                        <a:rPr lang="zh-CN" sz="1800" kern="100">
                          <a:solidFill>
                            <a:schemeClr val="tx1"/>
                          </a:solidFill>
                          <a:effectLst/>
                          <a:latin typeface="宋体" panose="02010600030101010101" pitchFamily="2" charset="-122"/>
                          <a:ea typeface="宋体" panose="02010600030101010101" pitchFamily="2" charset="-122"/>
                        </a:rPr>
                        <a:t>）</a:t>
                      </a: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&lt;IDS&gt;→&lt;SIDS&gt;, &lt;IDS&gt;</a:t>
                      </a:r>
                      <a:r>
                        <a:rPr lang="en-US" sz="1800" kern="100" baseline="30000" dirty="0">
                          <a:solidFill>
                            <a:schemeClr val="tx1"/>
                          </a:solidFill>
                          <a:effectLst/>
                          <a:latin typeface="宋体" panose="02010600030101010101" pitchFamily="2" charset="-122"/>
                          <a:ea typeface="宋体" panose="02010600030101010101" pitchFamily="2" charset="-122"/>
                        </a:rPr>
                        <a:t>(1)</a:t>
                      </a:r>
                      <a:endParaRPr lang="zh-CN" sz="180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 &lt;SIDS&gt;.in = &lt;IDS&gt;.in;</a:t>
                      </a:r>
                      <a:endParaRPr lang="zh-CN" sz="1800" kern="100" dirty="0">
                        <a:solidFill>
                          <a:schemeClr val="tx1"/>
                        </a:solidFill>
                        <a:effectLst/>
                        <a:latin typeface="宋体" panose="02010600030101010101" pitchFamily="2" charset="-122"/>
                        <a:ea typeface="宋体" panose="02010600030101010101" pitchFamily="2" charset="-122"/>
                      </a:endParaRPr>
                    </a:p>
                    <a:p>
                      <a:pPr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  &lt;IDS&gt;</a:t>
                      </a:r>
                      <a:r>
                        <a:rPr lang="en-US" sz="1800" kern="100" baseline="30000" dirty="0">
                          <a:solidFill>
                            <a:schemeClr val="tx1"/>
                          </a:solidFill>
                          <a:effectLst/>
                          <a:latin typeface="宋体" panose="02010600030101010101" pitchFamily="2" charset="-122"/>
                          <a:ea typeface="宋体" panose="02010600030101010101" pitchFamily="2" charset="-122"/>
                        </a:rPr>
                        <a:t>(1)</a:t>
                      </a:r>
                      <a:r>
                        <a:rPr lang="en-US" sz="1800" kern="100" dirty="0">
                          <a:solidFill>
                            <a:schemeClr val="tx1"/>
                          </a:solidFill>
                          <a:effectLst/>
                          <a:latin typeface="宋体" panose="02010600030101010101" pitchFamily="2" charset="-122"/>
                          <a:ea typeface="宋体" panose="02010600030101010101" pitchFamily="2" charset="-122"/>
                        </a:rPr>
                        <a:t>.in = &lt;IDS&gt;.in                  }</a:t>
                      </a:r>
                      <a:endParaRPr lang="zh-CN" sz="180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608032">
                <a:tc>
                  <a:txBody>
                    <a:bodyPr/>
                    <a:lstStyle/>
                    <a:p>
                      <a:pPr algn="just">
                        <a:spcAft>
                          <a:spcPts val="0"/>
                        </a:spcAft>
                      </a:pPr>
                      <a:r>
                        <a:rPr lang="zh-CN" sz="1800" kern="100">
                          <a:solidFill>
                            <a:schemeClr val="tx1"/>
                          </a:solidFill>
                          <a:effectLst/>
                          <a:latin typeface="宋体" panose="02010600030101010101" pitchFamily="2" charset="-122"/>
                          <a:ea typeface="宋体" panose="02010600030101010101" pitchFamily="2" charset="-122"/>
                        </a:rPr>
                        <a:t>（</a:t>
                      </a:r>
                      <a:r>
                        <a:rPr lang="en-US" sz="1800" kern="100">
                          <a:solidFill>
                            <a:schemeClr val="tx1"/>
                          </a:solidFill>
                          <a:effectLst/>
                          <a:latin typeface="宋体" panose="02010600030101010101" pitchFamily="2" charset="-122"/>
                          <a:ea typeface="宋体" panose="02010600030101010101" pitchFamily="2" charset="-122"/>
                        </a:rPr>
                        <a:t>5</a:t>
                      </a:r>
                      <a:r>
                        <a:rPr lang="zh-CN" sz="1800" kern="100">
                          <a:solidFill>
                            <a:schemeClr val="tx1"/>
                          </a:solidFill>
                          <a:effectLst/>
                          <a:latin typeface="宋体" panose="02010600030101010101" pitchFamily="2" charset="-122"/>
                          <a:ea typeface="宋体" panose="02010600030101010101" pitchFamily="2" charset="-122"/>
                        </a:rPr>
                        <a:t>）</a:t>
                      </a: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&lt;SIDS&gt;→id</a:t>
                      </a:r>
                      <a:endParaRPr lang="zh-CN" sz="180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00" dirty="0">
                          <a:solidFill>
                            <a:schemeClr val="tx1"/>
                          </a:solidFill>
                          <a:effectLst/>
                          <a:latin typeface="宋体" panose="02010600030101010101" pitchFamily="2" charset="-122"/>
                          <a:ea typeface="宋体" panose="02010600030101010101" pitchFamily="2" charset="-122"/>
                        </a:rPr>
                        <a:t>{</a:t>
                      </a:r>
                      <a:r>
                        <a:rPr lang="en-US" sz="1800" kern="100" dirty="0" err="1">
                          <a:solidFill>
                            <a:schemeClr val="tx1"/>
                          </a:solidFill>
                          <a:effectLst/>
                          <a:latin typeface="宋体" panose="02010600030101010101" pitchFamily="2" charset="-122"/>
                          <a:ea typeface="宋体" panose="02010600030101010101" pitchFamily="2" charset="-122"/>
                        </a:rPr>
                        <a:t>InsertVarible</a:t>
                      </a:r>
                      <a:r>
                        <a:rPr lang="en-US" sz="1800" kern="100" dirty="0">
                          <a:solidFill>
                            <a:schemeClr val="tx1"/>
                          </a:solidFill>
                          <a:effectLst/>
                          <a:latin typeface="宋体" panose="02010600030101010101" pitchFamily="2" charset="-122"/>
                          <a:ea typeface="宋体" panose="02010600030101010101" pitchFamily="2" charset="-122"/>
                        </a:rPr>
                        <a:t>(</a:t>
                      </a:r>
                      <a:r>
                        <a:rPr kumimoji="0" lang="en-US" altLang="zh-CN" sz="1800" kern="1200" dirty="0">
                          <a:solidFill>
                            <a:schemeClr val="dk1"/>
                          </a:solidFill>
                          <a:effectLst/>
                          <a:latin typeface="宋体" panose="02010600030101010101" pitchFamily="2" charset="-122"/>
                          <a:ea typeface="宋体" panose="02010600030101010101" pitchFamily="2" charset="-122"/>
                          <a:cs typeface="+mn-cs"/>
                        </a:rPr>
                        <a:t>entry(id).na</a:t>
                      </a:r>
                      <a:r>
                        <a:rPr kumimoji="0" lang="en-US" altLang="zh-CN" sz="1800" kern="100" dirty="0">
                          <a:solidFill>
                            <a:schemeClr val="tx1"/>
                          </a:solidFill>
                          <a:effectLst/>
                          <a:latin typeface="宋体" panose="02010600030101010101" pitchFamily="2" charset="-122"/>
                          <a:ea typeface="宋体" panose="02010600030101010101" pitchFamily="2" charset="-122"/>
                          <a:cs typeface="+mn-cs"/>
                        </a:rPr>
                        <a:t>me</a:t>
                      </a:r>
                      <a:r>
                        <a:rPr lang="en-US" sz="1800" kern="100" dirty="0">
                          <a:solidFill>
                            <a:schemeClr val="tx1"/>
                          </a:solidFill>
                          <a:effectLst/>
                          <a:latin typeface="宋体" panose="02010600030101010101" pitchFamily="2" charset="-122"/>
                          <a:ea typeface="宋体" panose="02010600030101010101" pitchFamily="2" charset="-122"/>
                        </a:rPr>
                        <a:t>);//</a:t>
                      </a:r>
                      <a:r>
                        <a:rPr lang="zh-CN" altLang="en-US" sz="1800" kern="100" dirty="0">
                          <a:solidFill>
                            <a:schemeClr val="tx1"/>
                          </a:solidFill>
                          <a:effectLst/>
                          <a:latin typeface="宋体" panose="02010600030101010101" pitchFamily="2" charset="-122"/>
                          <a:ea typeface="宋体" panose="02010600030101010101" pitchFamily="2" charset="-122"/>
                        </a:rPr>
                        <a:t>变量名</a:t>
                      </a:r>
                      <a:r>
                        <a:rPr lang="zh-CN" sz="1800" kern="100" dirty="0">
                          <a:solidFill>
                            <a:schemeClr val="tx1"/>
                          </a:solidFill>
                          <a:effectLst/>
                          <a:latin typeface="宋体" panose="02010600030101010101" pitchFamily="2" charset="-122"/>
                          <a:ea typeface="宋体" panose="02010600030101010101" pitchFamily="2" charset="-122"/>
                        </a:rPr>
                        <a:t>插入符号表</a:t>
                      </a:r>
                    </a:p>
                    <a:p>
                      <a:pPr indent="171450"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 entry(id).type = &lt;SIDS&gt;.in            }</a:t>
                      </a:r>
                      <a:endParaRPr lang="zh-CN" sz="180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917768">
                <a:tc>
                  <a:txBody>
                    <a:bodyPr/>
                    <a:lstStyle/>
                    <a:p>
                      <a:pPr algn="just">
                        <a:spcAft>
                          <a:spcPts val="0"/>
                        </a:spcAft>
                      </a:pPr>
                      <a:r>
                        <a:rPr lang="zh-CN" sz="1800" kern="100" dirty="0">
                          <a:solidFill>
                            <a:schemeClr val="tx1"/>
                          </a:solidFill>
                          <a:effectLst/>
                          <a:latin typeface="宋体" panose="02010600030101010101" pitchFamily="2" charset="-122"/>
                          <a:ea typeface="宋体" panose="02010600030101010101" pitchFamily="2" charset="-122"/>
                        </a:rPr>
                        <a:t>（</a:t>
                      </a:r>
                      <a:r>
                        <a:rPr lang="en-US" sz="1800" kern="100" dirty="0">
                          <a:solidFill>
                            <a:schemeClr val="tx1"/>
                          </a:solidFill>
                          <a:effectLst/>
                          <a:latin typeface="宋体" panose="02010600030101010101" pitchFamily="2" charset="-122"/>
                          <a:ea typeface="宋体" panose="02010600030101010101" pitchFamily="2" charset="-122"/>
                        </a:rPr>
                        <a:t>6</a:t>
                      </a:r>
                      <a:r>
                        <a:rPr lang="zh-CN" sz="1800" kern="100" dirty="0">
                          <a:solidFill>
                            <a:schemeClr val="tx1"/>
                          </a:solidFill>
                          <a:effectLst/>
                          <a:latin typeface="宋体" panose="02010600030101010101" pitchFamily="2" charset="-122"/>
                          <a:ea typeface="宋体" panose="02010600030101010101" pitchFamily="2" charset="-122"/>
                        </a:rPr>
                        <a:t>）</a:t>
                      </a: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&lt;SIDS&gt;→id = &lt;expr&gt;</a:t>
                      </a:r>
                      <a:endParaRPr lang="zh-CN" sz="180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00" dirty="0">
                          <a:solidFill>
                            <a:schemeClr val="tx1"/>
                          </a:solidFill>
                          <a:effectLst/>
                          <a:latin typeface="宋体" panose="02010600030101010101" pitchFamily="2" charset="-122"/>
                          <a:ea typeface="宋体" panose="02010600030101010101" pitchFamily="2" charset="-122"/>
                        </a:rPr>
                        <a:t>{</a:t>
                      </a:r>
                      <a:r>
                        <a:rPr lang="en-US" altLang="zh-CN" sz="1800" kern="100" dirty="0" err="1">
                          <a:solidFill>
                            <a:schemeClr val="tx1"/>
                          </a:solidFill>
                          <a:effectLst/>
                          <a:latin typeface="宋体" panose="02010600030101010101" pitchFamily="2" charset="-122"/>
                          <a:ea typeface="宋体" panose="02010600030101010101" pitchFamily="2" charset="-122"/>
                        </a:rPr>
                        <a:t>InsertVarible</a:t>
                      </a:r>
                      <a:r>
                        <a:rPr lang="en-US" altLang="zh-CN" sz="1800" kern="100" dirty="0">
                          <a:solidFill>
                            <a:schemeClr val="tx1"/>
                          </a:solidFill>
                          <a:effectLst/>
                          <a:latin typeface="宋体" panose="02010600030101010101" pitchFamily="2" charset="-122"/>
                          <a:ea typeface="宋体" panose="02010600030101010101" pitchFamily="2" charset="-122"/>
                        </a:rPr>
                        <a:t>(</a:t>
                      </a:r>
                      <a:r>
                        <a:rPr kumimoji="0" lang="en-US" altLang="zh-CN" sz="1800" kern="1200" dirty="0">
                          <a:solidFill>
                            <a:schemeClr val="dk1"/>
                          </a:solidFill>
                          <a:effectLst/>
                          <a:latin typeface="宋体" panose="02010600030101010101" pitchFamily="2" charset="-122"/>
                          <a:ea typeface="宋体" panose="02010600030101010101" pitchFamily="2" charset="-122"/>
                          <a:cs typeface="+mn-cs"/>
                        </a:rPr>
                        <a:t>entry(id).na</a:t>
                      </a:r>
                      <a:r>
                        <a:rPr kumimoji="0" lang="en-US" altLang="zh-CN" sz="1800" kern="100" dirty="0">
                          <a:solidFill>
                            <a:schemeClr val="tx1"/>
                          </a:solidFill>
                          <a:effectLst/>
                          <a:latin typeface="宋体" panose="02010600030101010101" pitchFamily="2" charset="-122"/>
                          <a:ea typeface="宋体" panose="02010600030101010101" pitchFamily="2" charset="-122"/>
                          <a:cs typeface="+mn-cs"/>
                        </a:rPr>
                        <a:t>me</a:t>
                      </a:r>
                      <a:r>
                        <a:rPr lang="en-US" altLang="zh-CN" sz="1800" kern="100" dirty="0">
                          <a:solidFill>
                            <a:schemeClr val="tx1"/>
                          </a:solidFill>
                          <a:effectLst/>
                          <a:latin typeface="宋体" panose="02010600030101010101" pitchFamily="2" charset="-122"/>
                          <a:ea typeface="宋体" panose="02010600030101010101" pitchFamily="2" charset="-122"/>
                        </a:rPr>
                        <a:t>);//</a:t>
                      </a:r>
                      <a:r>
                        <a:rPr lang="zh-CN" altLang="en-US" sz="1800" kern="100" dirty="0">
                          <a:solidFill>
                            <a:schemeClr val="tx1"/>
                          </a:solidFill>
                          <a:effectLst/>
                          <a:latin typeface="宋体" panose="02010600030101010101" pitchFamily="2" charset="-122"/>
                          <a:ea typeface="宋体" panose="02010600030101010101" pitchFamily="2" charset="-122"/>
                        </a:rPr>
                        <a:t>变量名</a:t>
                      </a:r>
                      <a:r>
                        <a:rPr lang="zh-CN" altLang="zh-CN" sz="1800" kern="100" dirty="0">
                          <a:solidFill>
                            <a:schemeClr val="tx1"/>
                          </a:solidFill>
                          <a:effectLst/>
                          <a:latin typeface="宋体" panose="02010600030101010101" pitchFamily="2" charset="-122"/>
                          <a:ea typeface="宋体" panose="02010600030101010101" pitchFamily="2" charset="-122"/>
                        </a:rPr>
                        <a:t>插入符号表</a:t>
                      </a:r>
                    </a:p>
                    <a:p>
                      <a:pPr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   entry(id).type = &lt;SIDS&gt;.in;</a:t>
                      </a:r>
                      <a:endParaRPr lang="zh-CN" sz="1800" kern="100" dirty="0">
                        <a:solidFill>
                          <a:schemeClr val="tx1"/>
                        </a:solidFill>
                        <a:effectLst/>
                        <a:latin typeface="宋体" panose="02010600030101010101" pitchFamily="2" charset="-122"/>
                        <a:ea typeface="宋体" panose="02010600030101010101" pitchFamily="2" charset="-122"/>
                      </a:endParaRPr>
                    </a:p>
                    <a:p>
                      <a:pPr algn="just">
                        <a:spcAft>
                          <a:spcPts val="0"/>
                        </a:spcAft>
                      </a:pPr>
                      <a:r>
                        <a:rPr lang="en-US" sz="1800" kern="100" dirty="0">
                          <a:solidFill>
                            <a:schemeClr val="tx1"/>
                          </a:solidFill>
                          <a:effectLst/>
                          <a:latin typeface="宋体" panose="02010600030101010101" pitchFamily="2" charset="-122"/>
                          <a:ea typeface="宋体" panose="02010600030101010101" pitchFamily="2" charset="-122"/>
                        </a:rPr>
                        <a:t>   entry(id).</a:t>
                      </a:r>
                      <a:r>
                        <a:rPr lang="en-US" sz="1800" kern="100" dirty="0" err="1">
                          <a:solidFill>
                            <a:schemeClr val="tx1"/>
                          </a:solidFill>
                          <a:effectLst/>
                          <a:latin typeface="宋体" panose="02010600030101010101" pitchFamily="2" charset="-122"/>
                          <a:ea typeface="宋体" panose="02010600030101010101" pitchFamily="2" charset="-122"/>
                        </a:rPr>
                        <a:t>val</a:t>
                      </a:r>
                      <a:r>
                        <a:rPr lang="en-US" sz="1800" kern="100" dirty="0">
                          <a:solidFill>
                            <a:schemeClr val="tx1"/>
                          </a:solidFill>
                          <a:effectLst/>
                          <a:latin typeface="宋体" panose="02010600030101010101" pitchFamily="2" charset="-122"/>
                          <a:ea typeface="宋体" panose="02010600030101010101" pitchFamily="2" charset="-122"/>
                        </a:rPr>
                        <a:t>=&lt;expr&gt;.PLACE          }</a:t>
                      </a:r>
                      <a:endParaRPr lang="zh-CN" sz="1800" kern="100" dirty="0">
                        <a:solidFill>
                          <a:schemeClr val="tx1"/>
                        </a:solidFill>
                        <a:effectLst/>
                        <a:latin typeface="宋体" panose="02010600030101010101" pitchFamily="2" charset="-122"/>
                        <a:ea typeface="宋体" panose="02010600030101010101" pitchFamily="2" charset="-122"/>
                      </a:endParaRPr>
                    </a:p>
                  </a:txBody>
                  <a:tcPr marL="51135" marR="511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3758686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文本占位符 2"/>
          <p:cNvSpPr>
            <a:spLocks noGrp="1"/>
          </p:cNvSpPr>
          <p:nvPr>
            <p:ph type="body" sz="half" idx="1"/>
          </p:nvPr>
        </p:nvSpPr>
        <p:spPr>
          <a:xfrm>
            <a:off x="899592" y="3090540"/>
            <a:ext cx="4824536" cy="1857473"/>
          </a:xfrm>
          <a:ln>
            <a:headEnd/>
            <a:tailEnd/>
          </a:ln>
        </p:spPr>
        <p:style>
          <a:lnRef idx="2">
            <a:schemeClr val="accent2"/>
          </a:lnRef>
          <a:fillRef idx="1">
            <a:schemeClr val="lt1"/>
          </a:fillRef>
          <a:effectRef idx="0">
            <a:schemeClr val="accent2"/>
          </a:effectRef>
          <a:fontRef idx="minor">
            <a:schemeClr val="dk1"/>
          </a:fontRef>
        </p:style>
        <p:txBody>
          <a:bodyPr>
            <a:normAutofit/>
          </a:bodyPr>
          <a:lstStyle/>
          <a:p>
            <a:pPr marL="0" indent="0">
              <a:lnSpc>
                <a:spcPct val="90000"/>
              </a:lnSpc>
              <a:spcBef>
                <a:spcPts val="0"/>
              </a:spcBef>
              <a:buFontTx/>
              <a:buNone/>
            </a:pPr>
            <a:r>
              <a:rPr lang="zh-CN" altLang="zh-CN" sz="2000" dirty="0">
                <a:latin typeface="宋体" panose="02010600030101010101" pitchFamily="2" charset="-122"/>
                <a:ea typeface="宋体" panose="02010600030101010101" pitchFamily="2" charset="-122"/>
                <a:cs typeface="Arial" panose="020B0604020202020204" pitchFamily="34" charset="0"/>
              </a:rPr>
              <a:t>（</a:t>
            </a:r>
            <a:r>
              <a:rPr lang="en-US" altLang="zh-CN" sz="2000" dirty="0">
                <a:latin typeface="宋体" panose="02010600030101010101" pitchFamily="2" charset="-122"/>
                <a:ea typeface="宋体" panose="02010600030101010101" pitchFamily="2" charset="-122"/>
                <a:cs typeface="Arial" panose="020B0604020202020204" pitchFamily="34" charset="0"/>
              </a:rPr>
              <a:t>1</a:t>
            </a:r>
            <a:r>
              <a:rPr lang="zh-CN" altLang="zh-CN" sz="2000" dirty="0">
                <a:latin typeface="宋体" panose="02010600030101010101" pitchFamily="2" charset="-122"/>
                <a:ea typeface="宋体" panose="02010600030101010101" pitchFamily="2" charset="-122"/>
                <a:cs typeface="Arial" panose="020B0604020202020204" pitchFamily="34" charset="0"/>
              </a:rPr>
              <a:t>）</a:t>
            </a:r>
            <a:r>
              <a:rPr lang="en-US" altLang="zh-CN" sz="2000" dirty="0">
                <a:latin typeface="宋体" panose="02010600030101010101" pitchFamily="2" charset="-122"/>
                <a:ea typeface="宋体" panose="02010600030101010101" pitchFamily="2" charset="-122"/>
                <a:cs typeface="Arial" panose="020B0604020202020204" pitchFamily="34" charset="0"/>
              </a:rPr>
              <a:t>&lt;</a:t>
            </a:r>
            <a:r>
              <a:rPr lang="en-US" altLang="zh-CN" sz="2000" dirty="0" err="1">
                <a:latin typeface="宋体" panose="02010600030101010101" pitchFamily="2" charset="-122"/>
                <a:ea typeface="宋体" panose="02010600030101010101" pitchFamily="2" charset="-122"/>
                <a:cs typeface="Arial" panose="020B0604020202020204" pitchFamily="34" charset="0"/>
              </a:rPr>
              <a:t>VarDCL</a:t>
            </a:r>
            <a:r>
              <a:rPr lang="en-US" altLang="zh-CN" sz="2000" dirty="0">
                <a:latin typeface="宋体" panose="02010600030101010101" pitchFamily="2" charset="-122"/>
                <a:ea typeface="宋体" panose="02010600030101010101" pitchFamily="2" charset="-122"/>
                <a:cs typeface="Arial" panose="020B0604020202020204" pitchFamily="34" charset="0"/>
              </a:rPr>
              <a:t>&gt;→&lt;</a:t>
            </a:r>
            <a:r>
              <a:rPr lang="en-US" altLang="zh-CN" sz="2000" dirty="0" err="1">
                <a:latin typeface="宋体" panose="02010600030101010101" pitchFamily="2" charset="-122"/>
                <a:ea typeface="宋体" panose="02010600030101010101" pitchFamily="2" charset="-122"/>
                <a:cs typeface="Arial" panose="020B0604020202020204" pitchFamily="34" charset="0"/>
              </a:rPr>
              <a:t>VarDCL</a:t>
            </a:r>
            <a:r>
              <a:rPr lang="en-US" altLang="zh-CN" sz="2000" dirty="0">
                <a:latin typeface="宋体" panose="02010600030101010101" pitchFamily="2" charset="-122"/>
                <a:ea typeface="宋体" panose="02010600030101010101" pitchFamily="2" charset="-122"/>
                <a:cs typeface="Arial" panose="020B0604020202020204" pitchFamily="34" charset="0"/>
              </a:rPr>
              <a:t>&gt;</a:t>
            </a:r>
            <a:r>
              <a:rPr lang="en-US" altLang="zh-CN" sz="2000" baseline="30000" dirty="0">
                <a:latin typeface="宋体" panose="02010600030101010101" pitchFamily="2" charset="-122"/>
                <a:ea typeface="宋体" panose="02010600030101010101" pitchFamily="2" charset="-122"/>
                <a:cs typeface="Arial" panose="020B0604020202020204" pitchFamily="34" charset="0"/>
              </a:rPr>
              <a:t>(1)</a:t>
            </a:r>
            <a:r>
              <a:rPr lang="en-US" altLang="zh-CN" sz="2000" dirty="0">
                <a:latin typeface="宋体" panose="02010600030101010101" pitchFamily="2" charset="-122"/>
                <a:ea typeface="宋体" panose="02010600030101010101" pitchFamily="2" charset="-122"/>
                <a:cs typeface="Arial" panose="020B0604020202020204" pitchFamily="34" charset="0"/>
              </a:rPr>
              <a:t>, id</a:t>
            </a:r>
            <a:endParaRPr lang="zh-CN" altLang="zh-CN" sz="2000" dirty="0">
              <a:latin typeface="宋体" panose="02010600030101010101" pitchFamily="2" charset="-122"/>
              <a:ea typeface="宋体" panose="02010600030101010101" pitchFamily="2" charset="-122"/>
              <a:cs typeface="Arial" panose="020B0604020202020204" pitchFamily="34" charset="0"/>
            </a:endParaRPr>
          </a:p>
          <a:p>
            <a:pPr marL="0" indent="0">
              <a:lnSpc>
                <a:spcPct val="90000"/>
              </a:lnSpc>
              <a:spcBef>
                <a:spcPts val="0"/>
              </a:spcBef>
              <a:buFontTx/>
              <a:buNone/>
            </a:pPr>
            <a:r>
              <a:rPr lang="en-US" altLang="zh-CN" sz="2000" dirty="0">
                <a:latin typeface="宋体" panose="02010600030101010101" pitchFamily="2" charset="-122"/>
                <a:ea typeface="宋体" panose="02010600030101010101" pitchFamily="2" charset="-122"/>
                <a:cs typeface="Arial" panose="020B0604020202020204" pitchFamily="34" charset="0"/>
              </a:rPr>
              <a:t>             → </a:t>
            </a:r>
            <a:r>
              <a:rPr lang="en-US" altLang="zh-CN" sz="2000" dirty="0">
                <a:latin typeface="宋体" panose="02010600030101010101" pitchFamily="2" charset="-122"/>
                <a:ea typeface="宋体" panose="02010600030101010101" pitchFamily="2" charset="-122"/>
                <a:cs typeface="Arial" panose="020B0604020202020204" pitchFamily="34" charset="0"/>
                <a:sym typeface="Symbol" pitchFamily="18" charset="2"/>
              </a:rPr>
              <a:t></a:t>
            </a:r>
            <a:endParaRPr lang="zh-CN" altLang="zh-CN" sz="2000" dirty="0">
              <a:latin typeface="宋体" panose="02010600030101010101" pitchFamily="2" charset="-122"/>
              <a:ea typeface="宋体" panose="02010600030101010101" pitchFamily="2" charset="-122"/>
              <a:cs typeface="Arial" panose="020B0604020202020204" pitchFamily="34" charset="0"/>
            </a:endParaRPr>
          </a:p>
          <a:p>
            <a:pPr marL="0" indent="0">
              <a:lnSpc>
                <a:spcPct val="90000"/>
              </a:lnSpc>
              <a:spcBef>
                <a:spcPts val="0"/>
              </a:spcBef>
              <a:buFontTx/>
              <a:buNone/>
            </a:pPr>
            <a:r>
              <a:rPr lang="zh-CN" altLang="zh-CN" sz="2000" dirty="0">
                <a:latin typeface="宋体" panose="02010600030101010101" pitchFamily="2" charset="-122"/>
                <a:ea typeface="宋体" panose="02010600030101010101" pitchFamily="2" charset="-122"/>
                <a:cs typeface="Arial" panose="020B0604020202020204" pitchFamily="34" charset="0"/>
              </a:rPr>
              <a:t>（</a:t>
            </a:r>
            <a:r>
              <a:rPr lang="en-US" altLang="zh-CN" sz="2000" dirty="0">
                <a:latin typeface="宋体" panose="02010600030101010101" pitchFamily="2" charset="-122"/>
                <a:ea typeface="宋体" panose="02010600030101010101" pitchFamily="2" charset="-122"/>
                <a:cs typeface="Arial" panose="020B0604020202020204" pitchFamily="34" charset="0"/>
              </a:rPr>
              <a:t>2</a:t>
            </a:r>
            <a:r>
              <a:rPr lang="zh-CN" altLang="zh-CN" sz="2000" dirty="0">
                <a:latin typeface="宋体" panose="02010600030101010101" pitchFamily="2" charset="-122"/>
                <a:ea typeface="宋体" panose="02010600030101010101" pitchFamily="2" charset="-122"/>
                <a:cs typeface="Arial" panose="020B0604020202020204" pitchFamily="34" charset="0"/>
              </a:rPr>
              <a:t>）</a:t>
            </a:r>
            <a:r>
              <a:rPr lang="en-US" altLang="zh-CN" sz="2000" dirty="0">
                <a:latin typeface="宋体" panose="02010600030101010101" pitchFamily="2" charset="-122"/>
                <a:ea typeface="宋体" panose="02010600030101010101" pitchFamily="2" charset="-122"/>
                <a:cs typeface="Arial" panose="020B0604020202020204" pitchFamily="34" charset="0"/>
              </a:rPr>
              <a:t>&lt;</a:t>
            </a:r>
            <a:r>
              <a:rPr lang="en-US" altLang="zh-CN" sz="2000" dirty="0" err="1">
                <a:latin typeface="宋体" panose="02010600030101010101" pitchFamily="2" charset="-122"/>
                <a:ea typeface="宋体" panose="02010600030101010101" pitchFamily="2" charset="-122"/>
                <a:cs typeface="Arial" panose="020B0604020202020204" pitchFamily="34" charset="0"/>
              </a:rPr>
              <a:t>VarDCL</a:t>
            </a:r>
            <a:r>
              <a:rPr lang="en-US" altLang="zh-CN" sz="2000" dirty="0">
                <a:latin typeface="宋体" panose="02010600030101010101" pitchFamily="2" charset="-122"/>
                <a:ea typeface="宋体" panose="02010600030101010101" pitchFamily="2" charset="-122"/>
                <a:cs typeface="Arial" panose="020B0604020202020204" pitchFamily="34" charset="0"/>
              </a:rPr>
              <a:t>&gt;→&lt;</a:t>
            </a:r>
            <a:r>
              <a:rPr lang="en-US" altLang="zh-CN" sz="2000" dirty="0" err="1">
                <a:latin typeface="宋体" panose="02010600030101010101" pitchFamily="2" charset="-122"/>
                <a:ea typeface="宋体" panose="02010600030101010101" pitchFamily="2" charset="-122"/>
                <a:cs typeface="Arial" panose="020B0604020202020204" pitchFamily="34" charset="0"/>
              </a:rPr>
              <a:t>VarDCL</a:t>
            </a:r>
            <a:r>
              <a:rPr lang="en-US" altLang="zh-CN" sz="2000" dirty="0">
                <a:latin typeface="宋体" panose="02010600030101010101" pitchFamily="2" charset="-122"/>
                <a:ea typeface="宋体" panose="02010600030101010101" pitchFamily="2" charset="-122"/>
                <a:cs typeface="Arial" panose="020B0604020202020204" pitchFamily="34" charset="0"/>
              </a:rPr>
              <a:t>&gt;</a:t>
            </a:r>
            <a:r>
              <a:rPr lang="en-US" altLang="zh-CN" sz="2000" baseline="30000" dirty="0">
                <a:latin typeface="宋体" panose="02010600030101010101" pitchFamily="2" charset="-122"/>
                <a:ea typeface="宋体" panose="02010600030101010101" pitchFamily="2" charset="-122"/>
                <a:cs typeface="Arial" panose="020B0604020202020204" pitchFamily="34" charset="0"/>
              </a:rPr>
              <a:t>(1)</a:t>
            </a:r>
            <a:r>
              <a:rPr lang="en-US" altLang="zh-CN" sz="2000" dirty="0">
                <a:latin typeface="宋体" panose="02010600030101010101" pitchFamily="2" charset="-122"/>
                <a:ea typeface="宋体" panose="02010600030101010101" pitchFamily="2" charset="-122"/>
                <a:cs typeface="Arial" panose="020B0604020202020204" pitchFamily="34" charset="0"/>
              </a:rPr>
              <a:t>, id=&lt;expr&gt;</a:t>
            </a:r>
            <a:endParaRPr lang="zh-CN" altLang="zh-CN" sz="2000" dirty="0">
              <a:latin typeface="宋体" panose="02010600030101010101" pitchFamily="2" charset="-122"/>
              <a:ea typeface="宋体" panose="02010600030101010101" pitchFamily="2" charset="-122"/>
              <a:cs typeface="Arial" panose="020B0604020202020204" pitchFamily="34" charset="0"/>
            </a:endParaRPr>
          </a:p>
          <a:p>
            <a:pPr marL="0" indent="0">
              <a:lnSpc>
                <a:spcPct val="90000"/>
              </a:lnSpc>
              <a:spcBef>
                <a:spcPts val="0"/>
              </a:spcBef>
              <a:buFontTx/>
              <a:buNone/>
            </a:pPr>
            <a:r>
              <a:rPr lang="zh-CN" altLang="zh-CN" sz="2000" dirty="0">
                <a:latin typeface="宋体" panose="02010600030101010101" pitchFamily="2" charset="-122"/>
                <a:ea typeface="宋体" panose="02010600030101010101" pitchFamily="2" charset="-122"/>
                <a:cs typeface="Arial" panose="020B0604020202020204" pitchFamily="34" charset="0"/>
              </a:rPr>
              <a:t>（</a:t>
            </a:r>
            <a:r>
              <a:rPr lang="en-US" altLang="zh-CN" sz="2000" dirty="0">
                <a:latin typeface="宋体" panose="02010600030101010101" pitchFamily="2" charset="-122"/>
                <a:ea typeface="宋体" panose="02010600030101010101" pitchFamily="2" charset="-122"/>
                <a:cs typeface="Arial" panose="020B0604020202020204" pitchFamily="34" charset="0"/>
              </a:rPr>
              <a:t>3</a:t>
            </a:r>
            <a:r>
              <a:rPr lang="zh-CN" altLang="zh-CN" sz="2000" dirty="0">
                <a:latin typeface="宋体" panose="02010600030101010101" pitchFamily="2" charset="-122"/>
                <a:ea typeface="宋体" panose="02010600030101010101" pitchFamily="2" charset="-122"/>
                <a:cs typeface="Arial" panose="020B0604020202020204" pitchFamily="34" charset="0"/>
              </a:rPr>
              <a:t>）</a:t>
            </a:r>
            <a:r>
              <a:rPr lang="en-US" altLang="zh-CN" sz="2000" dirty="0">
                <a:latin typeface="宋体" panose="02010600030101010101" pitchFamily="2" charset="-122"/>
                <a:ea typeface="宋体" panose="02010600030101010101" pitchFamily="2" charset="-122"/>
                <a:cs typeface="Arial" panose="020B0604020202020204" pitchFamily="34" charset="0"/>
              </a:rPr>
              <a:t>&lt;</a:t>
            </a:r>
            <a:r>
              <a:rPr lang="en-US" altLang="zh-CN" sz="2000" dirty="0" err="1">
                <a:latin typeface="宋体" panose="02010600030101010101" pitchFamily="2" charset="-122"/>
                <a:ea typeface="宋体" panose="02010600030101010101" pitchFamily="2" charset="-122"/>
                <a:cs typeface="Arial" panose="020B0604020202020204" pitchFamily="34" charset="0"/>
              </a:rPr>
              <a:t>VarType</a:t>
            </a:r>
            <a:r>
              <a:rPr lang="en-US" altLang="zh-CN" sz="2000" dirty="0">
                <a:latin typeface="宋体" panose="02010600030101010101" pitchFamily="2" charset="-122"/>
                <a:ea typeface="宋体" panose="02010600030101010101" pitchFamily="2" charset="-122"/>
                <a:cs typeface="Arial" panose="020B0604020202020204" pitchFamily="34" charset="0"/>
              </a:rPr>
              <a:t>&gt;→</a:t>
            </a:r>
            <a:r>
              <a:rPr lang="en-US" altLang="zh-CN" sz="2000" dirty="0" err="1">
                <a:latin typeface="宋体" panose="02010600030101010101" pitchFamily="2" charset="-122"/>
                <a:ea typeface="宋体" panose="02010600030101010101" pitchFamily="2" charset="-122"/>
                <a:cs typeface="Arial" panose="020B0604020202020204" pitchFamily="34" charset="0"/>
              </a:rPr>
              <a:t>int</a:t>
            </a:r>
            <a:endParaRPr lang="zh-CN" altLang="zh-CN" sz="2000" dirty="0">
              <a:latin typeface="宋体" panose="02010600030101010101" pitchFamily="2" charset="-122"/>
              <a:ea typeface="宋体" panose="02010600030101010101" pitchFamily="2" charset="-122"/>
              <a:cs typeface="Arial" panose="020B0604020202020204" pitchFamily="34" charset="0"/>
            </a:endParaRPr>
          </a:p>
          <a:p>
            <a:pPr marL="0" indent="0">
              <a:lnSpc>
                <a:spcPct val="90000"/>
              </a:lnSpc>
              <a:spcBef>
                <a:spcPts val="0"/>
              </a:spcBef>
              <a:buFontTx/>
              <a:buNone/>
            </a:pPr>
            <a:r>
              <a:rPr lang="zh-CN" altLang="zh-CN" sz="2000" dirty="0">
                <a:latin typeface="宋体" panose="02010600030101010101" pitchFamily="2" charset="-122"/>
                <a:ea typeface="宋体" panose="02010600030101010101" pitchFamily="2" charset="-122"/>
                <a:cs typeface="Arial" panose="020B0604020202020204" pitchFamily="34" charset="0"/>
              </a:rPr>
              <a:t>（</a:t>
            </a:r>
            <a:r>
              <a:rPr lang="en-US" altLang="zh-CN" sz="2000" dirty="0">
                <a:latin typeface="宋体" panose="02010600030101010101" pitchFamily="2" charset="-122"/>
                <a:ea typeface="宋体" panose="02010600030101010101" pitchFamily="2" charset="-122"/>
                <a:cs typeface="Arial" panose="020B0604020202020204" pitchFamily="34" charset="0"/>
              </a:rPr>
              <a:t>4</a:t>
            </a:r>
            <a:r>
              <a:rPr lang="zh-CN" altLang="zh-CN" sz="2000" dirty="0">
                <a:latin typeface="宋体" panose="02010600030101010101" pitchFamily="2" charset="-122"/>
                <a:ea typeface="宋体" panose="02010600030101010101" pitchFamily="2" charset="-122"/>
                <a:cs typeface="Arial" panose="020B0604020202020204" pitchFamily="34" charset="0"/>
              </a:rPr>
              <a:t>）</a:t>
            </a:r>
            <a:r>
              <a:rPr lang="en-US" altLang="zh-CN" sz="2000" dirty="0">
                <a:latin typeface="宋体" panose="02010600030101010101" pitchFamily="2" charset="-122"/>
                <a:ea typeface="宋体" panose="02010600030101010101" pitchFamily="2" charset="-122"/>
                <a:cs typeface="Arial" panose="020B0604020202020204" pitchFamily="34" charset="0"/>
              </a:rPr>
              <a:t>&lt;</a:t>
            </a:r>
            <a:r>
              <a:rPr lang="en-US" altLang="zh-CN" sz="2000" dirty="0" err="1">
                <a:latin typeface="宋体" panose="02010600030101010101" pitchFamily="2" charset="-122"/>
                <a:ea typeface="宋体" panose="02010600030101010101" pitchFamily="2" charset="-122"/>
                <a:cs typeface="Arial" panose="020B0604020202020204" pitchFamily="34" charset="0"/>
              </a:rPr>
              <a:t>VarDCL</a:t>
            </a:r>
            <a:r>
              <a:rPr lang="en-US" altLang="zh-CN" sz="2000" dirty="0">
                <a:latin typeface="宋体" panose="02010600030101010101" pitchFamily="2" charset="-122"/>
                <a:ea typeface="宋体" panose="02010600030101010101" pitchFamily="2" charset="-122"/>
                <a:cs typeface="Arial" panose="020B0604020202020204" pitchFamily="34" charset="0"/>
              </a:rPr>
              <a:t>&gt;→&lt;</a:t>
            </a:r>
            <a:r>
              <a:rPr lang="en-US" altLang="zh-CN" sz="2000" dirty="0" err="1">
                <a:latin typeface="宋体" panose="02010600030101010101" pitchFamily="2" charset="-122"/>
                <a:ea typeface="宋体" panose="02010600030101010101" pitchFamily="2" charset="-122"/>
                <a:cs typeface="Arial" panose="020B0604020202020204" pitchFamily="34" charset="0"/>
              </a:rPr>
              <a:t>VarType</a:t>
            </a:r>
            <a:r>
              <a:rPr lang="en-US" altLang="zh-CN" sz="2000" dirty="0">
                <a:latin typeface="宋体" panose="02010600030101010101" pitchFamily="2" charset="-122"/>
                <a:ea typeface="宋体" panose="02010600030101010101" pitchFamily="2" charset="-122"/>
                <a:cs typeface="Arial" panose="020B0604020202020204" pitchFamily="34" charset="0"/>
              </a:rPr>
              <a:t>&gt; id</a:t>
            </a:r>
            <a:endParaRPr lang="zh-CN" altLang="zh-CN" sz="2000" dirty="0">
              <a:latin typeface="宋体" panose="02010600030101010101" pitchFamily="2" charset="-122"/>
              <a:ea typeface="宋体" panose="02010600030101010101" pitchFamily="2" charset="-122"/>
              <a:cs typeface="Arial" panose="020B0604020202020204" pitchFamily="34" charset="0"/>
            </a:endParaRPr>
          </a:p>
          <a:p>
            <a:pPr marL="0" indent="0">
              <a:lnSpc>
                <a:spcPct val="90000"/>
              </a:lnSpc>
              <a:spcBef>
                <a:spcPts val="0"/>
              </a:spcBef>
              <a:buFontTx/>
              <a:buNone/>
            </a:pPr>
            <a:r>
              <a:rPr lang="zh-CN" altLang="zh-CN" sz="2000" dirty="0">
                <a:latin typeface="宋体" panose="02010600030101010101" pitchFamily="2" charset="-122"/>
                <a:ea typeface="宋体" panose="02010600030101010101" pitchFamily="2" charset="-122"/>
                <a:cs typeface="Arial" panose="020B0604020202020204" pitchFamily="34" charset="0"/>
              </a:rPr>
              <a:t>（</a:t>
            </a:r>
            <a:r>
              <a:rPr lang="en-US" altLang="zh-CN" sz="2000" dirty="0">
                <a:latin typeface="宋体" panose="02010600030101010101" pitchFamily="2" charset="-122"/>
                <a:ea typeface="宋体" panose="02010600030101010101" pitchFamily="2" charset="-122"/>
                <a:cs typeface="Arial" panose="020B0604020202020204" pitchFamily="34" charset="0"/>
              </a:rPr>
              <a:t>5</a:t>
            </a:r>
            <a:r>
              <a:rPr lang="zh-CN" altLang="zh-CN" sz="2000" dirty="0">
                <a:latin typeface="宋体" panose="02010600030101010101" pitchFamily="2" charset="-122"/>
                <a:ea typeface="宋体" panose="02010600030101010101" pitchFamily="2" charset="-122"/>
                <a:cs typeface="Arial" panose="020B0604020202020204" pitchFamily="34" charset="0"/>
              </a:rPr>
              <a:t>）</a:t>
            </a:r>
            <a:r>
              <a:rPr lang="en-US" altLang="zh-CN" sz="2000" dirty="0">
                <a:latin typeface="宋体" panose="02010600030101010101" pitchFamily="2" charset="-122"/>
                <a:ea typeface="宋体" panose="02010600030101010101" pitchFamily="2" charset="-122"/>
                <a:cs typeface="Arial" panose="020B0604020202020204" pitchFamily="34" charset="0"/>
              </a:rPr>
              <a:t>&lt;</a:t>
            </a:r>
            <a:r>
              <a:rPr lang="en-US" altLang="zh-CN" sz="2000" dirty="0" err="1">
                <a:latin typeface="宋体" panose="02010600030101010101" pitchFamily="2" charset="-122"/>
                <a:ea typeface="宋体" panose="02010600030101010101" pitchFamily="2" charset="-122"/>
                <a:cs typeface="Arial" panose="020B0604020202020204" pitchFamily="34" charset="0"/>
              </a:rPr>
              <a:t>VarDCL</a:t>
            </a:r>
            <a:r>
              <a:rPr lang="en-US" altLang="zh-CN" sz="2000" dirty="0">
                <a:latin typeface="宋体" panose="02010600030101010101" pitchFamily="2" charset="-122"/>
                <a:ea typeface="宋体" panose="02010600030101010101" pitchFamily="2" charset="-122"/>
                <a:cs typeface="Arial" panose="020B0604020202020204" pitchFamily="34" charset="0"/>
              </a:rPr>
              <a:t>&gt;→&lt;</a:t>
            </a:r>
            <a:r>
              <a:rPr lang="en-US" altLang="zh-CN" sz="2000" dirty="0" err="1">
                <a:latin typeface="宋体" panose="02010600030101010101" pitchFamily="2" charset="-122"/>
                <a:ea typeface="宋体" panose="02010600030101010101" pitchFamily="2" charset="-122"/>
                <a:cs typeface="Arial" panose="020B0604020202020204" pitchFamily="34" charset="0"/>
              </a:rPr>
              <a:t>VarType</a:t>
            </a:r>
            <a:r>
              <a:rPr lang="en-US" altLang="zh-CN" sz="2000" dirty="0">
                <a:latin typeface="宋体" panose="02010600030101010101" pitchFamily="2" charset="-122"/>
                <a:ea typeface="宋体" panose="02010600030101010101" pitchFamily="2" charset="-122"/>
                <a:cs typeface="Arial" panose="020B0604020202020204" pitchFamily="34" charset="0"/>
              </a:rPr>
              <a:t>&gt; id = &lt;expr&gt; </a:t>
            </a:r>
            <a:endParaRPr lang="zh-CN" altLang="en-US" sz="2000" dirty="0">
              <a:latin typeface="宋体" panose="02010600030101010101" pitchFamily="2" charset="-122"/>
              <a:ea typeface="宋体" panose="02010600030101010101" pitchFamily="2" charset="-122"/>
              <a:cs typeface="Arial" panose="020B0604020202020204" pitchFamily="34" charset="0"/>
            </a:endParaRPr>
          </a:p>
        </p:txBody>
      </p:sp>
      <p:sp>
        <p:nvSpPr>
          <p:cNvPr id="70660" name="矩形 2"/>
          <p:cNvSpPr>
            <a:spLocks noChangeArrowheads="1"/>
          </p:cNvSpPr>
          <p:nvPr/>
        </p:nvSpPr>
        <p:spPr bwMode="auto">
          <a:xfrm>
            <a:off x="6742659" y="4493782"/>
            <a:ext cx="2427268" cy="584775"/>
          </a:xfrm>
          <a:prstGeom prst="rect">
            <a:avLst/>
          </a:prstGeom>
          <a:solidFill>
            <a:schemeClr val="bg1"/>
          </a:solidFill>
          <a:ln>
            <a:noFill/>
          </a:ln>
        </p:spPr>
        <p:txBody>
          <a:bodyPr wrap="none">
            <a:spAutoFit/>
          </a:bodyPr>
          <a:lstStyle>
            <a:lvl1pPr marL="342900" indent="-342900">
              <a:defRPr sz="3200">
                <a:solidFill>
                  <a:schemeClr val="tx1"/>
                </a:solidFill>
                <a:latin typeface="Arial" charset="0"/>
                <a:ea typeface="宋体" pitchFamily="2" charset="-122"/>
              </a:defRPr>
            </a:lvl1pPr>
            <a:lvl2pPr>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0" lvl="1">
              <a:buFontTx/>
              <a:buNone/>
            </a:pPr>
            <a:r>
              <a:rPr lang="en-US" altLang="zh-CN" sz="3200" b="1" dirty="0" err="1">
                <a:solidFill>
                  <a:srgbClr val="FF0000"/>
                </a:solidFill>
              </a:rPr>
              <a:t>int</a:t>
            </a:r>
            <a:r>
              <a:rPr lang="en-US" altLang="zh-CN" sz="3200" b="1" dirty="0">
                <a:solidFill>
                  <a:srgbClr val="FF0000"/>
                </a:solidFill>
              </a:rPr>
              <a:t> </a:t>
            </a:r>
            <a:r>
              <a:rPr lang="en-US" altLang="zh-CN" sz="3200" b="1" dirty="0" err="1">
                <a:solidFill>
                  <a:srgbClr val="FF0000"/>
                </a:solidFill>
              </a:rPr>
              <a:t>i</a:t>
            </a:r>
            <a:r>
              <a:rPr lang="en-US" altLang="zh-CN" sz="3200" b="1" dirty="0">
                <a:solidFill>
                  <a:srgbClr val="FF0000"/>
                </a:solidFill>
              </a:rPr>
              <a:t>, </a:t>
            </a:r>
            <a:r>
              <a:rPr lang="en-US" altLang="zh-CN" sz="3200" b="1" dirty="0" err="1">
                <a:solidFill>
                  <a:srgbClr val="FF0000"/>
                </a:solidFill>
              </a:rPr>
              <a:t>j,k</a:t>
            </a:r>
            <a:r>
              <a:rPr lang="en-US" altLang="zh-CN" sz="3200" b="1" dirty="0">
                <a:solidFill>
                  <a:srgbClr val="FF0000"/>
                </a:solidFill>
              </a:rPr>
              <a:t> = 3;</a:t>
            </a:r>
            <a:endParaRPr lang="zh-CN" altLang="en-US" sz="3200" b="1" dirty="0">
              <a:solidFill>
                <a:srgbClr val="FF0000"/>
              </a:solidFill>
            </a:endParaRPr>
          </a:p>
        </p:txBody>
      </p:sp>
      <p:sp>
        <p:nvSpPr>
          <p:cNvPr id="3" name="标题 2"/>
          <p:cNvSpPr>
            <a:spLocks noGrp="1"/>
          </p:cNvSpPr>
          <p:nvPr>
            <p:ph type="title"/>
          </p:nvPr>
        </p:nvSpPr>
        <p:spPr>
          <a:xfrm>
            <a:off x="0" y="15377"/>
            <a:ext cx="8229600" cy="612157"/>
          </a:xfrm>
        </p:spPr>
        <p:txBody>
          <a:bodyPr>
            <a:noAutofit/>
          </a:bodyPr>
          <a:lstStyle/>
          <a:p>
            <a:r>
              <a:rPr lang="zh-CN" altLang="en-US" dirty="0"/>
              <a:t>变量声明语句的语义处理</a:t>
            </a:r>
          </a:p>
        </p:txBody>
      </p:sp>
      <p:sp>
        <p:nvSpPr>
          <p:cNvPr id="8" name="Rectangle 3"/>
          <p:cNvSpPr txBox="1">
            <a:spLocks noChangeArrowheads="1"/>
          </p:cNvSpPr>
          <p:nvPr/>
        </p:nvSpPr>
        <p:spPr>
          <a:xfrm>
            <a:off x="395536" y="534176"/>
            <a:ext cx="8496174" cy="1146183"/>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buFontTx/>
              <a:buNone/>
            </a:pPr>
            <a:r>
              <a:rPr lang="zh-CN" altLang="en-US" sz="2200" b="1" dirty="0">
                <a:solidFill>
                  <a:srgbClr val="0033CC"/>
                </a:solidFill>
              </a:rPr>
              <a:t>第二种方式：只使用综合属性</a:t>
            </a:r>
            <a:r>
              <a:rPr lang="zh-CN" altLang="en-US" sz="2200" dirty="0"/>
              <a:t>来进行变量声明的处理，这种方式定义的语义规则适合于和自下而上的语法分析相结合进行语法制导的语义处理。这种方式需要修改文法，使其适合自下而上分析。</a:t>
            </a:r>
            <a:r>
              <a:rPr lang="zh-CN" altLang="zh-CN" sz="2200" dirty="0"/>
              <a:t>上述文法可以直接</a:t>
            </a:r>
            <a:r>
              <a:rPr lang="zh-CN" altLang="en-US" sz="2200" dirty="0"/>
              <a:t>改写</a:t>
            </a:r>
            <a:r>
              <a:rPr lang="zh-CN" altLang="zh-CN" sz="2200" dirty="0"/>
              <a:t>为</a:t>
            </a:r>
            <a:r>
              <a:rPr lang="zh-CN" altLang="en-US" sz="2200" dirty="0"/>
              <a:t>：</a:t>
            </a:r>
          </a:p>
          <a:p>
            <a:pPr>
              <a:buFontTx/>
              <a:buNone/>
            </a:pPr>
            <a:endParaRPr lang="zh-CN" altLang="en-US" sz="2200" b="1" dirty="0">
              <a:solidFill>
                <a:srgbClr val="0033CC"/>
              </a:solidFill>
            </a:endParaRPr>
          </a:p>
        </p:txBody>
      </p:sp>
      <p:sp>
        <p:nvSpPr>
          <p:cNvPr id="9" name="Rectangle 2"/>
          <p:cNvSpPr>
            <a:spLocks noChangeArrowheads="1"/>
          </p:cNvSpPr>
          <p:nvPr/>
        </p:nvSpPr>
        <p:spPr bwMode="auto">
          <a:xfrm>
            <a:off x="657225" y="1680359"/>
            <a:ext cx="7155135" cy="1323439"/>
          </a:xfrm>
          <a:prstGeom prst="rect">
            <a:avLst/>
          </a:prstGeom>
          <a:ln/>
        </p:spPr>
        <p:style>
          <a:lnRef idx="2">
            <a:schemeClr val="accent1"/>
          </a:lnRef>
          <a:fillRef idx="1">
            <a:schemeClr val="lt1"/>
          </a:fillRef>
          <a:effectRef idx="0">
            <a:schemeClr val="accent1"/>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buFontTx/>
              <a:buNone/>
            </a:pPr>
            <a:r>
              <a:rPr lang="en-US" altLang="zh-CN" sz="2000" dirty="0"/>
              <a:t>&lt;</a:t>
            </a:r>
            <a:r>
              <a:rPr lang="zh-CN" altLang="zh-CN" sz="2000" dirty="0"/>
              <a:t>变量声明</a:t>
            </a:r>
            <a:r>
              <a:rPr lang="en-US" altLang="zh-CN" sz="2000" dirty="0"/>
              <a:t>&gt;</a:t>
            </a:r>
            <a:r>
              <a:rPr lang="zh-CN" altLang="zh-CN" sz="2000" dirty="0"/>
              <a:t>→</a:t>
            </a:r>
            <a:r>
              <a:rPr lang="en-US" altLang="zh-CN" sz="2000" dirty="0"/>
              <a:t>&lt;</a:t>
            </a:r>
            <a:r>
              <a:rPr lang="zh-CN" altLang="zh-CN" sz="2000" dirty="0"/>
              <a:t>变量类型</a:t>
            </a:r>
            <a:r>
              <a:rPr lang="en-US" altLang="zh-CN" sz="2000" dirty="0"/>
              <a:t>&gt; &lt;</a:t>
            </a:r>
            <a:r>
              <a:rPr lang="zh-CN" altLang="zh-CN" sz="2000" dirty="0"/>
              <a:t>变量声明表</a:t>
            </a:r>
            <a:r>
              <a:rPr lang="en-US" altLang="zh-CN" sz="2000" dirty="0"/>
              <a:t>&gt;</a:t>
            </a:r>
            <a:endParaRPr lang="zh-CN" altLang="zh-CN" sz="2000" dirty="0"/>
          </a:p>
          <a:p>
            <a:pPr>
              <a:lnSpc>
                <a:spcPct val="100000"/>
              </a:lnSpc>
              <a:buFontTx/>
              <a:buNone/>
            </a:pPr>
            <a:r>
              <a:rPr lang="en-US" altLang="zh-CN" sz="2000" dirty="0"/>
              <a:t>&lt;</a:t>
            </a:r>
            <a:r>
              <a:rPr lang="zh-CN" altLang="zh-CN" sz="2000" dirty="0"/>
              <a:t>变量声明表</a:t>
            </a:r>
            <a:r>
              <a:rPr lang="en-US" altLang="zh-CN" sz="2000" dirty="0"/>
              <a:t>&gt;</a:t>
            </a:r>
            <a:r>
              <a:rPr lang="zh-CN" altLang="zh-CN" sz="2000" dirty="0"/>
              <a:t>→</a:t>
            </a:r>
            <a:r>
              <a:rPr lang="en-US" altLang="zh-CN" sz="2000" dirty="0"/>
              <a:t>&lt;</a:t>
            </a:r>
            <a:r>
              <a:rPr lang="zh-CN" altLang="zh-CN" sz="2000" dirty="0"/>
              <a:t>单变量声明</a:t>
            </a:r>
            <a:r>
              <a:rPr lang="en-US" altLang="zh-CN" sz="2000" dirty="0"/>
              <a:t>&gt;;|&lt;</a:t>
            </a:r>
            <a:r>
              <a:rPr lang="zh-CN" altLang="zh-CN" sz="2000" dirty="0"/>
              <a:t>单变量声明</a:t>
            </a:r>
            <a:r>
              <a:rPr lang="en-US" altLang="zh-CN" sz="2000" dirty="0"/>
              <a:t>&gt;,&lt;</a:t>
            </a:r>
            <a:r>
              <a:rPr lang="zh-CN" altLang="zh-CN" sz="2000" dirty="0"/>
              <a:t>变量声明表</a:t>
            </a:r>
            <a:r>
              <a:rPr lang="en-US" altLang="zh-CN" sz="2000" dirty="0"/>
              <a:t>&gt;</a:t>
            </a:r>
            <a:endParaRPr lang="zh-CN" altLang="zh-CN" sz="2000" dirty="0"/>
          </a:p>
          <a:p>
            <a:pPr>
              <a:lnSpc>
                <a:spcPct val="100000"/>
              </a:lnSpc>
              <a:buFontTx/>
              <a:buNone/>
            </a:pPr>
            <a:r>
              <a:rPr lang="en-US" altLang="zh-CN" sz="2000" dirty="0"/>
              <a:t>&lt;</a:t>
            </a:r>
            <a:r>
              <a:rPr lang="zh-CN" altLang="zh-CN" sz="2000" dirty="0"/>
              <a:t>单变量声明</a:t>
            </a:r>
            <a:r>
              <a:rPr lang="en-US" altLang="zh-CN" sz="2000" dirty="0"/>
              <a:t>&gt;</a:t>
            </a:r>
            <a:r>
              <a:rPr lang="zh-CN" altLang="zh-CN" sz="2000" dirty="0"/>
              <a:t>→</a:t>
            </a:r>
            <a:r>
              <a:rPr lang="en-US" altLang="zh-CN" sz="2000" dirty="0"/>
              <a:t>&lt;</a:t>
            </a:r>
            <a:r>
              <a:rPr lang="zh-CN" altLang="zh-CN" sz="2000" dirty="0"/>
              <a:t>变量</a:t>
            </a:r>
            <a:r>
              <a:rPr lang="en-US" altLang="zh-CN" sz="2000" dirty="0"/>
              <a:t>&gt;|&lt;</a:t>
            </a:r>
            <a:r>
              <a:rPr lang="zh-CN" altLang="zh-CN" sz="2000" dirty="0"/>
              <a:t>变量</a:t>
            </a:r>
            <a:r>
              <a:rPr lang="en-US" altLang="zh-CN" sz="2000" dirty="0"/>
              <a:t>&gt;=&lt;</a:t>
            </a:r>
            <a:r>
              <a:rPr lang="zh-CN" altLang="zh-CN" sz="2000" dirty="0"/>
              <a:t>表达式</a:t>
            </a:r>
            <a:r>
              <a:rPr lang="en-US" altLang="zh-CN" sz="2000" dirty="0"/>
              <a:t>&gt;</a:t>
            </a:r>
            <a:endParaRPr lang="zh-CN" altLang="zh-CN" sz="2000" dirty="0"/>
          </a:p>
          <a:p>
            <a:pPr>
              <a:lnSpc>
                <a:spcPct val="100000"/>
              </a:lnSpc>
              <a:buFontTx/>
              <a:buNone/>
            </a:pPr>
            <a:r>
              <a:rPr lang="en-US" altLang="zh-CN" sz="2000" dirty="0"/>
              <a:t>&lt;</a:t>
            </a:r>
            <a:r>
              <a:rPr lang="zh-CN" altLang="zh-CN" sz="2000" dirty="0"/>
              <a:t>变量类型</a:t>
            </a:r>
            <a:r>
              <a:rPr lang="en-US" altLang="zh-CN" sz="2000" dirty="0"/>
              <a:t>&gt;</a:t>
            </a:r>
            <a:r>
              <a:rPr lang="zh-CN" altLang="zh-CN" sz="2000" dirty="0"/>
              <a:t>→</a:t>
            </a:r>
            <a:r>
              <a:rPr lang="en-US" altLang="zh-CN" sz="2000" dirty="0" err="1"/>
              <a:t>int|char|float</a:t>
            </a:r>
            <a:endParaRPr lang="zh-CN" altLang="zh-CN" sz="2000" dirty="0"/>
          </a:p>
        </p:txBody>
      </p:sp>
    </p:spTree>
    <p:extLst>
      <p:ext uri="{BB962C8B-B14F-4D97-AF65-F5344CB8AC3E}">
        <p14:creationId xmlns:p14="http://schemas.microsoft.com/office/powerpoint/2010/main" val="3791709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659">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659">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065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065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065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065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06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uiExpand="1" build="p"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xfrm>
            <a:off x="-1" y="-92546"/>
            <a:ext cx="3479527" cy="1087170"/>
          </a:xfrm>
        </p:spPr>
        <p:txBody>
          <a:bodyPr>
            <a:normAutofit fontScale="90000"/>
          </a:bodyPr>
          <a:lstStyle/>
          <a:p>
            <a:r>
              <a:rPr lang="en-US" altLang="zh-CN" dirty="0" err="1">
                <a:solidFill>
                  <a:srgbClr val="FF0000"/>
                </a:solidFill>
              </a:rPr>
              <a:t>int</a:t>
            </a:r>
            <a:r>
              <a:rPr lang="en-US" altLang="zh-CN" dirty="0">
                <a:solidFill>
                  <a:srgbClr val="FF0000"/>
                </a:solidFill>
              </a:rPr>
              <a:t> </a:t>
            </a:r>
            <a:r>
              <a:rPr lang="en-US" altLang="zh-CN" dirty="0" err="1">
                <a:solidFill>
                  <a:srgbClr val="FF0000"/>
                </a:solidFill>
              </a:rPr>
              <a:t>i,j,k</a:t>
            </a:r>
            <a:r>
              <a:rPr lang="en-US" altLang="zh-CN" dirty="0">
                <a:solidFill>
                  <a:srgbClr val="FF0000"/>
                </a:solidFill>
              </a:rPr>
              <a:t> = 3</a:t>
            </a:r>
            <a:r>
              <a:rPr lang="zh-CN" altLang="en-US" dirty="0">
                <a:solidFill>
                  <a:srgbClr val="FF0000"/>
                </a:solidFill>
              </a:rPr>
              <a:t>；</a:t>
            </a:r>
            <a:r>
              <a:rPr lang="zh-CN" altLang="zh-CN" dirty="0"/>
              <a:t>的带注释的语法树</a:t>
            </a:r>
            <a:endParaRPr lang="zh-CN" altLang="en-US" dirty="0"/>
          </a:p>
        </p:txBody>
      </p:sp>
      <p:sp>
        <p:nvSpPr>
          <p:cNvPr id="72707" name="Rectangle 2"/>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endParaRPr lang="zh-CN" altLang="en-US" sz="2400"/>
          </a:p>
        </p:txBody>
      </p:sp>
      <p:sp>
        <p:nvSpPr>
          <p:cNvPr id="2" name="矩形 1"/>
          <p:cNvSpPr/>
          <p:nvPr/>
        </p:nvSpPr>
        <p:spPr>
          <a:xfrm>
            <a:off x="2564344" y="4630365"/>
            <a:ext cx="6760184" cy="461665"/>
          </a:xfrm>
          <a:prstGeom prst="rect">
            <a:avLst/>
          </a:prstGeom>
          <a:solidFill>
            <a:schemeClr val="bg1"/>
          </a:solidFill>
        </p:spPr>
        <p:txBody>
          <a:bodyPr wrap="none">
            <a:spAutoFit/>
          </a:bodyPr>
          <a:lstStyle/>
          <a:p>
            <a:r>
              <a:rPr lang="en-US" altLang="zh-CN" sz="2400" dirty="0" err="1"/>
              <a:t>int</a:t>
            </a:r>
            <a:r>
              <a:rPr lang="en-US" altLang="zh-CN" sz="2400" dirty="0"/>
              <a:t>               </a:t>
            </a:r>
            <a:r>
              <a:rPr lang="en-US" altLang="zh-CN" sz="2400" dirty="0" err="1"/>
              <a:t>i</a:t>
            </a:r>
            <a:r>
              <a:rPr lang="en-US" altLang="zh-CN" sz="2400" dirty="0"/>
              <a:t>            ,           j       ,     k = 3</a:t>
            </a:r>
            <a:endParaRPr lang="zh-CN" altLang="en-US" sz="2400" dirty="0"/>
          </a:p>
        </p:txBody>
      </p:sp>
      <p:cxnSp>
        <p:nvCxnSpPr>
          <p:cNvPr id="4" name="直接连接符 3"/>
          <p:cNvCxnSpPr>
            <a:endCxn id="5" idx="2"/>
          </p:cNvCxnSpPr>
          <p:nvPr/>
        </p:nvCxnSpPr>
        <p:spPr>
          <a:xfrm flipV="1">
            <a:off x="2771800" y="4145448"/>
            <a:ext cx="443899" cy="4849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2483768" y="3776116"/>
            <a:ext cx="1463862" cy="369332"/>
          </a:xfrm>
          <a:prstGeom prst="rect">
            <a:avLst/>
          </a:prstGeom>
        </p:spPr>
        <p:txBody>
          <a:bodyPr wrap="none">
            <a:spAutoFit/>
          </a:bodyPr>
          <a:lstStyle/>
          <a:p>
            <a:r>
              <a:rPr lang="en-US" altLang="zh-CN" dirty="0"/>
              <a:t>&lt;</a:t>
            </a:r>
            <a:r>
              <a:rPr lang="en-US" altLang="zh-CN" dirty="0" err="1"/>
              <a:t>VarType</a:t>
            </a:r>
            <a:r>
              <a:rPr lang="en-US" altLang="zh-CN" dirty="0"/>
              <a:t>&gt;</a:t>
            </a:r>
            <a:endParaRPr lang="zh-CN" altLang="en-US" dirty="0"/>
          </a:p>
        </p:txBody>
      </p:sp>
      <p:sp>
        <p:nvSpPr>
          <p:cNvPr id="7" name="矩形 6"/>
          <p:cNvSpPr/>
          <p:nvPr/>
        </p:nvSpPr>
        <p:spPr>
          <a:xfrm>
            <a:off x="3479526" y="2956042"/>
            <a:ext cx="1380506" cy="369332"/>
          </a:xfrm>
          <a:prstGeom prst="rect">
            <a:avLst/>
          </a:prstGeom>
        </p:spPr>
        <p:txBody>
          <a:bodyPr wrap="none">
            <a:spAutoFit/>
          </a:bodyPr>
          <a:lstStyle/>
          <a:p>
            <a:r>
              <a:rPr lang="en-US" altLang="zh-CN" dirty="0"/>
              <a:t>&lt;</a:t>
            </a:r>
            <a:r>
              <a:rPr lang="en-US" altLang="zh-CN" dirty="0" err="1"/>
              <a:t>VarDCL</a:t>
            </a:r>
            <a:r>
              <a:rPr lang="en-US" altLang="zh-CN" dirty="0"/>
              <a:t>&gt;</a:t>
            </a:r>
            <a:endParaRPr lang="zh-CN" altLang="en-US" dirty="0"/>
          </a:p>
        </p:txBody>
      </p:sp>
      <p:cxnSp>
        <p:nvCxnSpPr>
          <p:cNvPr id="9" name="直接连接符 8"/>
          <p:cNvCxnSpPr/>
          <p:nvPr/>
        </p:nvCxnSpPr>
        <p:spPr>
          <a:xfrm flipV="1">
            <a:off x="3347864" y="3278716"/>
            <a:ext cx="599766" cy="497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flipV="1">
            <a:off x="4324684" y="3278716"/>
            <a:ext cx="214559" cy="1351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4583093" y="2124624"/>
            <a:ext cx="1380506" cy="369332"/>
          </a:xfrm>
          <a:prstGeom prst="rect">
            <a:avLst/>
          </a:prstGeom>
        </p:spPr>
        <p:txBody>
          <a:bodyPr wrap="none">
            <a:spAutoFit/>
          </a:bodyPr>
          <a:lstStyle/>
          <a:p>
            <a:r>
              <a:rPr lang="en-US" altLang="zh-CN" dirty="0"/>
              <a:t>&lt;</a:t>
            </a:r>
            <a:r>
              <a:rPr lang="en-US" altLang="zh-CN" dirty="0" err="1"/>
              <a:t>VarDCL</a:t>
            </a:r>
            <a:r>
              <a:rPr lang="en-US" altLang="zh-CN" dirty="0"/>
              <a:t>&gt;</a:t>
            </a:r>
            <a:endParaRPr lang="zh-CN" altLang="en-US" dirty="0"/>
          </a:p>
        </p:txBody>
      </p:sp>
      <p:cxnSp>
        <p:nvCxnSpPr>
          <p:cNvPr id="20" name="直接连接符 19"/>
          <p:cNvCxnSpPr>
            <a:stCxn id="7" idx="0"/>
          </p:cNvCxnSpPr>
          <p:nvPr/>
        </p:nvCxnSpPr>
        <p:spPr>
          <a:xfrm flipV="1">
            <a:off x="4169779" y="2493956"/>
            <a:ext cx="978285" cy="4620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16" idx="2"/>
          </p:cNvCxnSpPr>
          <p:nvPr/>
        </p:nvCxnSpPr>
        <p:spPr>
          <a:xfrm flipH="1" flipV="1">
            <a:off x="5273346" y="2493956"/>
            <a:ext cx="522790" cy="23132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5534741" y="2493956"/>
            <a:ext cx="1410594" cy="21502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6210366" y="1410330"/>
            <a:ext cx="1380506" cy="369332"/>
          </a:xfrm>
          <a:prstGeom prst="rect">
            <a:avLst/>
          </a:prstGeom>
        </p:spPr>
        <p:txBody>
          <a:bodyPr wrap="none">
            <a:spAutoFit/>
          </a:bodyPr>
          <a:lstStyle/>
          <a:p>
            <a:r>
              <a:rPr lang="en-US" altLang="zh-CN" dirty="0"/>
              <a:t>&lt;</a:t>
            </a:r>
            <a:r>
              <a:rPr lang="en-US" altLang="zh-CN" dirty="0" err="1"/>
              <a:t>VarDCL</a:t>
            </a:r>
            <a:r>
              <a:rPr lang="en-US" altLang="zh-CN" dirty="0"/>
              <a:t>&gt;</a:t>
            </a:r>
            <a:endParaRPr lang="zh-CN" altLang="en-US" dirty="0"/>
          </a:p>
        </p:txBody>
      </p:sp>
      <p:cxnSp>
        <p:nvCxnSpPr>
          <p:cNvPr id="28" name="直接连接符 27"/>
          <p:cNvCxnSpPr/>
          <p:nvPr/>
        </p:nvCxnSpPr>
        <p:spPr>
          <a:xfrm flipV="1">
            <a:off x="5367018" y="1716946"/>
            <a:ext cx="1077190" cy="4076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endCxn id="27" idx="2"/>
          </p:cNvCxnSpPr>
          <p:nvPr/>
        </p:nvCxnSpPr>
        <p:spPr>
          <a:xfrm flipH="1" flipV="1">
            <a:off x="6900619" y="1779662"/>
            <a:ext cx="767725" cy="3027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flipV="1">
            <a:off x="7164288" y="1716946"/>
            <a:ext cx="1440161" cy="29272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711" name="矩形 72710"/>
          <p:cNvSpPr/>
          <p:nvPr/>
        </p:nvSpPr>
        <p:spPr>
          <a:xfrm>
            <a:off x="542344" y="3893053"/>
            <a:ext cx="2042354" cy="338554"/>
          </a:xfrm>
          <a:prstGeom prst="rect">
            <a:avLst/>
          </a:prstGeom>
        </p:spPr>
        <p:txBody>
          <a:bodyPr wrap="none">
            <a:spAutoFit/>
          </a:bodyPr>
          <a:lstStyle/>
          <a:p>
            <a:r>
              <a:rPr lang="en-US" altLang="zh-CN" sz="1600" dirty="0">
                <a:latin typeface="Times New Roman" panose="02020603050405020304" pitchFamily="18" charset="0"/>
                <a:cs typeface="Times New Roman" panose="02020603050405020304" pitchFamily="18" charset="0"/>
              </a:rPr>
              <a:t>{&lt;</a:t>
            </a:r>
            <a:r>
              <a:rPr lang="en-US" altLang="zh-CN" sz="1600" dirty="0" err="1">
                <a:latin typeface="Times New Roman" panose="02020603050405020304" pitchFamily="18" charset="0"/>
                <a:cs typeface="Times New Roman" panose="02020603050405020304" pitchFamily="18" charset="0"/>
              </a:rPr>
              <a:t>VarType</a:t>
            </a:r>
            <a:r>
              <a:rPr lang="en-US" altLang="zh-CN" sz="1600" dirty="0">
                <a:latin typeface="Times New Roman" panose="02020603050405020304" pitchFamily="18" charset="0"/>
                <a:cs typeface="Times New Roman" panose="02020603050405020304" pitchFamily="18" charset="0"/>
              </a:rPr>
              <a:t>&gt;.type=</a:t>
            </a:r>
            <a:r>
              <a:rPr lang="en-US" altLang="zh-CN" sz="1600" dirty="0" err="1">
                <a:latin typeface="Times New Roman" panose="02020603050405020304" pitchFamily="18" charset="0"/>
                <a:cs typeface="Times New Roman" panose="02020603050405020304" pitchFamily="18" charset="0"/>
              </a:rPr>
              <a:t>int</a:t>
            </a:r>
            <a:r>
              <a:rPr lang="en-US" altLang="zh-CN"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
        <p:nvSpPr>
          <p:cNvPr id="72712" name="矩形 72711"/>
          <p:cNvSpPr/>
          <p:nvPr/>
        </p:nvSpPr>
        <p:spPr>
          <a:xfrm>
            <a:off x="520268" y="2793506"/>
            <a:ext cx="3392037" cy="830997"/>
          </a:xfrm>
          <a:prstGeom prst="rect">
            <a:avLst/>
          </a:prstGeom>
        </p:spPr>
        <p:txBody>
          <a:bodyPr wrap="square">
            <a:spAutoFit/>
          </a:bodyPr>
          <a:lstStyle/>
          <a:p>
            <a:r>
              <a:rPr lang="zh-CN" altLang="zh-CN" sz="1600" dirty="0">
                <a:latin typeface="Times New Roman" panose="02020603050405020304" pitchFamily="18" charset="0"/>
                <a:cs typeface="Times New Roman" panose="02020603050405020304" pitchFamily="18" charset="0"/>
              </a:rPr>
              <a:t>{</a:t>
            </a:r>
            <a:r>
              <a:rPr lang="en-US" altLang="zh-CN" sz="1600" kern="100" dirty="0" err="1">
                <a:latin typeface="Times New Roman" panose="02020603050405020304" pitchFamily="18" charset="0"/>
                <a:ea typeface="宋体" panose="02010600030101010101" pitchFamily="2" charset="-122"/>
                <a:cs typeface="Times New Roman" panose="02020603050405020304" pitchFamily="18" charset="0"/>
              </a:rPr>
              <a:t>InsertVarible</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rPr>
              <a:t>entry(id).na</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me); </a:t>
            </a: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entry</a:t>
            </a:r>
            <a:r>
              <a:rPr lang="zh-CN" altLang="zh-CN" sz="1600" dirty="0">
                <a:latin typeface="Times New Roman" panose="02020603050405020304" pitchFamily="18" charset="0"/>
                <a:cs typeface="Times New Roman" panose="02020603050405020304" pitchFamily="18" charset="0"/>
              </a:rPr>
              <a:t>(id)</a:t>
            </a:r>
            <a:r>
              <a:rPr lang="en-US" altLang="zh-CN" sz="1600" dirty="0">
                <a:latin typeface="Times New Roman" panose="02020603050405020304" pitchFamily="18" charset="0"/>
                <a:cs typeface="Times New Roman" panose="02020603050405020304" pitchFamily="18" charset="0"/>
              </a:rPr>
              <a:t> .type = &lt;</a:t>
            </a:r>
            <a:r>
              <a:rPr lang="en-US" altLang="zh-CN" sz="1600" dirty="0" err="1">
                <a:latin typeface="Times New Roman" panose="02020603050405020304" pitchFamily="18" charset="0"/>
                <a:cs typeface="Times New Roman" panose="02020603050405020304" pitchFamily="18" charset="0"/>
              </a:rPr>
              <a:t>VarType</a:t>
            </a:r>
            <a:r>
              <a:rPr lang="en-US" altLang="zh-CN" sz="1600" dirty="0">
                <a:latin typeface="Times New Roman" panose="02020603050405020304" pitchFamily="18" charset="0"/>
                <a:cs typeface="Times New Roman" panose="02020603050405020304" pitchFamily="18" charset="0"/>
              </a:rPr>
              <a:t>&gt;</a:t>
            </a:r>
            <a:r>
              <a:rPr lang="zh-CN" altLang="zh-CN" sz="1600" dirty="0">
                <a:latin typeface="Times New Roman" panose="02020603050405020304" pitchFamily="18" charset="0"/>
                <a:cs typeface="Times New Roman" panose="02020603050405020304" pitchFamily="18" charset="0"/>
              </a:rPr>
              <a:t>.type; </a:t>
            </a:r>
          </a:p>
          <a:p>
            <a:r>
              <a:rPr lang="en-US" altLang="zh-CN" sz="1600" dirty="0">
                <a:latin typeface="Times New Roman" panose="02020603050405020304" pitchFamily="18" charset="0"/>
                <a:cs typeface="Times New Roman" panose="02020603050405020304" pitchFamily="18" charset="0"/>
              </a:rPr>
              <a:t>&lt;</a:t>
            </a:r>
            <a:r>
              <a:rPr lang="en-US" altLang="zh-CN" sz="1600" dirty="0" err="1">
                <a:latin typeface="Times New Roman" panose="02020603050405020304" pitchFamily="18" charset="0"/>
                <a:cs typeface="Times New Roman" panose="02020603050405020304" pitchFamily="18" charset="0"/>
              </a:rPr>
              <a:t>VarDCL</a:t>
            </a:r>
            <a:r>
              <a:rPr lang="en-US" altLang="zh-CN" sz="1600" dirty="0">
                <a:latin typeface="Times New Roman" panose="02020603050405020304" pitchFamily="18" charset="0"/>
                <a:cs typeface="Times New Roman" panose="02020603050405020304" pitchFamily="18" charset="0"/>
              </a:rPr>
              <a:t>&gt;</a:t>
            </a:r>
            <a:r>
              <a:rPr lang="zh-CN" altLang="zh-CN" sz="1600" dirty="0">
                <a:latin typeface="Times New Roman" panose="02020603050405020304" pitchFamily="18" charset="0"/>
                <a:cs typeface="Times New Roman" panose="02020603050405020304" pitchFamily="18" charset="0"/>
              </a:rPr>
              <a:t>.type = </a:t>
            </a:r>
            <a:r>
              <a:rPr lang="en-US" altLang="zh-CN" sz="1600" dirty="0">
                <a:latin typeface="Times New Roman" panose="02020603050405020304" pitchFamily="18" charset="0"/>
                <a:cs typeface="Times New Roman" panose="02020603050405020304" pitchFamily="18" charset="0"/>
              </a:rPr>
              <a:t>&lt;</a:t>
            </a:r>
            <a:r>
              <a:rPr lang="en-US" altLang="zh-CN" sz="1600" dirty="0" err="1">
                <a:latin typeface="Times New Roman" panose="02020603050405020304" pitchFamily="18" charset="0"/>
                <a:cs typeface="Times New Roman" panose="02020603050405020304" pitchFamily="18" charset="0"/>
              </a:rPr>
              <a:t>VarType</a:t>
            </a:r>
            <a:r>
              <a:rPr lang="en-US" altLang="zh-CN" sz="1600" dirty="0">
                <a:latin typeface="Times New Roman" panose="02020603050405020304" pitchFamily="18" charset="0"/>
                <a:cs typeface="Times New Roman" panose="02020603050405020304" pitchFamily="18" charset="0"/>
              </a:rPr>
              <a:t>&gt;</a:t>
            </a:r>
            <a:r>
              <a:rPr lang="zh-CN" altLang="zh-CN" sz="1600" dirty="0">
                <a:latin typeface="Times New Roman" panose="02020603050405020304" pitchFamily="18" charset="0"/>
                <a:cs typeface="Times New Roman" panose="02020603050405020304" pitchFamily="18" charset="0"/>
              </a:rPr>
              <a:t>.type</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
        <p:nvSpPr>
          <p:cNvPr id="72713" name="矩形 72712"/>
          <p:cNvSpPr/>
          <p:nvPr/>
        </p:nvSpPr>
        <p:spPr>
          <a:xfrm>
            <a:off x="1287993" y="1983688"/>
            <a:ext cx="3322444" cy="830997"/>
          </a:xfrm>
          <a:prstGeom prst="rect">
            <a:avLst/>
          </a:prstGeom>
        </p:spPr>
        <p:txBody>
          <a:bodyPr wrap="square">
            <a:spAutoFit/>
          </a:bodyPr>
          <a:lstStyle/>
          <a:p>
            <a:r>
              <a:rPr lang="en-US" altLang="zh-CN" sz="1600" dirty="0">
                <a:latin typeface="Times New Roman" panose="02020603050405020304" pitchFamily="18" charset="0"/>
                <a:cs typeface="Times New Roman" panose="02020603050405020304" pitchFamily="18" charset="0"/>
              </a:rPr>
              <a:t>{</a:t>
            </a:r>
            <a:r>
              <a:rPr lang="en-US" altLang="zh-CN" sz="1600" kern="100" dirty="0" err="1">
                <a:latin typeface="Times New Roman" panose="02020603050405020304" pitchFamily="18" charset="0"/>
                <a:ea typeface="宋体" panose="02010600030101010101" pitchFamily="2" charset="-122"/>
                <a:cs typeface="Times New Roman" panose="02020603050405020304" pitchFamily="18" charset="0"/>
              </a:rPr>
              <a:t>InsertVarible</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rPr>
              <a:t>entry(id).na</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me);  </a:t>
            </a:r>
          </a:p>
          <a:p>
            <a:r>
              <a:rPr lang="en-US" altLang="zh-CN" sz="1600" dirty="0">
                <a:latin typeface="Times New Roman" panose="02020603050405020304" pitchFamily="18" charset="0"/>
                <a:cs typeface="Times New Roman" panose="02020603050405020304" pitchFamily="18" charset="0"/>
              </a:rPr>
              <a:t>entry(id) .type = &lt;</a:t>
            </a:r>
            <a:r>
              <a:rPr lang="en-US" altLang="zh-CN" sz="1600" dirty="0" err="1">
                <a:latin typeface="Times New Roman" panose="02020603050405020304" pitchFamily="18" charset="0"/>
                <a:cs typeface="Times New Roman" panose="02020603050405020304" pitchFamily="18" charset="0"/>
              </a:rPr>
              <a:t>VarDCL</a:t>
            </a:r>
            <a:r>
              <a:rPr lang="en-US" altLang="zh-CN" sz="1600" dirty="0">
                <a:latin typeface="Times New Roman" panose="02020603050405020304" pitchFamily="18" charset="0"/>
                <a:cs typeface="Times New Roman" panose="02020603050405020304" pitchFamily="18" charset="0"/>
              </a:rPr>
              <a:t>&gt;</a:t>
            </a:r>
            <a:r>
              <a:rPr lang="en-US" altLang="zh-CN" sz="1600" baseline="30000" dirty="0">
                <a:latin typeface="Times New Roman" panose="02020603050405020304" pitchFamily="18" charset="0"/>
                <a:cs typeface="Times New Roman" panose="02020603050405020304" pitchFamily="18" charset="0"/>
              </a:rPr>
              <a:t>(1)</a:t>
            </a:r>
            <a:r>
              <a:rPr lang="en-US" altLang="zh-CN" sz="1600" dirty="0">
                <a:latin typeface="Times New Roman" panose="02020603050405020304" pitchFamily="18" charset="0"/>
                <a:cs typeface="Times New Roman" panose="02020603050405020304" pitchFamily="18" charset="0"/>
              </a:rPr>
              <a:t>.type;</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&lt;</a:t>
            </a:r>
            <a:r>
              <a:rPr lang="en-US" altLang="zh-CN" sz="1600" dirty="0" err="1">
                <a:latin typeface="Times New Roman" panose="02020603050405020304" pitchFamily="18" charset="0"/>
                <a:cs typeface="Times New Roman" panose="02020603050405020304" pitchFamily="18" charset="0"/>
              </a:rPr>
              <a:t>VarDCL</a:t>
            </a:r>
            <a:r>
              <a:rPr lang="en-US" altLang="zh-CN" sz="1600" dirty="0">
                <a:latin typeface="Times New Roman" panose="02020603050405020304" pitchFamily="18" charset="0"/>
                <a:cs typeface="Times New Roman" panose="02020603050405020304" pitchFamily="18" charset="0"/>
              </a:rPr>
              <a:t>&gt;.type=&lt;</a:t>
            </a:r>
            <a:r>
              <a:rPr lang="en-US" altLang="zh-CN" sz="1600" dirty="0" err="1">
                <a:latin typeface="Times New Roman" panose="02020603050405020304" pitchFamily="18" charset="0"/>
                <a:cs typeface="Times New Roman" panose="02020603050405020304" pitchFamily="18" charset="0"/>
              </a:rPr>
              <a:t>VarDCL</a:t>
            </a:r>
            <a:r>
              <a:rPr lang="en-US" altLang="zh-CN" sz="1600" dirty="0">
                <a:latin typeface="Times New Roman" panose="02020603050405020304" pitchFamily="18" charset="0"/>
                <a:cs typeface="Times New Roman" panose="02020603050405020304" pitchFamily="18" charset="0"/>
              </a:rPr>
              <a:t>&gt;</a:t>
            </a:r>
            <a:r>
              <a:rPr lang="en-US" altLang="zh-CN" sz="1600" baseline="30000" dirty="0">
                <a:latin typeface="Times New Roman" panose="02020603050405020304" pitchFamily="18" charset="0"/>
                <a:cs typeface="Times New Roman" panose="02020603050405020304" pitchFamily="18" charset="0"/>
              </a:rPr>
              <a:t>(1)</a:t>
            </a:r>
            <a:r>
              <a:rPr lang="en-US" altLang="zh-CN" sz="1600" dirty="0">
                <a:latin typeface="Times New Roman" panose="02020603050405020304" pitchFamily="18" charset="0"/>
                <a:cs typeface="Times New Roman" panose="02020603050405020304" pitchFamily="18" charset="0"/>
              </a:rPr>
              <a:t>.type; }</a:t>
            </a:r>
            <a:endParaRPr lang="zh-CN" altLang="en-US" sz="1600" dirty="0">
              <a:latin typeface="Times New Roman" panose="02020603050405020304" pitchFamily="18" charset="0"/>
              <a:cs typeface="Times New Roman" panose="02020603050405020304" pitchFamily="18" charset="0"/>
            </a:endParaRPr>
          </a:p>
        </p:txBody>
      </p:sp>
      <p:sp>
        <p:nvSpPr>
          <p:cNvPr id="72714" name="矩形 72713"/>
          <p:cNvSpPr/>
          <p:nvPr/>
        </p:nvSpPr>
        <p:spPr>
          <a:xfrm>
            <a:off x="2641330" y="1000786"/>
            <a:ext cx="3322444" cy="1077218"/>
          </a:xfrm>
          <a:prstGeom prst="rect">
            <a:avLst/>
          </a:prstGeom>
        </p:spPr>
        <p:txBody>
          <a:bodyPr wrap="square">
            <a:spAutoFit/>
          </a:bodyPr>
          <a:lstStyle/>
          <a:p>
            <a:pPr lvl="0" algn="just">
              <a:defRPr/>
            </a:pPr>
            <a:r>
              <a:rPr lang="en-US" altLang="zh-CN" sz="1600" dirty="0">
                <a:latin typeface="Times New Roman" panose="02020603050405020304" pitchFamily="18" charset="0"/>
                <a:cs typeface="Times New Roman" panose="02020603050405020304" pitchFamily="18" charset="0"/>
              </a:rPr>
              <a:t>{</a:t>
            </a:r>
            <a:r>
              <a:rPr lang="en-US" altLang="zh-CN" sz="1600" kern="100" dirty="0" err="1">
                <a:latin typeface="Times New Roman" panose="02020603050405020304" pitchFamily="18" charset="0"/>
                <a:ea typeface="宋体" panose="02010600030101010101" pitchFamily="2" charset="-122"/>
                <a:cs typeface="Times New Roman" panose="02020603050405020304" pitchFamily="18" charset="0"/>
              </a:rPr>
              <a:t>InsertVarible</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solidFill>
                  <a:schemeClr val="dk1"/>
                </a:solidFill>
                <a:latin typeface="Times New Roman" panose="02020603050405020304" pitchFamily="18" charset="0"/>
                <a:ea typeface="宋体" panose="02010600030101010101" pitchFamily="2" charset="-122"/>
                <a:cs typeface="Times New Roman" panose="02020603050405020304" pitchFamily="18" charset="0"/>
              </a:rPr>
              <a:t>entry(id).na</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me); </a:t>
            </a:r>
            <a:r>
              <a:rPr lang="en-US" altLang="zh-CN" sz="1600" dirty="0">
                <a:latin typeface="Times New Roman" panose="02020603050405020304" pitchFamily="18" charset="0"/>
                <a:cs typeface="Times New Roman" panose="02020603050405020304" pitchFamily="18" charset="0"/>
              </a:rPr>
              <a:t>entry(id) .type = &lt;</a:t>
            </a:r>
            <a:r>
              <a:rPr lang="en-US" altLang="zh-CN" sz="1600" dirty="0" err="1">
                <a:latin typeface="Times New Roman" panose="02020603050405020304" pitchFamily="18" charset="0"/>
                <a:cs typeface="Times New Roman" panose="02020603050405020304" pitchFamily="18" charset="0"/>
              </a:rPr>
              <a:t>VarDCL</a:t>
            </a:r>
            <a:r>
              <a:rPr lang="en-US" altLang="zh-CN" sz="1600" dirty="0">
                <a:latin typeface="Times New Roman" panose="02020603050405020304" pitchFamily="18" charset="0"/>
                <a:cs typeface="Times New Roman" panose="02020603050405020304" pitchFamily="18" charset="0"/>
              </a:rPr>
              <a:t>&gt;</a:t>
            </a:r>
            <a:r>
              <a:rPr lang="en-US" altLang="zh-CN" sz="1600" baseline="30000" dirty="0">
                <a:latin typeface="Times New Roman" panose="02020603050405020304" pitchFamily="18" charset="0"/>
                <a:cs typeface="Times New Roman" panose="02020603050405020304" pitchFamily="18" charset="0"/>
              </a:rPr>
              <a:t>(1)</a:t>
            </a:r>
            <a:r>
              <a:rPr lang="en-US" altLang="zh-CN" sz="1600" dirty="0">
                <a:latin typeface="Times New Roman" panose="02020603050405020304" pitchFamily="18" charset="0"/>
                <a:cs typeface="Times New Roman" panose="02020603050405020304" pitchFamily="18" charset="0"/>
              </a:rPr>
              <a:t>.type);</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entry(id).</a:t>
            </a:r>
            <a:r>
              <a:rPr lang="en-US" altLang="zh-CN" sz="1600" dirty="0" err="1">
                <a:latin typeface="Times New Roman" panose="02020603050405020304" pitchFamily="18" charset="0"/>
                <a:cs typeface="Times New Roman" panose="02020603050405020304" pitchFamily="18" charset="0"/>
              </a:rPr>
              <a:t>val</a:t>
            </a:r>
            <a:r>
              <a:rPr lang="en-US" altLang="zh-CN" sz="1600" dirty="0">
                <a:latin typeface="Times New Roman" panose="02020603050405020304" pitchFamily="18" charset="0"/>
                <a:cs typeface="Times New Roman" panose="02020603050405020304" pitchFamily="18" charset="0"/>
              </a:rPr>
              <a:t>=&lt;expr&gt;.PLACE;</a:t>
            </a:r>
            <a:endParaRPr lang="zh-CN"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&lt;</a:t>
            </a:r>
            <a:r>
              <a:rPr lang="en-US" altLang="zh-CN" sz="1600" dirty="0" err="1">
                <a:latin typeface="Times New Roman" panose="02020603050405020304" pitchFamily="18" charset="0"/>
                <a:cs typeface="Times New Roman" panose="02020603050405020304" pitchFamily="18" charset="0"/>
              </a:rPr>
              <a:t>VarDCL</a:t>
            </a:r>
            <a:r>
              <a:rPr lang="en-US" altLang="zh-CN" sz="1600" dirty="0">
                <a:latin typeface="Times New Roman" panose="02020603050405020304" pitchFamily="18" charset="0"/>
                <a:cs typeface="Times New Roman" panose="02020603050405020304" pitchFamily="18" charset="0"/>
              </a:rPr>
              <a:t>&gt;.type=&lt;</a:t>
            </a:r>
            <a:r>
              <a:rPr lang="en-US" altLang="zh-CN" sz="1600" dirty="0" err="1">
                <a:latin typeface="Times New Roman" panose="02020603050405020304" pitchFamily="18" charset="0"/>
                <a:cs typeface="Times New Roman" panose="02020603050405020304" pitchFamily="18" charset="0"/>
              </a:rPr>
              <a:t>VarDCL</a:t>
            </a:r>
            <a:r>
              <a:rPr lang="en-US" altLang="zh-CN" sz="1600" dirty="0">
                <a:latin typeface="Times New Roman" panose="02020603050405020304" pitchFamily="18" charset="0"/>
                <a:cs typeface="Times New Roman" panose="02020603050405020304" pitchFamily="18" charset="0"/>
              </a:rPr>
              <a:t>&gt;</a:t>
            </a:r>
            <a:r>
              <a:rPr lang="en-US" altLang="zh-CN" sz="1600" baseline="30000" dirty="0">
                <a:latin typeface="Times New Roman" panose="02020603050405020304" pitchFamily="18" charset="0"/>
                <a:cs typeface="Times New Roman" panose="02020603050405020304" pitchFamily="18" charset="0"/>
              </a:rPr>
              <a:t>(1)</a:t>
            </a:r>
            <a:r>
              <a:rPr lang="en-US" altLang="zh-CN" sz="1600" dirty="0">
                <a:latin typeface="Times New Roman" panose="02020603050405020304" pitchFamily="18" charset="0"/>
                <a:cs typeface="Times New Roman" panose="02020603050405020304" pitchFamily="18" charset="0"/>
              </a:rPr>
              <a:t>.type;}</a:t>
            </a:r>
            <a:endParaRPr lang="zh-CN" altLang="en-US" sz="1600" dirty="0">
              <a:latin typeface="Times New Roman" panose="02020603050405020304" pitchFamily="18" charset="0"/>
              <a:cs typeface="Times New Roman" panose="02020603050405020304" pitchFamily="18" charset="0"/>
            </a:endParaRPr>
          </a:p>
        </p:txBody>
      </p:sp>
      <p:sp>
        <p:nvSpPr>
          <p:cNvPr id="52" name="Line 16"/>
          <p:cNvSpPr>
            <a:spLocks noChangeShapeType="1"/>
          </p:cNvSpPr>
          <p:nvPr/>
        </p:nvSpPr>
        <p:spPr bwMode="auto">
          <a:xfrm flipV="1">
            <a:off x="2954531" y="4145448"/>
            <a:ext cx="393333"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Times New Roman" panose="02020603050405020304" pitchFamily="18" charset="0"/>
              <a:cs typeface="Times New Roman" panose="02020603050405020304" pitchFamily="18" charset="0"/>
            </a:endParaRPr>
          </a:p>
        </p:txBody>
      </p:sp>
      <p:sp>
        <p:nvSpPr>
          <p:cNvPr id="53" name="Line 16"/>
          <p:cNvSpPr>
            <a:spLocks noChangeShapeType="1"/>
          </p:cNvSpPr>
          <p:nvPr/>
        </p:nvSpPr>
        <p:spPr bwMode="auto">
          <a:xfrm flipV="1">
            <a:off x="3479527" y="3326634"/>
            <a:ext cx="561554"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Times New Roman" panose="02020603050405020304" pitchFamily="18" charset="0"/>
              <a:cs typeface="Times New Roman" panose="02020603050405020304" pitchFamily="18" charset="0"/>
            </a:endParaRPr>
          </a:p>
        </p:txBody>
      </p:sp>
      <p:sp>
        <p:nvSpPr>
          <p:cNvPr id="54" name="Line 16"/>
          <p:cNvSpPr>
            <a:spLocks noChangeShapeType="1"/>
          </p:cNvSpPr>
          <p:nvPr/>
        </p:nvSpPr>
        <p:spPr bwMode="auto">
          <a:xfrm>
            <a:off x="3760303" y="3893053"/>
            <a:ext cx="671659" cy="737311"/>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Times New Roman" panose="02020603050405020304" pitchFamily="18" charset="0"/>
              <a:cs typeface="Times New Roman" panose="02020603050405020304" pitchFamily="18" charset="0"/>
            </a:endParaRPr>
          </a:p>
        </p:txBody>
      </p:sp>
      <p:sp>
        <p:nvSpPr>
          <p:cNvPr id="55" name="Line 16"/>
          <p:cNvSpPr>
            <a:spLocks noChangeShapeType="1"/>
          </p:cNvSpPr>
          <p:nvPr/>
        </p:nvSpPr>
        <p:spPr bwMode="auto">
          <a:xfrm flipV="1">
            <a:off x="4586510" y="2493955"/>
            <a:ext cx="686836"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Times New Roman" panose="02020603050405020304" pitchFamily="18" charset="0"/>
              <a:cs typeface="Times New Roman" panose="02020603050405020304" pitchFamily="18" charset="0"/>
            </a:endParaRPr>
          </a:p>
        </p:txBody>
      </p:sp>
      <p:sp>
        <p:nvSpPr>
          <p:cNvPr id="56" name="Line 16"/>
          <p:cNvSpPr>
            <a:spLocks noChangeShapeType="1"/>
          </p:cNvSpPr>
          <p:nvPr/>
        </p:nvSpPr>
        <p:spPr bwMode="auto">
          <a:xfrm>
            <a:off x="4869440" y="3128187"/>
            <a:ext cx="2031179" cy="1679049"/>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57" name="Line 16"/>
          <p:cNvSpPr>
            <a:spLocks noChangeShapeType="1"/>
          </p:cNvSpPr>
          <p:nvPr/>
        </p:nvSpPr>
        <p:spPr bwMode="auto">
          <a:xfrm flipV="1">
            <a:off x="5658125" y="1724202"/>
            <a:ext cx="1002108" cy="495371"/>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58" name="Line 16"/>
          <p:cNvSpPr>
            <a:spLocks noChangeShapeType="1"/>
          </p:cNvSpPr>
          <p:nvPr/>
        </p:nvSpPr>
        <p:spPr bwMode="auto">
          <a:xfrm>
            <a:off x="5763191" y="2439191"/>
            <a:ext cx="2481217" cy="2191173"/>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59" name="文本占位符 2"/>
          <p:cNvSpPr>
            <a:spLocks noGrp="1"/>
          </p:cNvSpPr>
          <p:nvPr>
            <p:ph type="body" sz="half" idx="1"/>
          </p:nvPr>
        </p:nvSpPr>
        <p:spPr>
          <a:xfrm>
            <a:off x="5393380" y="8149"/>
            <a:ext cx="3782202" cy="1182563"/>
          </a:xfrm>
          <a:ln>
            <a:headEnd/>
            <a:tailEnd/>
          </a:ln>
        </p:spPr>
        <p:style>
          <a:lnRef idx="2">
            <a:schemeClr val="accent2"/>
          </a:lnRef>
          <a:fillRef idx="1">
            <a:schemeClr val="lt1"/>
          </a:fillRef>
          <a:effectRef idx="0">
            <a:schemeClr val="accent2"/>
          </a:effectRef>
          <a:fontRef idx="minor">
            <a:schemeClr val="dk1"/>
          </a:fontRef>
        </p:style>
        <p:txBody>
          <a:bodyPr>
            <a:normAutofit fontScale="85000" lnSpcReduction="20000"/>
          </a:bodyPr>
          <a:lstStyle/>
          <a:p>
            <a:pPr marL="0" indent="0">
              <a:spcBef>
                <a:spcPts val="0"/>
              </a:spcBef>
              <a:buFontTx/>
              <a:buNone/>
            </a:pPr>
            <a:r>
              <a:rPr lang="zh-CN" altLang="zh-CN" sz="1600" dirty="0">
                <a:latin typeface="宋体" panose="02010600030101010101" pitchFamily="2" charset="-122"/>
                <a:ea typeface="宋体" panose="02010600030101010101" pitchFamily="2" charset="-122"/>
                <a:cs typeface="Arial" panose="020B0604020202020204" pitchFamily="34" charset="0"/>
              </a:rPr>
              <a:t>（</a:t>
            </a:r>
            <a:r>
              <a:rPr lang="en-US" altLang="zh-CN" sz="1600" dirty="0">
                <a:latin typeface="宋体" panose="02010600030101010101" pitchFamily="2" charset="-122"/>
                <a:ea typeface="宋体" panose="02010600030101010101" pitchFamily="2" charset="-122"/>
                <a:cs typeface="Arial" panose="020B0604020202020204" pitchFamily="34" charset="0"/>
              </a:rPr>
              <a:t>1</a:t>
            </a:r>
            <a:r>
              <a:rPr lang="zh-CN" altLang="zh-CN" sz="1600" dirty="0">
                <a:latin typeface="宋体" panose="02010600030101010101" pitchFamily="2" charset="-122"/>
                <a:ea typeface="宋体" panose="02010600030101010101" pitchFamily="2" charset="-122"/>
                <a:cs typeface="Arial" panose="020B0604020202020204" pitchFamily="34" charset="0"/>
              </a:rPr>
              <a:t>）</a:t>
            </a:r>
            <a:r>
              <a:rPr lang="en-US" altLang="zh-CN" sz="1600" dirty="0">
                <a:latin typeface="宋体" panose="02010600030101010101" pitchFamily="2" charset="-122"/>
                <a:ea typeface="宋体" panose="02010600030101010101" pitchFamily="2" charset="-122"/>
                <a:cs typeface="Arial" panose="020B0604020202020204" pitchFamily="34" charset="0"/>
              </a:rPr>
              <a:t>&lt;</a:t>
            </a:r>
            <a:r>
              <a:rPr lang="en-US" altLang="zh-CN" sz="1600" dirty="0" err="1">
                <a:latin typeface="宋体" panose="02010600030101010101" pitchFamily="2" charset="-122"/>
                <a:ea typeface="宋体" panose="02010600030101010101" pitchFamily="2" charset="-122"/>
                <a:cs typeface="Arial" panose="020B0604020202020204" pitchFamily="34" charset="0"/>
              </a:rPr>
              <a:t>VarDCL</a:t>
            </a:r>
            <a:r>
              <a:rPr lang="en-US" altLang="zh-CN" sz="1600" dirty="0">
                <a:latin typeface="宋体" panose="02010600030101010101" pitchFamily="2" charset="-122"/>
                <a:ea typeface="宋体" panose="02010600030101010101" pitchFamily="2" charset="-122"/>
                <a:cs typeface="Arial" panose="020B0604020202020204" pitchFamily="34" charset="0"/>
              </a:rPr>
              <a:t>&gt;→&lt;</a:t>
            </a:r>
            <a:r>
              <a:rPr lang="en-US" altLang="zh-CN" sz="1600" dirty="0" err="1">
                <a:latin typeface="宋体" panose="02010600030101010101" pitchFamily="2" charset="-122"/>
                <a:ea typeface="宋体" panose="02010600030101010101" pitchFamily="2" charset="-122"/>
                <a:cs typeface="Arial" panose="020B0604020202020204" pitchFamily="34" charset="0"/>
              </a:rPr>
              <a:t>VarDCL</a:t>
            </a:r>
            <a:r>
              <a:rPr lang="en-US" altLang="zh-CN" sz="1600" dirty="0">
                <a:latin typeface="宋体" panose="02010600030101010101" pitchFamily="2" charset="-122"/>
                <a:ea typeface="宋体" panose="02010600030101010101" pitchFamily="2" charset="-122"/>
                <a:cs typeface="Arial" panose="020B0604020202020204" pitchFamily="34" charset="0"/>
              </a:rPr>
              <a:t>&gt;</a:t>
            </a:r>
            <a:r>
              <a:rPr lang="en-US" altLang="zh-CN" sz="1600" baseline="30000" dirty="0">
                <a:latin typeface="宋体" panose="02010600030101010101" pitchFamily="2" charset="-122"/>
                <a:ea typeface="宋体" panose="02010600030101010101" pitchFamily="2" charset="-122"/>
                <a:cs typeface="Arial" panose="020B0604020202020204" pitchFamily="34" charset="0"/>
              </a:rPr>
              <a:t>(1)</a:t>
            </a:r>
            <a:r>
              <a:rPr lang="en-US" altLang="zh-CN" sz="1600" dirty="0">
                <a:latin typeface="宋体" panose="02010600030101010101" pitchFamily="2" charset="-122"/>
                <a:ea typeface="宋体" panose="02010600030101010101" pitchFamily="2" charset="-122"/>
                <a:cs typeface="Arial" panose="020B0604020202020204" pitchFamily="34" charset="0"/>
              </a:rPr>
              <a:t>, id</a:t>
            </a:r>
            <a:endParaRPr lang="zh-CN" altLang="zh-CN" sz="1600" dirty="0">
              <a:latin typeface="宋体" panose="02010600030101010101" pitchFamily="2" charset="-122"/>
              <a:ea typeface="宋体" panose="02010600030101010101" pitchFamily="2" charset="-122"/>
              <a:cs typeface="Arial" panose="020B0604020202020204" pitchFamily="34" charset="0"/>
            </a:endParaRPr>
          </a:p>
          <a:p>
            <a:pPr marL="0" indent="0">
              <a:spcBef>
                <a:spcPts val="0"/>
              </a:spcBef>
              <a:buFontTx/>
              <a:buNone/>
            </a:pPr>
            <a:r>
              <a:rPr lang="en-US" altLang="zh-CN" sz="1600" dirty="0">
                <a:latin typeface="宋体" panose="02010600030101010101" pitchFamily="2" charset="-122"/>
                <a:ea typeface="宋体" panose="02010600030101010101" pitchFamily="2" charset="-122"/>
                <a:cs typeface="Arial" panose="020B0604020202020204" pitchFamily="34" charset="0"/>
              </a:rPr>
              <a:t>             → </a:t>
            </a:r>
            <a:r>
              <a:rPr lang="en-US" altLang="zh-CN" sz="1600" dirty="0">
                <a:latin typeface="宋体" panose="02010600030101010101" pitchFamily="2" charset="-122"/>
                <a:ea typeface="宋体" panose="02010600030101010101" pitchFamily="2" charset="-122"/>
                <a:cs typeface="Arial" panose="020B0604020202020204" pitchFamily="34" charset="0"/>
                <a:sym typeface="Symbol" pitchFamily="18" charset="2"/>
              </a:rPr>
              <a:t></a:t>
            </a:r>
            <a:endParaRPr lang="zh-CN" altLang="zh-CN" sz="1600" dirty="0">
              <a:latin typeface="宋体" panose="02010600030101010101" pitchFamily="2" charset="-122"/>
              <a:ea typeface="宋体" panose="02010600030101010101" pitchFamily="2" charset="-122"/>
              <a:cs typeface="Arial" panose="020B0604020202020204" pitchFamily="34" charset="0"/>
            </a:endParaRPr>
          </a:p>
          <a:p>
            <a:pPr marL="0" indent="0">
              <a:spcBef>
                <a:spcPts val="0"/>
              </a:spcBef>
              <a:buFontTx/>
              <a:buNone/>
            </a:pPr>
            <a:r>
              <a:rPr lang="zh-CN" altLang="zh-CN" sz="1600" dirty="0">
                <a:latin typeface="宋体" panose="02010600030101010101" pitchFamily="2" charset="-122"/>
                <a:ea typeface="宋体" panose="02010600030101010101" pitchFamily="2" charset="-122"/>
                <a:cs typeface="Arial" panose="020B0604020202020204" pitchFamily="34" charset="0"/>
              </a:rPr>
              <a:t>（</a:t>
            </a:r>
            <a:r>
              <a:rPr lang="en-US" altLang="zh-CN" sz="1600" dirty="0">
                <a:latin typeface="宋体" panose="02010600030101010101" pitchFamily="2" charset="-122"/>
                <a:ea typeface="宋体" panose="02010600030101010101" pitchFamily="2" charset="-122"/>
                <a:cs typeface="Arial" panose="020B0604020202020204" pitchFamily="34" charset="0"/>
              </a:rPr>
              <a:t>2</a:t>
            </a:r>
            <a:r>
              <a:rPr lang="zh-CN" altLang="zh-CN" sz="1600" dirty="0">
                <a:latin typeface="宋体" panose="02010600030101010101" pitchFamily="2" charset="-122"/>
                <a:ea typeface="宋体" panose="02010600030101010101" pitchFamily="2" charset="-122"/>
                <a:cs typeface="Arial" panose="020B0604020202020204" pitchFamily="34" charset="0"/>
              </a:rPr>
              <a:t>）</a:t>
            </a:r>
            <a:r>
              <a:rPr lang="en-US" altLang="zh-CN" sz="1600" dirty="0">
                <a:latin typeface="宋体" panose="02010600030101010101" pitchFamily="2" charset="-122"/>
                <a:ea typeface="宋体" panose="02010600030101010101" pitchFamily="2" charset="-122"/>
                <a:cs typeface="Arial" panose="020B0604020202020204" pitchFamily="34" charset="0"/>
              </a:rPr>
              <a:t>&lt;</a:t>
            </a:r>
            <a:r>
              <a:rPr lang="en-US" altLang="zh-CN" sz="1600" dirty="0" err="1">
                <a:latin typeface="宋体" panose="02010600030101010101" pitchFamily="2" charset="-122"/>
                <a:ea typeface="宋体" panose="02010600030101010101" pitchFamily="2" charset="-122"/>
                <a:cs typeface="Arial" panose="020B0604020202020204" pitchFamily="34" charset="0"/>
              </a:rPr>
              <a:t>VarDCL</a:t>
            </a:r>
            <a:r>
              <a:rPr lang="en-US" altLang="zh-CN" sz="1600" dirty="0">
                <a:latin typeface="宋体" panose="02010600030101010101" pitchFamily="2" charset="-122"/>
                <a:ea typeface="宋体" panose="02010600030101010101" pitchFamily="2" charset="-122"/>
                <a:cs typeface="Arial" panose="020B0604020202020204" pitchFamily="34" charset="0"/>
              </a:rPr>
              <a:t>&gt;→&lt;</a:t>
            </a:r>
            <a:r>
              <a:rPr lang="en-US" altLang="zh-CN" sz="1600" dirty="0" err="1">
                <a:latin typeface="宋体" panose="02010600030101010101" pitchFamily="2" charset="-122"/>
                <a:ea typeface="宋体" panose="02010600030101010101" pitchFamily="2" charset="-122"/>
                <a:cs typeface="Arial" panose="020B0604020202020204" pitchFamily="34" charset="0"/>
              </a:rPr>
              <a:t>VarDCL</a:t>
            </a:r>
            <a:r>
              <a:rPr lang="en-US" altLang="zh-CN" sz="1600" dirty="0">
                <a:latin typeface="宋体" panose="02010600030101010101" pitchFamily="2" charset="-122"/>
                <a:ea typeface="宋体" panose="02010600030101010101" pitchFamily="2" charset="-122"/>
                <a:cs typeface="Arial" panose="020B0604020202020204" pitchFamily="34" charset="0"/>
              </a:rPr>
              <a:t>&gt;</a:t>
            </a:r>
            <a:r>
              <a:rPr lang="en-US" altLang="zh-CN" sz="1600" baseline="30000" dirty="0">
                <a:latin typeface="宋体" panose="02010600030101010101" pitchFamily="2" charset="-122"/>
                <a:ea typeface="宋体" panose="02010600030101010101" pitchFamily="2" charset="-122"/>
                <a:cs typeface="Arial" panose="020B0604020202020204" pitchFamily="34" charset="0"/>
              </a:rPr>
              <a:t>(1)</a:t>
            </a:r>
            <a:r>
              <a:rPr lang="en-US" altLang="zh-CN" sz="1600" dirty="0">
                <a:latin typeface="宋体" panose="02010600030101010101" pitchFamily="2" charset="-122"/>
                <a:ea typeface="宋体" panose="02010600030101010101" pitchFamily="2" charset="-122"/>
                <a:cs typeface="Arial" panose="020B0604020202020204" pitchFamily="34" charset="0"/>
              </a:rPr>
              <a:t>, id=&lt;expr&gt;</a:t>
            </a:r>
            <a:endParaRPr lang="zh-CN" altLang="zh-CN" sz="1600" dirty="0">
              <a:latin typeface="宋体" panose="02010600030101010101" pitchFamily="2" charset="-122"/>
              <a:ea typeface="宋体" panose="02010600030101010101" pitchFamily="2" charset="-122"/>
              <a:cs typeface="Arial" panose="020B0604020202020204" pitchFamily="34" charset="0"/>
            </a:endParaRPr>
          </a:p>
          <a:p>
            <a:pPr marL="0" indent="0">
              <a:spcBef>
                <a:spcPts val="0"/>
              </a:spcBef>
              <a:buFontTx/>
              <a:buNone/>
            </a:pPr>
            <a:r>
              <a:rPr lang="zh-CN" altLang="zh-CN" sz="1600" dirty="0">
                <a:latin typeface="宋体" panose="02010600030101010101" pitchFamily="2" charset="-122"/>
                <a:ea typeface="宋体" panose="02010600030101010101" pitchFamily="2" charset="-122"/>
                <a:cs typeface="Arial" panose="020B0604020202020204" pitchFamily="34" charset="0"/>
              </a:rPr>
              <a:t>（</a:t>
            </a:r>
            <a:r>
              <a:rPr lang="en-US" altLang="zh-CN" sz="1600" dirty="0">
                <a:latin typeface="宋体" panose="02010600030101010101" pitchFamily="2" charset="-122"/>
                <a:ea typeface="宋体" panose="02010600030101010101" pitchFamily="2" charset="-122"/>
                <a:cs typeface="Arial" panose="020B0604020202020204" pitchFamily="34" charset="0"/>
              </a:rPr>
              <a:t>3</a:t>
            </a:r>
            <a:r>
              <a:rPr lang="zh-CN" altLang="zh-CN" sz="1600" dirty="0">
                <a:latin typeface="宋体" panose="02010600030101010101" pitchFamily="2" charset="-122"/>
                <a:ea typeface="宋体" panose="02010600030101010101" pitchFamily="2" charset="-122"/>
                <a:cs typeface="Arial" panose="020B0604020202020204" pitchFamily="34" charset="0"/>
              </a:rPr>
              <a:t>）</a:t>
            </a:r>
            <a:r>
              <a:rPr lang="en-US" altLang="zh-CN" sz="1600" dirty="0">
                <a:latin typeface="宋体" panose="02010600030101010101" pitchFamily="2" charset="-122"/>
                <a:ea typeface="宋体" panose="02010600030101010101" pitchFamily="2" charset="-122"/>
                <a:cs typeface="Arial" panose="020B0604020202020204" pitchFamily="34" charset="0"/>
              </a:rPr>
              <a:t>&lt;</a:t>
            </a:r>
            <a:r>
              <a:rPr lang="en-US" altLang="zh-CN" sz="1600" dirty="0" err="1">
                <a:latin typeface="宋体" panose="02010600030101010101" pitchFamily="2" charset="-122"/>
                <a:ea typeface="宋体" panose="02010600030101010101" pitchFamily="2" charset="-122"/>
                <a:cs typeface="Arial" panose="020B0604020202020204" pitchFamily="34" charset="0"/>
              </a:rPr>
              <a:t>VarType</a:t>
            </a:r>
            <a:r>
              <a:rPr lang="en-US" altLang="zh-CN" sz="1600" dirty="0">
                <a:latin typeface="宋体" panose="02010600030101010101" pitchFamily="2" charset="-122"/>
                <a:ea typeface="宋体" panose="02010600030101010101" pitchFamily="2" charset="-122"/>
                <a:cs typeface="Arial" panose="020B0604020202020204" pitchFamily="34" charset="0"/>
              </a:rPr>
              <a:t>&gt;→</a:t>
            </a:r>
            <a:r>
              <a:rPr lang="en-US" altLang="zh-CN" sz="1600" dirty="0" err="1">
                <a:latin typeface="宋体" panose="02010600030101010101" pitchFamily="2" charset="-122"/>
                <a:ea typeface="宋体" panose="02010600030101010101" pitchFamily="2" charset="-122"/>
                <a:cs typeface="Arial" panose="020B0604020202020204" pitchFamily="34" charset="0"/>
              </a:rPr>
              <a:t>int</a:t>
            </a:r>
            <a:endParaRPr lang="zh-CN" altLang="zh-CN" sz="1600" dirty="0">
              <a:latin typeface="宋体" panose="02010600030101010101" pitchFamily="2" charset="-122"/>
              <a:ea typeface="宋体" panose="02010600030101010101" pitchFamily="2" charset="-122"/>
              <a:cs typeface="Arial" panose="020B0604020202020204" pitchFamily="34" charset="0"/>
            </a:endParaRPr>
          </a:p>
          <a:p>
            <a:pPr marL="0" indent="0">
              <a:spcBef>
                <a:spcPts val="0"/>
              </a:spcBef>
              <a:buFontTx/>
              <a:buNone/>
            </a:pPr>
            <a:r>
              <a:rPr lang="zh-CN" altLang="zh-CN" sz="1600" dirty="0">
                <a:latin typeface="宋体" panose="02010600030101010101" pitchFamily="2" charset="-122"/>
                <a:ea typeface="宋体" panose="02010600030101010101" pitchFamily="2" charset="-122"/>
                <a:cs typeface="Arial" panose="020B0604020202020204" pitchFamily="34" charset="0"/>
              </a:rPr>
              <a:t>（</a:t>
            </a:r>
            <a:r>
              <a:rPr lang="en-US" altLang="zh-CN" sz="1600" dirty="0">
                <a:latin typeface="宋体" panose="02010600030101010101" pitchFamily="2" charset="-122"/>
                <a:ea typeface="宋体" panose="02010600030101010101" pitchFamily="2" charset="-122"/>
                <a:cs typeface="Arial" panose="020B0604020202020204" pitchFamily="34" charset="0"/>
              </a:rPr>
              <a:t>4</a:t>
            </a:r>
            <a:r>
              <a:rPr lang="zh-CN" altLang="zh-CN" sz="1600" dirty="0">
                <a:latin typeface="宋体" panose="02010600030101010101" pitchFamily="2" charset="-122"/>
                <a:ea typeface="宋体" panose="02010600030101010101" pitchFamily="2" charset="-122"/>
                <a:cs typeface="Arial" panose="020B0604020202020204" pitchFamily="34" charset="0"/>
              </a:rPr>
              <a:t>）</a:t>
            </a:r>
            <a:r>
              <a:rPr lang="en-US" altLang="zh-CN" sz="1600" dirty="0">
                <a:latin typeface="宋体" panose="02010600030101010101" pitchFamily="2" charset="-122"/>
                <a:ea typeface="宋体" panose="02010600030101010101" pitchFamily="2" charset="-122"/>
                <a:cs typeface="Arial" panose="020B0604020202020204" pitchFamily="34" charset="0"/>
              </a:rPr>
              <a:t>&lt;</a:t>
            </a:r>
            <a:r>
              <a:rPr lang="en-US" altLang="zh-CN" sz="1600" dirty="0" err="1">
                <a:latin typeface="宋体" panose="02010600030101010101" pitchFamily="2" charset="-122"/>
                <a:ea typeface="宋体" panose="02010600030101010101" pitchFamily="2" charset="-122"/>
                <a:cs typeface="Arial" panose="020B0604020202020204" pitchFamily="34" charset="0"/>
              </a:rPr>
              <a:t>VarDCL</a:t>
            </a:r>
            <a:r>
              <a:rPr lang="en-US" altLang="zh-CN" sz="1600" dirty="0">
                <a:latin typeface="宋体" panose="02010600030101010101" pitchFamily="2" charset="-122"/>
                <a:ea typeface="宋体" panose="02010600030101010101" pitchFamily="2" charset="-122"/>
                <a:cs typeface="Arial" panose="020B0604020202020204" pitchFamily="34" charset="0"/>
              </a:rPr>
              <a:t>&gt;→&lt;</a:t>
            </a:r>
            <a:r>
              <a:rPr lang="en-US" altLang="zh-CN" sz="1600" dirty="0" err="1">
                <a:latin typeface="宋体" panose="02010600030101010101" pitchFamily="2" charset="-122"/>
                <a:ea typeface="宋体" panose="02010600030101010101" pitchFamily="2" charset="-122"/>
                <a:cs typeface="Arial" panose="020B0604020202020204" pitchFamily="34" charset="0"/>
              </a:rPr>
              <a:t>VarType</a:t>
            </a:r>
            <a:r>
              <a:rPr lang="en-US" altLang="zh-CN" sz="1600" dirty="0">
                <a:latin typeface="宋体" panose="02010600030101010101" pitchFamily="2" charset="-122"/>
                <a:ea typeface="宋体" panose="02010600030101010101" pitchFamily="2" charset="-122"/>
                <a:cs typeface="Arial" panose="020B0604020202020204" pitchFamily="34" charset="0"/>
              </a:rPr>
              <a:t>&gt; id</a:t>
            </a:r>
            <a:endParaRPr lang="zh-CN" altLang="zh-CN" sz="1600" dirty="0">
              <a:latin typeface="宋体" panose="02010600030101010101" pitchFamily="2" charset="-122"/>
              <a:ea typeface="宋体" panose="02010600030101010101" pitchFamily="2" charset="-122"/>
              <a:cs typeface="Arial" panose="020B0604020202020204" pitchFamily="34" charset="0"/>
            </a:endParaRPr>
          </a:p>
          <a:p>
            <a:pPr marL="0" indent="0">
              <a:spcBef>
                <a:spcPts val="0"/>
              </a:spcBef>
              <a:buFontTx/>
              <a:buNone/>
            </a:pPr>
            <a:r>
              <a:rPr lang="zh-CN" altLang="zh-CN" sz="1600" dirty="0">
                <a:latin typeface="宋体" panose="02010600030101010101" pitchFamily="2" charset="-122"/>
                <a:ea typeface="宋体" panose="02010600030101010101" pitchFamily="2" charset="-122"/>
                <a:cs typeface="Arial" panose="020B0604020202020204" pitchFamily="34" charset="0"/>
              </a:rPr>
              <a:t>（</a:t>
            </a:r>
            <a:r>
              <a:rPr lang="en-US" altLang="zh-CN" sz="1600" dirty="0">
                <a:latin typeface="宋体" panose="02010600030101010101" pitchFamily="2" charset="-122"/>
                <a:ea typeface="宋体" panose="02010600030101010101" pitchFamily="2" charset="-122"/>
                <a:cs typeface="Arial" panose="020B0604020202020204" pitchFamily="34" charset="0"/>
              </a:rPr>
              <a:t>5</a:t>
            </a:r>
            <a:r>
              <a:rPr lang="zh-CN" altLang="zh-CN" sz="1600" dirty="0">
                <a:latin typeface="宋体" panose="02010600030101010101" pitchFamily="2" charset="-122"/>
                <a:ea typeface="宋体" panose="02010600030101010101" pitchFamily="2" charset="-122"/>
                <a:cs typeface="Arial" panose="020B0604020202020204" pitchFamily="34" charset="0"/>
              </a:rPr>
              <a:t>）</a:t>
            </a:r>
            <a:r>
              <a:rPr lang="en-US" altLang="zh-CN" sz="1600" dirty="0">
                <a:latin typeface="宋体" panose="02010600030101010101" pitchFamily="2" charset="-122"/>
                <a:ea typeface="宋体" panose="02010600030101010101" pitchFamily="2" charset="-122"/>
                <a:cs typeface="Arial" panose="020B0604020202020204" pitchFamily="34" charset="0"/>
              </a:rPr>
              <a:t>&lt;</a:t>
            </a:r>
            <a:r>
              <a:rPr lang="en-US" altLang="zh-CN" sz="1600" dirty="0" err="1">
                <a:latin typeface="宋体" panose="02010600030101010101" pitchFamily="2" charset="-122"/>
                <a:ea typeface="宋体" panose="02010600030101010101" pitchFamily="2" charset="-122"/>
                <a:cs typeface="Arial" panose="020B0604020202020204" pitchFamily="34" charset="0"/>
              </a:rPr>
              <a:t>VarDCL</a:t>
            </a:r>
            <a:r>
              <a:rPr lang="en-US" altLang="zh-CN" sz="1600" dirty="0">
                <a:latin typeface="宋体" panose="02010600030101010101" pitchFamily="2" charset="-122"/>
                <a:ea typeface="宋体" panose="02010600030101010101" pitchFamily="2" charset="-122"/>
                <a:cs typeface="Arial" panose="020B0604020202020204" pitchFamily="34" charset="0"/>
              </a:rPr>
              <a:t>&gt;→&lt;</a:t>
            </a:r>
            <a:r>
              <a:rPr lang="en-US" altLang="zh-CN" sz="1600" dirty="0" err="1">
                <a:latin typeface="宋体" panose="02010600030101010101" pitchFamily="2" charset="-122"/>
                <a:ea typeface="宋体" panose="02010600030101010101" pitchFamily="2" charset="-122"/>
                <a:cs typeface="Arial" panose="020B0604020202020204" pitchFamily="34" charset="0"/>
              </a:rPr>
              <a:t>VarType</a:t>
            </a:r>
            <a:r>
              <a:rPr lang="en-US" altLang="zh-CN" sz="1600" dirty="0">
                <a:latin typeface="宋体" panose="02010600030101010101" pitchFamily="2" charset="-122"/>
                <a:ea typeface="宋体" panose="02010600030101010101" pitchFamily="2" charset="-122"/>
                <a:cs typeface="Arial" panose="020B0604020202020204" pitchFamily="34" charset="0"/>
              </a:rPr>
              <a:t>&gt; id = &lt;expr&gt; </a:t>
            </a:r>
            <a:endParaRPr lang="zh-CN" altLang="en-US" sz="1600" dirty="0">
              <a:latin typeface="宋体" panose="02010600030101010101" pitchFamily="2" charset="-122"/>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389058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10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52"/>
                                        </p:tgtEl>
                                        <p:attrNameLst>
                                          <p:attrName>style.visibility</p:attrName>
                                        </p:attrNameLst>
                                      </p:cBhvr>
                                      <p:to>
                                        <p:strVal val="visible"/>
                                      </p:to>
                                    </p:set>
                                    <p:animEffect transition="in" filter="wipe(down)">
                                      <p:cBhvr>
                                        <p:cTn id="20" dur="500"/>
                                        <p:tgtEl>
                                          <p:spTgt spid="5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27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down)">
                                      <p:cBhvr>
                                        <p:cTn id="29" dur="1000"/>
                                        <p:tgtEl>
                                          <p:spTgt spid="9"/>
                                        </p:tgtEl>
                                      </p:cBhvr>
                                    </p:animEffect>
                                  </p:childTnLst>
                                </p:cTn>
                              </p:par>
                              <p:par>
                                <p:cTn id="30" presetID="22" presetClass="entr" presetSubtype="4" fill="hold"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down)">
                                      <p:cBhvr>
                                        <p:cTn id="32" dur="10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wipe(down)">
                                      <p:cBhvr>
                                        <p:cTn id="41" dur="500"/>
                                        <p:tgtEl>
                                          <p:spTgt spid="53"/>
                                        </p:tgtEl>
                                      </p:cBhvr>
                                    </p:animEffect>
                                  </p:childTnLst>
                                </p:cTn>
                              </p:par>
                              <p:par>
                                <p:cTn id="42" presetID="22" presetClass="entr" presetSubtype="8" fill="hold" nodeType="withEffect">
                                  <p:stCondLst>
                                    <p:cond delay="0"/>
                                  </p:stCondLst>
                                  <p:childTnLst>
                                    <p:set>
                                      <p:cBhvr>
                                        <p:cTn id="43" dur="1" fill="hold">
                                          <p:stCondLst>
                                            <p:cond delay="0"/>
                                          </p:stCondLst>
                                        </p:cTn>
                                        <p:tgtEl>
                                          <p:spTgt spid="54"/>
                                        </p:tgtEl>
                                        <p:attrNameLst>
                                          <p:attrName>style.visibility</p:attrName>
                                        </p:attrNameLst>
                                      </p:cBhvr>
                                      <p:to>
                                        <p:strVal val="visible"/>
                                      </p:to>
                                    </p:set>
                                    <p:animEffect transition="in" filter="wipe(left)">
                                      <p:cBhvr>
                                        <p:cTn id="44" dur="500"/>
                                        <p:tgtEl>
                                          <p:spTgt spid="54"/>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27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wipe(down)">
                                      <p:cBhvr>
                                        <p:cTn id="53" dur="1000"/>
                                        <p:tgtEl>
                                          <p:spTgt spid="20"/>
                                        </p:tgtEl>
                                      </p:cBhvr>
                                    </p:animEffect>
                                  </p:childTnLst>
                                </p:cTn>
                              </p:par>
                              <p:par>
                                <p:cTn id="54" presetID="22" presetClass="entr" presetSubtype="4"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ipe(down)">
                                      <p:cBhvr>
                                        <p:cTn id="56" dur="1000"/>
                                        <p:tgtEl>
                                          <p:spTgt spid="23"/>
                                        </p:tgtEl>
                                      </p:cBhvr>
                                    </p:animEffect>
                                  </p:childTnLst>
                                </p:cTn>
                              </p:par>
                              <p:par>
                                <p:cTn id="57" presetID="22" presetClass="entr" presetSubtype="4" fill="hold"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wipe(down)">
                                      <p:cBhvr>
                                        <p:cTn id="59" dur="1000"/>
                                        <p:tgtEl>
                                          <p:spTgt spid="25"/>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55"/>
                                        </p:tgtEl>
                                        <p:attrNameLst>
                                          <p:attrName>style.visibility</p:attrName>
                                        </p:attrNameLst>
                                      </p:cBhvr>
                                      <p:to>
                                        <p:strVal val="visible"/>
                                      </p:to>
                                    </p:set>
                                    <p:animEffect transition="in" filter="wipe(down)">
                                      <p:cBhvr>
                                        <p:cTn id="68" dur="500"/>
                                        <p:tgtEl>
                                          <p:spTgt spid="55"/>
                                        </p:tgtEl>
                                      </p:cBhvr>
                                    </p:animEffect>
                                  </p:childTnLst>
                                </p:cTn>
                              </p:par>
                              <p:par>
                                <p:cTn id="69" presetID="22" presetClass="entr" presetSubtype="8" fill="hold" nodeType="withEffect">
                                  <p:stCondLst>
                                    <p:cond delay="0"/>
                                  </p:stCondLst>
                                  <p:childTnLst>
                                    <p:set>
                                      <p:cBhvr>
                                        <p:cTn id="70" dur="1" fill="hold">
                                          <p:stCondLst>
                                            <p:cond delay="0"/>
                                          </p:stCondLst>
                                        </p:cTn>
                                        <p:tgtEl>
                                          <p:spTgt spid="56"/>
                                        </p:tgtEl>
                                        <p:attrNameLst>
                                          <p:attrName>style.visibility</p:attrName>
                                        </p:attrNameLst>
                                      </p:cBhvr>
                                      <p:to>
                                        <p:strVal val="visible"/>
                                      </p:to>
                                    </p:set>
                                    <p:animEffect transition="in" filter="wipe(left)">
                                      <p:cBhvr>
                                        <p:cTn id="71" dur="500"/>
                                        <p:tgtEl>
                                          <p:spTgt spid="56"/>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72713"/>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nodeType="click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wipe(down)">
                                      <p:cBhvr>
                                        <p:cTn id="80" dur="1000"/>
                                        <p:tgtEl>
                                          <p:spTgt spid="28"/>
                                        </p:tgtEl>
                                      </p:cBhvr>
                                    </p:animEffect>
                                  </p:childTnLst>
                                </p:cTn>
                              </p:par>
                              <p:par>
                                <p:cTn id="81" presetID="22" presetClass="entr" presetSubtype="4" fill="hold"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wipe(down)">
                                      <p:cBhvr>
                                        <p:cTn id="83" dur="1000"/>
                                        <p:tgtEl>
                                          <p:spTgt spid="29"/>
                                        </p:tgtEl>
                                      </p:cBhvr>
                                    </p:animEffect>
                                  </p:childTnLst>
                                </p:cTn>
                              </p:par>
                              <p:par>
                                <p:cTn id="84" presetID="22" presetClass="entr" presetSubtype="4" fill="hold"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wipe(down)">
                                      <p:cBhvr>
                                        <p:cTn id="86" dur="1000"/>
                                        <p:tgtEl>
                                          <p:spTgt spid="30"/>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nodeType="clickEffect">
                                  <p:stCondLst>
                                    <p:cond delay="0"/>
                                  </p:stCondLst>
                                  <p:childTnLst>
                                    <p:set>
                                      <p:cBhvr>
                                        <p:cTn id="94" dur="1" fill="hold">
                                          <p:stCondLst>
                                            <p:cond delay="0"/>
                                          </p:stCondLst>
                                        </p:cTn>
                                        <p:tgtEl>
                                          <p:spTgt spid="57"/>
                                        </p:tgtEl>
                                        <p:attrNameLst>
                                          <p:attrName>style.visibility</p:attrName>
                                        </p:attrNameLst>
                                      </p:cBhvr>
                                      <p:to>
                                        <p:strVal val="visible"/>
                                      </p:to>
                                    </p:set>
                                    <p:animEffect transition="in" filter="wipe(down)">
                                      <p:cBhvr>
                                        <p:cTn id="95" dur="500"/>
                                        <p:tgtEl>
                                          <p:spTgt spid="57"/>
                                        </p:tgtEl>
                                      </p:cBhvr>
                                    </p:animEffect>
                                  </p:childTnLst>
                                </p:cTn>
                              </p:par>
                              <p:par>
                                <p:cTn id="96" presetID="22" presetClass="entr" presetSubtype="8" fill="hold" nodeType="withEffect">
                                  <p:stCondLst>
                                    <p:cond delay="0"/>
                                  </p:stCondLst>
                                  <p:childTnLst>
                                    <p:set>
                                      <p:cBhvr>
                                        <p:cTn id="97" dur="1" fill="hold">
                                          <p:stCondLst>
                                            <p:cond delay="0"/>
                                          </p:stCondLst>
                                        </p:cTn>
                                        <p:tgtEl>
                                          <p:spTgt spid="58"/>
                                        </p:tgtEl>
                                        <p:attrNameLst>
                                          <p:attrName>style.visibility</p:attrName>
                                        </p:attrNameLst>
                                      </p:cBhvr>
                                      <p:to>
                                        <p:strVal val="visible"/>
                                      </p:to>
                                    </p:set>
                                    <p:animEffect transition="in" filter="wipe(left)">
                                      <p:cBhvr>
                                        <p:cTn id="98" dur="500"/>
                                        <p:tgtEl>
                                          <p:spTgt spid="58"/>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727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7" grpId="0"/>
      <p:bldP spid="16" grpId="0"/>
      <p:bldP spid="27" grpId="0"/>
      <p:bldP spid="72711" grpId="0"/>
      <p:bldP spid="72712" grpId="0"/>
      <p:bldP spid="72713" grpId="0"/>
      <p:bldP spid="72714"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a:xfrm>
            <a:off x="0" y="-92546"/>
            <a:ext cx="8229600" cy="699542"/>
          </a:xfrm>
        </p:spPr>
        <p:txBody>
          <a:bodyPr/>
          <a:lstStyle/>
          <a:p>
            <a:r>
              <a:rPr lang="zh-CN" altLang="en-US" dirty="0"/>
              <a:t>属性文法</a:t>
            </a:r>
          </a:p>
        </p:txBody>
      </p:sp>
      <p:sp>
        <p:nvSpPr>
          <p:cNvPr id="71683" name="文本占位符 2"/>
          <p:cNvSpPr>
            <a:spLocks noGrp="1"/>
          </p:cNvSpPr>
          <p:nvPr>
            <p:ph type="body" sz="half" idx="1"/>
          </p:nvPr>
        </p:nvSpPr>
        <p:spPr/>
        <p:txBody>
          <a:bodyPr/>
          <a:lstStyle/>
          <a:p>
            <a:endParaRPr lang="zh-CN" altLang="en-US"/>
          </a:p>
        </p:txBody>
      </p:sp>
      <p:graphicFrame>
        <p:nvGraphicFramePr>
          <p:cNvPr id="5" name="内容占位符 4"/>
          <p:cNvGraphicFramePr>
            <a:graphicFrameLocks noGrp="1"/>
          </p:cNvGraphicFramePr>
          <p:nvPr>
            <p:ph sz="half" idx="2"/>
            <p:extLst>
              <p:ext uri="{D42A27DB-BD31-4B8C-83A1-F6EECF244321}">
                <p14:modId xmlns:p14="http://schemas.microsoft.com/office/powerpoint/2010/main" val="611929633"/>
              </p:ext>
            </p:extLst>
          </p:nvPr>
        </p:nvGraphicFramePr>
        <p:xfrm>
          <a:off x="107951" y="555526"/>
          <a:ext cx="8893175" cy="4539952"/>
        </p:xfrm>
        <a:graphic>
          <a:graphicData uri="http://schemas.openxmlformats.org/drawingml/2006/table">
            <a:tbl>
              <a:tblPr>
                <a:tableStyleId>{5C22544A-7EE6-4342-B048-85BDC9FD1C3A}</a:tableStyleId>
              </a:tblPr>
              <a:tblGrid>
                <a:gridCol w="747325">
                  <a:extLst>
                    <a:ext uri="{9D8B030D-6E8A-4147-A177-3AD203B41FA5}">
                      <a16:colId xmlns:a16="http://schemas.microsoft.com/office/drawing/2014/main" val="20000"/>
                    </a:ext>
                  </a:extLst>
                </a:gridCol>
                <a:gridCol w="3212668">
                  <a:extLst>
                    <a:ext uri="{9D8B030D-6E8A-4147-A177-3AD203B41FA5}">
                      <a16:colId xmlns:a16="http://schemas.microsoft.com/office/drawing/2014/main" val="20001"/>
                    </a:ext>
                  </a:extLst>
                </a:gridCol>
                <a:gridCol w="4933182">
                  <a:extLst>
                    <a:ext uri="{9D8B030D-6E8A-4147-A177-3AD203B41FA5}">
                      <a16:colId xmlns:a16="http://schemas.microsoft.com/office/drawing/2014/main" val="20002"/>
                    </a:ext>
                  </a:extLst>
                </a:gridCol>
              </a:tblGrid>
              <a:tr h="228600">
                <a:tc>
                  <a:txBody>
                    <a:bodyPr/>
                    <a:lstStyle/>
                    <a:p>
                      <a:pPr algn="ctr">
                        <a:spcAft>
                          <a:spcPts val="0"/>
                        </a:spcAft>
                      </a:pPr>
                      <a:r>
                        <a:rPr lang="zh-CN" sz="1600" kern="100" dirty="0">
                          <a:solidFill>
                            <a:schemeClr val="tx1"/>
                          </a:solidFill>
                          <a:effectLst/>
                          <a:latin typeface="宋体" panose="02010600030101010101" pitchFamily="2" charset="-122"/>
                          <a:ea typeface="宋体" panose="02010600030101010101" pitchFamily="2" charset="-122"/>
                        </a:rPr>
                        <a:t>编号</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600" kern="100" dirty="0">
                          <a:solidFill>
                            <a:schemeClr val="tx1"/>
                          </a:solidFill>
                          <a:effectLst/>
                          <a:latin typeface="宋体" panose="02010600030101010101" pitchFamily="2" charset="-122"/>
                          <a:ea typeface="宋体" panose="02010600030101010101" pitchFamily="2" charset="-122"/>
                        </a:rPr>
                        <a:t>产生式</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zh-CN" sz="1600" kern="100">
                          <a:solidFill>
                            <a:schemeClr val="tx1"/>
                          </a:solidFill>
                          <a:effectLst/>
                          <a:latin typeface="宋体" panose="02010600030101010101" pitchFamily="2" charset="-122"/>
                          <a:ea typeface="宋体" panose="02010600030101010101" pitchFamily="2" charset="-122"/>
                        </a:rPr>
                        <a:t>语义规则</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914400">
                <a:tc>
                  <a:txBody>
                    <a:bodyPr/>
                    <a:lstStyle/>
                    <a:p>
                      <a:pPr algn="just">
                        <a:spcAft>
                          <a:spcPts val="0"/>
                        </a:spcAft>
                      </a:pPr>
                      <a:r>
                        <a:rPr lang="zh-CN" sz="1600" kern="100" dirty="0">
                          <a:solidFill>
                            <a:schemeClr val="tx1"/>
                          </a:solidFill>
                          <a:effectLst/>
                          <a:latin typeface="宋体" panose="02010600030101010101" pitchFamily="2" charset="-122"/>
                          <a:ea typeface="宋体" panose="02010600030101010101" pitchFamily="2" charset="-122"/>
                        </a:rPr>
                        <a:t>（</a:t>
                      </a:r>
                      <a:r>
                        <a:rPr lang="en-US" sz="1600" kern="100" dirty="0">
                          <a:solidFill>
                            <a:schemeClr val="tx1"/>
                          </a:solidFill>
                          <a:effectLst/>
                          <a:latin typeface="宋体" panose="02010600030101010101" pitchFamily="2" charset="-122"/>
                          <a:ea typeface="宋体" panose="02010600030101010101" pitchFamily="2" charset="-122"/>
                        </a:rPr>
                        <a:t>5</a:t>
                      </a:r>
                      <a:r>
                        <a:rPr lang="zh-CN" sz="1600" kern="100" dirty="0">
                          <a:solidFill>
                            <a:schemeClr val="tx1"/>
                          </a:solidFill>
                          <a:effectLst/>
                          <a:latin typeface="宋体" panose="02010600030101010101" pitchFamily="2" charset="-122"/>
                          <a:ea typeface="宋体" panose="02010600030101010101" pitchFamily="2" charset="-122"/>
                        </a:rPr>
                        <a:t>）</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&lt;</a:t>
                      </a:r>
                      <a:r>
                        <a:rPr lang="en-US" sz="1600" kern="100" dirty="0" err="1">
                          <a:solidFill>
                            <a:schemeClr val="tx1"/>
                          </a:solidFill>
                          <a:effectLst/>
                          <a:latin typeface="宋体" panose="02010600030101010101" pitchFamily="2" charset="-122"/>
                          <a:ea typeface="宋体" panose="02010600030101010101" pitchFamily="2" charset="-122"/>
                        </a:rPr>
                        <a:t>VarDCL</a:t>
                      </a:r>
                      <a:r>
                        <a:rPr lang="en-US" sz="1600" kern="100" dirty="0">
                          <a:solidFill>
                            <a:schemeClr val="tx1"/>
                          </a:solidFill>
                          <a:effectLst/>
                          <a:latin typeface="宋体" panose="02010600030101010101" pitchFamily="2" charset="-122"/>
                          <a:ea typeface="宋体" panose="02010600030101010101" pitchFamily="2" charset="-122"/>
                        </a:rPr>
                        <a:t>&gt;→&lt;</a:t>
                      </a:r>
                      <a:r>
                        <a:rPr lang="en-US" sz="1600" kern="100" dirty="0" err="1">
                          <a:solidFill>
                            <a:schemeClr val="tx1"/>
                          </a:solidFill>
                          <a:effectLst/>
                          <a:latin typeface="宋体" panose="02010600030101010101" pitchFamily="2" charset="-122"/>
                          <a:ea typeface="宋体" panose="02010600030101010101" pitchFamily="2" charset="-122"/>
                        </a:rPr>
                        <a:t>VarType</a:t>
                      </a:r>
                      <a:r>
                        <a:rPr lang="en-US" sz="1600" kern="100" dirty="0">
                          <a:solidFill>
                            <a:schemeClr val="tx1"/>
                          </a:solidFill>
                          <a:effectLst/>
                          <a:latin typeface="宋体" panose="02010600030101010101" pitchFamily="2" charset="-122"/>
                          <a:ea typeface="宋体" panose="02010600030101010101" pitchFamily="2" charset="-122"/>
                        </a:rPr>
                        <a:t>&gt; id=&lt;expr&gt;</a:t>
                      </a:r>
                      <a:endParaRPr lang="zh-CN" sz="1600" kern="100" dirty="0">
                        <a:solidFill>
                          <a:schemeClr val="tx1"/>
                        </a:solidFill>
                        <a:effectLst/>
                        <a:latin typeface="宋体" panose="02010600030101010101" pitchFamily="2" charset="-122"/>
                        <a:ea typeface="宋体" panose="0201060003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sz="1600" kern="100" dirty="0">
                          <a:solidFill>
                            <a:schemeClr val="tx1"/>
                          </a:solidFill>
                          <a:effectLst/>
                          <a:latin typeface="宋体" panose="02010600030101010101" pitchFamily="2" charset="-122"/>
                          <a:ea typeface="宋体" panose="02010600030101010101" pitchFamily="2" charset="-122"/>
                        </a:rPr>
                        <a:t>{</a:t>
                      </a:r>
                      <a:r>
                        <a:rPr lang="en-US" altLang="zh-CN" sz="1600" kern="100" dirty="0" err="1">
                          <a:solidFill>
                            <a:schemeClr val="tx1"/>
                          </a:solidFill>
                          <a:effectLst/>
                          <a:latin typeface="宋体" panose="02010600030101010101" pitchFamily="2" charset="-122"/>
                          <a:ea typeface="宋体" panose="02010600030101010101" pitchFamily="2" charset="-122"/>
                        </a:rPr>
                        <a:t>InsertVarible</a:t>
                      </a:r>
                      <a:r>
                        <a:rPr lang="en-US" altLang="zh-CN" sz="1600" kern="100" dirty="0">
                          <a:solidFill>
                            <a:schemeClr val="tx1"/>
                          </a:solidFill>
                          <a:effectLst/>
                          <a:latin typeface="宋体" panose="02010600030101010101" pitchFamily="2" charset="-122"/>
                          <a:ea typeface="宋体" panose="02010600030101010101" pitchFamily="2" charset="-122"/>
                        </a:rPr>
                        <a:t>(</a:t>
                      </a:r>
                      <a:r>
                        <a:rPr kumimoji="0" lang="en-US" altLang="zh-CN" sz="1600" kern="1200" dirty="0">
                          <a:solidFill>
                            <a:schemeClr val="dk1"/>
                          </a:solidFill>
                          <a:effectLst/>
                          <a:latin typeface="宋体" panose="02010600030101010101" pitchFamily="2" charset="-122"/>
                          <a:ea typeface="宋体" panose="02010600030101010101" pitchFamily="2" charset="-122"/>
                          <a:cs typeface="+mn-cs"/>
                        </a:rPr>
                        <a:t>entry(id).na</a:t>
                      </a:r>
                      <a:r>
                        <a:rPr kumimoji="0" lang="en-US" altLang="zh-CN" sz="1600" kern="100" dirty="0">
                          <a:solidFill>
                            <a:schemeClr val="tx1"/>
                          </a:solidFill>
                          <a:effectLst/>
                          <a:latin typeface="宋体" panose="02010600030101010101" pitchFamily="2" charset="-122"/>
                          <a:ea typeface="宋体" panose="02010600030101010101" pitchFamily="2" charset="-122"/>
                          <a:cs typeface="+mn-cs"/>
                        </a:rPr>
                        <a:t>me</a:t>
                      </a:r>
                      <a:r>
                        <a:rPr lang="en-US" altLang="zh-CN" sz="1600" kern="100" dirty="0">
                          <a:solidFill>
                            <a:schemeClr val="tx1"/>
                          </a:solidFill>
                          <a:effectLst/>
                          <a:latin typeface="宋体" panose="02010600030101010101" pitchFamily="2" charset="-122"/>
                          <a:ea typeface="宋体" panose="02010600030101010101" pitchFamily="2" charset="-122"/>
                        </a:rPr>
                        <a:t>);</a:t>
                      </a:r>
                      <a:r>
                        <a:rPr lang="en-US" altLang="zh-CN" sz="1400" kern="100" dirty="0">
                          <a:solidFill>
                            <a:schemeClr val="tx1"/>
                          </a:solidFill>
                          <a:effectLst/>
                          <a:latin typeface="宋体" panose="02010600030101010101" pitchFamily="2" charset="-122"/>
                          <a:ea typeface="宋体" panose="02010600030101010101" pitchFamily="2" charset="-122"/>
                        </a:rPr>
                        <a:t>//</a:t>
                      </a:r>
                      <a:r>
                        <a:rPr lang="zh-CN" altLang="en-US" sz="1400" kern="100" dirty="0">
                          <a:solidFill>
                            <a:schemeClr val="tx1"/>
                          </a:solidFill>
                          <a:effectLst/>
                          <a:latin typeface="宋体" panose="02010600030101010101" pitchFamily="2" charset="-122"/>
                          <a:ea typeface="宋体" panose="02010600030101010101" pitchFamily="2" charset="-122"/>
                        </a:rPr>
                        <a:t>变量名</a:t>
                      </a:r>
                      <a:r>
                        <a:rPr lang="zh-CN" altLang="zh-CN" sz="1400" kern="100" dirty="0">
                          <a:solidFill>
                            <a:schemeClr val="tx1"/>
                          </a:solidFill>
                          <a:effectLst/>
                          <a:latin typeface="宋体" panose="02010600030101010101" pitchFamily="2" charset="-122"/>
                          <a:ea typeface="宋体" panose="02010600030101010101" pitchFamily="2" charset="-122"/>
                        </a:rPr>
                        <a:t>插入符号表</a:t>
                      </a:r>
                    </a:p>
                    <a:p>
                      <a:pPr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  entry</a:t>
                      </a:r>
                      <a:r>
                        <a:rPr lang="zh-CN" sz="1600" kern="100" dirty="0">
                          <a:solidFill>
                            <a:schemeClr val="tx1"/>
                          </a:solidFill>
                          <a:effectLst/>
                          <a:latin typeface="宋体" panose="02010600030101010101" pitchFamily="2" charset="-122"/>
                          <a:ea typeface="宋体" panose="02010600030101010101" pitchFamily="2" charset="-122"/>
                        </a:rPr>
                        <a:t>(id)</a:t>
                      </a:r>
                      <a:r>
                        <a:rPr lang="en-US" sz="1600" kern="100" dirty="0">
                          <a:solidFill>
                            <a:schemeClr val="tx1"/>
                          </a:solidFill>
                          <a:effectLst/>
                          <a:latin typeface="宋体" panose="02010600030101010101" pitchFamily="2" charset="-122"/>
                          <a:ea typeface="宋体" panose="02010600030101010101" pitchFamily="2" charset="-122"/>
                        </a:rPr>
                        <a:t>.type =&lt;</a:t>
                      </a:r>
                      <a:r>
                        <a:rPr lang="en-US" sz="1600" kern="100" dirty="0" err="1">
                          <a:solidFill>
                            <a:schemeClr val="tx1"/>
                          </a:solidFill>
                          <a:effectLst/>
                          <a:latin typeface="宋体" panose="02010600030101010101" pitchFamily="2" charset="-122"/>
                          <a:ea typeface="宋体" panose="02010600030101010101" pitchFamily="2" charset="-122"/>
                        </a:rPr>
                        <a:t>VarType</a:t>
                      </a:r>
                      <a:r>
                        <a:rPr lang="en-US" sz="1600" kern="100" dirty="0">
                          <a:solidFill>
                            <a:schemeClr val="tx1"/>
                          </a:solidFill>
                          <a:effectLst/>
                          <a:latin typeface="宋体" panose="02010600030101010101" pitchFamily="2" charset="-122"/>
                          <a:ea typeface="宋体" panose="02010600030101010101" pitchFamily="2" charset="-122"/>
                        </a:rPr>
                        <a:t>&gt;</a:t>
                      </a:r>
                      <a:r>
                        <a:rPr lang="zh-CN" sz="1600" kern="100" dirty="0">
                          <a:solidFill>
                            <a:schemeClr val="tx1"/>
                          </a:solidFill>
                          <a:effectLst/>
                          <a:latin typeface="宋体" panose="02010600030101010101" pitchFamily="2" charset="-122"/>
                          <a:ea typeface="宋体" panose="02010600030101010101" pitchFamily="2" charset="-122"/>
                        </a:rPr>
                        <a:t>.type; </a:t>
                      </a:r>
                    </a:p>
                    <a:p>
                      <a:pPr indent="171450"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entry(id).</a:t>
                      </a:r>
                      <a:r>
                        <a:rPr lang="en-US" sz="1600" kern="100" dirty="0" err="1">
                          <a:solidFill>
                            <a:schemeClr val="tx1"/>
                          </a:solidFill>
                          <a:effectLst/>
                          <a:latin typeface="宋体" panose="02010600030101010101" pitchFamily="2" charset="-122"/>
                          <a:ea typeface="宋体" panose="02010600030101010101" pitchFamily="2" charset="-122"/>
                        </a:rPr>
                        <a:t>val</a:t>
                      </a:r>
                      <a:r>
                        <a:rPr lang="en-US" sz="1600" kern="100" dirty="0">
                          <a:solidFill>
                            <a:schemeClr val="tx1"/>
                          </a:solidFill>
                          <a:effectLst/>
                          <a:latin typeface="宋体" panose="02010600030101010101" pitchFamily="2" charset="-122"/>
                          <a:ea typeface="宋体" panose="02010600030101010101" pitchFamily="2" charset="-122"/>
                        </a:rPr>
                        <a:t>=&lt;expr&gt;.PLACE;</a:t>
                      </a:r>
                      <a:endParaRPr lang="zh-CN" sz="1600" kern="100" dirty="0">
                        <a:solidFill>
                          <a:schemeClr val="tx1"/>
                        </a:solidFill>
                        <a:effectLst/>
                        <a:latin typeface="宋体" panose="02010600030101010101" pitchFamily="2" charset="-122"/>
                        <a:ea typeface="宋体" panose="02010600030101010101" pitchFamily="2" charset="-122"/>
                      </a:endParaRPr>
                    </a:p>
                    <a:p>
                      <a:pPr indent="171450"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&lt;</a:t>
                      </a:r>
                      <a:r>
                        <a:rPr lang="en-US" sz="1600" kern="100" dirty="0" err="1">
                          <a:solidFill>
                            <a:schemeClr val="tx1"/>
                          </a:solidFill>
                          <a:effectLst/>
                          <a:latin typeface="宋体" panose="02010600030101010101" pitchFamily="2" charset="-122"/>
                          <a:ea typeface="宋体" panose="02010600030101010101" pitchFamily="2" charset="-122"/>
                        </a:rPr>
                        <a:t>VarDCL</a:t>
                      </a:r>
                      <a:r>
                        <a:rPr lang="en-US" sz="1600" kern="100" dirty="0">
                          <a:solidFill>
                            <a:schemeClr val="tx1"/>
                          </a:solidFill>
                          <a:effectLst/>
                          <a:latin typeface="宋体" panose="02010600030101010101" pitchFamily="2" charset="-122"/>
                          <a:ea typeface="宋体" panose="02010600030101010101" pitchFamily="2" charset="-122"/>
                        </a:rPr>
                        <a:t>&gt;</a:t>
                      </a:r>
                      <a:r>
                        <a:rPr lang="zh-CN" sz="1600" kern="100" dirty="0">
                          <a:solidFill>
                            <a:schemeClr val="tx1"/>
                          </a:solidFill>
                          <a:effectLst/>
                          <a:latin typeface="宋体" panose="02010600030101010101" pitchFamily="2" charset="-122"/>
                          <a:ea typeface="宋体" panose="02010600030101010101" pitchFamily="2" charset="-122"/>
                        </a:rPr>
                        <a:t>.type=</a:t>
                      </a:r>
                      <a:r>
                        <a:rPr lang="en-US" sz="1600" kern="100" dirty="0">
                          <a:solidFill>
                            <a:schemeClr val="tx1"/>
                          </a:solidFill>
                          <a:effectLst/>
                          <a:latin typeface="宋体" panose="02010600030101010101" pitchFamily="2" charset="-122"/>
                          <a:ea typeface="宋体" panose="02010600030101010101" pitchFamily="2" charset="-122"/>
                        </a:rPr>
                        <a:t>&lt;</a:t>
                      </a:r>
                      <a:r>
                        <a:rPr lang="en-US" sz="1600" kern="100" dirty="0" err="1">
                          <a:solidFill>
                            <a:schemeClr val="tx1"/>
                          </a:solidFill>
                          <a:effectLst/>
                          <a:latin typeface="宋体" panose="02010600030101010101" pitchFamily="2" charset="-122"/>
                          <a:ea typeface="宋体" panose="02010600030101010101" pitchFamily="2" charset="-122"/>
                        </a:rPr>
                        <a:t>VarType</a:t>
                      </a:r>
                      <a:r>
                        <a:rPr lang="en-US" sz="1600" kern="100" dirty="0">
                          <a:solidFill>
                            <a:schemeClr val="tx1"/>
                          </a:solidFill>
                          <a:effectLst/>
                          <a:latin typeface="宋体" panose="02010600030101010101" pitchFamily="2" charset="-122"/>
                          <a:ea typeface="宋体" panose="02010600030101010101" pitchFamily="2" charset="-122"/>
                        </a:rPr>
                        <a:t>&gt;</a:t>
                      </a:r>
                      <a:r>
                        <a:rPr lang="zh-CN" sz="1600" kern="100" dirty="0">
                          <a:solidFill>
                            <a:schemeClr val="tx1"/>
                          </a:solidFill>
                          <a:effectLst/>
                          <a:latin typeface="宋体" panose="02010600030101010101" pitchFamily="2" charset="-122"/>
                          <a:ea typeface="宋体" panose="02010600030101010101" pitchFamily="2" charset="-122"/>
                        </a:rPr>
                        <a:t>.type;        }</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39472">
                <a:tc>
                  <a:txBody>
                    <a:bodyPr/>
                    <a:lstStyle/>
                    <a:p>
                      <a:pPr algn="just">
                        <a:spcAft>
                          <a:spcPts val="0"/>
                        </a:spcAft>
                      </a:pPr>
                      <a:r>
                        <a:rPr lang="zh-CN" sz="1600" kern="100">
                          <a:solidFill>
                            <a:schemeClr val="tx1"/>
                          </a:solidFill>
                          <a:effectLst/>
                          <a:latin typeface="宋体" panose="02010600030101010101" pitchFamily="2" charset="-122"/>
                          <a:ea typeface="宋体" panose="02010600030101010101" pitchFamily="2" charset="-122"/>
                        </a:rPr>
                        <a:t>（</a:t>
                      </a:r>
                      <a:r>
                        <a:rPr lang="en-US" sz="1600" kern="100">
                          <a:solidFill>
                            <a:schemeClr val="tx1"/>
                          </a:solidFill>
                          <a:effectLst/>
                          <a:latin typeface="宋体" panose="02010600030101010101" pitchFamily="2" charset="-122"/>
                          <a:ea typeface="宋体" panose="02010600030101010101" pitchFamily="2" charset="-122"/>
                        </a:rPr>
                        <a:t>4</a:t>
                      </a:r>
                      <a:r>
                        <a:rPr lang="zh-CN" sz="1600" kern="100">
                          <a:solidFill>
                            <a:schemeClr val="tx1"/>
                          </a:solidFill>
                          <a:effectLst/>
                          <a:latin typeface="宋体" panose="02010600030101010101" pitchFamily="2" charset="-122"/>
                          <a:ea typeface="宋体" panose="02010600030101010101" pitchFamily="2" charset="-122"/>
                        </a:rPr>
                        <a:t>）</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&lt;</a:t>
                      </a:r>
                      <a:r>
                        <a:rPr lang="en-US" sz="1600" kern="100" dirty="0" err="1">
                          <a:solidFill>
                            <a:schemeClr val="tx1"/>
                          </a:solidFill>
                          <a:effectLst/>
                          <a:latin typeface="宋体" panose="02010600030101010101" pitchFamily="2" charset="-122"/>
                          <a:ea typeface="宋体" panose="02010600030101010101" pitchFamily="2" charset="-122"/>
                        </a:rPr>
                        <a:t>VarDCL</a:t>
                      </a:r>
                      <a:r>
                        <a:rPr lang="en-US" sz="1600" kern="100" dirty="0">
                          <a:solidFill>
                            <a:schemeClr val="tx1"/>
                          </a:solidFill>
                          <a:effectLst/>
                          <a:latin typeface="宋体" panose="02010600030101010101" pitchFamily="2" charset="-122"/>
                          <a:ea typeface="宋体" panose="02010600030101010101" pitchFamily="2" charset="-122"/>
                        </a:rPr>
                        <a:t>&gt;→&lt;</a:t>
                      </a:r>
                      <a:r>
                        <a:rPr lang="en-US" sz="1600" kern="100" dirty="0" err="1">
                          <a:solidFill>
                            <a:schemeClr val="tx1"/>
                          </a:solidFill>
                          <a:effectLst/>
                          <a:latin typeface="宋体" panose="02010600030101010101" pitchFamily="2" charset="-122"/>
                          <a:ea typeface="宋体" panose="02010600030101010101" pitchFamily="2" charset="-122"/>
                        </a:rPr>
                        <a:t>VarType</a:t>
                      </a:r>
                      <a:r>
                        <a:rPr lang="en-US" sz="1600" kern="100" dirty="0">
                          <a:solidFill>
                            <a:schemeClr val="tx1"/>
                          </a:solidFill>
                          <a:effectLst/>
                          <a:latin typeface="宋体" panose="02010600030101010101" pitchFamily="2" charset="-122"/>
                          <a:ea typeface="宋体" panose="02010600030101010101" pitchFamily="2" charset="-122"/>
                        </a:rPr>
                        <a:t>&gt; id</a:t>
                      </a:r>
                      <a:endParaRPr lang="zh-CN" sz="1600" kern="100" dirty="0">
                        <a:solidFill>
                          <a:schemeClr val="tx1"/>
                        </a:solidFill>
                        <a:effectLst/>
                        <a:latin typeface="宋体" panose="02010600030101010101" pitchFamily="2" charset="-122"/>
                        <a:ea typeface="宋体" panose="0201060003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sz="1600" kern="100" dirty="0">
                          <a:solidFill>
                            <a:schemeClr val="tx1"/>
                          </a:solidFill>
                          <a:effectLst/>
                          <a:latin typeface="宋体" panose="02010600030101010101" pitchFamily="2" charset="-122"/>
                          <a:ea typeface="宋体" panose="02010600030101010101" pitchFamily="2" charset="-122"/>
                        </a:rPr>
                        <a:t>{</a:t>
                      </a:r>
                      <a:r>
                        <a:rPr lang="en-US" altLang="zh-CN" sz="1600" kern="100" dirty="0" err="1">
                          <a:solidFill>
                            <a:schemeClr val="tx1"/>
                          </a:solidFill>
                          <a:effectLst/>
                          <a:latin typeface="宋体" panose="02010600030101010101" pitchFamily="2" charset="-122"/>
                          <a:ea typeface="宋体" panose="02010600030101010101" pitchFamily="2" charset="-122"/>
                        </a:rPr>
                        <a:t>InsertVarible</a:t>
                      </a:r>
                      <a:r>
                        <a:rPr lang="en-US" altLang="zh-CN" sz="1600" kern="100" dirty="0">
                          <a:solidFill>
                            <a:schemeClr val="tx1"/>
                          </a:solidFill>
                          <a:effectLst/>
                          <a:latin typeface="宋体" panose="02010600030101010101" pitchFamily="2" charset="-122"/>
                          <a:ea typeface="宋体" panose="02010600030101010101" pitchFamily="2" charset="-122"/>
                        </a:rPr>
                        <a:t>(</a:t>
                      </a:r>
                      <a:r>
                        <a:rPr kumimoji="0" lang="en-US" altLang="zh-CN" sz="1600" kern="1200" dirty="0">
                          <a:solidFill>
                            <a:schemeClr val="dk1"/>
                          </a:solidFill>
                          <a:effectLst/>
                          <a:latin typeface="宋体" panose="02010600030101010101" pitchFamily="2" charset="-122"/>
                          <a:ea typeface="宋体" panose="02010600030101010101" pitchFamily="2" charset="-122"/>
                          <a:cs typeface="+mn-cs"/>
                        </a:rPr>
                        <a:t>entry(id).na</a:t>
                      </a:r>
                      <a:r>
                        <a:rPr kumimoji="0" lang="en-US" altLang="zh-CN" sz="1600" kern="100" dirty="0">
                          <a:solidFill>
                            <a:schemeClr val="tx1"/>
                          </a:solidFill>
                          <a:effectLst/>
                          <a:latin typeface="宋体" panose="02010600030101010101" pitchFamily="2" charset="-122"/>
                          <a:ea typeface="宋体" panose="02010600030101010101" pitchFamily="2" charset="-122"/>
                          <a:cs typeface="+mn-cs"/>
                        </a:rPr>
                        <a:t>me</a:t>
                      </a:r>
                      <a:r>
                        <a:rPr lang="en-US" altLang="zh-CN" sz="1400" kern="100" dirty="0">
                          <a:solidFill>
                            <a:schemeClr val="tx1"/>
                          </a:solidFill>
                          <a:effectLst/>
                          <a:latin typeface="宋体" panose="02010600030101010101" pitchFamily="2" charset="-122"/>
                          <a:ea typeface="宋体" panose="02010600030101010101" pitchFamily="2" charset="-122"/>
                        </a:rPr>
                        <a:t>);//</a:t>
                      </a:r>
                      <a:r>
                        <a:rPr lang="zh-CN" altLang="en-US" sz="1400" kern="100" dirty="0">
                          <a:solidFill>
                            <a:schemeClr val="tx1"/>
                          </a:solidFill>
                          <a:effectLst/>
                          <a:latin typeface="宋体" panose="02010600030101010101" pitchFamily="2" charset="-122"/>
                          <a:ea typeface="宋体" panose="02010600030101010101" pitchFamily="2" charset="-122"/>
                        </a:rPr>
                        <a:t>变量名</a:t>
                      </a:r>
                      <a:r>
                        <a:rPr lang="zh-CN" altLang="zh-CN" sz="1400" kern="100" dirty="0">
                          <a:solidFill>
                            <a:schemeClr val="tx1"/>
                          </a:solidFill>
                          <a:effectLst/>
                          <a:latin typeface="宋体" panose="02010600030101010101" pitchFamily="2" charset="-122"/>
                          <a:ea typeface="宋体" panose="02010600030101010101" pitchFamily="2" charset="-122"/>
                        </a:rPr>
                        <a:t>插入符号表</a:t>
                      </a:r>
                      <a:endParaRPr lang="zh-CN" altLang="zh-CN" sz="1600" kern="100" dirty="0">
                        <a:solidFill>
                          <a:schemeClr val="tx1"/>
                        </a:solidFill>
                        <a:effectLst/>
                        <a:latin typeface="宋体" panose="02010600030101010101" pitchFamily="2" charset="-122"/>
                        <a:ea typeface="宋体" panose="02010600030101010101" pitchFamily="2" charset="-122"/>
                      </a:endParaRPr>
                    </a:p>
                    <a:p>
                      <a:pPr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  entry</a:t>
                      </a:r>
                      <a:r>
                        <a:rPr lang="zh-CN" sz="1600" kern="100" dirty="0">
                          <a:solidFill>
                            <a:schemeClr val="tx1"/>
                          </a:solidFill>
                          <a:effectLst/>
                          <a:latin typeface="宋体" panose="02010600030101010101" pitchFamily="2" charset="-122"/>
                          <a:ea typeface="宋体" panose="02010600030101010101" pitchFamily="2" charset="-122"/>
                        </a:rPr>
                        <a:t>(id)</a:t>
                      </a:r>
                      <a:r>
                        <a:rPr lang="en-US" sz="1600" kern="100" dirty="0">
                          <a:solidFill>
                            <a:schemeClr val="tx1"/>
                          </a:solidFill>
                          <a:effectLst/>
                          <a:latin typeface="宋体" panose="02010600030101010101" pitchFamily="2" charset="-122"/>
                          <a:ea typeface="宋体" panose="02010600030101010101" pitchFamily="2" charset="-122"/>
                        </a:rPr>
                        <a:t>.type = &lt;</a:t>
                      </a:r>
                      <a:r>
                        <a:rPr lang="en-US" sz="1600" kern="100" dirty="0" err="1">
                          <a:solidFill>
                            <a:schemeClr val="tx1"/>
                          </a:solidFill>
                          <a:effectLst/>
                          <a:latin typeface="宋体" panose="02010600030101010101" pitchFamily="2" charset="-122"/>
                          <a:ea typeface="宋体" panose="02010600030101010101" pitchFamily="2" charset="-122"/>
                        </a:rPr>
                        <a:t>VarType</a:t>
                      </a:r>
                      <a:r>
                        <a:rPr lang="en-US" sz="1600" kern="100" dirty="0">
                          <a:solidFill>
                            <a:schemeClr val="tx1"/>
                          </a:solidFill>
                          <a:effectLst/>
                          <a:latin typeface="宋体" panose="02010600030101010101" pitchFamily="2" charset="-122"/>
                          <a:ea typeface="宋体" panose="02010600030101010101" pitchFamily="2" charset="-122"/>
                        </a:rPr>
                        <a:t>&gt;</a:t>
                      </a:r>
                      <a:r>
                        <a:rPr lang="zh-CN" sz="1600" kern="100" dirty="0">
                          <a:solidFill>
                            <a:schemeClr val="tx1"/>
                          </a:solidFill>
                          <a:effectLst/>
                          <a:latin typeface="宋体" panose="02010600030101010101" pitchFamily="2" charset="-122"/>
                          <a:ea typeface="宋体" panose="02010600030101010101" pitchFamily="2" charset="-122"/>
                        </a:rPr>
                        <a:t>.type; </a:t>
                      </a:r>
                    </a:p>
                    <a:p>
                      <a:pPr indent="171450"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&lt;</a:t>
                      </a:r>
                      <a:r>
                        <a:rPr lang="en-US" sz="1600" kern="100" dirty="0" err="1">
                          <a:solidFill>
                            <a:schemeClr val="tx1"/>
                          </a:solidFill>
                          <a:effectLst/>
                          <a:latin typeface="宋体" panose="02010600030101010101" pitchFamily="2" charset="-122"/>
                          <a:ea typeface="宋体" panose="02010600030101010101" pitchFamily="2" charset="-122"/>
                        </a:rPr>
                        <a:t>VarDCL</a:t>
                      </a:r>
                      <a:r>
                        <a:rPr lang="en-US" sz="1600" kern="100" dirty="0">
                          <a:solidFill>
                            <a:schemeClr val="tx1"/>
                          </a:solidFill>
                          <a:effectLst/>
                          <a:latin typeface="宋体" panose="02010600030101010101" pitchFamily="2" charset="-122"/>
                          <a:ea typeface="宋体" panose="02010600030101010101" pitchFamily="2" charset="-122"/>
                        </a:rPr>
                        <a:t>&gt;</a:t>
                      </a:r>
                      <a:r>
                        <a:rPr lang="zh-CN" sz="1600" kern="100" dirty="0">
                          <a:solidFill>
                            <a:schemeClr val="tx1"/>
                          </a:solidFill>
                          <a:effectLst/>
                          <a:latin typeface="宋体" panose="02010600030101010101" pitchFamily="2" charset="-122"/>
                          <a:ea typeface="宋体" panose="02010600030101010101" pitchFamily="2" charset="-122"/>
                        </a:rPr>
                        <a:t>.type = </a:t>
                      </a:r>
                      <a:r>
                        <a:rPr lang="en-US" sz="1600" kern="100" dirty="0">
                          <a:solidFill>
                            <a:schemeClr val="tx1"/>
                          </a:solidFill>
                          <a:effectLst/>
                          <a:latin typeface="宋体" panose="02010600030101010101" pitchFamily="2" charset="-122"/>
                          <a:ea typeface="宋体" panose="02010600030101010101" pitchFamily="2" charset="-122"/>
                        </a:rPr>
                        <a:t>&lt;</a:t>
                      </a:r>
                      <a:r>
                        <a:rPr lang="en-US" sz="1600" kern="100" dirty="0" err="1">
                          <a:solidFill>
                            <a:schemeClr val="tx1"/>
                          </a:solidFill>
                          <a:effectLst/>
                          <a:latin typeface="宋体" panose="02010600030101010101" pitchFamily="2" charset="-122"/>
                          <a:ea typeface="宋体" panose="02010600030101010101" pitchFamily="2" charset="-122"/>
                        </a:rPr>
                        <a:t>VarType</a:t>
                      </a:r>
                      <a:r>
                        <a:rPr lang="en-US" sz="1600" kern="100" dirty="0">
                          <a:solidFill>
                            <a:schemeClr val="tx1"/>
                          </a:solidFill>
                          <a:effectLst/>
                          <a:latin typeface="宋体" panose="02010600030101010101" pitchFamily="2" charset="-122"/>
                          <a:ea typeface="宋体" panose="02010600030101010101" pitchFamily="2" charset="-122"/>
                        </a:rPr>
                        <a:t>&gt;</a:t>
                      </a:r>
                      <a:r>
                        <a:rPr lang="zh-CN" sz="1600" kern="100" dirty="0">
                          <a:solidFill>
                            <a:schemeClr val="tx1"/>
                          </a:solidFill>
                          <a:effectLst/>
                          <a:latin typeface="宋体" panose="02010600030101010101" pitchFamily="2" charset="-122"/>
                          <a:ea typeface="宋体" panose="02010600030101010101" pitchFamily="2" charset="-122"/>
                        </a:rPr>
                        <a:t>.type</a:t>
                      </a:r>
                      <a:r>
                        <a:rPr lang="en-US" sz="1600" kern="100" dirty="0">
                          <a:solidFill>
                            <a:schemeClr val="tx1"/>
                          </a:solidFill>
                          <a:effectLst/>
                          <a:latin typeface="宋体" panose="02010600030101010101" pitchFamily="2" charset="-122"/>
                          <a:ea typeface="宋体" panose="02010600030101010101" pitchFamily="2" charset="-122"/>
                        </a:rPr>
                        <a:t>;   </a:t>
                      </a:r>
                      <a:r>
                        <a:rPr lang="zh-CN" sz="1600" kern="100" dirty="0">
                          <a:solidFill>
                            <a:schemeClr val="tx1"/>
                          </a:solidFill>
                          <a:effectLst/>
                          <a:latin typeface="宋体" panose="02010600030101010101" pitchFamily="2" charset="-122"/>
                          <a:ea typeface="宋体" panose="02010600030101010101" pitchFamily="2" charset="-122"/>
                        </a:rPr>
                        <a:t>   }</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2880">
                <a:tc>
                  <a:txBody>
                    <a:bodyPr/>
                    <a:lstStyle/>
                    <a:p>
                      <a:pPr algn="just">
                        <a:spcAft>
                          <a:spcPts val="0"/>
                        </a:spcAft>
                      </a:pPr>
                      <a:r>
                        <a:rPr lang="zh-CN" sz="1600" kern="100" dirty="0">
                          <a:solidFill>
                            <a:schemeClr val="tx1"/>
                          </a:solidFill>
                          <a:effectLst/>
                          <a:latin typeface="宋体" panose="02010600030101010101" pitchFamily="2" charset="-122"/>
                          <a:ea typeface="宋体" panose="02010600030101010101" pitchFamily="2" charset="-122"/>
                        </a:rPr>
                        <a:t>（</a:t>
                      </a:r>
                      <a:r>
                        <a:rPr lang="en-US" sz="1600" kern="100" dirty="0">
                          <a:solidFill>
                            <a:schemeClr val="tx1"/>
                          </a:solidFill>
                          <a:effectLst/>
                          <a:latin typeface="宋体" panose="02010600030101010101" pitchFamily="2" charset="-122"/>
                          <a:ea typeface="宋体" panose="02010600030101010101" pitchFamily="2" charset="-122"/>
                        </a:rPr>
                        <a:t>3</a:t>
                      </a:r>
                      <a:r>
                        <a:rPr lang="zh-CN" sz="1600" kern="100" dirty="0">
                          <a:solidFill>
                            <a:schemeClr val="tx1"/>
                          </a:solidFill>
                          <a:effectLst/>
                          <a:latin typeface="宋体" panose="02010600030101010101" pitchFamily="2" charset="-122"/>
                          <a:ea typeface="宋体" panose="02010600030101010101" pitchFamily="2" charset="-122"/>
                        </a:rPr>
                        <a:t>）</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&lt;</a:t>
                      </a:r>
                      <a:r>
                        <a:rPr lang="en-US" sz="1600" kern="100" dirty="0" err="1">
                          <a:solidFill>
                            <a:schemeClr val="tx1"/>
                          </a:solidFill>
                          <a:effectLst/>
                          <a:latin typeface="宋体" panose="02010600030101010101" pitchFamily="2" charset="-122"/>
                          <a:ea typeface="宋体" panose="02010600030101010101" pitchFamily="2" charset="-122"/>
                        </a:rPr>
                        <a:t>VarType</a:t>
                      </a:r>
                      <a:r>
                        <a:rPr lang="en-US" sz="1600" kern="100" dirty="0">
                          <a:solidFill>
                            <a:schemeClr val="tx1"/>
                          </a:solidFill>
                          <a:effectLst/>
                          <a:latin typeface="宋体" panose="02010600030101010101" pitchFamily="2" charset="-122"/>
                          <a:ea typeface="宋体" panose="02010600030101010101" pitchFamily="2" charset="-122"/>
                        </a:rPr>
                        <a:t>&gt;→</a:t>
                      </a:r>
                      <a:r>
                        <a:rPr lang="en-US" sz="1600" kern="100" dirty="0" err="1">
                          <a:solidFill>
                            <a:schemeClr val="tx1"/>
                          </a:solidFill>
                          <a:effectLst/>
                          <a:latin typeface="宋体" panose="02010600030101010101" pitchFamily="2" charset="-122"/>
                          <a:ea typeface="宋体" panose="02010600030101010101" pitchFamily="2" charset="-122"/>
                        </a:rPr>
                        <a:t>int</a:t>
                      </a:r>
                      <a:endParaRPr lang="zh-CN" sz="1600" kern="100" dirty="0">
                        <a:solidFill>
                          <a:schemeClr val="tx1"/>
                        </a:solidFill>
                        <a:effectLst/>
                        <a:latin typeface="宋体" panose="02010600030101010101" pitchFamily="2" charset="-122"/>
                        <a:ea typeface="宋体" panose="0201060003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 &lt;</a:t>
                      </a:r>
                      <a:r>
                        <a:rPr lang="en-US" sz="1600" kern="100" dirty="0" err="1">
                          <a:solidFill>
                            <a:schemeClr val="tx1"/>
                          </a:solidFill>
                          <a:effectLst/>
                          <a:latin typeface="宋体" panose="02010600030101010101" pitchFamily="2" charset="-122"/>
                          <a:ea typeface="宋体" panose="02010600030101010101" pitchFamily="2" charset="-122"/>
                        </a:rPr>
                        <a:t>VarType</a:t>
                      </a:r>
                      <a:r>
                        <a:rPr lang="en-US" sz="1600" kern="100" dirty="0">
                          <a:solidFill>
                            <a:schemeClr val="tx1"/>
                          </a:solidFill>
                          <a:effectLst/>
                          <a:latin typeface="宋体" panose="02010600030101010101" pitchFamily="2" charset="-122"/>
                          <a:ea typeface="宋体" panose="02010600030101010101" pitchFamily="2" charset="-122"/>
                        </a:rPr>
                        <a:t>&gt;.type=</a:t>
                      </a:r>
                      <a:r>
                        <a:rPr lang="en-US" sz="1600" kern="100" dirty="0" err="1">
                          <a:solidFill>
                            <a:schemeClr val="tx1"/>
                          </a:solidFill>
                          <a:effectLst/>
                          <a:latin typeface="宋体" panose="02010600030101010101" pitchFamily="2" charset="-122"/>
                          <a:ea typeface="宋体" panose="02010600030101010101" pitchFamily="2" charset="-122"/>
                        </a:rPr>
                        <a:t>int</a:t>
                      </a:r>
                      <a:r>
                        <a:rPr lang="en-US" sz="1600" kern="100" dirty="0">
                          <a:solidFill>
                            <a:schemeClr val="tx1"/>
                          </a:solidFill>
                          <a:effectLst/>
                          <a:latin typeface="宋体" panose="02010600030101010101" pitchFamily="2" charset="-122"/>
                          <a:ea typeface="宋体" panose="02010600030101010101" pitchFamily="2" charset="-122"/>
                        </a:rPr>
                        <a:t>;                 }</a:t>
                      </a:r>
                      <a:endParaRPr lang="zh-CN" sz="1600" kern="100" dirty="0">
                        <a:solidFill>
                          <a:schemeClr val="tx1"/>
                        </a:solidFill>
                        <a:effectLst/>
                        <a:latin typeface="宋体" panose="02010600030101010101" pitchFamily="2" charset="-122"/>
                        <a:ea typeface="宋体" panose="0201060003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947504">
                <a:tc>
                  <a:txBody>
                    <a:bodyPr/>
                    <a:lstStyle/>
                    <a:p>
                      <a:pPr algn="just">
                        <a:spcAft>
                          <a:spcPts val="0"/>
                        </a:spcAft>
                      </a:pPr>
                      <a:r>
                        <a:rPr lang="zh-CN" sz="1600" kern="100">
                          <a:solidFill>
                            <a:schemeClr val="tx1"/>
                          </a:solidFill>
                          <a:effectLst/>
                          <a:latin typeface="宋体" panose="02010600030101010101" pitchFamily="2" charset="-122"/>
                          <a:ea typeface="宋体" panose="02010600030101010101" pitchFamily="2" charset="-122"/>
                        </a:rPr>
                        <a:t>（</a:t>
                      </a:r>
                      <a:r>
                        <a:rPr lang="en-US" sz="1600" kern="100">
                          <a:solidFill>
                            <a:schemeClr val="tx1"/>
                          </a:solidFill>
                          <a:effectLst/>
                          <a:latin typeface="宋体" panose="02010600030101010101" pitchFamily="2" charset="-122"/>
                          <a:ea typeface="宋体" panose="02010600030101010101" pitchFamily="2" charset="-122"/>
                        </a:rPr>
                        <a:t>2</a:t>
                      </a:r>
                      <a:r>
                        <a:rPr lang="zh-CN" sz="1600" kern="100">
                          <a:solidFill>
                            <a:schemeClr val="tx1"/>
                          </a:solidFill>
                          <a:effectLst/>
                          <a:latin typeface="宋体" panose="02010600030101010101" pitchFamily="2" charset="-122"/>
                          <a:ea typeface="宋体" panose="02010600030101010101" pitchFamily="2" charset="-122"/>
                        </a:rPr>
                        <a:t>）</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&lt;</a:t>
                      </a:r>
                      <a:r>
                        <a:rPr lang="en-US" sz="1600" kern="100" dirty="0" err="1">
                          <a:solidFill>
                            <a:schemeClr val="tx1"/>
                          </a:solidFill>
                          <a:effectLst/>
                          <a:latin typeface="宋体" panose="02010600030101010101" pitchFamily="2" charset="-122"/>
                          <a:ea typeface="宋体" panose="02010600030101010101" pitchFamily="2" charset="-122"/>
                        </a:rPr>
                        <a:t>VarDCL</a:t>
                      </a:r>
                      <a:r>
                        <a:rPr lang="en-US" sz="1600" kern="100" dirty="0">
                          <a:solidFill>
                            <a:schemeClr val="tx1"/>
                          </a:solidFill>
                          <a:effectLst/>
                          <a:latin typeface="宋体" panose="02010600030101010101" pitchFamily="2" charset="-122"/>
                          <a:ea typeface="宋体" panose="02010600030101010101" pitchFamily="2" charset="-122"/>
                        </a:rPr>
                        <a:t>&gt;→&lt;</a:t>
                      </a:r>
                      <a:r>
                        <a:rPr lang="en-US" sz="1600" kern="100" dirty="0" err="1">
                          <a:solidFill>
                            <a:schemeClr val="tx1"/>
                          </a:solidFill>
                          <a:effectLst/>
                          <a:latin typeface="宋体" panose="02010600030101010101" pitchFamily="2" charset="-122"/>
                          <a:ea typeface="宋体" panose="02010600030101010101" pitchFamily="2" charset="-122"/>
                        </a:rPr>
                        <a:t>VarDCL</a:t>
                      </a:r>
                      <a:r>
                        <a:rPr lang="en-US" sz="1600" kern="100" dirty="0">
                          <a:solidFill>
                            <a:schemeClr val="tx1"/>
                          </a:solidFill>
                          <a:effectLst/>
                          <a:latin typeface="宋体" panose="02010600030101010101" pitchFamily="2" charset="-122"/>
                          <a:ea typeface="宋体" panose="02010600030101010101" pitchFamily="2" charset="-122"/>
                        </a:rPr>
                        <a:t>&gt;</a:t>
                      </a:r>
                      <a:r>
                        <a:rPr lang="en-US" sz="1600" kern="100" baseline="30000" dirty="0">
                          <a:solidFill>
                            <a:schemeClr val="tx1"/>
                          </a:solidFill>
                          <a:effectLst/>
                          <a:latin typeface="宋体" panose="02010600030101010101" pitchFamily="2" charset="-122"/>
                          <a:ea typeface="宋体" panose="02010600030101010101" pitchFamily="2" charset="-122"/>
                        </a:rPr>
                        <a:t>(1)</a:t>
                      </a:r>
                      <a:r>
                        <a:rPr lang="en-US" sz="1600" kern="100" dirty="0">
                          <a:solidFill>
                            <a:schemeClr val="tx1"/>
                          </a:solidFill>
                          <a:effectLst/>
                          <a:latin typeface="宋体" panose="02010600030101010101" pitchFamily="2" charset="-122"/>
                          <a:ea typeface="宋体" panose="02010600030101010101" pitchFamily="2" charset="-122"/>
                        </a:rPr>
                        <a:t>,id=&lt;expr&gt;</a:t>
                      </a:r>
                      <a:endParaRPr lang="zh-CN" sz="1600" kern="100" dirty="0">
                        <a:solidFill>
                          <a:schemeClr val="tx1"/>
                        </a:solidFill>
                        <a:effectLst/>
                        <a:latin typeface="宋体" panose="02010600030101010101" pitchFamily="2" charset="-122"/>
                        <a:ea typeface="宋体" panose="0201060003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a:t>
                      </a:r>
                      <a:r>
                        <a:rPr lang="en-US" altLang="zh-CN" sz="1600" kern="100" dirty="0" err="1">
                          <a:solidFill>
                            <a:schemeClr val="tx1"/>
                          </a:solidFill>
                          <a:effectLst/>
                          <a:latin typeface="宋体" panose="02010600030101010101" pitchFamily="2" charset="-122"/>
                          <a:ea typeface="宋体" panose="02010600030101010101" pitchFamily="2" charset="-122"/>
                        </a:rPr>
                        <a:t>InsertVarible</a:t>
                      </a:r>
                      <a:r>
                        <a:rPr lang="en-US" altLang="zh-CN" sz="1600" kern="100" dirty="0">
                          <a:solidFill>
                            <a:schemeClr val="tx1"/>
                          </a:solidFill>
                          <a:effectLst/>
                          <a:latin typeface="宋体" panose="02010600030101010101" pitchFamily="2" charset="-122"/>
                          <a:ea typeface="宋体" panose="02010600030101010101" pitchFamily="2" charset="-122"/>
                        </a:rPr>
                        <a:t>(</a:t>
                      </a:r>
                      <a:r>
                        <a:rPr kumimoji="0" lang="en-US" altLang="zh-CN" sz="1600" kern="1200" dirty="0">
                          <a:solidFill>
                            <a:schemeClr val="dk1"/>
                          </a:solidFill>
                          <a:effectLst/>
                          <a:latin typeface="宋体" panose="02010600030101010101" pitchFamily="2" charset="-122"/>
                          <a:ea typeface="宋体" panose="02010600030101010101" pitchFamily="2" charset="-122"/>
                          <a:cs typeface="+mn-cs"/>
                        </a:rPr>
                        <a:t>entry(id).na</a:t>
                      </a:r>
                      <a:r>
                        <a:rPr kumimoji="0" lang="en-US" altLang="zh-CN" sz="1600" kern="100" dirty="0">
                          <a:solidFill>
                            <a:schemeClr val="tx1"/>
                          </a:solidFill>
                          <a:effectLst/>
                          <a:latin typeface="宋体" panose="02010600030101010101" pitchFamily="2" charset="-122"/>
                          <a:ea typeface="宋体" panose="02010600030101010101" pitchFamily="2" charset="-122"/>
                          <a:cs typeface="+mn-cs"/>
                        </a:rPr>
                        <a:t>me</a:t>
                      </a:r>
                      <a:r>
                        <a:rPr lang="en-US" altLang="zh-CN" sz="1400" kern="100" dirty="0">
                          <a:solidFill>
                            <a:schemeClr val="tx1"/>
                          </a:solidFill>
                          <a:effectLst/>
                          <a:latin typeface="宋体" panose="02010600030101010101" pitchFamily="2" charset="-122"/>
                          <a:ea typeface="宋体" panose="02010600030101010101" pitchFamily="2" charset="-122"/>
                        </a:rPr>
                        <a:t>);//</a:t>
                      </a:r>
                      <a:r>
                        <a:rPr lang="zh-CN" altLang="en-US" sz="1400" kern="100" dirty="0">
                          <a:solidFill>
                            <a:schemeClr val="tx1"/>
                          </a:solidFill>
                          <a:effectLst/>
                          <a:latin typeface="宋体" panose="02010600030101010101" pitchFamily="2" charset="-122"/>
                          <a:ea typeface="宋体" panose="02010600030101010101" pitchFamily="2" charset="-122"/>
                        </a:rPr>
                        <a:t>变量名</a:t>
                      </a:r>
                      <a:r>
                        <a:rPr lang="zh-CN" altLang="zh-CN" sz="1400" kern="100" dirty="0">
                          <a:solidFill>
                            <a:schemeClr val="tx1"/>
                          </a:solidFill>
                          <a:effectLst/>
                          <a:latin typeface="宋体" panose="02010600030101010101" pitchFamily="2" charset="-122"/>
                          <a:ea typeface="宋体" panose="02010600030101010101" pitchFamily="2" charset="-122"/>
                        </a:rPr>
                        <a:t>插入符号表</a:t>
                      </a:r>
                      <a:endParaRPr lang="en-US" altLang="zh-CN" sz="1600" kern="100" dirty="0">
                        <a:solidFill>
                          <a:schemeClr val="tx1"/>
                        </a:solidFill>
                        <a:effectLst/>
                        <a:latin typeface="宋体" panose="02010600030101010101" pitchFamily="2" charset="-122"/>
                        <a:ea typeface="宋体" panose="02010600030101010101" pitchFamily="2" charset="-122"/>
                      </a:endParaRPr>
                    </a:p>
                    <a:p>
                      <a:pPr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  entry(id).type = &lt;</a:t>
                      </a:r>
                      <a:r>
                        <a:rPr lang="en-US" sz="1600" kern="100" dirty="0" err="1">
                          <a:solidFill>
                            <a:schemeClr val="tx1"/>
                          </a:solidFill>
                          <a:effectLst/>
                          <a:latin typeface="宋体" panose="02010600030101010101" pitchFamily="2" charset="-122"/>
                          <a:ea typeface="宋体" panose="02010600030101010101" pitchFamily="2" charset="-122"/>
                        </a:rPr>
                        <a:t>VarDCL</a:t>
                      </a:r>
                      <a:r>
                        <a:rPr lang="en-US" sz="1600" kern="100" dirty="0">
                          <a:solidFill>
                            <a:schemeClr val="tx1"/>
                          </a:solidFill>
                          <a:effectLst/>
                          <a:latin typeface="宋体" panose="02010600030101010101" pitchFamily="2" charset="-122"/>
                          <a:ea typeface="宋体" panose="02010600030101010101" pitchFamily="2" charset="-122"/>
                        </a:rPr>
                        <a:t>&gt;</a:t>
                      </a:r>
                      <a:r>
                        <a:rPr lang="en-US" sz="1600" kern="100" baseline="30000" dirty="0">
                          <a:solidFill>
                            <a:schemeClr val="tx1"/>
                          </a:solidFill>
                          <a:effectLst/>
                          <a:latin typeface="宋体" panose="02010600030101010101" pitchFamily="2" charset="-122"/>
                          <a:ea typeface="宋体" panose="02010600030101010101" pitchFamily="2" charset="-122"/>
                        </a:rPr>
                        <a:t>(1)</a:t>
                      </a:r>
                      <a:r>
                        <a:rPr lang="en-US" sz="1600" kern="100" dirty="0">
                          <a:solidFill>
                            <a:schemeClr val="tx1"/>
                          </a:solidFill>
                          <a:effectLst/>
                          <a:latin typeface="宋体" panose="02010600030101010101" pitchFamily="2" charset="-122"/>
                          <a:ea typeface="宋体" panose="02010600030101010101" pitchFamily="2" charset="-122"/>
                        </a:rPr>
                        <a:t>.type);</a:t>
                      </a:r>
                      <a:endParaRPr lang="zh-CN" sz="1600" kern="100" dirty="0">
                        <a:solidFill>
                          <a:schemeClr val="tx1"/>
                        </a:solidFill>
                        <a:effectLst/>
                        <a:latin typeface="宋体" panose="02010600030101010101" pitchFamily="2" charset="-122"/>
                        <a:ea typeface="宋体" panose="02010600030101010101" pitchFamily="2" charset="-122"/>
                      </a:endParaRPr>
                    </a:p>
                    <a:p>
                      <a:pPr indent="171450"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entry(id).</a:t>
                      </a:r>
                      <a:r>
                        <a:rPr lang="en-US" sz="1600" kern="100" dirty="0" err="1">
                          <a:solidFill>
                            <a:schemeClr val="tx1"/>
                          </a:solidFill>
                          <a:effectLst/>
                          <a:latin typeface="宋体" panose="02010600030101010101" pitchFamily="2" charset="-122"/>
                          <a:ea typeface="宋体" panose="02010600030101010101" pitchFamily="2" charset="-122"/>
                        </a:rPr>
                        <a:t>val</a:t>
                      </a:r>
                      <a:r>
                        <a:rPr lang="en-US" sz="1600" kern="100" dirty="0">
                          <a:solidFill>
                            <a:schemeClr val="tx1"/>
                          </a:solidFill>
                          <a:effectLst/>
                          <a:latin typeface="宋体" panose="02010600030101010101" pitchFamily="2" charset="-122"/>
                          <a:ea typeface="宋体" panose="02010600030101010101" pitchFamily="2" charset="-122"/>
                        </a:rPr>
                        <a:t>=&lt;expr&gt;.PLACE;</a:t>
                      </a:r>
                      <a:endParaRPr lang="zh-CN" sz="1600" kern="100" dirty="0">
                        <a:solidFill>
                          <a:schemeClr val="tx1"/>
                        </a:solidFill>
                        <a:effectLst/>
                        <a:latin typeface="宋体" panose="02010600030101010101" pitchFamily="2" charset="-122"/>
                        <a:ea typeface="宋体" panose="02010600030101010101" pitchFamily="2" charset="-122"/>
                      </a:endParaRPr>
                    </a:p>
                    <a:p>
                      <a:pPr indent="171450"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&lt;</a:t>
                      </a:r>
                      <a:r>
                        <a:rPr lang="en-US" sz="1600" kern="100" dirty="0" err="1">
                          <a:solidFill>
                            <a:schemeClr val="tx1"/>
                          </a:solidFill>
                          <a:effectLst/>
                          <a:latin typeface="宋体" panose="02010600030101010101" pitchFamily="2" charset="-122"/>
                          <a:ea typeface="宋体" panose="02010600030101010101" pitchFamily="2" charset="-122"/>
                        </a:rPr>
                        <a:t>VarDCL</a:t>
                      </a:r>
                      <a:r>
                        <a:rPr lang="en-US" sz="1600" kern="100" dirty="0">
                          <a:solidFill>
                            <a:schemeClr val="tx1"/>
                          </a:solidFill>
                          <a:effectLst/>
                          <a:latin typeface="宋体" panose="02010600030101010101" pitchFamily="2" charset="-122"/>
                          <a:ea typeface="宋体" panose="02010600030101010101" pitchFamily="2" charset="-122"/>
                        </a:rPr>
                        <a:t>&gt;.type=&lt;</a:t>
                      </a:r>
                      <a:r>
                        <a:rPr lang="en-US" sz="1600" kern="100" dirty="0" err="1">
                          <a:solidFill>
                            <a:schemeClr val="tx1"/>
                          </a:solidFill>
                          <a:effectLst/>
                          <a:latin typeface="宋体" panose="02010600030101010101" pitchFamily="2" charset="-122"/>
                          <a:ea typeface="宋体" panose="02010600030101010101" pitchFamily="2" charset="-122"/>
                        </a:rPr>
                        <a:t>VarDCL</a:t>
                      </a:r>
                      <a:r>
                        <a:rPr lang="en-US" sz="1600" kern="100" dirty="0">
                          <a:solidFill>
                            <a:schemeClr val="tx1"/>
                          </a:solidFill>
                          <a:effectLst/>
                          <a:latin typeface="宋体" panose="02010600030101010101" pitchFamily="2" charset="-122"/>
                          <a:ea typeface="宋体" panose="02010600030101010101" pitchFamily="2" charset="-122"/>
                        </a:rPr>
                        <a:t>&gt;</a:t>
                      </a:r>
                      <a:r>
                        <a:rPr lang="en-US" sz="1600" kern="100" baseline="30000" dirty="0">
                          <a:solidFill>
                            <a:schemeClr val="tx1"/>
                          </a:solidFill>
                          <a:effectLst/>
                          <a:latin typeface="宋体" panose="02010600030101010101" pitchFamily="2" charset="-122"/>
                          <a:ea typeface="宋体" panose="02010600030101010101" pitchFamily="2" charset="-122"/>
                        </a:rPr>
                        <a:t>(1)</a:t>
                      </a:r>
                      <a:r>
                        <a:rPr lang="en-US" sz="1600" kern="100" dirty="0">
                          <a:solidFill>
                            <a:schemeClr val="tx1"/>
                          </a:solidFill>
                          <a:effectLst/>
                          <a:latin typeface="宋体" panose="02010600030101010101" pitchFamily="2" charset="-122"/>
                          <a:ea typeface="宋体" panose="02010600030101010101" pitchFamily="2" charset="-122"/>
                        </a:rPr>
                        <a:t>.type;      }</a:t>
                      </a:r>
                      <a:endParaRPr lang="zh-CN" sz="1600" kern="100" dirty="0">
                        <a:solidFill>
                          <a:schemeClr val="tx1"/>
                        </a:solidFill>
                        <a:effectLst/>
                        <a:latin typeface="宋体" panose="02010600030101010101" pitchFamily="2" charset="-122"/>
                        <a:ea typeface="宋体" panose="0201060003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85800">
                <a:tc>
                  <a:txBody>
                    <a:bodyPr/>
                    <a:lstStyle/>
                    <a:p>
                      <a:pPr algn="just">
                        <a:spcAft>
                          <a:spcPts val="0"/>
                        </a:spcAft>
                      </a:pPr>
                      <a:r>
                        <a:rPr lang="zh-CN" sz="1600" kern="100" dirty="0">
                          <a:solidFill>
                            <a:schemeClr val="tx1"/>
                          </a:solidFill>
                          <a:effectLst/>
                          <a:latin typeface="宋体" panose="02010600030101010101" pitchFamily="2" charset="-122"/>
                          <a:ea typeface="宋体" panose="02010600030101010101" pitchFamily="2" charset="-122"/>
                        </a:rPr>
                        <a:t>（</a:t>
                      </a:r>
                      <a:r>
                        <a:rPr lang="en-US" sz="1600" kern="100" dirty="0">
                          <a:solidFill>
                            <a:schemeClr val="tx1"/>
                          </a:solidFill>
                          <a:effectLst/>
                          <a:latin typeface="宋体" panose="02010600030101010101" pitchFamily="2" charset="-122"/>
                          <a:ea typeface="宋体" panose="02010600030101010101" pitchFamily="2" charset="-122"/>
                        </a:rPr>
                        <a:t>1</a:t>
                      </a:r>
                      <a:r>
                        <a:rPr lang="zh-CN" sz="1600" kern="100" dirty="0">
                          <a:solidFill>
                            <a:schemeClr val="tx1"/>
                          </a:solidFill>
                          <a:effectLst/>
                          <a:latin typeface="宋体" panose="02010600030101010101" pitchFamily="2" charset="-122"/>
                          <a:ea typeface="宋体" panose="02010600030101010101" pitchFamily="2" charset="-122"/>
                        </a:rPr>
                        <a:t>）</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&lt;</a:t>
                      </a:r>
                      <a:r>
                        <a:rPr lang="en-US" sz="1600" kern="100" dirty="0" err="1">
                          <a:solidFill>
                            <a:schemeClr val="tx1"/>
                          </a:solidFill>
                          <a:effectLst/>
                          <a:latin typeface="宋体" panose="02010600030101010101" pitchFamily="2" charset="-122"/>
                          <a:ea typeface="宋体" panose="02010600030101010101" pitchFamily="2" charset="-122"/>
                        </a:rPr>
                        <a:t>VarDCL</a:t>
                      </a:r>
                      <a:r>
                        <a:rPr lang="en-US" sz="1600" kern="100" dirty="0">
                          <a:solidFill>
                            <a:schemeClr val="tx1"/>
                          </a:solidFill>
                          <a:effectLst/>
                          <a:latin typeface="宋体" panose="02010600030101010101" pitchFamily="2" charset="-122"/>
                          <a:ea typeface="宋体" panose="02010600030101010101" pitchFamily="2" charset="-122"/>
                        </a:rPr>
                        <a:t>&gt;→&lt;</a:t>
                      </a:r>
                      <a:r>
                        <a:rPr lang="en-US" sz="1600" kern="100" dirty="0" err="1">
                          <a:solidFill>
                            <a:schemeClr val="tx1"/>
                          </a:solidFill>
                          <a:effectLst/>
                          <a:latin typeface="宋体" panose="02010600030101010101" pitchFamily="2" charset="-122"/>
                          <a:ea typeface="宋体" panose="02010600030101010101" pitchFamily="2" charset="-122"/>
                        </a:rPr>
                        <a:t>VarDCL</a:t>
                      </a:r>
                      <a:r>
                        <a:rPr lang="en-US" sz="1600" kern="100" dirty="0">
                          <a:solidFill>
                            <a:schemeClr val="tx1"/>
                          </a:solidFill>
                          <a:effectLst/>
                          <a:latin typeface="宋体" panose="02010600030101010101" pitchFamily="2" charset="-122"/>
                          <a:ea typeface="宋体" panose="02010600030101010101" pitchFamily="2" charset="-122"/>
                        </a:rPr>
                        <a:t>&gt;</a:t>
                      </a:r>
                      <a:r>
                        <a:rPr lang="en-US" sz="1600" kern="100" baseline="30000" dirty="0">
                          <a:solidFill>
                            <a:schemeClr val="tx1"/>
                          </a:solidFill>
                          <a:effectLst/>
                          <a:latin typeface="宋体" panose="02010600030101010101" pitchFamily="2" charset="-122"/>
                          <a:ea typeface="宋体" panose="02010600030101010101" pitchFamily="2" charset="-122"/>
                        </a:rPr>
                        <a:t>(1)</a:t>
                      </a:r>
                      <a:r>
                        <a:rPr lang="en-US" sz="1600" kern="100" dirty="0">
                          <a:solidFill>
                            <a:schemeClr val="tx1"/>
                          </a:solidFill>
                          <a:effectLst/>
                          <a:latin typeface="宋体" panose="02010600030101010101" pitchFamily="2" charset="-122"/>
                          <a:ea typeface="宋体" panose="02010600030101010101" pitchFamily="2" charset="-122"/>
                        </a:rPr>
                        <a:t>,id</a:t>
                      </a:r>
                      <a:endParaRPr lang="zh-CN" sz="1600" kern="100" dirty="0">
                        <a:solidFill>
                          <a:schemeClr val="tx1"/>
                        </a:solidFill>
                        <a:effectLst/>
                        <a:latin typeface="宋体" panose="02010600030101010101" pitchFamily="2" charset="-122"/>
                        <a:ea typeface="宋体" panose="0201060003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a:t>
                      </a:r>
                      <a:r>
                        <a:rPr lang="en-US" altLang="zh-CN" sz="1600" kern="100" dirty="0" err="1">
                          <a:solidFill>
                            <a:schemeClr val="tx1"/>
                          </a:solidFill>
                          <a:effectLst/>
                          <a:latin typeface="宋体" panose="02010600030101010101" pitchFamily="2" charset="-122"/>
                          <a:ea typeface="宋体" panose="02010600030101010101" pitchFamily="2" charset="-122"/>
                        </a:rPr>
                        <a:t>InsertVarible</a:t>
                      </a:r>
                      <a:r>
                        <a:rPr lang="en-US" altLang="zh-CN" sz="1600" kern="100" dirty="0">
                          <a:solidFill>
                            <a:schemeClr val="tx1"/>
                          </a:solidFill>
                          <a:effectLst/>
                          <a:latin typeface="宋体" panose="02010600030101010101" pitchFamily="2" charset="-122"/>
                          <a:ea typeface="宋体" panose="02010600030101010101" pitchFamily="2" charset="-122"/>
                        </a:rPr>
                        <a:t>(</a:t>
                      </a:r>
                      <a:r>
                        <a:rPr kumimoji="0" lang="en-US" altLang="zh-CN" sz="1600" kern="1200" dirty="0">
                          <a:solidFill>
                            <a:schemeClr val="dk1"/>
                          </a:solidFill>
                          <a:effectLst/>
                          <a:latin typeface="宋体" panose="02010600030101010101" pitchFamily="2" charset="-122"/>
                          <a:ea typeface="宋体" panose="02010600030101010101" pitchFamily="2" charset="-122"/>
                          <a:cs typeface="+mn-cs"/>
                        </a:rPr>
                        <a:t>entry(id).na</a:t>
                      </a:r>
                      <a:r>
                        <a:rPr kumimoji="0" lang="en-US" altLang="zh-CN" sz="1600" kern="100" dirty="0">
                          <a:solidFill>
                            <a:schemeClr val="tx1"/>
                          </a:solidFill>
                          <a:effectLst/>
                          <a:latin typeface="宋体" panose="02010600030101010101" pitchFamily="2" charset="-122"/>
                          <a:ea typeface="宋体" panose="02010600030101010101" pitchFamily="2" charset="-122"/>
                          <a:cs typeface="+mn-cs"/>
                        </a:rPr>
                        <a:t>me</a:t>
                      </a:r>
                      <a:r>
                        <a:rPr lang="en-US" altLang="zh-CN" sz="1600" kern="100" dirty="0">
                          <a:solidFill>
                            <a:schemeClr val="tx1"/>
                          </a:solidFill>
                          <a:effectLst/>
                          <a:latin typeface="宋体" panose="02010600030101010101" pitchFamily="2" charset="-122"/>
                          <a:ea typeface="宋体" panose="02010600030101010101" pitchFamily="2" charset="-122"/>
                        </a:rPr>
                        <a:t>);</a:t>
                      </a:r>
                      <a:r>
                        <a:rPr lang="en-US" altLang="zh-CN" sz="1400" kern="100" dirty="0">
                          <a:solidFill>
                            <a:schemeClr val="tx1"/>
                          </a:solidFill>
                          <a:effectLst/>
                          <a:latin typeface="宋体" panose="02010600030101010101" pitchFamily="2" charset="-122"/>
                          <a:ea typeface="宋体" panose="02010600030101010101" pitchFamily="2" charset="-122"/>
                        </a:rPr>
                        <a:t>//</a:t>
                      </a:r>
                      <a:r>
                        <a:rPr lang="zh-CN" altLang="en-US" sz="1400" kern="100" dirty="0">
                          <a:solidFill>
                            <a:schemeClr val="tx1"/>
                          </a:solidFill>
                          <a:effectLst/>
                          <a:latin typeface="宋体" panose="02010600030101010101" pitchFamily="2" charset="-122"/>
                          <a:ea typeface="宋体" panose="02010600030101010101" pitchFamily="2" charset="-122"/>
                        </a:rPr>
                        <a:t>变量名</a:t>
                      </a:r>
                      <a:r>
                        <a:rPr lang="zh-CN" altLang="zh-CN" sz="1400" kern="100" dirty="0">
                          <a:solidFill>
                            <a:schemeClr val="tx1"/>
                          </a:solidFill>
                          <a:effectLst/>
                          <a:latin typeface="宋体" panose="02010600030101010101" pitchFamily="2" charset="-122"/>
                          <a:ea typeface="宋体" panose="02010600030101010101" pitchFamily="2" charset="-122"/>
                        </a:rPr>
                        <a:t>插入符号表</a:t>
                      </a:r>
                      <a:endParaRPr lang="en-US" altLang="zh-CN" sz="1600" kern="100" dirty="0">
                        <a:solidFill>
                          <a:schemeClr val="tx1"/>
                        </a:solidFill>
                        <a:effectLst/>
                        <a:latin typeface="宋体" panose="02010600030101010101" pitchFamily="2" charset="-122"/>
                        <a:ea typeface="宋体" panose="02010600030101010101" pitchFamily="2" charset="-122"/>
                      </a:endParaRPr>
                    </a:p>
                    <a:p>
                      <a:pPr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  entry(id).type = &lt;</a:t>
                      </a:r>
                      <a:r>
                        <a:rPr lang="en-US" sz="1600" kern="100" dirty="0" err="1">
                          <a:solidFill>
                            <a:schemeClr val="tx1"/>
                          </a:solidFill>
                          <a:effectLst/>
                          <a:latin typeface="宋体" panose="02010600030101010101" pitchFamily="2" charset="-122"/>
                          <a:ea typeface="宋体" panose="02010600030101010101" pitchFamily="2" charset="-122"/>
                        </a:rPr>
                        <a:t>VarDCL</a:t>
                      </a:r>
                      <a:r>
                        <a:rPr lang="en-US" sz="1600" kern="100" dirty="0">
                          <a:solidFill>
                            <a:schemeClr val="tx1"/>
                          </a:solidFill>
                          <a:effectLst/>
                          <a:latin typeface="宋体" panose="02010600030101010101" pitchFamily="2" charset="-122"/>
                          <a:ea typeface="宋体" panose="02010600030101010101" pitchFamily="2" charset="-122"/>
                        </a:rPr>
                        <a:t>&gt;</a:t>
                      </a:r>
                      <a:r>
                        <a:rPr lang="en-US" sz="1600" kern="100" baseline="30000" dirty="0">
                          <a:solidFill>
                            <a:schemeClr val="tx1"/>
                          </a:solidFill>
                          <a:effectLst/>
                          <a:latin typeface="宋体" panose="02010600030101010101" pitchFamily="2" charset="-122"/>
                          <a:ea typeface="宋体" panose="02010600030101010101" pitchFamily="2" charset="-122"/>
                        </a:rPr>
                        <a:t> (1)</a:t>
                      </a:r>
                      <a:r>
                        <a:rPr lang="en-US" sz="1600" kern="100" dirty="0">
                          <a:solidFill>
                            <a:schemeClr val="tx1"/>
                          </a:solidFill>
                          <a:effectLst/>
                          <a:latin typeface="宋体" panose="02010600030101010101" pitchFamily="2" charset="-122"/>
                          <a:ea typeface="宋体" panose="02010600030101010101" pitchFamily="2" charset="-122"/>
                        </a:rPr>
                        <a:t>.type;</a:t>
                      </a:r>
                      <a:endParaRPr lang="zh-CN" sz="1600" kern="100" dirty="0">
                        <a:solidFill>
                          <a:schemeClr val="tx1"/>
                        </a:solidFill>
                        <a:effectLst/>
                        <a:latin typeface="宋体" panose="02010600030101010101" pitchFamily="2" charset="-122"/>
                        <a:ea typeface="宋体" panose="02010600030101010101" pitchFamily="2" charset="-122"/>
                      </a:endParaRPr>
                    </a:p>
                    <a:p>
                      <a:pPr indent="171450"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&lt;</a:t>
                      </a:r>
                      <a:r>
                        <a:rPr lang="en-US" sz="1600" kern="100" dirty="0" err="1">
                          <a:solidFill>
                            <a:schemeClr val="tx1"/>
                          </a:solidFill>
                          <a:effectLst/>
                          <a:latin typeface="宋体" panose="02010600030101010101" pitchFamily="2" charset="-122"/>
                          <a:ea typeface="宋体" panose="02010600030101010101" pitchFamily="2" charset="-122"/>
                        </a:rPr>
                        <a:t>VarDCL</a:t>
                      </a:r>
                      <a:r>
                        <a:rPr lang="en-US" sz="1600" kern="100" dirty="0">
                          <a:solidFill>
                            <a:schemeClr val="tx1"/>
                          </a:solidFill>
                          <a:effectLst/>
                          <a:latin typeface="宋体" panose="02010600030101010101" pitchFamily="2" charset="-122"/>
                          <a:ea typeface="宋体" panose="02010600030101010101" pitchFamily="2" charset="-122"/>
                        </a:rPr>
                        <a:t>&gt;.type=&lt;</a:t>
                      </a:r>
                      <a:r>
                        <a:rPr lang="en-US" sz="1600" kern="100" dirty="0" err="1">
                          <a:solidFill>
                            <a:schemeClr val="tx1"/>
                          </a:solidFill>
                          <a:effectLst/>
                          <a:latin typeface="宋体" panose="02010600030101010101" pitchFamily="2" charset="-122"/>
                          <a:ea typeface="宋体" panose="02010600030101010101" pitchFamily="2" charset="-122"/>
                        </a:rPr>
                        <a:t>VarDCL</a:t>
                      </a:r>
                      <a:r>
                        <a:rPr lang="en-US" sz="1600" kern="100" dirty="0">
                          <a:solidFill>
                            <a:schemeClr val="tx1"/>
                          </a:solidFill>
                          <a:effectLst/>
                          <a:latin typeface="宋体" panose="02010600030101010101" pitchFamily="2" charset="-122"/>
                          <a:ea typeface="宋体" panose="02010600030101010101" pitchFamily="2" charset="-122"/>
                        </a:rPr>
                        <a:t>&gt;</a:t>
                      </a:r>
                      <a:r>
                        <a:rPr lang="en-US" sz="1600" kern="100" baseline="30000" dirty="0">
                          <a:solidFill>
                            <a:schemeClr val="tx1"/>
                          </a:solidFill>
                          <a:effectLst/>
                          <a:latin typeface="宋体" panose="02010600030101010101" pitchFamily="2" charset="-122"/>
                          <a:ea typeface="宋体" panose="02010600030101010101" pitchFamily="2" charset="-122"/>
                        </a:rPr>
                        <a:t>(1)</a:t>
                      </a:r>
                      <a:r>
                        <a:rPr lang="en-US" sz="1600" kern="100" dirty="0">
                          <a:solidFill>
                            <a:schemeClr val="tx1"/>
                          </a:solidFill>
                          <a:effectLst/>
                          <a:latin typeface="宋体" panose="02010600030101010101" pitchFamily="2" charset="-122"/>
                          <a:ea typeface="宋体" panose="02010600030101010101" pitchFamily="2" charset="-122"/>
                        </a:rPr>
                        <a:t>.type;      }</a:t>
                      </a:r>
                      <a:endParaRPr lang="zh-CN" sz="1600" kern="100" dirty="0">
                        <a:solidFill>
                          <a:schemeClr val="tx1"/>
                        </a:solidFill>
                        <a:effectLst/>
                        <a:latin typeface="宋体" panose="02010600030101010101" pitchFamily="2" charset="-122"/>
                        <a:ea typeface="宋体" panose="0201060003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59472">
                <a:tc>
                  <a:txBody>
                    <a:bodyPr/>
                    <a:lstStyle/>
                    <a:p>
                      <a:pPr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 </a:t>
                      </a:r>
                      <a:endParaRPr lang="zh-CN" sz="1600" kern="100" dirty="0">
                        <a:solidFill>
                          <a:schemeClr val="tx1"/>
                        </a:solidFill>
                        <a:effectLst/>
                        <a:latin typeface="宋体" panose="02010600030101010101" pitchFamily="2" charset="-122"/>
                        <a:ea typeface="宋体" panose="0201060003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&lt;</a:t>
                      </a:r>
                      <a:r>
                        <a:rPr lang="en-US" sz="1600" kern="100" dirty="0" err="1">
                          <a:solidFill>
                            <a:schemeClr val="tx1"/>
                          </a:solidFill>
                          <a:effectLst/>
                          <a:latin typeface="宋体" panose="02010600030101010101" pitchFamily="2" charset="-122"/>
                          <a:ea typeface="宋体" panose="02010600030101010101" pitchFamily="2" charset="-122"/>
                        </a:rPr>
                        <a:t>VarDCL</a:t>
                      </a:r>
                      <a:r>
                        <a:rPr lang="en-US" sz="1600" kern="100" dirty="0">
                          <a:solidFill>
                            <a:schemeClr val="tx1"/>
                          </a:solidFill>
                          <a:effectLst/>
                          <a:latin typeface="宋体" panose="02010600030101010101" pitchFamily="2" charset="-122"/>
                          <a:ea typeface="宋体" panose="02010600030101010101" pitchFamily="2" charset="-122"/>
                        </a:rPr>
                        <a:t>&gt;→</a:t>
                      </a:r>
                      <a:r>
                        <a:rPr lang="en-US" sz="1600" kern="100" dirty="0">
                          <a:solidFill>
                            <a:schemeClr val="tx1"/>
                          </a:solidFill>
                          <a:effectLst/>
                          <a:latin typeface="宋体" panose="02010600030101010101" pitchFamily="2" charset="-122"/>
                          <a:ea typeface="宋体" panose="02010600030101010101" pitchFamily="2" charset="-122"/>
                          <a:sym typeface="Symbol"/>
                        </a:rPr>
                        <a:t></a:t>
                      </a:r>
                      <a:endParaRPr lang="zh-CN" sz="1600" kern="100" dirty="0">
                        <a:solidFill>
                          <a:schemeClr val="tx1"/>
                        </a:solidFill>
                        <a:effectLst/>
                        <a:latin typeface="宋体" panose="02010600030101010101" pitchFamily="2" charset="-122"/>
                        <a:ea typeface="宋体" panose="0201060003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600" kern="100" dirty="0">
                          <a:solidFill>
                            <a:schemeClr val="tx1"/>
                          </a:solidFill>
                          <a:effectLst/>
                          <a:latin typeface="宋体" panose="02010600030101010101" pitchFamily="2" charset="-122"/>
                          <a:ea typeface="宋体" panose="02010600030101010101" pitchFamily="2" charset="-122"/>
                        </a:rPr>
                        <a:t>{      }</a:t>
                      </a:r>
                      <a:endParaRPr lang="zh-CN" sz="1600" kern="100" dirty="0">
                        <a:solidFill>
                          <a:schemeClr val="tx1"/>
                        </a:solidFill>
                        <a:effectLst/>
                        <a:latin typeface="宋体" panose="02010600030101010101" pitchFamily="2" charset="-122"/>
                        <a:ea typeface="宋体" panose="0201060003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679914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xfrm>
            <a:off x="107504" y="123478"/>
            <a:ext cx="8229600" cy="648072"/>
          </a:xfrm>
        </p:spPr>
        <p:txBody>
          <a:bodyPr>
            <a:normAutofit/>
          </a:bodyPr>
          <a:lstStyle/>
          <a:p>
            <a:r>
              <a:rPr lang="en-US" altLang="zh-CN" sz="3200" dirty="0"/>
              <a:t>PASCAL</a:t>
            </a:r>
            <a:r>
              <a:rPr lang="zh-CN" altLang="zh-CN" sz="3200" dirty="0"/>
              <a:t>语言中的变量声明语句</a:t>
            </a:r>
            <a:endParaRPr lang="zh-CN" altLang="en-US" sz="3200" dirty="0"/>
          </a:p>
        </p:txBody>
      </p:sp>
      <p:sp>
        <p:nvSpPr>
          <p:cNvPr id="73731" name="内容占位符 3"/>
          <p:cNvSpPr>
            <a:spLocks noGrp="1"/>
          </p:cNvSpPr>
          <p:nvPr>
            <p:ph sz="half" idx="2"/>
          </p:nvPr>
        </p:nvSpPr>
        <p:spPr>
          <a:xfrm>
            <a:off x="683568" y="699542"/>
            <a:ext cx="4835525" cy="1047750"/>
          </a:xfrm>
        </p:spPr>
        <p:txBody>
          <a:bodyPr>
            <a:normAutofit fontScale="92500" lnSpcReduction="20000"/>
          </a:bodyPr>
          <a:lstStyle/>
          <a:p>
            <a:pPr marL="0" indent="0">
              <a:buFontTx/>
              <a:buNone/>
            </a:pPr>
            <a:r>
              <a:rPr lang="zh-CN" altLang="zh-CN" sz="2400" dirty="0"/>
              <a:t>（</a:t>
            </a:r>
            <a:r>
              <a:rPr lang="en-US" altLang="zh-CN" sz="2400" dirty="0"/>
              <a:t>1</a:t>
            </a:r>
            <a:r>
              <a:rPr lang="zh-CN" altLang="zh-CN" sz="2400" dirty="0"/>
              <a:t>）</a:t>
            </a:r>
            <a:r>
              <a:rPr lang="en-US" altLang="zh-CN" sz="2400" dirty="0"/>
              <a:t> &lt;</a:t>
            </a:r>
            <a:r>
              <a:rPr lang="en-US" altLang="zh-CN" sz="2400" dirty="0" err="1"/>
              <a:t>VarDCL</a:t>
            </a:r>
            <a:r>
              <a:rPr lang="en-US" altLang="zh-CN" sz="2400" dirty="0"/>
              <a:t>&gt;→</a:t>
            </a:r>
            <a:r>
              <a:rPr lang="en-US" altLang="zh-CN" sz="2400" dirty="0" err="1"/>
              <a:t>var</a:t>
            </a:r>
            <a:r>
              <a:rPr lang="en-US" altLang="zh-CN" sz="2400" dirty="0"/>
              <a:t> &lt;IDS&gt; |</a:t>
            </a:r>
            <a:r>
              <a:rPr lang="en-US" altLang="zh-CN" sz="2400" dirty="0">
                <a:sym typeface="Symbol" pitchFamily="18" charset="2"/>
              </a:rPr>
              <a:t></a:t>
            </a:r>
            <a:endParaRPr lang="zh-CN" altLang="zh-CN" sz="2400" dirty="0"/>
          </a:p>
          <a:p>
            <a:pPr marL="0" indent="0">
              <a:buFontTx/>
              <a:buNone/>
            </a:pPr>
            <a:r>
              <a:rPr lang="zh-CN" altLang="zh-CN" sz="2400" dirty="0"/>
              <a:t>（</a:t>
            </a:r>
            <a:r>
              <a:rPr lang="en-US" altLang="zh-CN" sz="2400" dirty="0"/>
              <a:t>2</a:t>
            </a:r>
            <a:r>
              <a:rPr lang="zh-CN" altLang="zh-CN" sz="2400" dirty="0"/>
              <a:t>）</a:t>
            </a:r>
            <a:r>
              <a:rPr lang="en-US" altLang="zh-CN" sz="2400" dirty="0"/>
              <a:t> &lt;IDS&gt;→id,&lt;IDS&gt;</a:t>
            </a:r>
            <a:r>
              <a:rPr lang="en-US" altLang="zh-CN" sz="2400" baseline="30000" dirty="0"/>
              <a:t>(1)</a:t>
            </a:r>
            <a:endParaRPr lang="zh-CN" altLang="zh-CN" sz="2400" dirty="0"/>
          </a:p>
          <a:p>
            <a:pPr marL="0" indent="0">
              <a:buFontTx/>
              <a:buNone/>
            </a:pPr>
            <a:r>
              <a:rPr lang="zh-CN" altLang="zh-CN" sz="2400" dirty="0"/>
              <a:t>（</a:t>
            </a:r>
            <a:r>
              <a:rPr lang="nl-NL" altLang="zh-CN" sz="2400" dirty="0"/>
              <a:t>3</a:t>
            </a:r>
            <a:r>
              <a:rPr lang="zh-CN" altLang="zh-CN" sz="2400" dirty="0"/>
              <a:t>）</a:t>
            </a:r>
            <a:r>
              <a:rPr lang="nl-NL" altLang="zh-CN" sz="2400" dirty="0"/>
              <a:t> &lt;IDS&gt;→id:integer</a:t>
            </a:r>
            <a:r>
              <a:rPr lang="en-US" altLang="zh-CN" sz="2400" dirty="0"/>
              <a:t> </a:t>
            </a:r>
            <a:endParaRPr lang="zh-CN" altLang="en-US" sz="2400" dirty="0"/>
          </a:p>
        </p:txBody>
      </p:sp>
      <p:graphicFrame>
        <p:nvGraphicFramePr>
          <p:cNvPr id="5" name="表格 4"/>
          <p:cNvGraphicFramePr>
            <a:graphicFrameLocks noGrp="1"/>
          </p:cNvGraphicFramePr>
          <p:nvPr>
            <p:extLst>
              <p:ext uri="{D42A27DB-BD31-4B8C-83A1-F6EECF244321}">
                <p14:modId xmlns:p14="http://schemas.microsoft.com/office/powerpoint/2010/main" val="2054706690"/>
              </p:ext>
            </p:extLst>
          </p:nvPr>
        </p:nvGraphicFramePr>
        <p:xfrm>
          <a:off x="251520" y="2139702"/>
          <a:ext cx="8713787" cy="2468880"/>
        </p:xfrm>
        <a:graphic>
          <a:graphicData uri="http://schemas.openxmlformats.org/drawingml/2006/table">
            <a:tbl>
              <a:tblPr>
                <a:tableStyleId>{5C22544A-7EE6-4342-B048-85BDC9FD1C3A}</a:tableStyleId>
              </a:tblPr>
              <a:tblGrid>
                <a:gridCol w="792088">
                  <a:extLst>
                    <a:ext uri="{9D8B030D-6E8A-4147-A177-3AD203B41FA5}">
                      <a16:colId xmlns:a16="http://schemas.microsoft.com/office/drawing/2014/main" val="20000"/>
                    </a:ext>
                  </a:extLst>
                </a:gridCol>
                <a:gridCol w="2304256">
                  <a:extLst>
                    <a:ext uri="{9D8B030D-6E8A-4147-A177-3AD203B41FA5}">
                      <a16:colId xmlns:a16="http://schemas.microsoft.com/office/drawing/2014/main" val="20001"/>
                    </a:ext>
                  </a:extLst>
                </a:gridCol>
                <a:gridCol w="5617443">
                  <a:extLst>
                    <a:ext uri="{9D8B030D-6E8A-4147-A177-3AD203B41FA5}">
                      <a16:colId xmlns:a16="http://schemas.microsoft.com/office/drawing/2014/main" val="20002"/>
                    </a:ext>
                  </a:extLst>
                </a:gridCol>
              </a:tblGrid>
              <a:tr h="228600">
                <a:tc>
                  <a:txBody>
                    <a:bodyPr/>
                    <a:lstStyle/>
                    <a:p>
                      <a:pPr algn="ctr">
                        <a:spcAft>
                          <a:spcPts val="0"/>
                        </a:spcAft>
                      </a:pPr>
                      <a:r>
                        <a:rPr lang="zh-CN" sz="1800" kern="100" dirty="0">
                          <a:solidFill>
                            <a:schemeClr val="tx1"/>
                          </a:solidFill>
                          <a:effectLst/>
                        </a:rPr>
                        <a:t>编号</a:t>
                      </a:r>
                      <a:endParaRPr lang="zh-CN" sz="1800" kern="100" dirty="0">
                        <a:solidFill>
                          <a:schemeClr val="tx1"/>
                        </a:solidFill>
                        <a:effectLst/>
                        <a:latin typeface="Times New Roman"/>
                        <a:ea typeface="宋体"/>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solidFill>
                            <a:schemeClr val="tx1"/>
                          </a:solidFill>
                          <a:effectLst/>
                        </a:rPr>
                        <a:t>产生式</a:t>
                      </a:r>
                      <a:endParaRPr lang="zh-CN" sz="1800" kern="100">
                        <a:solidFill>
                          <a:schemeClr val="tx1"/>
                        </a:solidFill>
                        <a:effectLst/>
                        <a:latin typeface="Times New Roman"/>
                        <a:ea typeface="宋体"/>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solidFill>
                            <a:schemeClr val="tx1"/>
                          </a:solidFill>
                          <a:effectLst/>
                        </a:rPr>
                        <a:t>语义规则</a:t>
                      </a:r>
                      <a:endParaRPr lang="zh-CN" sz="1800" kern="100">
                        <a:solidFill>
                          <a:schemeClr val="tx1"/>
                        </a:solidFill>
                        <a:effectLst/>
                        <a:latin typeface="Times New Roman"/>
                        <a:ea typeface="宋体"/>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algn="just">
                        <a:spcAft>
                          <a:spcPts val="0"/>
                        </a:spcAft>
                      </a:pPr>
                      <a:r>
                        <a:rPr lang="zh-CN" sz="1800" kern="100" dirty="0">
                          <a:solidFill>
                            <a:schemeClr val="tx1"/>
                          </a:solidFill>
                          <a:effectLst/>
                        </a:rPr>
                        <a:t>（</a:t>
                      </a:r>
                      <a:r>
                        <a:rPr lang="en-US" sz="1800" kern="100" dirty="0">
                          <a:solidFill>
                            <a:schemeClr val="tx1"/>
                          </a:solidFill>
                          <a:effectLst/>
                        </a:rPr>
                        <a:t>3</a:t>
                      </a:r>
                      <a:r>
                        <a:rPr lang="zh-CN" sz="1800" kern="100" dirty="0">
                          <a:solidFill>
                            <a:schemeClr val="tx1"/>
                          </a:solidFill>
                          <a:effectLst/>
                        </a:rPr>
                        <a:t>）</a:t>
                      </a:r>
                      <a:endParaRPr lang="zh-CN" sz="1800" kern="100" dirty="0">
                        <a:solidFill>
                          <a:schemeClr val="tx1"/>
                        </a:solidFill>
                        <a:effectLst/>
                        <a:latin typeface="Times New Roman"/>
                        <a:ea typeface="宋体"/>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800" kern="100" dirty="0">
                          <a:solidFill>
                            <a:schemeClr val="tx1"/>
                          </a:solidFill>
                          <a:effectLst/>
                        </a:rPr>
                        <a:t>&lt;IDS&gt;→</a:t>
                      </a:r>
                      <a:r>
                        <a:rPr lang="en-US" sz="1800" kern="100" dirty="0" err="1">
                          <a:solidFill>
                            <a:schemeClr val="tx1"/>
                          </a:solidFill>
                          <a:effectLst/>
                        </a:rPr>
                        <a:t>id:integer</a:t>
                      </a:r>
                      <a:endParaRPr lang="zh-CN" sz="1800" kern="100" dirty="0">
                        <a:solidFill>
                          <a:schemeClr val="tx1"/>
                        </a:solidFill>
                        <a:effectLst/>
                        <a:latin typeface="Times New Roman"/>
                        <a:ea typeface="宋体"/>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zh-CN" sz="1800" kern="100" dirty="0">
                          <a:solidFill>
                            <a:schemeClr val="tx1"/>
                          </a:solidFill>
                          <a:effectLst/>
                        </a:rPr>
                        <a:t>{</a:t>
                      </a:r>
                      <a:r>
                        <a:rPr kumimoji="0" lang="en-US" altLang="zh-CN" sz="1800" kern="1200" dirty="0" err="1">
                          <a:solidFill>
                            <a:schemeClr val="dk1"/>
                          </a:solidFill>
                          <a:effectLst/>
                          <a:latin typeface="+mn-lt"/>
                          <a:ea typeface="+mn-ea"/>
                          <a:cs typeface="+mn-cs"/>
                        </a:rPr>
                        <a:t>InsertVarible</a:t>
                      </a:r>
                      <a:r>
                        <a:rPr kumimoji="0" lang="en-US" altLang="zh-CN" sz="1800" kern="1200" dirty="0">
                          <a:solidFill>
                            <a:schemeClr val="dk1"/>
                          </a:solidFill>
                          <a:effectLst/>
                          <a:latin typeface="+mn-lt"/>
                          <a:ea typeface="+mn-ea"/>
                          <a:cs typeface="+mn-cs"/>
                        </a:rPr>
                        <a:t>(entry(id).name</a:t>
                      </a:r>
                      <a:r>
                        <a:rPr kumimoji="0" lang="x-none" altLang="zh-CN" sz="1800" kern="1200" dirty="0">
                          <a:solidFill>
                            <a:schemeClr val="dk1"/>
                          </a:solidFill>
                          <a:effectLst/>
                          <a:latin typeface="+mn-lt"/>
                          <a:ea typeface="+mn-ea"/>
                          <a:cs typeface="+mn-cs"/>
                        </a:rPr>
                        <a:t> </a:t>
                      </a:r>
                      <a:r>
                        <a:rPr kumimoji="0" lang="en-US" altLang="zh-CN" sz="1800" kern="1200" dirty="0">
                          <a:solidFill>
                            <a:schemeClr val="dk1"/>
                          </a:solidFill>
                          <a:effectLst/>
                          <a:latin typeface="+mn-lt"/>
                          <a:ea typeface="+mn-ea"/>
                          <a:cs typeface="+mn-cs"/>
                        </a:rPr>
                        <a:t>);</a:t>
                      </a:r>
                      <a:r>
                        <a:rPr kumimoji="0" lang="en-US" altLang="zh-CN" sz="1600" kern="1200" dirty="0">
                          <a:solidFill>
                            <a:schemeClr val="dk1"/>
                          </a:solidFill>
                          <a:effectLst/>
                          <a:latin typeface="+mn-lt"/>
                          <a:ea typeface="+mn-ea"/>
                          <a:cs typeface="+mn-cs"/>
                        </a:rPr>
                        <a:t>//</a:t>
                      </a:r>
                      <a:r>
                        <a:rPr kumimoji="0" lang="zh-CN" altLang="zh-CN" sz="1600" kern="1200" dirty="0">
                          <a:solidFill>
                            <a:schemeClr val="dk1"/>
                          </a:solidFill>
                          <a:effectLst/>
                          <a:latin typeface="+mn-lt"/>
                          <a:ea typeface="+mn-ea"/>
                          <a:cs typeface="+mn-cs"/>
                        </a:rPr>
                        <a:t>变量名插入符号表</a:t>
                      </a:r>
                      <a:r>
                        <a:rPr lang="zh-CN" altLang="zh-CN" sz="1600" dirty="0">
                          <a:effectLst/>
                        </a:rPr>
                        <a:t> </a:t>
                      </a:r>
                      <a:r>
                        <a:rPr kumimoji="0" lang="x-none" altLang="zh-CN" sz="1600" kern="1200" dirty="0">
                          <a:solidFill>
                            <a:schemeClr val="dk1"/>
                          </a:solidFill>
                          <a:effectLst/>
                          <a:latin typeface="+mn-lt"/>
                          <a:ea typeface="+mn-ea"/>
                          <a:cs typeface="+mn-cs"/>
                        </a:rPr>
                        <a:t> </a:t>
                      </a:r>
                      <a:endParaRPr kumimoji="0" lang="en-US" altLang="zh-CN" sz="1600" kern="1200" dirty="0">
                        <a:solidFill>
                          <a:schemeClr val="dk1"/>
                        </a:solidFill>
                        <a:effectLst/>
                        <a:latin typeface="+mn-lt"/>
                        <a:ea typeface="+mn-ea"/>
                        <a:cs typeface="+mn-cs"/>
                      </a:endParaRPr>
                    </a:p>
                    <a:p>
                      <a:pPr algn="just">
                        <a:spcAft>
                          <a:spcPts val="0"/>
                        </a:spcAft>
                      </a:pPr>
                      <a:r>
                        <a:rPr lang="en-US" sz="1800" kern="100" dirty="0">
                          <a:solidFill>
                            <a:schemeClr val="tx1"/>
                          </a:solidFill>
                          <a:effectLst/>
                        </a:rPr>
                        <a:t>entry</a:t>
                      </a:r>
                      <a:r>
                        <a:rPr lang="zh-CN" sz="1800" kern="100" dirty="0">
                          <a:solidFill>
                            <a:schemeClr val="tx1"/>
                          </a:solidFill>
                          <a:effectLst/>
                        </a:rPr>
                        <a:t>(id).type = integer; </a:t>
                      </a:r>
                    </a:p>
                    <a:p>
                      <a:pPr indent="171450" algn="just">
                        <a:spcAft>
                          <a:spcPts val="0"/>
                        </a:spcAft>
                      </a:pPr>
                      <a:r>
                        <a:rPr lang="zh-CN" sz="1800" kern="100" dirty="0">
                          <a:solidFill>
                            <a:schemeClr val="tx1"/>
                          </a:solidFill>
                          <a:effectLst/>
                        </a:rPr>
                        <a:t>&lt;IDS&gt;·type=integer                    }</a:t>
                      </a:r>
                      <a:endParaRPr lang="zh-CN" sz="1800" kern="100" dirty="0">
                        <a:solidFill>
                          <a:schemeClr val="tx1"/>
                        </a:solidFill>
                        <a:effectLst/>
                        <a:latin typeface="Times New Roman"/>
                        <a:ea typeface="宋体"/>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algn="just">
                        <a:spcAft>
                          <a:spcPts val="0"/>
                        </a:spcAft>
                      </a:pPr>
                      <a:r>
                        <a:rPr lang="zh-CN" sz="1800" kern="100">
                          <a:solidFill>
                            <a:schemeClr val="tx1"/>
                          </a:solidFill>
                          <a:effectLst/>
                        </a:rPr>
                        <a:t>（</a:t>
                      </a:r>
                      <a:r>
                        <a:rPr lang="en-US" sz="1800" kern="100">
                          <a:solidFill>
                            <a:schemeClr val="tx1"/>
                          </a:solidFill>
                          <a:effectLst/>
                        </a:rPr>
                        <a:t>2</a:t>
                      </a:r>
                      <a:r>
                        <a:rPr lang="zh-CN" sz="1800" kern="100">
                          <a:solidFill>
                            <a:schemeClr val="tx1"/>
                          </a:solidFill>
                          <a:effectLst/>
                        </a:rPr>
                        <a:t>）</a:t>
                      </a:r>
                      <a:endParaRPr lang="zh-CN" sz="1800" kern="100">
                        <a:solidFill>
                          <a:schemeClr val="tx1"/>
                        </a:solidFill>
                        <a:effectLst/>
                        <a:latin typeface="Times New Roman"/>
                        <a:ea typeface="宋体"/>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800" kern="100" dirty="0">
                          <a:solidFill>
                            <a:schemeClr val="tx1"/>
                          </a:solidFill>
                          <a:effectLst/>
                        </a:rPr>
                        <a:t>&lt;IDS&gt;→id,&lt;IDS&gt;</a:t>
                      </a:r>
                      <a:r>
                        <a:rPr lang="en-US" sz="1800" kern="100" baseline="30000" dirty="0">
                          <a:solidFill>
                            <a:schemeClr val="tx1"/>
                          </a:solidFill>
                          <a:effectLst/>
                        </a:rPr>
                        <a:t>(1)</a:t>
                      </a:r>
                      <a:endParaRPr lang="zh-CN" sz="1800" kern="100" dirty="0">
                        <a:solidFill>
                          <a:schemeClr val="tx1"/>
                        </a:solidFill>
                        <a:effectLst/>
                        <a:latin typeface="Times New Roman"/>
                        <a:ea typeface="宋体"/>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800" kern="100" dirty="0">
                          <a:solidFill>
                            <a:schemeClr val="tx1"/>
                          </a:solidFill>
                          <a:effectLst/>
                        </a:rPr>
                        <a:t>{</a:t>
                      </a:r>
                      <a:r>
                        <a:rPr kumimoji="0" lang="en-US" altLang="zh-CN" sz="1800" kern="1200" dirty="0" err="1">
                          <a:solidFill>
                            <a:schemeClr val="dk1"/>
                          </a:solidFill>
                          <a:effectLst/>
                          <a:latin typeface="+mn-lt"/>
                          <a:ea typeface="+mn-ea"/>
                          <a:cs typeface="+mn-cs"/>
                        </a:rPr>
                        <a:t>InsertVarible</a:t>
                      </a:r>
                      <a:r>
                        <a:rPr kumimoji="0" lang="en-US" altLang="zh-CN" sz="1800" kern="1200" dirty="0">
                          <a:solidFill>
                            <a:schemeClr val="dk1"/>
                          </a:solidFill>
                          <a:effectLst/>
                          <a:latin typeface="+mn-lt"/>
                          <a:ea typeface="+mn-ea"/>
                          <a:cs typeface="+mn-cs"/>
                        </a:rPr>
                        <a:t>(entry(id).name</a:t>
                      </a:r>
                      <a:r>
                        <a:rPr kumimoji="0" lang="x-none" altLang="zh-CN" sz="1800" kern="1200" dirty="0">
                          <a:solidFill>
                            <a:schemeClr val="dk1"/>
                          </a:solidFill>
                          <a:effectLst/>
                          <a:latin typeface="+mn-lt"/>
                          <a:ea typeface="+mn-ea"/>
                          <a:cs typeface="+mn-cs"/>
                        </a:rPr>
                        <a:t> </a:t>
                      </a:r>
                      <a:r>
                        <a:rPr kumimoji="0" lang="en-US" altLang="zh-CN" sz="1800" kern="1200" dirty="0">
                          <a:solidFill>
                            <a:schemeClr val="dk1"/>
                          </a:solidFill>
                          <a:effectLst/>
                          <a:latin typeface="+mn-lt"/>
                          <a:ea typeface="+mn-ea"/>
                          <a:cs typeface="+mn-cs"/>
                        </a:rPr>
                        <a:t>);</a:t>
                      </a:r>
                      <a:r>
                        <a:rPr kumimoji="0" lang="en-US" altLang="zh-CN" sz="1600" kern="1200" dirty="0">
                          <a:solidFill>
                            <a:schemeClr val="dk1"/>
                          </a:solidFill>
                          <a:effectLst/>
                          <a:latin typeface="+mn-lt"/>
                          <a:ea typeface="+mn-ea"/>
                          <a:cs typeface="+mn-cs"/>
                        </a:rPr>
                        <a:t>//</a:t>
                      </a:r>
                      <a:r>
                        <a:rPr kumimoji="0" lang="zh-CN" altLang="zh-CN" sz="1600" kern="1200" dirty="0">
                          <a:solidFill>
                            <a:schemeClr val="dk1"/>
                          </a:solidFill>
                          <a:effectLst/>
                          <a:latin typeface="+mn-lt"/>
                          <a:ea typeface="+mn-ea"/>
                          <a:cs typeface="+mn-cs"/>
                        </a:rPr>
                        <a:t>变量名插入符号表</a:t>
                      </a:r>
                      <a:r>
                        <a:rPr lang="zh-CN" altLang="zh-CN" sz="1600" dirty="0">
                          <a:effectLst/>
                        </a:rPr>
                        <a:t> </a:t>
                      </a:r>
                      <a:r>
                        <a:rPr kumimoji="0" lang="x-none" altLang="zh-CN" sz="1600" kern="1200" dirty="0">
                          <a:solidFill>
                            <a:schemeClr val="dk1"/>
                          </a:solidFill>
                          <a:effectLst/>
                          <a:latin typeface="+mn-lt"/>
                          <a:ea typeface="+mn-ea"/>
                          <a:cs typeface="+mn-cs"/>
                        </a:rPr>
                        <a:t> </a:t>
                      </a:r>
                      <a:endParaRPr kumimoji="0" lang="en-US" altLang="zh-CN" sz="1600" kern="1200" dirty="0">
                        <a:solidFill>
                          <a:schemeClr val="dk1"/>
                        </a:solidFill>
                        <a:effectLst/>
                        <a:latin typeface="+mn-lt"/>
                        <a:ea typeface="+mn-ea"/>
                        <a:cs typeface="+mn-cs"/>
                      </a:endParaRPr>
                    </a:p>
                    <a:p>
                      <a:pPr algn="just">
                        <a:spcAft>
                          <a:spcPts val="0"/>
                        </a:spcAft>
                      </a:pPr>
                      <a:r>
                        <a:rPr kumimoji="0" lang="en-US" sz="1800" kern="1200" dirty="0">
                          <a:solidFill>
                            <a:schemeClr val="dk1"/>
                          </a:solidFill>
                          <a:effectLst/>
                          <a:latin typeface="+mn-lt"/>
                          <a:ea typeface="+mn-ea"/>
                          <a:cs typeface="+mn-cs"/>
                        </a:rPr>
                        <a:t>  </a:t>
                      </a:r>
                      <a:r>
                        <a:rPr lang="en-US" sz="1800" kern="100" dirty="0">
                          <a:solidFill>
                            <a:schemeClr val="tx1"/>
                          </a:solidFill>
                          <a:effectLst/>
                        </a:rPr>
                        <a:t>entry(id).type = &lt;IDS&gt;</a:t>
                      </a:r>
                      <a:r>
                        <a:rPr lang="en-US" sz="1800" kern="100" baseline="30000" dirty="0">
                          <a:solidFill>
                            <a:schemeClr val="tx1"/>
                          </a:solidFill>
                          <a:effectLst/>
                        </a:rPr>
                        <a:t>(1)</a:t>
                      </a:r>
                      <a:r>
                        <a:rPr lang="en-US" sz="1800" kern="100" dirty="0">
                          <a:solidFill>
                            <a:schemeClr val="tx1"/>
                          </a:solidFill>
                          <a:effectLst/>
                        </a:rPr>
                        <a:t>·type;</a:t>
                      </a:r>
                      <a:endParaRPr lang="zh-CN" sz="1800" kern="100" dirty="0">
                        <a:solidFill>
                          <a:schemeClr val="tx1"/>
                        </a:solidFill>
                        <a:effectLst/>
                      </a:endParaRPr>
                    </a:p>
                    <a:p>
                      <a:pPr indent="171450" algn="just">
                        <a:spcAft>
                          <a:spcPts val="0"/>
                        </a:spcAft>
                      </a:pPr>
                      <a:r>
                        <a:rPr lang="en-US" sz="1800" kern="100" dirty="0">
                          <a:solidFill>
                            <a:schemeClr val="tx1"/>
                          </a:solidFill>
                          <a:effectLst/>
                        </a:rPr>
                        <a:t>&lt;IDS&gt;·type=&lt;IDS&gt;</a:t>
                      </a:r>
                      <a:r>
                        <a:rPr lang="en-US" sz="1800" kern="100" baseline="30000" dirty="0">
                          <a:solidFill>
                            <a:schemeClr val="tx1"/>
                          </a:solidFill>
                          <a:effectLst/>
                        </a:rPr>
                        <a:t>(1)</a:t>
                      </a:r>
                      <a:r>
                        <a:rPr lang="en-US" sz="1800" kern="100" dirty="0">
                          <a:solidFill>
                            <a:schemeClr val="tx1"/>
                          </a:solidFill>
                          <a:effectLst/>
                        </a:rPr>
                        <a:t>·type          }</a:t>
                      </a:r>
                      <a:endParaRPr lang="zh-CN" sz="1800" kern="100" dirty="0">
                        <a:solidFill>
                          <a:schemeClr val="tx1"/>
                        </a:solidFill>
                        <a:effectLst/>
                        <a:latin typeface="Times New Roman"/>
                        <a:ea typeface="宋体"/>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algn="just">
                        <a:spcAft>
                          <a:spcPts val="0"/>
                        </a:spcAft>
                      </a:pPr>
                      <a:r>
                        <a:rPr lang="zh-CN" sz="1800" kern="100">
                          <a:solidFill>
                            <a:schemeClr val="tx1"/>
                          </a:solidFill>
                          <a:effectLst/>
                        </a:rPr>
                        <a:t>（</a:t>
                      </a:r>
                      <a:r>
                        <a:rPr lang="en-US" sz="1800" kern="100">
                          <a:solidFill>
                            <a:schemeClr val="tx1"/>
                          </a:solidFill>
                          <a:effectLst/>
                        </a:rPr>
                        <a:t>1</a:t>
                      </a:r>
                      <a:r>
                        <a:rPr lang="zh-CN" sz="1800" kern="100">
                          <a:solidFill>
                            <a:schemeClr val="tx1"/>
                          </a:solidFill>
                          <a:effectLst/>
                        </a:rPr>
                        <a:t>）</a:t>
                      </a:r>
                      <a:endParaRPr lang="zh-CN" sz="1800" kern="100">
                        <a:solidFill>
                          <a:schemeClr val="tx1"/>
                        </a:solidFill>
                        <a:effectLst/>
                        <a:latin typeface="Times New Roman"/>
                        <a:ea typeface="宋体"/>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800" kern="100" dirty="0">
                          <a:solidFill>
                            <a:schemeClr val="tx1"/>
                          </a:solidFill>
                          <a:effectLst/>
                        </a:rPr>
                        <a:t>&lt;</a:t>
                      </a:r>
                      <a:r>
                        <a:rPr lang="en-US" sz="1800" kern="100" dirty="0" err="1">
                          <a:solidFill>
                            <a:schemeClr val="tx1"/>
                          </a:solidFill>
                          <a:effectLst/>
                        </a:rPr>
                        <a:t>VarDCL</a:t>
                      </a:r>
                      <a:r>
                        <a:rPr lang="en-US" sz="1800" kern="100" dirty="0">
                          <a:solidFill>
                            <a:schemeClr val="tx1"/>
                          </a:solidFill>
                          <a:effectLst/>
                        </a:rPr>
                        <a:t>&gt;→</a:t>
                      </a:r>
                      <a:r>
                        <a:rPr lang="en-US" sz="1800" kern="100" dirty="0" err="1">
                          <a:solidFill>
                            <a:schemeClr val="tx1"/>
                          </a:solidFill>
                          <a:effectLst/>
                        </a:rPr>
                        <a:t>var</a:t>
                      </a:r>
                      <a:r>
                        <a:rPr lang="en-US" sz="1800" kern="100" dirty="0">
                          <a:solidFill>
                            <a:schemeClr val="tx1"/>
                          </a:solidFill>
                          <a:effectLst/>
                        </a:rPr>
                        <a:t> &lt;IDS&gt;|</a:t>
                      </a:r>
                      <a:r>
                        <a:rPr lang="en-US" sz="1800" kern="100" dirty="0">
                          <a:solidFill>
                            <a:schemeClr val="tx1"/>
                          </a:solidFill>
                          <a:effectLst/>
                          <a:sym typeface="Symbol"/>
                        </a:rPr>
                        <a:t></a:t>
                      </a:r>
                      <a:endParaRPr lang="zh-CN" sz="1800" kern="100" dirty="0">
                        <a:solidFill>
                          <a:schemeClr val="tx1"/>
                        </a:solidFill>
                        <a:effectLst/>
                        <a:latin typeface="Times New Roman"/>
                        <a:ea typeface="宋体"/>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800" kern="100" dirty="0">
                          <a:solidFill>
                            <a:schemeClr val="tx1"/>
                          </a:solidFill>
                          <a:effectLst/>
                        </a:rPr>
                        <a:t>{                                      }</a:t>
                      </a:r>
                      <a:endParaRPr lang="zh-CN" sz="1800" kern="100" dirty="0">
                        <a:solidFill>
                          <a:schemeClr val="tx1"/>
                        </a:solidFill>
                        <a:effectLst/>
                        <a:latin typeface="Times New Roman"/>
                        <a:ea typeface="宋体"/>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3754" name="矩形 1"/>
          <p:cNvSpPr>
            <a:spLocks noChangeArrowheads="1"/>
          </p:cNvSpPr>
          <p:nvPr/>
        </p:nvSpPr>
        <p:spPr bwMode="auto">
          <a:xfrm>
            <a:off x="33339" y="4731544"/>
            <a:ext cx="3438762" cy="461665"/>
          </a:xfrm>
          <a:prstGeom prst="rect">
            <a:avLst/>
          </a:prstGeom>
          <a:solidFill>
            <a:schemeClr val="bg1"/>
          </a:solidFill>
          <a:ln>
            <a:noFill/>
          </a:ln>
        </p:spPr>
        <p:txBody>
          <a:bodyPr wrap="non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r>
              <a:rPr lang="en-US" altLang="zh-CN" sz="2400" dirty="0" err="1">
                <a:solidFill>
                  <a:srgbClr val="FF0000"/>
                </a:solidFill>
              </a:rPr>
              <a:t>var</a:t>
            </a:r>
            <a:r>
              <a:rPr lang="en-US" altLang="zh-CN" sz="2400" dirty="0">
                <a:solidFill>
                  <a:srgbClr val="FF0000"/>
                </a:solidFill>
              </a:rPr>
              <a:t> id1,id2,id3:integer</a:t>
            </a:r>
            <a:r>
              <a:rPr lang="zh-CN" altLang="en-US" sz="2400" dirty="0">
                <a:solidFill>
                  <a:srgbClr val="FF0000"/>
                </a:solidFill>
              </a:rPr>
              <a:t>；</a:t>
            </a:r>
            <a:endParaRPr lang="zh-CN" altLang="en-US" sz="2400" dirty="0"/>
          </a:p>
        </p:txBody>
      </p:sp>
    </p:spTree>
    <p:extLst>
      <p:ext uri="{BB962C8B-B14F-4D97-AF65-F5344CB8AC3E}">
        <p14:creationId xmlns:p14="http://schemas.microsoft.com/office/powerpoint/2010/main" val="35521691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611188" y="1674019"/>
            <a:ext cx="7561262" cy="529829"/>
          </a:xfrm>
        </p:spPr>
        <p:txBody>
          <a:bodyPr>
            <a:normAutofit fontScale="90000"/>
          </a:bodyPr>
          <a:lstStyle/>
          <a:p>
            <a:pPr eaLnBrk="1" hangingPunct="1"/>
            <a:r>
              <a:rPr lang="en-US" altLang="zh-CN" sz="3600">
                <a:solidFill>
                  <a:srgbClr val="FF0000"/>
                </a:solidFill>
              </a:rPr>
              <a:t>var id1,id2,id3:integer;</a:t>
            </a:r>
            <a:r>
              <a:rPr lang="zh-CN" altLang="en-US" sz="3600">
                <a:solidFill>
                  <a:srgbClr val="FF0000"/>
                </a:solidFill>
              </a:rPr>
              <a:t>的归约过程</a:t>
            </a:r>
          </a:p>
        </p:txBody>
      </p:sp>
      <p:sp>
        <p:nvSpPr>
          <p:cNvPr id="74755" name="Rectangle 3"/>
          <p:cNvSpPr>
            <a:spLocks noGrp="1" noChangeArrowheads="1"/>
          </p:cNvSpPr>
          <p:nvPr>
            <p:ph type="body" idx="1"/>
          </p:nvPr>
        </p:nvSpPr>
        <p:spPr>
          <a:xfrm>
            <a:off x="250825" y="250031"/>
            <a:ext cx="7499350" cy="1371600"/>
          </a:xfrm>
        </p:spPr>
        <p:txBody>
          <a:bodyPr>
            <a:normAutofit/>
          </a:bodyPr>
          <a:lstStyle/>
          <a:p>
            <a:pPr marL="0" indent="0">
              <a:buFontTx/>
              <a:buNone/>
            </a:pPr>
            <a:r>
              <a:rPr lang="zh-CN" altLang="zh-CN" sz="2200" dirty="0"/>
              <a:t>（</a:t>
            </a:r>
            <a:r>
              <a:rPr lang="en-US" altLang="zh-CN" sz="2200" dirty="0"/>
              <a:t>1</a:t>
            </a:r>
            <a:r>
              <a:rPr lang="zh-CN" altLang="zh-CN" sz="2200" dirty="0"/>
              <a:t>）</a:t>
            </a:r>
            <a:r>
              <a:rPr lang="en-US" altLang="zh-CN" sz="2200" dirty="0"/>
              <a:t> &lt;</a:t>
            </a:r>
            <a:r>
              <a:rPr lang="en-US" altLang="zh-CN" sz="2200" dirty="0" err="1"/>
              <a:t>VarDCL</a:t>
            </a:r>
            <a:r>
              <a:rPr lang="en-US" altLang="zh-CN" sz="2200" dirty="0"/>
              <a:t>&gt;→</a:t>
            </a:r>
            <a:r>
              <a:rPr lang="en-US" altLang="zh-CN" sz="2200" dirty="0" err="1"/>
              <a:t>var</a:t>
            </a:r>
            <a:r>
              <a:rPr lang="en-US" altLang="zh-CN" sz="2200" dirty="0"/>
              <a:t> &lt;IDS&gt; |</a:t>
            </a:r>
            <a:r>
              <a:rPr lang="en-US" altLang="zh-CN" sz="2200" dirty="0">
                <a:sym typeface="Symbol" pitchFamily="18" charset="2"/>
              </a:rPr>
              <a:t></a:t>
            </a:r>
            <a:endParaRPr lang="zh-CN" altLang="zh-CN" sz="2200" dirty="0"/>
          </a:p>
          <a:p>
            <a:pPr marL="0" indent="0">
              <a:buFontTx/>
              <a:buNone/>
            </a:pPr>
            <a:r>
              <a:rPr lang="zh-CN" altLang="zh-CN" sz="2200" dirty="0"/>
              <a:t>（</a:t>
            </a:r>
            <a:r>
              <a:rPr lang="en-US" altLang="zh-CN" sz="2200" dirty="0"/>
              <a:t>2</a:t>
            </a:r>
            <a:r>
              <a:rPr lang="zh-CN" altLang="zh-CN" sz="2200" dirty="0"/>
              <a:t>）</a:t>
            </a:r>
            <a:r>
              <a:rPr lang="en-US" altLang="zh-CN" sz="2200" dirty="0"/>
              <a:t> &lt;IDS&gt;→id,&lt;IDS&gt;</a:t>
            </a:r>
            <a:r>
              <a:rPr lang="en-US" altLang="zh-CN" sz="2200" baseline="30000" dirty="0"/>
              <a:t>(1)</a:t>
            </a:r>
            <a:endParaRPr lang="zh-CN" altLang="zh-CN" sz="2200" dirty="0"/>
          </a:p>
          <a:p>
            <a:pPr marL="0" indent="0">
              <a:buFontTx/>
              <a:buNone/>
            </a:pPr>
            <a:r>
              <a:rPr lang="zh-CN" altLang="zh-CN" sz="2200" dirty="0"/>
              <a:t>（</a:t>
            </a:r>
            <a:r>
              <a:rPr lang="nl-NL" altLang="zh-CN" sz="2200" dirty="0"/>
              <a:t>3</a:t>
            </a:r>
            <a:r>
              <a:rPr lang="zh-CN" altLang="zh-CN" sz="2200" dirty="0"/>
              <a:t>）</a:t>
            </a:r>
            <a:r>
              <a:rPr lang="nl-NL" altLang="zh-CN" sz="2200" dirty="0"/>
              <a:t> &lt;IDS&gt;→id:integer</a:t>
            </a:r>
            <a:endParaRPr lang="zh-CN" altLang="zh-CN" sz="2200" dirty="0"/>
          </a:p>
        </p:txBody>
      </p:sp>
      <p:sp>
        <p:nvSpPr>
          <p:cNvPr id="74756" name="Rectangle 4"/>
          <p:cNvSpPr>
            <a:spLocks noChangeArrowheads="1"/>
          </p:cNvSpPr>
          <p:nvPr/>
        </p:nvSpPr>
        <p:spPr bwMode="auto">
          <a:xfrm>
            <a:off x="1246189" y="400199"/>
            <a:ext cx="184731" cy="461665"/>
          </a:xfrm>
          <a:prstGeom prst="rect">
            <a:avLst/>
          </a:prstGeom>
          <a:solidFill>
            <a:srgbClr val="F3F3F3"/>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graphicFrame>
        <p:nvGraphicFramePr>
          <p:cNvPr id="3" name="表格 2"/>
          <p:cNvGraphicFramePr>
            <a:graphicFrameLocks noGrp="1"/>
          </p:cNvGraphicFramePr>
          <p:nvPr/>
        </p:nvGraphicFramePr>
        <p:xfrm>
          <a:off x="250826" y="2464593"/>
          <a:ext cx="8374063" cy="2195512"/>
        </p:xfrm>
        <a:graphic>
          <a:graphicData uri="http://schemas.openxmlformats.org/drawingml/2006/table">
            <a:tbl>
              <a:tblPr/>
              <a:tblGrid>
                <a:gridCol w="748005">
                  <a:extLst>
                    <a:ext uri="{9D8B030D-6E8A-4147-A177-3AD203B41FA5}">
                      <a16:colId xmlns:a16="http://schemas.microsoft.com/office/drawing/2014/main" val="20000"/>
                    </a:ext>
                  </a:extLst>
                </a:gridCol>
                <a:gridCol w="2911155">
                  <a:extLst>
                    <a:ext uri="{9D8B030D-6E8A-4147-A177-3AD203B41FA5}">
                      <a16:colId xmlns:a16="http://schemas.microsoft.com/office/drawing/2014/main" val="20001"/>
                    </a:ext>
                  </a:extLst>
                </a:gridCol>
                <a:gridCol w="4714903">
                  <a:extLst>
                    <a:ext uri="{9D8B030D-6E8A-4147-A177-3AD203B41FA5}">
                      <a16:colId xmlns:a16="http://schemas.microsoft.com/office/drawing/2014/main" val="20002"/>
                    </a:ext>
                  </a:extLst>
                </a:gridCol>
              </a:tblGrid>
              <a:tr h="274439">
                <a:tc>
                  <a:txBody>
                    <a:bodyPr/>
                    <a:lstStyle/>
                    <a:p>
                      <a:pPr algn="l">
                        <a:spcAft>
                          <a:spcPts val="0"/>
                        </a:spcAft>
                      </a:pPr>
                      <a:r>
                        <a:rPr lang="zh-CN" sz="1800" kern="100" dirty="0">
                          <a:effectLst/>
                          <a:latin typeface="Times New Roman" panose="02020603050405020304" pitchFamily="18" charset="0"/>
                          <a:ea typeface="宋体" panose="02010600030101010101" pitchFamily="2" charset="-122"/>
                        </a:rPr>
                        <a:t>编号</a:t>
                      </a:r>
                    </a:p>
                  </a:txBody>
                  <a:tcPr marL="68584" marR="68584"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a:effectLst/>
                          <a:latin typeface="Times New Roman" panose="02020603050405020304" pitchFamily="18" charset="0"/>
                          <a:ea typeface="宋体" panose="02010600030101010101" pitchFamily="2" charset="-122"/>
                        </a:rPr>
                        <a:t>产生式</a:t>
                      </a:r>
                    </a:p>
                  </a:txBody>
                  <a:tcPr marL="68584" marR="68584"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Times New Roman" panose="02020603050405020304" pitchFamily="18" charset="0"/>
                          <a:ea typeface="宋体" panose="02010600030101010101" pitchFamily="2" charset="-122"/>
                        </a:rPr>
                        <a:t>语义规则</a:t>
                      </a:r>
                    </a:p>
                  </a:txBody>
                  <a:tcPr marL="68584" marR="6858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48878">
                <a:tc>
                  <a:txBody>
                    <a:bodyPr/>
                    <a:lstStyle/>
                    <a:p>
                      <a:pPr algn="l">
                        <a:spcAft>
                          <a:spcPts val="0"/>
                        </a:spcAft>
                      </a:pPr>
                      <a:r>
                        <a:rPr lang="zh-CN" sz="1800" kern="100">
                          <a:effectLst/>
                          <a:latin typeface="Times New Roman" panose="02020603050405020304" pitchFamily="18" charset="0"/>
                          <a:ea typeface="宋体" panose="02010600030101010101" pitchFamily="2" charset="-122"/>
                        </a:rPr>
                        <a:t>（</a:t>
                      </a:r>
                      <a:r>
                        <a:rPr lang="en-US" sz="1800" kern="100">
                          <a:effectLst/>
                          <a:latin typeface="Times New Roman" panose="02020603050405020304" pitchFamily="18" charset="0"/>
                          <a:ea typeface="宋体" panose="02010600030101010101" pitchFamily="2" charset="-122"/>
                        </a:rPr>
                        <a:t>3</a:t>
                      </a:r>
                      <a:r>
                        <a:rPr lang="zh-CN" sz="1800" kern="100">
                          <a:effectLst/>
                          <a:latin typeface="Times New Roman" panose="02020603050405020304" pitchFamily="18" charset="0"/>
                          <a:ea typeface="宋体" panose="02010600030101010101" pitchFamily="2" charset="-122"/>
                        </a:rPr>
                        <a:t>）</a:t>
                      </a:r>
                    </a:p>
                  </a:txBody>
                  <a:tcPr marL="68584" marR="68584"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800" kern="100">
                          <a:effectLst/>
                          <a:latin typeface="Times New Roman" panose="02020603050405020304" pitchFamily="18" charset="0"/>
                          <a:ea typeface="宋体" panose="02010600030101010101" pitchFamily="2" charset="-122"/>
                        </a:rPr>
                        <a:t>&lt;IDS&gt;→id:integer</a:t>
                      </a:r>
                      <a:endParaRPr lang="zh-CN" sz="1800" kern="100">
                        <a:effectLst/>
                        <a:latin typeface="Times New Roman" panose="02020603050405020304" pitchFamily="18" charset="0"/>
                        <a:ea typeface="宋体" panose="02010600030101010101" pitchFamily="2" charset="-122"/>
                      </a:endParaRPr>
                    </a:p>
                  </a:txBody>
                  <a:tcPr marL="68584" marR="68584"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zh-CN" sz="1800" kern="100" dirty="0">
                          <a:effectLst/>
                          <a:latin typeface="Times New Roman" panose="02020603050405020304" pitchFamily="18" charset="0"/>
                          <a:ea typeface="宋体" panose="02010600030101010101" pitchFamily="2" charset="-122"/>
                        </a:rPr>
                        <a:t>{  </a:t>
                      </a:r>
                      <a:r>
                        <a:rPr lang="en-US" sz="1800" kern="100" dirty="0">
                          <a:effectLst/>
                          <a:latin typeface="Times New Roman" panose="02020603050405020304" pitchFamily="18" charset="0"/>
                          <a:ea typeface="宋体" panose="02010600030101010101" pitchFamily="2" charset="-122"/>
                        </a:rPr>
                        <a:t>entry</a:t>
                      </a:r>
                      <a:r>
                        <a:rPr lang="zh-CN" sz="1800" kern="100" dirty="0">
                          <a:effectLst/>
                          <a:latin typeface="Times New Roman" panose="02020603050405020304" pitchFamily="18" charset="0"/>
                          <a:ea typeface="宋体" panose="02010600030101010101" pitchFamily="2" charset="-122"/>
                        </a:rPr>
                        <a:t>(id).type = integer; </a:t>
                      </a:r>
                    </a:p>
                    <a:p>
                      <a:pPr indent="171450" algn="l">
                        <a:spcAft>
                          <a:spcPts val="0"/>
                        </a:spcAft>
                      </a:pPr>
                      <a:r>
                        <a:rPr lang="zh-CN" sz="1800" kern="100" dirty="0">
                          <a:effectLst/>
                          <a:latin typeface="Times New Roman" panose="02020603050405020304" pitchFamily="18" charset="0"/>
                          <a:ea typeface="宋体" panose="02010600030101010101" pitchFamily="2" charset="-122"/>
                        </a:rPr>
                        <a:t>&lt;IDS&gt;·type=integer                    }</a:t>
                      </a:r>
                    </a:p>
                  </a:txBody>
                  <a:tcPr marL="68584" marR="68584"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823317">
                <a:tc>
                  <a:txBody>
                    <a:bodyPr/>
                    <a:lstStyle/>
                    <a:p>
                      <a:pPr algn="l">
                        <a:spcAft>
                          <a:spcPts val="0"/>
                        </a:spcAft>
                      </a:pPr>
                      <a:r>
                        <a:rPr lang="zh-CN" sz="1800" kern="100">
                          <a:effectLst/>
                          <a:latin typeface="Times New Roman" panose="02020603050405020304" pitchFamily="18" charset="0"/>
                          <a:ea typeface="宋体" panose="02010600030101010101" pitchFamily="2" charset="-122"/>
                        </a:rPr>
                        <a:t>（</a:t>
                      </a:r>
                      <a:r>
                        <a:rPr lang="en-US" sz="1800" kern="100">
                          <a:effectLst/>
                          <a:latin typeface="Times New Roman" panose="02020603050405020304" pitchFamily="18" charset="0"/>
                          <a:ea typeface="宋体" panose="02010600030101010101" pitchFamily="2" charset="-122"/>
                        </a:rPr>
                        <a:t>2</a:t>
                      </a:r>
                      <a:r>
                        <a:rPr lang="zh-CN" sz="1800" kern="100">
                          <a:effectLst/>
                          <a:latin typeface="Times New Roman" panose="02020603050405020304" pitchFamily="18" charset="0"/>
                          <a:ea typeface="宋体" panose="02010600030101010101" pitchFamily="2" charset="-122"/>
                        </a:rPr>
                        <a:t>）</a:t>
                      </a:r>
                    </a:p>
                  </a:txBody>
                  <a:tcPr marL="68584" marR="68584" marT="0" marB="0">
                    <a:lnL>
                      <a:noFill/>
                    </a:lnL>
                    <a:lnR>
                      <a:noFill/>
                    </a:lnR>
                    <a:lnT>
                      <a:noFill/>
                    </a:lnT>
                    <a:lnB>
                      <a:noFill/>
                    </a:lnB>
                  </a:tcPr>
                </a:tc>
                <a:tc>
                  <a:txBody>
                    <a:bodyPr/>
                    <a:lstStyle/>
                    <a:p>
                      <a:pPr algn="l">
                        <a:spcAft>
                          <a:spcPts val="0"/>
                        </a:spcAft>
                      </a:pPr>
                      <a:r>
                        <a:rPr lang="en-US" sz="1800" kern="100">
                          <a:effectLst/>
                          <a:latin typeface="Times New Roman" panose="02020603050405020304" pitchFamily="18" charset="0"/>
                          <a:ea typeface="宋体" panose="02010600030101010101" pitchFamily="2" charset="-122"/>
                        </a:rPr>
                        <a:t>&lt;IDS&gt;→id,&lt;IDS&gt;</a:t>
                      </a:r>
                      <a:r>
                        <a:rPr lang="en-US" sz="1800" kern="100" baseline="30000">
                          <a:effectLst/>
                          <a:latin typeface="Times New Roman" panose="02020603050405020304" pitchFamily="18" charset="0"/>
                          <a:ea typeface="宋体" panose="02010600030101010101" pitchFamily="2" charset="-122"/>
                        </a:rPr>
                        <a:t>(1)</a:t>
                      </a:r>
                      <a:endParaRPr lang="zh-CN" sz="1800" kern="100">
                        <a:effectLst/>
                        <a:latin typeface="Times New Roman" panose="02020603050405020304" pitchFamily="18" charset="0"/>
                        <a:ea typeface="宋体" panose="02010600030101010101" pitchFamily="2" charset="-122"/>
                      </a:endParaRPr>
                    </a:p>
                  </a:txBody>
                  <a:tcPr marL="68584" marR="68584" marT="0" marB="0">
                    <a:lnL>
                      <a:noFill/>
                    </a:lnL>
                    <a:lnR>
                      <a:noFill/>
                    </a:lnR>
                    <a:lnT>
                      <a:noFill/>
                    </a:lnT>
                    <a:lnB>
                      <a:noFill/>
                    </a:lnB>
                  </a:tcPr>
                </a:tc>
                <a:tc>
                  <a:txBody>
                    <a:bodyPr/>
                    <a:lstStyle/>
                    <a:p>
                      <a:pPr algn="l">
                        <a:spcAft>
                          <a:spcPts val="0"/>
                        </a:spcAft>
                      </a:pPr>
                      <a:r>
                        <a:rPr lang="en-US" sz="1800" kern="100" dirty="0">
                          <a:effectLst/>
                          <a:latin typeface="Times New Roman" panose="02020603050405020304" pitchFamily="18" charset="0"/>
                          <a:ea typeface="宋体" panose="02010600030101010101" pitchFamily="2" charset="-122"/>
                        </a:rPr>
                        <a:t>{  entry(id).type = &lt;IDS&gt;</a:t>
                      </a:r>
                      <a:r>
                        <a:rPr lang="en-US" sz="1800" kern="100" baseline="30000" dirty="0">
                          <a:effectLst/>
                          <a:latin typeface="Times New Roman" panose="02020603050405020304" pitchFamily="18" charset="0"/>
                          <a:ea typeface="宋体" panose="02010600030101010101" pitchFamily="2" charset="-122"/>
                        </a:rPr>
                        <a:t>(1)</a:t>
                      </a:r>
                      <a:r>
                        <a:rPr lang="en-US" sz="1800" kern="100" dirty="0">
                          <a:effectLst/>
                          <a:latin typeface="Times New Roman" panose="02020603050405020304" pitchFamily="18" charset="0"/>
                          <a:ea typeface="宋体" panose="02010600030101010101" pitchFamily="2" charset="-122"/>
                        </a:rPr>
                        <a:t>·type;</a:t>
                      </a:r>
                      <a:endParaRPr lang="zh-CN" sz="1800" kern="100" dirty="0">
                        <a:effectLst/>
                        <a:latin typeface="Times New Roman" panose="02020603050405020304" pitchFamily="18" charset="0"/>
                        <a:ea typeface="宋体" panose="02010600030101010101" pitchFamily="2" charset="-122"/>
                      </a:endParaRPr>
                    </a:p>
                    <a:p>
                      <a:pPr indent="171450" algn="l">
                        <a:spcAft>
                          <a:spcPts val="0"/>
                        </a:spcAft>
                      </a:pPr>
                      <a:r>
                        <a:rPr lang="en-US" sz="1800" kern="100" dirty="0">
                          <a:effectLst/>
                          <a:latin typeface="Times New Roman" panose="02020603050405020304" pitchFamily="18" charset="0"/>
                          <a:ea typeface="宋体" panose="02010600030101010101" pitchFamily="2" charset="-122"/>
                        </a:rPr>
                        <a:t>&lt;IDS&gt;·type=&lt;IDS&gt;</a:t>
                      </a:r>
                      <a:r>
                        <a:rPr lang="en-US" sz="1800" kern="100" baseline="30000" dirty="0">
                          <a:effectLst/>
                          <a:latin typeface="Times New Roman" panose="02020603050405020304" pitchFamily="18" charset="0"/>
                          <a:ea typeface="宋体" panose="02010600030101010101" pitchFamily="2" charset="-122"/>
                        </a:rPr>
                        <a:t>(1)</a:t>
                      </a:r>
                      <a:r>
                        <a:rPr lang="en-US" sz="1800" kern="100" dirty="0">
                          <a:effectLst/>
                          <a:latin typeface="Times New Roman" panose="02020603050405020304" pitchFamily="18" charset="0"/>
                          <a:ea typeface="宋体" panose="02010600030101010101" pitchFamily="2" charset="-122"/>
                        </a:rPr>
                        <a:t>·type              }</a:t>
                      </a:r>
                      <a:endParaRPr lang="zh-CN" sz="1800" kern="100" dirty="0">
                        <a:effectLst/>
                        <a:latin typeface="Times New Roman" panose="02020603050405020304" pitchFamily="18" charset="0"/>
                        <a:ea typeface="宋体" panose="02010600030101010101" pitchFamily="2" charset="-122"/>
                      </a:endParaRPr>
                    </a:p>
                  </a:txBody>
                  <a:tcPr marL="68584" marR="68584" marT="0" marB="0" anchor="ctr">
                    <a:lnL>
                      <a:noFill/>
                    </a:lnL>
                    <a:lnR>
                      <a:noFill/>
                    </a:lnR>
                    <a:lnT>
                      <a:noFill/>
                    </a:lnT>
                    <a:lnB>
                      <a:noFill/>
                    </a:lnB>
                  </a:tcPr>
                </a:tc>
                <a:extLst>
                  <a:ext uri="{0D108BD9-81ED-4DB2-BD59-A6C34878D82A}">
                    <a16:rowId xmlns:a16="http://schemas.microsoft.com/office/drawing/2014/main" val="10002"/>
                  </a:ext>
                </a:extLst>
              </a:tr>
              <a:tr h="548878">
                <a:tc>
                  <a:txBody>
                    <a:bodyPr/>
                    <a:lstStyle/>
                    <a:p>
                      <a:pPr algn="l">
                        <a:spcAft>
                          <a:spcPts val="0"/>
                        </a:spcAft>
                      </a:pPr>
                      <a:r>
                        <a:rPr lang="zh-CN" sz="1800" kern="100">
                          <a:effectLst/>
                          <a:latin typeface="Times New Roman" panose="02020603050405020304" pitchFamily="18" charset="0"/>
                          <a:ea typeface="宋体" panose="02010600030101010101" pitchFamily="2" charset="-122"/>
                        </a:rPr>
                        <a:t>（</a:t>
                      </a:r>
                      <a:r>
                        <a:rPr lang="en-US" sz="1800" kern="100">
                          <a:effectLst/>
                          <a:latin typeface="Times New Roman" panose="02020603050405020304" pitchFamily="18" charset="0"/>
                          <a:ea typeface="宋体" panose="02010600030101010101" pitchFamily="2" charset="-122"/>
                        </a:rPr>
                        <a:t>1</a:t>
                      </a:r>
                      <a:r>
                        <a:rPr lang="zh-CN" sz="1800" kern="100">
                          <a:effectLst/>
                          <a:latin typeface="Times New Roman" panose="02020603050405020304" pitchFamily="18" charset="0"/>
                          <a:ea typeface="宋体" panose="02010600030101010101" pitchFamily="2" charset="-122"/>
                        </a:rPr>
                        <a:t>）</a:t>
                      </a:r>
                    </a:p>
                  </a:txBody>
                  <a:tcPr marL="68584" marR="68584"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100">
                          <a:effectLst/>
                          <a:latin typeface="Times New Roman" panose="02020603050405020304" pitchFamily="18" charset="0"/>
                          <a:ea typeface="宋体" panose="02010600030101010101" pitchFamily="2" charset="-122"/>
                        </a:rPr>
                        <a:t>&lt;VarDCL&gt;→var &lt;IDS&gt;|</a:t>
                      </a:r>
                      <a:r>
                        <a:rPr lang="en-US" sz="1800" kern="100">
                          <a:effectLst/>
                          <a:latin typeface="Times New Roman" panose="02020603050405020304" pitchFamily="18" charset="0"/>
                          <a:ea typeface="宋体" panose="02010600030101010101" pitchFamily="2" charset="-122"/>
                          <a:sym typeface="Symbol" panose="05050102010706020507" pitchFamily="18" charset="2"/>
                        </a:rPr>
                        <a:t></a:t>
                      </a:r>
                      <a:endParaRPr lang="zh-CN" sz="1800" kern="100">
                        <a:effectLst/>
                        <a:latin typeface="Times New Roman" panose="02020603050405020304" pitchFamily="18" charset="0"/>
                        <a:ea typeface="宋体" panose="02010600030101010101" pitchFamily="2" charset="-122"/>
                      </a:endParaRPr>
                    </a:p>
                  </a:txBody>
                  <a:tcPr marL="68584" marR="68584"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endParaRPr lang="zh-CN" sz="1800" kern="100" dirty="0">
                        <a:effectLst/>
                        <a:latin typeface="Times New Roman" panose="02020603050405020304" pitchFamily="18" charset="0"/>
                        <a:ea typeface="宋体" panose="02010600030101010101" pitchFamily="2" charset="-122"/>
                      </a:endParaRPr>
                    </a:p>
                  </a:txBody>
                  <a:tcPr marL="68584" marR="68584"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7" name="对象 6"/>
          <p:cNvGraphicFramePr>
            <a:graphicFrameLocks noChangeAspect="1"/>
          </p:cNvGraphicFramePr>
          <p:nvPr/>
        </p:nvGraphicFramePr>
        <p:xfrm>
          <a:off x="395288" y="2193131"/>
          <a:ext cx="8424862" cy="2933700"/>
        </p:xfrm>
        <a:graphic>
          <a:graphicData uri="http://schemas.openxmlformats.org/presentationml/2006/ole">
            <mc:AlternateContent xmlns:mc="http://schemas.openxmlformats.org/markup-compatibility/2006">
              <mc:Choice xmlns:v="urn:schemas-microsoft-com:vml" Requires="v">
                <p:oleObj spid="_x0000_s17413" name="Visio" r:id="rId4" imgW="4511689" imgH="2099669" progId="Visio.Drawing.11">
                  <p:embed/>
                </p:oleObj>
              </mc:Choice>
              <mc:Fallback>
                <p:oleObj name="Visio" r:id="rId4" imgW="4511689" imgH="2099669" progId="Visio.Drawing.11">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288" y="2193131"/>
                        <a:ext cx="8424862" cy="293370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887614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77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041258"/>
            <a:ext cx="7332457" cy="1446550"/>
          </a:xfrm>
          <a:prstGeom prst="rect">
            <a:avLst/>
          </a:prstGeom>
        </p:spPr>
        <p:txBody>
          <a:bodyPr wrap="non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、常见语句的语法制导翻译</a:t>
            </a:r>
            <a:endParaRPr lang="en-US" altLang="zh-CN" sz="4400" b="1" dirty="0">
              <a:solidFill>
                <a:srgbClr val="CC0099"/>
              </a:solidFill>
              <a:ea typeface="隶书" pitchFamily="49" charset="-122"/>
            </a:endParaRPr>
          </a:p>
          <a:p>
            <a:r>
              <a:rPr lang="en-US" altLang="zh-CN" sz="4400" b="1" dirty="0">
                <a:solidFill>
                  <a:srgbClr val="CC0099"/>
                </a:solidFill>
                <a:ea typeface="隶书" pitchFamily="49" charset="-122"/>
              </a:rPr>
              <a:t>    </a:t>
            </a:r>
            <a:r>
              <a:rPr lang="en-US" altLang="zh-CN" sz="3600" b="1" dirty="0">
                <a:solidFill>
                  <a:srgbClr val="CC0099"/>
                </a:solidFill>
                <a:ea typeface="隶书" pitchFamily="49" charset="-122"/>
              </a:rPr>
              <a:t>——</a:t>
            </a:r>
            <a:r>
              <a:rPr lang="zh-CN" altLang="en-US" sz="3600" b="1" dirty="0">
                <a:solidFill>
                  <a:srgbClr val="CC0099"/>
                </a:solidFill>
                <a:ea typeface="隶书" pitchFamily="49" charset="-122"/>
              </a:rPr>
              <a:t>函数声明的语义处理</a:t>
            </a:r>
            <a:endParaRPr lang="zh-CN" altLang="en-US" sz="4400" b="1" dirty="0">
              <a:solidFill>
                <a:srgbClr val="CC0099"/>
              </a:solidFill>
              <a:ea typeface="隶书" pitchFamily="49" charset="-122"/>
            </a:endParaRPr>
          </a:p>
        </p:txBody>
      </p:sp>
    </p:spTree>
    <p:extLst>
      <p:ext uri="{BB962C8B-B14F-4D97-AF65-F5344CB8AC3E}">
        <p14:creationId xmlns:p14="http://schemas.microsoft.com/office/powerpoint/2010/main" val="303385527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a:xfrm>
            <a:off x="0" y="1"/>
            <a:ext cx="8229600" cy="483518"/>
          </a:xfrm>
        </p:spPr>
        <p:txBody>
          <a:bodyPr>
            <a:normAutofit fontScale="90000"/>
          </a:bodyPr>
          <a:lstStyle/>
          <a:p>
            <a:r>
              <a:rPr lang="en-US" altLang="zh-CN" dirty="0"/>
              <a:t>3</a:t>
            </a:r>
            <a:r>
              <a:rPr lang="zh-CN" altLang="zh-CN" b="1" dirty="0"/>
              <a:t>．</a:t>
            </a:r>
            <a:r>
              <a:rPr lang="zh-CN" altLang="zh-CN" dirty="0"/>
              <a:t>函数声明语句</a:t>
            </a:r>
            <a:endParaRPr lang="zh-CN" altLang="en-US" dirty="0"/>
          </a:p>
        </p:txBody>
      </p:sp>
      <p:sp>
        <p:nvSpPr>
          <p:cNvPr id="4" name="内容占位符 2"/>
          <p:cNvSpPr txBox="1">
            <a:spLocks/>
          </p:cNvSpPr>
          <p:nvPr/>
        </p:nvSpPr>
        <p:spPr bwMode="auto">
          <a:xfrm>
            <a:off x="323850" y="1275606"/>
            <a:ext cx="8135938" cy="3293269"/>
          </a:xfrm>
          <a:prstGeom prst="rect">
            <a:avLst/>
          </a:prstGeom>
          <a:ln/>
        </p:spPr>
        <p:style>
          <a:lnRef idx="2">
            <a:schemeClr val="accent1"/>
          </a:lnRef>
          <a:fillRef idx="1">
            <a:schemeClr val="lt1"/>
          </a:fillRef>
          <a:effectRef idx="0">
            <a:schemeClr val="accent1"/>
          </a:effectRef>
          <a:fontRef idx="minor">
            <a:schemeClr val="dk1"/>
          </a:fontRef>
        </p:style>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lnSpc>
                <a:spcPct val="100000"/>
              </a:lnSpc>
              <a:buFontTx/>
              <a:buNone/>
              <a:defRPr/>
            </a:pPr>
            <a:r>
              <a:rPr lang="zh-CN" altLang="zh-CN"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1</a:t>
            </a:r>
            <a:r>
              <a:rPr lang="zh-CN" altLang="zh-CN"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&lt;</a:t>
            </a:r>
            <a:r>
              <a:rPr lang="zh-CN" altLang="zh-CN" sz="1800" kern="0" dirty="0">
                <a:latin typeface="宋体" panose="02010600030101010101" pitchFamily="2" charset="-122"/>
                <a:ea typeface="宋体" panose="02010600030101010101" pitchFamily="2" charset="-122"/>
              </a:rPr>
              <a:t>函数声明</a:t>
            </a:r>
            <a:r>
              <a:rPr lang="en-US" altLang="zh-CN" sz="1800" kern="0" dirty="0">
                <a:latin typeface="宋体" panose="02010600030101010101" pitchFamily="2" charset="-122"/>
                <a:ea typeface="宋体" panose="02010600030101010101" pitchFamily="2" charset="-122"/>
              </a:rPr>
              <a:t>&gt;</a:t>
            </a:r>
            <a:r>
              <a:rPr lang="zh-CN" altLang="zh-CN"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&lt;</a:t>
            </a:r>
            <a:r>
              <a:rPr lang="zh-CN" altLang="zh-CN" sz="1800" kern="0" dirty="0">
                <a:latin typeface="宋体" panose="02010600030101010101" pitchFamily="2" charset="-122"/>
                <a:ea typeface="宋体" panose="02010600030101010101" pitchFamily="2" charset="-122"/>
              </a:rPr>
              <a:t>函数类型</a:t>
            </a:r>
            <a:r>
              <a:rPr lang="en-US" altLang="zh-CN" sz="1800" kern="0" dirty="0">
                <a:latin typeface="宋体" panose="02010600030101010101" pitchFamily="2" charset="-122"/>
                <a:ea typeface="宋体" panose="02010600030101010101" pitchFamily="2" charset="-122"/>
              </a:rPr>
              <a:t>&gt; &lt;</a:t>
            </a:r>
            <a:r>
              <a:rPr lang="zh-CN" altLang="zh-CN" sz="1800" kern="0" dirty="0">
                <a:latin typeface="宋体" panose="02010600030101010101" pitchFamily="2" charset="-122"/>
                <a:ea typeface="宋体" panose="02010600030101010101" pitchFamily="2" charset="-122"/>
              </a:rPr>
              <a:t>标识符</a:t>
            </a:r>
            <a:r>
              <a:rPr lang="en-US" altLang="zh-CN" sz="1800" kern="0" dirty="0">
                <a:latin typeface="宋体" panose="02010600030101010101" pitchFamily="2" charset="-122"/>
                <a:ea typeface="宋体" panose="02010600030101010101" pitchFamily="2" charset="-122"/>
              </a:rPr>
              <a:t>&gt;(&lt;</a:t>
            </a:r>
            <a:r>
              <a:rPr lang="zh-CN" altLang="zh-CN" sz="1800" kern="0" dirty="0">
                <a:latin typeface="宋体" panose="02010600030101010101" pitchFamily="2" charset="-122"/>
                <a:ea typeface="宋体" panose="02010600030101010101" pitchFamily="2" charset="-122"/>
              </a:rPr>
              <a:t>函数声明形参列表</a:t>
            </a:r>
            <a:r>
              <a:rPr lang="en-US" altLang="zh-CN" sz="1800" kern="0" dirty="0">
                <a:latin typeface="宋体" panose="02010600030101010101" pitchFamily="2" charset="-122"/>
                <a:ea typeface="宋体" panose="02010600030101010101" pitchFamily="2" charset="-122"/>
              </a:rPr>
              <a:t>&gt;);</a:t>
            </a:r>
            <a:endParaRPr lang="zh-CN" altLang="zh-CN" sz="1800" kern="0" dirty="0">
              <a:latin typeface="宋体" panose="02010600030101010101" pitchFamily="2" charset="-122"/>
              <a:ea typeface="宋体" panose="02010600030101010101" pitchFamily="2" charset="-122"/>
            </a:endParaRPr>
          </a:p>
          <a:p>
            <a:pPr marL="0" indent="0">
              <a:lnSpc>
                <a:spcPct val="100000"/>
              </a:lnSpc>
              <a:buFontTx/>
              <a:buNone/>
              <a:defRPr/>
            </a:pPr>
            <a:endParaRPr lang="en-US" altLang="zh-CN" sz="1800" kern="0" dirty="0">
              <a:latin typeface="宋体" panose="02010600030101010101" pitchFamily="2" charset="-122"/>
              <a:ea typeface="宋体" panose="02010600030101010101" pitchFamily="2" charset="-122"/>
            </a:endParaRPr>
          </a:p>
          <a:p>
            <a:pPr marL="0" indent="0">
              <a:lnSpc>
                <a:spcPct val="100000"/>
              </a:lnSpc>
              <a:buFontTx/>
              <a:buNone/>
              <a:defRPr/>
            </a:pPr>
            <a:r>
              <a:rPr lang="zh-CN" altLang="zh-CN"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2</a:t>
            </a:r>
            <a:r>
              <a:rPr lang="zh-CN" altLang="zh-CN"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&lt;</a:t>
            </a:r>
            <a:r>
              <a:rPr lang="zh-CN" altLang="zh-CN" sz="1800" kern="0" dirty="0">
                <a:latin typeface="宋体" panose="02010600030101010101" pitchFamily="2" charset="-122"/>
                <a:ea typeface="宋体" panose="02010600030101010101" pitchFamily="2" charset="-122"/>
              </a:rPr>
              <a:t>函数类型</a:t>
            </a:r>
            <a:r>
              <a:rPr lang="en-US" altLang="zh-CN" sz="1800" kern="0" dirty="0">
                <a:latin typeface="宋体" panose="02010600030101010101" pitchFamily="2" charset="-122"/>
                <a:ea typeface="宋体" panose="02010600030101010101" pitchFamily="2" charset="-122"/>
              </a:rPr>
              <a:t>&gt;</a:t>
            </a:r>
            <a:r>
              <a:rPr lang="zh-CN" altLang="zh-CN" sz="1800" kern="0" dirty="0">
                <a:latin typeface="宋体" panose="02010600030101010101" pitchFamily="2" charset="-122"/>
                <a:ea typeface="宋体" panose="02010600030101010101" pitchFamily="2" charset="-122"/>
              </a:rPr>
              <a:t>→</a:t>
            </a:r>
            <a:r>
              <a:rPr lang="en-US" altLang="zh-CN" sz="1800" kern="0" dirty="0" err="1">
                <a:latin typeface="宋体" panose="02010600030101010101" pitchFamily="2" charset="-122"/>
                <a:ea typeface="宋体" panose="02010600030101010101" pitchFamily="2" charset="-122"/>
              </a:rPr>
              <a:t>int|char|float|void</a:t>
            </a:r>
            <a:r>
              <a:rPr lang="en-US" altLang="zh-CN" sz="1800" kern="0" dirty="0">
                <a:latin typeface="宋体" panose="02010600030101010101" pitchFamily="2" charset="-122"/>
                <a:ea typeface="宋体" panose="02010600030101010101" pitchFamily="2" charset="-122"/>
              </a:rPr>
              <a:t> </a:t>
            </a:r>
            <a:endParaRPr lang="zh-CN" altLang="zh-CN" sz="1800" kern="0" dirty="0">
              <a:latin typeface="宋体" panose="02010600030101010101" pitchFamily="2" charset="-122"/>
              <a:ea typeface="宋体" panose="02010600030101010101" pitchFamily="2" charset="-122"/>
            </a:endParaRPr>
          </a:p>
          <a:p>
            <a:pPr marL="0" indent="0">
              <a:lnSpc>
                <a:spcPct val="100000"/>
              </a:lnSpc>
              <a:buFontTx/>
              <a:buNone/>
              <a:defRPr/>
            </a:pPr>
            <a:endParaRPr lang="en-US" altLang="zh-CN" sz="1800" kern="0" dirty="0">
              <a:latin typeface="宋体" panose="02010600030101010101" pitchFamily="2" charset="-122"/>
              <a:ea typeface="宋体" panose="02010600030101010101" pitchFamily="2" charset="-122"/>
            </a:endParaRPr>
          </a:p>
          <a:p>
            <a:pPr marL="0" indent="0">
              <a:lnSpc>
                <a:spcPct val="100000"/>
              </a:lnSpc>
              <a:buFontTx/>
              <a:buNone/>
              <a:defRPr/>
            </a:pPr>
            <a:r>
              <a:rPr lang="zh-CN" altLang="zh-CN"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3</a:t>
            </a:r>
            <a:r>
              <a:rPr lang="zh-CN" altLang="zh-CN"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&lt;</a:t>
            </a:r>
            <a:r>
              <a:rPr lang="zh-CN" altLang="zh-CN" sz="1800" kern="0" dirty="0">
                <a:latin typeface="宋体" panose="02010600030101010101" pitchFamily="2" charset="-122"/>
                <a:ea typeface="宋体" panose="02010600030101010101" pitchFamily="2" charset="-122"/>
              </a:rPr>
              <a:t>函数声明形参列表</a:t>
            </a:r>
            <a:r>
              <a:rPr lang="en-US" altLang="zh-CN" sz="1800" kern="0" dirty="0">
                <a:latin typeface="宋体" panose="02010600030101010101" pitchFamily="2" charset="-122"/>
                <a:ea typeface="宋体" panose="02010600030101010101" pitchFamily="2" charset="-122"/>
              </a:rPr>
              <a:t>&gt;</a:t>
            </a:r>
            <a:r>
              <a:rPr lang="zh-CN" altLang="zh-CN"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&lt;</a:t>
            </a:r>
            <a:r>
              <a:rPr lang="zh-CN" altLang="zh-CN" sz="1800" kern="0" dirty="0">
                <a:latin typeface="宋体" panose="02010600030101010101" pitchFamily="2" charset="-122"/>
                <a:ea typeface="宋体" panose="02010600030101010101" pitchFamily="2" charset="-122"/>
              </a:rPr>
              <a:t>函数声明形参</a:t>
            </a:r>
            <a:r>
              <a:rPr lang="en-US" altLang="zh-CN" sz="1800" kern="0" dirty="0">
                <a:latin typeface="宋体" panose="02010600030101010101" pitchFamily="2" charset="-122"/>
                <a:ea typeface="宋体" panose="02010600030101010101" pitchFamily="2" charset="-122"/>
              </a:rPr>
              <a:t>&gt;|</a:t>
            </a:r>
            <a:r>
              <a:rPr lang="en-US" altLang="zh-CN" sz="1800" kern="0" dirty="0">
                <a:latin typeface="宋体" panose="02010600030101010101" pitchFamily="2" charset="-122"/>
                <a:ea typeface="宋体" panose="02010600030101010101" pitchFamily="2" charset="-122"/>
                <a:sym typeface="Symbol"/>
              </a:rPr>
              <a:t></a:t>
            </a:r>
            <a:r>
              <a:rPr lang="en-US" altLang="zh-CN" sz="1800" kern="0" dirty="0">
                <a:latin typeface="宋体" panose="02010600030101010101" pitchFamily="2" charset="-122"/>
                <a:ea typeface="宋体" panose="02010600030101010101" pitchFamily="2" charset="-122"/>
              </a:rPr>
              <a:t>            </a:t>
            </a:r>
            <a:endParaRPr lang="zh-CN" altLang="zh-CN" sz="1800" kern="0" dirty="0">
              <a:latin typeface="宋体" panose="02010600030101010101" pitchFamily="2" charset="-122"/>
              <a:ea typeface="宋体" panose="02010600030101010101" pitchFamily="2" charset="-122"/>
            </a:endParaRPr>
          </a:p>
          <a:p>
            <a:pPr marL="0" indent="0">
              <a:lnSpc>
                <a:spcPct val="100000"/>
              </a:lnSpc>
              <a:buFontTx/>
              <a:buNone/>
              <a:defRPr/>
            </a:pPr>
            <a:endParaRPr lang="en-US" altLang="zh-CN" sz="1800" kern="0" dirty="0">
              <a:latin typeface="宋体" panose="02010600030101010101" pitchFamily="2" charset="-122"/>
              <a:ea typeface="宋体" panose="02010600030101010101" pitchFamily="2" charset="-122"/>
            </a:endParaRPr>
          </a:p>
          <a:p>
            <a:pPr marL="0" indent="0">
              <a:lnSpc>
                <a:spcPct val="100000"/>
              </a:lnSpc>
              <a:buFontTx/>
              <a:buNone/>
              <a:defRPr/>
            </a:pPr>
            <a:r>
              <a:rPr lang="zh-CN" altLang="zh-CN"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4</a:t>
            </a:r>
            <a:r>
              <a:rPr lang="zh-CN" altLang="zh-CN"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&lt;</a:t>
            </a:r>
            <a:r>
              <a:rPr lang="zh-CN" altLang="zh-CN" sz="1800" kern="0" dirty="0">
                <a:latin typeface="宋体" panose="02010600030101010101" pitchFamily="2" charset="-122"/>
                <a:ea typeface="宋体" panose="02010600030101010101" pitchFamily="2" charset="-122"/>
              </a:rPr>
              <a:t>函数声明形参</a:t>
            </a:r>
            <a:r>
              <a:rPr lang="en-US" altLang="zh-CN" sz="1800" kern="0" dirty="0">
                <a:latin typeface="宋体" panose="02010600030101010101" pitchFamily="2" charset="-122"/>
                <a:ea typeface="宋体" panose="02010600030101010101" pitchFamily="2" charset="-122"/>
              </a:rPr>
              <a:t>&gt;</a:t>
            </a:r>
            <a:r>
              <a:rPr lang="zh-CN" altLang="zh-CN"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&lt;</a:t>
            </a:r>
            <a:r>
              <a:rPr lang="zh-CN" altLang="zh-CN" sz="1800" kern="0" dirty="0">
                <a:latin typeface="宋体" panose="02010600030101010101" pitchFamily="2" charset="-122"/>
                <a:ea typeface="宋体" panose="02010600030101010101" pitchFamily="2" charset="-122"/>
              </a:rPr>
              <a:t>变量类型</a:t>
            </a:r>
            <a:r>
              <a:rPr lang="en-US" altLang="zh-CN" sz="1800" kern="0" dirty="0">
                <a:latin typeface="宋体" panose="02010600030101010101" pitchFamily="2" charset="-122"/>
                <a:ea typeface="宋体" panose="02010600030101010101" pitchFamily="2" charset="-122"/>
              </a:rPr>
              <a:t>&gt;|&lt;</a:t>
            </a:r>
            <a:r>
              <a:rPr lang="zh-CN" altLang="zh-CN" sz="1800" kern="0" dirty="0">
                <a:latin typeface="宋体" panose="02010600030101010101" pitchFamily="2" charset="-122"/>
                <a:ea typeface="宋体" panose="02010600030101010101" pitchFamily="2" charset="-122"/>
              </a:rPr>
              <a:t>变量类型</a:t>
            </a:r>
            <a:r>
              <a:rPr lang="en-US" altLang="zh-CN" sz="1800" kern="0" dirty="0">
                <a:latin typeface="宋体" panose="02010600030101010101" pitchFamily="2" charset="-122"/>
                <a:ea typeface="宋体" panose="02010600030101010101" pitchFamily="2" charset="-122"/>
              </a:rPr>
              <a:t>&gt;,&lt;</a:t>
            </a:r>
            <a:r>
              <a:rPr lang="zh-CN" altLang="zh-CN" sz="1800" kern="0" dirty="0">
                <a:latin typeface="宋体" panose="02010600030101010101" pitchFamily="2" charset="-122"/>
                <a:ea typeface="宋体" panose="02010600030101010101" pitchFamily="2" charset="-122"/>
              </a:rPr>
              <a:t>函数声明形参</a:t>
            </a:r>
            <a:r>
              <a:rPr lang="en-US" altLang="zh-CN" sz="1800" kern="0" dirty="0">
                <a:latin typeface="宋体" panose="02010600030101010101" pitchFamily="2" charset="-122"/>
                <a:ea typeface="宋体" panose="02010600030101010101" pitchFamily="2" charset="-122"/>
              </a:rPr>
              <a:t>&gt; </a:t>
            </a:r>
            <a:endParaRPr lang="zh-CN" altLang="zh-CN" sz="1800" kern="0" dirty="0">
              <a:latin typeface="宋体" panose="02010600030101010101" pitchFamily="2" charset="-122"/>
              <a:ea typeface="宋体" panose="02010600030101010101" pitchFamily="2" charset="-122"/>
            </a:endParaRPr>
          </a:p>
          <a:p>
            <a:pPr marL="0" indent="0">
              <a:lnSpc>
                <a:spcPct val="100000"/>
              </a:lnSpc>
              <a:buFontTx/>
              <a:buNone/>
              <a:defRPr/>
            </a:pPr>
            <a:endParaRPr lang="en-US" altLang="zh-CN" sz="1800" kern="0" dirty="0">
              <a:latin typeface="宋体" panose="02010600030101010101" pitchFamily="2" charset="-122"/>
              <a:ea typeface="宋体" panose="02010600030101010101" pitchFamily="2" charset="-122"/>
            </a:endParaRPr>
          </a:p>
          <a:p>
            <a:pPr marL="0" indent="0">
              <a:lnSpc>
                <a:spcPct val="100000"/>
              </a:lnSpc>
              <a:buFontTx/>
              <a:buNone/>
              <a:defRPr/>
            </a:pPr>
            <a:endParaRPr lang="en-US" altLang="zh-CN" sz="1800" kern="0" dirty="0">
              <a:latin typeface="宋体" panose="02010600030101010101" pitchFamily="2" charset="-122"/>
              <a:ea typeface="宋体" panose="02010600030101010101" pitchFamily="2" charset="-122"/>
            </a:endParaRPr>
          </a:p>
          <a:p>
            <a:pPr marL="0" indent="0">
              <a:lnSpc>
                <a:spcPct val="100000"/>
              </a:lnSpc>
              <a:buFontTx/>
              <a:buNone/>
              <a:defRPr/>
            </a:pPr>
            <a:r>
              <a:rPr lang="zh-CN" altLang="zh-CN"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5</a:t>
            </a:r>
            <a:r>
              <a:rPr lang="zh-CN" altLang="zh-CN" sz="1800" kern="0" dirty="0">
                <a:latin typeface="宋体" panose="02010600030101010101" pitchFamily="2" charset="-122"/>
                <a:ea typeface="宋体" panose="02010600030101010101" pitchFamily="2" charset="-122"/>
              </a:rPr>
              <a:t>）</a:t>
            </a:r>
            <a:r>
              <a:rPr lang="en-US" altLang="zh-CN" sz="1800" kern="0" dirty="0">
                <a:latin typeface="宋体" panose="02010600030101010101" pitchFamily="2" charset="-122"/>
                <a:ea typeface="宋体" panose="02010600030101010101" pitchFamily="2" charset="-122"/>
              </a:rPr>
              <a:t>&lt;</a:t>
            </a:r>
            <a:r>
              <a:rPr lang="zh-CN" altLang="zh-CN" sz="1800" kern="0" dirty="0">
                <a:latin typeface="宋体" panose="02010600030101010101" pitchFamily="2" charset="-122"/>
                <a:ea typeface="宋体" panose="02010600030101010101" pitchFamily="2" charset="-122"/>
              </a:rPr>
              <a:t>变量类型</a:t>
            </a:r>
            <a:r>
              <a:rPr lang="en-US" altLang="zh-CN" sz="1800" kern="0" dirty="0">
                <a:latin typeface="宋体" panose="02010600030101010101" pitchFamily="2" charset="-122"/>
                <a:ea typeface="宋体" panose="02010600030101010101" pitchFamily="2" charset="-122"/>
              </a:rPr>
              <a:t>&gt;</a:t>
            </a:r>
            <a:r>
              <a:rPr lang="zh-CN" altLang="zh-CN" sz="1800" kern="0" dirty="0">
                <a:latin typeface="宋体" panose="02010600030101010101" pitchFamily="2" charset="-122"/>
                <a:ea typeface="宋体" panose="02010600030101010101" pitchFamily="2" charset="-122"/>
              </a:rPr>
              <a:t>→</a:t>
            </a:r>
            <a:r>
              <a:rPr lang="en-US" altLang="zh-CN" sz="1800" kern="0" dirty="0" err="1">
                <a:latin typeface="宋体" panose="02010600030101010101" pitchFamily="2" charset="-122"/>
                <a:ea typeface="宋体" panose="02010600030101010101" pitchFamily="2" charset="-122"/>
              </a:rPr>
              <a:t>int|char|float</a:t>
            </a:r>
            <a:endParaRPr lang="zh-CN" altLang="zh-CN" sz="1800" kern="0" dirty="0">
              <a:latin typeface="宋体" panose="02010600030101010101" pitchFamily="2" charset="-122"/>
              <a:ea typeface="宋体" panose="02010600030101010101" pitchFamily="2" charset="-122"/>
            </a:endParaRPr>
          </a:p>
          <a:p>
            <a:pPr marL="0" indent="0">
              <a:lnSpc>
                <a:spcPct val="100000"/>
              </a:lnSpc>
              <a:buFontTx/>
              <a:buNone/>
              <a:defRPr/>
            </a:pPr>
            <a:endParaRPr lang="zh-CN" altLang="en-US" sz="1800" kern="0" dirty="0">
              <a:latin typeface="宋体" panose="02010600030101010101" pitchFamily="2" charset="-122"/>
              <a:ea typeface="宋体" panose="02010600030101010101" pitchFamily="2" charset="-122"/>
            </a:endParaRPr>
          </a:p>
        </p:txBody>
      </p:sp>
      <p:sp>
        <p:nvSpPr>
          <p:cNvPr id="7" name="矩形 6"/>
          <p:cNvSpPr/>
          <p:nvPr/>
        </p:nvSpPr>
        <p:spPr>
          <a:xfrm>
            <a:off x="4352028" y="1635423"/>
            <a:ext cx="4107759" cy="369332"/>
          </a:xfrm>
          <a:prstGeom prst="rect">
            <a:avLst/>
          </a:prstGeom>
          <a:solidFill>
            <a:srgbClr val="FFCCFF"/>
          </a:solidFill>
        </p:spPr>
        <p:txBody>
          <a:bodyPr wrap="square">
            <a:spAutoFit/>
          </a:bodyPr>
          <a:lstStyle/>
          <a:p>
            <a:pPr>
              <a:lnSpc>
                <a:spcPct val="100000"/>
              </a:lnSpc>
              <a:spcBef>
                <a:spcPct val="0"/>
              </a:spcBef>
              <a:buFontTx/>
              <a:buNone/>
              <a:defRPr/>
            </a:pPr>
            <a:r>
              <a:rPr lang="zh-CN" altLang="zh-CN" sz="1800" kern="0" dirty="0"/>
              <a:t>【（</a:t>
            </a:r>
            <a:r>
              <a:rPr lang="it-IT" altLang="zh-CN" sz="1800" kern="0" dirty="0"/>
              <a:t>1</a:t>
            </a:r>
            <a:r>
              <a:rPr lang="zh-CN" altLang="zh-CN" sz="1800" kern="0" dirty="0"/>
              <a:t>）</a:t>
            </a:r>
            <a:r>
              <a:rPr lang="it-IT" altLang="zh-CN" sz="1800" kern="0" dirty="0"/>
              <a:t>&lt;</a:t>
            </a:r>
            <a:r>
              <a:rPr lang="en-US" altLang="zh-CN" sz="1800" kern="0" dirty="0"/>
              <a:t>FD&gt;→&lt;FT&gt; id (&lt;FFPL&gt;);</a:t>
            </a:r>
            <a:r>
              <a:rPr lang="zh-CN" altLang="zh-CN" sz="1800" kern="0" dirty="0"/>
              <a:t>】</a:t>
            </a:r>
            <a:endParaRPr lang="zh-CN" altLang="en-US" sz="1800" dirty="0"/>
          </a:p>
        </p:txBody>
      </p:sp>
      <p:sp>
        <p:nvSpPr>
          <p:cNvPr id="8" name="矩形 7"/>
          <p:cNvSpPr/>
          <p:nvPr/>
        </p:nvSpPr>
        <p:spPr>
          <a:xfrm>
            <a:off x="3995936" y="2243425"/>
            <a:ext cx="4463851" cy="400110"/>
          </a:xfrm>
          <a:prstGeom prst="rect">
            <a:avLst/>
          </a:prstGeom>
          <a:solidFill>
            <a:srgbClr val="FFCCFF"/>
          </a:solidFill>
        </p:spPr>
        <p:txBody>
          <a:bodyPr wrap="square">
            <a:spAutoFit/>
          </a:bodyPr>
          <a:lstStyle/>
          <a:p>
            <a:pPr>
              <a:lnSpc>
                <a:spcPct val="100000"/>
              </a:lnSpc>
              <a:spcBef>
                <a:spcPct val="0"/>
              </a:spcBef>
              <a:buFontTx/>
              <a:buNone/>
              <a:defRPr/>
            </a:pPr>
            <a:r>
              <a:rPr lang="zh-CN" altLang="zh-CN" sz="2000" kern="0" dirty="0"/>
              <a:t>【（</a:t>
            </a:r>
            <a:r>
              <a:rPr lang="it-IT" altLang="zh-CN" sz="2000" kern="0" dirty="0"/>
              <a:t>2</a:t>
            </a:r>
            <a:r>
              <a:rPr lang="zh-CN" altLang="zh-CN" sz="2000" kern="0" dirty="0"/>
              <a:t>）</a:t>
            </a:r>
            <a:r>
              <a:rPr lang="it-IT" altLang="zh-CN" sz="2000" kern="0" dirty="0"/>
              <a:t>&lt;</a:t>
            </a:r>
            <a:r>
              <a:rPr lang="en-US" altLang="zh-CN" sz="2000" kern="0" dirty="0"/>
              <a:t>FT&gt;→</a:t>
            </a:r>
            <a:r>
              <a:rPr lang="en-US" altLang="zh-CN" sz="2000" kern="0" dirty="0" err="1"/>
              <a:t>int|char|float|void</a:t>
            </a:r>
            <a:r>
              <a:rPr lang="zh-CN" altLang="zh-CN" sz="2000" kern="0" dirty="0"/>
              <a:t>】</a:t>
            </a:r>
          </a:p>
        </p:txBody>
      </p:sp>
      <p:sp>
        <p:nvSpPr>
          <p:cNvPr id="9" name="矩形 8"/>
          <p:cNvSpPr/>
          <p:nvPr/>
        </p:nvSpPr>
        <p:spPr>
          <a:xfrm>
            <a:off x="4458494" y="2859559"/>
            <a:ext cx="4001294" cy="400110"/>
          </a:xfrm>
          <a:prstGeom prst="rect">
            <a:avLst/>
          </a:prstGeom>
          <a:solidFill>
            <a:srgbClr val="FFCCFF"/>
          </a:solidFill>
        </p:spPr>
        <p:txBody>
          <a:bodyPr wrap="square">
            <a:spAutoFit/>
          </a:bodyPr>
          <a:lstStyle/>
          <a:p>
            <a:pPr>
              <a:lnSpc>
                <a:spcPct val="100000"/>
              </a:lnSpc>
              <a:spcBef>
                <a:spcPct val="0"/>
              </a:spcBef>
              <a:buFontTx/>
              <a:buNone/>
              <a:defRPr/>
            </a:pPr>
            <a:r>
              <a:rPr lang="zh-CN" altLang="zh-CN" sz="2000" kern="0" dirty="0"/>
              <a:t>【（</a:t>
            </a:r>
            <a:r>
              <a:rPr lang="it-IT" altLang="zh-CN" sz="2000" kern="0" dirty="0"/>
              <a:t>3</a:t>
            </a:r>
            <a:r>
              <a:rPr lang="zh-CN" altLang="zh-CN" sz="2000" kern="0" dirty="0"/>
              <a:t>）</a:t>
            </a:r>
            <a:r>
              <a:rPr lang="it-IT" altLang="zh-CN" sz="2000" kern="0" dirty="0"/>
              <a:t>&lt;</a:t>
            </a:r>
            <a:r>
              <a:rPr lang="en-US" altLang="zh-CN" sz="2000" kern="0" dirty="0"/>
              <a:t>FFPL&gt;→&lt;FFP&gt;|</a:t>
            </a:r>
            <a:r>
              <a:rPr lang="en-US" altLang="zh-CN" sz="2000" kern="0" dirty="0">
                <a:sym typeface="Symbol"/>
              </a:rPr>
              <a:t></a:t>
            </a:r>
            <a:r>
              <a:rPr lang="zh-CN" altLang="zh-CN" sz="2000" kern="0" dirty="0"/>
              <a:t>】</a:t>
            </a:r>
          </a:p>
        </p:txBody>
      </p:sp>
      <p:sp>
        <p:nvSpPr>
          <p:cNvPr id="10" name="矩形 9"/>
          <p:cNvSpPr/>
          <p:nvPr/>
        </p:nvSpPr>
        <p:spPr>
          <a:xfrm>
            <a:off x="4029226" y="3575269"/>
            <a:ext cx="4431206" cy="707886"/>
          </a:xfrm>
          <a:prstGeom prst="rect">
            <a:avLst/>
          </a:prstGeom>
          <a:solidFill>
            <a:srgbClr val="FFCCFF"/>
          </a:solidFill>
        </p:spPr>
        <p:txBody>
          <a:bodyPr wrap="square">
            <a:spAutoFit/>
          </a:bodyPr>
          <a:lstStyle/>
          <a:p>
            <a:pPr>
              <a:lnSpc>
                <a:spcPct val="100000"/>
              </a:lnSpc>
              <a:spcBef>
                <a:spcPct val="0"/>
              </a:spcBef>
              <a:buFontTx/>
              <a:buNone/>
              <a:defRPr/>
            </a:pPr>
            <a:r>
              <a:rPr lang="zh-CN" altLang="zh-CN" sz="2000" kern="0" dirty="0"/>
              <a:t>【（</a:t>
            </a:r>
            <a:r>
              <a:rPr lang="it-IT" altLang="zh-CN" sz="2000" kern="0" dirty="0"/>
              <a:t>4</a:t>
            </a:r>
            <a:r>
              <a:rPr lang="zh-CN" altLang="zh-CN" sz="2000" kern="0" dirty="0"/>
              <a:t>）</a:t>
            </a:r>
            <a:r>
              <a:rPr lang="it-IT" altLang="zh-CN" sz="2000" kern="0" dirty="0"/>
              <a:t>&lt;</a:t>
            </a:r>
            <a:r>
              <a:rPr lang="en-US" altLang="zh-CN" sz="2000" kern="0" dirty="0"/>
              <a:t>FFP&gt;→&lt;VT&gt;</a:t>
            </a:r>
            <a:endParaRPr lang="zh-CN" altLang="zh-CN" sz="2000" kern="0" dirty="0"/>
          </a:p>
          <a:p>
            <a:pPr>
              <a:lnSpc>
                <a:spcPct val="100000"/>
              </a:lnSpc>
              <a:spcBef>
                <a:spcPct val="0"/>
              </a:spcBef>
              <a:buFontTx/>
              <a:buNone/>
              <a:defRPr/>
            </a:pPr>
            <a:r>
              <a:rPr lang="en-US" altLang="zh-CN" sz="2000" kern="0" dirty="0"/>
              <a:t>   </a:t>
            </a:r>
            <a:r>
              <a:rPr lang="zh-CN" altLang="zh-CN" sz="2000" kern="0" dirty="0"/>
              <a:t>（</a:t>
            </a:r>
            <a:r>
              <a:rPr lang="en-US" altLang="zh-CN" sz="2000" kern="0" dirty="0"/>
              <a:t>5</a:t>
            </a:r>
            <a:r>
              <a:rPr lang="zh-CN" altLang="zh-CN" sz="2000" kern="0" dirty="0"/>
              <a:t>）</a:t>
            </a:r>
            <a:r>
              <a:rPr lang="it-IT" altLang="zh-CN" sz="2000" kern="0" dirty="0"/>
              <a:t>&lt;</a:t>
            </a:r>
            <a:r>
              <a:rPr lang="en-US" altLang="zh-CN" sz="2000" kern="0" dirty="0"/>
              <a:t>FFP&gt;→&lt;VT&gt;,&lt;FFP&gt;</a:t>
            </a:r>
            <a:r>
              <a:rPr lang="en-US" altLang="zh-CN" sz="2000" kern="0" baseline="30000" dirty="0"/>
              <a:t>(1)</a:t>
            </a:r>
            <a:r>
              <a:rPr lang="zh-CN" altLang="zh-CN" sz="2000" kern="0" dirty="0"/>
              <a:t>】</a:t>
            </a:r>
          </a:p>
        </p:txBody>
      </p:sp>
      <p:sp>
        <p:nvSpPr>
          <p:cNvPr id="11" name="矩形 10"/>
          <p:cNvSpPr/>
          <p:nvPr/>
        </p:nvSpPr>
        <p:spPr>
          <a:xfrm>
            <a:off x="4173242" y="4403888"/>
            <a:ext cx="4287190" cy="400110"/>
          </a:xfrm>
          <a:prstGeom prst="rect">
            <a:avLst/>
          </a:prstGeom>
          <a:solidFill>
            <a:srgbClr val="FFCCFF"/>
          </a:solidFill>
        </p:spPr>
        <p:txBody>
          <a:bodyPr wrap="square">
            <a:spAutoFit/>
          </a:bodyPr>
          <a:lstStyle/>
          <a:p>
            <a:pPr>
              <a:lnSpc>
                <a:spcPct val="100000"/>
              </a:lnSpc>
              <a:spcBef>
                <a:spcPct val="0"/>
              </a:spcBef>
              <a:buFontTx/>
              <a:buNone/>
              <a:defRPr/>
            </a:pPr>
            <a:r>
              <a:rPr lang="zh-CN" altLang="zh-CN" sz="2000" kern="0" dirty="0"/>
              <a:t>【（</a:t>
            </a:r>
            <a:r>
              <a:rPr lang="it-IT" altLang="zh-CN" sz="2000" kern="0" dirty="0"/>
              <a:t>6</a:t>
            </a:r>
            <a:r>
              <a:rPr lang="zh-CN" altLang="zh-CN" sz="2000" kern="0" dirty="0"/>
              <a:t>）</a:t>
            </a:r>
            <a:r>
              <a:rPr lang="en-US" altLang="zh-CN" sz="2000" kern="0" dirty="0"/>
              <a:t>&lt;VT&gt;→</a:t>
            </a:r>
            <a:r>
              <a:rPr lang="en-US" altLang="zh-CN" sz="2000" kern="0" dirty="0" err="1"/>
              <a:t>int|char|float</a:t>
            </a:r>
            <a:r>
              <a:rPr lang="en-US" altLang="zh-CN" sz="2000" kern="0" dirty="0"/>
              <a:t>  </a:t>
            </a:r>
            <a:r>
              <a:rPr lang="zh-CN" altLang="zh-CN" sz="2000" kern="0" dirty="0"/>
              <a:t>】</a:t>
            </a:r>
          </a:p>
        </p:txBody>
      </p:sp>
      <p:sp>
        <p:nvSpPr>
          <p:cNvPr id="12" name="矩形 11"/>
          <p:cNvSpPr/>
          <p:nvPr/>
        </p:nvSpPr>
        <p:spPr>
          <a:xfrm>
            <a:off x="457200" y="4785122"/>
            <a:ext cx="8002588" cy="369332"/>
          </a:xfrm>
          <a:prstGeom prst="rect">
            <a:avLst/>
          </a:prstGeom>
          <a:solidFill>
            <a:schemeClr val="bg1"/>
          </a:solidFill>
        </p:spPr>
        <p:txBody>
          <a:bodyPr>
            <a:spAutoFit/>
          </a:bodyPr>
          <a:lstStyle/>
          <a:p>
            <a:pPr>
              <a:buFontTx/>
              <a:buNone/>
              <a:defRPr/>
            </a:pPr>
            <a:r>
              <a:rPr lang="zh-CN" altLang="zh-CN" kern="100" dirty="0">
                <a:latin typeface="Times New Roman" panose="02020603050405020304" pitchFamily="18" charset="0"/>
                <a:cs typeface="Times New Roman" panose="02020603050405020304" pitchFamily="18" charset="0"/>
              </a:rPr>
              <a:t>在处理该函数声明时，需要将函数</a:t>
            </a:r>
            <a:r>
              <a:rPr lang="zh-CN" altLang="en-US" kern="100" dirty="0">
                <a:latin typeface="Times New Roman" panose="02020603050405020304" pitchFamily="18" charset="0"/>
                <a:cs typeface="Times New Roman" panose="02020603050405020304" pitchFamily="18" charset="0"/>
              </a:rPr>
              <a:t>声明相关信息</a:t>
            </a:r>
            <a:r>
              <a:rPr lang="zh-CN" altLang="zh-CN" kern="100" dirty="0">
                <a:latin typeface="Times New Roman" panose="02020603050405020304" pitchFamily="18" charset="0"/>
                <a:cs typeface="Times New Roman" panose="02020603050405020304" pitchFamily="18" charset="0"/>
              </a:rPr>
              <a:t>添加到符号表中</a:t>
            </a:r>
            <a:endParaRPr lang="zh-CN" altLang="en-US" dirty="0">
              <a:latin typeface="Arial" pitchFamily="34" charset="0"/>
            </a:endParaRPr>
          </a:p>
        </p:txBody>
      </p:sp>
      <p:sp>
        <p:nvSpPr>
          <p:cNvPr id="75786" name="矩形 1"/>
          <p:cNvSpPr>
            <a:spLocks noChangeArrowheads="1"/>
          </p:cNvSpPr>
          <p:nvPr/>
        </p:nvSpPr>
        <p:spPr bwMode="auto">
          <a:xfrm>
            <a:off x="276918" y="483518"/>
            <a:ext cx="508717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buFontTx/>
              <a:buNone/>
            </a:pPr>
            <a:r>
              <a:rPr lang="zh-CN" altLang="zh-CN" sz="2000" dirty="0">
                <a:latin typeface="宋体" panose="02010600030101010101" pitchFamily="2" charset="-122"/>
              </a:rPr>
              <a:t>函数</a:t>
            </a:r>
            <a:r>
              <a:rPr lang="zh-CN" altLang="en-US" sz="2000" dirty="0">
                <a:latin typeface="宋体" panose="02010600030101010101" pitchFamily="2" charset="-122"/>
              </a:rPr>
              <a:t>遵循先声明，后定义，再使用的原则。函数声明语句放</a:t>
            </a:r>
            <a:r>
              <a:rPr lang="zh-CN" altLang="zh-CN" sz="2000" dirty="0">
                <a:latin typeface="宋体" panose="02010600030101010101" pitchFamily="2" charset="-122"/>
              </a:rPr>
              <a:t>在</a:t>
            </a:r>
            <a:r>
              <a:rPr lang="en-US" altLang="zh-CN" sz="2000" dirty="0">
                <a:latin typeface="宋体" panose="02010600030101010101" pitchFamily="2" charset="-122"/>
              </a:rPr>
              <a:t>main</a:t>
            </a:r>
            <a:r>
              <a:rPr lang="zh-CN" altLang="zh-CN" sz="2000" dirty="0">
                <a:latin typeface="宋体" panose="02010600030101010101" pitchFamily="2" charset="-122"/>
              </a:rPr>
              <a:t>函数之前。</a:t>
            </a:r>
            <a:endParaRPr lang="en-US" altLang="zh-CN" sz="2000" dirty="0">
              <a:latin typeface="宋体" panose="02010600030101010101" pitchFamily="2" charset="-122"/>
            </a:endParaRPr>
          </a:p>
        </p:txBody>
      </p:sp>
      <p:sp>
        <p:nvSpPr>
          <p:cNvPr id="2" name="矩形 1"/>
          <p:cNvSpPr/>
          <p:nvPr/>
        </p:nvSpPr>
        <p:spPr>
          <a:xfrm>
            <a:off x="5775158" y="123478"/>
            <a:ext cx="3549370" cy="461665"/>
          </a:xfrm>
          <a:prstGeom prst="rect">
            <a:avLst/>
          </a:prstGeom>
        </p:spPr>
        <p:txBody>
          <a:bodyPr wrap="none">
            <a:spAutoFit/>
          </a:bodyPr>
          <a:lstStyle/>
          <a:p>
            <a:r>
              <a:rPr lang="en-US" altLang="zh-CN" sz="2400" dirty="0" err="1">
                <a:solidFill>
                  <a:srgbClr val="FF0000"/>
                </a:solidFill>
              </a:rPr>
              <a:t>int</a:t>
            </a:r>
            <a:r>
              <a:rPr lang="en-US" altLang="zh-CN" sz="2400" dirty="0">
                <a:solidFill>
                  <a:srgbClr val="FF0000"/>
                </a:solidFill>
              </a:rPr>
              <a:t> sum(</a:t>
            </a:r>
            <a:r>
              <a:rPr lang="en-US" altLang="zh-CN" sz="2400" dirty="0" err="1">
                <a:solidFill>
                  <a:srgbClr val="FF0000"/>
                </a:solidFill>
              </a:rPr>
              <a:t>int,int,char</a:t>
            </a:r>
            <a:r>
              <a:rPr lang="en-US" altLang="zh-CN" sz="2400" dirty="0">
                <a:solidFill>
                  <a:srgbClr val="FF0000"/>
                </a:solidFill>
              </a:rPr>
              <a:t>) </a:t>
            </a:r>
            <a:r>
              <a:rPr lang="zh-CN" altLang="zh-CN" sz="2400" dirty="0">
                <a:solidFill>
                  <a:srgbClr val="FF0000"/>
                </a:solidFill>
              </a:rPr>
              <a:t>；</a:t>
            </a:r>
            <a:endParaRPr lang="zh-CN" altLang="en-US" sz="2400" dirty="0">
              <a:solidFill>
                <a:srgbClr val="FF0000"/>
              </a:solidFill>
            </a:endParaRPr>
          </a:p>
        </p:txBody>
      </p:sp>
    </p:spTree>
    <p:extLst>
      <p:ext uri="{BB962C8B-B14F-4D97-AF65-F5344CB8AC3E}">
        <p14:creationId xmlns:p14="http://schemas.microsoft.com/office/powerpoint/2010/main" val="6522650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12"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3943171"/>
            <a:ext cx="3563888" cy="1200329"/>
          </a:xfrm>
          <a:prstGeom prst="rect">
            <a:avLst/>
          </a:prstGeom>
          <a:solidFill>
            <a:schemeClr val="bg1"/>
          </a:solidFill>
        </p:spPr>
        <p:txBody>
          <a:bodyPr wrap="square">
            <a:spAutoFit/>
          </a:bodyPr>
          <a:lstStyle/>
          <a:p>
            <a:r>
              <a:rPr lang="zh-CN" altLang="en-US" dirty="0"/>
              <a:t>函数声明语句需要填写符号表，包括下面这些信息：</a:t>
            </a:r>
            <a:endParaRPr lang="en-US" altLang="zh-CN" dirty="0"/>
          </a:p>
          <a:p>
            <a:r>
              <a:rPr lang="zh-CN" altLang="zh-CN" dirty="0"/>
              <a:t>函数名、返回值类型、多少个参数、参数1类型、参数2类型……。</a:t>
            </a:r>
            <a:endParaRPr lang="zh-CN" altLang="en-US" dirty="0"/>
          </a:p>
        </p:txBody>
      </p:sp>
      <p:sp>
        <p:nvSpPr>
          <p:cNvPr id="77826" name="标题 1"/>
          <p:cNvSpPr>
            <a:spLocks noGrp="1"/>
          </p:cNvSpPr>
          <p:nvPr>
            <p:ph type="title"/>
          </p:nvPr>
        </p:nvSpPr>
        <p:spPr>
          <a:xfrm>
            <a:off x="246556" y="-12710"/>
            <a:ext cx="8229600" cy="784259"/>
          </a:xfrm>
        </p:spPr>
        <p:txBody>
          <a:bodyPr>
            <a:noAutofit/>
          </a:bodyPr>
          <a:lstStyle/>
          <a:p>
            <a:r>
              <a:rPr lang="zh-CN" altLang="zh-CN" sz="2800" dirty="0"/>
              <a:t>函数声明</a:t>
            </a:r>
            <a:r>
              <a:rPr lang="en-US" altLang="zh-CN" sz="2800" dirty="0" err="1">
                <a:solidFill>
                  <a:srgbClr val="FF0000"/>
                </a:solidFill>
              </a:rPr>
              <a:t>int</a:t>
            </a:r>
            <a:r>
              <a:rPr lang="en-US" altLang="zh-CN" sz="2800" dirty="0">
                <a:solidFill>
                  <a:srgbClr val="FF0000"/>
                </a:solidFill>
              </a:rPr>
              <a:t> sum(</a:t>
            </a:r>
            <a:r>
              <a:rPr lang="en-US" altLang="zh-CN" sz="2800" dirty="0" err="1">
                <a:solidFill>
                  <a:srgbClr val="FF0000"/>
                </a:solidFill>
              </a:rPr>
              <a:t>int,int,char</a:t>
            </a:r>
            <a:r>
              <a:rPr lang="en-US" altLang="zh-CN" sz="2800" dirty="0">
                <a:solidFill>
                  <a:srgbClr val="FF0000"/>
                </a:solidFill>
              </a:rPr>
              <a:t>);</a:t>
            </a:r>
            <a:r>
              <a:rPr lang="zh-CN" altLang="zh-CN" sz="2800" dirty="0"/>
              <a:t>的语法树</a:t>
            </a:r>
            <a:br>
              <a:rPr lang="en-US" altLang="zh-CN" sz="2800" dirty="0"/>
            </a:br>
            <a:r>
              <a:rPr lang="zh-CN" altLang="en-US" sz="2800" dirty="0"/>
              <a:t>（适合自下而上语法分析）</a:t>
            </a:r>
          </a:p>
        </p:txBody>
      </p:sp>
      <p:graphicFrame>
        <p:nvGraphicFramePr>
          <p:cNvPr id="77827" name="对象 4"/>
          <p:cNvGraphicFramePr>
            <a:graphicFrameLocks noChangeAspect="1"/>
          </p:cNvGraphicFramePr>
          <p:nvPr>
            <p:extLst>
              <p:ext uri="{D42A27DB-BD31-4B8C-83A1-F6EECF244321}">
                <p14:modId xmlns:p14="http://schemas.microsoft.com/office/powerpoint/2010/main" val="380229137"/>
              </p:ext>
            </p:extLst>
          </p:nvPr>
        </p:nvGraphicFramePr>
        <p:xfrm>
          <a:off x="4427984" y="584895"/>
          <a:ext cx="4788024" cy="4096940"/>
        </p:xfrm>
        <a:graphic>
          <a:graphicData uri="http://schemas.openxmlformats.org/presentationml/2006/ole">
            <mc:AlternateContent xmlns:mc="http://schemas.openxmlformats.org/markup-compatibility/2006">
              <mc:Choice xmlns:v="urn:schemas-microsoft-com:vml" Requires="v">
                <p:oleObj spid="_x0000_s18437" name="Visio" r:id="rId4" imgW="2603693" imgH="3038688" progId="Visio.Drawing.11">
                  <p:embed/>
                </p:oleObj>
              </mc:Choice>
              <mc:Fallback>
                <p:oleObj name="Visio" r:id="rId4" imgW="2603693" imgH="3038688" progId="Visio.Drawing.11">
                  <p:embed/>
                  <p:pic>
                    <p:nvPicPr>
                      <p:cNvPr id="77827" name="对象 4"/>
                      <p:cNvPicPr>
                        <a:picLocks noChangeAspect="1" noChangeArrowheads="1"/>
                      </p:cNvPicPr>
                      <p:nvPr/>
                    </p:nvPicPr>
                    <p:blipFill>
                      <a:blip r:embed="rId5"/>
                      <a:srcRect/>
                      <a:stretch>
                        <a:fillRect/>
                      </a:stretch>
                    </p:blipFill>
                    <p:spPr bwMode="auto">
                      <a:xfrm>
                        <a:off x="4427984" y="584895"/>
                        <a:ext cx="4788024" cy="4096940"/>
                      </a:xfrm>
                      <a:prstGeom prst="rect">
                        <a:avLst/>
                      </a:prstGeom>
                      <a:noFill/>
                      <a:ln>
                        <a:noFill/>
                      </a:ln>
                    </p:spPr>
                  </p:pic>
                </p:oleObj>
              </mc:Fallback>
            </mc:AlternateContent>
          </a:graphicData>
        </a:graphic>
      </p:graphicFrame>
      <p:sp>
        <p:nvSpPr>
          <p:cNvPr id="2" name="矩形 1"/>
          <p:cNvSpPr/>
          <p:nvPr/>
        </p:nvSpPr>
        <p:spPr>
          <a:xfrm>
            <a:off x="3419872" y="4220170"/>
            <a:ext cx="4968552" cy="92333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buFontTx/>
              <a:buNone/>
              <a:defRPr/>
            </a:pPr>
            <a:r>
              <a:rPr lang="en-US" altLang="zh-CN" dirty="0"/>
              <a:t>sum</a:t>
            </a:r>
            <a:r>
              <a:rPr lang="zh-CN" altLang="zh-CN" dirty="0"/>
              <a:t>是函数</a:t>
            </a:r>
            <a:r>
              <a:rPr lang="zh-CN" altLang="en-US" dirty="0"/>
              <a:t>名</a:t>
            </a:r>
            <a:r>
              <a:rPr lang="zh-CN" altLang="zh-CN" dirty="0"/>
              <a:t>，返回类型（</a:t>
            </a:r>
            <a:r>
              <a:rPr lang="en-US" altLang="zh-CN" dirty="0" err="1"/>
              <a:t>returntype</a:t>
            </a:r>
            <a:r>
              <a:rPr lang="zh-CN" altLang="zh-CN" dirty="0"/>
              <a:t>）是</a:t>
            </a:r>
            <a:r>
              <a:rPr lang="en-US" altLang="zh-CN" dirty="0" err="1"/>
              <a:t>int</a:t>
            </a:r>
            <a:r>
              <a:rPr lang="zh-CN" altLang="zh-CN" dirty="0"/>
              <a:t>，参数个数（</a:t>
            </a:r>
            <a:r>
              <a:rPr lang="en-US" altLang="zh-CN" dirty="0"/>
              <a:t>parameters</a:t>
            </a:r>
            <a:r>
              <a:rPr lang="zh-CN" altLang="zh-CN" dirty="0"/>
              <a:t>）是</a:t>
            </a:r>
            <a:r>
              <a:rPr lang="en-US" altLang="zh-CN" dirty="0"/>
              <a:t>3</a:t>
            </a:r>
            <a:r>
              <a:rPr lang="zh-CN" altLang="zh-CN" dirty="0"/>
              <a:t>个，</a:t>
            </a:r>
            <a:r>
              <a:rPr lang="zh-CN" altLang="en-US" dirty="0"/>
              <a:t>形参列表中</a:t>
            </a:r>
            <a:r>
              <a:rPr lang="zh-CN" altLang="zh-CN" dirty="0"/>
              <a:t>各个参数的类型</a:t>
            </a:r>
            <a:r>
              <a:rPr lang="zh-CN" altLang="en-US" dirty="0"/>
              <a:t>是</a:t>
            </a:r>
            <a:r>
              <a:rPr lang="zh-CN" altLang="zh-CN" dirty="0"/>
              <a:t>反序：</a:t>
            </a:r>
            <a:r>
              <a:rPr lang="en-US" altLang="zh-CN" dirty="0"/>
              <a:t>char</a:t>
            </a:r>
            <a:r>
              <a:rPr lang="zh-CN" altLang="zh-CN" dirty="0"/>
              <a:t>，</a:t>
            </a:r>
            <a:r>
              <a:rPr lang="en-US" altLang="zh-CN" dirty="0" err="1"/>
              <a:t>int</a:t>
            </a:r>
            <a:r>
              <a:rPr lang="zh-CN" altLang="zh-CN" dirty="0"/>
              <a:t>，</a:t>
            </a:r>
            <a:r>
              <a:rPr lang="en-US" altLang="zh-CN" dirty="0" err="1"/>
              <a:t>int</a:t>
            </a:r>
            <a:r>
              <a:rPr lang="zh-CN" altLang="zh-CN" dirty="0"/>
              <a:t>。</a:t>
            </a:r>
            <a:endParaRPr lang="zh-CN" altLang="en-US" dirty="0"/>
          </a:p>
        </p:txBody>
      </p:sp>
      <p:sp>
        <p:nvSpPr>
          <p:cNvPr id="4" name="矩形 3"/>
          <p:cNvSpPr/>
          <p:nvPr/>
        </p:nvSpPr>
        <p:spPr>
          <a:xfrm>
            <a:off x="251520" y="771550"/>
            <a:ext cx="4572000" cy="923330"/>
          </a:xfrm>
          <a:prstGeom prst="rect">
            <a:avLst/>
          </a:prstGeom>
        </p:spPr>
        <p:txBody>
          <a:bodyPr>
            <a:spAutoFit/>
          </a:bodyPr>
          <a:lstStyle/>
          <a:p>
            <a:r>
              <a:rPr lang="en-US" altLang="zh-CN" dirty="0" err="1"/>
              <a:t>X.type</a:t>
            </a:r>
            <a:r>
              <a:rPr lang="zh-CN" altLang="en-US" dirty="0"/>
              <a:t>表示</a:t>
            </a:r>
            <a:r>
              <a:rPr lang="en-US" altLang="zh-CN" dirty="0"/>
              <a:t>X</a:t>
            </a:r>
            <a:r>
              <a:rPr lang="zh-CN" altLang="en-US" dirty="0"/>
              <a:t>的类型</a:t>
            </a:r>
            <a:endParaRPr lang="zh-CN" altLang="zh-CN" dirty="0"/>
          </a:p>
          <a:p>
            <a:r>
              <a:rPr lang="en-US" altLang="zh-CN" dirty="0" err="1"/>
              <a:t>X.parameters</a:t>
            </a:r>
            <a:r>
              <a:rPr lang="zh-CN" altLang="en-US" dirty="0"/>
              <a:t>表示形式参数的个数</a:t>
            </a:r>
            <a:endParaRPr lang="zh-CN" altLang="zh-CN" dirty="0"/>
          </a:p>
          <a:p>
            <a:r>
              <a:rPr lang="en-US" altLang="zh-CN" dirty="0" err="1"/>
              <a:t>X.para</a:t>
            </a:r>
            <a:r>
              <a:rPr lang="zh-CN" altLang="en-US" dirty="0"/>
              <a:t>，表示形式参数的类型列表</a:t>
            </a:r>
          </a:p>
        </p:txBody>
      </p:sp>
      <p:graphicFrame>
        <p:nvGraphicFramePr>
          <p:cNvPr id="5" name="表格 4"/>
          <p:cNvGraphicFramePr>
            <a:graphicFrameLocks noGrp="1"/>
          </p:cNvGraphicFramePr>
          <p:nvPr>
            <p:extLst>
              <p:ext uri="{D42A27DB-BD31-4B8C-83A1-F6EECF244321}">
                <p14:modId xmlns:p14="http://schemas.microsoft.com/office/powerpoint/2010/main" val="3313189098"/>
              </p:ext>
            </p:extLst>
          </p:nvPr>
        </p:nvGraphicFramePr>
        <p:xfrm>
          <a:off x="46190" y="2400039"/>
          <a:ext cx="4504489" cy="864096"/>
        </p:xfrm>
        <a:graphic>
          <a:graphicData uri="http://schemas.openxmlformats.org/drawingml/2006/table">
            <a:tbl>
              <a:tblPr>
                <a:tableStyleId>{5C22544A-7EE6-4342-B048-85BDC9FD1C3A}</a:tableStyleId>
              </a:tblPr>
              <a:tblGrid>
                <a:gridCol w="4504489">
                  <a:extLst>
                    <a:ext uri="{9D8B030D-6E8A-4147-A177-3AD203B41FA5}">
                      <a16:colId xmlns:a16="http://schemas.microsoft.com/office/drawing/2014/main" val="20000"/>
                    </a:ext>
                  </a:extLst>
                </a:gridCol>
              </a:tblGrid>
              <a:tr h="442583">
                <a:tc>
                  <a:txBody>
                    <a:bodyPr/>
                    <a:lstStyle/>
                    <a:p>
                      <a:pPr algn="just">
                        <a:spcAft>
                          <a:spcPts val="0"/>
                        </a:spcAft>
                      </a:pPr>
                      <a:r>
                        <a:rPr lang="en-US" altLang="zh-CN" sz="1800" kern="100" dirty="0">
                          <a:effectLst/>
                        </a:rPr>
                        <a:t>(2) </a:t>
                      </a:r>
                      <a:r>
                        <a:rPr lang="it-IT" altLang="zh-CN" sz="1800" kern="100" dirty="0">
                          <a:effectLst/>
                        </a:rPr>
                        <a:t>&lt;</a:t>
                      </a:r>
                      <a:r>
                        <a:rPr lang="en-US" altLang="zh-CN" sz="1800" kern="100" dirty="0">
                          <a:effectLst/>
                        </a:rPr>
                        <a:t>FT&gt;→</a:t>
                      </a:r>
                      <a:r>
                        <a:rPr lang="en-US" altLang="zh-CN" sz="1800" kern="100" dirty="0" err="1">
                          <a:effectLst/>
                        </a:rPr>
                        <a:t>int</a:t>
                      </a:r>
                      <a:endParaRPr lang="zh-CN" altLang="zh-CN" sz="1800" kern="100" dirty="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421513">
                <a:tc>
                  <a:txBody>
                    <a:bodyPr/>
                    <a:lstStyle/>
                    <a:p>
                      <a:pPr algn="just">
                        <a:spcAft>
                          <a:spcPts val="0"/>
                        </a:spcAft>
                      </a:pPr>
                      <a:r>
                        <a:rPr lang="en-US" sz="1800" kern="100" dirty="0">
                          <a:effectLst/>
                        </a:rPr>
                        <a:t>{&lt;FT&gt;.type = </a:t>
                      </a:r>
                      <a:r>
                        <a:rPr lang="en-US" sz="1800" kern="100" dirty="0" err="1">
                          <a:effectLst/>
                        </a:rPr>
                        <a:t>int</a:t>
                      </a:r>
                      <a:r>
                        <a:rPr lang="en-US" sz="1800" kern="100" dirty="0">
                          <a:effectLst/>
                        </a:rPr>
                        <a:t>         }</a:t>
                      </a:r>
                      <a:endParaRPr lang="zh-CN" sz="1800" kern="100" dirty="0">
                        <a:effectLst/>
                        <a:latin typeface="Times New Roman"/>
                        <a:ea typeface="宋体"/>
                      </a:endParaRPr>
                    </a:p>
                  </a:txBody>
                  <a:tcPr marL="68580" marR="68580" marT="0" marB="0" anchor="ctr"/>
                </a:tc>
                <a:extLst>
                  <a:ext uri="{0D108BD9-81ED-4DB2-BD59-A6C34878D82A}">
                    <a16:rowId xmlns:a16="http://schemas.microsoft.com/office/drawing/2014/main" val="10001"/>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109160181"/>
              </p:ext>
            </p:extLst>
          </p:nvPr>
        </p:nvGraphicFramePr>
        <p:xfrm>
          <a:off x="46190" y="2400039"/>
          <a:ext cx="4504489" cy="1265543"/>
        </p:xfrm>
        <a:graphic>
          <a:graphicData uri="http://schemas.openxmlformats.org/drawingml/2006/table">
            <a:tbl>
              <a:tblPr>
                <a:tableStyleId>{5C22544A-7EE6-4342-B048-85BDC9FD1C3A}</a:tableStyleId>
              </a:tblPr>
              <a:tblGrid>
                <a:gridCol w="4504489">
                  <a:extLst>
                    <a:ext uri="{9D8B030D-6E8A-4147-A177-3AD203B41FA5}">
                      <a16:colId xmlns:a16="http://schemas.microsoft.com/office/drawing/2014/main" val="20000"/>
                    </a:ext>
                  </a:extLst>
                </a:gridCol>
              </a:tblGrid>
              <a:tr h="442583">
                <a:tc>
                  <a:txBody>
                    <a:bodyPr/>
                    <a:lstStyle/>
                    <a:p>
                      <a:pPr algn="just">
                        <a:spcAft>
                          <a:spcPts val="0"/>
                        </a:spcAft>
                      </a:pPr>
                      <a:r>
                        <a:rPr lang="en-US" altLang="zh-CN" sz="1800" kern="100" dirty="0">
                          <a:effectLst/>
                        </a:rPr>
                        <a:t>(6) </a:t>
                      </a:r>
                      <a:r>
                        <a:rPr lang="it-IT" altLang="zh-CN" sz="1800" kern="100" dirty="0">
                          <a:effectLst/>
                        </a:rPr>
                        <a:t>&lt;</a:t>
                      </a:r>
                      <a:r>
                        <a:rPr lang="en-US" altLang="zh-CN" sz="1800" kern="100" dirty="0">
                          <a:effectLst/>
                        </a:rPr>
                        <a:t>VT&gt;→</a:t>
                      </a:r>
                      <a:r>
                        <a:rPr lang="en-US" altLang="zh-CN" sz="1800" kern="100" dirty="0" err="1">
                          <a:effectLst/>
                        </a:rPr>
                        <a:t>int</a:t>
                      </a:r>
                      <a:endParaRPr lang="zh-CN" altLang="zh-CN" sz="1800" kern="100" dirty="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421513">
                <a:tc>
                  <a:txBody>
                    <a:bodyPr/>
                    <a:lstStyle/>
                    <a:p>
                      <a:r>
                        <a:rPr kumimoji="0" lang="en-US" altLang="zh-CN" sz="1800" kern="1200" dirty="0">
                          <a:solidFill>
                            <a:schemeClr val="dk1"/>
                          </a:solidFill>
                          <a:effectLst/>
                          <a:latin typeface="+mn-lt"/>
                          <a:ea typeface="+mn-ea"/>
                          <a:cs typeface="+mn-cs"/>
                        </a:rPr>
                        <a:t>{  &lt; VT &gt;.type = </a:t>
                      </a:r>
                      <a:r>
                        <a:rPr kumimoji="0" lang="en-US" altLang="zh-CN" sz="1800" kern="1200" dirty="0" err="1">
                          <a:solidFill>
                            <a:schemeClr val="dk1"/>
                          </a:solidFill>
                          <a:effectLst/>
                          <a:latin typeface="+mn-lt"/>
                          <a:ea typeface="+mn-ea"/>
                          <a:cs typeface="+mn-cs"/>
                        </a:rPr>
                        <a:t>int</a:t>
                      </a:r>
                      <a:r>
                        <a:rPr kumimoji="0" lang="en-US" altLang="zh-CN" sz="1800" kern="1200" dirty="0">
                          <a:solidFill>
                            <a:schemeClr val="dk1"/>
                          </a:solidFill>
                          <a:effectLst/>
                          <a:latin typeface="+mn-lt"/>
                          <a:ea typeface="+mn-ea"/>
                          <a:cs typeface="+mn-cs"/>
                        </a:rPr>
                        <a:t>;</a:t>
                      </a:r>
                      <a:endParaRPr kumimoji="0" lang="zh-CN" altLang="zh-CN" sz="1800" kern="1200" dirty="0">
                        <a:solidFill>
                          <a:schemeClr val="dk1"/>
                        </a:solidFill>
                        <a:effectLst/>
                        <a:latin typeface="+mn-lt"/>
                        <a:ea typeface="+mn-ea"/>
                        <a:cs typeface="+mn-cs"/>
                      </a:endParaRPr>
                    </a:p>
                    <a:p>
                      <a:r>
                        <a:rPr kumimoji="0" lang="en-US" altLang="zh-CN" sz="1800" kern="1200" dirty="0">
                          <a:solidFill>
                            <a:schemeClr val="dk1"/>
                          </a:solidFill>
                          <a:effectLst/>
                          <a:latin typeface="+mn-lt"/>
                          <a:ea typeface="+mn-ea"/>
                          <a:cs typeface="+mn-cs"/>
                        </a:rPr>
                        <a:t>   &lt; VT &gt;.parameters = 1;</a:t>
                      </a:r>
                      <a:endParaRPr kumimoji="0" lang="zh-CN" altLang="zh-CN" sz="1800" kern="1200" dirty="0">
                        <a:solidFill>
                          <a:schemeClr val="dk1"/>
                        </a:solidFill>
                        <a:effectLst/>
                        <a:latin typeface="+mn-lt"/>
                        <a:ea typeface="+mn-ea"/>
                        <a:cs typeface="+mn-cs"/>
                      </a:endParaRPr>
                    </a:p>
                    <a:p>
                      <a:r>
                        <a:rPr kumimoji="0" lang="en-US" altLang="zh-CN" sz="1800" kern="1200" dirty="0">
                          <a:solidFill>
                            <a:schemeClr val="dk1"/>
                          </a:solidFill>
                          <a:effectLst/>
                          <a:latin typeface="+mn-lt"/>
                          <a:ea typeface="+mn-ea"/>
                          <a:cs typeface="+mn-cs"/>
                        </a:rPr>
                        <a:t>   &lt; VT &gt;.para =</a:t>
                      </a:r>
                      <a:r>
                        <a:rPr kumimoji="0" lang="en-US" altLang="zh-CN" sz="1800" kern="1200" dirty="0" err="1">
                          <a:solidFill>
                            <a:schemeClr val="dk1"/>
                          </a:solidFill>
                          <a:effectLst/>
                          <a:latin typeface="+mn-lt"/>
                          <a:ea typeface="+mn-ea"/>
                          <a:cs typeface="+mn-cs"/>
                        </a:rPr>
                        <a:t>int</a:t>
                      </a:r>
                      <a:r>
                        <a:rPr kumimoji="0" lang="en-US" altLang="zh-CN" sz="1800" kern="1200" dirty="0">
                          <a:solidFill>
                            <a:schemeClr val="dk1"/>
                          </a:solidFill>
                          <a:effectLst/>
                          <a:latin typeface="+mn-lt"/>
                          <a:ea typeface="+mn-ea"/>
                          <a:cs typeface="+mn-cs"/>
                        </a:rPr>
                        <a:t>;                       }</a:t>
                      </a:r>
                      <a:endParaRPr lang="zh-CN" sz="1800" kern="100" dirty="0">
                        <a:effectLst/>
                        <a:latin typeface="Times New Roman"/>
                        <a:ea typeface="宋体"/>
                      </a:endParaRPr>
                    </a:p>
                  </a:txBody>
                  <a:tcPr marL="68580" marR="68580" marT="0" marB="0" anchor="ctr"/>
                </a:tc>
                <a:extLst>
                  <a:ext uri="{0D108BD9-81ED-4DB2-BD59-A6C34878D82A}">
                    <a16:rowId xmlns:a16="http://schemas.microsoft.com/office/drawing/2014/main" val="10001"/>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3782907940"/>
              </p:ext>
            </p:extLst>
          </p:nvPr>
        </p:nvGraphicFramePr>
        <p:xfrm>
          <a:off x="46190" y="2400039"/>
          <a:ext cx="5040560" cy="991223"/>
        </p:xfrm>
        <a:graphic>
          <a:graphicData uri="http://schemas.openxmlformats.org/drawingml/2006/table">
            <a:tbl>
              <a:tblPr>
                <a:tableStyleId>{5C22544A-7EE6-4342-B048-85BDC9FD1C3A}</a:tableStyleId>
              </a:tblPr>
              <a:tblGrid>
                <a:gridCol w="5040560">
                  <a:extLst>
                    <a:ext uri="{9D8B030D-6E8A-4147-A177-3AD203B41FA5}">
                      <a16:colId xmlns:a16="http://schemas.microsoft.com/office/drawing/2014/main" val="20000"/>
                    </a:ext>
                  </a:extLst>
                </a:gridCol>
              </a:tblGrid>
              <a:tr h="442583">
                <a:tc>
                  <a:txBody>
                    <a:bodyPr/>
                    <a:lstStyle/>
                    <a:p>
                      <a:pPr algn="just">
                        <a:spcAft>
                          <a:spcPts val="0"/>
                        </a:spcAft>
                      </a:pPr>
                      <a:r>
                        <a:rPr lang="en-US" altLang="zh-CN" sz="1800" kern="100" dirty="0">
                          <a:effectLst/>
                        </a:rPr>
                        <a:t>(3) </a:t>
                      </a:r>
                      <a:r>
                        <a:rPr kumimoji="0" lang="it-IT" altLang="zh-CN" sz="1800" kern="1200" dirty="0">
                          <a:solidFill>
                            <a:schemeClr val="dk1"/>
                          </a:solidFill>
                          <a:effectLst/>
                          <a:latin typeface="+mn-lt"/>
                          <a:ea typeface="+mn-ea"/>
                          <a:cs typeface="+mn-cs"/>
                        </a:rPr>
                        <a:t>&lt;</a:t>
                      </a:r>
                      <a:r>
                        <a:rPr kumimoji="0" lang="en-US" altLang="zh-CN" sz="1800" kern="1200" dirty="0">
                          <a:solidFill>
                            <a:schemeClr val="dk1"/>
                          </a:solidFill>
                          <a:effectLst/>
                          <a:latin typeface="+mn-lt"/>
                          <a:ea typeface="+mn-ea"/>
                          <a:cs typeface="+mn-cs"/>
                        </a:rPr>
                        <a:t>FFPL&gt; →&lt;FFP&gt;</a:t>
                      </a:r>
                      <a:endParaRPr lang="zh-CN" altLang="zh-CN" sz="1800" kern="100" dirty="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421513">
                <a:tc>
                  <a:txBody>
                    <a:bodyPr/>
                    <a:lstStyle/>
                    <a:p>
                      <a:r>
                        <a:rPr kumimoji="0" lang="zh-CN" altLang="zh-CN" sz="1800" kern="1200" dirty="0">
                          <a:solidFill>
                            <a:schemeClr val="dk1"/>
                          </a:solidFill>
                          <a:effectLst/>
                          <a:latin typeface="+mn-lt"/>
                          <a:ea typeface="+mn-ea"/>
                          <a:cs typeface="+mn-cs"/>
                        </a:rPr>
                        <a:t>{</a:t>
                      </a:r>
                      <a:r>
                        <a:rPr kumimoji="0" lang="en-US" altLang="zh-CN" sz="1800" kern="1200" dirty="0">
                          <a:solidFill>
                            <a:schemeClr val="dk1"/>
                          </a:solidFill>
                          <a:effectLst/>
                          <a:latin typeface="+mn-lt"/>
                          <a:ea typeface="+mn-ea"/>
                          <a:cs typeface="+mn-cs"/>
                        </a:rPr>
                        <a:t>&lt;FFPL&gt;.parameters = &lt;FFP&gt;.parameters; </a:t>
                      </a:r>
                      <a:endParaRPr kumimoji="0" lang="zh-CN" altLang="zh-CN" sz="1800" kern="1200" dirty="0">
                        <a:solidFill>
                          <a:schemeClr val="dk1"/>
                        </a:solidFill>
                        <a:effectLst/>
                        <a:latin typeface="+mn-lt"/>
                        <a:ea typeface="+mn-ea"/>
                        <a:cs typeface="+mn-cs"/>
                      </a:endParaRPr>
                    </a:p>
                    <a:p>
                      <a:r>
                        <a:rPr kumimoji="0" lang="en-US" altLang="zh-CN" sz="1800" kern="1200" dirty="0">
                          <a:solidFill>
                            <a:schemeClr val="dk1"/>
                          </a:solidFill>
                          <a:effectLst/>
                          <a:latin typeface="+mn-lt"/>
                          <a:ea typeface="+mn-ea"/>
                          <a:cs typeface="+mn-cs"/>
                        </a:rPr>
                        <a:t> &lt;FFPL&gt;.para= &lt;FFP&gt;.para      </a:t>
                      </a:r>
                      <a:r>
                        <a:rPr kumimoji="0" lang="zh-CN" altLang="zh-CN" sz="1800" kern="1200" dirty="0">
                          <a:solidFill>
                            <a:schemeClr val="dk1"/>
                          </a:solidFill>
                          <a:effectLst/>
                          <a:latin typeface="+mn-lt"/>
                          <a:ea typeface="+mn-ea"/>
                          <a:cs typeface="+mn-cs"/>
                        </a:rPr>
                        <a:t>                }</a:t>
                      </a:r>
                      <a:endParaRPr lang="zh-CN" sz="1800" kern="100" dirty="0">
                        <a:effectLst/>
                        <a:latin typeface="Times New Roman"/>
                        <a:ea typeface="宋体"/>
                      </a:endParaRPr>
                    </a:p>
                  </a:txBody>
                  <a:tcPr marL="68580" marR="68580" marT="0" marB="0" anchor="ctr"/>
                </a:tc>
                <a:extLst>
                  <a:ext uri="{0D108BD9-81ED-4DB2-BD59-A6C34878D82A}">
                    <a16:rowId xmlns:a16="http://schemas.microsoft.com/office/drawing/2014/main" val="10001"/>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594002257"/>
              </p:ext>
            </p:extLst>
          </p:nvPr>
        </p:nvGraphicFramePr>
        <p:xfrm>
          <a:off x="46190" y="2400039"/>
          <a:ext cx="5040560" cy="991223"/>
        </p:xfrm>
        <a:graphic>
          <a:graphicData uri="http://schemas.openxmlformats.org/drawingml/2006/table">
            <a:tbl>
              <a:tblPr>
                <a:tableStyleId>{5C22544A-7EE6-4342-B048-85BDC9FD1C3A}</a:tableStyleId>
              </a:tblPr>
              <a:tblGrid>
                <a:gridCol w="5040560">
                  <a:extLst>
                    <a:ext uri="{9D8B030D-6E8A-4147-A177-3AD203B41FA5}">
                      <a16:colId xmlns:a16="http://schemas.microsoft.com/office/drawing/2014/main" val="20000"/>
                    </a:ext>
                  </a:extLst>
                </a:gridCol>
              </a:tblGrid>
              <a:tr h="442583">
                <a:tc>
                  <a:txBody>
                    <a:bodyPr/>
                    <a:lstStyle/>
                    <a:p>
                      <a:pPr algn="just">
                        <a:spcAft>
                          <a:spcPts val="0"/>
                        </a:spcAft>
                      </a:pPr>
                      <a:r>
                        <a:rPr lang="en-US" altLang="zh-CN" sz="1800" kern="100" dirty="0">
                          <a:effectLst/>
                        </a:rPr>
                        <a:t>(4) </a:t>
                      </a:r>
                      <a:r>
                        <a:rPr kumimoji="0" lang="it-IT" altLang="zh-CN" sz="1800" kern="1200" dirty="0">
                          <a:solidFill>
                            <a:schemeClr val="dk1"/>
                          </a:solidFill>
                          <a:effectLst/>
                          <a:latin typeface="+mn-lt"/>
                          <a:ea typeface="+mn-ea"/>
                          <a:cs typeface="+mn-cs"/>
                        </a:rPr>
                        <a:t>&lt;</a:t>
                      </a:r>
                      <a:r>
                        <a:rPr kumimoji="0" lang="en-US" altLang="zh-CN" sz="1800" kern="1200" dirty="0">
                          <a:solidFill>
                            <a:schemeClr val="dk1"/>
                          </a:solidFill>
                          <a:effectLst/>
                          <a:latin typeface="+mn-lt"/>
                          <a:ea typeface="+mn-ea"/>
                          <a:cs typeface="+mn-cs"/>
                        </a:rPr>
                        <a:t>FFP&gt; →&lt;VT&gt;)</a:t>
                      </a:r>
                      <a:endParaRPr lang="zh-CN" altLang="zh-CN" sz="1800" kern="100" dirty="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421513">
                <a:tc>
                  <a:txBody>
                    <a:bodyPr/>
                    <a:lstStyle/>
                    <a:p>
                      <a:r>
                        <a:rPr kumimoji="0" lang="en-US" altLang="zh-CN" sz="1800" kern="1200" dirty="0">
                          <a:solidFill>
                            <a:schemeClr val="dk1"/>
                          </a:solidFill>
                          <a:effectLst/>
                          <a:latin typeface="+mn-lt"/>
                          <a:ea typeface="+mn-ea"/>
                          <a:cs typeface="+mn-cs"/>
                        </a:rPr>
                        <a:t>{ &lt;FFP&gt;. parameters = &lt;VT&gt;. parameters;</a:t>
                      </a:r>
                      <a:endParaRPr kumimoji="0" lang="zh-CN" altLang="zh-CN" sz="1800" kern="1200" dirty="0">
                        <a:solidFill>
                          <a:schemeClr val="dk1"/>
                        </a:solidFill>
                        <a:effectLst/>
                        <a:latin typeface="+mn-lt"/>
                        <a:ea typeface="+mn-ea"/>
                        <a:cs typeface="+mn-cs"/>
                      </a:endParaRPr>
                    </a:p>
                    <a:p>
                      <a:r>
                        <a:rPr kumimoji="0" lang="en-US" altLang="zh-CN" sz="1800" kern="1200" dirty="0">
                          <a:solidFill>
                            <a:schemeClr val="dk1"/>
                          </a:solidFill>
                          <a:effectLst/>
                          <a:latin typeface="+mn-lt"/>
                          <a:ea typeface="+mn-ea"/>
                          <a:cs typeface="+mn-cs"/>
                        </a:rPr>
                        <a:t>  &lt;FFP&gt;. para = &lt;VT&gt;. para                      }</a:t>
                      </a:r>
                      <a:endParaRPr lang="zh-CN" sz="1800" kern="100" dirty="0">
                        <a:effectLst/>
                        <a:latin typeface="Times New Roman"/>
                        <a:ea typeface="宋体"/>
                      </a:endParaRPr>
                    </a:p>
                  </a:txBody>
                  <a:tcPr marL="68580" marR="68580" marT="0" marB="0" anchor="ctr"/>
                </a:tc>
                <a:extLst>
                  <a:ext uri="{0D108BD9-81ED-4DB2-BD59-A6C34878D82A}">
                    <a16:rowId xmlns:a16="http://schemas.microsoft.com/office/drawing/2014/main" val="10001"/>
                  </a:ext>
                </a:extLst>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1453352504"/>
              </p:ext>
            </p:extLst>
          </p:nvPr>
        </p:nvGraphicFramePr>
        <p:xfrm>
          <a:off x="46190" y="2400039"/>
          <a:ext cx="5749946" cy="991223"/>
        </p:xfrm>
        <a:graphic>
          <a:graphicData uri="http://schemas.openxmlformats.org/drawingml/2006/table">
            <a:tbl>
              <a:tblPr>
                <a:tableStyleId>{5C22544A-7EE6-4342-B048-85BDC9FD1C3A}</a:tableStyleId>
              </a:tblPr>
              <a:tblGrid>
                <a:gridCol w="5749946">
                  <a:extLst>
                    <a:ext uri="{9D8B030D-6E8A-4147-A177-3AD203B41FA5}">
                      <a16:colId xmlns:a16="http://schemas.microsoft.com/office/drawing/2014/main" val="20000"/>
                    </a:ext>
                  </a:extLst>
                </a:gridCol>
              </a:tblGrid>
              <a:tr h="442583">
                <a:tc>
                  <a:txBody>
                    <a:bodyPr/>
                    <a:lstStyle/>
                    <a:p>
                      <a:pPr algn="just">
                        <a:spcAft>
                          <a:spcPts val="0"/>
                        </a:spcAft>
                      </a:pPr>
                      <a:r>
                        <a:rPr lang="en-US" altLang="zh-CN" sz="1800" kern="100" dirty="0">
                          <a:effectLst/>
                        </a:rPr>
                        <a:t>(5) </a:t>
                      </a:r>
                      <a:r>
                        <a:rPr kumimoji="0" lang="it-IT" altLang="zh-CN" sz="1800" kern="1200" dirty="0">
                          <a:solidFill>
                            <a:schemeClr val="dk1"/>
                          </a:solidFill>
                          <a:effectLst/>
                          <a:latin typeface="+mn-lt"/>
                          <a:ea typeface="+mn-ea"/>
                          <a:cs typeface="+mn-cs"/>
                        </a:rPr>
                        <a:t>&lt;</a:t>
                      </a:r>
                      <a:r>
                        <a:rPr kumimoji="0" lang="en-US" altLang="zh-CN" sz="1800" kern="1200" dirty="0">
                          <a:solidFill>
                            <a:schemeClr val="dk1"/>
                          </a:solidFill>
                          <a:effectLst/>
                          <a:latin typeface="+mn-lt"/>
                          <a:ea typeface="+mn-ea"/>
                          <a:cs typeface="+mn-cs"/>
                        </a:rPr>
                        <a:t>FFP&gt; →&lt;VT&gt;,&lt;FFP&gt;</a:t>
                      </a:r>
                      <a:r>
                        <a:rPr kumimoji="0" lang="en-US" altLang="zh-CN" sz="1800" kern="1200" baseline="30000" dirty="0">
                          <a:solidFill>
                            <a:schemeClr val="dk1"/>
                          </a:solidFill>
                          <a:effectLst/>
                          <a:latin typeface="+mn-lt"/>
                          <a:ea typeface="+mn-ea"/>
                          <a:cs typeface="+mn-cs"/>
                        </a:rPr>
                        <a:t>(1)</a:t>
                      </a:r>
                      <a:endParaRPr lang="zh-CN" altLang="zh-CN" sz="1800" kern="100" dirty="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421513">
                <a:tc>
                  <a:txBody>
                    <a:bodyPr/>
                    <a:lstStyle/>
                    <a:p>
                      <a:r>
                        <a:rPr kumimoji="0" lang="en-US" altLang="zh-CN" sz="1800" kern="1200" dirty="0">
                          <a:solidFill>
                            <a:schemeClr val="dk1"/>
                          </a:solidFill>
                          <a:effectLst/>
                          <a:latin typeface="+mn-lt"/>
                          <a:ea typeface="+mn-ea"/>
                          <a:cs typeface="+mn-cs"/>
                        </a:rPr>
                        <a:t>{  &lt;FFP&gt;.parameters = &lt; FFP&gt;</a:t>
                      </a:r>
                      <a:r>
                        <a:rPr kumimoji="0" lang="en-US" altLang="zh-CN" sz="1800" kern="1200" baseline="30000" dirty="0">
                          <a:solidFill>
                            <a:schemeClr val="dk1"/>
                          </a:solidFill>
                          <a:effectLst/>
                          <a:latin typeface="+mn-lt"/>
                          <a:ea typeface="+mn-ea"/>
                          <a:cs typeface="+mn-cs"/>
                        </a:rPr>
                        <a:t> (1)</a:t>
                      </a:r>
                      <a:r>
                        <a:rPr kumimoji="0" lang="en-US" altLang="zh-CN" sz="1800" kern="1200" dirty="0">
                          <a:solidFill>
                            <a:schemeClr val="dk1"/>
                          </a:solidFill>
                          <a:effectLst/>
                          <a:latin typeface="+mn-lt"/>
                          <a:ea typeface="+mn-ea"/>
                          <a:cs typeface="+mn-cs"/>
                        </a:rPr>
                        <a:t>.parameters + 1;</a:t>
                      </a:r>
                      <a:endParaRPr kumimoji="0" lang="zh-CN" altLang="zh-CN" sz="1800" kern="1200" dirty="0">
                        <a:solidFill>
                          <a:schemeClr val="dk1"/>
                        </a:solidFill>
                        <a:effectLst/>
                        <a:latin typeface="+mn-lt"/>
                        <a:ea typeface="+mn-ea"/>
                        <a:cs typeface="+mn-cs"/>
                      </a:endParaRPr>
                    </a:p>
                    <a:p>
                      <a:r>
                        <a:rPr kumimoji="0" lang="en-US" altLang="zh-CN" sz="1800" kern="1200" dirty="0">
                          <a:solidFill>
                            <a:schemeClr val="dk1"/>
                          </a:solidFill>
                          <a:effectLst/>
                          <a:latin typeface="+mn-lt"/>
                          <a:ea typeface="+mn-ea"/>
                          <a:cs typeface="+mn-cs"/>
                        </a:rPr>
                        <a:t>&lt;FFP&gt;.para = &lt; FFP&gt;</a:t>
                      </a:r>
                      <a:r>
                        <a:rPr kumimoji="0" lang="en-US" altLang="zh-CN" sz="1800" kern="1200" baseline="30000" dirty="0">
                          <a:solidFill>
                            <a:schemeClr val="dk1"/>
                          </a:solidFill>
                          <a:effectLst/>
                          <a:latin typeface="+mn-lt"/>
                          <a:ea typeface="+mn-ea"/>
                          <a:cs typeface="+mn-cs"/>
                        </a:rPr>
                        <a:t> (1)</a:t>
                      </a:r>
                      <a:r>
                        <a:rPr kumimoji="0" lang="en-US" altLang="zh-CN" sz="1800" kern="1200" dirty="0">
                          <a:solidFill>
                            <a:schemeClr val="dk1"/>
                          </a:solidFill>
                          <a:effectLst/>
                          <a:latin typeface="+mn-lt"/>
                          <a:ea typeface="+mn-ea"/>
                          <a:cs typeface="+mn-cs"/>
                        </a:rPr>
                        <a:t>.para+”,”+ &lt;VT&gt;. para }</a:t>
                      </a:r>
                      <a:endParaRPr lang="zh-CN" sz="1800" kern="100" dirty="0">
                        <a:effectLst/>
                        <a:latin typeface="Times New Roman"/>
                        <a:ea typeface="宋体"/>
                      </a:endParaRPr>
                    </a:p>
                  </a:txBody>
                  <a:tcPr marL="68580" marR="68580" marT="0" marB="0" anchor="ctr"/>
                </a:tc>
                <a:extLst>
                  <a:ext uri="{0D108BD9-81ED-4DB2-BD59-A6C34878D82A}">
                    <a16:rowId xmlns:a16="http://schemas.microsoft.com/office/drawing/2014/main" val="10001"/>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1860297044"/>
              </p:ext>
            </p:extLst>
          </p:nvPr>
        </p:nvGraphicFramePr>
        <p:xfrm>
          <a:off x="46190" y="2400039"/>
          <a:ext cx="6010866" cy="1539863"/>
        </p:xfrm>
        <a:graphic>
          <a:graphicData uri="http://schemas.openxmlformats.org/drawingml/2006/table">
            <a:tbl>
              <a:tblPr>
                <a:tableStyleId>{5C22544A-7EE6-4342-B048-85BDC9FD1C3A}</a:tableStyleId>
              </a:tblPr>
              <a:tblGrid>
                <a:gridCol w="6010866">
                  <a:extLst>
                    <a:ext uri="{9D8B030D-6E8A-4147-A177-3AD203B41FA5}">
                      <a16:colId xmlns:a16="http://schemas.microsoft.com/office/drawing/2014/main" val="20000"/>
                    </a:ext>
                  </a:extLst>
                </a:gridCol>
              </a:tblGrid>
              <a:tr h="442583">
                <a:tc>
                  <a:txBody>
                    <a:bodyPr/>
                    <a:lstStyle/>
                    <a:p>
                      <a:pPr algn="just">
                        <a:spcAft>
                          <a:spcPts val="0"/>
                        </a:spcAft>
                      </a:pPr>
                      <a:r>
                        <a:rPr lang="en-US" altLang="zh-CN" sz="1800" kern="100" dirty="0">
                          <a:effectLst/>
                        </a:rPr>
                        <a:t>(1) </a:t>
                      </a:r>
                      <a:r>
                        <a:rPr kumimoji="0" lang="it-IT" altLang="zh-CN" sz="1800" kern="1200" dirty="0">
                          <a:solidFill>
                            <a:schemeClr val="dk1"/>
                          </a:solidFill>
                          <a:effectLst/>
                          <a:latin typeface="+mn-lt"/>
                          <a:ea typeface="+mn-ea"/>
                          <a:cs typeface="+mn-cs"/>
                        </a:rPr>
                        <a:t>&lt;</a:t>
                      </a:r>
                      <a:r>
                        <a:rPr kumimoji="0" lang="en-US" altLang="zh-CN" sz="1800" kern="1200" dirty="0">
                          <a:solidFill>
                            <a:schemeClr val="dk1"/>
                          </a:solidFill>
                          <a:effectLst/>
                          <a:latin typeface="+mn-lt"/>
                          <a:ea typeface="+mn-ea"/>
                          <a:cs typeface="+mn-cs"/>
                        </a:rPr>
                        <a:t>FD&gt; →&lt;FT&gt; id (&lt;FFPL&gt;;</a:t>
                      </a:r>
                      <a:endParaRPr lang="zh-CN" altLang="zh-CN" sz="1800" kern="100" dirty="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421513">
                <a:tc>
                  <a:txBody>
                    <a:bodyPr/>
                    <a:lstStyle/>
                    <a:p>
                      <a:r>
                        <a:rPr kumimoji="0" lang="en-US" altLang="zh-CN" sz="1800" kern="1200" dirty="0">
                          <a:solidFill>
                            <a:schemeClr val="dk1"/>
                          </a:solidFill>
                          <a:effectLst/>
                          <a:latin typeface="+mn-lt"/>
                          <a:ea typeface="+mn-ea"/>
                          <a:cs typeface="+mn-cs"/>
                        </a:rPr>
                        <a:t>{  </a:t>
                      </a:r>
                      <a:r>
                        <a:rPr kumimoji="0" lang="en-US" altLang="zh-CN" sz="1800" kern="1200" dirty="0" err="1">
                          <a:solidFill>
                            <a:schemeClr val="dk1"/>
                          </a:solidFill>
                          <a:effectLst/>
                          <a:latin typeface="+mn-lt"/>
                          <a:ea typeface="+mn-ea"/>
                          <a:cs typeface="+mn-cs"/>
                        </a:rPr>
                        <a:t>InsertFunction</a:t>
                      </a:r>
                      <a:r>
                        <a:rPr kumimoji="0" lang="en-US" altLang="zh-CN" sz="1800" kern="1200" dirty="0">
                          <a:solidFill>
                            <a:schemeClr val="dk1"/>
                          </a:solidFill>
                          <a:effectLst/>
                          <a:latin typeface="+mn-lt"/>
                          <a:ea typeface="+mn-ea"/>
                          <a:cs typeface="+mn-cs"/>
                        </a:rPr>
                        <a:t> (entry(id).name);//</a:t>
                      </a:r>
                      <a:r>
                        <a:rPr kumimoji="0" lang="zh-CN" altLang="zh-CN" sz="1800" kern="1200" dirty="0">
                          <a:solidFill>
                            <a:schemeClr val="dk1"/>
                          </a:solidFill>
                          <a:effectLst/>
                          <a:latin typeface="+mn-lt"/>
                          <a:ea typeface="+mn-ea"/>
                          <a:cs typeface="+mn-cs"/>
                        </a:rPr>
                        <a:t>函数名插入符号表</a:t>
                      </a:r>
                    </a:p>
                    <a:p>
                      <a:r>
                        <a:rPr kumimoji="0" lang="en-US" altLang="zh-CN" sz="1800" kern="1200" dirty="0">
                          <a:solidFill>
                            <a:schemeClr val="dk1"/>
                          </a:solidFill>
                          <a:effectLst/>
                          <a:latin typeface="+mn-lt"/>
                          <a:ea typeface="+mn-ea"/>
                          <a:cs typeface="+mn-cs"/>
                        </a:rPr>
                        <a:t>   entry(id).</a:t>
                      </a:r>
                      <a:r>
                        <a:rPr kumimoji="0" lang="en-US" altLang="zh-CN" sz="1800" kern="1200" dirty="0" err="1">
                          <a:solidFill>
                            <a:schemeClr val="dk1"/>
                          </a:solidFill>
                          <a:effectLst/>
                          <a:latin typeface="+mn-lt"/>
                          <a:ea typeface="+mn-ea"/>
                          <a:cs typeface="+mn-cs"/>
                        </a:rPr>
                        <a:t>returntype</a:t>
                      </a:r>
                      <a:r>
                        <a:rPr kumimoji="0" lang="en-US" altLang="zh-CN" sz="1800" kern="1200" dirty="0">
                          <a:solidFill>
                            <a:schemeClr val="dk1"/>
                          </a:solidFill>
                          <a:effectLst/>
                          <a:latin typeface="+mn-lt"/>
                          <a:ea typeface="+mn-ea"/>
                          <a:cs typeface="+mn-cs"/>
                        </a:rPr>
                        <a:t> = &lt;FT&gt;.type;</a:t>
                      </a:r>
                      <a:endParaRPr kumimoji="0" lang="zh-CN" altLang="zh-CN" sz="1800" kern="1200" dirty="0">
                        <a:solidFill>
                          <a:schemeClr val="dk1"/>
                        </a:solidFill>
                        <a:effectLst/>
                        <a:latin typeface="+mn-lt"/>
                        <a:ea typeface="+mn-ea"/>
                        <a:cs typeface="+mn-cs"/>
                      </a:endParaRPr>
                    </a:p>
                    <a:p>
                      <a:r>
                        <a:rPr kumimoji="0" lang="en-US" altLang="zh-CN" sz="1800" kern="1200" dirty="0">
                          <a:solidFill>
                            <a:schemeClr val="dk1"/>
                          </a:solidFill>
                          <a:effectLst/>
                          <a:latin typeface="+mn-lt"/>
                          <a:ea typeface="+mn-ea"/>
                          <a:cs typeface="+mn-cs"/>
                        </a:rPr>
                        <a:t>   entry(id).parameters = &lt;FFPL&gt;.parameters;</a:t>
                      </a:r>
                      <a:endParaRPr kumimoji="0" lang="zh-CN" altLang="zh-CN" sz="1800" kern="1200" dirty="0">
                        <a:solidFill>
                          <a:schemeClr val="dk1"/>
                        </a:solidFill>
                        <a:effectLst/>
                        <a:latin typeface="+mn-lt"/>
                        <a:ea typeface="+mn-ea"/>
                        <a:cs typeface="+mn-cs"/>
                      </a:endParaRPr>
                    </a:p>
                    <a:p>
                      <a:r>
                        <a:rPr kumimoji="0" lang="en-US" altLang="zh-CN" sz="1800" kern="1200" dirty="0">
                          <a:solidFill>
                            <a:schemeClr val="dk1"/>
                          </a:solidFill>
                          <a:effectLst/>
                          <a:latin typeface="+mn-lt"/>
                          <a:ea typeface="+mn-ea"/>
                          <a:cs typeface="+mn-cs"/>
                        </a:rPr>
                        <a:t>   entry(id).para = &lt;FFPL&gt;.para;               }</a:t>
                      </a:r>
                      <a:endParaRPr lang="zh-CN" sz="1800" kern="100" dirty="0">
                        <a:effectLst/>
                        <a:latin typeface="Times New Roman"/>
                        <a:ea typeface="宋体"/>
                      </a:endParaRPr>
                    </a:p>
                  </a:txBody>
                  <a:tcPr marL="68580" marR="68580" marT="0" marB="0" anchor="ctr"/>
                </a:tc>
                <a:extLst>
                  <a:ext uri="{0D108BD9-81ED-4DB2-BD59-A6C34878D82A}">
                    <a16:rowId xmlns:a16="http://schemas.microsoft.com/office/drawing/2014/main" val="10001"/>
                  </a:ext>
                </a:extLst>
              </a:tr>
            </a:tbl>
          </a:graphicData>
        </a:graphic>
      </p:graphicFrame>
      <p:sp>
        <p:nvSpPr>
          <p:cNvPr id="13" name="Line 16"/>
          <p:cNvSpPr>
            <a:spLocks noChangeShapeType="1"/>
          </p:cNvSpPr>
          <p:nvPr/>
        </p:nvSpPr>
        <p:spPr bwMode="auto">
          <a:xfrm flipV="1">
            <a:off x="4932040" y="1419622"/>
            <a:ext cx="0"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4" name="Line 16"/>
          <p:cNvSpPr>
            <a:spLocks noChangeShapeType="1"/>
          </p:cNvSpPr>
          <p:nvPr/>
        </p:nvSpPr>
        <p:spPr bwMode="auto">
          <a:xfrm flipV="1">
            <a:off x="6479704" y="2715766"/>
            <a:ext cx="0"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5" name="Line 16"/>
          <p:cNvSpPr>
            <a:spLocks noChangeShapeType="1"/>
          </p:cNvSpPr>
          <p:nvPr/>
        </p:nvSpPr>
        <p:spPr bwMode="auto">
          <a:xfrm flipV="1">
            <a:off x="7380312" y="3363838"/>
            <a:ext cx="0"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6" name="Line 16"/>
          <p:cNvSpPr>
            <a:spLocks noChangeShapeType="1"/>
          </p:cNvSpPr>
          <p:nvPr/>
        </p:nvSpPr>
        <p:spPr bwMode="auto">
          <a:xfrm flipV="1">
            <a:off x="8559552" y="3977711"/>
            <a:ext cx="0"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7" name="Line 16"/>
          <p:cNvSpPr>
            <a:spLocks noChangeShapeType="1"/>
          </p:cNvSpPr>
          <p:nvPr/>
        </p:nvSpPr>
        <p:spPr bwMode="auto">
          <a:xfrm flipV="1">
            <a:off x="8532440" y="3363837"/>
            <a:ext cx="0"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8" name="Line 16"/>
          <p:cNvSpPr>
            <a:spLocks noChangeShapeType="1"/>
          </p:cNvSpPr>
          <p:nvPr/>
        </p:nvSpPr>
        <p:spPr bwMode="auto">
          <a:xfrm flipV="1">
            <a:off x="7308304" y="2715765"/>
            <a:ext cx="288032"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9" name="Line 16"/>
          <p:cNvSpPr>
            <a:spLocks noChangeShapeType="1"/>
          </p:cNvSpPr>
          <p:nvPr/>
        </p:nvSpPr>
        <p:spPr bwMode="auto">
          <a:xfrm flipH="1" flipV="1">
            <a:off x="8018984" y="2660197"/>
            <a:ext cx="513456" cy="540483"/>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20" name="Line 16"/>
          <p:cNvSpPr>
            <a:spLocks noChangeShapeType="1"/>
          </p:cNvSpPr>
          <p:nvPr/>
        </p:nvSpPr>
        <p:spPr bwMode="auto">
          <a:xfrm flipH="1" flipV="1">
            <a:off x="7956376" y="2120561"/>
            <a:ext cx="0" cy="360039"/>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21" name="Line 16"/>
          <p:cNvSpPr>
            <a:spLocks noChangeShapeType="1"/>
          </p:cNvSpPr>
          <p:nvPr/>
        </p:nvSpPr>
        <p:spPr bwMode="auto">
          <a:xfrm flipV="1">
            <a:off x="6435205" y="1976547"/>
            <a:ext cx="1161131" cy="576060"/>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22" name="Line 16"/>
          <p:cNvSpPr>
            <a:spLocks noChangeShapeType="1"/>
          </p:cNvSpPr>
          <p:nvPr/>
        </p:nvSpPr>
        <p:spPr bwMode="auto">
          <a:xfrm flipV="1">
            <a:off x="7884368" y="1419623"/>
            <a:ext cx="0" cy="432045"/>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cxnSp>
        <p:nvCxnSpPr>
          <p:cNvPr id="7" name="直接连接符 6"/>
          <p:cNvCxnSpPr/>
          <p:nvPr/>
        </p:nvCxnSpPr>
        <p:spPr>
          <a:xfrm>
            <a:off x="4751512" y="1491625"/>
            <a:ext cx="540568"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580112" y="1491625"/>
            <a:ext cx="432048"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6367698" y="1532610"/>
            <a:ext cx="432048"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771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5"/>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down)">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down)">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down)">
                                      <p:cBhvr>
                                        <p:cTn id="45" dur="5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nodeType="clickEffect">
                                  <p:stCondLst>
                                    <p:cond delay="0"/>
                                  </p:stCondLst>
                                  <p:childTnLst>
                                    <p:set>
                                      <p:cBhvr>
                                        <p:cTn id="49" dur="1" fill="hold">
                                          <p:stCondLst>
                                            <p:cond delay="0"/>
                                          </p:stCondLst>
                                        </p:cTn>
                                        <p:tgtEl>
                                          <p:spTgt spid="8"/>
                                        </p:tgtEl>
                                        <p:attrNameLst>
                                          <p:attrName>style.visibility</p:attrName>
                                        </p:attrNameLst>
                                      </p:cBhvr>
                                      <p:to>
                                        <p:strVal val="hidden"/>
                                      </p:to>
                                    </p:set>
                                  </p:childTnLst>
                                </p:cTn>
                              </p:par>
                              <p:par>
                                <p:cTn id="50" presetID="1" presetClass="entr" presetSubtype="0" fill="hold" nodeType="withEffect">
                                  <p:stCondLst>
                                    <p:cond delay="0"/>
                                  </p:stCondLst>
                                  <p:childTnLst>
                                    <p:set>
                                      <p:cBhvr>
                                        <p:cTn id="51" dur="1" fill="hold">
                                          <p:stCondLst>
                                            <p:cond delay="0"/>
                                          </p:stCondLst>
                                        </p:cTn>
                                        <p:tgtEl>
                                          <p:spTgt spid="1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down)">
                                      <p:cBhvr>
                                        <p:cTn id="56" dur="500"/>
                                        <p:tgtEl>
                                          <p:spTgt spid="18"/>
                                        </p:tgtEl>
                                      </p:cBhvr>
                                    </p:animEffect>
                                  </p:childTnLst>
                                </p:cTn>
                              </p:par>
                              <p:par>
                                <p:cTn id="57" presetID="22" presetClass="entr" presetSubtype="4"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wipe(down)">
                                      <p:cBhvr>
                                        <p:cTn id="59" dur="500"/>
                                        <p:tgtEl>
                                          <p:spTgt spid="19"/>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nodeType="clickEffect">
                                  <p:stCondLst>
                                    <p:cond delay="0"/>
                                  </p:stCondLst>
                                  <p:childTnLst>
                                    <p:set>
                                      <p:cBhvr>
                                        <p:cTn id="63" dur="1" fill="hold">
                                          <p:stCondLst>
                                            <p:cond delay="0"/>
                                          </p:stCondLst>
                                        </p:cTn>
                                        <p:tgtEl>
                                          <p:spTgt spid="10"/>
                                        </p:tgtEl>
                                        <p:attrNameLst>
                                          <p:attrName>style.visibility</p:attrName>
                                        </p:attrNameLst>
                                      </p:cBhvr>
                                      <p:to>
                                        <p:strVal val="hidden"/>
                                      </p:to>
                                    </p:set>
                                  </p:childTnLst>
                                </p:cTn>
                              </p:par>
                              <p:par>
                                <p:cTn id="64" presetID="1" presetClass="entr" presetSubtype="0" fill="hold" nodeType="withEffect">
                                  <p:stCondLst>
                                    <p:cond delay="0"/>
                                  </p:stCondLst>
                                  <p:childTnLst>
                                    <p:set>
                                      <p:cBhvr>
                                        <p:cTn id="65" dur="1" fill="hold">
                                          <p:stCondLst>
                                            <p:cond delay="0"/>
                                          </p:stCondLst>
                                        </p:cTn>
                                        <p:tgtEl>
                                          <p:spTgt spid="11"/>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wipe(down)">
                                      <p:cBhvr>
                                        <p:cTn id="70" dur="500"/>
                                        <p:tgtEl>
                                          <p:spTgt spid="20"/>
                                        </p:tgtEl>
                                      </p:cBhvr>
                                    </p:animEffect>
                                  </p:childTnLst>
                                </p:cTn>
                              </p:par>
                              <p:par>
                                <p:cTn id="71" presetID="22" presetClass="entr" presetSubtype="4" fill="hold" nodeType="with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wipe(down)">
                                      <p:cBhvr>
                                        <p:cTn id="73" dur="500"/>
                                        <p:tgtEl>
                                          <p:spTgt spid="21"/>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nodeType="click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wipe(down)">
                                      <p:cBhvr>
                                        <p:cTn id="78" dur="500"/>
                                        <p:tgtEl>
                                          <p:spTgt spid="22"/>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11"/>
                                        </p:tgtEl>
                                        <p:attrNameLst>
                                          <p:attrName>style.visibility</p:attrName>
                                        </p:attrNameLst>
                                      </p:cBhvr>
                                      <p:to>
                                        <p:strVal val="hidden"/>
                                      </p:to>
                                    </p:set>
                                  </p:childTnLst>
                                </p:cTn>
                              </p:par>
                              <p:par>
                                <p:cTn id="83" presetID="1" presetClass="entr" presetSubtype="0" fill="hold" nodeType="withEffect">
                                  <p:stCondLst>
                                    <p:cond delay="0"/>
                                  </p:stCondLst>
                                  <p:childTnLst>
                                    <p:set>
                                      <p:cBhvr>
                                        <p:cTn id="84" dur="1" fill="hold">
                                          <p:stCondLst>
                                            <p:cond delay="0"/>
                                          </p:stCondLst>
                                        </p:cTn>
                                        <p:tgtEl>
                                          <p:spTgt spid="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27"/>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nodeType="clickEffect">
                                  <p:stCondLst>
                                    <p:cond delay="0"/>
                                  </p:stCondLst>
                                  <p:childTnLst>
                                    <p:set>
                                      <p:cBhvr>
                                        <p:cTn id="96" dur="1" fill="hold">
                                          <p:stCondLst>
                                            <p:cond delay="0"/>
                                          </p:stCondLst>
                                        </p:cTn>
                                        <p:tgtEl>
                                          <p:spTgt spid="9"/>
                                        </p:tgtEl>
                                        <p:attrNameLst>
                                          <p:attrName>style.visibility</p:attrName>
                                        </p:attrNameLst>
                                      </p:cBhvr>
                                      <p:to>
                                        <p:strVal val="hidden"/>
                                      </p:to>
                                    </p:set>
                                  </p:childTnLst>
                                </p:cTn>
                              </p:par>
                              <p:par>
                                <p:cTn id="97" presetID="1" presetClass="entr" presetSubtype="0" fill="hold" nodeType="withEffect">
                                  <p:stCondLst>
                                    <p:cond delay="0"/>
                                  </p:stCondLst>
                                  <p:childTnLst>
                                    <p:set>
                                      <p:cBhvr>
                                        <p:cTn id="98" dur="1" fill="hold">
                                          <p:stCondLst>
                                            <p:cond delay="0"/>
                                          </p:stCondLst>
                                        </p:cTn>
                                        <p:tgtEl>
                                          <p:spTgt spid="1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P spid="4"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normAutofit fontScale="90000"/>
          </a:bodyPr>
          <a:lstStyle/>
          <a:p>
            <a:r>
              <a:rPr lang="zh-CN" altLang="en-US"/>
              <a:t>语义规则</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3677511400"/>
              </p:ext>
            </p:extLst>
          </p:nvPr>
        </p:nvGraphicFramePr>
        <p:xfrm>
          <a:off x="1" y="699542"/>
          <a:ext cx="9143999" cy="4205456"/>
        </p:xfrm>
        <a:graphic>
          <a:graphicData uri="http://schemas.openxmlformats.org/drawingml/2006/table">
            <a:tbl>
              <a:tblPr>
                <a:tableStyleId>{5C22544A-7EE6-4342-B048-85BDC9FD1C3A}</a:tableStyleId>
              </a:tblPr>
              <a:tblGrid>
                <a:gridCol w="683567">
                  <a:extLst>
                    <a:ext uri="{9D8B030D-6E8A-4147-A177-3AD203B41FA5}">
                      <a16:colId xmlns:a16="http://schemas.microsoft.com/office/drawing/2014/main" val="20000"/>
                    </a:ext>
                  </a:extLst>
                </a:gridCol>
                <a:gridCol w="2520280">
                  <a:extLst>
                    <a:ext uri="{9D8B030D-6E8A-4147-A177-3AD203B41FA5}">
                      <a16:colId xmlns:a16="http://schemas.microsoft.com/office/drawing/2014/main" val="20001"/>
                    </a:ext>
                  </a:extLst>
                </a:gridCol>
                <a:gridCol w="5940152">
                  <a:extLst>
                    <a:ext uri="{9D8B030D-6E8A-4147-A177-3AD203B41FA5}">
                      <a16:colId xmlns:a16="http://schemas.microsoft.com/office/drawing/2014/main" val="20002"/>
                    </a:ext>
                  </a:extLst>
                </a:gridCol>
              </a:tblGrid>
              <a:tr h="228600">
                <a:tc>
                  <a:txBody>
                    <a:bodyPr/>
                    <a:lstStyle/>
                    <a:p>
                      <a:pPr algn="ctr">
                        <a:spcAft>
                          <a:spcPts val="0"/>
                        </a:spcAft>
                      </a:pPr>
                      <a:r>
                        <a:rPr lang="zh-CN" sz="1600" kern="100" dirty="0">
                          <a:effectLst/>
                          <a:latin typeface="Times New Roman" panose="02020603050405020304" pitchFamily="18" charset="0"/>
                          <a:ea typeface="宋体" panose="02010600030101010101" pitchFamily="2" charset="-122"/>
                          <a:cs typeface="Times New Roman" panose="02020603050405020304" pitchFamily="18" charset="0"/>
                        </a:rPr>
                        <a:t>编号</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600" kern="100">
                          <a:effectLst/>
                          <a:latin typeface="Times New Roman" panose="02020603050405020304" pitchFamily="18" charset="0"/>
                          <a:ea typeface="宋体" panose="02010600030101010101" pitchFamily="2" charset="-122"/>
                          <a:cs typeface="Times New Roman" panose="02020603050405020304" pitchFamily="18" charset="0"/>
                        </a:rPr>
                        <a:t>产生式</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600" kern="100">
                          <a:effectLst/>
                          <a:latin typeface="Times New Roman" panose="02020603050405020304" pitchFamily="18" charset="0"/>
                          <a:ea typeface="宋体" panose="02010600030101010101" pitchFamily="2" charset="-122"/>
                          <a:cs typeface="Times New Roman" panose="02020603050405020304" pitchFamily="18" charset="0"/>
                        </a:rPr>
                        <a:t>语义规则</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64272">
                <a:tc>
                  <a:txBody>
                    <a:bodyPr/>
                    <a:lstStyle/>
                    <a:p>
                      <a:pPr algn="just">
                        <a:spcAft>
                          <a:spcPts val="0"/>
                        </a:spcAft>
                      </a:pPr>
                      <a:r>
                        <a:rPr lang="zh-CN" sz="16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6</a:t>
                      </a:r>
                      <a:r>
                        <a:rPr lang="zh-CN" sz="1600" kern="100" dirty="0">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600" kern="10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&lt; VT &gt;→int</a:t>
                      </a:r>
                      <a:endParaRPr kumimoji="0" lang="zh-CN" sz="1600" kern="10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&lt; VT &gt;.type = </a:t>
                      </a:r>
                      <a:r>
                        <a:rPr kumimoji="0" lang="en-US" sz="1600" kern="100" dirty="0" err="1">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int</a:t>
                      </a: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&lt; VT &gt;.parameters = 1;</a:t>
                      </a:r>
                      <a:endPar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171450" algn="just">
                        <a:spcAft>
                          <a:spcPts val="0"/>
                        </a:spcAft>
                      </a:pP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&lt; VT &gt;.para =</a:t>
                      </a:r>
                      <a:r>
                        <a:rPr kumimoji="0" lang="en-US" sz="1600" kern="100" dirty="0" err="1">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int</a:t>
                      </a: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符号表中对应该参数</a:t>
                      </a: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para</a:t>
                      </a:r>
                      <a:r>
                        <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的类型</a:t>
                      </a: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76064">
                <a:tc>
                  <a:txBody>
                    <a:bodyPr/>
                    <a:lstStyle/>
                    <a:p>
                      <a:pPr algn="just">
                        <a:spcAft>
                          <a:spcPts val="0"/>
                        </a:spcAft>
                      </a:pPr>
                      <a:r>
                        <a:rPr lang="zh-CN" sz="1600" kern="100">
                          <a:effectLst/>
                          <a:latin typeface="Times New Roman" panose="02020603050405020304" pitchFamily="18" charset="0"/>
                          <a:ea typeface="宋体" panose="02010600030101010101" pitchFamily="2" charset="-122"/>
                          <a:cs typeface="Times New Roman" panose="02020603050405020304" pitchFamily="18" charset="0"/>
                        </a:rPr>
                        <a:t>（</a:t>
                      </a: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5</a:t>
                      </a:r>
                      <a:r>
                        <a:rPr lang="zh-CN" sz="1600" kern="100">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it-IT"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FFP&gt; →&lt;VT&gt;,&lt;FFP&gt;</a:t>
                      </a:r>
                      <a:r>
                        <a:rPr kumimoji="0" lang="en-US" sz="1600" kern="100" baseline="300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sz="1600" kern="100" baseline="300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&lt;FFP&gt;.parameters = &lt; FFP&gt;</a:t>
                      </a:r>
                      <a:r>
                        <a:rPr kumimoji="0" lang="en-US" sz="1600" kern="100" baseline="300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.parameters + 1;</a:t>
                      </a:r>
                      <a:endPar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171450" algn="just">
                        <a:spcAft>
                          <a:spcPts val="0"/>
                        </a:spcAft>
                      </a:pP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&lt;FFP&gt;.para=&lt;FFP&gt;</a:t>
                      </a:r>
                      <a:r>
                        <a:rPr kumimoji="0" lang="en-US" sz="1600" kern="100" baseline="300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.para+”,”+&lt;VT&gt;.para          }</a:t>
                      </a:r>
                      <a:endPar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algn="just">
                        <a:spcAft>
                          <a:spcPts val="0"/>
                        </a:spcAft>
                      </a:pPr>
                      <a:r>
                        <a:rPr lang="zh-CN" sz="1600" kern="100">
                          <a:effectLst/>
                          <a:latin typeface="Times New Roman" panose="02020603050405020304" pitchFamily="18" charset="0"/>
                          <a:ea typeface="宋体" panose="02010600030101010101" pitchFamily="2" charset="-122"/>
                          <a:cs typeface="Times New Roman" panose="02020603050405020304" pitchFamily="18" charset="0"/>
                        </a:rPr>
                        <a:t>（</a:t>
                      </a: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4</a:t>
                      </a:r>
                      <a:r>
                        <a:rPr lang="zh-CN" sz="1600" kern="100">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it-IT"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FFP&gt; →&lt;VT&gt;)</a:t>
                      </a:r>
                      <a:endPar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&lt;FFP&gt;. parameters = &lt;VT&gt;. parameters;</a:t>
                      </a:r>
                      <a:endPar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171450" algn="just">
                        <a:spcAft>
                          <a:spcPts val="0"/>
                        </a:spcAft>
                      </a:pP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&lt;FFP&gt;.para = &lt;VT&gt;.para              }</a:t>
                      </a:r>
                      <a:endPar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85800">
                <a:tc>
                  <a:txBody>
                    <a:bodyPr/>
                    <a:lstStyle/>
                    <a:p>
                      <a:pPr algn="just">
                        <a:spcAft>
                          <a:spcPts val="0"/>
                        </a:spcAft>
                      </a:pPr>
                      <a:r>
                        <a:rPr lang="zh-CN" sz="1600" kern="100">
                          <a:effectLst/>
                          <a:latin typeface="Times New Roman" panose="02020603050405020304" pitchFamily="18" charset="0"/>
                          <a:ea typeface="宋体" panose="02010600030101010101" pitchFamily="2" charset="-122"/>
                          <a:cs typeface="Times New Roman" panose="02020603050405020304" pitchFamily="18" charset="0"/>
                        </a:rPr>
                        <a:t>（</a:t>
                      </a: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3</a:t>
                      </a:r>
                      <a:r>
                        <a:rPr lang="zh-CN" sz="1600" kern="100">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it-IT"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FFPL&gt; →&lt;FFP&gt;|</a:t>
                      </a:r>
                      <a:r>
                        <a:rPr kumimoji="0" lang="en-US" alt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&lt;FFPL&gt;.parameters = &lt;FFP&gt;.parameters; </a:t>
                      </a:r>
                      <a:endPar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&lt;FFPL&gt;.para= &lt;FFP&gt;.para                   </a:t>
                      </a:r>
                      <a:r>
                        <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algn="just">
                        <a:spcAft>
                          <a:spcPts val="0"/>
                        </a:spcAft>
                      </a:pPr>
                      <a:r>
                        <a:rPr lang="zh-CN" sz="1600" kern="100">
                          <a:effectLst/>
                          <a:latin typeface="Times New Roman" panose="02020603050405020304" pitchFamily="18" charset="0"/>
                          <a:ea typeface="宋体" panose="02010600030101010101" pitchFamily="2" charset="-122"/>
                          <a:cs typeface="Times New Roman" panose="02020603050405020304" pitchFamily="18" charset="0"/>
                        </a:rPr>
                        <a:t>（</a:t>
                      </a: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2</a:t>
                      </a:r>
                      <a:r>
                        <a:rPr lang="zh-CN" sz="1600" kern="100">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it-IT" sz="1600" kern="10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en-US" sz="1600" kern="10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FT&gt;→int</a:t>
                      </a:r>
                      <a:endParaRPr kumimoji="0" lang="zh-CN" sz="1600" kern="10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&lt;FT&gt;.type = </a:t>
                      </a:r>
                      <a:r>
                        <a:rPr kumimoji="0" lang="en-US" sz="1600" kern="100" dirty="0" err="1">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int</a:t>
                      </a: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914400">
                <a:tc>
                  <a:txBody>
                    <a:bodyPr/>
                    <a:lstStyle/>
                    <a:p>
                      <a:pPr algn="just">
                        <a:spcAft>
                          <a:spcPts val="0"/>
                        </a:spcAft>
                      </a:pPr>
                      <a:r>
                        <a:rPr lang="zh-CN" sz="1600" kern="100">
                          <a:effectLst/>
                          <a:latin typeface="Times New Roman" panose="02020603050405020304" pitchFamily="18" charset="0"/>
                          <a:ea typeface="宋体" panose="02010600030101010101" pitchFamily="2" charset="-122"/>
                          <a:cs typeface="Times New Roman" panose="02020603050405020304" pitchFamily="18" charset="0"/>
                        </a:rPr>
                        <a:t>（</a:t>
                      </a: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r>
                        <a:rPr lang="zh-CN" sz="1600" kern="100">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it-IT"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FD&gt; →&lt;FT&gt; id (&lt;FFPL&gt;;</a:t>
                      </a:r>
                      <a:endPar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sz="1600" kern="100" dirty="0" err="1">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InsertFunction</a:t>
                      </a: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kern="1200" dirty="0">
                          <a:solidFill>
                            <a:schemeClr val="dk1"/>
                          </a:solidFill>
                          <a:effectLst/>
                          <a:latin typeface="Times New Roman" panose="02020603050405020304" pitchFamily="18" charset="0"/>
                          <a:ea typeface="+mn-ea"/>
                          <a:cs typeface="Times New Roman" panose="02020603050405020304" pitchFamily="18" charset="0"/>
                        </a:rPr>
                        <a:t>entry(id).name);</a:t>
                      </a:r>
                      <a:r>
                        <a:rPr kumimoji="0" lang="x-none" altLang="zh-CN" sz="1800" kern="1200" dirty="0">
                          <a:solidFill>
                            <a:schemeClr val="dk1"/>
                          </a:solidFill>
                          <a:effectLst/>
                          <a:latin typeface="+mn-lt"/>
                          <a:ea typeface="+mn-ea"/>
                          <a:cs typeface="Times New Roman" panose="02020603050405020304" pitchFamily="18" charset="0"/>
                        </a:rPr>
                        <a:t> </a:t>
                      </a: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将函数名插入符号表中</a:t>
                      </a:r>
                    </a:p>
                    <a:p>
                      <a:pPr indent="114300" algn="just">
                        <a:spcAft>
                          <a:spcPts val="0"/>
                        </a:spcAft>
                      </a:pP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entry(id).</a:t>
                      </a:r>
                      <a:r>
                        <a:rPr kumimoji="0" lang="en-US" sz="1600" kern="100" dirty="0" err="1">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returntype</a:t>
                      </a: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 &lt;FT&gt;.type;</a:t>
                      </a:r>
                      <a:endPar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114300" algn="just">
                        <a:spcAft>
                          <a:spcPts val="0"/>
                        </a:spcAft>
                      </a:pP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entry(id).parameters = &lt;FFPL&gt;.parameters;</a:t>
                      </a:r>
                      <a:endPar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114300" algn="just">
                        <a:spcAft>
                          <a:spcPts val="0"/>
                        </a:spcAft>
                      </a:pPr>
                      <a:r>
                        <a:rPr kumimoji="0" lang="en-US"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 entry(id).para = &lt;FFPL&gt;.para;               }</a:t>
                      </a:r>
                      <a:endParaRPr kumimoji="0" lang="zh-CN" sz="1600" kern="1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3938573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对象 22"/>
          <p:cNvGraphicFramePr>
            <a:graphicFrameLocks noChangeAspect="1"/>
          </p:cNvGraphicFramePr>
          <p:nvPr>
            <p:extLst>
              <p:ext uri="{D42A27DB-BD31-4B8C-83A1-F6EECF244321}">
                <p14:modId xmlns:p14="http://schemas.microsoft.com/office/powerpoint/2010/main" val="2011906206"/>
              </p:ext>
            </p:extLst>
          </p:nvPr>
        </p:nvGraphicFramePr>
        <p:xfrm>
          <a:off x="5436096" y="411510"/>
          <a:ext cx="3712555" cy="4333470"/>
        </p:xfrm>
        <a:graphic>
          <a:graphicData uri="http://schemas.openxmlformats.org/presentationml/2006/ole">
            <mc:AlternateContent xmlns:mc="http://schemas.openxmlformats.org/markup-compatibility/2006">
              <mc:Choice xmlns:v="urn:schemas-microsoft-com:vml" Requires="v">
                <p:oleObj spid="_x0000_s19461" name="Visio" r:id="rId4" imgW="2603554" imgH="3038655" progId="Visio.Drawing.11">
                  <p:embed/>
                </p:oleObj>
              </mc:Choice>
              <mc:Fallback>
                <p:oleObj name="Visio" r:id="rId4" imgW="2603554" imgH="3038655" progId="Visio.Drawing.11">
                  <p:embed/>
                  <p:pic>
                    <p:nvPicPr>
                      <p:cNvPr id="23" name="对象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6096" y="411510"/>
                        <a:ext cx="3712555" cy="4333470"/>
                      </a:xfrm>
                      <a:prstGeom prst="rect">
                        <a:avLst/>
                      </a:prstGeom>
                      <a:noFill/>
                    </p:spPr>
                  </p:pic>
                </p:oleObj>
              </mc:Fallback>
            </mc:AlternateContent>
          </a:graphicData>
        </a:graphic>
      </p:graphicFrame>
      <p:sp>
        <p:nvSpPr>
          <p:cNvPr id="77826" name="标题 1"/>
          <p:cNvSpPr>
            <a:spLocks noGrp="1"/>
          </p:cNvSpPr>
          <p:nvPr>
            <p:ph type="title"/>
          </p:nvPr>
        </p:nvSpPr>
        <p:spPr>
          <a:xfrm>
            <a:off x="246556" y="-12710"/>
            <a:ext cx="8229600" cy="784259"/>
          </a:xfrm>
        </p:spPr>
        <p:txBody>
          <a:bodyPr>
            <a:normAutofit fontScale="90000"/>
          </a:bodyPr>
          <a:lstStyle/>
          <a:p>
            <a:r>
              <a:rPr lang="zh-CN" altLang="zh-CN" sz="3600" dirty="0"/>
              <a:t>函数声明</a:t>
            </a:r>
            <a:r>
              <a:rPr lang="en-US" altLang="zh-CN" sz="3600" dirty="0" err="1">
                <a:solidFill>
                  <a:srgbClr val="FF0000"/>
                </a:solidFill>
              </a:rPr>
              <a:t>int</a:t>
            </a:r>
            <a:r>
              <a:rPr lang="en-US" altLang="zh-CN" sz="3600" dirty="0">
                <a:solidFill>
                  <a:srgbClr val="FF0000"/>
                </a:solidFill>
              </a:rPr>
              <a:t> sum(</a:t>
            </a:r>
            <a:r>
              <a:rPr lang="en-US" altLang="zh-CN" sz="3600" dirty="0" err="1">
                <a:solidFill>
                  <a:srgbClr val="FF0000"/>
                </a:solidFill>
              </a:rPr>
              <a:t>int,int,char</a:t>
            </a:r>
            <a:r>
              <a:rPr lang="en-US" altLang="zh-CN" sz="3600" dirty="0">
                <a:solidFill>
                  <a:srgbClr val="FF0000"/>
                </a:solidFill>
              </a:rPr>
              <a:t>);</a:t>
            </a:r>
            <a:r>
              <a:rPr lang="zh-CN" altLang="zh-CN" sz="3600" dirty="0"/>
              <a:t>的语法树</a:t>
            </a:r>
            <a:br>
              <a:rPr lang="en-US" altLang="zh-CN" sz="3600" dirty="0"/>
            </a:br>
            <a:r>
              <a:rPr lang="zh-CN" altLang="en-US" dirty="0"/>
              <a:t>（适合自上而下）</a:t>
            </a:r>
            <a:endParaRPr lang="zh-CN" altLang="en-US" sz="3600" dirty="0"/>
          </a:p>
        </p:txBody>
      </p:sp>
      <p:sp>
        <p:nvSpPr>
          <p:cNvPr id="13" name="Line 16"/>
          <p:cNvSpPr>
            <a:spLocks noChangeShapeType="1"/>
          </p:cNvSpPr>
          <p:nvPr/>
        </p:nvSpPr>
        <p:spPr bwMode="auto">
          <a:xfrm flipV="1">
            <a:off x="5868144" y="1491630"/>
            <a:ext cx="0"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4" name="Line 16"/>
          <p:cNvSpPr>
            <a:spLocks noChangeShapeType="1"/>
          </p:cNvSpPr>
          <p:nvPr/>
        </p:nvSpPr>
        <p:spPr bwMode="auto">
          <a:xfrm flipV="1">
            <a:off x="7124290" y="2687979"/>
            <a:ext cx="0"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5" name="Line 16"/>
          <p:cNvSpPr>
            <a:spLocks noChangeShapeType="1"/>
          </p:cNvSpPr>
          <p:nvPr/>
        </p:nvSpPr>
        <p:spPr bwMode="auto">
          <a:xfrm flipV="1">
            <a:off x="7668344" y="3363838"/>
            <a:ext cx="0"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6" name="Line 16"/>
          <p:cNvSpPr>
            <a:spLocks noChangeShapeType="1"/>
          </p:cNvSpPr>
          <p:nvPr/>
        </p:nvSpPr>
        <p:spPr bwMode="auto">
          <a:xfrm flipV="1">
            <a:off x="8820472" y="3977711"/>
            <a:ext cx="0"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7" name="Line 16"/>
          <p:cNvSpPr>
            <a:spLocks noChangeShapeType="1"/>
          </p:cNvSpPr>
          <p:nvPr/>
        </p:nvSpPr>
        <p:spPr bwMode="auto">
          <a:xfrm flipV="1">
            <a:off x="8820472" y="3363837"/>
            <a:ext cx="0"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8" name="Line 16"/>
          <p:cNvSpPr>
            <a:spLocks noChangeShapeType="1"/>
          </p:cNvSpPr>
          <p:nvPr/>
        </p:nvSpPr>
        <p:spPr bwMode="auto">
          <a:xfrm flipV="1">
            <a:off x="7596336" y="2715765"/>
            <a:ext cx="288032" cy="484917"/>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19" name="Line 16"/>
          <p:cNvSpPr>
            <a:spLocks noChangeShapeType="1"/>
          </p:cNvSpPr>
          <p:nvPr/>
        </p:nvSpPr>
        <p:spPr bwMode="auto">
          <a:xfrm flipH="1" flipV="1">
            <a:off x="8307016" y="2660197"/>
            <a:ext cx="513456" cy="540483"/>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20" name="Line 16"/>
          <p:cNvSpPr>
            <a:spLocks noChangeShapeType="1"/>
          </p:cNvSpPr>
          <p:nvPr/>
        </p:nvSpPr>
        <p:spPr bwMode="auto">
          <a:xfrm flipH="1" flipV="1">
            <a:off x="7668344" y="1976546"/>
            <a:ext cx="504056" cy="504053"/>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21" name="Line 16"/>
          <p:cNvSpPr>
            <a:spLocks noChangeShapeType="1"/>
          </p:cNvSpPr>
          <p:nvPr/>
        </p:nvSpPr>
        <p:spPr bwMode="auto">
          <a:xfrm flipV="1">
            <a:off x="6908266" y="1976547"/>
            <a:ext cx="323528" cy="504053"/>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sp>
        <p:nvSpPr>
          <p:cNvPr id="22" name="Line 16"/>
          <p:cNvSpPr>
            <a:spLocks noChangeShapeType="1"/>
          </p:cNvSpPr>
          <p:nvPr/>
        </p:nvSpPr>
        <p:spPr bwMode="auto">
          <a:xfrm flipV="1">
            <a:off x="7620203" y="1347615"/>
            <a:ext cx="0" cy="432045"/>
          </a:xfrm>
          <a:prstGeom prst="line">
            <a:avLst/>
          </a:prstGeom>
          <a:noFill/>
          <a:ln w="38100">
            <a:solidFill>
              <a:srgbClr val="FF0000"/>
            </a:solidFill>
            <a:prstDash val="dash"/>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latin typeface="+mn-lt"/>
            </a:endParaRPr>
          </a:p>
        </p:txBody>
      </p:sp>
      <p:cxnSp>
        <p:nvCxnSpPr>
          <p:cNvPr id="7" name="直接连接符 6"/>
          <p:cNvCxnSpPr/>
          <p:nvPr/>
        </p:nvCxnSpPr>
        <p:spPr>
          <a:xfrm>
            <a:off x="5567031" y="1563638"/>
            <a:ext cx="3469465"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8" name="内容占位符 3"/>
          <p:cNvGraphicFramePr>
            <a:graphicFrameLocks noGrp="1"/>
          </p:cNvGraphicFramePr>
          <p:nvPr>
            <p:ph idx="1"/>
            <p:extLst>
              <p:ext uri="{D42A27DB-BD31-4B8C-83A1-F6EECF244321}">
                <p14:modId xmlns:p14="http://schemas.microsoft.com/office/powerpoint/2010/main" val="3050768469"/>
              </p:ext>
            </p:extLst>
          </p:nvPr>
        </p:nvGraphicFramePr>
        <p:xfrm>
          <a:off x="-26495" y="780462"/>
          <a:ext cx="5436095" cy="4254232"/>
        </p:xfrm>
        <a:graphic>
          <a:graphicData uri="http://schemas.openxmlformats.org/drawingml/2006/table">
            <a:tbl>
              <a:tblPr>
                <a:tableStyleId>{5C22544A-7EE6-4342-B048-85BDC9FD1C3A}</a:tableStyleId>
              </a:tblPr>
              <a:tblGrid>
                <a:gridCol w="251519">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3888432">
                  <a:extLst>
                    <a:ext uri="{9D8B030D-6E8A-4147-A177-3AD203B41FA5}">
                      <a16:colId xmlns:a16="http://schemas.microsoft.com/office/drawing/2014/main" val="20002"/>
                    </a:ext>
                  </a:extLst>
                </a:gridCol>
              </a:tblGrid>
              <a:tr h="228600">
                <a:tc>
                  <a:txBody>
                    <a:bodyPr/>
                    <a:lstStyle/>
                    <a:p>
                      <a:pPr algn="ctr">
                        <a:spcAft>
                          <a:spcPts val="0"/>
                        </a:spcAft>
                      </a:pPr>
                      <a:endParaRPr lang="zh-CN" sz="1400" kern="1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400" kern="100">
                          <a:effectLst/>
                          <a:latin typeface="Arial Unicode MS" panose="020B0604020202020204" pitchFamily="34" charset="-122"/>
                          <a:ea typeface="Arial Unicode MS" panose="020B0604020202020204" pitchFamily="34" charset="-122"/>
                          <a:cs typeface="Arial Unicode MS" panose="020B0604020202020204" pitchFamily="34" charset="-122"/>
                        </a:rPr>
                        <a:t>产生式</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400" kern="100">
                          <a:effectLst/>
                          <a:latin typeface="Arial Unicode MS" panose="020B0604020202020204" pitchFamily="34" charset="-122"/>
                          <a:ea typeface="Arial Unicode MS" panose="020B0604020202020204" pitchFamily="34" charset="-122"/>
                          <a:cs typeface="Arial Unicode MS" panose="020B0604020202020204" pitchFamily="34" charset="-122"/>
                        </a:rPr>
                        <a:t>语义规则</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64272">
                <a:tc>
                  <a:txBody>
                    <a:bodyPr/>
                    <a:lstStyle/>
                    <a:p>
                      <a:pPr algn="just">
                        <a:spcAft>
                          <a:spcPts val="0"/>
                        </a:spcAft>
                      </a:pPr>
                      <a:r>
                        <a:rPr lang="en-US" sz="1400" kern="100" dirty="0">
                          <a:effectLst/>
                          <a:latin typeface="Arial Unicode MS" panose="020B0604020202020204" pitchFamily="34" charset="-122"/>
                          <a:ea typeface="Arial Unicode MS" panose="020B0604020202020204" pitchFamily="34" charset="-122"/>
                          <a:cs typeface="Arial Unicode MS" panose="020B0604020202020204" pitchFamily="34" charset="-122"/>
                        </a:rPr>
                        <a:t>6</a:t>
                      </a:r>
                      <a:endParaRPr lang="zh-CN" sz="1400" kern="1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&lt; VT &gt;→</a:t>
                      </a:r>
                      <a:r>
                        <a:rPr kumimoji="0" lang="en-US" sz="1400" kern="100" dirty="0" err="1">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int</a:t>
                      </a:r>
                      <a:endPar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&lt; VT &gt;.type = </a:t>
                      </a:r>
                      <a:r>
                        <a:rPr kumimoji="0" lang="en-US" sz="1400" kern="100" dirty="0" err="1">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int</a:t>
                      </a: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a:t>
                      </a:r>
                      <a:endPar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algn="just">
                        <a:spcAft>
                          <a:spcPts val="0"/>
                        </a:spcAft>
                      </a:pP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&lt; VT &gt;.parameters = 1;</a:t>
                      </a:r>
                      <a:endPar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indent="171450" algn="just">
                        <a:spcAft>
                          <a:spcPts val="0"/>
                        </a:spcAft>
                      </a:pP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&lt; VT &gt;.para =</a:t>
                      </a:r>
                      <a:r>
                        <a:rPr kumimoji="0" lang="en-US" sz="1400" kern="100" dirty="0" err="1">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int</a:t>
                      </a: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a:t>
                      </a:r>
                      <a:r>
                        <a:rPr kumimoji="0" lang="en-US" alt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a:t>
                      </a:r>
                      <a:endPar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76064">
                <a:tc>
                  <a:txBody>
                    <a:bodyPr/>
                    <a:lstStyle/>
                    <a:p>
                      <a:pPr algn="just">
                        <a:spcAft>
                          <a:spcPts val="0"/>
                        </a:spcAft>
                      </a:pPr>
                      <a:r>
                        <a:rPr lang="en-US" sz="1400" kern="100" dirty="0">
                          <a:effectLst/>
                          <a:latin typeface="Arial Unicode MS" panose="020B0604020202020204" pitchFamily="34" charset="-122"/>
                          <a:ea typeface="Arial Unicode MS" panose="020B0604020202020204" pitchFamily="34" charset="-122"/>
                          <a:cs typeface="Arial Unicode MS" panose="020B0604020202020204" pitchFamily="34" charset="-122"/>
                        </a:rPr>
                        <a:t>5</a:t>
                      </a:r>
                      <a:endParaRPr lang="zh-CN" sz="1400" kern="1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it-IT" sz="13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&lt;</a:t>
                      </a:r>
                      <a:r>
                        <a:rPr kumimoji="0" lang="en-US" sz="13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FFP&gt; →&lt;VT&gt;,</a:t>
                      </a:r>
                    </a:p>
                    <a:p>
                      <a:pPr algn="just">
                        <a:spcAft>
                          <a:spcPts val="0"/>
                        </a:spcAft>
                      </a:pPr>
                      <a:r>
                        <a:rPr kumimoji="0" lang="en-US" sz="13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&lt;FFP&gt;</a:t>
                      </a:r>
                      <a:r>
                        <a:rPr kumimoji="0" lang="en-US" sz="1300" kern="100" baseline="300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a:t>
                      </a:r>
                      <a:r>
                        <a:rPr kumimoji="0" lang="en-US" sz="1400" kern="100" baseline="300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1)</a:t>
                      </a:r>
                      <a:endParaRPr kumimoji="0" lang="zh-CN" sz="1400" kern="100" baseline="300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{&lt;FFP&gt;.parameters = &lt; FFP&gt;</a:t>
                      </a:r>
                      <a:r>
                        <a:rPr kumimoji="0" lang="en-US" sz="1400" kern="100" baseline="300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(1)</a:t>
                      </a: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.parameters+1;</a:t>
                      </a:r>
                    </a:p>
                    <a:p>
                      <a:pPr algn="just">
                        <a:spcAft>
                          <a:spcPts val="0"/>
                        </a:spcAft>
                      </a:pP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&lt;FFP&gt;.para=&lt;FFP&gt;</a:t>
                      </a:r>
                      <a:r>
                        <a:rPr kumimoji="0" lang="en-US" sz="1400" kern="100" baseline="300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(1)</a:t>
                      </a: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.para+”,”+&lt;VT&gt;.para}</a:t>
                      </a:r>
                      <a:endPar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algn="just">
                        <a:spcAft>
                          <a:spcPts val="0"/>
                        </a:spcAft>
                      </a:pPr>
                      <a:r>
                        <a:rPr lang="en-US" sz="1400" kern="100" dirty="0">
                          <a:effectLst/>
                          <a:latin typeface="Arial Unicode MS" panose="020B0604020202020204" pitchFamily="34" charset="-122"/>
                          <a:ea typeface="Arial Unicode MS" panose="020B0604020202020204" pitchFamily="34" charset="-122"/>
                          <a:cs typeface="Arial Unicode MS" panose="020B0604020202020204" pitchFamily="34" charset="-122"/>
                        </a:rPr>
                        <a:t>4</a:t>
                      </a:r>
                      <a:endParaRPr lang="zh-CN" sz="1400" kern="1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it-IT"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&lt;</a:t>
                      </a: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FFP&gt; →&lt;VT&gt;</a:t>
                      </a:r>
                      <a:endPar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&lt;FFP&gt;. parameters = &lt;VT&gt;. parameters;</a:t>
                      </a:r>
                    </a:p>
                    <a:p>
                      <a:pPr algn="just">
                        <a:spcAft>
                          <a:spcPts val="0"/>
                        </a:spcAft>
                      </a:pPr>
                      <a:r>
                        <a:rPr kumimoji="0" lang="en-US" sz="1400" kern="100" baseline="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a:t>
                      </a: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&lt;FFP&gt;.para = &lt;VT&gt;.para           }</a:t>
                      </a:r>
                      <a:endPar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85800">
                <a:tc>
                  <a:txBody>
                    <a:bodyPr/>
                    <a:lstStyle/>
                    <a:p>
                      <a:pPr algn="just">
                        <a:spcAft>
                          <a:spcPts val="0"/>
                        </a:spcAft>
                      </a:pPr>
                      <a:r>
                        <a:rPr lang="en-US" sz="1400" kern="100" dirty="0">
                          <a:effectLst/>
                          <a:latin typeface="Arial Unicode MS" panose="020B0604020202020204" pitchFamily="34" charset="-122"/>
                          <a:ea typeface="Arial Unicode MS" panose="020B0604020202020204" pitchFamily="34" charset="-122"/>
                          <a:cs typeface="Arial Unicode MS" panose="020B0604020202020204" pitchFamily="34" charset="-122"/>
                        </a:rPr>
                        <a:t>3</a:t>
                      </a:r>
                      <a:endParaRPr lang="zh-CN" sz="1400" kern="1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it-IT"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&lt;</a:t>
                      </a: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FFPL&gt; →&lt;FFP&gt;|</a:t>
                      </a:r>
                      <a:r>
                        <a:rPr lang="en-US" altLang="zh-CN" sz="1400" kern="0" dirty="0">
                          <a:latin typeface="Arial Unicode MS" panose="020B0604020202020204" pitchFamily="34" charset="-122"/>
                          <a:ea typeface="Arial Unicode MS" panose="020B0604020202020204" pitchFamily="34" charset="-122"/>
                          <a:cs typeface="Arial Unicode MS" panose="020B0604020202020204" pitchFamily="34" charset="-122"/>
                          <a:sym typeface="Symbol"/>
                        </a:rPr>
                        <a:t></a:t>
                      </a:r>
                      <a:endPar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a:t>
                      </a: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&lt;FFPL&gt;.parameters = &lt;FFP&gt;.parameters; </a:t>
                      </a:r>
                      <a:endPar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algn="just">
                        <a:spcAft>
                          <a:spcPts val="0"/>
                        </a:spcAft>
                      </a:pP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&lt;FFPL&gt;.para= &lt;FFP&gt;.para    </a:t>
                      </a:r>
                      <a:r>
                        <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algn="just">
                        <a:spcAft>
                          <a:spcPts val="0"/>
                        </a:spcAft>
                      </a:pPr>
                      <a:r>
                        <a:rPr lang="en-US" sz="1400" kern="100" dirty="0">
                          <a:effectLst/>
                          <a:latin typeface="Arial Unicode MS" panose="020B0604020202020204" pitchFamily="34" charset="-122"/>
                          <a:ea typeface="Arial Unicode MS" panose="020B0604020202020204" pitchFamily="34" charset="-122"/>
                          <a:cs typeface="Arial Unicode MS" panose="020B0604020202020204" pitchFamily="34" charset="-122"/>
                        </a:rPr>
                        <a:t>2</a:t>
                      </a:r>
                      <a:endParaRPr lang="zh-CN" sz="1400" kern="1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it-IT"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&lt;</a:t>
                      </a: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FT&gt;→</a:t>
                      </a:r>
                      <a:r>
                        <a:rPr kumimoji="0" lang="en-US" sz="1400" kern="100" dirty="0" err="1">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int</a:t>
                      </a:r>
                      <a:endPar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{&lt;FT&gt;.type = </a:t>
                      </a:r>
                      <a:r>
                        <a:rPr kumimoji="0" lang="en-US" sz="1400" kern="100" dirty="0" err="1">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int</a:t>
                      </a: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a:t>
                      </a:r>
                      <a:endPar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914400">
                <a:tc>
                  <a:txBody>
                    <a:bodyPr/>
                    <a:lstStyle/>
                    <a:p>
                      <a:pPr algn="just">
                        <a:spcAft>
                          <a:spcPts val="0"/>
                        </a:spcAft>
                      </a:pPr>
                      <a:r>
                        <a:rPr lang="en-US" sz="1400" kern="100" dirty="0">
                          <a:effectLst/>
                          <a:latin typeface="Arial Unicode MS" panose="020B0604020202020204" pitchFamily="34" charset="-122"/>
                          <a:ea typeface="Arial Unicode MS" panose="020B0604020202020204" pitchFamily="34" charset="-122"/>
                          <a:cs typeface="Arial Unicode MS" panose="020B0604020202020204" pitchFamily="34" charset="-122"/>
                        </a:rPr>
                        <a:t>1</a:t>
                      </a:r>
                      <a:endParaRPr lang="zh-CN" sz="1400" kern="1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it-IT"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&lt;</a:t>
                      </a: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FD&gt; →&lt;FT&gt;</a:t>
                      </a:r>
                    </a:p>
                    <a:p>
                      <a:pPr algn="just">
                        <a:spcAft>
                          <a:spcPts val="0"/>
                        </a:spcAft>
                      </a:pP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id (&lt;FFPL&gt;);</a:t>
                      </a:r>
                      <a:endPar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a:t>
                      </a:r>
                      <a:r>
                        <a:rPr kumimoji="0" lang="en-US" sz="1400" kern="100" dirty="0" err="1">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InsertFunction</a:t>
                      </a: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(entry(id).name); </a:t>
                      </a:r>
                    </a:p>
                    <a:p>
                      <a:pPr algn="just">
                        <a:spcAft>
                          <a:spcPts val="0"/>
                        </a:spcAft>
                      </a:pPr>
                      <a:r>
                        <a:rPr kumimoji="0" lang="en-US" sz="1400" kern="100" baseline="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a:t>
                      </a: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entry(id).</a:t>
                      </a:r>
                      <a:r>
                        <a:rPr kumimoji="0" lang="en-US" sz="1400" kern="100" dirty="0" err="1">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returntype</a:t>
                      </a: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 &lt;FT&gt;.type;</a:t>
                      </a:r>
                      <a:endPar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indent="114300" algn="just">
                        <a:spcAft>
                          <a:spcPts val="0"/>
                        </a:spcAft>
                      </a:pP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entry(id).parameters =</a:t>
                      </a:r>
                    </a:p>
                    <a:p>
                      <a:pPr indent="114300" algn="just">
                        <a:spcAft>
                          <a:spcPts val="0"/>
                        </a:spcAft>
                      </a:pP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 &lt;FFPL&gt;.parameters;</a:t>
                      </a:r>
                    </a:p>
                    <a:p>
                      <a:pPr indent="114300" algn="just">
                        <a:spcAft>
                          <a:spcPts val="0"/>
                        </a:spcAft>
                      </a:pPr>
                      <a:r>
                        <a:rPr kumimoji="0" lang="en-US"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rPr>
                        <a:t>entry(id).para = &lt;FFPL&gt;.para;      }</a:t>
                      </a:r>
                      <a:endParaRPr kumimoji="0" lang="zh-CN" sz="1400" kern="100" dirty="0">
                        <a:solidFill>
                          <a:schemeClr val="dk1"/>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 name="矩形 1"/>
          <p:cNvSpPr/>
          <p:nvPr/>
        </p:nvSpPr>
        <p:spPr>
          <a:xfrm>
            <a:off x="5508104" y="4220170"/>
            <a:ext cx="2412268" cy="92333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buFontTx/>
              <a:buNone/>
              <a:defRPr/>
            </a:pPr>
            <a:r>
              <a:rPr lang="en-US" altLang="zh-CN" dirty="0" err="1"/>
              <a:t>VT.parameters</a:t>
            </a:r>
            <a:r>
              <a:rPr lang="en-US" altLang="zh-CN" dirty="0"/>
              <a:t>=1</a:t>
            </a:r>
          </a:p>
          <a:p>
            <a:pPr>
              <a:buFontTx/>
              <a:buNone/>
              <a:defRPr/>
            </a:pPr>
            <a:r>
              <a:rPr lang="en-US" altLang="zh-CN" dirty="0" err="1"/>
              <a:t>VT.type</a:t>
            </a:r>
            <a:r>
              <a:rPr lang="en-US" altLang="zh-CN" dirty="0"/>
              <a:t>=char</a:t>
            </a:r>
          </a:p>
          <a:p>
            <a:pPr>
              <a:buFontTx/>
              <a:buNone/>
              <a:defRPr/>
            </a:pPr>
            <a:r>
              <a:rPr lang="en-US" altLang="zh-CN" dirty="0" err="1"/>
              <a:t>VT.para</a:t>
            </a:r>
            <a:r>
              <a:rPr lang="en-US" altLang="zh-CN" dirty="0"/>
              <a:t>=char</a:t>
            </a:r>
            <a:endParaRPr lang="zh-CN" altLang="en-US" dirty="0"/>
          </a:p>
        </p:txBody>
      </p:sp>
      <p:sp>
        <p:nvSpPr>
          <p:cNvPr id="30" name="矩形 29"/>
          <p:cNvSpPr/>
          <p:nvPr/>
        </p:nvSpPr>
        <p:spPr>
          <a:xfrm>
            <a:off x="251520" y="4292178"/>
            <a:ext cx="1224136" cy="58382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251520" y="1179927"/>
            <a:ext cx="1224136" cy="58382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242432" y="3071924"/>
            <a:ext cx="1255610" cy="58382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241474" y="1794055"/>
            <a:ext cx="1256568" cy="58382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264818" y="2419970"/>
            <a:ext cx="1224136" cy="58382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273906" y="1199716"/>
            <a:ext cx="1224136" cy="58382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297250" y="1199716"/>
            <a:ext cx="1224136" cy="58382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217606" y="3708350"/>
            <a:ext cx="1280435" cy="29191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264818" y="1800774"/>
            <a:ext cx="1256568" cy="58382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5561510" y="4260926"/>
            <a:ext cx="2412268" cy="64633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buFontTx/>
              <a:buNone/>
              <a:defRPr/>
            </a:pPr>
            <a:r>
              <a:rPr lang="en-US" altLang="zh-CN" dirty="0" err="1"/>
              <a:t>FFP.parameters</a:t>
            </a:r>
            <a:r>
              <a:rPr lang="en-US" altLang="zh-CN" dirty="0"/>
              <a:t>=1</a:t>
            </a:r>
            <a:r>
              <a:rPr lang="zh-CN" altLang="zh-CN" dirty="0"/>
              <a:t>，</a:t>
            </a:r>
            <a:r>
              <a:rPr lang="en-US" altLang="zh-CN" dirty="0" err="1"/>
              <a:t>FFP.para</a:t>
            </a:r>
            <a:r>
              <a:rPr lang="en-US" altLang="zh-CN" dirty="0"/>
              <a:t>=char</a:t>
            </a:r>
            <a:endParaRPr lang="zh-CN" altLang="en-US" dirty="0"/>
          </a:p>
        </p:txBody>
      </p:sp>
      <p:sp>
        <p:nvSpPr>
          <p:cNvPr id="42" name="矩形 41"/>
          <p:cNvSpPr/>
          <p:nvPr/>
        </p:nvSpPr>
        <p:spPr>
          <a:xfrm>
            <a:off x="5567031" y="4260925"/>
            <a:ext cx="2412268" cy="64633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buFontTx/>
              <a:buNone/>
              <a:defRPr/>
            </a:pPr>
            <a:r>
              <a:rPr lang="en-US" altLang="zh-CN" dirty="0" err="1"/>
              <a:t>FFP.parameters</a:t>
            </a:r>
            <a:r>
              <a:rPr lang="en-US" altLang="zh-CN" dirty="0"/>
              <a:t>=2</a:t>
            </a:r>
            <a:r>
              <a:rPr lang="zh-CN" altLang="zh-CN" dirty="0"/>
              <a:t>，</a:t>
            </a:r>
            <a:r>
              <a:rPr lang="en-US" altLang="zh-CN" dirty="0" err="1"/>
              <a:t>FFP.para</a:t>
            </a:r>
            <a:r>
              <a:rPr lang="en-US" altLang="zh-CN" dirty="0"/>
              <a:t>=</a:t>
            </a:r>
            <a:r>
              <a:rPr lang="en-US" altLang="zh-CN" dirty="0" err="1"/>
              <a:t>char,int</a:t>
            </a:r>
            <a:endParaRPr lang="zh-CN" altLang="en-US" dirty="0"/>
          </a:p>
        </p:txBody>
      </p:sp>
      <p:sp>
        <p:nvSpPr>
          <p:cNvPr id="43" name="矩形 42"/>
          <p:cNvSpPr/>
          <p:nvPr/>
        </p:nvSpPr>
        <p:spPr>
          <a:xfrm>
            <a:off x="5516545" y="4260926"/>
            <a:ext cx="2681790" cy="64633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buFontTx/>
              <a:buNone/>
              <a:defRPr/>
            </a:pPr>
            <a:r>
              <a:rPr lang="en-US" altLang="zh-CN" dirty="0" err="1"/>
              <a:t>FFP.parameters</a:t>
            </a:r>
            <a:r>
              <a:rPr lang="en-US" altLang="zh-CN" dirty="0"/>
              <a:t>=3</a:t>
            </a:r>
            <a:r>
              <a:rPr lang="zh-CN" altLang="zh-CN" dirty="0"/>
              <a:t>，</a:t>
            </a:r>
            <a:r>
              <a:rPr lang="en-US" altLang="zh-CN" dirty="0" err="1"/>
              <a:t>FFP.para</a:t>
            </a:r>
            <a:r>
              <a:rPr lang="en-US" altLang="zh-CN" dirty="0"/>
              <a:t>=</a:t>
            </a:r>
            <a:r>
              <a:rPr lang="en-US" altLang="zh-CN" dirty="0" err="1"/>
              <a:t>char,int,int</a:t>
            </a:r>
            <a:endParaRPr lang="zh-CN" altLang="en-US" dirty="0"/>
          </a:p>
        </p:txBody>
      </p:sp>
      <p:sp>
        <p:nvSpPr>
          <p:cNvPr id="44" name="矩形 43"/>
          <p:cNvSpPr/>
          <p:nvPr/>
        </p:nvSpPr>
        <p:spPr>
          <a:xfrm>
            <a:off x="5523072" y="4260926"/>
            <a:ext cx="2681790" cy="64633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buFontTx/>
              <a:buNone/>
              <a:defRPr/>
            </a:pPr>
            <a:r>
              <a:rPr lang="en-US" altLang="zh-CN" dirty="0" err="1"/>
              <a:t>FFPL.parameters</a:t>
            </a:r>
            <a:r>
              <a:rPr lang="en-US" altLang="zh-CN" dirty="0"/>
              <a:t>=3</a:t>
            </a:r>
            <a:r>
              <a:rPr lang="zh-CN" altLang="zh-CN" dirty="0"/>
              <a:t>，</a:t>
            </a:r>
            <a:r>
              <a:rPr lang="en-US" altLang="zh-CN" dirty="0" err="1"/>
              <a:t>FFPL.para</a:t>
            </a:r>
            <a:r>
              <a:rPr lang="en-US" altLang="zh-CN" dirty="0"/>
              <a:t>=</a:t>
            </a:r>
            <a:r>
              <a:rPr lang="en-US" altLang="zh-CN" dirty="0" err="1"/>
              <a:t>char,int,int</a:t>
            </a:r>
            <a:endParaRPr lang="zh-CN" altLang="en-US" dirty="0"/>
          </a:p>
        </p:txBody>
      </p:sp>
    </p:spTree>
    <p:extLst>
      <p:ext uri="{BB962C8B-B14F-4D97-AF65-F5344CB8AC3E}">
        <p14:creationId xmlns:p14="http://schemas.microsoft.com/office/powerpoint/2010/main" val="4005474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0"/>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3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dow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39"/>
                                        </p:tgtEl>
                                        <p:attrNameLst>
                                          <p:attrName>style.visibility</p:attrName>
                                        </p:attrNameLst>
                                      </p:cBhvr>
                                      <p:to>
                                        <p:strVal val="hidden"/>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3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1" nodeType="clickEffect">
                                  <p:stCondLst>
                                    <p:cond delay="0"/>
                                  </p:stCondLst>
                                  <p:childTnLst>
                                    <p:set>
                                      <p:cBhvr>
                                        <p:cTn id="29" dur="1" fill="hold">
                                          <p:stCondLst>
                                            <p:cond delay="0"/>
                                          </p:stCondLst>
                                        </p:cTn>
                                        <p:tgtEl>
                                          <p:spTgt spid="34"/>
                                        </p:tgtEl>
                                        <p:attrNameLst>
                                          <p:attrName>style.visibility</p:attrName>
                                        </p:attrNameLst>
                                      </p:cBhvr>
                                      <p:to>
                                        <p:strVal val="hidden"/>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35"/>
                                        </p:tgtEl>
                                        <p:attrNameLst>
                                          <p:attrName>style.visibility</p:attrName>
                                        </p:attrNameLst>
                                      </p:cBhvr>
                                      <p:to>
                                        <p:strVal val="hidden"/>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3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down)">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33"/>
                                        </p:tgtEl>
                                        <p:attrNameLst>
                                          <p:attrName>style.visibility</p:attrName>
                                        </p:attrNameLst>
                                      </p:cBhvr>
                                      <p:to>
                                        <p:strVal val="hidden"/>
                                      </p:to>
                                    </p:set>
                                  </p:childTnLst>
                                </p:cTn>
                              </p:par>
                            </p:childTnLst>
                          </p:cTn>
                        </p:par>
                        <p:par>
                          <p:cTn id="49" fill="hold">
                            <p:stCondLst>
                              <p:cond delay="0"/>
                            </p:stCondLst>
                            <p:childTnLst>
                              <p:par>
                                <p:cTn id="50" presetID="1" presetClass="entr" presetSubtype="0" fill="hold" grpId="0" nodeType="afterEffect">
                                  <p:stCondLst>
                                    <p:cond delay="0"/>
                                  </p:stCondLst>
                                  <p:childTnLst>
                                    <p:set>
                                      <p:cBhvr>
                                        <p:cTn id="51" dur="1" fill="hold">
                                          <p:stCondLst>
                                            <p:cond delay="0"/>
                                          </p:stCondLst>
                                        </p:cTn>
                                        <p:tgtEl>
                                          <p:spTgt spid="4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grpId="1" nodeType="clickEffect">
                                  <p:stCondLst>
                                    <p:cond delay="0"/>
                                  </p:stCondLst>
                                  <p:childTnLst>
                                    <p:set>
                                      <p:cBhvr>
                                        <p:cTn id="55" dur="1" fill="hold">
                                          <p:stCondLst>
                                            <p:cond delay="0"/>
                                          </p:stCondLst>
                                        </p:cTn>
                                        <p:tgtEl>
                                          <p:spTgt spid="40"/>
                                        </p:tgtEl>
                                        <p:attrNameLst>
                                          <p:attrName>style.visibility</p:attrName>
                                        </p:attrNameLst>
                                      </p:cBhvr>
                                      <p:to>
                                        <p:strVal val="hidden"/>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wipe(down)">
                                      <p:cBhvr>
                                        <p:cTn id="63" dur="500"/>
                                        <p:tgtEl>
                                          <p:spTgt spid="15"/>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1" nodeType="clickEffect">
                                  <p:stCondLst>
                                    <p:cond delay="0"/>
                                  </p:stCondLst>
                                  <p:childTnLst>
                                    <p:set>
                                      <p:cBhvr>
                                        <p:cTn id="67" dur="1" fill="hold">
                                          <p:stCondLst>
                                            <p:cond delay="0"/>
                                          </p:stCondLst>
                                        </p:cTn>
                                        <p:tgtEl>
                                          <p:spTgt spid="38"/>
                                        </p:tgtEl>
                                        <p:attrNameLst>
                                          <p:attrName>style.visibility</p:attrName>
                                        </p:attrNameLst>
                                      </p:cBhvr>
                                      <p:to>
                                        <p:strVal val="hidden"/>
                                      </p:to>
                                    </p:set>
                                  </p:childTnLst>
                                </p:cTn>
                              </p:par>
                            </p:childTnLst>
                          </p:cTn>
                        </p:par>
                        <p:par>
                          <p:cTn id="68" fill="hold">
                            <p:stCondLst>
                              <p:cond delay="0"/>
                            </p:stCondLst>
                            <p:childTnLst>
                              <p:par>
                                <p:cTn id="69" presetID="1" presetClass="entr" presetSubtype="0" fill="hold" grpId="0" nodeType="after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36"/>
                                        </p:tgtEl>
                                        <p:attrNameLst>
                                          <p:attrName>style.visibility</p:attrName>
                                        </p:attrNameLst>
                                      </p:cBhvr>
                                      <p:to>
                                        <p:strVal val="hidden"/>
                                      </p:to>
                                    </p:set>
                                  </p:childTnLst>
                                </p:cTn>
                              </p:par>
                            </p:childTnLst>
                          </p:cTn>
                        </p:par>
                        <p:par>
                          <p:cTn id="75" fill="hold">
                            <p:stCondLst>
                              <p:cond delay="0"/>
                            </p:stCondLst>
                            <p:childTnLst>
                              <p:par>
                                <p:cTn id="76" presetID="1" presetClass="entr" presetSubtype="0" fill="hold" grpId="0" nodeType="afterEffect">
                                  <p:stCondLst>
                                    <p:cond delay="0"/>
                                  </p:stCondLst>
                                  <p:childTnLst>
                                    <p:set>
                                      <p:cBhvr>
                                        <p:cTn id="77" dur="1" fill="hold">
                                          <p:stCondLst>
                                            <p:cond delay="0"/>
                                          </p:stCondLst>
                                        </p:cTn>
                                        <p:tgtEl>
                                          <p:spTgt spid="37"/>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xit" presetSubtype="0" fill="hold" grpId="1" nodeType="clickEffect">
                                  <p:stCondLst>
                                    <p:cond delay="0"/>
                                  </p:stCondLst>
                                  <p:childTnLst>
                                    <p:set>
                                      <p:cBhvr>
                                        <p:cTn id="81" dur="1" fill="hold">
                                          <p:stCondLst>
                                            <p:cond delay="0"/>
                                          </p:stCondLst>
                                        </p:cTn>
                                        <p:tgtEl>
                                          <p:spTgt spid="37"/>
                                        </p:tgtEl>
                                        <p:attrNameLst>
                                          <p:attrName>style.visibility</p:attrName>
                                        </p:attrNameLst>
                                      </p:cBhvr>
                                      <p:to>
                                        <p:strVal val="hidden"/>
                                      </p:to>
                                    </p:set>
                                  </p:childTnLst>
                                </p:cTn>
                              </p:par>
                            </p:childTnLst>
                          </p:cTn>
                        </p:par>
                        <p:par>
                          <p:cTn id="82" fill="hold">
                            <p:stCondLst>
                              <p:cond delay="0"/>
                            </p:stCondLst>
                            <p:childTnLst>
                              <p:par>
                                <p:cTn id="83" presetID="22" presetClass="entr" presetSubtype="4" fill="hold" nodeType="afterEffect">
                                  <p:stCondLst>
                                    <p:cond delay="0"/>
                                  </p:stCondLst>
                                  <p:childTnLst>
                                    <p:set>
                                      <p:cBhvr>
                                        <p:cTn id="84" dur="1" fill="hold">
                                          <p:stCondLst>
                                            <p:cond delay="0"/>
                                          </p:stCondLst>
                                        </p:cTn>
                                        <p:tgtEl>
                                          <p:spTgt spid="16"/>
                                        </p:tgtEl>
                                        <p:attrNameLst>
                                          <p:attrName>style.visibility</p:attrName>
                                        </p:attrNameLst>
                                      </p:cBhvr>
                                      <p:to>
                                        <p:strVal val="visible"/>
                                      </p:to>
                                    </p:set>
                                    <p:animEffect transition="in" filter="wipe(down)">
                                      <p:cBhvr>
                                        <p:cTn id="85" dur="500"/>
                                        <p:tgtEl>
                                          <p:spTgt spid="16"/>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2"/>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nodeType="clickEffect">
                                  <p:stCondLst>
                                    <p:cond delay="0"/>
                                  </p:stCondLst>
                                  <p:childTnLst>
                                    <p:set>
                                      <p:cBhvr>
                                        <p:cTn id="93" dur="1" fill="hold">
                                          <p:stCondLst>
                                            <p:cond delay="0"/>
                                          </p:stCondLst>
                                        </p:cTn>
                                        <p:tgtEl>
                                          <p:spTgt spid="17"/>
                                        </p:tgtEl>
                                        <p:attrNameLst>
                                          <p:attrName>style.visibility</p:attrName>
                                        </p:attrNameLst>
                                      </p:cBhvr>
                                      <p:to>
                                        <p:strVal val="visible"/>
                                      </p:to>
                                    </p:set>
                                    <p:animEffect transition="in" filter="wipe(down)">
                                      <p:cBhvr>
                                        <p:cTn id="94" dur="500"/>
                                        <p:tgtEl>
                                          <p:spTgt spid="17"/>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xit" presetSubtype="0" fill="hold" grpId="1" nodeType="clickEffect">
                                  <p:stCondLst>
                                    <p:cond delay="0"/>
                                  </p:stCondLst>
                                  <p:childTnLst>
                                    <p:set>
                                      <p:cBhvr>
                                        <p:cTn id="98" dur="1" fill="hold">
                                          <p:stCondLst>
                                            <p:cond delay="0"/>
                                          </p:stCondLst>
                                        </p:cTn>
                                        <p:tgtEl>
                                          <p:spTgt spid="2"/>
                                        </p:tgtEl>
                                        <p:attrNameLst>
                                          <p:attrName>style.visibility</p:attrName>
                                        </p:attrNameLst>
                                      </p:cBhvr>
                                      <p:to>
                                        <p:strVal val="hidden"/>
                                      </p:to>
                                    </p:set>
                                  </p:childTnLst>
                                </p:cTn>
                              </p:par>
                            </p:childTnLst>
                          </p:cTn>
                        </p:par>
                        <p:par>
                          <p:cTn id="99" fill="hold">
                            <p:stCondLst>
                              <p:cond delay="0"/>
                            </p:stCondLst>
                            <p:childTnLst>
                              <p:par>
                                <p:cTn id="100" presetID="1" presetClass="entr" presetSubtype="0" fill="hold" grpId="0" nodeType="afterEffect">
                                  <p:stCondLst>
                                    <p:cond delay="0"/>
                                  </p:stCondLst>
                                  <p:childTnLst>
                                    <p:set>
                                      <p:cBhvr>
                                        <p:cTn id="101" dur="1" fill="hold">
                                          <p:stCondLst>
                                            <p:cond delay="0"/>
                                          </p:stCondLst>
                                        </p:cTn>
                                        <p:tgtEl>
                                          <p:spTgt spid="41"/>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4" fill="hold" nodeType="clickEffect">
                                  <p:stCondLst>
                                    <p:cond delay="0"/>
                                  </p:stCondLst>
                                  <p:childTnLst>
                                    <p:set>
                                      <p:cBhvr>
                                        <p:cTn id="105" dur="1" fill="hold">
                                          <p:stCondLst>
                                            <p:cond delay="0"/>
                                          </p:stCondLst>
                                        </p:cTn>
                                        <p:tgtEl>
                                          <p:spTgt spid="18"/>
                                        </p:tgtEl>
                                        <p:attrNameLst>
                                          <p:attrName>style.visibility</p:attrName>
                                        </p:attrNameLst>
                                      </p:cBhvr>
                                      <p:to>
                                        <p:strVal val="visible"/>
                                      </p:to>
                                    </p:set>
                                    <p:animEffect transition="in" filter="wipe(down)">
                                      <p:cBhvr>
                                        <p:cTn id="106" dur="500"/>
                                        <p:tgtEl>
                                          <p:spTgt spid="18"/>
                                        </p:tgtEl>
                                      </p:cBhvr>
                                    </p:animEffect>
                                  </p:childTnLst>
                                </p:cTn>
                              </p:par>
                              <p:par>
                                <p:cTn id="107" presetID="22" presetClass="entr" presetSubtype="4" fill="hold" nodeType="withEffect">
                                  <p:stCondLst>
                                    <p:cond delay="0"/>
                                  </p:stCondLst>
                                  <p:childTnLst>
                                    <p:set>
                                      <p:cBhvr>
                                        <p:cTn id="108" dur="1" fill="hold">
                                          <p:stCondLst>
                                            <p:cond delay="0"/>
                                          </p:stCondLst>
                                        </p:cTn>
                                        <p:tgtEl>
                                          <p:spTgt spid="19"/>
                                        </p:tgtEl>
                                        <p:attrNameLst>
                                          <p:attrName>style.visibility</p:attrName>
                                        </p:attrNameLst>
                                      </p:cBhvr>
                                      <p:to>
                                        <p:strVal val="visible"/>
                                      </p:to>
                                    </p:set>
                                    <p:animEffect transition="in" filter="wipe(down)">
                                      <p:cBhvr>
                                        <p:cTn id="109" dur="500"/>
                                        <p:tgtEl>
                                          <p:spTgt spid="19"/>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xit" presetSubtype="0" fill="hold" grpId="1" nodeType="clickEffect">
                                  <p:stCondLst>
                                    <p:cond delay="0"/>
                                  </p:stCondLst>
                                  <p:childTnLst>
                                    <p:set>
                                      <p:cBhvr>
                                        <p:cTn id="113" dur="1" fill="hold">
                                          <p:stCondLst>
                                            <p:cond delay="0"/>
                                          </p:stCondLst>
                                        </p:cTn>
                                        <p:tgtEl>
                                          <p:spTgt spid="41"/>
                                        </p:tgtEl>
                                        <p:attrNameLst>
                                          <p:attrName>style.visibility</p:attrName>
                                        </p:attrNameLst>
                                      </p:cBhvr>
                                      <p:to>
                                        <p:strVal val="hidden"/>
                                      </p:to>
                                    </p:set>
                                  </p:childTnLst>
                                </p:cTn>
                              </p:par>
                            </p:childTnLst>
                          </p:cTn>
                        </p:par>
                        <p:par>
                          <p:cTn id="114" fill="hold">
                            <p:stCondLst>
                              <p:cond delay="0"/>
                            </p:stCondLst>
                            <p:childTnLst>
                              <p:par>
                                <p:cTn id="115" presetID="1" presetClass="entr" presetSubtype="0" fill="hold" grpId="0" nodeType="afterEffect">
                                  <p:stCondLst>
                                    <p:cond delay="0"/>
                                  </p:stCondLst>
                                  <p:childTnLst>
                                    <p:set>
                                      <p:cBhvr>
                                        <p:cTn id="116" dur="1" fill="hold">
                                          <p:stCondLst>
                                            <p:cond delay="0"/>
                                          </p:stCondLst>
                                        </p:cTn>
                                        <p:tgtEl>
                                          <p:spTgt spid="42"/>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22" presetClass="entr" presetSubtype="4" fill="hold" nodeType="clickEffect">
                                  <p:stCondLst>
                                    <p:cond delay="0"/>
                                  </p:stCondLst>
                                  <p:childTnLst>
                                    <p:set>
                                      <p:cBhvr>
                                        <p:cTn id="120" dur="1" fill="hold">
                                          <p:stCondLst>
                                            <p:cond delay="0"/>
                                          </p:stCondLst>
                                        </p:cTn>
                                        <p:tgtEl>
                                          <p:spTgt spid="20"/>
                                        </p:tgtEl>
                                        <p:attrNameLst>
                                          <p:attrName>style.visibility</p:attrName>
                                        </p:attrNameLst>
                                      </p:cBhvr>
                                      <p:to>
                                        <p:strVal val="visible"/>
                                      </p:to>
                                    </p:set>
                                    <p:animEffect transition="in" filter="wipe(down)">
                                      <p:cBhvr>
                                        <p:cTn id="121" dur="500"/>
                                        <p:tgtEl>
                                          <p:spTgt spid="20"/>
                                        </p:tgtEl>
                                      </p:cBhvr>
                                    </p:animEffect>
                                  </p:childTnLst>
                                </p:cTn>
                              </p:par>
                              <p:par>
                                <p:cTn id="122" presetID="22" presetClass="entr" presetSubtype="4" fill="hold" nodeType="withEffect">
                                  <p:stCondLst>
                                    <p:cond delay="0"/>
                                  </p:stCondLst>
                                  <p:childTnLst>
                                    <p:set>
                                      <p:cBhvr>
                                        <p:cTn id="123" dur="1" fill="hold">
                                          <p:stCondLst>
                                            <p:cond delay="0"/>
                                          </p:stCondLst>
                                        </p:cTn>
                                        <p:tgtEl>
                                          <p:spTgt spid="21"/>
                                        </p:tgtEl>
                                        <p:attrNameLst>
                                          <p:attrName>style.visibility</p:attrName>
                                        </p:attrNameLst>
                                      </p:cBhvr>
                                      <p:to>
                                        <p:strVal val="visible"/>
                                      </p:to>
                                    </p:set>
                                    <p:animEffect transition="in" filter="wipe(down)">
                                      <p:cBhvr>
                                        <p:cTn id="124" dur="500"/>
                                        <p:tgtEl>
                                          <p:spTgt spid="21"/>
                                        </p:tgtEl>
                                      </p:cBhvr>
                                    </p:animEffect>
                                  </p:childTnLst>
                                </p:cTn>
                              </p:par>
                            </p:childTnLst>
                          </p:cTn>
                        </p:par>
                      </p:childTnLst>
                    </p:cTn>
                  </p:par>
                  <p:par>
                    <p:cTn id="125" fill="hold">
                      <p:stCondLst>
                        <p:cond delay="indefinite"/>
                      </p:stCondLst>
                      <p:childTnLst>
                        <p:par>
                          <p:cTn id="126" fill="hold">
                            <p:stCondLst>
                              <p:cond delay="0"/>
                            </p:stCondLst>
                            <p:childTnLst>
                              <p:par>
                                <p:cTn id="127" presetID="1" presetClass="exit" presetSubtype="0" fill="hold" grpId="1" nodeType="clickEffect">
                                  <p:stCondLst>
                                    <p:cond delay="0"/>
                                  </p:stCondLst>
                                  <p:childTnLst>
                                    <p:set>
                                      <p:cBhvr>
                                        <p:cTn id="128" dur="1" fill="hold">
                                          <p:stCondLst>
                                            <p:cond delay="0"/>
                                          </p:stCondLst>
                                        </p:cTn>
                                        <p:tgtEl>
                                          <p:spTgt spid="42"/>
                                        </p:tgtEl>
                                        <p:attrNameLst>
                                          <p:attrName>style.visibility</p:attrName>
                                        </p:attrNameLst>
                                      </p:cBhvr>
                                      <p:to>
                                        <p:strVal val="hidden"/>
                                      </p:to>
                                    </p:set>
                                  </p:childTnLst>
                                </p:cTn>
                              </p:par>
                            </p:childTnLst>
                          </p:cTn>
                        </p:par>
                        <p:par>
                          <p:cTn id="129" fill="hold">
                            <p:stCondLst>
                              <p:cond delay="0"/>
                            </p:stCondLst>
                            <p:childTnLst>
                              <p:par>
                                <p:cTn id="130" presetID="1" presetClass="entr" presetSubtype="0" fill="hold" grpId="0" nodeType="afterEffect">
                                  <p:stCondLst>
                                    <p:cond delay="0"/>
                                  </p:stCondLst>
                                  <p:childTnLst>
                                    <p:set>
                                      <p:cBhvr>
                                        <p:cTn id="131" dur="1" fill="hold">
                                          <p:stCondLst>
                                            <p:cond delay="0"/>
                                          </p:stCondLst>
                                        </p:cTn>
                                        <p:tgtEl>
                                          <p:spTgt spid="43"/>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22" presetClass="entr" presetSubtype="4" fill="hold" nodeType="clickEffect">
                                  <p:stCondLst>
                                    <p:cond delay="0"/>
                                  </p:stCondLst>
                                  <p:childTnLst>
                                    <p:set>
                                      <p:cBhvr>
                                        <p:cTn id="135" dur="1" fill="hold">
                                          <p:stCondLst>
                                            <p:cond delay="0"/>
                                          </p:stCondLst>
                                        </p:cTn>
                                        <p:tgtEl>
                                          <p:spTgt spid="22"/>
                                        </p:tgtEl>
                                        <p:attrNameLst>
                                          <p:attrName>style.visibility</p:attrName>
                                        </p:attrNameLst>
                                      </p:cBhvr>
                                      <p:to>
                                        <p:strVal val="visible"/>
                                      </p:to>
                                    </p:set>
                                    <p:animEffect transition="in" filter="wipe(down)">
                                      <p:cBhvr>
                                        <p:cTn id="136" dur="500"/>
                                        <p:tgtEl>
                                          <p:spTgt spid="22"/>
                                        </p:tgtEl>
                                      </p:cBhvr>
                                    </p:animEffect>
                                  </p:childTnLst>
                                </p:cTn>
                              </p:par>
                            </p:childTnLst>
                          </p:cTn>
                        </p:par>
                      </p:childTnLst>
                    </p:cTn>
                  </p:par>
                  <p:par>
                    <p:cTn id="137" fill="hold">
                      <p:stCondLst>
                        <p:cond delay="indefinite"/>
                      </p:stCondLst>
                      <p:childTnLst>
                        <p:par>
                          <p:cTn id="138" fill="hold">
                            <p:stCondLst>
                              <p:cond delay="0"/>
                            </p:stCondLst>
                            <p:childTnLst>
                              <p:par>
                                <p:cTn id="139" presetID="1" presetClass="exit" presetSubtype="0" fill="hold" grpId="1" nodeType="clickEffect">
                                  <p:stCondLst>
                                    <p:cond delay="0"/>
                                  </p:stCondLst>
                                  <p:childTnLst>
                                    <p:set>
                                      <p:cBhvr>
                                        <p:cTn id="140" dur="1" fill="hold">
                                          <p:stCondLst>
                                            <p:cond delay="0"/>
                                          </p:stCondLst>
                                        </p:cTn>
                                        <p:tgtEl>
                                          <p:spTgt spid="43"/>
                                        </p:tgtEl>
                                        <p:attrNameLst>
                                          <p:attrName>style.visibility</p:attrName>
                                        </p:attrNameLst>
                                      </p:cBhvr>
                                      <p:to>
                                        <p:strVal val="hidden"/>
                                      </p:to>
                                    </p:set>
                                  </p:childTnLst>
                                </p:cTn>
                              </p:par>
                            </p:childTnLst>
                          </p:cTn>
                        </p:par>
                        <p:par>
                          <p:cTn id="141" fill="hold">
                            <p:stCondLst>
                              <p:cond delay="0"/>
                            </p:stCondLst>
                            <p:childTnLst>
                              <p:par>
                                <p:cTn id="142" presetID="1" presetClass="entr" presetSubtype="0" fill="hold" grpId="0" nodeType="afterEffect">
                                  <p:stCondLst>
                                    <p:cond delay="0"/>
                                  </p:stCondLst>
                                  <p:childTnLst>
                                    <p:set>
                                      <p:cBhvr>
                                        <p:cTn id="143" dur="1" fill="hold">
                                          <p:stCondLst>
                                            <p:cond delay="0"/>
                                          </p:stCondLst>
                                        </p:cTn>
                                        <p:tgtEl>
                                          <p:spTgt spid="44"/>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nodeType="clickEffect">
                                  <p:stCondLst>
                                    <p:cond delay="0"/>
                                  </p:stCondLst>
                                  <p:childTnLst>
                                    <p:set>
                                      <p:cBhvr>
                                        <p:cTn id="14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0" grpId="0" animBg="1"/>
      <p:bldP spid="30" grpId="1"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42" grpId="0" animBg="1"/>
      <p:bldP spid="42" grpId="1" animBg="1"/>
      <p:bldP spid="43" grpId="0" animBg="1"/>
      <p:bldP spid="43" grpId="1" animBg="1"/>
      <p:bldP spid="44"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normAutofit fontScale="90000"/>
          </a:bodyPr>
          <a:lstStyle/>
          <a:p>
            <a:r>
              <a:rPr lang="zh-CN" altLang="en-US" dirty="0"/>
              <a:t>语义规则（适合自上而下分析）</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750547421"/>
              </p:ext>
            </p:extLst>
          </p:nvPr>
        </p:nvGraphicFramePr>
        <p:xfrm>
          <a:off x="1" y="699542"/>
          <a:ext cx="9143999" cy="4174976"/>
        </p:xfrm>
        <a:graphic>
          <a:graphicData uri="http://schemas.openxmlformats.org/drawingml/2006/table">
            <a:tbl>
              <a:tblPr>
                <a:tableStyleId>{5C22544A-7EE6-4342-B048-85BDC9FD1C3A}</a:tableStyleId>
              </a:tblPr>
              <a:tblGrid>
                <a:gridCol w="683567">
                  <a:extLst>
                    <a:ext uri="{9D8B030D-6E8A-4147-A177-3AD203B41FA5}">
                      <a16:colId xmlns:a16="http://schemas.microsoft.com/office/drawing/2014/main" val="20000"/>
                    </a:ext>
                  </a:extLst>
                </a:gridCol>
                <a:gridCol w="2594760">
                  <a:extLst>
                    <a:ext uri="{9D8B030D-6E8A-4147-A177-3AD203B41FA5}">
                      <a16:colId xmlns:a16="http://schemas.microsoft.com/office/drawing/2014/main" val="20001"/>
                    </a:ext>
                  </a:extLst>
                </a:gridCol>
                <a:gridCol w="5865672">
                  <a:extLst>
                    <a:ext uri="{9D8B030D-6E8A-4147-A177-3AD203B41FA5}">
                      <a16:colId xmlns:a16="http://schemas.microsoft.com/office/drawing/2014/main" val="20002"/>
                    </a:ext>
                  </a:extLst>
                </a:gridCol>
              </a:tblGrid>
              <a:tr h="228600">
                <a:tc>
                  <a:txBody>
                    <a:bodyPr/>
                    <a:lstStyle/>
                    <a:p>
                      <a:pPr algn="ctr">
                        <a:spcAft>
                          <a:spcPts val="0"/>
                        </a:spcAft>
                      </a:pPr>
                      <a:r>
                        <a:rPr lang="zh-CN" sz="1600" kern="100" dirty="0">
                          <a:effectLst/>
                          <a:latin typeface="宋体" panose="02010600030101010101" pitchFamily="2" charset="-122"/>
                          <a:ea typeface="宋体" panose="02010600030101010101" pitchFamily="2" charset="-122"/>
                        </a:rPr>
                        <a:t>编号</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600" kern="100">
                          <a:effectLst/>
                          <a:latin typeface="宋体" panose="02010600030101010101" pitchFamily="2" charset="-122"/>
                          <a:ea typeface="宋体" panose="02010600030101010101" pitchFamily="2" charset="-122"/>
                        </a:rPr>
                        <a:t>产生式</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600" kern="100">
                          <a:effectLst/>
                          <a:latin typeface="宋体" panose="02010600030101010101" pitchFamily="2" charset="-122"/>
                          <a:ea typeface="宋体" panose="02010600030101010101" pitchFamily="2" charset="-122"/>
                        </a:rPr>
                        <a:t>语义规则</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64272">
                <a:tc>
                  <a:txBody>
                    <a:bodyPr/>
                    <a:lstStyle/>
                    <a:p>
                      <a:pPr algn="just">
                        <a:spcAft>
                          <a:spcPts val="0"/>
                        </a:spcAft>
                      </a:pPr>
                      <a:r>
                        <a:rPr lang="zh-CN" sz="1600" kern="100" dirty="0">
                          <a:effectLst/>
                          <a:latin typeface="宋体" panose="02010600030101010101" pitchFamily="2" charset="-122"/>
                          <a:ea typeface="宋体" panose="02010600030101010101" pitchFamily="2" charset="-122"/>
                        </a:rPr>
                        <a:t>（</a:t>
                      </a:r>
                      <a:r>
                        <a:rPr lang="en-US" sz="1600" kern="100" dirty="0">
                          <a:effectLst/>
                          <a:latin typeface="宋体" panose="02010600030101010101" pitchFamily="2" charset="-122"/>
                          <a:ea typeface="宋体" panose="02010600030101010101" pitchFamily="2" charset="-122"/>
                        </a:rPr>
                        <a:t>6</a:t>
                      </a:r>
                      <a:r>
                        <a:rPr lang="zh-CN" sz="1600" kern="100" dirty="0">
                          <a:effectLst/>
                          <a:latin typeface="宋体" panose="02010600030101010101" pitchFamily="2" charset="-122"/>
                          <a:ea typeface="宋体" panose="02010600030101010101" pitchFamily="2" charset="-122"/>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600" kern="100">
                          <a:solidFill>
                            <a:schemeClr val="dk1"/>
                          </a:solidFill>
                          <a:effectLst/>
                          <a:latin typeface="宋体" panose="02010600030101010101" pitchFamily="2" charset="-122"/>
                          <a:ea typeface="宋体" panose="02010600030101010101" pitchFamily="2" charset="-122"/>
                          <a:cs typeface="+mn-cs"/>
                        </a:rPr>
                        <a:t>&lt; VT &gt;→int</a:t>
                      </a:r>
                      <a:endParaRPr kumimoji="0" lang="zh-CN" sz="1600" kern="100">
                        <a:solidFill>
                          <a:schemeClr val="dk1"/>
                        </a:solidFill>
                        <a:effectLst/>
                        <a:latin typeface="宋体" panose="02010600030101010101" pitchFamily="2" charset="-122"/>
                        <a:ea typeface="宋体" panose="02010600030101010101"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600" kern="100" dirty="0">
                          <a:solidFill>
                            <a:schemeClr val="dk1"/>
                          </a:solidFill>
                          <a:effectLst/>
                          <a:latin typeface="宋体" panose="02010600030101010101" pitchFamily="2" charset="-122"/>
                          <a:ea typeface="宋体" panose="02010600030101010101" pitchFamily="2" charset="-122"/>
                          <a:cs typeface="+mn-cs"/>
                        </a:rPr>
                        <a:t>{  &lt; VT &gt;.type = </a:t>
                      </a:r>
                      <a:r>
                        <a:rPr kumimoji="0" lang="en-US" sz="1600" kern="100" dirty="0" err="1">
                          <a:solidFill>
                            <a:schemeClr val="dk1"/>
                          </a:solidFill>
                          <a:effectLst/>
                          <a:latin typeface="宋体" panose="02010600030101010101" pitchFamily="2" charset="-122"/>
                          <a:ea typeface="宋体" panose="02010600030101010101" pitchFamily="2" charset="-122"/>
                          <a:cs typeface="+mn-cs"/>
                        </a:rPr>
                        <a:t>int</a:t>
                      </a:r>
                      <a:r>
                        <a:rPr kumimoji="0" lang="en-US" sz="1600" kern="100" dirty="0">
                          <a:solidFill>
                            <a:schemeClr val="dk1"/>
                          </a:solidFill>
                          <a:effectLst/>
                          <a:latin typeface="宋体" panose="02010600030101010101" pitchFamily="2" charset="-122"/>
                          <a:ea typeface="宋体" panose="02010600030101010101" pitchFamily="2" charset="-122"/>
                          <a:cs typeface="+mn-cs"/>
                        </a:rPr>
                        <a:t>;</a:t>
                      </a:r>
                      <a:endParaRPr kumimoji="0" lang="zh-CN" sz="1600" kern="100" dirty="0">
                        <a:solidFill>
                          <a:schemeClr val="dk1"/>
                        </a:solidFill>
                        <a:effectLst/>
                        <a:latin typeface="宋体" panose="02010600030101010101" pitchFamily="2" charset="-122"/>
                        <a:ea typeface="宋体" panose="02010600030101010101" pitchFamily="2" charset="-122"/>
                        <a:cs typeface="+mn-cs"/>
                      </a:endParaRPr>
                    </a:p>
                    <a:p>
                      <a:pPr algn="just">
                        <a:spcAft>
                          <a:spcPts val="0"/>
                        </a:spcAft>
                      </a:pPr>
                      <a:r>
                        <a:rPr kumimoji="0" lang="en-US" sz="1600" kern="100" dirty="0">
                          <a:solidFill>
                            <a:schemeClr val="dk1"/>
                          </a:solidFill>
                          <a:effectLst/>
                          <a:latin typeface="宋体" panose="02010600030101010101" pitchFamily="2" charset="-122"/>
                          <a:ea typeface="宋体" panose="02010600030101010101" pitchFamily="2" charset="-122"/>
                          <a:cs typeface="+mn-cs"/>
                        </a:rPr>
                        <a:t>   &lt; VT &gt;.parameters = 1;</a:t>
                      </a:r>
                      <a:endParaRPr kumimoji="0" lang="zh-CN" sz="1600" kern="100" dirty="0">
                        <a:solidFill>
                          <a:schemeClr val="dk1"/>
                        </a:solidFill>
                        <a:effectLst/>
                        <a:latin typeface="宋体" panose="02010600030101010101" pitchFamily="2" charset="-122"/>
                        <a:ea typeface="宋体" panose="02010600030101010101" pitchFamily="2" charset="-122"/>
                        <a:cs typeface="+mn-cs"/>
                      </a:endParaRPr>
                    </a:p>
                    <a:p>
                      <a:pPr indent="171450" algn="just">
                        <a:spcAft>
                          <a:spcPts val="0"/>
                        </a:spcAft>
                      </a:pPr>
                      <a:r>
                        <a:rPr kumimoji="0" lang="en-US" sz="1600" kern="100" dirty="0">
                          <a:solidFill>
                            <a:schemeClr val="dk1"/>
                          </a:solidFill>
                          <a:effectLst/>
                          <a:latin typeface="宋体" panose="02010600030101010101" pitchFamily="2" charset="-122"/>
                          <a:ea typeface="宋体" panose="02010600030101010101" pitchFamily="2" charset="-122"/>
                          <a:cs typeface="+mn-cs"/>
                        </a:rPr>
                        <a:t> &lt; VT &gt;.para =</a:t>
                      </a:r>
                      <a:r>
                        <a:rPr kumimoji="0" lang="en-US" sz="1600" kern="100" dirty="0" err="1">
                          <a:solidFill>
                            <a:schemeClr val="dk1"/>
                          </a:solidFill>
                          <a:effectLst/>
                          <a:latin typeface="宋体" panose="02010600030101010101" pitchFamily="2" charset="-122"/>
                          <a:ea typeface="宋体" panose="02010600030101010101" pitchFamily="2" charset="-122"/>
                          <a:cs typeface="+mn-cs"/>
                        </a:rPr>
                        <a:t>int</a:t>
                      </a:r>
                      <a:r>
                        <a:rPr kumimoji="0" lang="en-US" sz="1600" kern="100" dirty="0">
                          <a:solidFill>
                            <a:schemeClr val="dk1"/>
                          </a:solidFill>
                          <a:effectLst/>
                          <a:latin typeface="宋体" panose="02010600030101010101" pitchFamily="2" charset="-122"/>
                          <a:ea typeface="宋体" panose="02010600030101010101" pitchFamily="2" charset="-122"/>
                          <a:cs typeface="+mn-cs"/>
                        </a:rPr>
                        <a:t>;  //</a:t>
                      </a:r>
                      <a:r>
                        <a:rPr kumimoji="0" lang="zh-CN" sz="1600" kern="100" dirty="0">
                          <a:solidFill>
                            <a:schemeClr val="dk1"/>
                          </a:solidFill>
                          <a:effectLst/>
                          <a:latin typeface="宋体" panose="02010600030101010101" pitchFamily="2" charset="-122"/>
                          <a:ea typeface="宋体" panose="02010600030101010101" pitchFamily="2" charset="-122"/>
                          <a:cs typeface="+mn-cs"/>
                        </a:rPr>
                        <a:t>符号表中对应该参数</a:t>
                      </a:r>
                      <a:r>
                        <a:rPr kumimoji="0" lang="en-US" sz="1600" kern="100" dirty="0">
                          <a:solidFill>
                            <a:schemeClr val="dk1"/>
                          </a:solidFill>
                          <a:effectLst/>
                          <a:latin typeface="宋体" panose="02010600030101010101" pitchFamily="2" charset="-122"/>
                          <a:ea typeface="宋体" panose="02010600030101010101" pitchFamily="2" charset="-122"/>
                          <a:cs typeface="+mn-cs"/>
                        </a:rPr>
                        <a:t>para</a:t>
                      </a:r>
                      <a:r>
                        <a:rPr kumimoji="0" lang="zh-CN" sz="1600" kern="100" dirty="0">
                          <a:solidFill>
                            <a:schemeClr val="dk1"/>
                          </a:solidFill>
                          <a:effectLst/>
                          <a:latin typeface="宋体" panose="02010600030101010101" pitchFamily="2" charset="-122"/>
                          <a:ea typeface="宋体" panose="02010600030101010101" pitchFamily="2" charset="-122"/>
                          <a:cs typeface="+mn-cs"/>
                        </a:rPr>
                        <a:t>的类型</a:t>
                      </a:r>
                      <a:r>
                        <a:rPr kumimoji="0" lang="en-US" sz="1600" kern="100" dirty="0">
                          <a:solidFill>
                            <a:schemeClr val="dk1"/>
                          </a:solidFill>
                          <a:effectLst/>
                          <a:latin typeface="宋体" panose="02010600030101010101" pitchFamily="2" charset="-122"/>
                          <a:ea typeface="宋体" panose="02010600030101010101" pitchFamily="2" charset="-122"/>
                          <a:cs typeface="+mn-cs"/>
                        </a:rPr>
                        <a:t> }</a:t>
                      </a:r>
                      <a:endParaRPr kumimoji="0" lang="zh-CN" sz="1600" kern="100" dirty="0">
                        <a:solidFill>
                          <a:schemeClr val="dk1"/>
                        </a:solidFill>
                        <a:effectLst/>
                        <a:latin typeface="宋体" panose="02010600030101010101" pitchFamily="2" charset="-122"/>
                        <a:ea typeface="宋体" panose="02010600030101010101"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76064">
                <a:tc>
                  <a:txBody>
                    <a:bodyPr/>
                    <a:lstStyle/>
                    <a:p>
                      <a:pPr algn="just">
                        <a:spcAft>
                          <a:spcPts val="0"/>
                        </a:spcAft>
                      </a:pPr>
                      <a:r>
                        <a:rPr lang="zh-CN" sz="1600" kern="100">
                          <a:effectLst/>
                          <a:latin typeface="宋体" panose="02010600030101010101" pitchFamily="2" charset="-122"/>
                          <a:ea typeface="宋体" panose="02010600030101010101" pitchFamily="2" charset="-122"/>
                        </a:rPr>
                        <a:t>（</a:t>
                      </a:r>
                      <a:r>
                        <a:rPr lang="en-US" sz="1600" kern="100">
                          <a:effectLst/>
                          <a:latin typeface="宋体" panose="02010600030101010101" pitchFamily="2" charset="-122"/>
                          <a:ea typeface="宋体" panose="02010600030101010101" pitchFamily="2" charset="-122"/>
                        </a:rPr>
                        <a:t>5</a:t>
                      </a:r>
                      <a:r>
                        <a:rPr lang="zh-CN" sz="1600" kern="100">
                          <a:effectLst/>
                          <a:latin typeface="宋体" panose="02010600030101010101" pitchFamily="2" charset="-122"/>
                          <a:ea typeface="宋体" panose="02010600030101010101" pitchFamily="2" charset="-122"/>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it-IT" sz="1600" kern="100" dirty="0">
                          <a:solidFill>
                            <a:schemeClr val="dk1"/>
                          </a:solidFill>
                          <a:effectLst/>
                          <a:latin typeface="宋体" panose="02010600030101010101" pitchFamily="2" charset="-122"/>
                          <a:ea typeface="宋体" panose="02010600030101010101" pitchFamily="2" charset="-122"/>
                          <a:cs typeface="+mn-cs"/>
                        </a:rPr>
                        <a:t>&lt;</a:t>
                      </a:r>
                      <a:r>
                        <a:rPr kumimoji="0" lang="en-US" sz="1600" kern="100" dirty="0">
                          <a:solidFill>
                            <a:schemeClr val="dk1"/>
                          </a:solidFill>
                          <a:effectLst/>
                          <a:latin typeface="宋体" panose="02010600030101010101" pitchFamily="2" charset="-122"/>
                          <a:ea typeface="宋体" panose="02010600030101010101" pitchFamily="2" charset="-122"/>
                          <a:cs typeface="+mn-cs"/>
                        </a:rPr>
                        <a:t>FFP&gt; →&lt;VT&gt;,&lt;FFP&gt;</a:t>
                      </a:r>
                      <a:r>
                        <a:rPr kumimoji="0" lang="en-US" sz="1600" kern="100" baseline="30000" dirty="0">
                          <a:solidFill>
                            <a:schemeClr val="dk1"/>
                          </a:solidFill>
                          <a:effectLst/>
                          <a:latin typeface="宋体" panose="02010600030101010101" pitchFamily="2" charset="-122"/>
                          <a:ea typeface="宋体" panose="02010600030101010101" pitchFamily="2" charset="-122"/>
                          <a:cs typeface="+mn-cs"/>
                        </a:rPr>
                        <a:t>(1)</a:t>
                      </a:r>
                      <a:endParaRPr kumimoji="0" lang="zh-CN" sz="1600" kern="100" baseline="30000" dirty="0">
                        <a:solidFill>
                          <a:schemeClr val="dk1"/>
                        </a:solidFill>
                        <a:effectLst/>
                        <a:latin typeface="宋体" panose="02010600030101010101" pitchFamily="2" charset="-122"/>
                        <a:ea typeface="宋体" panose="02010600030101010101"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600" kern="100" dirty="0">
                          <a:solidFill>
                            <a:schemeClr val="dk1"/>
                          </a:solidFill>
                          <a:effectLst/>
                          <a:latin typeface="宋体" panose="02010600030101010101" pitchFamily="2" charset="-122"/>
                          <a:ea typeface="宋体" panose="02010600030101010101" pitchFamily="2" charset="-122"/>
                          <a:cs typeface="+mn-cs"/>
                        </a:rPr>
                        <a:t>{  &lt;FFP&gt;.parameters = &lt; FFP&gt;</a:t>
                      </a:r>
                      <a:r>
                        <a:rPr kumimoji="0" lang="en-US" sz="1600" kern="100" baseline="30000" dirty="0">
                          <a:solidFill>
                            <a:schemeClr val="dk1"/>
                          </a:solidFill>
                          <a:effectLst/>
                          <a:latin typeface="宋体" panose="02010600030101010101" pitchFamily="2" charset="-122"/>
                          <a:ea typeface="宋体" panose="02010600030101010101" pitchFamily="2" charset="-122"/>
                          <a:cs typeface="+mn-cs"/>
                        </a:rPr>
                        <a:t>(1)</a:t>
                      </a:r>
                      <a:r>
                        <a:rPr kumimoji="0" lang="en-US" sz="1600" kern="100" dirty="0">
                          <a:solidFill>
                            <a:schemeClr val="dk1"/>
                          </a:solidFill>
                          <a:effectLst/>
                          <a:latin typeface="宋体" panose="02010600030101010101" pitchFamily="2" charset="-122"/>
                          <a:ea typeface="宋体" panose="02010600030101010101" pitchFamily="2" charset="-122"/>
                          <a:cs typeface="+mn-cs"/>
                        </a:rPr>
                        <a:t>.parameters + 1;</a:t>
                      </a:r>
                      <a:endParaRPr kumimoji="0" lang="zh-CN" sz="1600" kern="100" dirty="0">
                        <a:solidFill>
                          <a:schemeClr val="dk1"/>
                        </a:solidFill>
                        <a:effectLst/>
                        <a:latin typeface="宋体" panose="02010600030101010101" pitchFamily="2" charset="-122"/>
                        <a:ea typeface="宋体" panose="02010600030101010101" pitchFamily="2" charset="-122"/>
                        <a:cs typeface="+mn-cs"/>
                      </a:endParaRPr>
                    </a:p>
                    <a:p>
                      <a:pPr indent="171450" algn="just">
                        <a:spcAft>
                          <a:spcPts val="0"/>
                        </a:spcAft>
                      </a:pPr>
                      <a:r>
                        <a:rPr kumimoji="0" lang="en-US" sz="1600" kern="100" dirty="0">
                          <a:solidFill>
                            <a:schemeClr val="dk1"/>
                          </a:solidFill>
                          <a:effectLst/>
                          <a:latin typeface="宋体" panose="02010600030101010101" pitchFamily="2" charset="-122"/>
                          <a:ea typeface="宋体" panose="02010600030101010101" pitchFamily="2" charset="-122"/>
                          <a:cs typeface="+mn-cs"/>
                        </a:rPr>
                        <a:t> &lt;FFP&gt;.para=&lt;FFP&gt;</a:t>
                      </a:r>
                      <a:r>
                        <a:rPr kumimoji="0" lang="en-US" sz="1600" kern="100" baseline="30000" dirty="0">
                          <a:solidFill>
                            <a:schemeClr val="dk1"/>
                          </a:solidFill>
                          <a:effectLst/>
                          <a:latin typeface="宋体" panose="02010600030101010101" pitchFamily="2" charset="-122"/>
                          <a:ea typeface="宋体" panose="02010600030101010101" pitchFamily="2" charset="-122"/>
                          <a:cs typeface="+mn-cs"/>
                        </a:rPr>
                        <a:t>(1)</a:t>
                      </a:r>
                      <a:r>
                        <a:rPr kumimoji="0" lang="en-US" sz="1600" kern="100" dirty="0">
                          <a:solidFill>
                            <a:schemeClr val="dk1"/>
                          </a:solidFill>
                          <a:effectLst/>
                          <a:latin typeface="宋体" panose="02010600030101010101" pitchFamily="2" charset="-122"/>
                          <a:ea typeface="宋体" panose="02010600030101010101" pitchFamily="2" charset="-122"/>
                          <a:cs typeface="+mn-cs"/>
                        </a:rPr>
                        <a:t>.para+”,”+&lt;VT&gt;.para          }</a:t>
                      </a:r>
                      <a:endParaRPr kumimoji="0" lang="zh-CN" sz="1600" kern="100" dirty="0">
                        <a:solidFill>
                          <a:schemeClr val="dk1"/>
                        </a:solidFill>
                        <a:effectLst/>
                        <a:latin typeface="宋体" panose="02010600030101010101" pitchFamily="2" charset="-122"/>
                        <a:ea typeface="宋体" panose="02010600030101010101"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algn="just">
                        <a:spcAft>
                          <a:spcPts val="0"/>
                        </a:spcAft>
                      </a:pPr>
                      <a:r>
                        <a:rPr lang="zh-CN" sz="1600" kern="100">
                          <a:effectLst/>
                          <a:latin typeface="宋体" panose="02010600030101010101" pitchFamily="2" charset="-122"/>
                          <a:ea typeface="宋体" panose="02010600030101010101" pitchFamily="2" charset="-122"/>
                        </a:rPr>
                        <a:t>（</a:t>
                      </a:r>
                      <a:r>
                        <a:rPr lang="en-US" sz="1600" kern="100">
                          <a:effectLst/>
                          <a:latin typeface="宋体" panose="02010600030101010101" pitchFamily="2" charset="-122"/>
                          <a:ea typeface="宋体" panose="02010600030101010101" pitchFamily="2" charset="-122"/>
                        </a:rPr>
                        <a:t>4</a:t>
                      </a:r>
                      <a:r>
                        <a:rPr lang="zh-CN" sz="1600" kern="100">
                          <a:effectLst/>
                          <a:latin typeface="宋体" panose="02010600030101010101" pitchFamily="2" charset="-122"/>
                          <a:ea typeface="宋体" panose="02010600030101010101" pitchFamily="2" charset="-122"/>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it-IT" sz="1600" kern="100" dirty="0">
                          <a:solidFill>
                            <a:schemeClr val="dk1"/>
                          </a:solidFill>
                          <a:effectLst/>
                          <a:latin typeface="宋体" panose="02010600030101010101" pitchFamily="2" charset="-122"/>
                          <a:ea typeface="宋体" panose="02010600030101010101" pitchFamily="2" charset="-122"/>
                          <a:cs typeface="+mn-cs"/>
                        </a:rPr>
                        <a:t>&lt;</a:t>
                      </a:r>
                      <a:r>
                        <a:rPr kumimoji="0" lang="en-US" sz="1600" kern="100" dirty="0">
                          <a:solidFill>
                            <a:schemeClr val="dk1"/>
                          </a:solidFill>
                          <a:effectLst/>
                          <a:latin typeface="宋体" panose="02010600030101010101" pitchFamily="2" charset="-122"/>
                          <a:ea typeface="宋体" panose="02010600030101010101" pitchFamily="2" charset="-122"/>
                          <a:cs typeface="+mn-cs"/>
                        </a:rPr>
                        <a:t>FFP&gt; →&lt;VT&gt;</a:t>
                      </a:r>
                      <a:endParaRPr kumimoji="0" lang="zh-CN" sz="1600" kern="100" dirty="0">
                        <a:solidFill>
                          <a:schemeClr val="dk1"/>
                        </a:solidFill>
                        <a:effectLst/>
                        <a:latin typeface="宋体" panose="02010600030101010101" pitchFamily="2" charset="-122"/>
                        <a:ea typeface="宋体" panose="02010600030101010101"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600" kern="100" dirty="0">
                          <a:solidFill>
                            <a:schemeClr val="dk1"/>
                          </a:solidFill>
                          <a:effectLst/>
                          <a:latin typeface="宋体" panose="02010600030101010101" pitchFamily="2" charset="-122"/>
                          <a:ea typeface="宋体" panose="02010600030101010101" pitchFamily="2" charset="-122"/>
                          <a:cs typeface="+mn-cs"/>
                        </a:rPr>
                        <a:t>{  &lt;FFP&gt;. parameters = &lt;VT&gt;. parameters;</a:t>
                      </a:r>
                      <a:endParaRPr kumimoji="0" lang="zh-CN" sz="1600" kern="100" dirty="0">
                        <a:solidFill>
                          <a:schemeClr val="dk1"/>
                        </a:solidFill>
                        <a:effectLst/>
                        <a:latin typeface="宋体" panose="02010600030101010101" pitchFamily="2" charset="-122"/>
                        <a:ea typeface="宋体" panose="02010600030101010101" pitchFamily="2" charset="-122"/>
                        <a:cs typeface="+mn-cs"/>
                      </a:endParaRPr>
                    </a:p>
                    <a:p>
                      <a:pPr indent="171450" algn="just">
                        <a:spcAft>
                          <a:spcPts val="0"/>
                        </a:spcAft>
                      </a:pPr>
                      <a:r>
                        <a:rPr kumimoji="0" lang="en-US" sz="1600" kern="100" dirty="0">
                          <a:solidFill>
                            <a:schemeClr val="dk1"/>
                          </a:solidFill>
                          <a:effectLst/>
                          <a:latin typeface="宋体" panose="02010600030101010101" pitchFamily="2" charset="-122"/>
                          <a:ea typeface="宋体" panose="02010600030101010101" pitchFamily="2" charset="-122"/>
                          <a:cs typeface="+mn-cs"/>
                        </a:rPr>
                        <a:t>  &lt;FFP&gt;.para = &lt;VT&gt;.para              }</a:t>
                      </a:r>
                      <a:endParaRPr kumimoji="0" lang="zh-CN" sz="1600" kern="100" dirty="0">
                        <a:solidFill>
                          <a:schemeClr val="dk1"/>
                        </a:solidFill>
                        <a:effectLst/>
                        <a:latin typeface="宋体" panose="02010600030101010101" pitchFamily="2" charset="-122"/>
                        <a:ea typeface="宋体" panose="02010600030101010101"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85800">
                <a:tc>
                  <a:txBody>
                    <a:bodyPr/>
                    <a:lstStyle/>
                    <a:p>
                      <a:pPr algn="just">
                        <a:spcAft>
                          <a:spcPts val="0"/>
                        </a:spcAft>
                      </a:pPr>
                      <a:r>
                        <a:rPr lang="zh-CN" sz="1600" kern="100">
                          <a:effectLst/>
                          <a:latin typeface="宋体" panose="02010600030101010101" pitchFamily="2" charset="-122"/>
                          <a:ea typeface="宋体" panose="02010600030101010101" pitchFamily="2" charset="-122"/>
                        </a:rPr>
                        <a:t>（</a:t>
                      </a:r>
                      <a:r>
                        <a:rPr lang="en-US" sz="1600" kern="100">
                          <a:effectLst/>
                          <a:latin typeface="宋体" panose="02010600030101010101" pitchFamily="2" charset="-122"/>
                          <a:ea typeface="宋体" panose="02010600030101010101" pitchFamily="2" charset="-122"/>
                        </a:rPr>
                        <a:t>3</a:t>
                      </a:r>
                      <a:r>
                        <a:rPr lang="zh-CN" sz="1600" kern="100">
                          <a:effectLst/>
                          <a:latin typeface="宋体" panose="02010600030101010101" pitchFamily="2" charset="-122"/>
                          <a:ea typeface="宋体" panose="02010600030101010101" pitchFamily="2" charset="-122"/>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it-IT" sz="1600" kern="100" dirty="0">
                          <a:solidFill>
                            <a:schemeClr val="dk1"/>
                          </a:solidFill>
                          <a:effectLst/>
                          <a:latin typeface="宋体" panose="02010600030101010101" pitchFamily="2" charset="-122"/>
                          <a:ea typeface="宋体" panose="02010600030101010101" pitchFamily="2" charset="-122"/>
                          <a:cs typeface="+mn-cs"/>
                        </a:rPr>
                        <a:t>&lt;</a:t>
                      </a:r>
                      <a:r>
                        <a:rPr kumimoji="0" lang="en-US" sz="1600" kern="100" dirty="0">
                          <a:solidFill>
                            <a:schemeClr val="dk1"/>
                          </a:solidFill>
                          <a:effectLst/>
                          <a:latin typeface="宋体" panose="02010600030101010101" pitchFamily="2" charset="-122"/>
                          <a:ea typeface="宋体" panose="02010600030101010101" pitchFamily="2" charset="-122"/>
                          <a:cs typeface="+mn-cs"/>
                        </a:rPr>
                        <a:t>FFPL&gt; →&lt;FFP&gt;|</a:t>
                      </a:r>
                      <a:r>
                        <a:rPr lang="en-US" altLang="zh-CN" sz="1600" kern="0" dirty="0">
                          <a:sym typeface="Symbol"/>
                        </a:rPr>
                        <a:t></a:t>
                      </a:r>
                      <a:endParaRPr kumimoji="0" lang="zh-CN" sz="1600" kern="100" dirty="0">
                        <a:solidFill>
                          <a:schemeClr val="dk1"/>
                        </a:solidFill>
                        <a:effectLst/>
                        <a:latin typeface="宋体" panose="02010600030101010101" pitchFamily="2" charset="-122"/>
                        <a:ea typeface="宋体" panose="02010600030101010101"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zh-CN" sz="1600" kern="100" dirty="0">
                          <a:solidFill>
                            <a:schemeClr val="dk1"/>
                          </a:solidFill>
                          <a:effectLst/>
                          <a:latin typeface="宋体" panose="02010600030101010101" pitchFamily="2" charset="-122"/>
                          <a:ea typeface="宋体" panose="02010600030101010101" pitchFamily="2" charset="-122"/>
                          <a:cs typeface="+mn-cs"/>
                        </a:rPr>
                        <a:t>{  </a:t>
                      </a:r>
                      <a:r>
                        <a:rPr kumimoji="0" lang="en-US" sz="1600" kern="100" dirty="0">
                          <a:solidFill>
                            <a:schemeClr val="dk1"/>
                          </a:solidFill>
                          <a:effectLst/>
                          <a:latin typeface="宋体" panose="02010600030101010101" pitchFamily="2" charset="-122"/>
                          <a:ea typeface="宋体" panose="02010600030101010101" pitchFamily="2" charset="-122"/>
                          <a:cs typeface="+mn-cs"/>
                        </a:rPr>
                        <a:t>&lt;FFPL&gt;.parameters = &lt;FFP&gt;.parameters; </a:t>
                      </a:r>
                      <a:endParaRPr kumimoji="0" lang="zh-CN" sz="1600" kern="100" dirty="0">
                        <a:solidFill>
                          <a:schemeClr val="dk1"/>
                        </a:solidFill>
                        <a:effectLst/>
                        <a:latin typeface="宋体" panose="02010600030101010101" pitchFamily="2" charset="-122"/>
                        <a:ea typeface="宋体" panose="02010600030101010101" pitchFamily="2" charset="-122"/>
                        <a:cs typeface="+mn-cs"/>
                      </a:endParaRPr>
                    </a:p>
                    <a:p>
                      <a:pPr algn="just">
                        <a:spcAft>
                          <a:spcPts val="0"/>
                        </a:spcAft>
                      </a:pPr>
                      <a:r>
                        <a:rPr kumimoji="0" lang="en-US" sz="1600" kern="100" dirty="0">
                          <a:solidFill>
                            <a:schemeClr val="dk1"/>
                          </a:solidFill>
                          <a:effectLst/>
                          <a:latin typeface="宋体" panose="02010600030101010101" pitchFamily="2" charset="-122"/>
                          <a:ea typeface="宋体" panose="02010600030101010101" pitchFamily="2" charset="-122"/>
                          <a:cs typeface="+mn-cs"/>
                        </a:rPr>
                        <a:t>   &lt;FFPL&gt;.para= &lt;FFP&gt;.para                   </a:t>
                      </a:r>
                      <a:r>
                        <a:rPr kumimoji="0" lang="zh-CN" sz="1600" kern="100" dirty="0">
                          <a:solidFill>
                            <a:schemeClr val="dk1"/>
                          </a:solidFill>
                          <a:effectLst/>
                          <a:latin typeface="宋体" panose="02010600030101010101" pitchFamily="2" charset="-122"/>
                          <a:ea typeface="宋体" panose="02010600030101010101" pitchFamily="2" charset="-122"/>
                          <a:cs typeface="+mn-cs"/>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algn="just">
                        <a:spcAft>
                          <a:spcPts val="0"/>
                        </a:spcAft>
                      </a:pPr>
                      <a:r>
                        <a:rPr lang="zh-CN" sz="1600" kern="100">
                          <a:effectLst/>
                          <a:latin typeface="宋体" panose="02010600030101010101" pitchFamily="2" charset="-122"/>
                          <a:ea typeface="宋体" panose="02010600030101010101" pitchFamily="2" charset="-122"/>
                        </a:rPr>
                        <a:t>（</a:t>
                      </a:r>
                      <a:r>
                        <a:rPr lang="en-US" sz="1600" kern="100">
                          <a:effectLst/>
                          <a:latin typeface="宋体" panose="02010600030101010101" pitchFamily="2" charset="-122"/>
                          <a:ea typeface="宋体" panose="02010600030101010101" pitchFamily="2" charset="-122"/>
                        </a:rPr>
                        <a:t>2</a:t>
                      </a:r>
                      <a:r>
                        <a:rPr lang="zh-CN" sz="1600" kern="100">
                          <a:effectLst/>
                          <a:latin typeface="宋体" panose="02010600030101010101" pitchFamily="2" charset="-122"/>
                          <a:ea typeface="宋体" panose="02010600030101010101" pitchFamily="2" charset="-122"/>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it-IT" sz="1600" kern="100">
                          <a:solidFill>
                            <a:schemeClr val="dk1"/>
                          </a:solidFill>
                          <a:effectLst/>
                          <a:latin typeface="宋体" panose="02010600030101010101" pitchFamily="2" charset="-122"/>
                          <a:ea typeface="宋体" panose="02010600030101010101" pitchFamily="2" charset="-122"/>
                          <a:cs typeface="+mn-cs"/>
                        </a:rPr>
                        <a:t>&lt;</a:t>
                      </a:r>
                      <a:r>
                        <a:rPr kumimoji="0" lang="en-US" sz="1600" kern="100">
                          <a:solidFill>
                            <a:schemeClr val="dk1"/>
                          </a:solidFill>
                          <a:effectLst/>
                          <a:latin typeface="宋体" panose="02010600030101010101" pitchFamily="2" charset="-122"/>
                          <a:ea typeface="宋体" panose="02010600030101010101" pitchFamily="2" charset="-122"/>
                          <a:cs typeface="+mn-cs"/>
                        </a:rPr>
                        <a:t>FT&gt;→int</a:t>
                      </a:r>
                      <a:endParaRPr kumimoji="0" lang="zh-CN" sz="1600" kern="100">
                        <a:solidFill>
                          <a:schemeClr val="dk1"/>
                        </a:solidFill>
                        <a:effectLst/>
                        <a:latin typeface="宋体" panose="02010600030101010101" pitchFamily="2" charset="-122"/>
                        <a:ea typeface="宋体" panose="02010600030101010101"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600" kern="100" dirty="0">
                          <a:solidFill>
                            <a:schemeClr val="dk1"/>
                          </a:solidFill>
                          <a:effectLst/>
                          <a:latin typeface="宋体" panose="02010600030101010101" pitchFamily="2" charset="-122"/>
                          <a:ea typeface="宋体" panose="02010600030101010101" pitchFamily="2" charset="-122"/>
                          <a:cs typeface="+mn-cs"/>
                        </a:rPr>
                        <a:t>{  &lt;FT&gt;.type = </a:t>
                      </a:r>
                      <a:r>
                        <a:rPr kumimoji="0" lang="en-US" sz="1600" kern="100" dirty="0" err="1">
                          <a:solidFill>
                            <a:schemeClr val="dk1"/>
                          </a:solidFill>
                          <a:effectLst/>
                          <a:latin typeface="宋体" panose="02010600030101010101" pitchFamily="2" charset="-122"/>
                          <a:ea typeface="宋体" panose="02010600030101010101" pitchFamily="2" charset="-122"/>
                          <a:cs typeface="+mn-cs"/>
                        </a:rPr>
                        <a:t>int</a:t>
                      </a:r>
                      <a:r>
                        <a:rPr kumimoji="0" lang="en-US" sz="1600" kern="100" dirty="0">
                          <a:solidFill>
                            <a:schemeClr val="dk1"/>
                          </a:solidFill>
                          <a:effectLst/>
                          <a:latin typeface="宋体" panose="02010600030101010101" pitchFamily="2" charset="-122"/>
                          <a:ea typeface="宋体" panose="02010600030101010101" pitchFamily="2" charset="-122"/>
                          <a:cs typeface="+mn-cs"/>
                        </a:rPr>
                        <a:t>                             }</a:t>
                      </a:r>
                      <a:endParaRPr kumimoji="0" lang="zh-CN" sz="1600" kern="100" dirty="0">
                        <a:solidFill>
                          <a:schemeClr val="dk1"/>
                        </a:solidFill>
                        <a:effectLst/>
                        <a:latin typeface="宋体" panose="02010600030101010101" pitchFamily="2" charset="-122"/>
                        <a:ea typeface="宋体" panose="02010600030101010101"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914400">
                <a:tc>
                  <a:txBody>
                    <a:bodyPr/>
                    <a:lstStyle/>
                    <a:p>
                      <a:pPr algn="just">
                        <a:spcAft>
                          <a:spcPts val="0"/>
                        </a:spcAft>
                      </a:pPr>
                      <a:r>
                        <a:rPr lang="zh-CN" sz="1600" kern="100">
                          <a:effectLst/>
                          <a:latin typeface="宋体" panose="02010600030101010101" pitchFamily="2" charset="-122"/>
                          <a:ea typeface="宋体" panose="02010600030101010101" pitchFamily="2" charset="-122"/>
                        </a:rPr>
                        <a:t>（</a:t>
                      </a:r>
                      <a:r>
                        <a:rPr lang="en-US" sz="1600" kern="100">
                          <a:effectLst/>
                          <a:latin typeface="宋体" panose="02010600030101010101" pitchFamily="2" charset="-122"/>
                          <a:ea typeface="宋体" panose="02010600030101010101" pitchFamily="2" charset="-122"/>
                        </a:rPr>
                        <a:t>1</a:t>
                      </a:r>
                      <a:r>
                        <a:rPr lang="zh-CN" sz="1600" kern="100">
                          <a:effectLst/>
                          <a:latin typeface="宋体" panose="02010600030101010101" pitchFamily="2" charset="-122"/>
                          <a:ea typeface="宋体" panose="02010600030101010101" pitchFamily="2" charset="-122"/>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it-IT" sz="1600" kern="100" dirty="0">
                          <a:solidFill>
                            <a:schemeClr val="dk1"/>
                          </a:solidFill>
                          <a:effectLst/>
                          <a:latin typeface="宋体" panose="02010600030101010101" pitchFamily="2" charset="-122"/>
                          <a:ea typeface="宋体" panose="02010600030101010101" pitchFamily="2" charset="-122"/>
                          <a:cs typeface="+mn-cs"/>
                        </a:rPr>
                        <a:t>&lt;</a:t>
                      </a:r>
                      <a:r>
                        <a:rPr kumimoji="0" lang="en-US" sz="1600" kern="100" dirty="0">
                          <a:solidFill>
                            <a:schemeClr val="dk1"/>
                          </a:solidFill>
                          <a:effectLst/>
                          <a:latin typeface="宋体" panose="02010600030101010101" pitchFamily="2" charset="-122"/>
                          <a:ea typeface="宋体" panose="02010600030101010101" pitchFamily="2" charset="-122"/>
                          <a:cs typeface="+mn-cs"/>
                        </a:rPr>
                        <a:t>FD&gt; →&lt;FT&gt; id (&lt;FFPL&gt;);</a:t>
                      </a:r>
                      <a:endParaRPr kumimoji="0" lang="zh-CN" sz="1600" kern="100" dirty="0">
                        <a:solidFill>
                          <a:schemeClr val="dk1"/>
                        </a:solidFill>
                        <a:effectLst/>
                        <a:latin typeface="宋体" panose="02010600030101010101" pitchFamily="2" charset="-122"/>
                        <a:ea typeface="宋体" panose="02010600030101010101"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kumimoji="0" lang="en-US" sz="1600" kern="100" dirty="0">
                          <a:solidFill>
                            <a:schemeClr val="dk1"/>
                          </a:solidFill>
                          <a:effectLst/>
                          <a:latin typeface="宋体" panose="02010600030101010101" pitchFamily="2" charset="-122"/>
                          <a:ea typeface="宋体" panose="02010600030101010101" pitchFamily="2" charset="-122"/>
                          <a:cs typeface="+mn-cs"/>
                        </a:rPr>
                        <a:t>{ </a:t>
                      </a:r>
                      <a:r>
                        <a:rPr kumimoji="0" lang="en-US" sz="1600" kern="100" dirty="0" err="1">
                          <a:solidFill>
                            <a:schemeClr val="dk1"/>
                          </a:solidFill>
                          <a:effectLst/>
                          <a:latin typeface="宋体" panose="02010600030101010101" pitchFamily="2" charset="-122"/>
                          <a:ea typeface="宋体" panose="02010600030101010101" pitchFamily="2" charset="-122"/>
                          <a:cs typeface="+mn-cs"/>
                        </a:rPr>
                        <a:t>InsertFunction</a:t>
                      </a:r>
                      <a:r>
                        <a:rPr kumimoji="0" lang="en-US" sz="1600" kern="100" dirty="0">
                          <a:solidFill>
                            <a:schemeClr val="dk1"/>
                          </a:solidFill>
                          <a:effectLst/>
                          <a:latin typeface="宋体" panose="02010600030101010101" pitchFamily="2" charset="-122"/>
                          <a:ea typeface="宋体" panose="02010600030101010101" pitchFamily="2" charset="-122"/>
                          <a:cs typeface="+mn-cs"/>
                        </a:rPr>
                        <a:t> (entry(id).name);//</a:t>
                      </a:r>
                      <a:r>
                        <a:rPr kumimoji="0" lang="zh-CN" sz="1600" kern="100" dirty="0">
                          <a:solidFill>
                            <a:schemeClr val="dk1"/>
                          </a:solidFill>
                          <a:effectLst/>
                          <a:latin typeface="宋体" panose="02010600030101010101" pitchFamily="2" charset="-122"/>
                          <a:ea typeface="宋体" panose="02010600030101010101" pitchFamily="2" charset="-122"/>
                          <a:cs typeface="+mn-cs"/>
                        </a:rPr>
                        <a:t>将函数名插入符号表中</a:t>
                      </a:r>
                    </a:p>
                    <a:p>
                      <a:pPr indent="114300" algn="just">
                        <a:spcAft>
                          <a:spcPts val="0"/>
                        </a:spcAft>
                      </a:pPr>
                      <a:r>
                        <a:rPr kumimoji="0" lang="en-US" sz="1600" kern="100" dirty="0">
                          <a:solidFill>
                            <a:schemeClr val="dk1"/>
                          </a:solidFill>
                          <a:effectLst/>
                          <a:latin typeface="宋体" panose="02010600030101010101" pitchFamily="2" charset="-122"/>
                          <a:ea typeface="宋体" panose="02010600030101010101" pitchFamily="2" charset="-122"/>
                          <a:cs typeface="+mn-cs"/>
                        </a:rPr>
                        <a:t> entry(id).</a:t>
                      </a:r>
                      <a:r>
                        <a:rPr kumimoji="0" lang="en-US" sz="1600" kern="100" dirty="0" err="1">
                          <a:solidFill>
                            <a:schemeClr val="dk1"/>
                          </a:solidFill>
                          <a:effectLst/>
                          <a:latin typeface="宋体" panose="02010600030101010101" pitchFamily="2" charset="-122"/>
                          <a:ea typeface="宋体" panose="02010600030101010101" pitchFamily="2" charset="-122"/>
                          <a:cs typeface="+mn-cs"/>
                        </a:rPr>
                        <a:t>returntype</a:t>
                      </a:r>
                      <a:r>
                        <a:rPr kumimoji="0" lang="en-US" sz="1600" kern="100" dirty="0">
                          <a:solidFill>
                            <a:schemeClr val="dk1"/>
                          </a:solidFill>
                          <a:effectLst/>
                          <a:latin typeface="宋体" panose="02010600030101010101" pitchFamily="2" charset="-122"/>
                          <a:ea typeface="宋体" panose="02010600030101010101" pitchFamily="2" charset="-122"/>
                          <a:cs typeface="+mn-cs"/>
                        </a:rPr>
                        <a:t> = &lt;FT&gt;.type;</a:t>
                      </a:r>
                      <a:endParaRPr kumimoji="0" lang="zh-CN" sz="1600" kern="100" dirty="0">
                        <a:solidFill>
                          <a:schemeClr val="dk1"/>
                        </a:solidFill>
                        <a:effectLst/>
                        <a:latin typeface="宋体" panose="02010600030101010101" pitchFamily="2" charset="-122"/>
                        <a:ea typeface="宋体" panose="02010600030101010101" pitchFamily="2" charset="-122"/>
                        <a:cs typeface="+mn-cs"/>
                      </a:endParaRPr>
                    </a:p>
                    <a:p>
                      <a:pPr indent="114300" algn="just">
                        <a:spcAft>
                          <a:spcPts val="0"/>
                        </a:spcAft>
                      </a:pPr>
                      <a:r>
                        <a:rPr kumimoji="0" lang="en-US" sz="1600" kern="100" dirty="0">
                          <a:solidFill>
                            <a:schemeClr val="dk1"/>
                          </a:solidFill>
                          <a:effectLst/>
                          <a:latin typeface="宋体" panose="02010600030101010101" pitchFamily="2" charset="-122"/>
                          <a:ea typeface="宋体" panose="02010600030101010101" pitchFamily="2" charset="-122"/>
                          <a:cs typeface="+mn-cs"/>
                        </a:rPr>
                        <a:t> entry(id).parameters = &lt;FFPL&gt;.parameters;</a:t>
                      </a:r>
                      <a:endParaRPr kumimoji="0" lang="zh-CN" sz="1600" kern="100" dirty="0">
                        <a:solidFill>
                          <a:schemeClr val="dk1"/>
                        </a:solidFill>
                        <a:effectLst/>
                        <a:latin typeface="宋体" panose="02010600030101010101" pitchFamily="2" charset="-122"/>
                        <a:ea typeface="宋体" panose="02010600030101010101" pitchFamily="2" charset="-122"/>
                        <a:cs typeface="+mn-cs"/>
                      </a:endParaRPr>
                    </a:p>
                    <a:p>
                      <a:pPr indent="114300" algn="just">
                        <a:spcAft>
                          <a:spcPts val="0"/>
                        </a:spcAft>
                      </a:pPr>
                      <a:r>
                        <a:rPr kumimoji="0" lang="en-US" sz="1600" kern="100" dirty="0">
                          <a:solidFill>
                            <a:schemeClr val="dk1"/>
                          </a:solidFill>
                          <a:effectLst/>
                          <a:latin typeface="宋体" panose="02010600030101010101" pitchFamily="2" charset="-122"/>
                          <a:ea typeface="宋体" panose="02010600030101010101" pitchFamily="2" charset="-122"/>
                          <a:cs typeface="+mn-cs"/>
                        </a:rPr>
                        <a:t> entry(id).para = &lt;FFPL&gt;.para;               }</a:t>
                      </a:r>
                      <a:endParaRPr kumimoji="0" lang="zh-CN" sz="1600" kern="100" dirty="0">
                        <a:solidFill>
                          <a:schemeClr val="dk1"/>
                        </a:solidFill>
                        <a:effectLst/>
                        <a:latin typeface="宋体" panose="02010600030101010101" pitchFamily="2" charset="-122"/>
                        <a:ea typeface="宋体" panose="02010600030101010101" pitchFamily="2"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7174184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041258"/>
            <a:ext cx="7332457" cy="1446550"/>
          </a:xfrm>
          <a:prstGeom prst="rect">
            <a:avLst/>
          </a:prstGeom>
        </p:spPr>
        <p:txBody>
          <a:bodyPr wrap="non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、常见语句的语法制导翻译</a:t>
            </a:r>
            <a:endParaRPr lang="en-US" altLang="zh-CN" sz="4400" b="1" dirty="0">
              <a:solidFill>
                <a:srgbClr val="CC0099"/>
              </a:solidFill>
              <a:ea typeface="隶书" pitchFamily="49" charset="-122"/>
            </a:endParaRPr>
          </a:p>
          <a:p>
            <a:r>
              <a:rPr lang="en-US" altLang="zh-CN" sz="4400" b="1" dirty="0">
                <a:solidFill>
                  <a:srgbClr val="CC0099"/>
                </a:solidFill>
                <a:ea typeface="隶书" pitchFamily="49" charset="-122"/>
              </a:rPr>
              <a:t>    </a:t>
            </a:r>
            <a:r>
              <a:rPr lang="en-US" altLang="zh-CN" sz="3600" b="1" dirty="0">
                <a:solidFill>
                  <a:srgbClr val="CC0099"/>
                </a:solidFill>
                <a:ea typeface="隶书" pitchFamily="49" charset="-122"/>
              </a:rPr>
              <a:t>——</a:t>
            </a:r>
            <a:r>
              <a:rPr lang="zh-CN" altLang="en-US" sz="3600" b="1" dirty="0">
                <a:solidFill>
                  <a:srgbClr val="CC0099"/>
                </a:solidFill>
                <a:ea typeface="隶书" pitchFamily="49" charset="-122"/>
              </a:rPr>
              <a:t>表达式的翻译</a:t>
            </a:r>
            <a:endParaRPr lang="zh-CN" altLang="en-US" sz="4400" b="1" dirty="0">
              <a:solidFill>
                <a:srgbClr val="CC0099"/>
              </a:solidFill>
              <a:ea typeface="隶书" pitchFamily="49" charset="-122"/>
            </a:endParaRPr>
          </a:p>
        </p:txBody>
      </p:sp>
    </p:spTree>
    <p:extLst>
      <p:ext uri="{BB962C8B-B14F-4D97-AF65-F5344CB8AC3E}">
        <p14:creationId xmlns:p14="http://schemas.microsoft.com/office/powerpoint/2010/main" val="303385527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p:txBody>
          <a:bodyPr>
            <a:normAutofit fontScale="90000"/>
          </a:bodyPr>
          <a:lstStyle/>
          <a:p>
            <a:r>
              <a:rPr kumimoji="1" lang="zh-CN" altLang="en-US" b="1" dirty="0">
                <a:solidFill>
                  <a:srgbClr val="CC0099"/>
                </a:solidFill>
                <a:latin typeface="Times New Roman" pitchFamily="18" charset="0"/>
                <a:ea typeface="隶书" pitchFamily="49" charset="-122"/>
              </a:rPr>
              <a:t>可执行语句的翻译</a:t>
            </a:r>
            <a:endParaRPr lang="zh-CN" altLang="en-US" dirty="0"/>
          </a:p>
        </p:txBody>
      </p:sp>
      <p:sp>
        <p:nvSpPr>
          <p:cNvPr id="79875" name="内容占位符 2"/>
          <p:cNvSpPr>
            <a:spLocks noGrp="1"/>
          </p:cNvSpPr>
          <p:nvPr>
            <p:ph idx="1"/>
          </p:nvPr>
        </p:nvSpPr>
        <p:spPr>
          <a:xfrm>
            <a:off x="611560" y="1203598"/>
            <a:ext cx="8229600" cy="2808685"/>
          </a:xfrm>
        </p:spPr>
        <p:txBody>
          <a:bodyPr>
            <a:normAutofit/>
          </a:bodyPr>
          <a:lstStyle/>
          <a:p>
            <a:r>
              <a:rPr lang="zh-CN" altLang="en-US" sz="2200" dirty="0"/>
              <a:t>简单的赋值语句（含算术表达式的处理）</a:t>
            </a:r>
            <a:endParaRPr lang="en-US" altLang="zh-CN" sz="2200" dirty="0"/>
          </a:p>
          <a:p>
            <a:r>
              <a:rPr lang="zh-CN" altLang="en-US" sz="2200" dirty="0"/>
              <a:t>控制语句（含布尔表达式的处理）</a:t>
            </a:r>
            <a:endParaRPr lang="en-US" altLang="zh-CN" sz="2200" dirty="0"/>
          </a:p>
          <a:p>
            <a:pPr lvl="1"/>
            <a:r>
              <a:rPr lang="en-US" altLang="zh-CN" dirty="0"/>
              <a:t>if</a:t>
            </a:r>
            <a:r>
              <a:rPr lang="zh-CN" altLang="en-US" dirty="0"/>
              <a:t>语句</a:t>
            </a:r>
            <a:endParaRPr lang="en-US" altLang="zh-CN" dirty="0"/>
          </a:p>
          <a:p>
            <a:pPr lvl="1"/>
            <a:r>
              <a:rPr lang="en-US" altLang="zh-CN" dirty="0"/>
              <a:t>while</a:t>
            </a:r>
            <a:r>
              <a:rPr lang="zh-CN" altLang="en-US" dirty="0"/>
              <a:t>语句</a:t>
            </a:r>
            <a:r>
              <a:rPr lang="en-US" altLang="zh-CN" dirty="0"/>
              <a:t>/do while</a:t>
            </a:r>
            <a:r>
              <a:rPr lang="zh-CN" altLang="en-US" dirty="0"/>
              <a:t>语句</a:t>
            </a:r>
            <a:endParaRPr lang="en-US" altLang="zh-CN" dirty="0"/>
          </a:p>
          <a:p>
            <a:pPr lvl="1"/>
            <a:r>
              <a:rPr lang="en-US" altLang="zh-CN" dirty="0"/>
              <a:t>for</a:t>
            </a:r>
            <a:r>
              <a:rPr lang="zh-CN" altLang="en-US" dirty="0"/>
              <a:t>语句</a:t>
            </a:r>
            <a:endParaRPr lang="en-US" altLang="zh-CN" dirty="0"/>
          </a:p>
          <a:p>
            <a:r>
              <a:rPr lang="zh-CN" altLang="en-US" sz="2200" dirty="0">
                <a:solidFill>
                  <a:srgbClr val="6600CC"/>
                </a:solidFill>
              </a:rPr>
              <a:t>其他复杂语句的翻译，参考其他参考书</a:t>
            </a:r>
          </a:p>
        </p:txBody>
      </p:sp>
    </p:spTree>
    <p:extLst>
      <p:ext uri="{BB962C8B-B14F-4D97-AF65-F5344CB8AC3E}">
        <p14:creationId xmlns:p14="http://schemas.microsoft.com/office/powerpoint/2010/main" val="11827235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a:normAutofit fontScale="90000"/>
          </a:bodyPr>
          <a:lstStyle/>
          <a:p>
            <a:r>
              <a:rPr kumimoji="1" lang="zh-CN" altLang="en-US" b="1">
                <a:solidFill>
                  <a:srgbClr val="CC0099"/>
                </a:solidFill>
                <a:latin typeface="Times New Roman" pitchFamily="18" charset="0"/>
                <a:ea typeface="隶书" pitchFamily="49" charset="-122"/>
              </a:rPr>
              <a:t>表达式的翻译</a:t>
            </a:r>
            <a:endParaRPr lang="zh-CN" altLang="en-US"/>
          </a:p>
        </p:txBody>
      </p:sp>
      <p:sp>
        <p:nvSpPr>
          <p:cNvPr id="78851" name="内容占位符 2"/>
          <p:cNvSpPr>
            <a:spLocks noGrp="1"/>
          </p:cNvSpPr>
          <p:nvPr>
            <p:ph idx="1"/>
          </p:nvPr>
        </p:nvSpPr>
        <p:spPr>
          <a:xfrm>
            <a:off x="467544" y="915566"/>
            <a:ext cx="8137525" cy="3078956"/>
          </a:xfrm>
        </p:spPr>
        <p:txBody>
          <a:bodyPr>
            <a:normAutofit/>
          </a:bodyPr>
          <a:lstStyle/>
          <a:p>
            <a:pPr marL="342900" indent="-342900"/>
            <a:r>
              <a:rPr lang="en-US" altLang="zh-CN" sz="2200" dirty="0"/>
              <a:t>1</a:t>
            </a:r>
            <a:r>
              <a:rPr lang="zh-CN" altLang="en-US" sz="2200" dirty="0"/>
              <a:t>、</a:t>
            </a:r>
            <a:r>
              <a:rPr lang="zh-CN" altLang="zh-CN" sz="2200" dirty="0"/>
              <a:t>类似于</a:t>
            </a:r>
            <a:r>
              <a:rPr lang="en-US" altLang="zh-CN" sz="2200" dirty="0"/>
              <a:t>C</a:t>
            </a:r>
            <a:r>
              <a:rPr lang="zh-CN" altLang="zh-CN" sz="2200" dirty="0"/>
              <a:t>语言中的表达式，所有的表达式都可以认为是赋值表达式</a:t>
            </a:r>
            <a:r>
              <a:rPr lang="zh-CN" altLang="en-US" sz="2200" dirty="0"/>
              <a:t>。</a:t>
            </a:r>
            <a:endParaRPr lang="en-US" altLang="zh-CN" sz="2200" dirty="0"/>
          </a:p>
          <a:p>
            <a:pPr marL="598932" lvl="1" indent="-342900"/>
            <a:r>
              <a:rPr lang="zh-CN" altLang="en-US" sz="2000" dirty="0"/>
              <a:t>翻译方法：</a:t>
            </a:r>
            <a:r>
              <a:rPr lang="zh-CN" altLang="zh-CN" sz="2000" dirty="0"/>
              <a:t>不区分表达式的类型，</a:t>
            </a:r>
            <a:r>
              <a:rPr lang="zh-CN" altLang="zh-CN" sz="2000" b="1" dirty="0">
                <a:solidFill>
                  <a:srgbClr val="FF0000"/>
                </a:solidFill>
              </a:rPr>
              <a:t>统一进行计算得到表达式的值</a:t>
            </a:r>
            <a:r>
              <a:rPr lang="zh-CN" altLang="zh-CN" sz="2000" dirty="0"/>
              <a:t>，然后根据具体使用场合应用；</a:t>
            </a:r>
            <a:endParaRPr lang="en-US" altLang="zh-CN" sz="2000" dirty="0"/>
          </a:p>
          <a:p>
            <a:pPr marL="342900" indent="-342900"/>
            <a:r>
              <a:rPr lang="en-US" altLang="zh-CN" sz="2200" dirty="0"/>
              <a:t>2</a:t>
            </a:r>
            <a:r>
              <a:rPr lang="zh-CN" altLang="en-US" sz="2200" dirty="0"/>
              <a:t>、</a:t>
            </a:r>
            <a:r>
              <a:rPr lang="zh-CN" altLang="zh-CN" sz="2200" dirty="0"/>
              <a:t>类似于</a:t>
            </a:r>
            <a:r>
              <a:rPr lang="en-US" altLang="zh-CN" sz="2200" dirty="0"/>
              <a:t>PASCAL</a:t>
            </a:r>
            <a:r>
              <a:rPr lang="zh-CN" altLang="zh-CN" sz="2200" dirty="0"/>
              <a:t>语言中的表达式，设置有专门的布尔量，算术表达式和布尔表达式分开使用</a:t>
            </a:r>
            <a:r>
              <a:rPr lang="zh-CN" altLang="en-US" sz="2200" dirty="0"/>
              <a:t>。</a:t>
            </a:r>
            <a:endParaRPr lang="en-US" altLang="zh-CN" sz="2200" dirty="0"/>
          </a:p>
          <a:p>
            <a:pPr marL="598932" lvl="1" indent="-342900"/>
            <a:r>
              <a:rPr lang="zh-CN" altLang="en-US" sz="2000" dirty="0"/>
              <a:t>翻译方法：</a:t>
            </a:r>
            <a:r>
              <a:rPr lang="zh-CN" altLang="zh-CN" sz="2000" b="1" dirty="0">
                <a:solidFill>
                  <a:srgbClr val="FF0000"/>
                </a:solidFill>
              </a:rPr>
              <a:t>按不同的翻译方式进行翻译</a:t>
            </a:r>
            <a:r>
              <a:rPr lang="zh-CN" altLang="zh-CN" sz="2000" dirty="0"/>
              <a:t>，这种方式可以专门针对布尔表达式的翻译进行优化。 </a:t>
            </a:r>
          </a:p>
          <a:p>
            <a:pPr marL="0" indent="0">
              <a:buFontTx/>
              <a:buNone/>
            </a:pPr>
            <a:endParaRPr lang="en-US" altLang="zh-CN" sz="2200" dirty="0"/>
          </a:p>
        </p:txBody>
      </p:sp>
    </p:spTree>
    <p:extLst>
      <p:ext uri="{BB962C8B-B14F-4D97-AF65-F5344CB8AC3E}">
        <p14:creationId xmlns:p14="http://schemas.microsoft.com/office/powerpoint/2010/main" val="137469453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0" y="0"/>
            <a:ext cx="8229600" cy="628650"/>
          </a:xfrm>
        </p:spPr>
        <p:txBody>
          <a:bodyPr>
            <a:noAutofit/>
          </a:bodyPr>
          <a:lstStyle/>
          <a:p>
            <a:pPr>
              <a:lnSpc>
                <a:spcPct val="90000"/>
              </a:lnSpc>
            </a:pPr>
            <a:r>
              <a:rPr lang="zh-CN" altLang="en-US" sz="3200" dirty="0"/>
              <a:t>定义后续使用的语义变量和函数</a:t>
            </a:r>
          </a:p>
        </p:txBody>
      </p:sp>
      <p:sp>
        <p:nvSpPr>
          <p:cNvPr id="80899" name="Rectangle 3"/>
          <p:cNvSpPr>
            <a:spLocks noGrp="1" noChangeArrowheads="1"/>
          </p:cNvSpPr>
          <p:nvPr>
            <p:ph type="body" idx="1"/>
          </p:nvPr>
        </p:nvSpPr>
        <p:spPr>
          <a:xfrm>
            <a:off x="179512" y="627535"/>
            <a:ext cx="8382000" cy="3456384"/>
          </a:xfrm>
        </p:spPr>
        <p:txBody>
          <a:bodyPr>
            <a:normAutofit/>
          </a:bodyPr>
          <a:lstStyle/>
          <a:p>
            <a:pPr algn="just">
              <a:spcBef>
                <a:spcPts val="0"/>
              </a:spcBef>
            </a:pPr>
            <a:r>
              <a:rPr lang="en-US" altLang="zh-CN" sz="2000" b="1" u="sng" dirty="0">
                <a:solidFill>
                  <a:srgbClr val="FF3300"/>
                </a:solidFill>
              </a:rPr>
              <a:t>entry(id)</a:t>
            </a:r>
            <a:r>
              <a:rPr lang="zh-CN" altLang="en-US" sz="2000" dirty="0"/>
              <a:t>：语义函数，查找变量</a:t>
            </a:r>
            <a:r>
              <a:rPr lang="en-US" altLang="zh-CN" sz="2000" dirty="0"/>
              <a:t>id</a:t>
            </a:r>
            <a:r>
              <a:rPr lang="zh-CN" altLang="en-US" sz="2000" dirty="0"/>
              <a:t>在符号表中的入口；检查</a:t>
            </a:r>
            <a:r>
              <a:rPr lang="en-US" altLang="zh-CN" sz="2000" dirty="0">
                <a:cs typeface="Times New Roman" pitchFamily="18" charset="0"/>
              </a:rPr>
              <a:t>id.name</a:t>
            </a:r>
            <a:r>
              <a:rPr lang="zh-CN" altLang="en-US" sz="2000" dirty="0"/>
              <a:t>是否在符号表中，如在则返回一指向它的指针，否则返回</a:t>
            </a:r>
            <a:r>
              <a:rPr lang="en-US" altLang="zh-CN" sz="2000" dirty="0">
                <a:cs typeface="Times New Roman" pitchFamily="18" charset="0"/>
              </a:rPr>
              <a:t>NULL</a:t>
            </a:r>
          </a:p>
          <a:p>
            <a:pPr algn="just">
              <a:spcBef>
                <a:spcPts val="0"/>
              </a:spcBef>
            </a:pPr>
            <a:r>
              <a:rPr lang="en-US" altLang="zh-CN" sz="2000" b="1" u="sng" dirty="0">
                <a:solidFill>
                  <a:srgbClr val="FF3300"/>
                </a:solidFill>
              </a:rPr>
              <a:t>NXQ</a:t>
            </a:r>
            <a:r>
              <a:rPr lang="zh-CN" altLang="en-US" sz="2000" dirty="0">
                <a:solidFill>
                  <a:srgbClr val="FF3300"/>
                </a:solidFill>
              </a:rPr>
              <a:t>：</a:t>
            </a:r>
            <a:r>
              <a:rPr lang="zh-CN" altLang="en-US" sz="2000" dirty="0"/>
              <a:t>即将要生成的四元式的编号，初值为</a:t>
            </a:r>
            <a:r>
              <a:rPr lang="en-US" altLang="zh-CN" sz="2000" dirty="0"/>
              <a:t>1</a:t>
            </a:r>
            <a:r>
              <a:rPr lang="zh-CN" altLang="en-US" sz="2000" dirty="0"/>
              <a:t>。</a:t>
            </a:r>
          </a:p>
          <a:p>
            <a:pPr algn="just">
              <a:spcBef>
                <a:spcPts val="0"/>
              </a:spcBef>
            </a:pPr>
            <a:r>
              <a:rPr lang="en-US" altLang="zh-CN" sz="2000" b="1" u="sng" dirty="0" err="1">
                <a:solidFill>
                  <a:srgbClr val="FF3300"/>
                </a:solidFill>
              </a:rPr>
              <a:t>gencode</a:t>
            </a:r>
            <a:r>
              <a:rPr lang="en-US" altLang="zh-CN" sz="2000" b="1" u="sng" dirty="0">
                <a:solidFill>
                  <a:srgbClr val="FF3300"/>
                </a:solidFill>
              </a:rPr>
              <a:t>(OP,ARG1,ARG2,RESULT)</a:t>
            </a:r>
            <a:r>
              <a:rPr lang="zh-CN" altLang="en-US" sz="2000" dirty="0"/>
              <a:t>：语义函数，产生一个四元式，并填入四元式表。</a:t>
            </a:r>
          </a:p>
          <a:p>
            <a:pPr algn="just">
              <a:spcBef>
                <a:spcPts val="0"/>
              </a:spcBef>
            </a:pPr>
            <a:r>
              <a:rPr lang="en-US" altLang="zh-CN" sz="2000" b="1" u="sng" dirty="0">
                <a:solidFill>
                  <a:srgbClr val="FF3300"/>
                </a:solidFill>
              </a:rPr>
              <a:t>X.PLACE</a:t>
            </a:r>
            <a:r>
              <a:rPr lang="zh-CN" altLang="en-US" sz="2000" dirty="0">
                <a:solidFill>
                  <a:srgbClr val="FF3300"/>
                </a:solidFill>
              </a:rPr>
              <a:t>：</a:t>
            </a:r>
            <a:r>
              <a:rPr lang="zh-CN" altLang="en-US" sz="2000" dirty="0"/>
              <a:t>文法符号</a:t>
            </a:r>
            <a:r>
              <a:rPr lang="en-US" altLang="zh-CN" sz="2000" dirty="0"/>
              <a:t>X</a:t>
            </a:r>
            <a:r>
              <a:rPr lang="zh-CN" altLang="en-US" sz="2000" dirty="0"/>
              <a:t>的语义变量，可能是某变量的入口地址，或者为临时变量序号。</a:t>
            </a:r>
          </a:p>
          <a:p>
            <a:pPr algn="just">
              <a:spcBef>
                <a:spcPts val="0"/>
              </a:spcBef>
            </a:pPr>
            <a:r>
              <a:rPr lang="en-US" altLang="zh-CN" sz="2000" b="1" u="sng" dirty="0" err="1">
                <a:solidFill>
                  <a:srgbClr val="FF3300"/>
                </a:solidFill>
              </a:rPr>
              <a:t>newtemp</a:t>
            </a:r>
            <a:r>
              <a:rPr lang="en-US" altLang="zh-CN" sz="2000" b="1" u="sng" dirty="0">
                <a:solidFill>
                  <a:srgbClr val="FF3300"/>
                </a:solidFill>
              </a:rPr>
              <a:t>()</a:t>
            </a:r>
            <a:r>
              <a:rPr lang="zh-CN" altLang="en-US" sz="2000" dirty="0">
                <a:solidFill>
                  <a:srgbClr val="FF3300"/>
                </a:solidFill>
              </a:rPr>
              <a:t>：</a:t>
            </a:r>
            <a:r>
              <a:rPr lang="zh-CN" altLang="en-US" sz="2000" dirty="0"/>
              <a:t>函数，返回一个临时变量。在翻译可执行语句的过程中，可能需要使用临时变量，假定用</a:t>
            </a:r>
            <a:r>
              <a:rPr lang="en-US" altLang="zh-CN" sz="2000" b="1" u="sng" dirty="0" err="1">
                <a:solidFill>
                  <a:srgbClr val="FF3300"/>
                </a:solidFill>
              </a:rPr>
              <a:t>newtemp</a:t>
            </a:r>
            <a:r>
              <a:rPr lang="en-US" altLang="zh-CN" sz="2000" b="1" u="sng" dirty="0">
                <a:solidFill>
                  <a:srgbClr val="FF3300"/>
                </a:solidFill>
              </a:rPr>
              <a:t>()</a:t>
            </a:r>
            <a:r>
              <a:rPr lang="zh-CN" altLang="en-US" sz="2000" dirty="0"/>
              <a:t>来申请临时变量</a:t>
            </a:r>
            <a:r>
              <a:rPr lang="en-US" altLang="zh-CN" sz="2000" dirty="0" err="1"/>
              <a:t>Ti</a:t>
            </a:r>
            <a:r>
              <a:rPr lang="zh-CN" altLang="en-US" sz="2000" dirty="0"/>
              <a:t>，每申请一次，</a:t>
            </a:r>
            <a:r>
              <a:rPr lang="en-US" altLang="zh-CN" sz="2000" dirty="0" err="1"/>
              <a:t>i</a:t>
            </a:r>
            <a:r>
              <a:rPr lang="zh-CN" altLang="en-US" sz="2000" dirty="0"/>
              <a:t>增</a:t>
            </a:r>
            <a:r>
              <a:rPr lang="en-US" altLang="zh-CN" sz="2000" dirty="0"/>
              <a:t>1</a:t>
            </a:r>
            <a:r>
              <a:rPr lang="zh-CN" altLang="en-US" sz="2000" dirty="0"/>
              <a:t>。</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91302348"/>
              </p:ext>
            </p:extLst>
          </p:nvPr>
        </p:nvGraphicFramePr>
        <p:xfrm>
          <a:off x="4300290" y="3594422"/>
          <a:ext cx="4843710" cy="1549078"/>
        </p:xfrm>
        <a:graphic>
          <a:graphicData uri="http://schemas.openxmlformats.org/presentationml/2006/ole">
            <mc:AlternateContent xmlns:mc="http://schemas.openxmlformats.org/markup-compatibility/2006">
              <mc:Choice xmlns:v="urn:schemas-microsoft-com:vml" Requires="v">
                <p:oleObj spid="_x0000_s20485" name="Visio" r:id="rId4" imgW="3935595" imgH="1255575" progId="Visio.Drawing.11">
                  <p:embed/>
                </p:oleObj>
              </mc:Choice>
              <mc:Fallback>
                <p:oleObj name="Visio" r:id="rId4" imgW="3935595" imgH="1255575" progId="Visio.Drawing.11">
                  <p:embed/>
                  <p:pic>
                    <p:nvPicPr>
                      <p:cNvPr id="3"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0290" y="3594422"/>
                        <a:ext cx="4843710" cy="1549078"/>
                      </a:xfrm>
                      <a:prstGeom prst="rect">
                        <a:avLst/>
                      </a:prstGeom>
                      <a:noFill/>
                    </p:spPr>
                  </p:pic>
                </p:oleObj>
              </mc:Fallback>
            </mc:AlternateContent>
          </a:graphicData>
        </a:graphic>
      </p:graphicFrame>
    </p:spTree>
    <p:extLst>
      <p:ext uri="{BB962C8B-B14F-4D97-AF65-F5344CB8AC3E}">
        <p14:creationId xmlns:p14="http://schemas.microsoft.com/office/powerpoint/2010/main" val="224591721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0" y="0"/>
            <a:ext cx="8229600" cy="555526"/>
          </a:xfrm>
        </p:spPr>
        <p:txBody>
          <a:bodyPr>
            <a:normAutofit fontScale="90000"/>
          </a:bodyPr>
          <a:lstStyle/>
          <a:p>
            <a:pPr eaLnBrk="1" hangingPunct="1"/>
            <a:r>
              <a:rPr lang="zh-CN" altLang="en-US" sz="3200" dirty="0"/>
              <a:t>赋值</a:t>
            </a:r>
            <a:r>
              <a:rPr lang="zh-CN" altLang="en-US" sz="3200" b="1" dirty="0"/>
              <a:t>表达式和算术表达式的翻译</a:t>
            </a:r>
          </a:p>
        </p:txBody>
      </p:sp>
      <p:sp>
        <p:nvSpPr>
          <p:cNvPr id="81923" name="Rectangle 4"/>
          <p:cNvSpPr>
            <a:spLocks noChangeArrowheads="1"/>
          </p:cNvSpPr>
          <p:nvPr/>
        </p:nvSpPr>
        <p:spPr bwMode="auto">
          <a:xfrm>
            <a:off x="81191" y="559596"/>
            <a:ext cx="5472855" cy="431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buFontTx/>
              <a:buNone/>
            </a:pPr>
            <a:r>
              <a:rPr lang="zh-CN" altLang="en-US" sz="2200" b="1" dirty="0">
                <a:solidFill>
                  <a:srgbClr val="0033CC"/>
                </a:solidFill>
              </a:rPr>
              <a:t>１</a:t>
            </a:r>
            <a:r>
              <a:rPr lang="en-US" altLang="zh-CN" sz="2200" b="1" dirty="0">
                <a:solidFill>
                  <a:srgbClr val="0033CC"/>
                </a:solidFill>
              </a:rPr>
              <a:t>. </a:t>
            </a:r>
            <a:r>
              <a:rPr lang="zh-CN" altLang="en-US" sz="2200" b="1" dirty="0">
                <a:solidFill>
                  <a:srgbClr val="0033CC"/>
                </a:solidFill>
              </a:rPr>
              <a:t>简单赋值表达式的文法结构</a:t>
            </a:r>
          </a:p>
        </p:txBody>
      </p:sp>
      <p:sp>
        <p:nvSpPr>
          <p:cNvPr id="56325" name="Rectangle 5"/>
          <p:cNvSpPr>
            <a:spLocks noChangeArrowheads="1"/>
          </p:cNvSpPr>
          <p:nvPr/>
        </p:nvSpPr>
        <p:spPr bwMode="auto">
          <a:xfrm>
            <a:off x="251718" y="4574015"/>
            <a:ext cx="5040361" cy="431006"/>
          </a:xfrm>
          <a:prstGeom prst="rect">
            <a:avLst/>
          </a:prstGeom>
          <a:solidFill>
            <a:schemeClr val="bg1"/>
          </a:solidFill>
          <a:ln>
            <a:noFill/>
          </a:ln>
        </p:spPr>
        <p:txBody>
          <a:bodyPr lIns="92075" tIns="46038" rIns="92075" bIns="46038"/>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buFontTx/>
              <a:buNone/>
            </a:pPr>
            <a:r>
              <a:rPr lang="en-US" altLang="zh-CN" sz="2200" b="1" dirty="0">
                <a:solidFill>
                  <a:srgbClr val="0033CC"/>
                </a:solidFill>
              </a:rPr>
              <a:t>2. </a:t>
            </a:r>
            <a:r>
              <a:rPr lang="zh-CN" altLang="en-US" sz="2200" b="1" dirty="0">
                <a:solidFill>
                  <a:srgbClr val="0033CC"/>
                </a:solidFill>
              </a:rPr>
              <a:t>简单赋值表达式的目标代码结构</a:t>
            </a:r>
          </a:p>
        </p:txBody>
      </p:sp>
      <p:sp>
        <p:nvSpPr>
          <p:cNvPr id="56328" name="Text Box 8"/>
          <p:cNvSpPr txBox="1">
            <a:spLocks noChangeArrowheads="1"/>
          </p:cNvSpPr>
          <p:nvPr/>
        </p:nvSpPr>
        <p:spPr bwMode="auto">
          <a:xfrm>
            <a:off x="6027847" y="230833"/>
            <a:ext cx="27206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zh-CN" altLang="en-US" sz="2400" b="1" dirty="0">
                <a:solidFill>
                  <a:srgbClr val="FF3300"/>
                </a:solidFill>
              </a:rPr>
              <a:t>例如：</a:t>
            </a:r>
            <a:r>
              <a:rPr lang="en-US" altLang="zh-CN" sz="2400" b="1" dirty="0">
                <a:solidFill>
                  <a:srgbClr val="FF3300"/>
                </a:solidFill>
              </a:rPr>
              <a:t>x = 2+3 * 2</a:t>
            </a:r>
          </a:p>
        </p:txBody>
      </p:sp>
      <p:sp>
        <p:nvSpPr>
          <p:cNvPr id="81926" name="Rectangle 1"/>
          <p:cNvSpPr>
            <a:spLocks noChangeArrowheads="1"/>
          </p:cNvSpPr>
          <p:nvPr/>
        </p:nvSpPr>
        <p:spPr bwMode="auto">
          <a:xfrm>
            <a:off x="242590" y="992350"/>
            <a:ext cx="8505874" cy="1477328"/>
          </a:xfrm>
          <a:prstGeom prst="rect">
            <a:avLst/>
          </a:prstGeom>
          <a:ln/>
        </p:spPr>
        <p:style>
          <a:lnRef idx="2">
            <a:schemeClr val="accent1"/>
          </a:lnRef>
          <a:fillRef idx="1">
            <a:schemeClr val="lt1"/>
          </a:fillRef>
          <a:effectRef idx="0">
            <a:schemeClr val="accent1"/>
          </a:effectRef>
          <a:fontRef idx="minor">
            <a:schemeClr val="dk1"/>
          </a:fontRef>
        </p:style>
        <p:txBody>
          <a:bodyPr wrap="squar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266700" indent="-266700" algn="just"/>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&lt;</a:t>
            </a:r>
            <a:r>
              <a:rPr lang="zh-CN" altLang="zh-CN" sz="1800" kern="100" dirty="0">
                <a:effectLst/>
                <a:latin typeface="Times New Roman" panose="02020603050405020304" pitchFamily="18" charset="0"/>
                <a:ea typeface="宋体" panose="02010600030101010101" pitchFamily="2" charset="-122"/>
              </a:rPr>
              <a:t>赋值表达式</a:t>
            </a:r>
            <a:r>
              <a:rPr lang="en-US" altLang="zh-CN" sz="1800" kern="100" dirty="0">
                <a:effectLst/>
                <a:latin typeface="Times New Roman" panose="02020603050405020304" pitchFamily="18" charset="0"/>
                <a:ea typeface="宋体" panose="02010600030101010101" pitchFamily="2" charset="-122"/>
              </a:rPr>
              <a:t>&gt;</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&lt;</a:t>
            </a:r>
            <a:r>
              <a:rPr lang="zh-CN" altLang="zh-CN" sz="1800" kern="100" dirty="0">
                <a:effectLst/>
                <a:latin typeface="Times New Roman" panose="02020603050405020304" pitchFamily="18" charset="0"/>
                <a:ea typeface="宋体" panose="02010600030101010101" pitchFamily="2" charset="-122"/>
              </a:rPr>
              <a:t>标识符</a:t>
            </a:r>
            <a:r>
              <a:rPr lang="en-US" altLang="zh-CN" sz="1800" kern="100" dirty="0">
                <a:effectLst/>
                <a:latin typeface="Times New Roman" panose="02020603050405020304" pitchFamily="18" charset="0"/>
                <a:ea typeface="宋体" panose="02010600030101010101" pitchFamily="2" charset="-122"/>
              </a:rPr>
              <a:t>&gt;=&lt;</a:t>
            </a:r>
            <a:r>
              <a:rPr lang="zh-CN" altLang="zh-CN" sz="1800" kern="100" dirty="0">
                <a:effectLst/>
                <a:latin typeface="Times New Roman" panose="02020603050405020304" pitchFamily="18" charset="0"/>
                <a:ea typeface="宋体" panose="02010600030101010101" pitchFamily="2" charset="-122"/>
              </a:rPr>
              <a:t>算术表达式</a:t>
            </a:r>
            <a:r>
              <a:rPr lang="en-US" altLang="zh-CN" sz="1800" kern="100" dirty="0">
                <a:effectLst/>
                <a:latin typeface="Times New Roman" panose="02020603050405020304" pitchFamily="18" charset="0"/>
                <a:ea typeface="宋体" panose="02010600030101010101" pitchFamily="2" charset="-122"/>
              </a:rPr>
              <a:t>&gt;</a:t>
            </a:r>
            <a:r>
              <a:rPr lang="it-IT" altLang="zh-CN" sz="1800" kern="100" dirty="0">
                <a:effectLst/>
                <a:latin typeface="宋体" panose="02010600030101010101" pitchFamily="2" charset="-122"/>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【简写为：</a:t>
            </a:r>
            <a:r>
              <a:rPr lang="en-US" altLang="zh-CN" sz="1800" kern="100" dirty="0">
                <a:effectLst/>
                <a:latin typeface="宋体" panose="02010600030101010101" pitchFamily="2" charset="-122"/>
                <a:ea typeface="宋体" panose="02010600030101010101" pitchFamily="2" charset="-122"/>
              </a:rPr>
              <a:t>S → id = E  </a:t>
            </a:r>
            <a:r>
              <a:rPr lang="zh-CN" altLang="zh-CN" sz="1800" kern="100" dirty="0">
                <a:effectLst/>
                <a:latin typeface="Times New Roman" panose="02020603050405020304" pitchFamily="18" charset="0"/>
                <a:ea typeface="宋体" panose="02010600030101010101" pitchFamily="2" charset="-122"/>
              </a:rPr>
              <a:t>】</a:t>
            </a:r>
          </a:p>
          <a:p>
            <a:pPr marL="266700" indent="-266700" algn="just"/>
            <a:r>
              <a:rPr lang="zh-CN" altLang="zh-CN" sz="1800" kern="100" dirty="0">
                <a:effectLst/>
                <a:latin typeface="Times New Roman" panose="02020603050405020304" pitchFamily="18" charset="0"/>
                <a:ea typeface="宋体" panose="02010600030101010101" pitchFamily="2" charset="-122"/>
              </a:rPr>
              <a:t>（</a:t>
            </a:r>
            <a:r>
              <a:rPr lang="it-IT" altLang="zh-CN" sz="1800" kern="100" dirty="0">
                <a:effectLst/>
                <a:latin typeface="Times New Roman" panose="02020603050405020304" pitchFamily="18" charset="0"/>
                <a:ea typeface="宋体" panose="02010600030101010101" pitchFamily="2" charset="-122"/>
              </a:rPr>
              <a:t>2</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&lt;</a:t>
            </a:r>
            <a:r>
              <a:rPr lang="zh-CN" altLang="zh-CN" sz="1800" kern="100" dirty="0">
                <a:effectLst/>
                <a:latin typeface="Times New Roman" panose="02020603050405020304" pitchFamily="18" charset="0"/>
                <a:ea typeface="宋体" panose="02010600030101010101" pitchFamily="2" charset="-122"/>
              </a:rPr>
              <a:t>算术表达式</a:t>
            </a:r>
            <a:r>
              <a:rPr lang="en-US" altLang="zh-CN" sz="1800" kern="100" dirty="0">
                <a:effectLst/>
                <a:latin typeface="Times New Roman" panose="02020603050405020304" pitchFamily="18" charset="0"/>
                <a:ea typeface="宋体" panose="02010600030101010101" pitchFamily="2" charset="-122"/>
              </a:rPr>
              <a:t>&gt;→&lt;</a:t>
            </a:r>
            <a:r>
              <a:rPr lang="zh-CN" altLang="zh-CN" sz="1800" kern="100" dirty="0">
                <a:effectLst/>
                <a:latin typeface="Times New Roman" panose="02020603050405020304" pitchFamily="18" charset="0"/>
                <a:ea typeface="宋体" panose="02010600030101010101" pitchFamily="2" charset="-122"/>
              </a:rPr>
              <a:t>算术表达式</a:t>
            </a:r>
            <a:r>
              <a:rPr lang="en-US" altLang="zh-CN" sz="1800" kern="100" dirty="0">
                <a:effectLst/>
                <a:latin typeface="Times New Roman" panose="02020603050405020304" pitchFamily="18" charset="0"/>
                <a:ea typeface="宋体" panose="02010600030101010101" pitchFamily="2" charset="-122"/>
              </a:rPr>
              <a:t>&gt;+&lt;</a:t>
            </a:r>
            <a:r>
              <a:rPr lang="zh-CN" altLang="zh-CN" sz="1800" kern="100" dirty="0">
                <a:effectLst/>
                <a:latin typeface="Times New Roman" panose="02020603050405020304" pitchFamily="18" charset="0"/>
                <a:ea typeface="宋体" panose="02010600030101010101" pitchFamily="2" charset="-122"/>
              </a:rPr>
              <a:t>项</a:t>
            </a:r>
            <a:r>
              <a:rPr lang="en-US" altLang="zh-CN" sz="1800" kern="100" dirty="0">
                <a:effectLst/>
                <a:latin typeface="Times New Roman" panose="02020603050405020304" pitchFamily="18" charset="0"/>
                <a:ea typeface="宋体" panose="02010600030101010101" pitchFamily="2" charset="-122"/>
              </a:rPr>
              <a:t>&gt;|&lt;</a:t>
            </a:r>
            <a:r>
              <a:rPr lang="zh-CN" altLang="zh-CN" sz="1800" kern="100" dirty="0">
                <a:effectLst/>
                <a:latin typeface="Times New Roman" panose="02020603050405020304" pitchFamily="18" charset="0"/>
                <a:ea typeface="宋体" panose="02010600030101010101" pitchFamily="2" charset="-122"/>
              </a:rPr>
              <a:t>项</a:t>
            </a:r>
            <a:r>
              <a:rPr lang="en-US" altLang="zh-CN" sz="1800" kern="100" dirty="0">
                <a:effectLst/>
                <a:latin typeface="Times New Roman" panose="02020603050405020304" pitchFamily="18" charset="0"/>
                <a:ea typeface="宋体" panose="02010600030101010101" pitchFamily="2" charset="-122"/>
              </a:rPr>
              <a:t>&gt; </a:t>
            </a:r>
            <a:r>
              <a:rPr lang="fr-FR" altLang="zh-CN" sz="1800" kern="100" dirty="0">
                <a:effectLst/>
                <a:latin typeface="宋体" panose="02010600030101010101" pitchFamily="2" charset="-122"/>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【简写为：</a:t>
            </a:r>
            <a:r>
              <a:rPr lang="fr-FR" altLang="zh-CN" sz="1800" kern="100" dirty="0">
                <a:effectLst/>
                <a:latin typeface="宋体" panose="02010600030101010101" pitchFamily="2" charset="-122"/>
                <a:ea typeface="宋体" panose="02010600030101010101" pitchFamily="2" charset="-122"/>
              </a:rPr>
              <a:t>E → E</a:t>
            </a:r>
            <a:r>
              <a:rPr lang="fr-FR" altLang="zh-CN" sz="1800" kern="100" baseline="-25000" dirty="0">
                <a:effectLst/>
                <a:latin typeface="宋体" panose="02010600030101010101" pitchFamily="2" charset="-122"/>
                <a:ea typeface="宋体" panose="02010600030101010101" pitchFamily="2" charset="-122"/>
              </a:rPr>
              <a:t>1</a:t>
            </a:r>
            <a:r>
              <a:rPr lang="fr-FR" altLang="zh-CN" sz="1800" kern="100" dirty="0">
                <a:effectLst/>
                <a:latin typeface="宋体" panose="02010600030101010101" pitchFamily="2" charset="-122"/>
                <a:ea typeface="宋体" panose="02010600030101010101" pitchFamily="2" charset="-122"/>
              </a:rPr>
              <a:t>+T | T </a:t>
            </a:r>
            <a:r>
              <a:rPr lang="zh-CN" altLang="zh-CN" sz="1800" kern="100" dirty="0">
                <a:effectLst/>
                <a:latin typeface="Times New Roman" panose="02020603050405020304" pitchFamily="18" charset="0"/>
                <a:ea typeface="宋体" panose="02010600030101010101" pitchFamily="2" charset="-122"/>
              </a:rPr>
              <a:t>】</a:t>
            </a:r>
          </a:p>
          <a:p>
            <a:pPr marL="266700" indent="-266700" algn="just" fontAlgn="t"/>
            <a:r>
              <a:rPr lang="zh-CN" altLang="zh-CN" sz="1800" kern="100" dirty="0">
                <a:effectLst/>
                <a:latin typeface="Times New Roman" panose="02020603050405020304" pitchFamily="18" charset="0"/>
                <a:ea typeface="宋体" panose="02010600030101010101" pitchFamily="2" charset="-122"/>
              </a:rPr>
              <a:t>（</a:t>
            </a:r>
            <a:r>
              <a:rPr lang="fr-FR" altLang="zh-CN" sz="1800" kern="100" dirty="0">
                <a:effectLst/>
                <a:latin typeface="Times New Roman" panose="02020603050405020304" pitchFamily="18" charset="0"/>
                <a:ea typeface="宋体" panose="02010600030101010101" pitchFamily="2" charset="-122"/>
              </a:rPr>
              <a:t>3</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&lt;</a:t>
            </a:r>
            <a:r>
              <a:rPr lang="zh-CN" altLang="zh-CN" sz="1800" kern="100" dirty="0">
                <a:effectLst/>
                <a:latin typeface="Times New Roman" panose="02020603050405020304" pitchFamily="18" charset="0"/>
                <a:ea typeface="宋体" panose="02010600030101010101" pitchFamily="2" charset="-122"/>
              </a:rPr>
              <a:t>项</a:t>
            </a:r>
            <a:r>
              <a:rPr lang="en-US" altLang="zh-CN" sz="1800" kern="100" dirty="0">
                <a:effectLst/>
                <a:latin typeface="Times New Roman" panose="02020603050405020304" pitchFamily="18" charset="0"/>
                <a:ea typeface="宋体" panose="02010600030101010101" pitchFamily="2" charset="-122"/>
              </a:rPr>
              <a:t>&gt;→&lt;</a:t>
            </a:r>
            <a:r>
              <a:rPr lang="zh-CN" altLang="zh-CN" sz="1800" kern="100" dirty="0">
                <a:effectLst/>
                <a:latin typeface="Times New Roman" panose="02020603050405020304" pitchFamily="18" charset="0"/>
                <a:ea typeface="宋体" panose="02010600030101010101" pitchFamily="2" charset="-122"/>
              </a:rPr>
              <a:t>项</a:t>
            </a:r>
            <a:r>
              <a:rPr lang="en-US" altLang="zh-CN" sz="1800" kern="100" dirty="0">
                <a:effectLst/>
                <a:latin typeface="Times New Roman" panose="02020603050405020304" pitchFamily="18" charset="0"/>
                <a:ea typeface="宋体" panose="02010600030101010101" pitchFamily="2" charset="-122"/>
              </a:rPr>
              <a:t>&gt;*&lt;</a:t>
            </a:r>
            <a:r>
              <a:rPr lang="zh-CN" altLang="zh-CN" sz="1800" kern="100" dirty="0">
                <a:effectLst/>
                <a:latin typeface="Times New Roman" panose="02020603050405020304" pitchFamily="18" charset="0"/>
                <a:ea typeface="宋体" panose="02010600030101010101" pitchFamily="2" charset="-122"/>
              </a:rPr>
              <a:t>因子</a:t>
            </a:r>
            <a:r>
              <a:rPr lang="en-US" altLang="zh-CN" sz="1800" kern="100" dirty="0">
                <a:effectLst/>
                <a:latin typeface="Times New Roman" panose="02020603050405020304" pitchFamily="18" charset="0"/>
                <a:ea typeface="宋体" panose="02010600030101010101" pitchFamily="2" charset="-122"/>
              </a:rPr>
              <a:t>&gt;|&lt;</a:t>
            </a:r>
            <a:r>
              <a:rPr lang="zh-CN" altLang="zh-CN" sz="1800" kern="100" dirty="0">
                <a:effectLst/>
                <a:latin typeface="Times New Roman" panose="02020603050405020304" pitchFamily="18" charset="0"/>
                <a:ea typeface="宋体" panose="02010600030101010101" pitchFamily="2" charset="-122"/>
              </a:rPr>
              <a:t>因子</a:t>
            </a:r>
            <a:r>
              <a:rPr lang="en-US" altLang="zh-CN" sz="1800" kern="100" dirty="0">
                <a:effectLst/>
                <a:latin typeface="Times New Roman" panose="02020603050405020304" pitchFamily="18" charset="0"/>
                <a:ea typeface="宋体" panose="02010600030101010101" pitchFamily="2" charset="-122"/>
              </a:rPr>
              <a:t>&gt;</a:t>
            </a:r>
            <a:r>
              <a:rPr lang="x-none" altLang="zh-CN" sz="1800" kern="100" dirty="0">
                <a:effectLst/>
                <a:latin typeface="Times New Roman" panose="02020603050405020304" pitchFamily="18" charset="0"/>
                <a:ea typeface="宋体" panose="02010600030101010101" pitchFamily="2" charset="-122"/>
              </a:rPr>
              <a:t>                        </a:t>
            </a:r>
            <a:r>
              <a:rPr lang="x-none" altLang="zh-CN" sz="1800" kern="100" dirty="0">
                <a:effectLst/>
                <a:latin typeface="宋体" panose="02010600030101010101" pitchFamily="2" charset="-122"/>
                <a:ea typeface="宋体" panose="02010600030101010101" pitchFamily="2" charset="-122"/>
              </a:rPr>
              <a:t> </a:t>
            </a:r>
            <a:r>
              <a:rPr lang="en-US" altLang="zh-CN" sz="1800" kern="100" dirty="0">
                <a:effectLst/>
                <a:latin typeface="宋体" panose="02010600030101010101" pitchFamily="2" charset="-122"/>
                <a:ea typeface="宋体" panose="02010600030101010101" pitchFamily="2" charset="-122"/>
              </a:rPr>
              <a:t> </a:t>
            </a:r>
            <a:r>
              <a:rPr lang="x-none" altLang="zh-CN" sz="1800" kern="100" dirty="0">
                <a:effectLst/>
                <a:latin typeface="宋体" panose="02010600030101010101" pitchFamily="2" charset="-122"/>
                <a:ea typeface="宋体" panose="02010600030101010101" pitchFamily="2" charset="-122"/>
              </a:rPr>
              <a:t> </a:t>
            </a:r>
            <a:r>
              <a:rPr lang="en-US" altLang="zh-CN" sz="1800" kern="100" dirty="0">
                <a:effectLst/>
                <a:latin typeface="宋体" panose="02010600030101010101" pitchFamily="2" charset="-122"/>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【简写为：</a:t>
            </a:r>
            <a:r>
              <a:rPr lang="fr-FR" altLang="zh-CN" sz="1800" kern="100" dirty="0">
                <a:effectLst/>
                <a:latin typeface="宋体" panose="02010600030101010101" pitchFamily="2" charset="-122"/>
                <a:ea typeface="宋体" panose="02010600030101010101" pitchFamily="2" charset="-122"/>
              </a:rPr>
              <a:t>T → T</a:t>
            </a:r>
            <a:r>
              <a:rPr lang="fr-FR" altLang="zh-CN" sz="1800" kern="100" baseline="-25000" dirty="0">
                <a:effectLst/>
                <a:latin typeface="宋体" panose="02010600030101010101" pitchFamily="2" charset="-122"/>
                <a:ea typeface="宋体" panose="02010600030101010101" pitchFamily="2" charset="-122"/>
              </a:rPr>
              <a:t>1</a:t>
            </a:r>
            <a:r>
              <a:rPr lang="fr-FR" altLang="zh-CN" sz="1800" kern="100" dirty="0">
                <a:effectLst/>
                <a:latin typeface="宋体" panose="02010600030101010101" pitchFamily="2" charset="-122"/>
                <a:ea typeface="宋体" panose="02010600030101010101" pitchFamily="2" charset="-122"/>
              </a:rPr>
              <a:t>*F | F </a:t>
            </a:r>
            <a:r>
              <a:rPr lang="zh-CN" altLang="zh-CN" sz="1800" kern="100" dirty="0">
                <a:effectLst/>
                <a:latin typeface="Times New Roman" panose="02020603050405020304" pitchFamily="18" charset="0"/>
                <a:ea typeface="宋体" panose="02010600030101010101" pitchFamily="2" charset="-122"/>
              </a:rPr>
              <a:t>】</a:t>
            </a:r>
          </a:p>
          <a:p>
            <a:pPr marL="266700" indent="-266700" algn="just"/>
            <a:r>
              <a:rPr lang="zh-CN" altLang="zh-CN" sz="1800" kern="100" dirty="0">
                <a:effectLst/>
                <a:latin typeface="Times New Roman" panose="02020603050405020304" pitchFamily="18" charset="0"/>
                <a:ea typeface="宋体" panose="02010600030101010101" pitchFamily="2" charset="-122"/>
              </a:rPr>
              <a:t>（</a:t>
            </a:r>
            <a:r>
              <a:rPr lang="fr-FR" altLang="zh-CN" sz="1800" kern="100" dirty="0">
                <a:effectLst/>
                <a:latin typeface="Times New Roman" panose="02020603050405020304" pitchFamily="18" charset="0"/>
                <a:ea typeface="宋体" panose="02010600030101010101" pitchFamily="2" charset="-122"/>
              </a:rPr>
              <a:t>4</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&lt;</a:t>
            </a:r>
            <a:r>
              <a:rPr lang="zh-CN" altLang="zh-CN" sz="1800" kern="100" dirty="0">
                <a:effectLst/>
                <a:latin typeface="Times New Roman" panose="02020603050405020304" pitchFamily="18" charset="0"/>
                <a:ea typeface="宋体" panose="02010600030101010101" pitchFamily="2" charset="-122"/>
              </a:rPr>
              <a:t>因子</a:t>
            </a:r>
            <a:r>
              <a:rPr lang="en-US" altLang="zh-CN" sz="1800" kern="100" dirty="0">
                <a:effectLst/>
                <a:latin typeface="Times New Roman" panose="02020603050405020304" pitchFamily="18" charset="0"/>
                <a:ea typeface="宋体" panose="02010600030101010101" pitchFamily="2" charset="-122"/>
              </a:rPr>
              <a:t>&gt;→</a:t>
            </a:r>
            <a:r>
              <a:rPr lang="fr-FR" altLang="zh-CN"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&lt;</a:t>
            </a:r>
            <a:r>
              <a:rPr lang="zh-CN" altLang="zh-CN" sz="1800" kern="100" dirty="0">
                <a:effectLst/>
                <a:latin typeface="Times New Roman" panose="02020603050405020304" pitchFamily="18" charset="0"/>
                <a:ea typeface="宋体" panose="02010600030101010101" pitchFamily="2" charset="-122"/>
              </a:rPr>
              <a:t>因子</a:t>
            </a:r>
            <a:r>
              <a:rPr lang="en-US" altLang="zh-CN" sz="1800" kern="100" dirty="0">
                <a:effectLst/>
                <a:latin typeface="Times New Roman" panose="02020603050405020304" pitchFamily="18" charset="0"/>
                <a:ea typeface="宋体" panose="02010600030101010101" pitchFamily="2" charset="-122"/>
              </a:rPr>
              <a:t>&gt; </a:t>
            </a:r>
            <a:r>
              <a:rPr lang="fr-FR" altLang="zh-CN" sz="1800" kern="100" dirty="0">
                <a:effectLst/>
                <a:latin typeface="宋体" panose="02010600030101010101" pitchFamily="2" charset="-122"/>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【简写为：</a:t>
            </a:r>
            <a:r>
              <a:rPr lang="fr-FR" altLang="zh-CN" sz="1800" kern="100" dirty="0">
                <a:effectLst/>
                <a:latin typeface="宋体" panose="02010600030101010101" pitchFamily="2" charset="-122"/>
                <a:ea typeface="宋体" panose="02010600030101010101" pitchFamily="2" charset="-122"/>
              </a:rPr>
              <a:t>F → -F   </a:t>
            </a:r>
            <a:r>
              <a:rPr lang="zh-CN" altLang="zh-CN" sz="1800" kern="100" dirty="0">
                <a:effectLst/>
                <a:latin typeface="Times New Roman" panose="02020603050405020304" pitchFamily="18" charset="0"/>
                <a:ea typeface="宋体" panose="02010600030101010101" pitchFamily="2" charset="-122"/>
              </a:rPr>
              <a:t>】</a:t>
            </a:r>
          </a:p>
          <a:p>
            <a:pPr marL="266700" indent="-266700" algn="just"/>
            <a:r>
              <a:rPr lang="zh-CN" altLang="en-US" sz="1800" kern="100" dirty="0">
                <a:latin typeface="Times New Roman" panose="02020603050405020304" pitchFamily="18" charset="0"/>
              </a:rPr>
              <a:t>（</a:t>
            </a:r>
            <a:r>
              <a:rPr lang="en-US" altLang="zh-CN" sz="1800" kern="100" dirty="0">
                <a:latin typeface="Times New Roman" panose="02020603050405020304" pitchFamily="18" charset="0"/>
              </a:rPr>
              <a:t>5</a:t>
            </a:r>
            <a:r>
              <a:rPr lang="zh-CN" altLang="en-US" sz="1800" kern="100" dirty="0">
                <a:latin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&lt;</a:t>
            </a:r>
            <a:r>
              <a:rPr lang="zh-CN" altLang="zh-CN" sz="1800" kern="100" dirty="0">
                <a:effectLst/>
                <a:latin typeface="Times New Roman" panose="02020603050405020304" pitchFamily="18" charset="0"/>
                <a:ea typeface="宋体" panose="02010600030101010101" pitchFamily="2" charset="-122"/>
              </a:rPr>
              <a:t>因子</a:t>
            </a:r>
            <a:r>
              <a:rPr lang="en-US" altLang="zh-CN" sz="1800" kern="100" dirty="0">
                <a:effectLst/>
                <a:latin typeface="Times New Roman" panose="02020603050405020304" pitchFamily="18" charset="0"/>
                <a:ea typeface="宋体" panose="02010600030101010101" pitchFamily="2" charset="-122"/>
              </a:rPr>
              <a:t>&gt;→ </a:t>
            </a:r>
            <a:r>
              <a:rPr lang="en-US" altLang="zh-CN" sz="1800" kern="100" dirty="0">
                <a:effectLst/>
                <a:ea typeface="宋体" panose="02010600030101010101" pitchFamily="2" charset="-122"/>
                <a:cs typeface="Times New Roman" panose="02020603050405020304" pitchFamily="18" charset="0"/>
              </a:rPr>
              <a:t>&lt;</a:t>
            </a:r>
            <a:r>
              <a:rPr lang="zh-CN" altLang="zh-CN" sz="1800" kern="100" dirty="0">
                <a:effectLst/>
                <a:ea typeface="宋体" panose="02010600030101010101" pitchFamily="2" charset="-122"/>
                <a:cs typeface="Times New Roman" panose="02020603050405020304" pitchFamily="18" charset="0"/>
              </a:rPr>
              <a:t>变量</a:t>
            </a:r>
            <a:r>
              <a:rPr lang="en-US" altLang="zh-CN" sz="1800" kern="100" dirty="0">
                <a:effectLst/>
                <a:ea typeface="宋体" panose="02010600030101010101" pitchFamily="2" charset="-122"/>
                <a:cs typeface="Times New Roman" panose="02020603050405020304" pitchFamily="18" charset="0"/>
              </a:rPr>
              <a:t>&gt; |(&lt;</a:t>
            </a:r>
            <a:r>
              <a:rPr lang="zh-CN" altLang="zh-CN" sz="1800" kern="100" dirty="0">
                <a:effectLst/>
                <a:ea typeface="宋体" panose="02010600030101010101" pitchFamily="2" charset="-122"/>
                <a:cs typeface="Times New Roman" panose="02020603050405020304" pitchFamily="18" charset="0"/>
              </a:rPr>
              <a:t>算术表达式</a:t>
            </a:r>
            <a:r>
              <a:rPr lang="en-US" altLang="zh-CN" sz="1800" kern="100" dirty="0">
                <a:effectLst/>
                <a:ea typeface="宋体" panose="02010600030101010101" pitchFamily="2" charset="-122"/>
                <a:cs typeface="Times New Roman" panose="02020603050405020304" pitchFamily="18" charset="0"/>
              </a:rPr>
              <a:t>&gt;)</a:t>
            </a:r>
            <a:r>
              <a:rPr lang="en-US" altLang="zh-CN" sz="1800" kern="100" dirty="0">
                <a:effectLst/>
                <a:latin typeface="宋体" panose="02010600030101010101" pitchFamily="2" charset="-122"/>
                <a:cs typeface="Times New Roman" panose="02020603050405020304" pitchFamily="18" charset="0"/>
              </a:rPr>
              <a:t>  </a:t>
            </a:r>
            <a:r>
              <a:rPr lang="pt-PT" altLang="zh-CN" sz="1800" kern="100" dirty="0">
                <a:effectLst/>
                <a:latin typeface="宋体" panose="02010600030101010101" pitchFamily="2" charset="-122"/>
                <a:cs typeface="Times New Roman" panose="02020603050405020304" pitchFamily="18" charset="0"/>
              </a:rPr>
              <a:t>          </a:t>
            </a:r>
            <a:r>
              <a:rPr lang="zh-CN" altLang="zh-CN" sz="1800" kern="100" dirty="0">
                <a:effectLst/>
                <a:ea typeface="宋体" panose="02010600030101010101" pitchFamily="2" charset="-122"/>
                <a:cs typeface="Times New Roman" panose="02020603050405020304" pitchFamily="18" charset="0"/>
              </a:rPr>
              <a:t>【简写为：</a:t>
            </a:r>
            <a:r>
              <a:rPr lang="en-US" altLang="zh-CN" sz="1800" kern="100" dirty="0">
                <a:effectLst/>
                <a:latin typeface="宋体" panose="02010600030101010101" pitchFamily="2" charset="-122"/>
                <a:cs typeface="Times New Roman" panose="02020603050405020304" pitchFamily="18" charset="0"/>
              </a:rPr>
              <a:t>F</a:t>
            </a:r>
            <a:r>
              <a:rPr lang="fr-FR" altLang="zh-CN" sz="1800" kern="100" dirty="0">
                <a:effectLst/>
                <a:latin typeface="宋体" panose="02010600030101010101" pitchFamily="2" charset="-122"/>
                <a:cs typeface="Times New Roman" panose="02020603050405020304" pitchFamily="18" charset="0"/>
              </a:rPr>
              <a:t>→id</a:t>
            </a:r>
            <a:r>
              <a:rPr lang="pt-PT" altLang="zh-CN" sz="1800" kern="100" dirty="0">
                <a:effectLst/>
                <a:latin typeface="宋体" panose="02010600030101010101" pitchFamily="2" charset="-122"/>
                <a:cs typeface="Times New Roman" panose="02020603050405020304" pitchFamily="18" charset="0"/>
              </a:rPr>
              <a:t>|</a:t>
            </a:r>
            <a:r>
              <a:rPr lang="fr-FR" altLang="zh-CN" sz="1800" kern="100" dirty="0">
                <a:effectLst/>
                <a:latin typeface="宋体" panose="02010600030101010101" pitchFamily="2" charset="-122"/>
                <a:cs typeface="Times New Roman" panose="02020603050405020304" pitchFamily="18" charset="0"/>
              </a:rPr>
              <a:t>(E)   </a:t>
            </a:r>
            <a:r>
              <a:rPr lang="zh-CN" altLang="zh-CN" sz="1800" kern="100" dirty="0">
                <a:effectLst/>
                <a:ea typeface="宋体" panose="02010600030101010101" pitchFamily="2" charset="-122"/>
                <a:cs typeface="Times New Roman" panose="02020603050405020304" pitchFamily="18" charset="0"/>
              </a:rPr>
              <a:t>】</a:t>
            </a:r>
            <a:endParaRPr lang="fr-FR" altLang="zh-CN" sz="1800" dirty="0">
              <a:latin typeface="宋体" pitchFamily="2" charset="-122"/>
              <a:cs typeface="Times New Roman" pitchFamily="18" charset="0"/>
            </a:endParaRPr>
          </a:p>
        </p:txBody>
      </p:sp>
      <p:sp>
        <p:nvSpPr>
          <p:cNvPr id="81927" name="Rectangle 3"/>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sp>
        <p:nvSpPr>
          <p:cNvPr id="81928" name="Rectangle 5"/>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81929" name="Object 4"/>
          <p:cNvGraphicFramePr>
            <a:graphicFrameLocks noChangeAspect="1"/>
          </p:cNvGraphicFramePr>
          <p:nvPr>
            <p:extLst>
              <p:ext uri="{D42A27DB-BD31-4B8C-83A1-F6EECF244321}">
                <p14:modId xmlns:p14="http://schemas.microsoft.com/office/powerpoint/2010/main" val="675320327"/>
              </p:ext>
            </p:extLst>
          </p:nvPr>
        </p:nvGraphicFramePr>
        <p:xfrm>
          <a:off x="5652120" y="3166313"/>
          <a:ext cx="3168352" cy="1889522"/>
        </p:xfrm>
        <a:graphic>
          <a:graphicData uri="http://schemas.openxmlformats.org/presentationml/2006/ole">
            <mc:AlternateContent xmlns:mc="http://schemas.openxmlformats.org/markup-compatibility/2006">
              <mc:Choice xmlns:v="urn:schemas-microsoft-com:vml" Requires="v">
                <p:oleObj spid="_x0000_s21509" name="Visio" r:id="rId4" imgW="1294726" imgH="718686" progId="Visio.Drawing.11">
                  <p:embed/>
                </p:oleObj>
              </mc:Choice>
              <mc:Fallback>
                <p:oleObj name="Visio" r:id="rId4" imgW="1294726" imgH="718686" progId="Visio.Drawing.11">
                  <p:embed/>
                  <p:pic>
                    <p:nvPicPr>
                      <p:cNvPr id="81929"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2120" y="3166313"/>
                        <a:ext cx="3168352" cy="1889522"/>
                      </a:xfrm>
                      <a:prstGeom prst="rect">
                        <a:avLst/>
                      </a:prstGeom>
                      <a:noFill/>
                      <a:ln>
                        <a:noFill/>
                      </a:ln>
                    </p:spPr>
                  </p:pic>
                </p:oleObj>
              </mc:Fallback>
            </mc:AlternateContent>
          </a:graphicData>
        </a:graphic>
      </p:graphicFrame>
      <p:sp>
        <p:nvSpPr>
          <p:cNvPr id="81930" name="矩形 14"/>
          <p:cNvSpPr>
            <a:spLocks noChangeArrowheads="1"/>
          </p:cNvSpPr>
          <p:nvPr/>
        </p:nvSpPr>
        <p:spPr bwMode="auto">
          <a:xfrm>
            <a:off x="581006" y="2772245"/>
            <a:ext cx="16289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en-US" altLang="zh-CN" sz="2400" b="1" dirty="0">
                <a:solidFill>
                  <a:srgbClr val="FF3300"/>
                </a:solidFill>
              </a:rPr>
              <a:t>id = </a:t>
            </a:r>
            <a:r>
              <a:rPr lang="en-US" altLang="zh-CN" sz="2400" b="1" dirty="0" err="1">
                <a:solidFill>
                  <a:srgbClr val="FF3300"/>
                </a:solidFill>
              </a:rPr>
              <a:t>aexpr</a:t>
            </a:r>
            <a:endParaRPr lang="en-US" altLang="zh-CN" sz="2400" b="1" dirty="0">
              <a:solidFill>
                <a:srgbClr val="FF3300"/>
              </a:solidFill>
            </a:endParaRPr>
          </a:p>
        </p:txBody>
      </p:sp>
      <p:sp>
        <p:nvSpPr>
          <p:cNvPr id="2" name="矩形 1"/>
          <p:cNvSpPr/>
          <p:nvPr/>
        </p:nvSpPr>
        <p:spPr>
          <a:xfrm>
            <a:off x="581006" y="3335962"/>
            <a:ext cx="3409452" cy="110799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zh-CN" sz="2200" dirty="0"/>
              <a:t>简单赋值表达式</a:t>
            </a:r>
            <a:r>
              <a:rPr lang="zh-CN" altLang="en-US" sz="2200" dirty="0"/>
              <a:t>的语义是：</a:t>
            </a:r>
            <a:r>
              <a:rPr lang="zh-CN" altLang="zh-CN" sz="2200" dirty="0"/>
              <a:t>将表达式</a:t>
            </a:r>
            <a:r>
              <a:rPr lang="fr-FR" altLang="zh-CN" sz="2200" dirty="0"/>
              <a:t>aexpr</a:t>
            </a:r>
            <a:r>
              <a:rPr lang="zh-CN" altLang="zh-CN" sz="2200" dirty="0"/>
              <a:t>的值计算出来，再赋给</a:t>
            </a:r>
            <a:r>
              <a:rPr lang="fr-FR" altLang="zh-CN" sz="2200" dirty="0"/>
              <a:t>id</a:t>
            </a:r>
            <a:endParaRPr lang="zh-CN" altLang="en-US" sz="2200" dirty="0"/>
          </a:p>
        </p:txBody>
      </p:sp>
      <p:sp>
        <p:nvSpPr>
          <p:cNvPr id="6" name="文本框 5">
            <a:extLst>
              <a:ext uri="{FF2B5EF4-FFF2-40B4-BE49-F238E27FC236}">
                <a16:creationId xmlns:a16="http://schemas.microsoft.com/office/drawing/2014/main" id="{D423A52D-AD24-4BD2-8184-1191F31F1523}"/>
              </a:ext>
            </a:extLst>
          </p:cNvPr>
          <p:cNvSpPr txBox="1"/>
          <p:nvPr/>
        </p:nvSpPr>
        <p:spPr>
          <a:xfrm>
            <a:off x="2339752" y="2533488"/>
            <a:ext cx="6552727" cy="584775"/>
          </a:xfrm>
          <a:prstGeom prst="rect">
            <a:avLst/>
          </a:prstGeom>
          <a:noFill/>
        </p:spPr>
        <p:txBody>
          <a:bodyPr wrap="square">
            <a:spAutoFit/>
          </a:bodyPr>
          <a:lstStyle/>
          <a:p>
            <a:r>
              <a:rPr lang="zh-CN" altLang="en-US" sz="1600" kern="100" dirty="0">
                <a:solidFill>
                  <a:srgbClr val="CC00FF"/>
                </a:solidFill>
                <a:effectLst/>
                <a:latin typeface="Times New Roman" panose="02020603050405020304" pitchFamily="18" charset="0"/>
                <a:ea typeface="宋体" panose="02010600030101010101" pitchFamily="2" charset="-122"/>
                <a:cs typeface="Times New Roman" panose="02020603050405020304" pitchFamily="18" charset="0"/>
              </a:rPr>
              <a:t>注：这里的文法</a:t>
            </a:r>
            <a:r>
              <a:rPr lang="zh-CN" altLang="zh-CN" sz="1600" kern="100" dirty="0">
                <a:solidFill>
                  <a:srgbClr val="CC00FF"/>
                </a:solidFill>
                <a:effectLst/>
                <a:latin typeface="Times New Roman" panose="02020603050405020304" pitchFamily="18" charset="0"/>
                <a:ea typeface="宋体" panose="02010600030101010101" pitchFamily="2" charset="-122"/>
                <a:cs typeface="Times New Roman" panose="02020603050405020304" pitchFamily="18" charset="0"/>
              </a:rPr>
              <a:t>忽略了常数、常量和函数调用，常数可以直接使用其词法值，常量类似于变量的处理方法，函数调用的语义处理将在后续介绍</a:t>
            </a:r>
            <a:endParaRPr lang="zh-CN" altLang="en-US" sz="1600" dirty="0">
              <a:solidFill>
                <a:srgbClr val="CC00FF"/>
              </a:solidFill>
            </a:endParaRPr>
          </a:p>
        </p:txBody>
      </p:sp>
    </p:spTree>
    <p:extLst>
      <p:ext uri="{BB962C8B-B14F-4D97-AF65-F5344CB8AC3E}">
        <p14:creationId xmlns:p14="http://schemas.microsoft.com/office/powerpoint/2010/main" val="17957456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56328"/>
                                        </p:tgtEl>
                                        <p:attrNameLst>
                                          <p:attrName>style.visibility</p:attrName>
                                        </p:attrNameLst>
                                      </p:cBhvr>
                                      <p:to>
                                        <p:strVal val="visible"/>
                                      </p:to>
                                    </p:set>
                                    <p:animEffect transition="in" filter="slide(fromLeft)">
                                      <p:cBhvr>
                                        <p:cTn id="7" dur="500"/>
                                        <p:tgtEl>
                                          <p:spTgt spid="5632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1930"/>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56325"/>
                                        </p:tgtEl>
                                        <p:attrNameLst>
                                          <p:attrName>style.visibility</p:attrName>
                                        </p:attrNameLst>
                                      </p:cBhvr>
                                      <p:to>
                                        <p:strVal val="visible"/>
                                      </p:to>
                                    </p:set>
                                    <p:animEffect transition="in" filter="slide(fromBottom)">
                                      <p:cBhvr>
                                        <p:cTn id="20" dur="500"/>
                                        <p:tgtEl>
                                          <p:spTgt spid="5632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19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animBg="1" autoUpdateAnimBg="0"/>
      <p:bldP spid="56328" grpId="0" autoUpdateAnimBg="0"/>
      <p:bldP spid="81930" grpId="0"/>
      <p:bldP spid="2"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4"/>
          <p:cNvSpPr>
            <a:spLocks noChangeArrowheads="1"/>
          </p:cNvSpPr>
          <p:nvPr/>
        </p:nvSpPr>
        <p:spPr bwMode="auto">
          <a:xfrm>
            <a:off x="35496" y="-20538"/>
            <a:ext cx="8062913" cy="432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buFontTx/>
              <a:buNone/>
            </a:pPr>
            <a:r>
              <a:rPr lang="en-US" altLang="zh-CN" sz="2800" b="1" dirty="0">
                <a:solidFill>
                  <a:srgbClr val="0033CC"/>
                </a:solidFill>
              </a:rPr>
              <a:t>3. </a:t>
            </a:r>
            <a:r>
              <a:rPr lang="zh-CN" altLang="en-US" sz="2800" b="1" dirty="0">
                <a:solidFill>
                  <a:srgbClr val="0033CC"/>
                </a:solidFill>
              </a:rPr>
              <a:t>简单赋值表达式的语义规则</a:t>
            </a:r>
          </a:p>
        </p:txBody>
      </p:sp>
      <p:graphicFrame>
        <p:nvGraphicFramePr>
          <p:cNvPr id="53291" name="Group 43"/>
          <p:cNvGraphicFramePr>
            <a:graphicFrameLocks noGrp="1"/>
          </p:cNvGraphicFramePr>
          <p:nvPr>
            <p:extLst>
              <p:ext uri="{D42A27DB-BD31-4B8C-83A1-F6EECF244321}">
                <p14:modId xmlns:p14="http://schemas.microsoft.com/office/powerpoint/2010/main" val="3985578422"/>
              </p:ext>
            </p:extLst>
          </p:nvPr>
        </p:nvGraphicFramePr>
        <p:xfrm>
          <a:off x="107950" y="654958"/>
          <a:ext cx="9036050" cy="747717"/>
        </p:xfrm>
        <a:graphic>
          <a:graphicData uri="http://schemas.openxmlformats.org/drawingml/2006/table">
            <a:tbl>
              <a:tblPr/>
              <a:tblGrid>
                <a:gridCol w="936625">
                  <a:extLst>
                    <a:ext uri="{9D8B030D-6E8A-4147-A177-3AD203B41FA5}">
                      <a16:colId xmlns:a16="http://schemas.microsoft.com/office/drawing/2014/main" val="20000"/>
                    </a:ext>
                  </a:extLst>
                </a:gridCol>
                <a:gridCol w="1308100">
                  <a:extLst>
                    <a:ext uri="{9D8B030D-6E8A-4147-A177-3AD203B41FA5}">
                      <a16:colId xmlns:a16="http://schemas.microsoft.com/office/drawing/2014/main" val="20001"/>
                    </a:ext>
                  </a:extLst>
                </a:gridCol>
                <a:gridCol w="6791325">
                  <a:extLst>
                    <a:ext uri="{9D8B030D-6E8A-4147-A177-3AD203B41FA5}">
                      <a16:colId xmlns:a16="http://schemas.microsoft.com/office/drawing/2014/main" val="20002"/>
                    </a:ext>
                  </a:extLst>
                </a:gridCol>
              </a:tblGrid>
              <a:tr h="31566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编号</a:t>
                      </a:r>
                    </a:p>
                  </a:txBody>
                  <a:tcPr marL="68580" marR="68580" marT="0" marB="0"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产生式</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语义规则</a:t>
                      </a:r>
                    </a:p>
                  </a:txBody>
                  <a:tcPr marL="68580" marR="68580" marT="0" marB="0"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3204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S→id</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en-US" altLang="zh-CN" sz="1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gencode</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E.PLACE</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_</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entry(id).name)  }</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82985" name="矩形 6"/>
          <p:cNvSpPr>
            <a:spLocks noChangeArrowheads="1"/>
          </p:cNvSpPr>
          <p:nvPr/>
        </p:nvSpPr>
        <p:spPr bwMode="auto">
          <a:xfrm>
            <a:off x="6858000" y="1"/>
            <a:ext cx="2286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buFontTx/>
              <a:buNone/>
            </a:pPr>
            <a:r>
              <a:rPr lang="zh-CN" altLang="en-US" sz="2400" b="1">
                <a:solidFill>
                  <a:srgbClr val="333399"/>
                </a:solidFill>
              </a:rPr>
              <a:t>此处只假定是整数运算</a:t>
            </a:r>
          </a:p>
        </p:txBody>
      </p:sp>
      <p:graphicFrame>
        <p:nvGraphicFramePr>
          <p:cNvPr id="2" name="表格 1"/>
          <p:cNvGraphicFramePr>
            <a:graphicFrameLocks noGrp="1"/>
          </p:cNvGraphicFramePr>
          <p:nvPr>
            <p:extLst>
              <p:ext uri="{D42A27DB-BD31-4B8C-83A1-F6EECF244321}">
                <p14:modId xmlns:p14="http://schemas.microsoft.com/office/powerpoint/2010/main" val="1844446586"/>
              </p:ext>
            </p:extLst>
          </p:nvPr>
        </p:nvGraphicFramePr>
        <p:xfrm>
          <a:off x="4626766" y="4227934"/>
          <a:ext cx="4337722" cy="548640"/>
        </p:xfrm>
        <a:graphic>
          <a:graphicData uri="http://schemas.openxmlformats.org/drawingml/2006/table">
            <a:tbl>
              <a:tblPr/>
              <a:tblGrid>
                <a:gridCol w="737322">
                  <a:extLst>
                    <a:ext uri="{9D8B030D-6E8A-4147-A177-3AD203B41FA5}">
                      <a16:colId xmlns:a16="http://schemas.microsoft.com/office/drawing/2014/main" val="20000"/>
                    </a:ext>
                  </a:extLst>
                </a:gridCol>
                <a:gridCol w="846854">
                  <a:extLst>
                    <a:ext uri="{9D8B030D-6E8A-4147-A177-3AD203B41FA5}">
                      <a16:colId xmlns:a16="http://schemas.microsoft.com/office/drawing/2014/main" val="20001"/>
                    </a:ext>
                  </a:extLst>
                </a:gridCol>
                <a:gridCol w="2753546">
                  <a:extLst>
                    <a:ext uri="{9D8B030D-6E8A-4147-A177-3AD203B41FA5}">
                      <a16:colId xmlns:a16="http://schemas.microsoft.com/office/drawing/2014/main" val="20002"/>
                    </a:ext>
                  </a:extLst>
                </a:gridCol>
              </a:tblGrid>
              <a:tr h="54864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9</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.PLACE=E.PLACE   }</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3" name="表格 2"/>
          <p:cNvGraphicFramePr>
            <a:graphicFrameLocks noGrp="1"/>
          </p:cNvGraphicFramePr>
          <p:nvPr>
            <p:extLst>
              <p:ext uri="{D42A27DB-BD31-4B8C-83A1-F6EECF244321}">
                <p14:modId xmlns:p14="http://schemas.microsoft.com/office/powerpoint/2010/main" val="573835536"/>
              </p:ext>
            </p:extLst>
          </p:nvPr>
        </p:nvGraphicFramePr>
        <p:xfrm>
          <a:off x="35496" y="4227934"/>
          <a:ext cx="4608513" cy="548640"/>
        </p:xfrm>
        <a:graphic>
          <a:graphicData uri="http://schemas.openxmlformats.org/drawingml/2006/table">
            <a:tbl>
              <a:tblPr/>
              <a:tblGrid>
                <a:gridCol w="864096">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3024337">
                  <a:extLst>
                    <a:ext uri="{9D8B030D-6E8A-4147-A177-3AD203B41FA5}">
                      <a16:colId xmlns:a16="http://schemas.microsoft.com/office/drawing/2014/main" val="20002"/>
                    </a:ext>
                  </a:extLst>
                </a:gridCol>
              </a:tblGrid>
              <a:tr h="54864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8</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P→id</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P.PLACE=entry(id).name}</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3413405225"/>
              </p:ext>
            </p:extLst>
          </p:nvPr>
        </p:nvGraphicFramePr>
        <p:xfrm>
          <a:off x="107503" y="2959214"/>
          <a:ext cx="8928546" cy="548640"/>
        </p:xfrm>
        <a:graphic>
          <a:graphicData uri="http://schemas.openxmlformats.org/drawingml/2006/table">
            <a:tbl>
              <a:tblPr/>
              <a:tblGrid>
                <a:gridCol w="936104">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6696298">
                  <a:extLst>
                    <a:ext uri="{9D8B030D-6E8A-4147-A177-3AD203B41FA5}">
                      <a16:colId xmlns:a16="http://schemas.microsoft.com/office/drawing/2014/main" val="20002"/>
                    </a:ext>
                  </a:extLst>
                </a:gridCol>
              </a:tblGrid>
              <a:tr h="54864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 -</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a:t>
                      </a:r>
                      <a:endParaRPr kumimoji="0" lang="zh-CN" altLang="zh-CN" sz="1800" b="0"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F.PLACE=</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en-US" altLang="zh-CN" sz="1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newtemp</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gencode(@</a:t>
                      </a:r>
                      <a:r>
                        <a:rPr kumimoji="0" lang="fr-FR" altLang="zh-CN" sz="18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i</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.PLACE</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_</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.PLACE   }</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377476290"/>
              </p:ext>
            </p:extLst>
          </p:nvPr>
        </p:nvGraphicFramePr>
        <p:xfrm>
          <a:off x="35496" y="3679294"/>
          <a:ext cx="4320480" cy="548640"/>
        </p:xfrm>
        <a:graphic>
          <a:graphicData uri="http://schemas.openxmlformats.org/drawingml/2006/table">
            <a:tbl>
              <a:tblPr/>
              <a:tblGrid>
                <a:gridCol w="864096">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2736304">
                  <a:extLst>
                    <a:ext uri="{9D8B030D-6E8A-4147-A177-3AD203B41FA5}">
                      <a16:colId xmlns:a16="http://schemas.microsoft.com/office/drawing/2014/main" val="20002"/>
                    </a:ext>
                  </a:extLst>
                </a:gridCol>
              </a:tblGrid>
              <a:tr h="54864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5</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T→F</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T.PLACE=F.PLACE  }</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3905928920"/>
              </p:ext>
            </p:extLst>
          </p:nvPr>
        </p:nvGraphicFramePr>
        <p:xfrm>
          <a:off x="107504" y="2410787"/>
          <a:ext cx="9036050" cy="548640"/>
        </p:xfrm>
        <a:graphic>
          <a:graphicData uri="http://schemas.openxmlformats.org/drawingml/2006/table">
            <a:tbl>
              <a:tblPr/>
              <a:tblGrid>
                <a:gridCol w="936625">
                  <a:extLst>
                    <a:ext uri="{9D8B030D-6E8A-4147-A177-3AD203B41FA5}">
                      <a16:colId xmlns:a16="http://schemas.microsoft.com/office/drawing/2014/main" val="20000"/>
                    </a:ext>
                  </a:extLst>
                </a:gridCol>
                <a:gridCol w="1308100">
                  <a:extLst>
                    <a:ext uri="{9D8B030D-6E8A-4147-A177-3AD203B41FA5}">
                      <a16:colId xmlns:a16="http://schemas.microsoft.com/office/drawing/2014/main" val="20001"/>
                    </a:ext>
                  </a:extLst>
                </a:gridCol>
                <a:gridCol w="6791325">
                  <a:extLst>
                    <a:ext uri="{9D8B030D-6E8A-4147-A177-3AD203B41FA5}">
                      <a16:colId xmlns:a16="http://schemas.microsoft.com/office/drawing/2014/main" val="20002"/>
                    </a:ext>
                  </a:extLst>
                </a:gridCol>
              </a:tblGrid>
              <a:tr h="54864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T→T</a:t>
                      </a:r>
                      <a:r>
                        <a:rPr kumimoji="0" lang="fr-FR" altLang="zh-CN" sz="1800" b="0"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T.PLACE=</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en-US" altLang="zh-CN" sz="1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newtemp</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gencode(*</a:t>
                      </a:r>
                      <a:r>
                        <a:rPr kumimoji="0" lang="fr-FR" altLang="zh-CN" sz="18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i</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fr-FR" altLang="zh-CN" sz="1800" b="0"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.PLACE</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F.PLACE</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T.PLACE)  }</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1946346949"/>
              </p:ext>
            </p:extLst>
          </p:nvPr>
        </p:nvGraphicFramePr>
        <p:xfrm>
          <a:off x="107504" y="1906731"/>
          <a:ext cx="9036050" cy="548640"/>
        </p:xfrm>
        <a:graphic>
          <a:graphicData uri="http://schemas.openxmlformats.org/drawingml/2006/table">
            <a:tbl>
              <a:tblPr/>
              <a:tblGrid>
                <a:gridCol w="936625">
                  <a:extLst>
                    <a:ext uri="{9D8B030D-6E8A-4147-A177-3AD203B41FA5}">
                      <a16:colId xmlns:a16="http://schemas.microsoft.com/office/drawing/2014/main" val="20000"/>
                    </a:ext>
                  </a:extLst>
                </a:gridCol>
                <a:gridCol w="1308100">
                  <a:extLst>
                    <a:ext uri="{9D8B030D-6E8A-4147-A177-3AD203B41FA5}">
                      <a16:colId xmlns:a16="http://schemas.microsoft.com/office/drawing/2014/main" val="20001"/>
                    </a:ext>
                  </a:extLst>
                </a:gridCol>
                <a:gridCol w="6791325">
                  <a:extLst>
                    <a:ext uri="{9D8B030D-6E8A-4147-A177-3AD203B41FA5}">
                      <a16:colId xmlns:a16="http://schemas.microsoft.com/office/drawing/2014/main" val="20002"/>
                    </a:ext>
                  </a:extLst>
                </a:gridCol>
              </a:tblGrid>
              <a:tr h="54864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E→T</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E.PLACE=T.PLACE  }</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1128251785"/>
              </p:ext>
            </p:extLst>
          </p:nvPr>
        </p:nvGraphicFramePr>
        <p:xfrm>
          <a:off x="107504" y="1402675"/>
          <a:ext cx="9036050" cy="548640"/>
        </p:xfrm>
        <a:graphic>
          <a:graphicData uri="http://schemas.openxmlformats.org/drawingml/2006/table">
            <a:tbl>
              <a:tblPr/>
              <a:tblGrid>
                <a:gridCol w="936625">
                  <a:extLst>
                    <a:ext uri="{9D8B030D-6E8A-4147-A177-3AD203B41FA5}">
                      <a16:colId xmlns:a16="http://schemas.microsoft.com/office/drawing/2014/main" val="20000"/>
                    </a:ext>
                  </a:extLst>
                </a:gridCol>
                <a:gridCol w="1308100">
                  <a:extLst>
                    <a:ext uri="{9D8B030D-6E8A-4147-A177-3AD203B41FA5}">
                      <a16:colId xmlns:a16="http://schemas.microsoft.com/office/drawing/2014/main" val="20001"/>
                    </a:ext>
                  </a:extLst>
                </a:gridCol>
                <a:gridCol w="6791325">
                  <a:extLst>
                    <a:ext uri="{9D8B030D-6E8A-4147-A177-3AD203B41FA5}">
                      <a16:colId xmlns:a16="http://schemas.microsoft.com/office/drawing/2014/main" val="20002"/>
                    </a:ext>
                  </a:extLst>
                </a:gridCol>
              </a:tblGrid>
              <a:tr h="54864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E→E</a:t>
                      </a:r>
                      <a:r>
                        <a:rPr kumimoji="0" lang="fr-FR" altLang="zh-CN" sz="1800" b="0"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E.PLACE=</a:t>
                      </a:r>
                      <a:r>
                        <a:rPr kumimoji="0" lang="fr-FR"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a:t>
                      </a:r>
                      <a:r>
                        <a:rPr kumimoji="0" lang="en-US" altLang="zh-CN" sz="1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newtemp</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gencode(+</a:t>
                      </a:r>
                      <a:r>
                        <a:rPr kumimoji="0" lang="fr-FR" altLang="zh-CN" sz="18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i</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a:t>
                      </a:r>
                      <a:r>
                        <a:rPr kumimoji="0" lang="fr-FR" altLang="zh-CN" sz="1800" b="0" i="0" u="none" strike="noStrike" cap="none" normalizeH="0" baseline="-25000" dirty="0">
                          <a:ln>
                            <a:noFill/>
                          </a:ln>
                          <a:solidFill>
                            <a:schemeClr val="tx1"/>
                          </a:solidFill>
                          <a:effectLst/>
                          <a:latin typeface="Times New Roman" pitchFamily="18" charset="0"/>
                          <a:ea typeface="宋体" pitchFamily="2" charset="-122"/>
                          <a:cs typeface="Times New Roman" pitchFamily="18" charset="0"/>
                        </a:rPr>
                        <a:t>1</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.PLACE</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T.PLACE</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E.PLACE)  }</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2434207087"/>
              </p:ext>
            </p:extLst>
          </p:nvPr>
        </p:nvGraphicFramePr>
        <p:xfrm>
          <a:off x="4644008" y="3679294"/>
          <a:ext cx="4374232" cy="548640"/>
        </p:xfrm>
        <a:graphic>
          <a:graphicData uri="http://schemas.openxmlformats.org/drawingml/2006/table">
            <a:tbl>
              <a:tblPr/>
              <a:tblGrid>
                <a:gridCol w="720080">
                  <a:extLst>
                    <a:ext uri="{9D8B030D-6E8A-4147-A177-3AD203B41FA5}">
                      <a16:colId xmlns:a16="http://schemas.microsoft.com/office/drawing/2014/main" val="20000"/>
                    </a:ext>
                  </a:extLst>
                </a:gridCol>
                <a:gridCol w="845840">
                  <a:extLst>
                    <a:ext uri="{9D8B030D-6E8A-4147-A177-3AD203B41FA5}">
                      <a16:colId xmlns:a16="http://schemas.microsoft.com/office/drawing/2014/main" val="20001"/>
                    </a:ext>
                  </a:extLst>
                </a:gridCol>
                <a:gridCol w="2808312">
                  <a:extLst>
                    <a:ext uri="{9D8B030D-6E8A-4147-A177-3AD203B41FA5}">
                      <a16:colId xmlns:a16="http://schemas.microsoft.com/office/drawing/2014/main" val="20002"/>
                    </a:ext>
                  </a:extLst>
                </a:gridCol>
              </a:tblGrid>
              <a:tr h="54864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p>
                  </a:txBody>
                  <a:tcPr marL="68580" marR="68580" marT="0" marB="0" anchor="ctr" horzOverflow="overflow">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F.PLACE=</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.PLACE   }</a:t>
                      </a:r>
                      <a:endPar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9406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3491880" y="-44535"/>
            <a:ext cx="5652120" cy="744077"/>
          </a:xfrm>
        </p:spPr>
        <p:txBody>
          <a:bodyPr>
            <a:noAutofit/>
          </a:bodyPr>
          <a:lstStyle/>
          <a:p>
            <a:pPr algn="l" eaLnBrk="1" hangingPunct="1"/>
            <a:r>
              <a:rPr lang="zh-CN" altLang="en-US" sz="2000" dirty="0"/>
              <a:t>例：赋值句</a:t>
            </a:r>
            <a:r>
              <a:rPr lang="en-US" altLang="zh-CN" sz="2000" dirty="0">
                <a:solidFill>
                  <a:srgbClr val="FF0000"/>
                </a:solidFill>
              </a:rPr>
              <a:t>A=B+C*(-D)</a:t>
            </a:r>
            <a:r>
              <a:rPr lang="zh-CN" altLang="en-US" sz="2000" dirty="0"/>
              <a:t>的自下而上分析的同时进行语义处理</a:t>
            </a:r>
            <a:endParaRPr lang="en-US" altLang="zh-CN" sz="1600" dirty="0">
              <a:solidFill>
                <a:schemeClr val="accent2"/>
              </a:solidFill>
            </a:endParaRPr>
          </a:p>
        </p:txBody>
      </p:sp>
      <p:sp>
        <p:nvSpPr>
          <p:cNvPr id="2" name="矩形 1"/>
          <p:cNvSpPr/>
          <p:nvPr/>
        </p:nvSpPr>
        <p:spPr>
          <a:xfrm>
            <a:off x="3281184" y="715509"/>
            <a:ext cx="5868144" cy="400110"/>
          </a:xfrm>
          <a:prstGeom prst="rect">
            <a:avLst/>
          </a:prstGeom>
        </p:spPr>
        <p:txBody>
          <a:bodyPr wrap="square">
            <a:spAutoFit/>
          </a:bodyPr>
          <a:lstStyle/>
          <a:p>
            <a:pPr lvl="0">
              <a:spcBef>
                <a:spcPct val="0"/>
              </a:spcBef>
            </a:pPr>
            <a:r>
              <a:rPr lang="zh-CN" altLang="en-US" sz="2000" b="1" dirty="0">
                <a:solidFill>
                  <a:srgbClr val="DA1F28"/>
                </a:solidFill>
                <a:effectLst>
                  <a:outerShdw blurRad="31750" dist="25400" dir="5400000" algn="tl" rotWithShape="0">
                    <a:srgbClr val="000000">
                      <a:alpha val="25000"/>
                    </a:srgbClr>
                  </a:outerShdw>
                </a:effectLst>
                <a:latin typeface="宋体" panose="02010600030101010101" pitchFamily="2" charset="-122"/>
                <a:ea typeface="宋体" panose="02010600030101010101" pitchFamily="2" charset="-122"/>
                <a:cs typeface="+mj-cs"/>
              </a:rPr>
              <a:t>设：翻译此赋值句之前四元式的最大编号为</a:t>
            </a:r>
            <a:r>
              <a:rPr lang="en-US" altLang="zh-CN" sz="2000" b="1" dirty="0">
                <a:solidFill>
                  <a:srgbClr val="DA1F28"/>
                </a:solidFill>
                <a:effectLst>
                  <a:outerShdw blurRad="31750" dist="25400" dir="5400000" algn="tl" rotWithShape="0">
                    <a:srgbClr val="000000">
                      <a:alpha val="25000"/>
                    </a:srgbClr>
                  </a:outerShdw>
                </a:effectLst>
                <a:latin typeface="宋体" panose="02010600030101010101" pitchFamily="2" charset="-122"/>
                <a:ea typeface="宋体" panose="02010600030101010101" pitchFamily="2" charset="-122"/>
                <a:cs typeface="+mj-cs"/>
              </a:rPr>
              <a:t>K</a:t>
            </a:r>
          </a:p>
        </p:txBody>
      </p:sp>
      <p:graphicFrame>
        <p:nvGraphicFramePr>
          <p:cNvPr id="3" name="表格 2"/>
          <p:cNvGraphicFramePr>
            <a:graphicFrameLocks noGrp="1"/>
          </p:cNvGraphicFramePr>
          <p:nvPr>
            <p:extLst>
              <p:ext uri="{D42A27DB-BD31-4B8C-83A1-F6EECF244321}">
                <p14:modId xmlns:p14="http://schemas.microsoft.com/office/powerpoint/2010/main" val="497755343"/>
              </p:ext>
            </p:extLst>
          </p:nvPr>
        </p:nvGraphicFramePr>
        <p:xfrm>
          <a:off x="323528" y="1419622"/>
          <a:ext cx="2664296" cy="3456380"/>
        </p:xfrm>
        <a:graphic>
          <a:graphicData uri="http://schemas.openxmlformats.org/drawingml/2006/table">
            <a:tbl>
              <a:tblPr>
                <a:tableStyleId>{5C22544A-7EE6-4342-B048-85BDC9FD1C3A}</a:tableStyleId>
              </a:tblPr>
              <a:tblGrid>
                <a:gridCol w="1606713">
                  <a:extLst>
                    <a:ext uri="{9D8B030D-6E8A-4147-A177-3AD203B41FA5}">
                      <a16:colId xmlns:a16="http://schemas.microsoft.com/office/drawing/2014/main" val="20000"/>
                    </a:ext>
                  </a:extLst>
                </a:gridCol>
                <a:gridCol w="1057583">
                  <a:extLst>
                    <a:ext uri="{9D8B030D-6E8A-4147-A177-3AD203B41FA5}">
                      <a16:colId xmlns:a16="http://schemas.microsoft.com/office/drawing/2014/main" val="20001"/>
                    </a:ext>
                  </a:extLst>
                </a:gridCol>
              </a:tblGrid>
              <a:tr h="345638">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0"/>
                  </a:ext>
                </a:extLst>
              </a:tr>
              <a:tr h="345638">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45638">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45638">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45638">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45638">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345638">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345638">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7"/>
                  </a:ext>
                </a:extLst>
              </a:tr>
              <a:tr h="345638">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spcAft>
                          <a:spcPts val="0"/>
                        </a:spcAft>
                      </a:pP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8"/>
                  </a:ext>
                </a:extLst>
              </a:tr>
              <a:tr h="345638">
                <a:tc>
                  <a:txBody>
                    <a:bodyPr/>
                    <a:lstStyle/>
                    <a:p>
                      <a:pPr algn="ctr">
                        <a:spcAft>
                          <a:spcPts val="0"/>
                        </a:spcAft>
                      </a:pPr>
                      <a:r>
                        <a:rPr lang="en-US" sz="2000" kern="100" dirty="0">
                          <a:effectLst/>
                        </a:rPr>
                        <a:t>-</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kern="100" dirty="0">
                          <a:effectLst/>
                        </a:rPr>
                        <a:t>#</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747339730"/>
              </p:ext>
            </p:extLst>
          </p:nvPr>
        </p:nvGraphicFramePr>
        <p:xfrm>
          <a:off x="3635896" y="1347614"/>
          <a:ext cx="5508104" cy="798944"/>
        </p:xfrm>
        <a:graphic>
          <a:graphicData uri="http://schemas.openxmlformats.org/drawingml/2006/table">
            <a:tbl>
              <a:tblPr>
                <a:tableStyleId>{5C22544A-7EE6-4342-B048-85BDC9FD1C3A}</a:tableStyleId>
              </a:tblPr>
              <a:tblGrid>
                <a:gridCol w="1080120">
                  <a:extLst>
                    <a:ext uri="{9D8B030D-6E8A-4147-A177-3AD203B41FA5}">
                      <a16:colId xmlns:a16="http://schemas.microsoft.com/office/drawing/2014/main" val="20000"/>
                    </a:ext>
                  </a:extLst>
                </a:gridCol>
                <a:gridCol w="4427984">
                  <a:extLst>
                    <a:ext uri="{9D8B030D-6E8A-4147-A177-3AD203B41FA5}">
                      <a16:colId xmlns:a16="http://schemas.microsoft.com/office/drawing/2014/main" val="20001"/>
                    </a:ext>
                  </a:extLst>
                </a:gridCol>
              </a:tblGrid>
              <a:tr h="432048">
                <a:tc>
                  <a:txBody>
                    <a:bodyPr/>
                    <a:lstStyle/>
                    <a:p>
                      <a:pPr algn="l">
                        <a:spcAft>
                          <a:spcPts val="0"/>
                        </a:spcAft>
                      </a:pPr>
                      <a:r>
                        <a:rPr lang="zh-CN" sz="2000" kern="100" dirty="0">
                          <a:effectLst/>
                        </a:rPr>
                        <a:t>编号</a:t>
                      </a:r>
                      <a:endParaRPr lang="zh-CN" sz="2000" kern="100" dirty="0">
                        <a:effectLst/>
                        <a:latin typeface="Times New Roman"/>
                        <a:ea typeface="宋体"/>
                      </a:endParaRPr>
                    </a:p>
                  </a:txBody>
                  <a:tcPr marL="68580" marR="68580"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spcAft>
                          <a:spcPts val="0"/>
                        </a:spcAft>
                      </a:pPr>
                      <a:r>
                        <a:rPr lang="zh-CN" sz="2000" kern="100" dirty="0">
                          <a:effectLst/>
                        </a:rPr>
                        <a:t>四元式</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6896">
                <a:tc>
                  <a:txBody>
                    <a:bodyPr/>
                    <a:lstStyle/>
                    <a:p>
                      <a:pPr algn="l">
                        <a:spcAft>
                          <a:spcPts val="0"/>
                        </a:spcAft>
                      </a:pPr>
                      <a:r>
                        <a:rPr lang="en-US" altLang="zh-CN" sz="2000" kern="100" dirty="0">
                          <a:effectLst/>
                          <a:latin typeface="Times New Roman"/>
                          <a:ea typeface="宋体"/>
                        </a:rPr>
                        <a:t>K+1</a:t>
                      </a:r>
                      <a:endParaRPr lang="zh-CN" sz="2000" kern="100" dirty="0">
                        <a:effectLst/>
                        <a:latin typeface="Times New Roman"/>
                        <a:ea typeface="宋体"/>
                      </a:endParaRPr>
                    </a:p>
                  </a:txBody>
                  <a:tcPr marL="68580" marR="68580" marT="0" marB="0">
                    <a:lnT w="12700" cap="flat" cmpd="sng" algn="ctr">
                      <a:solidFill>
                        <a:schemeClr val="tx1"/>
                      </a:solidFill>
                      <a:prstDash val="solid"/>
                      <a:round/>
                      <a:headEnd type="none" w="med" len="med"/>
                      <a:tailEnd type="none" w="med" len="med"/>
                    </a:lnT>
                  </a:tcPr>
                </a:tc>
                <a:tc>
                  <a:txBody>
                    <a:bodyPr/>
                    <a:lstStyle/>
                    <a:p>
                      <a:pPr algn="just">
                        <a:spcAft>
                          <a:spcPts val="0"/>
                        </a:spcAft>
                      </a:pPr>
                      <a:endParaRPr lang="en-US" sz="2000" kern="100" dirty="0">
                        <a:effectLst/>
                        <a:latin typeface="Times New Roman"/>
                        <a:ea typeface="宋体"/>
                      </a:endParaRPr>
                    </a:p>
                  </a:txBody>
                  <a:tcPr marL="68580" marR="6858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2083985497"/>
              </p:ext>
            </p:extLst>
          </p:nvPr>
        </p:nvGraphicFramePr>
        <p:xfrm>
          <a:off x="323528" y="4155926"/>
          <a:ext cx="2664296" cy="304800"/>
        </p:xfrm>
        <a:graphic>
          <a:graphicData uri="http://schemas.openxmlformats.org/drawingml/2006/table">
            <a:tbl>
              <a:tblPr>
                <a:tableStyleId>{5C22544A-7EE6-4342-B048-85BDC9FD1C3A}</a:tableStyleId>
              </a:tblPr>
              <a:tblGrid>
                <a:gridCol w="1606713">
                  <a:extLst>
                    <a:ext uri="{9D8B030D-6E8A-4147-A177-3AD203B41FA5}">
                      <a16:colId xmlns:a16="http://schemas.microsoft.com/office/drawing/2014/main" val="20000"/>
                    </a:ext>
                  </a:extLst>
                </a:gridCol>
                <a:gridCol w="1057583">
                  <a:extLst>
                    <a:ext uri="{9D8B030D-6E8A-4147-A177-3AD203B41FA5}">
                      <a16:colId xmlns:a16="http://schemas.microsoft.com/office/drawing/2014/main" val="20001"/>
                    </a:ext>
                  </a:extLst>
                </a:gridCol>
              </a:tblGrid>
              <a:tr h="180340">
                <a:tc>
                  <a:txBody>
                    <a:bodyPr/>
                    <a:lstStyle/>
                    <a:p>
                      <a:pPr algn="ctr">
                        <a:spcAft>
                          <a:spcPts val="0"/>
                        </a:spcAft>
                      </a:pPr>
                      <a:r>
                        <a:rPr lang="en-US" sz="1600" kern="100" dirty="0">
                          <a:effectLst/>
                        </a:rPr>
                        <a:t>entry(</a:t>
                      </a:r>
                      <a:r>
                        <a:rPr lang="en-US" sz="1600" kern="100" dirty="0" err="1">
                          <a:effectLst/>
                        </a:rPr>
                        <a:t>i</a:t>
                      </a:r>
                      <a:r>
                        <a:rPr lang="en-US" sz="1600" kern="100" baseline="-25000" dirty="0" err="1">
                          <a:effectLst/>
                        </a:rPr>
                        <a:t>A</a:t>
                      </a:r>
                      <a:r>
                        <a:rPr lang="en-US" sz="1600" kern="100" dirty="0">
                          <a:effectLst/>
                        </a:rPr>
                        <a:t>).name</a:t>
                      </a:r>
                      <a:endParaRPr lang="zh-CN" sz="16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kern="100" dirty="0" err="1">
                          <a:effectLst/>
                        </a:rPr>
                        <a:t>i</a:t>
                      </a:r>
                      <a:r>
                        <a:rPr lang="en-US" sz="2000" kern="100" baseline="-25000" dirty="0" err="1">
                          <a:effectLst/>
                        </a:rPr>
                        <a:t>A</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0"/>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358215951"/>
              </p:ext>
            </p:extLst>
          </p:nvPr>
        </p:nvGraphicFramePr>
        <p:xfrm>
          <a:off x="323528" y="3867890"/>
          <a:ext cx="2664296" cy="304800"/>
        </p:xfrm>
        <a:graphic>
          <a:graphicData uri="http://schemas.openxmlformats.org/drawingml/2006/table">
            <a:tbl>
              <a:tblPr>
                <a:tableStyleId>{5C22544A-7EE6-4342-B048-85BDC9FD1C3A}</a:tableStyleId>
              </a:tblPr>
              <a:tblGrid>
                <a:gridCol w="1606713">
                  <a:extLst>
                    <a:ext uri="{9D8B030D-6E8A-4147-A177-3AD203B41FA5}">
                      <a16:colId xmlns:a16="http://schemas.microsoft.com/office/drawing/2014/main" val="20000"/>
                    </a:ext>
                  </a:extLst>
                </a:gridCol>
                <a:gridCol w="1057583">
                  <a:extLst>
                    <a:ext uri="{9D8B030D-6E8A-4147-A177-3AD203B41FA5}">
                      <a16:colId xmlns:a16="http://schemas.microsoft.com/office/drawing/2014/main" val="20001"/>
                    </a:ext>
                  </a:extLst>
                </a:gridCol>
              </a:tblGrid>
              <a:tr h="180340">
                <a:tc>
                  <a:txBody>
                    <a:bodyPr/>
                    <a:lstStyle/>
                    <a:p>
                      <a:pPr algn="ctr">
                        <a:spcAft>
                          <a:spcPts val="0"/>
                        </a:spcAft>
                      </a:pPr>
                      <a:r>
                        <a:rPr lang="en-US" sz="2000" kern="100" dirty="0">
                          <a:effectLst/>
                        </a:rPr>
                        <a:t>=</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kern="100" dirty="0">
                          <a:effectLst/>
                        </a:rPr>
                        <a:t>=</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0"/>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3581268691"/>
              </p:ext>
            </p:extLst>
          </p:nvPr>
        </p:nvGraphicFramePr>
        <p:xfrm>
          <a:off x="323528" y="3507850"/>
          <a:ext cx="2664296" cy="304800"/>
        </p:xfrm>
        <a:graphic>
          <a:graphicData uri="http://schemas.openxmlformats.org/drawingml/2006/table">
            <a:tbl>
              <a:tblPr>
                <a:tableStyleId>{5C22544A-7EE6-4342-B048-85BDC9FD1C3A}</a:tableStyleId>
              </a:tblPr>
              <a:tblGrid>
                <a:gridCol w="1606713">
                  <a:extLst>
                    <a:ext uri="{9D8B030D-6E8A-4147-A177-3AD203B41FA5}">
                      <a16:colId xmlns:a16="http://schemas.microsoft.com/office/drawing/2014/main" val="20000"/>
                    </a:ext>
                  </a:extLst>
                </a:gridCol>
                <a:gridCol w="1057583">
                  <a:extLst>
                    <a:ext uri="{9D8B030D-6E8A-4147-A177-3AD203B41FA5}">
                      <a16:colId xmlns:a16="http://schemas.microsoft.com/office/drawing/2014/main" val="20001"/>
                    </a:ext>
                  </a:extLst>
                </a:gridCol>
              </a:tblGrid>
              <a:tr h="180340">
                <a:tc>
                  <a:txBody>
                    <a:bodyPr/>
                    <a:lstStyle/>
                    <a:p>
                      <a:pPr algn="ctr">
                        <a:spcAft>
                          <a:spcPts val="0"/>
                        </a:spcAft>
                      </a:pPr>
                      <a:r>
                        <a:rPr lang="en-US" sz="2000" kern="100" dirty="0">
                          <a:effectLst/>
                        </a:rPr>
                        <a:t>E</a:t>
                      </a:r>
                      <a:r>
                        <a:rPr lang="en-US" sz="2000" kern="100" baseline="-25000" dirty="0">
                          <a:effectLst/>
                        </a:rPr>
                        <a:t>B</a:t>
                      </a:r>
                      <a:r>
                        <a:rPr lang="en-US" sz="2000" kern="100" dirty="0">
                          <a:effectLst/>
                        </a:rPr>
                        <a:t>.PLACE</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kern="100" dirty="0">
                          <a:effectLst/>
                        </a:rPr>
                        <a:t>E</a:t>
                      </a:r>
                      <a:r>
                        <a:rPr lang="en-US" sz="2000" kern="100" baseline="-25000" dirty="0">
                          <a:effectLst/>
                        </a:rPr>
                        <a:t>B</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0"/>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194924266"/>
              </p:ext>
            </p:extLst>
          </p:nvPr>
        </p:nvGraphicFramePr>
        <p:xfrm>
          <a:off x="323528" y="3147810"/>
          <a:ext cx="2664296" cy="304800"/>
        </p:xfrm>
        <a:graphic>
          <a:graphicData uri="http://schemas.openxmlformats.org/drawingml/2006/table">
            <a:tbl>
              <a:tblPr>
                <a:tableStyleId>{5C22544A-7EE6-4342-B048-85BDC9FD1C3A}</a:tableStyleId>
              </a:tblPr>
              <a:tblGrid>
                <a:gridCol w="1606713">
                  <a:extLst>
                    <a:ext uri="{9D8B030D-6E8A-4147-A177-3AD203B41FA5}">
                      <a16:colId xmlns:a16="http://schemas.microsoft.com/office/drawing/2014/main" val="20000"/>
                    </a:ext>
                  </a:extLst>
                </a:gridCol>
                <a:gridCol w="1057583">
                  <a:extLst>
                    <a:ext uri="{9D8B030D-6E8A-4147-A177-3AD203B41FA5}">
                      <a16:colId xmlns:a16="http://schemas.microsoft.com/office/drawing/2014/main" val="20001"/>
                    </a:ext>
                  </a:extLst>
                </a:gridCol>
              </a:tblGrid>
              <a:tr h="180340">
                <a:tc>
                  <a:txBody>
                    <a:bodyPr/>
                    <a:lstStyle/>
                    <a:p>
                      <a:pPr algn="ctr">
                        <a:spcAft>
                          <a:spcPts val="0"/>
                        </a:spcAft>
                      </a:pPr>
                      <a:r>
                        <a:rPr lang="en-US" sz="2000" kern="100" dirty="0">
                          <a:effectLst/>
                        </a:rPr>
                        <a:t>+</a:t>
                      </a:r>
                      <a:r>
                        <a:rPr lang="en-US" sz="2000" kern="100" baseline="30000" dirty="0" err="1">
                          <a:effectLst/>
                        </a:rPr>
                        <a:t>i</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kern="100" dirty="0">
                          <a:effectLst/>
                        </a:rPr>
                        <a:t>+</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0"/>
                  </a:ext>
                </a:extLst>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2250878388"/>
              </p:ext>
            </p:extLst>
          </p:nvPr>
        </p:nvGraphicFramePr>
        <p:xfrm>
          <a:off x="323528" y="2787770"/>
          <a:ext cx="2664296" cy="304800"/>
        </p:xfrm>
        <a:graphic>
          <a:graphicData uri="http://schemas.openxmlformats.org/drawingml/2006/table">
            <a:tbl>
              <a:tblPr>
                <a:tableStyleId>{5C22544A-7EE6-4342-B048-85BDC9FD1C3A}</a:tableStyleId>
              </a:tblPr>
              <a:tblGrid>
                <a:gridCol w="1606713">
                  <a:extLst>
                    <a:ext uri="{9D8B030D-6E8A-4147-A177-3AD203B41FA5}">
                      <a16:colId xmlns:a16="http://schemas.microsoft.com/office/drawing/2014/main" val="20000"/>
                    </a:ext>
                  </a:extLst>
                </a:gridCol>
                <a:gridCol w="1057583">
                  <a:extLst>
                    <a:ext uri="{9D8B030D-6E8A-4147-A177-3AD203B41FA5}">
                      <a16:colId xmlns:a16="http://schemas.microsoft.com/office/drawing/2014/main" val="20001"/>
                    </a:ext>
                  </a:extLst>
                </a:gridCol>
              </a:tblGrid>
              <a:tr h="180340">
                <a:tc>
                  <a:txBody>
                    <a:bodyPr/>
                    <a:lstStyle/>
                    <a:p>
                      <a:pPr algn="ctr">
                        <a:spcAft>
                          <a:spcPts val="0"/>
                        </a:spcAft>
                      </a:pPr>
                      <a:r>
                        <a:rPr lang="en-US" sz="2000" kern="100" dirty="0">
                          <a:effectLst/>
                        </a:rPr>
                        <a:t>T</a:t>
                      </a:r>
                      <a:r>
                        <a:rPr lang="en-US" sz="2000" kern="100" baseline="-25000" dirty="0">
                          <a:effectLst/>
                        </a:rPr>
                        <a:t>C</a:t>
                      </a:r>
                      <a:r>
                        <a:rPr lang="en-US" sz="2000" kern="100" dirty="0">
                          <a:effectLst/>
                        </a:rPr>
                        <a:t>.PLACE</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kern="100" dirty="0">
                          <a:effectLst/>
                        </a:rPr>
                        <a:t>T</a:t>
                      </a:r>
                      <a:r>
                        <a:rPr lang="en-US" sz="2000" kern="100" baseline="-25000" dirty="0">
                          <a:effectLst/>
                        </a:rPr>
                        <a:t>C</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0"/>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2353665219"/>
              </p:ext>
            </p:extLst>
          </p:nvPr>
        </p:nvGraphicFramePr>
        <p:xfrm>
          <a:off x="323528" y="2482970"/>
          <a:ext cx="2664296" cy="304800"/>
        </p:xfrm>
        <a:graphic>
          <a:graphicData uri="http://schemas.openxmlformats.org/drawingml/2006/table">
            <a:tbl>
              <a:tblPr>
                <a:tableStyleId>{5C22544A-7EE6-4342-B048-85BDC9FD1C3A}</a:tableStyleId>
              </a:tblPr>
              <a:tblGrid>
                <a:gridCol w="1606713">
                  <a:extLst>
                    <a:ext uri="{9D8B030D-6E8A-4147-A177-3AD203B41FA5}">
                      <a16:colId xmlns:a16="http://schemas.microsoft.com/office/drawing/2014/main" val="20000"/>
                    </a:ext>
                  </a:extLst>
                </a:gridCol>
                <a:gridCol w="1057583">
                  <a:extLst>
                    <a:ext uri="{9D8B030D-6E8A-4147-A177-3AD203B41FA5}">
                      <a16:colId xmlns:a16="http://schemas.microsoft.com/office/drawing/2014/main" val="20001"/>
                    </a:ext>
                  </a:extLst>
                </a:gridCol>
              </a:tblGrid>
              <a:tr h="180340">
                <a:tc>
                  <a:txBody>
                    <a:bodyPr/>
                    <a:lstStyle/>
                    <a:p>
                      <a:pPr algn="ctr">
                        <a:spcAft>
                          <a:spcPts val="0"/>
                        </a:spcAft>
                      </a:pPr>
                      <a:r>
                        <a:rPr lang="en-US" sz="2000" kern="100" dirty="0">
                          <a:effectLst/>
                          <a:sym typeface="Symbol"/>
                        </a:rPr>
                        <a:t></a:t>
                      </a:r>
                      <a:r>
                        <a:rPr lang="en-US" sz="2000" kern="100" baseline="30000" dirty="0" err="1">
                          <a:effectLst/>
                        </a:rPr>
                        <a:t>i</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kern="100" dirty="0">
                          <a:effectLst/>
                        </a:rPr>
                        <a:t>*</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0"/>
                  </a:ext>
                </a:extLst>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3117057076"/>
              </p:ext>
            </p:extLst>
          </p:nvPr>
        </p:nvGraphicFramePr>
        <p:xfrm>
          <a:off x="323528" y="2122930"/>
          <a:ext cx="2664296" cy="304800"/>
        </p:xfrm>
        <a:graphic>
          <a:graphicData uri="http://schemas.openxmlformats.org/drawingml/2006/table">
            <a:tbl>
              <a:tblPr>
                <a:tableStyleId>{5C22544A-7EE6-4342-B048-85BDC9FD1C3A}</a:tableStyleId>
              </a:tblPr>
              <a:tblGrid>
                <a:gridCol w="1606713">
                  <a:extLst>
                    <a:ext uri="{9D8B030D-6E8A-4147-A177-3AD203B41FA5}">
                      <a16:colId xmlns:a16="http://schemas.microsoft.com/office/drawing/2014/main" val="20000"/>
                    </a:ext>
                  </a:extLst>
                </a:gridCol>
                <a:gridCol w="1057583">
                  <a:extLst>
                    <a:ext uri="{9D8B030D-6E8A-4147-A177-3AD203B41FA5}">
                      <a16:colId xmlns:a16="http://schemas.microsoft.com/office/drawing/2014/main" val="20001"/>
                    </a:ext>
                  </a:extLst>
                </a:gridCol>
              </a:tblGrid>
              <a:tr h="180340">
                <a:tc>
                  <a:txBody>
                    <a:bodyPr/>
                    <a:lstStyle/>
                    <a:p>
                      <a:pPr algn="ctr">
                        <a:spcAft>
                          <a:spcPts val="0"/>
                        </a:spcAft>
                      </a:pPr>
                      <a:r>
                        <a:rPr lang="en-US" sz="2000" kern="100" dirty="0">
                          <a:effectLst/>
                        </a:rPr>
                        <a:t>(</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kern="100" dirty="0">
                          <a:effectLst/>
                        </a:rPr>
                        <a:t>(</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0"/>
                  </a:ext>
                </a:extLst>
              </a:tr>
            </a:tbl>
          </a:graphicData>
        </a:graphic>
      </p:graphicFrame>
      <p:graphicFrame>
        <p:nvGraphicFramePr>
          <p:cNvPr id="14" name="表格 13"/>
          <p:cNvGraphicFramePr>
            <a:graphicFrameLocks noGrp="1"/>
          </p:cNvGraphicFramePr>
          <p:nvPr>
            <p:extLst>
              <p:ext uri="{D42A27DB-BD31-4B8C-83A1-F6EECF244321}">
                <p14:modId xmlns:p14="http://schemas.microsoft.com/office/powerpoint/2010/main" val="2699391665"/>
              </p:ext>
            </p:extLst>
          </p:nvPr>
        </p:nvGraphicFramePr>
        <p:xfrm>
          <a:off x="323528" y="1834898"/>
          <a:ext cx="2664296" cy="304800"/>
        </p:xfrm>
        <a:graphic>
          <a:graphicData uri="http://schemas.openxmlformats.org/drawingml/2006/table">
            <a:tbl>
              <a:tblPr>
                <a:tableStyleId>{5C22544A-7EE6-4342-B048-85BDC9FD1C3A}</a:tableStyleId>
              </a:tblPr>
              <a:tblGrid>
                <a:gridCol w="1606713">
                  <a:extLst>
                    <a:ext uri="{9D8B030D-6E8A-4147-A177-3AD203B41FA5}">
                      <a16:colId xmlns:a16="http://schemas.microsoft.com/office/drawing/2014/main" val="20000"/>
                    </a:ext>
                  </a:extLst>
                </a:gridCol>
                <a:gridCol w="1057583">
                  <a:extLst>
                    <a:ext uri="{9D8B030D-6E8A-4147-A177-3AD203B41FA5}">
                      <a16:colId xmlns:a16="http://schemas.microsoft.com/office/drawing/2014/main" val="20001"/>
                    </a:ext>
                  </a:extLst>
                </a:gridCol>
              </a:tblGrid>
              <a:tr h="180340">
                <a:tc>
                  <a:txBody>
                    <a:bodyPr/>
                    <a:lstStyle/>
                    <a:p>
                      <a:pPr algn="ctr">
                        <a:spcAft>
                          <a:spcPts val="0"/>
                        </a:spcAft>
                      </a:pPr>
                      <a:r>
                        <a:rPr lang="en-US" sz="2000" kern="100" dirty="0">
                          <a:effectLst/>
                        </a:rPr>
                        <a:t>@</a:t>
                      </a:r>
                      <a:r>
                        <a:rPr lang="en-US" sz="2000" kern="100" baseline="30000" dirty="0" err="1">
                          <a:effectLst/>
                        </a:rPr>
                        <a:t>i</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sz="2000" kern="100" dirty="0">
                          <a:effectLst/>
                        </a:rPr>
                        <a:t>-</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0"/>
                  </a:ext>
                </a:extLst>
              </a:tr>
            </a:tbl>
          </a:graphicData>
        </a:graphic>
      </p:graphicFrame>
      <p:graphicFrame>
        <p:nvGraphicFramePr>
          <p:cNvPr id="15" name="表格 14"/>
          <p:cNvGraphicFramePr>
            <a:graphicFrameLocks noGrp="1"/>
          </p:cNvGraphicFramePr>
          <p:nvPr>
            <p:extLst>
              <p:ext uri="{D42A27DB-BD31-4B8C-83A1-F6EECF244321}">
                <p14:modId xmlns:p14="http://schemas.microsoft.com/office/powerpoint/2010/main" val="1219464072"/>
              </p:ext>
            </p:extLst>
          </p:nvPr>
        </p:nvGraphicFramePr>
        <p:xfrm>
          <a:off x="323528" y="1491626"/>
          <a:ext cx="2664296" cy="304800"/>
        </p:xfrm>
        <a:graphic>
          <a:graphicData uri="http://schemas.openxmlformats.org/drawingml/2006/table">
            <a:tbl>
              <a:tblPr>
                <a:tableStyleId>{5C22544A-7EE6-4342-B048-85BDC9FD1C3A}</a:tableStyleId>
              </a:tblPr>
              <a:tblGrid>
                <a:gridCol w="1606713">
                  <a:extLst>
                    <a:ext uri="{9D8B030D-6E8A-4147-A177-3AD203B41FA5}">
                      <a16:colId xmlns:a16="http://schemas.microsoft.com/office/drawing/2014/main" val="20000"/>
                    </a:ext>
                  </a:extLst>
                </a:gridCol>
                <a:gridCol w="1057583">
                  <a:extLst>
                    <a:ext uri="{9D8B030D-6E8A-4147-A177-3AD203B41FA5}">
                      <a16:colId xmlns:a16="http://schemas.microsoft.com/office/drawing/2014/main" val="20001"/>
                    </a:ext>
                  </a:extLst>
                </a:gridCol>
              </a:tblGrid>
              <a:tr h="180340">
                <a:tc>
                  <a:txBody>
                    <a:bodyPr/>
                    <a:lstStyle/>
                    <a:p>
                      <a:pPr algn="ctr">
                        <a:spcAft>
                          <a:spcPts val="0"/>
                        </a:spcAft>
                      </a:pPr>
                      <a:r>
                        <a:rPr lang="en-US" altLang="zh-CN" sz="2000" kern="100" dirty="0">
                          <a:effectLst/>
                        </a:rPr>
                        <a:t>P</a:t>
                      </a:r>
                      <a:r>
                        <a:rPr lang="en-US" sz="2000" kern="100" baseline="-25000" dirty="0">
                          <a:effectLst/>
                        </a:rPr>
                        <a:t>D</a:t>
                      </a:r>
                      <a:r>
                        <a:rPr lang="en-US" sz="2000" kern="100" dirty="0">
                          <a:effectLst/>
                        </a:rPr>
                        <a:t>.PLACE</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spcAft>
                          <a:spcPts val="0"/>
                        </a:spcAft>
                      </a:pPr>
                      <a:r>
                        <a:rPr lang="en-US" altLang="zh-CN" sz="2000" kern="100" dirty="0">
                          <a:effectLst/>
                        </a:rPr>
                        <a:t>P</a:t>
                      </a:r>
                      <a:r>
                        <a:rPr lang="en-US" sz="2000" kern="100" baseline="-25000" dirty="0">
                          <a:effectLst/>
                        </a:rPr>
                        <a:t>D</a:t>
                      </a:r>
                      <a:endParaRPr lang="zh-CN" sz="20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0"/>
                  </a:ext>
                </a:extLst>
              </a:tr>
            </a:tbl>
          </a:graphicData>
        </a:graphic>
      </p:graphicFrame>
      <p:sp>
        <p:nvSpPr>
          <p:cNvPr id="16" name="矩形 15"/>
          <p:cNvSpPr/>
          <p:nvPr/>
        </p:nvSpPr>
        <p:spPr>
          <a:xfrm>
            <a:off x="155760" y="159088"/>
            <a:ext cx="2400016" cy="492443"/>
          </a:xfrm>
          <a:prstGeom prst="rect">
            <a:avLst/>
          </a:prstGeom>
        </p:spPr>
        <p:txBody>
          <a:bodyPr wrap="none">
            <a:spAutoFit/>
          </a:bodyPr>
          <a:lstStyle/>
          <a:p>
            <a:r>
              <a:rPr lang="en-US" altLang="zh-CN" sz="2600" dirty="0">
                <a:solidFill>
                  <a:srgbClr val="FF0000"/>
                </a:solidFill>
              </a:rPr>
              <a:t>A=B+C*(-D)#</a:t>
            </a:r>
            <a:endParaRPr lang="zh-CN" altLang="en-US" sz="2600" dirty="0"/>
          </a:p>
        </p:txBody>
      </p:sp>
      <p:cxnSp>
        <p:nvCxnSpPr>
          <p:cNvPr id="18" name="直接箭头连接符 17"/>
          <p:cNvCxnSpPr/>
          <p:nvPr/>
        </p:nvCxnSpPr>
        <p:spPr>
          <a:xfrm flipV="1">
            <a:off x="2123728" y="548744"/>
            <a:ext cx="0" cy="36682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V="1">
            <a:off x="323528" y="548743"/>
            <a:ext cx="0" cy="36682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9" name="表格 18"/>
          <p:cNvGraphicFramePr>
            <a:graphicFrameLocks noGrp="1"/>
          </p:cNvGraphicFramePr>
          <p:nvPr>
            <p:extLst>
              <p:ext uri="{D42A27DB-BD31-4B8C-83A1-F6EECF244321}">
                <p14:modId xmlns:p14="http://schemas.microsoft.com/office/powerpoint/2010/main" val="648677599"/>
              </p:ext>
            </p:extLst>
          </p:nvPr>
        </p:nvGraphicFramePr>
        <p:xfrm>
          <a:off x="251520" y="1851666"/>
          <a:ext cx="2664296" cy="304800"/>
        </p:xfrm>
        <a:graphic>
          <a:graphicData uri="http://schemas.openxmlformats.org/drawingml/2006/table">
            <a:tbl>
              <a:tblPr>
                <a:tableStyleId>{5C22544A-7EE6-4342-B048-85BDC9FD1C3A}</a:tableStyleId>
              </a:tblPr>
              <a:tblGrid>
                <a:gridCol w="1695461">
                  <a:extLst>
                    <a:ext uri="{9D8B030D-6E8A-4147-A177-3AD203B41FA5}">
                      <a16:colId xmlns:a16="http://schemas.microsoft.com/office/drawing/2014/main" val="20000"/>
                    </a:ext>
                  </a:extLst>
                </a:gridCol>
                <a:gridCol w="968835">
                  <a:extLst>
                    <a:ext uri="{9D8B030D-6E8A-4147-A177-3AD203B41FA5}">
                      <a16:colId xmlns:a16="http://schemas.microsoft.com/office/drawing/2014/main" val="20001"/>
                    </a:ext>
                  </a:extLst>
                </a:gridCol>
              </a:tblGrid>
              <a:tr h="180340">
                <a:tc>
                  <a:txBody>
                    <a:bodyPr/>
                    <a:lstStyle/>
                    <a:p>
                      <a:pPr algn="ctr">
                        <a:spcAft>
                          <a:spcPts val="0"/>
                        </a:spcAft>
                      </a:pPr>
                      <a:r>
                        <a:rPr lang="en-US" sz="2000" kern="100" dirty="0">
                          <a:effectLst/>
                        </a:rPr>
                        <a:t>F</a:t>
                      </a:r>
                      <a:r>
                        <a:rPr lang="en-US" sz="2000" kern="100" baseline="-25000" dirty="0">
                          <a:effectLst/>
                        </a:rPr>
                        <a:t>D</a:t>
                      </a:r>
                      <a:r>
                        <a:rPr lang="en-US" altLang="zh-CN" sz="2000" kern="100" baseline="-25000" dirty="0">
                          <a:effectLst/>
                        </a:rPr>
                        <a:t>'</a:t>
                      </a:r>
                      <a:r>
                        <a:rPr lang="en-US" sz="2000" kern="100" dirty="0">
                          <a:effectLst/>
                        </a:rPr>
                        <a:t>.PLACE</a:t>
                      </a:r>
                      <a:endParaRPr lang="zh-CN" sz="2000" kern="100" dirty="0">
                        <a:effectLst/>
                        <a:latin typeface="Times New Roman"/>
                        <a:ea typeface="宋体"/>
                      </a:endParaRPr>
                    </a:p>
                  </a:txBody>
                  <a:tcPr marL="68580" marR="68580"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spcAft>
                          <a:spcPts val="0"/>
                        </a:spcAft>
                      </a:pPr>
                      <a:r>
                        <a:rPr lang="en-US" sz="2000" kern="100" dirty="0">
                          <a:effectLst/>
                        </a:rPr>
                        <a:t>F</a:t>
                      </a:r>
                      <a:r>
                        <a:rPr lang="en-US" sz="2000" kern="100" baseline="-25000" dirty="0">
                          <a:effectLst/>
                        </a:rPr>
                        <a:t>D</a:t>
                      </a:r>
                      <a:r>
                        <a:rPr lang="en-US" altLang="zh-CN" sz="2000" kern="100" baseline="-25000" dirty="0">
                          <a:effectLst/>
                        </a:rPr>
                        <a:t>'</a:t>
                      </a:r>
                      <a:endParaRPr lang="zh-CN" sz="2000" kern="100" dirty="0">
                        <a:effectLst/>
                        <a:latin typeface="Times New Roman"/>
                        <a:ea typeface="宋体"/>
                      </a:endParaRPr>
                    </a:p>
                  </a:txBody>
                  <a:tcPr marL="68580" marR="68580" marT="0" marB="0">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0" name="表格 19"/>
          <p:cNvGraphicFramePr>
            <a:graphicFrameLocks noGrp="1"/>
          </p:cNvGraphicFramePr>
          <p:nvPr>
            <p:extLst>
              <p:ext uri="{D42A27DB-BD31-4B8C-83A1-F6EECF244321}">
                <p14:modId xmlns:p14="http://schemas.microsoft.com/office/powerpoint/2010/main" val="3810130323"/>
              </p:ext>
            </p:extLst>
          </p:nvPr>
        </p:nvGraphicFramePr>
        <p:xfrm>
          <a:off x="3635896" y="1779662"/>
          <a:ext cx="5472608" cy="685800"/>
        </p:xfrm>
        <a:graphic>
          <a:graphicData uri="http://schemas.openxmlformats.org/drawingml/2006/table">
            <a:tbl>
              <a:tblPr/>
              <a:tblGrid>
                <a:gridCol w="1080120">
                  <a:extLst>
                    <a:ext uri="{9D8B030D-6E8A-4147-A177-3AD203B41FA5}">
                      <a16:colId xmlns:a16="http://schemas.microsoft.com/office/drawing/2014/main" val="20000"/>
                    </a:ext>
                  </a:extLst>
                </a:gridCol>
                <a:gridCol w="4392488">
                  <a:extLst>
                    <a:ext uri="{9D8B030D-6E8A-4147-A177-3AD203B41FA5}">
                      <a16:colId xmlns:a16="http://schemas.microsoft.com/office/drawing/2014/main" val="20001"/>
                    </a:ext>
                  </a:extLst>
                </a:gridCol>
              </a:tblGrid>
              <a:tr h="3429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K+1</a:t>
                      </a: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no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30000" dirty="0" err="1">
                          <a:ln>
                            <a:noFill/>
                          </a:ln>
                          <a:solidFill>
                            <a:schemeClr val="tx1"/>
                          </a:solidFill>
                          <a:effectLst/>
                          <a:latin typeface="Times New Roman" pitchFamily="18" charset="0"/>
                          <a:ea typeface="宋体" pitchFamily="2" charset="-122"/>
                          <a:cs typeface="Times New Roman" pitchFamily="18" charset="0"/>
                        </a:rPr>
                        <a:t>i</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a:t>
                      </a:r>
                      <a:r>
                        <a:rPr kumimoji="0" lang="en-US" altLang="zh-CN" sz="18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D</a:t>
                      </a:r>
                      <a:r>
                        <a:rPr kumimoji="0" lang="en-US" altLang="zh-CN" sz="1800" b="0" i="0" u="none" strike="noStrike" cap="none" normalizeH="0" baseline="0" dirty="0">
                          <a:ln>
                            <a:noFill/>
                          </a:ln>
                          <a:solidFill>
                            <a:schemeClr val="tx1"/>
                          </a:solidFill>
                          <a:effectLst/>
                          <a:latin typeface="Arial"/>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PLACE</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_</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r>
                        <a:rPr kumimoji="0" lang="en-US" altLang="zh-CN" sz="18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D</a:t>
                      </a:r>
                      <a:r>
                        <a:rPr lang="en-US" altLang="zh-CN" sz="1800" kern="100" baseline="-25000" dirty="0">
                          <a:effectLst/>
                        </a:rPr>
                        <a:t>'</a:t>
                      </a:r>
                      <a:r>
                        <a:rPr kumimoji="0" lang="en-US" altLang="zh-CN" sz="1800" b="0" i="0" u="none" strike="noStrike" cap="none" normalizeH="0" baseline="0" dirty="0">
                          <a:ln>
                            <a:noFill/>
                          </a:ln>
                          <a:solidFill>
                            <a:schemeClr val="tx1"/>
                          </a:solidFill>
                          <a:effectLst/>
                          <a:latin typeface="Arial"/>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PLACE)</a:t>
                      </a: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sm" len="sm"/>
                      <a:tailEnd type="none" w="sm" len="sm"/>
                    </a:lnL>
                    <a:lnR w="12700" cap="flat" cmpd="sng" algn="ctr">
                      <a:no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K+2</a:t>
                      </a: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no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sm" len="sm"/>
                      <a:tailEnd type="none" w="sm" len="sm"/>
                    </a:lnL>
                    <a:lnR w="12700" cap="flat" cmpd="sng" algn="ctr">
                      <a:no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21" name="表格 20"/>
          <p:cNvGraphicFramePr>
            <a:graphicFrameLocks noGrp="1"/>
          </p:cNvGraphicFramePr>
          <p:nvPr>
            <p:extLst>
              <p:ext uri="{D42A27DB-BD31-4B8C-83A1-F6EECF244321}">
                <p14:modId xmlns:p14="http://schemas.microsoft.com/office/powerpoint/2010/main" val="197729470"/>
              </p:ext>
            </p:extLst>
          </p:nvPr>
        </p:nvGraphicFramePr>
        <p:xfrm>
          <a:off x="441936" y="1513330"/>
          <a:ext cx="2422088" cy="304800"/>
        </p:xfrm>
        <a:graphic>
          <a:graphicData uri="http://schemas.openxmlformats.org/drawingml/2006/table">
            <a:tbl>
              <a:tblPr>
                <a:tableStyleId>{5C22544A-7EE6-4342-B048-85BDC9FD1C3A}</a:tableStyleId>
              </a:tblPr>
              <a:tblGrid>
                <a:gridCol w="1438115">
                  <a:extLst>
                    <a:ext uri="{9D8B030D-6E8A-4147-A177-3AD203B41FA5}">
                      <a16:colId xmlns:a16="http://schemas.microsoft.com/office/drawing/2014/main" val="20000"/>
                    </a:ext>
                  </a:extLst>
                </a:gridCol>
                <a:gridCol w="983973">
                  <a:extLst>
                    <a:ext uri="{9D8B030D-6E8A-4147-A177-3AD203B41FA5}">
                      <a16:colId xmlns:a16="http://schemas.microsoft.com/office/drawing/2014/main" val="20001"/>
                    </a:ext>
                  </a:extLst>
                </a:gridCol>
              </a:tblGrid>
              <a:tr h="180340">
                <a:tc>
                  <a:txBody>
                    <a:bodyPr/>
                    <a:lstStyle/>
                    <a:p>
                      <a:pPr algn="ctr">
                        <a:spcAft>
                          <a:spcPts val="0"/>
                        </a:spcAft>
                      </a:pPr>
                      <a:r>
                        <a:rPr lang="en-US" sz="2000" kern="100" dirty="0">
                          <a:effectLst/>
                        </a:rPr>
                        <a:t>)</a:t>
                      </a:r>
                      <a:endParaRPr lang="zh-CN" sz="2000" kern="100" dirty="0">
                        <a:effectLst/>
                        <a:latin typeface="Times New Roman"/>
                        <a:ea typeface="宋体"/>
                      </a:endParaRPr>
                    </a:p>
                  </a:txBody>
                  <a:tcPr marL="68580" marR="68580"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spcAft>
                          <a:spcPts val="0"/>
                        </a:spcAft>
                      </a:pPr>
                      <a:r>
                        <a:rPr lang="en-US" sz="2000" kern="100" dirty="0">
                          <a:effectLst/>
                        </a:rPr>
                        <a:t>)</a:t>
                      </a:r>
                      <a:endParaRPr lang="zh-CN" sz="2000" kern="100" dirty="0">
                        <a:effectLst/>
                        <a:latin typeface="Times New Roman"/>
                        <a:ea typeface="宋体"/>
                      </a:endParaRPr>
                    </a:p>
                  </a:txBody>
                  <a:tcPr marL="68580" marR="68580" marT="0" marB="0">
                    <a:lnL w="12700" cap="flat" cmpd="sng" algn="ctr">
                      <a:noFill/>
                      <a:prstDash val="solid"/>
                      <a:round/>
                      <a:headEnd type="none" w="med" len="med"/>
                      <a:tailEnd type="none" w="med" len="med"/>
                    </a:lnL>
                    <a:noFill/>
                  </a:tcPr>
                </a:tc>
                <a:extLst>
                  <a:ext uri="{0D108BD9-81ED-4DB2-BD59-A6C34878D82A}">
                    <a16:rowId xmlns:a16="http://schemas.microsoft.com/office/drawing/2014/main" val="10000"/>
                  </a:ext>
                </a:extLst>
              </a:tr>
            </a:tbl>
          </a:graphicData>
        </a:graphic>
      </p:graphicFrame>
      <p:graphicFrame>
        <p:nvGraphicFramePr>
          <p:cNvPr id="23" name="表格 22"/>
          <p:cNvGraphicFramePr>
            <a:graphicFrameLocks noGrp="1"/>
          </p:cNvGraphicFramePr>
          <p:nvPr>
            <p:extLst>
              <p:ext uri="{D42A27DB-BD31-4B8C-83A1-F6EECF244321}">
                <p14:modId xmlns:p14="http://schemas.microsoft.com/office/powerpoint/2010/main" val="3893622604"/>
              </p:ext>
            </p:extLst>
          </p:nvPr>
        </p:nvGraphicFramePr>
        <p:xfrm>
          <a:off x="323529" y="2139698"/>
          <a:ext cx="2583560" cy="304800"/>
        </p:xfrm>
        <a:graphic>
          <a:graphicData uri="http://schemas.openxmlformats.org/drawingml/2006/table">
            <a:tbl>
              <a:tblPr>
                <a:tableStyleId>{5C22544A-7EE6-4342-B048-85BDC9FD1C3A}</a:tableStyleId>
              </a:tblPr>
              <a:tblGrid>
                <a:gridCol w="1614724">
                  <a:extLst>
                    <a:ext uri="{9D8B030D-6E8A-4147-A177-3AD203B41FA5}">
                      <a16:colId xmlns:a16="http://schemas.microsoft.com/office/drawing/2014/main" val="20000"/>
                    </a:ext>
                  </a:extLst>
                </a:gridCol>
                <a:gridCol w="968836">
                  <a:extLst>
                    <a:ext uri="{9D8B030D-6E8A-4147-A177-3AD203B41FA5}">
                      <a16:colId xmlns:a16="http://schemas.microsoft.com/office/drawing/2014/main" val="20001"/>
                    </a:ext>
                  </a:extLst>
                </a:gridCol>
              </a:tblGrid>
              <a:tr h="180340">
                <a:tc>
                  <a:txBody>
                    <a:bodyPr/>
                    <a:lstStyle/>
                    <a:p>
                      <a:pPr algn="ctr">
                        <a:spcAft>
                          <a:spcPts val="0"/>
                        </a:spcAft>
                      </a:pPr>
                      <a:r>
                        <a:rPr lang="en-US" altLang="zh-CN" sz="2000" kern="100" dirty="0">
                          <a:effectLst/>
                        </a:rPr>
                        <a:t>P</a:t>
                      </a:r>
                      <a:r>
                        <a:rPr lang="en-US" sz="2000" kern="100" baseline="-25000" dirty="0">
                          <a:effectLst/>
                        </a:rPr>
                        <a:t>D</a:t>
                      </a:r>
                      <a:r>
                        <a:rPr lang="en-US" altLang="zh-CN" sz="2000" kern="100" baseline="-25000" dirty="0">
                          <a:effectLst/>
                        </a:rPr>
                        <a:t>''</a:t>
                      </a:r>
                      <a:r>
                        <a:rPr lang="en-US" sz="2000" kern="100" dirty="0">
                          <a:effectLst/>
                        </a:rPr>
                        <a:t>.PLACE</a:t>
                      </a:r>
                      <a:endParaRPr lang="zh-CN" sz="2000" kern="100" dirty="0">
                        <a:effectLst/>
                        <a:latin typeface="Times New Roman"/>
                        <a:ea typeface="宋体"/>
                      </a:endParaRPr>
                    </a:p>
                  </a:txBody>
                  <a:tcPr marL="68580" marR="68580"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spcAft>
                          <a:spcPts val="0"/>
                        </a:spcAft>
                      </a:pPr>
                      <a:r>
                        <a:rPr lang="en-US" altLang="zh-CN" sz="2000" kern="100" dirty="0">
                          <a:effectLst/>
                        </a:rPr>
                        <a:t>P</a:t>
                      </a:r>
                      <a:r>
                        <a:rPr lang="en-US" sz="2000" kern="100" baseline="-25000" dirty="0">
                          <a:effectLst/>
                        </a:rPr>
                        <a:t>D</a:t>
                      </a:r>
                      <a:r>
                        <a:rPr lang="en-US" altLang="zh-CN" sz="2000" kern="100" baseline="-25000" dirty="0">
                          <a:effectLst/>
                        </a:rPr>
                        <a:t>''</a:t>
                      </a:r>
                      <a:endParaRPr lang="zh-CN" sz="2000" kern="100" baseline="-25000" dirty="0">
                        <a:effectLst/>
                        <a:latin typeface="Times New Roman"/>
                        <a:ea typeface="宋体"/>
                      </a:endParaRPr>
                    </a:p>
                  </a:txBody>
                  <a:tcPr marL="68580" marR="68580" marT="0" marB="0">
                    <a:lnL w="12700" cap="flat" cmpd="sng" algn="ctr">
                      <a:noFill/>
                      <a:prstDash val="solid"/>
                      <a:round/>
                      <a:headEnd type="none" w="med" len="med"/>
                      <a:tailEnd type="none" w="med" len="med"/>
                    </a:lnL>
                  </a:tcPr>
                </a:tc>
                <a:extLst>
                  <a:ext uri="{0D108BD9-81ED-4DB2-BD59-A6C34878D82A}">
                    <a16:rowId xmlns:a16="http://schemas.microsoft.com/office/drawing/2014/main" val="10000"/>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1004983931"/>
              </p:ext>
            </p:extLst>
          </p:nvPr>
        </p:nvGraphicFramePr>
        <p:xfrm>
          <a:off x="3635896" y="2101974"/>
          <a:ext cx="5472608" cy="685800"/>
        </p:xfrm>
        <a:graphic>
          <a:graphicData uri="http://schemas.openxmlformats.org/drawingml/2006/table">
            <a:tbl>
              <a:tblPr/>
              <a:tblGrid>
                <a:gridCol w="1080120">
                  <a:extLst>
                    <a:ext uri="{9D8B030D-6E8A-4147-A177-3AD203B41FA5}">
                      <a16:colId xmlns:a16="http://schemas.microsoft.com/office/drawing/2014/main" val="20000"/>
                    </a:ext>
                  </a:extLst>
                </a:gridCol>
                <a:gridCol w="4392488">
                  <a:extLst>
                    <a:ext uri="{9D8B030D-6E8A-4147-A177-3AD203B41FA5}">
                      <a16:colId xmlns:a16="http://schemas.microsoft.com/office/drawing/2014/main" val="20001"/>
                    </a:ext>
                  </a:extLst>
                </a:gridCol>
              </a:tblGrid>
              <a:tr h="3429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K+2</a:t>
                      </a: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no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30000" dirty="0" err="1">
                          <a:ln>
                            <a:noFill/>
                          </a:ln>
                          <a:solidFill>
                            <a:schemeClr val="tx1"/>
                          </a:solidFill>
                          <a:effectLst/>
                          <a:latin typeface="Times New Roman" pitchFamily="18" charset="0"/>
                          <a:ea typeface="宋体" pitchFamily="2" charset="-122"/>
                          <a:cs typeface="Times New Roman" pitchFamily="18" charset="0"/>
                        </a:rPr>
                        <a:t>i</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T</a:t>
                      </a:r>
                      <a:r>
                        <a:rPr kumimoji="0" lang="en-US" altLang="zh-CN" sz="1800" b="0" i="0" u="none" strike="noStrike" cap="none" normalizeH="0" baseline="-30000" dirty="0" err="1">
                          <a:ln>
                            <a:noFill/>
                          </a:ln>
                          <a:solidFill>
                            <a:schemeClr val="tx1"/>
                          </a:solidFill>
                          <a:effectLst/>
                          <a:latin typeface="Times New Roman" pitchFamily="18" charset="0"/>
                          <a:ea typeface="宋体" pitchFamily="2" charset="-122"/>
                          <a:cs typeface="Times New Roman" pitchFamily="18" charset="0"/>
                        </a:rPr>
                        <a:t>c</a:t>
                      </a:r>
                      <a:r>
                        <a:rPr kumimoji="0" lang="en-US" altLang="zh-CN" sz="1800" b="0" i="0" u="none" strike="noStrike" cap="none" normalizeH="0" baseline="0" dirty="0" err="1">
                          <a:ln>
                            <a:noFill/>
                          </a:ln>
                          <a:solidFill>
                            <a:schemeClr val="tx1"/>
                          </a:solidFill>
                          <a:effectLst/>
                          <a:latin typeface="Arial"/>
                          <a:ea typeface="宋体" pitchFamily="2" charset="-122"/>
                          <a:cs typeface="Times New Roman" pitchFamily="18" charset="0"/>
                        </a:rPr>
                        <a:t>·</a:t>
                      </a:r>
                      <a:r>
                        <a:rPr kumimoji="0" lang="en-US" altLang="zh-CN" sz="1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PLACE</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a:t>
                      </a:r>
                      <a:r>
                        <a:rPr kumimoji="0" lang="en-US" altLang="zh-CN" sz="18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D</a:t>
                      </a:r>
                      <a:r>
                        <a:rPr lang="en-US" altLang="zh-CN" sz="1800" kern="100" baseline="-25000" dirty="0">
                          <a:effectLst/>
                        </a:rPr>
                        <a:t>''</a:t>
                      </a:r>
                      <a:r>
                        <a:rPr kumimoji="0" lang="en-US" altLang="zh-CN" sz="1800" b="0" i="0" u="none" strike="noStrike" cap="none" normalizeH="0" baseline="0" dirty="0">
                          <a:ln>
                            <a:noFill/>
                          </a:ln>
                          <a:solidFill>
                            <a:schemeClr val="tx1"/>
                          </a:solidFill>
                          <a:effectLst/>
                          <a:latin typeface="Arial"/>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PLACE</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en-US" altLang="zh-CN" sz="1800" b="0" i="0" u="none" strike="noStrike" cap="none" normalizeH="0" baseline="0" dirty="0">
                          <a:ln>
                            <a:noFill/>
                          </a:ln>
                          <a:solidFill>
                            <a:schemeClr val="tx1"/>
                          </a:solidFill>
                          <a:effectLst/>
                          <a:latin typeface="Arial"/>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PLACE)</a:t>
                      </a: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sm" len="sm"/>
                      <a:tailEnd type="none" w="sm" len="sm"/>
                    </a:lnL>
                    <a:lnR w="12700" cap="flat" cmpd="sng" algn="ctr">
                      <a:no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K+3</a:t>
                      </a: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no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sm" len="sm"/>
                      <a:tailEnd type="none" w="sm" len="sm"/>
                    </a:lnL>
                    <a:lnR w="12700" cap="flat" cmpd="sng" algn="ctr">
                      <a:no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2016444516"/>
              </p:ext>
            </p:extLst>
          </p:nvPr>
        </p:nvGraphicFramePr>
        <p:xfrm>
          <a:off x="343744" y="2787774"/>
          <a:ext cx="2520280" cy="304800"/>
        </p:xfrm>
        <a:graphic>
          <a:graphicData uri="http://schemas.openxmlformats.org/drawingml/2006/table">
            <a:tbl>
              <a:tblPr>
                <a:tableStyleId>{5C22544A-7EE6-4342-B048-85BDC9FD1C3A}</a:tableStyleId>
              </a:tblPr>
              <a:tblGrid>
                <a:gridCol w="1566660">
                  <a:extLst>
                    <a:ext uri="{9D8B030D-6E8A-4147-A177-3AD203B41FA5}">
                      <a16:colId xmlns:a16="http://schemas.microsoft.com/office/drawing/2014/main" val="20000"/>
                    </a:ext>
                  </a:extLst>
                </a:gridCol>
                <a:gridCol w="953620">
                  <a:extLst>
                    <a:ext uri="{9D8B030D-6E8A-4147-A177-3AD203B41FA5}">
                      <a16:colId xmlns:a16="http://schemas.microsoft.com/office/drawing/2014/main" val="20001"/>
                    </a:ext>
                  </a:extLst>
                </a:gridCol>
              </a:tblGrid>
              <a:tr h="180340">
                <a:tc>
                  <a:txBody>
                    <a:bodyPr/>
                    <a:lstStyle/>
                    <a:p>
                      <a:pPr algn="ctr">
                        <a:spcAft>
                          <a:spcPts val="0"/>
                        </a:spcAft>
                      </a:pPr>
                      <a:r>
                        <a:rPr lang="en-US" sz="2000" kern="100" dirty="0">
                          <a:effectLst/>
                        </a:rPr>
                        <a:t>T'.PLACE</a:t>
                      </a:r>
                      <a:endParaRPr lang="zh-CN" sz="2000" kern="100" dirty="0">
                        <a:effectLst/>
                        <a:latin typeface="Times New Roman"/>
                        <a:ea typeface="宋体"/>
                      </a:endParaRPr>
                    </a:p>
                  </a:txBody>
                  <a:tcPr marL="68580" marR="68580"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spcAft>
                          <a:spcPts val="0"/>
                        </a:spcAft>
                      </a:pPr>
                      <a:r>
                        <a:rPr lang="en-US" sz="2000" kern="100" dirty="0">
                          <a:effectLst/>
                        </a:rPr>
                        <a:t>T'</a:t>
                      </a:r>
                      <a:endParaRPr lang="zh-CN" sz="2000" kern="100" dirty="0">
                        <a:effectLst/>
                        <a:latin typeface="Times New Roman"/>
                        <a:ea typeface="宋体"/>
                      </a:endParaRPr>
                    </a:p>
                  </a:txBody>
                  <a:tcPr marL="68580" marR="68580" marT="0" marB="0">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6" name="表格 25"/>
          <p:cNvGraphicFramePr>
            <a:graphicFrameLocks noGrp="1"/>
          </p:cNvGraphicFramePr>
          <p:nvPr>
            <p:extLst>
              <p:ext uri="{D42A27DB-BD31-4B8C-83A1-F6EECF244321}">
                <p14:modId xmlns:p14="http://schemas.microsoft.com/office/powerpoint/2010/main" val="4272749567"/>
              </p:ext>
            </p:extLst>
          </p:nvPr>
        </p:nvGraphicFramePr>
        <p:xfrm>
          <a:off x="323528" y="3507850"/>
          <a:ext cx="2583560" cy="304800"/>
        </p:xfrm>
        <a:graphic>
          <a:graphicData uri="http://schemas.openxmlformats.org/drawingml/2006/table">
            <a:tbl>
              <a:tblPr>
                <a:tableStyleId>{5C22544A-7EE6-4342-B048-85BDC9FD1C3A}</a:tableStyleId>
              </a:tblPr>
              <a:tblGrid>
                <a:gridCol w="1614725">
                  <a:extLst>
                    <a:ext uri="{9D8B030D-6E8A-4147-A177-3AD203B41FA5}">
                      <a16:colId xmlns:a16="http://schemas.microsoft.com/office/drawing/2014/main" val="20000"/>
                    </a:ext>
                  </a:extLst>
                </a:gridCol>
                <a:gridCol w="968835">
                  <a:extLst>
                    <a:ext uri="{9D8B030D-6E8A-4147-A177-3AD203B41FA5}">
                      <a16:colId xmlns:a16="http://schemas.microsoft.com/office/drawing/2014/main" val="20001"/>
                    </a:ext>
                  </a:extLst>
                </a:gridCol>
              </a:tblGrid>
              <a:tr h="180340">
                <a:tc>
                  <a:txBody>
                    <a:bodyPr/>
                    <a:lstStyle/>
                    <a:p>
                      <a:pPr algn="ctr">
                        <a:spcAft>
                          <a:spcPts val="0"/>
                        </a:spcAft>
                      </a:pPr>
                      <a:r>
                        <a:rPr lang="en-US" sz="2000" kern="100" dirty="0">
                          <a:effectLst/>
                        </a:rPr>
                        <a:t>E.PLACE</a:t>
                      </a:r>
                      <a:endParaRPr lang="zh-CN" sz="2000" kern="100" dirty="0">
                        <a:effectLst/>
                        <a:latin typeface="Times New Roman"/>
                        <a:ea typeface="宋体"/>
                      </a:endParaRPr>
                    </a:p>
                  </a:txBody>
                  <a:tcPr marL="68580" marR="68580"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spcAft>
                          <a:spcPts val="0"/>
                        </a:spcAft>
                      </a:pPr>
                      <a:r>
                        <a:rPr lang="en-US" sz="2000" kern="100" dirty="0">
                          <a:effectLst/>
                        </a:rPr>
                        <a:t>E</a:t>
                      </a:r>
                      <a:endParaRPr lang="zh-CN" sz="2000" kern="100" dirty="0">
                        <a:effectLst/>
                        <a:latin typeface="Times New Roman"/>
                        <a:ea typeface="宋体"/>
                      </a:endParaRPr>
                    </a:p>
                  </a:txBody>
                  <a:tcPr marL="68580" marR="68580" marT="0" marB="0">
                    <a:lnL w="12700" cap="flat" cmpd="sng" algn="ctr">
                      <a:noFill/>
                      <a:prstDash val="solid"/>
                      <a:round/>
                      <a:headEnd type="none" w="med" len="med"/>
                      <a:tailEnd type="none" w="med" len="med"/>
                    </a:lnL>
                    <a:noFill/>
                  </a:tcPr>
                </a:tc>
                <a:extLst>
                  <a:ext uri="{0D108BD9-81ED-4DB2-BD59-A6C34878D82A}">
                    <a16:rowId xmlns:a16="http://schemas.microsoft.com/office/drawing/2014/main" val="10000"/>
                  </a:ext>
                </a:extLst>
              </a:tr>
            </a:tbl>
          </a:graphicData>
        </a:graphic>
      </p:graphicFrame>
      <p:graphicFrame>
        <p:nvGraphicFramePr>
          <p:cNvPr id="27" name="表格 26"/>
          <p:cNvGraphicFramePr>
            <a:graphicFrameLocks noGrp="1"/>
          </p:cNvGraphicFramePr>
          <p:nvPr>
            <p:extLst>
              <p:ext uri="{D42A27DB-BD31-4B8C-83A1-F6EECF244321}">
                <p14:modId xmlns:p14="http://schemas.microsoft.com/office/powerpoint/2010/main" val="1345221180"/>
              </p:ext>
            </p:extLst>
          </p:nvPr>
        </p:nvGraphicFramePr>
        <p:xfrm>
          <a:off x="3635896" y="2427734"/>
          <a:ext cx="5472608" cy="685800"/>
        </p:xfrm>
        <a:graphic>
          <a:graphicData uri="http://schemas.openxmlformats.org/drawingml/2006/table">
            <a:tbl>
              <a:tblPr/>
              <a:tblGrid>
                <a:gridCol w="1080120">
                  <a:extLst>
                    <a:ext uri="{9D8B030D-6E8A-4147-A177-3AD203B41FA5}">
                      <a16:colId xmlns:a16="http://schemas.microsoft.com/office/drawing/2014/main" val="20000"/>
                    </a:ext>
                  </a:extLst>
                </a:gridCol>
                <a:gridCol w="4392488">
                  <a:extLst>
                    <a:ext uri="{9D8B030D-6E8A-4147-A177-3AD203B41FA5}">
                      <a16:colId xmlns:a16="http://schemas.microsoft.com/office/drawing/2014/main" val="20001"/>
                    </a:ext>
                  </a:extLst>
                </a:gridCol>
              </a:tblGrid>
              <a:tr h="3429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K+3</a:t>
                      </a: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no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i</a:t>
                      </a:r>
                      <a:r>
                        <a:rPr kumimoji="0" lang="zh-CN" altLang="fr-FR"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a:t>
                      </a:r>
                      <a:r>
                        <a:rPr kumimoji="0" lang="fr-FR" altLang="zh-CN" sz="18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B</a:t>
                      </a:r>
                      <a:r>
                        <a:rPr kumimoji="0" lang="fr-FR" altLang="zh-CN" sz="1800" b="0" i="0" u="none" strike="noStrike" cap="none" normalizeH="0" baseline="0" dirty="0">
                          <a:ln>
                            <a:noFill/>
                          </a:ln>
                          <a:solidFill>
                            <a:schemeClr val="tx1"/>
                          </a:solidFill>
                          <a:effectLst/>
                          <a:latin typeface="Arial"/>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PLACE</a:t>
                      </a:r>
                      <a:r>
                        <a:rPr kumimoji="0" lang="zh-CN" altLang="fr-FR"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r>
                        <a:rPr kumimoji="0" lang="fr-FR" altLang="zh-CN" sz="1800" b="0" i="0" u="none" strike="noStrike" cap="none" normalizeH="0" baseline="0" dirty="0">
                          <a:ln>
                            <a:noFill/>
                          </a:ln>
                          <a:solidFill>
                            <a:schemeClr val="tx1"/>
                          </a:solidFill>
                          <a:effectLst/>
                          <a:latin typeface="Arial"/>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PLACE</a:t>
                      </a:r>
                      <a:r>
                        <a:rPr kumimoji="0" lang="zh-CN" altLang="fr-FR"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a:t>
                      </a:r>
                      <a:r>
                        <a:rPr kumimoji="0" lang="fr-FR" altLang="zh-CN" sz="1800" b="0" i="0" u="none" strike="noStrike" cap="none" normalizeH="0" baseline="0" dirty="0">
                          <a:ln>
                            <a:noFill/>
                          </a:ln>
                          <a:solidFill>
                            <a:schemeClr val="tx1"/>
                          </a:solidFill>
                          <a:effectLst/>
                          <a:latin typeface="Arial"/>
                          <a:ea typeface="宋体" pitchFamily="2" charset="-122"/>
                          <a:cs typeface="Times New Roman" pitchFamily="18" charset="0"/>
                        </a:rPr>
                        <a:t>·</a:t>
                      </a:r>
                      <a:r>
                        <a:rPr kumimoji="0" lang="fr-FR"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PLACE)</a:t>
                      </a:r>
                      <a:endParaRPr kumimoji="0" lang="fr-FR"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sm" len="sm"/>
                      <a:tailEnd type="none" w="sm" len="sm"/>
                    </a:lnL>
                    <a:lnR w="12700" cap="flat" cmpd="sng" algn="ctr">
                      <a:no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K+4</a:t>
                      </a: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no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sm" len="sm"/>
                      <a:tailEnd type="none" w="sm" len="sm"/>
                    </a:lnL>
                    <a:lnR w="12700" cap="flat" cmpd="sng" algn="ctr">
                      <a:no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28" name="表格 27"/>
          <p:cNvGraphicFramePr>
            <a:graphicFrameLocks noGrp="1"/>
          </p:cNvGraphicFramePr>
          <p:nvPr>
            <p:extLst>
              <p:ext uri="{D42A27DB-BD31-4B8C-83A1-F6EECF244321}">
                <p14:modId xmlns:p14="http://schemas.microsoft.com/office/powerpoint/2010/main" val="898342348"/>
              </p:ext>
            </p:extLst>
          </p:nvPr>
        </p:nvGraphicFramePr>
        <p:xfrm>
          <a:off x="323528" y="4155926"/>
          <a:ext cx="2664296" cy="304800"/>
        </p:xfrm>
        <a:graphic>
          <a:graphicData uri="http://schemas.openxmlformats.org/drawingml/2006/table">
            <a:tbl>
              <a:tblPr>
                <a:tableStyleId>{5C22544A-7EE6-4342-B048-85BDC9FD1C3A}</a:tableStyleId>
              </a:tblPr>
              <a:tblGrid>
                <a:gridCol w="1614725">
                  <a:extLst>
                    <a:ext uri="{9D8B030D-6E8A-4147-A177-3AD203B41FA5}">
                      <a16:colId xmlns:a16="http://schemas.microsoft.com/office/drawing/2014/main" val="20000"/>
                    </a:ext>
                  </a:extLst>
                </a:gridCol>
                <a:gridCol w="1049571">
                  <a:extLst>
                    <a:ext uri="{9D8B030D-6E8A-4147-A177-3AD203B41FA5}">
                      <a16:colId xmlns:a16="http://schemas.microsoft.com/office/drawing/2014/main" val="20001"/>
                    </a:ext>
                  </a:extLst>
                </a:gridCol>
              </a:tblGrid>
              <a:tr h="0">
                <a:tc>
                  <a:txBody>
                    <a:bodyPr/>
                    <a:lstStyle/>
                    <a:p>
                      <a:pPr algn="l">
                        <a:spcAft>
                          <a:spcPts val="0"/>
                        </a:spcAft>
                      </a:pPr>
                      <a:r>
                        <a:rPr lang="en-US" sz="2000" kern="100" dirty="0">
                          <a:effectLst/>
                        </a:rPr>
                        <a:t> </a:t>
                      </a:r>
                      <a:endParaRPr lang="zh-CN" sz="2000" kern="100" dirty="0">
                        <a:effectLst/>
                        <a:latin typeface="Times New Roman"/>
                        <a:ea typeface="宋体"/>
                      </a:endParaRPr>
                    </a:p>
                  </a:txBody>
                  <a:tcPr marL="68580" marR="68580" marT="0" marB="0">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spcAft>
                          <a:spcPts val="0"/>
                        </a:spcAft>
                      </a:pPr>
                      <a:r>
                        <a:rPr lang="en-US" sz="2000" kern="100" dirty="0">
                          <a:effectLst/>
                        </a:rPr>
                        <a:t>S</a:t>
                      </a:r>
                      <a:r>
                        <a:rPr lang="x-none" sz="2000" kern="100" dirty="0">
                          <a:effectLst/>
                        </a:rPr>
                        <a:t> </a:t>
                      </a:r>
                      <a:endParaRPr lang="zh-CN" sz="2000" kern="100" dirty="0">
                        <a:effectLst/>
                        <a:latin typeface="Times New Roman"/>
                        <a:ea typeface="宋体"/>
                      </a:endParaRPr>
                    </a:p>
                  </a:txBody>
                  <a:tcPr marL="68580" marR="68580" marT="0" marB="0">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31" name="表格 30"/>
          <p:cNvGraphicFramePr>
            <a:graphicFrameLocks noGrp="1"/>
          </p:cNvGraphicFramePr>
          <p:nvPr>
            <p:extLst>
              <p:ext uri="{D42A27DB-BD31-4B8C-83A1-F6EECF244321}">
                <p14:modId xmlns:p14="http://schemas.microsoft.com/office/powerpoint/2010/main" val="2974884962"/>
              </p:ext>
            </p:extLst>
          </p:nvPr>
        </p:nvGraphicFramePr>
        <p:xfrm>
          <a:off x="3635896" y="2750046"/>
          <a:ext cx="5472608" cy="685800"/>
        </p:xfrm>
        <a:graphic>
          <a:graphicData uri="http://schemas.openxmlformats.org/drawingml/2006/table">
            <a:tbl>
              <a:tblPr/>
              <a:tblGrid>
                <a:gridCol w="1080120">
                  <a:extLst>
                    <a:ext uri="{9D8B030D-6E8A-4147-A177-3AD203B41FA5}">
                      <a16:colId xmlns:a16="http://schemas.microsoft.com/office/drawing/2014/main" val="20000"/>
                    </a:ext>
                  </a:extLst>
                </a:gridCol>
                <a:gridCol w="4392488">
                  <a:extLst>
                    <a:ext uri="{9D8B030D-6E8A-4147-A177-3AD203B41FA5}">
                      <a16:colId xmlns:a16="http://schemas.microsoft.com/office/drawing/2014/main" val="20001"/>
                    </a:ext>
                  </a:extLst>
                </a:gridCol>
              </a:tblGrid>
              <a:tr h="3429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K+4</a:t>
                      </a: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no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a:t>
                      </a:r>
                      <a:r>
                        <a:rPr kumimoji="0" lang="en-US" altLang="zh-CN" sz="1800" b="0" i="0" u="none" strike="noStrike" cap="none" normalizeH="0" baseline="0" dirty="0">
                          <a:ln>
                            <a:noFill/>
                          </a:ln>
                          <a:solidFill>
                            <a:schemeClr val="tx1"/>
                          </a:solidFill>
                          <a:effectLst/>
                          <a:latin typeface="Arial"/>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PLACE</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_</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ENTRY(</a:t>
                      </a:r>
                      <a:r>
                        <a:rPr kumimoji="0" lang="en-US" altLang="zh-CN" sz="1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i</a:t>
                      </a:r>
                      <a:r>
                        <a:rPr kumimoji="0" lang="en-US" altLang="zh-CN" sz="1800" b="0" i="0" u="none" strike="noStrike" cap="none" normalizeH="0" baseline="-30000" dirty="0" err="1">
                          <a:ln>
                            <a:noFill/>
                          </a:ln>
                          <a:solidFill>
                            <a:schemeClr val="tx1"/>
                          </a:solidFill>
                          <a:effectLst/>
                          <a:latin typeface="Times New Roman" pitchFamily="18" charset="0"/>
                          <a:ea typeface="宋体" pitchFamily="2" charset="-122"/>
                          <a:cs typeface="Times New Roman" pitchFamily="18" charset="0"/>
                        </a:rPr>
                        <a:t>A</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).name)</a:t>
                      </a: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sm" len="sm"/>
                      <a:tailEnd type="none" w="sm" len="sm"/>
                    </a:lnL>
                    <a:lnR w="12700" cap="flat" cmpd="sng" algn="ctr">
                      <a:no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pitchFamily="2" charset="-122"/>
                        </a:rPr>
                        <a:t>K+5</a:t>
                      </a:r>
                    </a:p>
                  </a:txBody>
                  <a:tcPr marT="34290" marB="34290" horzOverflow="overflow">
                    <a:lnL w="12700" cap="flat" cmpd="sng" algn="ctr">
                      <a:no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w="12700" cap="flat" cmpd="sng" algn="ctr">
                      <a:solidFill>
                        <a:srgbClr val="000000"/>
                      </a:solidFill>
                      <a:prstDash val="solid"/>
                      <a:round/>
                      <a:headEnd type="none" w="sm" len="sm"/>
                      <a:tailEnd type="none" w="sm" len="sm"/>
                    </a:lnL>
                    <a:lnR w="12700" cap="flat" cmpd="sng" algn="ctr">
                      <a:no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cxnSp>
        <p:nvCxnSpPr>
          <p:cNvPr id="35" name="直接箭头连接符 34"/>
          <p:cNvCxnSpPr/>
          <p:nvPr/>
        </p:nvCxnSpPr>
        <p:spPr>
          <a:xfrm flipV="1">
            <a:off x="2267744" y="548744"/>
            <a:ext cx="0" cy="36682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4" name="表格 3"/>
          <p:cNvGraphicFramePr>
            <a:graphicFrameLocks noGrp="1"/>
          </p:cNvGraphicFramePr>
          <p:nvPr>
            <p:extLst>
              <p:ext uri="{D42A27DB-BD31-4B8C-83A1-F6EECF244321}">
                <p14:modId xmlns:p14="http://schemas.microsoft.com/office/powerpoint/2010/main" val="4058071743"/>
              </p:ext>
            </p:extLst>
          </p:nvPr>
        </p:nvGraphicFramePr>
        <p:xfrm>
          <a:off x="3779912" y="3467100"/>
          <a:ext cx="5184576" cy="16764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3660576">
                  <a:extLst>
                    <a:ext uri="{9D8B030D-6E8A-4147-A177-3AD203B41FA5}">
                      <a16:colId xmlns:a16="http://schemas.microsoft.com/office/drawing/2014/main" val="20001"/>
                    </a:ext>
                  </a:extLst>
                </a:gridCol>
              </a:tblGrid>
              <a:tr h="283924">
                <a:tc>
                  <a:txBody>
                    <a:bodyPr/>
                    <a:lstStyle/>
                    <a:p>
                      <a:r>
                        <a:rPr lang="zh-CN" altLang="en-US" sz="1600" dirty="0">
                          <a:solidFill>
                            <a:schemeClr val="tx1"/>
                          </a:solidFill>
                        </a:rPr>
                        <a:t>编号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CN" altLang="en-US" sz="1600" dirty="0">
                          <a:solidFill>
                            <a:schemeClr val="tx1"/>
                          </a:solidFill>
                        </a:rPr>
                        <a:t>四元式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83924">
                <a:tc>
                  <a:txBody>
                    <a:bodyPr/>
                    <a:lstStyle/>
                    <a:p>
                      <a:r>
                        <a:rPr lang="en-US" altLang="zh-CN" sz="1600" dirty="0">
                          <a:solidFill>
                            <a:schemeClr val="tx1"/>
                          </a:solidFill>
                        </a:rPr>
                        <a:t>101</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600" dirty="0">
                          <a:solidFill>
                            <a:schemeClr val="tx1"/>
                          </a:solidFill>
                        </a:rPr>
                        <a:t>(@</a:t>
                      </a:r>
                      <a:r>
                        <a:rPr lang="en-US" altLang="zh-CN" sz="1600" baseline="30000" dirty="0" err="1">
                          <a:solidFill>
                            <a:schemeClr val="tx1"/>
                          </a:solidFill>
                        </a:rPr>
                        <a:t>i</a:t>
                      </a:r>
                      <a:r>
                        <a:rPr lang="en-US" altLang="zh-CN" sz="1600" dirty="0">
                          <a:solidFill>
                            <a:schemeClr val="tx1"/>
                          </a:solidFill>
                        </a:rPr>
                        <a:t>, D,  , T10)</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3924">
                <a:tc>
                  <a:txBody>
                    <a:bodyPr/>
                    <a:lstStyle/>
                    <a:p>
                      <a:r>
                        <a:rPr lang="en-US" altLang="zh-CN" sz="1600" dirty="0">
                          <a:solidFill>
                            <a:schemeClr val="tx1"/>
                          </a:solidFill>
                        </a:rPr>
                        <a:t>102</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600" dirty="0">
                          <a:solidFill>
                            <a:schemeClr val="tx1"/>
                          </a:solidFill>
                        </a:rPr>
                        <a:t>(*</a:t>
                      </a:r>
                      <a:r>
                        <a:rPr lang="en-US" altLang="zh-CN" sz="1600" baseline="30000" dirty="0" err="1">
                          <a:solidFill>
                            <a:schemeClr val="tx1"/>
                          </a:solidFill>
                        </a:rPr>
                        <a:t>i</a:t>
                      </a:r>
                      <a:r>
                        <a:rPr lang="en-US" altLang="zh-CN" sz="1600" dirty="0">
                          <a:solidFill>
                            <a:schemeClr val="tx1"/>
                          </a:solidFill>
                        </a:rPr>
                        <a:t>, C, T10, T11)</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924">
                <a:tc>
                  <a:txBody>
                    <a:bodyPr/>
                    <a:lstStyle/>
                    <a:p>
                      <a:r>
                        <a:rPr lang="en-US" altLang="zh-CN" sz="1600" dirty="0">
                          <a:solidFill>
                            <a:schemeClr val="tx1"/>
                          </a:solidFill>
                        </a:rPr>
                        <a:t>103</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600" dirty="0">
                          <a:solidFill>
                            <a:schemeClr val="tx1"/>
                          </a:solidFill>
                        </a:rPr>
                        <a:t>(+</a:t>
                      </a:r>
                      <a:r>
                        <a:rPr lang="en-US" altLang="zh-CN" sz="1600" baseline="30000" dirty="0" err="1">
                          <a:solidFill>
                            <a:schemeClr val="tx1"/>
                          </a:solidFill>
                        </a:rPr>
                        <a:t>i</a:t>
                      </a:r>
                      <a:r>
                        <a:rPr lang="en-US" altLang="zh-CN" sz="1600" dirty="0">
                          <a:solidFill>
                            <a:schemeClr val="tx1"/>
                          </a:solidFill>
                        </a:rPr>
                        <a:t>, B, T11, T12)</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83924">
                <a:tc>
                  <a:txBody>
                    <a:bodyPr/>
                    <a:lstStyle/>
                    <a:p>
                      <a:r>
                        <a:rPr lang="en-US" altLang="zh-CN" sz="1600" dirty="0">
                          <a:solidFill>
                            <a:schemeClr val="tx1"/>
                          </a:solidFill>
                        </a:rPr>
                        <a:t>104</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600" dirty="0">
                          <a:solidFill>
                            <a:schemeClr val="tx1"/>
                          </a:solidFill>
                        </a:rPr>
                        <a:t>(=, T12, , A)</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pic>
        <p:nvPicPr>
          <p:cNvPr id="2375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3304004"/>
            <a:ext cx="4625975" cy="18516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3060028" y="4227934"/>
            <a:ext cx="647876" cy="52322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altLang="zh-CN" sz="2800" dirty="0"/>
              <a:t>T</a:t>
            </a:r>
            <a:r>
              <a:rPr lang="en-US" altLang="zh-CN" sz="2800" baseline="-25000" dirty="0"/>
              <a:t>c</a:t>
            </a:r>
            <a:endParaRPr lang="zh-CN" altLang="en-US" sz="2800" baseline="-25000" dirty="0"/>
          </a:p>
        </p:txBody>
      </p:sp>
    </p:spTree>
    <p:extLst>
      <p:ext uri="{BB962C8B-B14F-4D97-AF65-F5344CB8AC3E}">
        <p14:creationId xmlns:p14="http://schemas.microsoft.com/office/powerpoint/2010/main" val="1000230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757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2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15"/>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4"/>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nodeType="clickEffect">
                                  <p:stCondLst>
                                    <p:cond delay="0"/>
                                  </p:stCondLst>
                                  <p:childTnLst>
                                    <p:set>
                                      <p:cBhvr>
                                        <p:cTn id="88" dur="1" fill="hold">
                                          <p:stCondLst>
                                            <p:cond delay="0"/>
                                          </p:stCondLst>
                                        </p:cTn>
                                        <p:tgtEl>
                                          <p:spTgt spid="18"/>
                                        </p:tgtEl>
                                        <p:attrNameLst>
                                          <p:attrName>style.visibility</p:attrName>
                                        </p:attrNameLst>
                                      </p:cBhvr>
                                      <p:to>
                                        <p:strVal val="hidden"/>
                                      </p:to>
                                    </p:set>
                                  </p:childTnLst>
                                </p:cTn>
                              </p:par>
                              <p:par>
                                <p:cTn id="89" presetID="1" presetClass="entr" presetSubtype="0" fill="hold" nodeType="withEffect">
                                  <p:stCondLst>
                                    <p:cond delay="0"/>
                                  </p:stCondLst>
                                  <p:childTnLst>
                                    <p:set>
                                      <p:cBhvr>
                                        <p:cTn id="90" dur="1" fill="hold">
                                          <p:stCondLst>
                                            <p:cond delay="0"/>
                                          </p:stCondLst>
                                        </p:cTn>
                                        <p:tgtEl>
                                          <p:spTgt spid="3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nodeType="clickEffect">
                                  <p:stCondLst>
                                    <p:cond delay="0"/>
                                  </p:stCondLst>
                                  <p:childTnLst>
                                    <p:set>
                                      <p:cBhvr>
                                        <p:cTn id="94" dur="1" fill="hold">
                                          <p:stCondLst>
                                            <p:cond delay="0"/>
                                          </p:stCondLst>
                                        </p:cTn>
                                        <p:tgtEl>
                                          <p:spTgt spid="13"/>
                                        </p:tgtEl>
                                        <p:attrNameLst>
                                          <p:attrName>style.visibility</p:attrName>
                                        </p:attrNameLst>
                                      </p:cBhvr>
                                      <p:to>
                                        <p:strVal val="hidden"/>
                                      </p:to>
                                    </p:set>
                                  </p:childTnLst>
                                </p:cTn>
                              </p:par>
                              <p:par>
                                <p:cTn id="95" presetID="1" presetClass="exit" presetSubtype="0" fill="hold" nodeType="withEffect">
                                  <p:stCondLst>
                                    <p:cond delay="0"/>
                                  </p:stCondLst>
                                  <p:childTnLst>
                                    <p:set>
                                      <p:cBhvr>
                                        <p:cTn id="96" dur="1" fill="hold">
                                          <p:stCondLst>
                                            <p:cond delay="0"/>
                                          </p:stCondLst>
                                        </p:cTn>
                                        <p:tgtEl>
                                          <p:spTgt spid="19"/>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21"/>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nodeType="clickEffect">
                                  <p:stCondLst>
                                    <p:cond delay="0"/>
                                  </p:stCondLst>
                                  <p:childTnLst>
                                    <p:set>
                                      <p:cBhvr>
                                        <p:cTn id="106" dur="1" fill="hold">
                                          <p:stCondLst>
                                            <p:cond delay="0"/>
                                          </p:stCondLst>
                                        </p:cTn>
                                        <p:tgtEl>
                                          <p:spTgt spid="11"/>
                                        </p:tgtEl>
                                        <p:attrNameLst>
                                          <p:attrName>style.visibility</p:attrName>
                                        </p:attrNameLst>
                                      </p:cBhvr>
                                      <p:to>
                                        <p:strVal val="hidden"/>
                                      </p:to>
                                    </p:set>
                                  </p:childTnLst>
                                </p:cTn>
                              </p:par>
                              <p:par>
                                <p:cTn id="107" presetID="1" presetClass="exit" presetSubtype="0" fill="hold" nodeType="withEffect">
                                  <p:stCondLst>
                                    <p:cond delay="0"/>
                                  </p:stCondLst>
                                  <p:childTnLst>
                                    <p:set>
                                      <p:cBhvr>
                                        <p:cTn id="108" dur="1" fill="hold">
                                          <p:stCondLst>
                                            <p:cond delay="0"/>
                                          </p:stCondLst>
                                        </p:cTn>
                                        <p:tgtEl>
                                          <p:spTgt spid="12"/>
                                        </p:tgtEl>
                                        <p:attrNameLst>
                                          <p:attrName>style.visibility</p:attrName>
                                        </p:attrNameLst>
                                      </p:cBhvr>
                                      <p:to>
                                        <p:strVal val="hidden"/>
                                      </p:to>
                                    </p:set>
                                  </p:childTnLst>
                                </p:cTn>
                              </p:par>
                              <p:par>
                                <p:cTn id="109" presetID="1" presetClass="exit" presetSubtype="0" fill="hold" nodeType="withEffect">
                                  <p:stCondLst>
                                    <p:cond delay="0"/>
                                  </p:stCondLst>
                                  <p:childTnLst>
                                    <p:set>
                                      <p:cBhvr>
                                        <p:cTn id="110" dur="1" fill="hold">
                                          <p:stCondLst>
                                            <p:cond delay="0"/>
                                          </p:stCondLst>
                                        </p:cTn>
                                        <p:tgtEl>
                                          <p:spTgt spid="23"/>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2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2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xit" presetSubtype="0" fill="hold" nodeType="clickEffect">
                                  <p:stCondLst>
                                    <p:cond delay="0"/>
                                  </p:stCondLst>
                                  <p:childTnLst>
                                    <p:set>
                                      <p:cBhvr>
                                        <p:cTn id="122" dur="1" fill="hold">
                                          <p:stCondLst>
                                            <p:cond delay="0"/>
                                          </p:stCondLst>
                                        </p:cTn>
                                        <p:tgtEl>
                                          <p:spTgt spid="9"/>
                                        </p:tgtEl>
                                        <p:attrNameLst>
                                          <p:attrName>style.visibility</p:attrName>
                                        </p:attrNameLst>
                                      </p:cBhvr>
                                      <p:to>
                                        <p:strVal val="hidden"/>
                                      </p:to>
                                    </p:set>
                                  </p:childTnLst>
                                </p:cTn>
                              </p:par>
                              <p:par>
                                <p:cTn id="123" presetID="1" presetClass="exit" presetSubtype="0" fill="hold" nodeType="withEffect">
                                  <p:stCondLst>
                                    <p:cond delay="0"/>
                                  </p:stCondLst>
                                  <p:childTnLst>
                                    <p:set>
                                      <p:cBhvr>
                                        <p:cTn id="124" dur="1" fill="hold">
                                          <p:stCondLst>
                                            <p:cond delay="0"/>
                                          </p:stCondLst>
                                        </p:cTn>
                                        <p:tgtEl>
                                          <p:spTgt spid="10"/>
                                        </p:tgtEl>
                                        <p:attrNameLst>
                                          <p:attrName>style.visibility</p:attrName>
                                        </p:attrNameLst>
                                      </p:cBhvr>
                                      <p:to>
                                        <p:strVal val="hidden"/>
                                      </p:to>
                                    </p:set>
                                  </p:childTnLst>
                                </p:cTn>
                              </p:par>
                              <p:par>
                                <p:cTn id="125" presetID="1" presetClass="exit" presetSubtype="0" fill="hold" nodeType="withEffect">
                                  <p:stCondLst>
                                    <p:cond delay="0"/>
                                  </p:stCondLst>
                                  <p:childTnLst>
                                    <p:set>
                                      <p:cBhvr>
                                        <p:cTn id="126" dur="1" fill="hold">
                                          <p:stCondLst>
                                            <p:cond delay="0"/>
                                          </p:stCondLst>
                                        </p:cTn>
                                        <p:tgtEl>
                                          <p:spTgt spid="25"/>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26"/>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27"/>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xit" presetSubtype="0" fill="hold" nodeType="clickEffect">
                                  <p:stCondLst>
                                    <p:cond delay="0"/>
                                  </p:stCondLst>
                                  <p:childTnLst>
                                    <p:set>
                                      <p:cBhvr>
                                        <p:cTn id="138" dur="1" fill="hold">
                                          <p:stCondLst>
                                            <p:cond delay="0"/>
                                          </p:stCondLst>
                                        </p:cTn>
                                        <p:tgtEl>
                                          <p:spTgt spid="7"/>
                                        </p:tgtEl>
                                        <p:attrNameLst>
                                          <p:attrName>style.visibility</p:attrName>
                                        </p:attrNameLst>
                                      </p:cBhvr>
                                      <p:to>
                                        <p:strVal val="hidden"/>
                                      </p:to>
                                    </p:set>
                                  </p:childTnLst>
                                </p:cTn>
                              </p:par>
                              <p:par>
                                <p:cTn id="139" presetID="1" presetClass="exit" presetSubtype="0" fill="hold" nodeType="withEffect">
                                  <p:stCondLst>
                                    <p:cond delay="0"/>
                                  </p:stCondLst>
                                  <p:childTnLst>
                                    <p:set>
                                      <p:cBhvr>
                                        <p:cTn id="140" dur="1" fill="hold">
                                          <p:stCondLst>
                                            <p:cond delay="0"/>
                                          </p:stCondLst>
                                        </p:cTn>
                                        <p:tgtEl>
                                          <p:spTgt spid="8"/>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0"/>
                                          </p:stCondLst>
                                        </p:cTn>
                                        <p:tgtEl>
                                          <p:spTgt spid="26"/>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28"/>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31"/>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xit" presetSubtype="0" fill="hold" nodeType="clickEffect">
                                  <p:stCondLst>
                                    <p:cond delay="0"/>
                                  </p:stCondLst>
                                  <p:childTnLst>
                                    <p:set>
                                      <p:cBhvr>
                                        <p:cTn id="154" dur="1" fill="hold">
                                          <p:stCondLst>
                                            <p:cond delay="0"/>
                                          </p:stCondLst>
                                        </p:cTn>
                                        <p:tgtEl>
                                          <p:spTgt spid="237570"/>
                                        </p:tgtEl>
                                        <p:attrNameLst>
                                          <p:attrName>style.visibility</p:attrName>
                                        </p:attrNameLst>
                                      </p:cBhvr>
                                      <p:to>
                                        <p:strVal val="hidden"/>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041258"/>
            <a:ext cx="7332457" cy="1446550"/>
          </a:xfrm>
          <a:prstGeom prst="rect">
            <a:avLst/>
          </a:prstGeom>
        </p:spPr>
        <p:txBody>
          <a:bodyPr wrap="non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、常见语句的语法制导翻译</a:t>
            </a:r>
            <a:endParaRPr lang="en-US" altLang="zh-CN" sz="4400" b="1" dirty="0">
              <a:solidFill>
                <a:srgbClr val="CC0099"/>
              </a:solidFill>
              <a:ea typeface="隶书" pitchFamily="49" charset="-122"/>
            </a:endParaRPr>
          </a:p>
          <a:p>
            <a:r>
              <a:rPr lang="en-US" altLang="zh-CN" sz="4400" b="1" dirty="0">
                <a:solidFill>
                  <a:srgbClr val="CC0099"/>
                </a:solidFill>
                <a:ea typeface="隶书" pitchFamily="49" charset="-122"/>
              </a:rPr>
              <a:t>    </a:t>
            </a:r>
            <a:r>
              <a:rPr lang="en-US" altLang="zh-CN" sz="3600" b="1" dirty="0">
                <a:solidFill>
                  <a:srgbClr val="CC0099"/>
                </a:solidFill>
                <a:ea typeface="隶书" pitchFamily="49" charset="-122"/>
              </a:rPr>
              <a:t>——</a:t>
            </a:r>
            <a:r>
              <a:rPr lang="zh-CN" altLang="en-US" sz="3600" b="1" dirty="0">
                <a:solidFill>
                  <a:srgbClr val="CC0099"/>
                </a:solidFill>
                <a:ea typeface="隶书" pitchFamily="49" charset="-122"/>
              </a:rPr>
              <a:t>布尔表达式的翻译</a:t>
            </a:r>
            <a:endParaRPr lang="zh-CN" altLang="en-US" sz="4400" b="1" dirty="0">
              <a:solidFill>
                <a:srgbClr val="CC0099"/>
              </a:solidFill>
              <a:ea typeface="隶书" pitchFamily="49" charset="-122"/>
            </a:endParaRPr>
          </a:p>
        </p:txBody>
      </p:sp>
    </p:spTree>
    <p:extLst>
      <p:ext uri="{BB962C8B-B14F-4D97-AF65-F5344CB8AC3E}">
        <p14:creationId xmlns:p14="http://schemas.microsoft.com/office/powerpoint/2010/main" val="406601977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026"/>
          <p:cNvSpPr>
            <a:spLocks noGrp="1" noChangeArrowheads="1"/>
          </p:cNvSpPr>
          <p:nvPr>
            <p:ph type="title"/>
          </p:nvPr>
        </p:nvSpPr>
        <p:spPr>
          <a:xfrm>
            <a:off x="35496" y="-92546"/>
            <a:ext cx="8229600" cy="601266"/>
          </a:xfrm>
        </p:spPr>
        <p:txBody>
          <a:bodyPr>
            <a:normAutofit/>
          </a:bodyPr>
          <a:lstStyle/>
          <a:p>
            <a:pPr eaLnBrk="1" hangingPunct="1"/>
            <a:r>
              <a:rPr lang="zh-CN" altLang="en-US" sz="3200" b="0" dirty="0">
                <a:solidFill>
                  <a:schemeClr val="tx1"/>
                </a:solidFill>
                <a:effectLst/>
              </a:rPr>
              <a:t>布尔表达式的翻译</a:t>
            </a:r>
          </a:p>
        </p:txBody>
      </p:sp>
      <p:sp>
        <p:nvSpPr>
          <p:cNvPr id="69636" name="Rectangle 1028"/>
          <p:cNvSpPr>
            <a:spLocks noChangeArrowheads="1"/>
          </p:cNvSpPr>
          <p:nvPr/>
        </p:nvSpPr>
        <p:spPr bwMode="auto">
          <a:xfrm>
            <a:off x="251520" y="2715766"/>
            <a:ext cx="7704137" cy="431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buFontTx/>
              <a:buNone/>
            </a:pPr>
            <a:r>
              <a:rPr lang="en-US" altLang="zh-CN" sz="2000" b="1" dirty="0">
                <a:solidFill>
                  <a:srgbClr val="0033CC"/>
                </a:solidFill>
              </a:rPr>
              <a:t>3. </a:t>
            </a:r>
            <a:r>
              <a:rPr lang="zh-CN" altLang="en-US" sz="2000" b="1" dirty="0">
                <a:solidFill>
                  <a:schemeClr val="accent2"/>
                </a:solidFill>
                <a:latin typeface="宋体" pitchFamily="2" charset="-122"/>
              </a:rPr>
              <a:t>布尔表达式</a:t>
            </a:r>
            <a:r>
              <a:rPr lang="zh-CN" altLang="en-US" sz="2000" b="1" dirty="0">
                <a:solidFill>
                  <a:srgbClr val="0033CC"/>
                </a:solidFill>
              </a:rPr>
              <a:t>的文法描述</a:t>
            </a:r>
          </a:p>
        </p:txBody>
      </p:sp>
      <p:sp>
        <p:nvSpPr>
          <p:cNvPr id="69648" name="Rectangle 1040"/>
          <p:cNvSpPr>
            <a:spLocks noChangeArrowheads="1"/>
          </p:cNvSpPr>
          <p:nvPr/>
        </p:nvSpPr>
        <p:spPr bwMode="auto">
          <a:xfrm>
            <a:off x="251520" y="446703"/>
            <a:ext cx="8740079" cy="226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buFontTx/>
              <a:buNone/>
            </a:pPr>
            <a:r>
              <a:rPr lang="en-US" altLang="zh-CN" sz="2000" b="1" dirty="0">
                <a:solidFill>
                  <a:srgbClr val="0033CC"/>
                </a:solidFill>
              </a:rPr>
              <a:t>1. </a:t>
            </a:r>
            <a:r>
              <a:rPr lang="zh-CN" altLang="en-US" sz="2000" b="1" dirty="0">
                <a:solidFill>
                  <a:schemeClr val="accent2"/>
                </a:solidFill>
                <a:latin typeface="宋体" pitchFamily="2" charset="-122"/>
              </a:rPr>
              <a:t>布尔表达式</a:t>
            </a:r>
            <a:r>
              <a:rPr lang="zh-CN" altLang="en-US" sz="2000" b="1" dirty="0">
                <a:solidFill>
                  <a:srgbClr val="0033CC"/>
                </a:solidFill>
              </a:rPr>
              <a:t>的作用</a:t>
            </a:r>
          </a:p>
          <a:p>
            <a:pPr lvl="1" eaLnBrk="1" hangingPunct="1">
              <a:lnSpc>
                <a:spcPct val="100000"/>
              </a:lnSpc>
            </a:pPr>
            <a:r>
              <a:rPr lang="zh-CN" altLang="en-US" sz="2000" b="1" dirty="0"/>
              <a:t>	用作控制语句中的条件表达式</a:t>
            </a:r>
          </a:p>
          <a:p>
            <a:pPr lvl="1" eaLnBrk="1" hangingPunct="1">
              <a:lnSpc>
                <a:spcPct val="100000"/>
              </a:lnSpc>
            </a:pPr>
            <a:r>
              <a:rPr lang="zh-CN" altLang="en-US" sz="2000" b="1" dirty="0"/>
              <a:t>	用在逻辑赋值语句中</a:t>
            </a:r>
          </a:p>
          <a:p>
            <a:pPr eaLnBrk="1" hangingPunct="1">
              <a:lnSpc>
                <a:spcPct val="100000"/>
              </a:lnSpc>
              <a:buFontTx/>
              <a:buNone/>
            </a:pPr>
            <a:r>
              <a:rPr lang="en-US" altLang="zh-CN" sz="2000" b="1" dirty="0">
                <a:solidFill>
                  <a:srgbClr val="0033CC"/>
                </a:solidFill>
              </a:rPr>
              <a:t>2. </a:t>
            </a:r>
            <a:r>
              <a:rPr lang="zh-CN" altLang="en-US" sz="2000" b="1" dirty="0">
                <a:solidFill>
                  <a:srgbClr val="0033CC"/>
                </a:solidFill>
              </a:rPr>
              <a:t>布尔表达式的形式</a:t>
            </a:r>
          </a:p>
          <a:p>
            <a:pPr lvl="1"/>
            <a:r>
              <a:rPr lang="en-US" altLang="zh-CN" sz="2000" b="1" dirty="0"/>
              <a:t>(1)</a:t>
            </a:r>
            <a:r>
              <a:rPr lang="zh-CN" altLang="en-US" sz="2000" b="1" dirty="0"/>
              <a:t>单个布尔常量或布尔变量，</a:t>
            </a:r>
            <a:r>
              <a:rPr lang="en-US" altLang="zh-CN" sz="2000" b="1" dirty="0"/>
              <a:t>C</a:t>
            </a:r>
            <a:r>
              <a:rPr lang="zh-CN" altLang="en-US" sz="2000" b="1" dirty="0"/>
              <a:t>语言中是算术量</a:t>
            </a:r>
            <a:r>
              <a:rPr lang="en-US" altLang="zh-CN" sz="2000" b="1" dirty="0"/>
              <a:t> </a:t>
            </a:r>
          </a:p>
          <a:p>
            <a:pPr lvl="1"/>
            <a:r>
              <a:rPr lang="en-US" altLang="zh-CN" sz="2000" b="1" dirty="0"/>
              <a:t>(2)</a:t>
            </a:r>
            <a:r>
              <a:rPr lang="zh-CN" altLang="en-US" sz="2000" b="1" dirty="0"/>
              <a:t>关系运算</a:t>
            </a:r>
            <a:r>
              <a:rPr lang="en-US" altLang="zh-CN" sz="2000" b="1" dirty="0"/>
              <a:t>:E1 </a:t>
            </a:r>
            <a:r>
              <a:rPr lang="en-US" altLang="zh-CN" sz="2000" b="1" dirty="0" err="1"/>
              <a:t>rop</a:t>
            </a:r>
            <a:r>
              <a:rPr lang="en-US" altLang="zh-CN" sz="2000" b="1" dirty="0"/>
              <a:t> E2</a:t>
            </a:r>
          </a:p>
          <a:p>
            <a:pPr lvl="1"/>
            <a:r>
              <a:rPr lang="en-US" altLang="zh-CN" sz="2000" b="1" dirty="0"/>
              <a:t>(3) </a:t>
            </a:r>
            <a:r>
              <a:rPr lang="zh-CN" altLang="en-US" sz="2000" b="1" dirty="0"/>
              <a:t>布尔量的运算！</a:t>
            </a:r>
            <a:r>
              <a:rPr lang="en-US" altLang="zh-CN" sz="2000" b="1" dirty="0"/>
              <a:t>,&amp;&amp;</a:t>
            </a:r>
            <a:r>
              <a:rPr lang="zh-CN" altLang="en-US" sz="2000" b="1" dirty="0"/>
              <a:t>，</a:t>
            </a:r>
            <a:r>
              <a:rPr lang="en-US" altLang="zh-CN" sz="2000" b="1" dirty="0"/>
              <a:t>||</a:t>
            </a:r>
            <a:r>
              <a:rPr lang="zh-CN" altLang="en-US" sz="2000" b="1" dirty="0"/>
              <a:t>，</a:t>
            </a:r>
            <a:r>
              <a:rPr lang="en-US" altLang="zh-CN" sz="2000" b="1" dirty="0"/>
              <a:t>( )</a:t>
            </a:r>
          </a:p>
        </p:txBody>
      </p:sp>
      <p:sp>
        <p:nvSpPr>
          <p:cNvPr id="69638" name="Text Box 1030"/>
          <p:cNvSpPr txBox="1">
            <a:spLocks noChangeArrowheads="1"/>
          </p:cNvSpPr>
          <p:nvPr/>
        </p:nvSpPr>
        <p:spPr bwMode="auto">
          <a:xfrm>
            <a:off x="4860032" y="2334757"/>
            <a:ext cx="44644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zh-CN" altLang="en-US" sz="2800" b="1" dirty="0">
                <a:solidFill>
                  <a:srgbClr val="FF3300"/>
                </a:solidFill>
              </a:rPr>
              <a:t>例如：</a:t>
            </a:r>
            <a:r>
              <a:rPr lang="en-US" altLang="zh-CN" sz="2800" b="1" dirty="0">
                <a:solidFill>
                  <a:srgbClr val="FF3300"/>
                </a:solidFill>
              </a:rPr>
              <a:t>x = !a &amp;&amp; (</a:t>
            </a:r>
            <a:r>
              <a:rPr lang="en-US" altLang="zh-CN" sz="2800" b="1" dirty="0" err="1">
                <a:solidFill>
                  <a:srgbClr val="FF3300"/>
                </a:solidFill>
              </a:rPr>
              <a:t>y+t</a:t>
            </a:r>
            <a:r>
              <a:rPr lang="en-US" altLang="zh-CN" sz="2800" b="1" dirty="0">
                <a:solidFill>
                  <a:srgbClr val="FF3300"/>
                </a:solidFill>
              </a:rPr>
              <a:t>&gt;z);</a:t>
            </a:r>
          </a:p>
        </p:txBody>
      </p:sp>
      <p:sp>
        <p:nvSpPr>
          <p:cNvPr id="2" name="矩形 1">
            <a:extLst>
              <a:ext uri="{FF2B5EF4-FFF2-40B4-BE49-F238E27FC236}">
                <a16:creationId xmlns:a16="http://schemas.microsoft.com/office/drawing/2014/main" id="{6C00AC20-E39D-9CDC-A0DF-225CA58F2B01}"/>
              </a:ext>
            </a:extLst>
          </p:cNvPr>
          <p:cNvSpPr/>
          <p:nvPr/>
        </p:nvSpPr>
        <p:spPr>
          <a:xfrm>
            <a:off x="395537" y="3266171"/>
            <a:ext cx="7704138"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spcAft>
                <a:spcPts val="0"/>
              </a:spcAft>
              <a:buFontTx/>
              <a:buNone/>
              <a:defRPr/>
            </a:pPr>
            <a:r>
              <a:rPr lang="zh-CN" altLang="zh-CN" kern="100" dirty="0">
                <a:latin typeface="宋体" panose="02010600030101010101" pitchFamily="2" charset="-122"/>
                <a:ea typeface="宋体" panose="02010600030101010101" pitchFamily="2" charset="-122"/>
              </a:rPr>
              <a:t>（</a:t>
            </a:r>
            <a:r>
              <a:rPr lang="it-IT" altLang="zh-CN" kern="100" dirty="0">
                <a:latin typeface="宋体" panose="02010600030101010101" pitchFamily="2" charset="-122"/>
                <a:ea typeface="宋体" panose="02010600030101010101" pitchFamily="2" charset="-122"/>
              </a:rPr>
              <a:t>1</a:t>
            </a:r>
            <a:r>
              <a:rPr lang="zh-CN" altLang="zh-CN" kern="100" dirty="0">
                <a:latin typeface="宋体" panose="02010600030101010101" pitchFamily="2" charset="-122"/>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 &lt;</a:t>
            </a:r>
            <a:r>
              <a:rPr lang="zh-CN" altLang="zh-CN" kern="100" dirty="0">
                <a:latin typeface="Times New Roman" panose="02020603050405020304" pitchFamily="18" charset="0"/>
                <a:ea typeface="宋体" panose="02010600030101010101" pitchFamily="2" charset="-122"/>
              </a:rPr>
              <a:t>布尔表达式</a:t>
            </a:r>
            <a:r>
              <a:rPr lang="en-US" altLang="zh-CN" kern="100" dirty="0">
                <a:latin typeface="Times New Roman" panose="02020603050405020304" pitchFamily="18" charset="0"/>
                <a:ea typeface="宋体" panose="02010600030101010101" pitchFamily="2" charset="-122"/>
              </a:rPr>
              <a:t>&gt;</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&lt;</a:t>
            </a:r>
            <a:r>
              <a:rPr lang="zh-CN" altLang="zh-CN" kern="100" dirty="0">
                <a:latin typeface="Times New Roman" panose="02020603050405020304" pitchFamily="18" charset="0"/>
                <a:ea typeface="宋体" panose="02010600030101010101" pitchFamily="2" charset="-122"/>
              </a:rPr>
              <a:t>布尔表达式</a:t>
            </a:r>
            <a:r>
              <a:rPr lang="en-US" altLang="zh-CN" kern="100" dirty="0">
                <a:latin typeface="Times New Roman" panose="02020603050405020304" pitchFamily="18" charset="0"/>
                <a:ea typeface="宋体" panose="02010600030101010101" pitchFamily="2" charset="-122"/>
              </a:rPr>
              <a:t>&gt;||&lt;</a:t>
            </a:r>
            <a:r>
              <a:rPr lang="zh-CN" altLang="zh-CN" kern="100" dirty="0">
                <a:latin typeface="Times New Roman" panose="02020603050405020304" pitchFamily="18" charset="0"/>
                <a:ea typeface="宋体" panose="02010600030101010101" pitchFamily="2" charset="-122"/>
              </a:rPr>
              <a:t>布尔项</a:t>
            </a:r>
            <a:r>
              <a:rPr lang="en-US" altLang="zh-CN" kern="100" dirty="0">
                <a:latin typeface="Times New Roman" panose="02020603050405020304" pitchFamily="18" charset="0"/>
                <a:ea typeface="宋体" panose="02010600030101010101" pitchFamily="2" charset="-122"/>
              </a:rPr>
              <a:t>&gt;</a:t>
            </a:r>
            <a:r>
              <a:rPr lang="en-US" altLang="zh-CN" kern="100" dirty="0">
                <a:latin typeface="宋体" panose="02010600030101010101" pitchFamily="2" charset="-122"/>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&lt;</a:t>
            </a:r>
            <a:r>
              <a:rPr lang="zh-CN" altLang="zh-CN" kern="100" dirty="0">
                <a:latin typeface="Times New Roman" panose="02020603050405020304" pitchFamily="18" charset="0"/>
                <a:ea typeface="宋体" panose="02010600030101010101" pitchFamily="2" charset="-122"/>
              </a:rPr>
              <a:t>布尔项</a:t>
            </a:r>
            <a:r>
              <a:rPr lang="en-US" altLang="zh-CN" kern="100" dirty="0">
                <a:latin typeface="Times New Roman" panose="02020603050405020304" pitchFamily="18" charset="0"/>
                <a:ea typeface="宋体" panose="02010600030101010101" pitchFamily="2" charset="-122"/>
              </a:rPr>
              <a:t>&gt; </a:t>
            </a:r>
          </a:p>
          <a:p>
            <a:pPr>
              <a:defRPr/>
            </a:pPr>
            <a:r>
              <a:rPr lang="zh-CN" altLang="zh-CN" kern="100" dirty="0">
                <a:latin typeface="宋体" panose="02010600030101010101" pitchFamily="2" charset="-122"/>
                <a:ea typeface="宋体" panose="02010600030101010101" pitchFamily="2" charset="-122"/>
              </a:rPr>
              <a:t>（</a:t>
            </a:r>
            <a:r>
              <a:rPr lang="fr-FR" altLang="zh-CN" kern="100" dirty="0">
                <a:latin typeface="宋体" panose="02010600030101010101" pitchFamily="2" charset="-122"/>
                <a:ea typeface="宋体" panose="02010600030101010101" pitchFamily="2" charset="-122"/>
              </a:rPr>
              <a:t>2</a:t>
            </a:r>
            <a:r>
              <a:rPr lang="zh-CN" altLang="zh-CN" kern="100" dirty="0">
                <a:latin typeface="宋体" panose="02010600030101010101" pitchFamily="2" charset="-122"/>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&lt;</a:t>
            </a:r>
            <a:r>
              <a:rPr lang="zh-CN" altLang="zh-CN" kern="100" dirty="0">
                <a:latin typeface="Times New Roman" panose="02020603050405020304" pitchFamily="18" charset="0"/>
                <a:ea typeface="宋体" panose="02010600030101010101" pitchFamily="2" charset="-122"/>
              </a:rPr>
              <a:t>布尔项</a:t>
            </a:r>
            <a:r>
              <a:rPr lang="en-US" altLang="zh-CN" kern="100" dirty="0">
                <a:latin typeface="Times New Roman" panose="02020603050405020304" pitchFamily="18" charset="0"/>
                <a:ea typeface="宋体" panose="02010600030101010101" pitchFamily="2" charset="-122"/>
              </a:rPr>
              <a:t>&gt;</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&lt;</a:t>
            </a:r>
            <a:r>
              <a:rPr lang="zh-CN" altLang="zh-CN" kern="100" dirty="0">
                <a:latin typeface="Times New Roman" panose="02020603050405020304" pitchFamily="18" charset="0"/>
                <a:ea typeface="宋体" panose="02010600030101010101" pitchFamily="2" charset="-122"/>
              </a:rPr>
              <a:t>布尔项</a:t>
            </a:r>
            <a:r>
              <a:rPr lang="en-US" altLang="zh-CN" kern="100" dirty="0">
                <a:latin typeface="Times New Roman" panose="02020603050405020304" pitchFamily="18" charset="0"/>
                <a:ea typeface="宋体" panose="02010600030101010101" pitchFamily="2" charset="-122"/>
              </a:rPr>
              <a:t>&gt;&amp;&amp;&lt;</a:t>
            </a:r>
            <a:r>
              <a:rPr lang="zh-CN" altLang="zh-CN" kern="100" dirty="0">
                <a:latin typeface="Times New Roman" panose="02020603050405020304" pitchFamily="18" charset="0"/>
                <a:ea typeface="宋体" panose="02010600030101010101" pitchFamily="2" charset="-122"/>
              </a:rPr>
              <a:t>布尔因子</a:t>
            </a:r>
            <a:r>
              <a:rPr lang="en-US" altLang="zh-CN" kern="100" dirty="0">
                <a:latin typeface="Times New Roman" panose="02020603050405020304" pitchFamily="18" charset="0"/>
                <a:ea typeface="宋体" panose="02010600030101010101" pitchFamily="2" charset="-122"/>
              </a:rPr>
              <a:t>&gt;</a:t>
            </a:r>
            <a:r>
              <a:rPr lang="en-US" altLang="zh-CN" kern="100" dirty="0">
                <a:latin typeface="宋体" panose="02010600030101010101" pitchFamily="2" charset="-122"/>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&lt;</a:t>
            </a:r>
            <a:r>
              <a:rPr lang="zh-CN" altLang="zh-CN" kern="100" dirty="0">
                <a:latin typeface="Times New Roman" panose="02020603050405020304" pitchFamily="18" charset="0"/>
                <a:ea typeface="宋体" panose="02010600030101010101" pitchFamily="2" charset="-122"/>
              </a:rPr>
              <a:t>布尔因子</a:t>
            </a:r>
            <a:r>
              <a:rPr lang="en-US" altLang="zh-CN" kern="100" dirty="0">
                <a:latin typeface="Times New Roman" panose="02020603050405020304" pitchFamily="18" charset="0"/>
                <a:ea typeface="宋体" panose="02010600030101010101" pitchFamily="2" charset="-122"/>
              </a:rPr>
              <a:t>&gt;</a:t>
            </a:r>
            <a:r>
              <a:rPr lang="x-none" altLang="zh-CN" kern="100" dirty="0">
                <a:latin typeface="Times New Roman" panose="02020603050405020304" pitchFamily="18" charset="0"/>
                <a:ea typeface="宋体" panose="02010600030101010101" pitchFamily="2" charset="-122"/>
              </a:rPr>
              <a:t> </a:t>
            </a:r>
            <a:endParaRPr lang="en-US" altLang="zh-CN" kern="100" dirty="0">
              <a:latin typeface="Times New Roman" panose="02020603050405020304" pitchFamily="18" charset="0"/>
              <a:ea typeface="宋体" panose="02010600030101010101" pitchFamily="2" charset="-122"/>
            </a:endParaRPr>
          </a:p>
          <a:p>
            <a:pPr>
              <a:defRPr/>
            </a:pPr>
            <a:r>
              <a:rPr lang="zh-CN" altLang="zh-CN" kern="100" dirty="0">
                <a:latin typeface="宋体" panose="02010600030101010101" pitchFamily="2" charset="-122"/>
                <a:ea typeface="宋体" panose="02010600030101010101" pitchFamily="2" charset="-122"/>
              </a:rPr>
              <a:t>（</a:t>
            </a:r>
            <a:r>
              <a:rPr lang="fr-FR" altLang="zh-CN" kern="100" dirty="0">
                <a:latin typeface="宋体" panose="02010600030101010101" pitchFamily="2" charset="-122"/>
                <a:ea typeface="宋体" panose="02010600030101010101" pitchFamily="2" charset="-122"/>
              </a:rPr>
              <a:t>3</a:t>
            </a:r>
            <a:r>
              <a:rPr lang="zh-CN" altLang="zh-CN" kern="100" dirty="0">
                <a:latin typeface="宋体" panose="02010600030101010101" pitchFamily="2" charset="-122"/>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&lt;</a:t>
            </a:r>
            <a:r>
              <a:rPr lang="zh-CN" altLang="zh-CN" kern="100" dirty="0">
                <a:latin typeface="Times New Roman" panose="02020603050405020304" pitchFamily="18" charset="0"/>
                <a:ea typeface="宋体" panose="02010600030101010101" pitchFamily="2" charset="-122"/>
              </a:rPr>
              <a:t>布尔因子</a:t>
            </a:r>
            <a:r>
              <a:rPr lang="en-US" altLang="zh-CN" kern="100" dirty="0">
                <a:latin typeface="Times New Roman" panose="02020603050405020304" pitchFamily="18" charset="0"/>
                <a:ea typeface="宋体" panose="02010600030101010101" pitchFamily="2" charset="-122"/>
              </a:rPr>
              <a:t>&gt;</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!&lt;</a:t>
            </a:r>
            <a:r>
              <a:rPr lang="zh-CN" altLang="zh-CN" kern="100" dirty="0">
                <a:latin typeface="Times New Roman" panose="02020603050405020304" pitchFamily="18" charset="0"/>
                <a:ea typeface="宋体" panose="02010600030101010101" pitchFamily="2" charset="-122"/>
              </a:rPr>
              <a:t>布尔</a:t>
            </a:r>
            <a:r>
              <a:rPr lang="zh-CN" altLang="en-US" kern="100" dirty="0">
                <a:latin typeface="Times New Roman" panose="02020603050405020304" pitchFamily="18" charset="0"/>
                <a:ea typeface="宋体" panose="02010600030101010101" pitchFamily="2" charset="-122"/>
              </a:rPr>
              <a:t>因子</a:t>
            </a:r>
            <a:r>
              <a:rPr lang="en-US" altLang="zh-CN" kern="100" dirty="0">
                <a:latin typeface="Times New Roman" panose="02020603050405020304" pitchFamily="18" charset="0"/>
                <a:ea typeface="宋体" panose="02010600030101010101" pitchFamily="2" charset="-122"/>
              </a:rPr>
              <a:t>&gt;</a:t>
            </a:r>
            <a:endParaRPr lang="zh-CN" altLang="zh-CN" kern="100" dirty="0">
              <a:latin typeface="Times New Roman" panose="02020603050405020304" pitchFamily="18" charset="0"/>
              <a:ea typeface="宋体" panose="02010600030101010101" pitchFamily="2" charset="-122"/>
            </a:endParaRPr>
          </a:p>
          <a:p>
            <a:pPr>
              <a:spcAft>
                <a:spcPts val="0"/>
              </a:spcAft>
              <a:buFontTx/>
              <a:buNone/>
              <a:defRPr/>
            </a:pPr>
            <a:r>
              <a:rPr lang="zh-CN" altLang="zh-CN" kern="100" dirty="0">
                <a:latin typeface="宋体" panose="02010600030101010101" pitchFamily="2" charset="-122"/>
                <a:ea typeface="宋体" panose="02010600030101010101" pitchFamily="2" charset="-122"/>
              </a:rPr>
              <a:t>（</a:t>
            </a:r>
            <a:r>
              <a:rPr lang="en-US" altLang="zh-CN" kern="100" dirty="0">
                <a:latin typeface="宋体" panose="02010600030101010101" pitchFamily="2" charset="-122"/>
                <a:ea typeface="宋体" panose="02010600030101010101" pitchFamily="2" charset="-122"/>
              </a:rPr>
              <a:t>4</a:t>
            </a:r>
            <a:r>
              <a:rPr lang="zh-CN" altLang="zh-CN" kern="100" dirty="0">
                <a:latin typeface="宋体" panose="02010600030101010101" pitchFamily="2" charset="-122"/>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 &lt;</a:t>
            </a:r>
            <a:r>
              <a:rPr lang="zh-CN" altLang="zh-CN" kern="100" dirty="0">
                <a:latin typeface="Times New Roman" panose="02020603050405020304" pitchFamily="18" charset="0"/>
                <a:ea typeface="宋体" panose="02010600030101010101" pitchFamily="2" charset="-122"/>
              </a:rPr>
              <a:t>布尔</a:t>
            </a:r>
            <a:r>
              <a:rPr lang="zh-CN" altLang="en-US" kern="100" dirty="0">
                <a:latin typeface="Times New Roman" panose="02020603050405020304" pitchFamily="18" charset="0"/>
                <a:ea typeface="宋体" panose="02010600030101010101" pitchFamily="2" charset="-122"/>
              </a:rPr>
              <a:t>因子</a:t>
            </a:r>
            <a:r>
              <a:rPr lang="en-US" altLang="zh-CN" kern="100" dirty="0">
                <a:latin typeface="Times New Roman" panose="02020603050405020304" pitchFamily="18" charset="0"/>
                <a:ea typeface="宋体" panose="02010600030101010101" pitchFamily="2" charset="-122"/>
              </a:rPr>
              <a:t>&gt;</a:t>
            </a:r>
            <a:r>
              <a:rPr lang="x-none" altLang="zh-CN" kern="100" dirty="0">
                <a:latin typeface="Times New Roman" panose="02020603050405020304" pitchFamily="18" charset="0"/>
                <a:ea typeface="宋体" panose="02010600030101010101" pitchFamily="2" charset="-122"/>
              </a:rPr>
              <a:t> </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(&lt;</a:t>
            </a:r>
            <a:r>
              <a:rPr lang="zh-CN" altLang="zh-CN" kern="100" dirty="0">
                <a:latin typeface="Times New Roman" panose="02020603050405020304" pitchFamily="18" charset="0"/>
                <a:ea typeface="宋体" panose="02010600030101010101" pitchFamily="2" charset="-122"/>
              </a:rPr>
              <a:t>布尔表达式</a:t>
            </a:r>
            <a:r>
              <a:rPr lang="en-US" altLang="zh-CN" kern="100" dirty="0">
                <a:latin typeface="Times New Roman" panose="02020603050405020304" pitchFamily="18" charset="0"/>
                <a:ea typeface="宋体" panose="02010600030101010101" pitchFamily="2" charset="-122"/>
              </a:rPr>
              <a:t>&gt;)|&lt;</a:t>
            </a:r>
            <a:r>
              <a:rPr lang="zh-CN" altLang="zh-CN" kern="100" dirty="0">
                <a:latin typeface="Times New Roman" panose="02020603050405020304" pitchFamily="18" charset="0"/>
                <a:ea typeface="宋体" panose="02010600030101010101" pitchFamily="2" charset="-122"/>
              </a:rPr>
              <a:t>算术表达式</a:t>
            </a:r>
            <a:r>
              <a:rPr lang="en-US" altLang="zh-CN" kern="100" dirty="0">
                <a:latin typeface="Times New Roman" panose="02020603050405020304" pitchFamily="18" charset="0"/>
                <a:ea typeface="宋体" panose="02010600030101010101" pitchFamily="2" charset="-122"/>
              </a:rPr>
              <a:t>&gt;|&lt;</a:t>
            </a:r>
            <a:r>
              <a:rPr lang="zh-CN" altLang="zh-CN" kern="100" dirty="0">
                <a:latin typeface="Times New Roman" panose="02020603050405020304" pitchFamily="18" charset="0"/>
                <a:ea typeface="宋体" panose="02010600030101010101" pitchFamily="2" charset="-122"/>
              </a:rPr>
              <a:t>关系表达式</a:t>
            </a:r>
            <a:r>
              <a:rPr lang="en-US" altLang="zh-CN" kern="100" dirty="0">
                <a:latin typeface="Times New Roman" panose="02020603050405020304" pitchFamily="18" charset="0"/>
                <a:ea typeface="宋体" panose="02010600030101010101" pitchFamily="2" charset="-122"/>
              </a:rPr>
              <a:t>&gt;</a:t>
            </a:r>
            <a:r>
              <a:rPr lang="it-IT" altLang="zh-CN" kern="100" dirty="0">
                <a:latin typeface="Times New Roman" panose="02020603050405020304" pitchFamily="18" charset="0"/>
                <a:ea typeface="宋体" panose="02010600030101010101" pitchFamily="2" charset="-122"/>
              </a:rPr>
              <a:t> </a:t>
            </a:r>
          </a:p>
          <a:p>
            <a:pPr>
              <a:spcAft>
                <a:spcPts val="0"/>
              </a:spcAft>
              <a:buFontTx/>
              <a:buNone/>
              <a:defRPr/>
            </a:pPr>
            <a:r>
              <a:rPr lang="zh-CN" altLang="en-US"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5</a:t>
            </a:r>
            <a:r>
              <a:rPr lang="zh-CN" altLang="en-US" kern="100" dirty="0">
                <a:latin typeface="Times New Roman" panose="02020603050405020304" pitchFamily="18" charset="0"/>
                <a:ea typeface="宋体" panose="02010600030101010101" pitchFamily="2" charset="-122"/>
              </a:rPr>
              <a:t>） </a:t>
            </a:r>
            <a:r>
              <a:rPr lang="en-US" altLang="zh-CN" kern="100" dirty="0">
                <a:latin typeface="Times New Roman" panose="02020603050405020304" pitchFamily="18" charset="0"/>
                <a:ea typeface="宋体" panose="02010600030101010101" pitchFamily="2" charset="-122"/>
              </a:rPr>
              <a:t>&lt;</a:t>
            </a:r>
            <a:r>
              <a:rPr lang="zh-CN" altLang="zh-CN" kern="100" dirty="0">
                <a:latin typeface="Times New Roman" panose="02020603050405020304" pitchFamily="18" charset="0"/>
                <a:ea typeface="宋体" panose="02010600030101010101" pitchFamily="2" charset="-122"/>
              </a:rPr>
              <a:t>关系表达式</a:t>
            </a:r>
            <a:r>
              <a:rPr lang="en-US" altLang="zh-CN" kern="100" dirty="0">
                <a:latin typeface="Times New Roman" panose="02020603050405020304" pitchFamily="18" charset="0"/>
                <a:ea typeface="宋体" panose="02010600030101010101" pitchFamily="2" charset="-122"/>
              </a:rPr>
              <a:t>&gt;</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&lt;</a:t>
            </a:r>
            <a:r>
              <a:rPr lang="zh-CN" altLang="zh-CN" kern="100" dirty="0">
                <a:latin typeface="Times New Roman" panose="02020603050405020304" pitchFamily="18" charset="0"/>
                <a:ea typeface="宋体" panose="02010600030101010101" pitchFamily="2" charset="-122"/>
              </a:rPr>
              <a:t>算术表达式</a:t>
            </a:r>
            <a:r>
              <a:rPr lang="en-US" altLang="zh-CN" kern="100" dirty="0">
                <a:latin typeface="Times New Roman" panose="02020603050405020304" pitchFamily="18" charset="0"/>
                <a:ea typeface="宋体" panose="02010600030101010101" pitchFamily="2" charset="-122"/>
              </a:rPr>
              <a:t>&gt;&lt;</a:t>
            </a:r>
            <a:r>
              <a:rPr lang="zh-CN" altLang="zh-CN" kern="100" dirty="0">
                <a:latin typeface="Times New Roman" panose="02020603050405020304" pitchFamily="18" charset="0"/>
                <a:ea typeface="宋体" panose="02010600030101010101" pitchFamily="2" charset="-122"/>
              </a:rPr>
              <a:t>关系运算符</a:t>
            </a:r>
            <a:r>
              <a:rPr lang="en-US" altLang="zh-CN" kern="100" dirty="0">
                <a:latin typeface="Times New Roman" panose="02020603050405020304" pitchFamily="18" charset="0"/>
                <a:ea typeface="宋体" panose="02010600030101010101" pitchFamily="2" charset="-122"/>
              </a:rPr>
              <a:t>&gt;&lt;</a:t>
            </a:r>
            <a:r>
              <a:rPr lang="zh-CN" altLang="zh-CN" kern="100" dirty="0">
                <a:latin typeface="Times New Roman" panose="02020603050405020304" pitchFamily="18" charset="0"/>
                <a:ea typeface="宋体" panose="02010600030101010101" pitchFamily="2" charset="-122"/>
              </a:rPr>
              <a:t>算术表达式</a:t>
            </a:r>
            <a:r>
              <a:rPr lang="en-US" altLang="zh-CN" kern="100" dirty="0">
                <a:latin typeface="Times New Roman" panose="02020603050405020304" pitchFamily="18" charset="0"/>
                <a:ea typeface="宋体" panose="02010600030101010101" pitchFamily="2" charset="-122"/>
              </a:rPr>
              <a:t>&gt;</a:t>
            </a:r>
            <a:endParaRPr lang="zh-CN" altLang="zh-CN" kern="1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5478307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9648">
                                            <p:txEl>
                                              <p:pRg st="0" end="0"/>
                                            </p:txEl>
                                          </p:spTgt>
                                        </p:tgtEl>
                                        <p:attrNameLst>
                                          <p:attrName>style.visibility</p:attrName>
                                        </p:attrNameLst>
                                      </p:cBhvr>
                                      <p:to>
                                        <p:strVal val="visible"/>
                                      </p:to>
                                    </p:set>
                                    <p:animEffect transition="in" filter="box(in)">
                                      <p:cBhvr>
                                        <p:cTn id="7" dur="500"/>
                                        <p:tgtEl>
                                          <p:spTgt spid="69648">
                                            <p:txEl>
                                              <p:pRg st="0" end="0"/>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69648">
                                            <p:txEl>
                                              <p:pRg st="1" end="1"/>
                                            </p:txEl>
                                          </p:spTgt>
                                        </p:tgtEl>
                                        <p:attrNameLst>
                                          <p:attrName>style.visibility</p:attrName>
                                        </p:attrNameLst>
                                      </p:cBhvr>
                                      <p:to>
                                        <p:strVal val="visible"/>
                                      </p:to>
                                    </p:set>
                                    <p:animEffect transition="in" filter="box(in)">
                                      <p:cBhvr>
                                        <p:cTn id="10" dur="500"/>
                                        <p:tgtEl>
                                          <p:spTgt spid="69648">
                                            <p:txEl>
                                              <p:pRg st="1" end="1"/>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69648">
                                            <p:txEl>
                                              <p:pRg st="2" end="2"/>
                                            </p:txEl>
                                          </p:spTgt>
                                        </p:tgtEl>
                                        <p:attrNameLst>
                                          <p:attrName>style.visibility</p:attrName>
                                        </p:attrNameLst>
                                      </p:cBhvr>
                                      <p:to>
                                        <p:strVal val="visible"/>
                                      </p:to>
                                    </p:set>
                                    <p:animEffect transition="in" filter="box(in)">
                                      <p:cBhvr>
                                        <p:cTn id="13" dur="500"/>
                                        <p:tgtEl>
                                          <p:spTgt spid="69648">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69648">
                                            <p:txEl>
                                              <p:pRg st="3" end="3"/>
                                            </p:txEl>
                                          </p:spTgt>
                                        </p:tgtEl>
                                        <p:attrNameLst>
                                          <p:attrName>style.visibility</p:attrName>
                                        </p:attrNameLst>
                                      </p:cBhvr>
                                      <p:to>
                                        <p:strVal val="visible"/>
                                      </p:to>
                                    </p:set>
                                    <p:animEffect transition="in" filter="box(in)">
                                      <p:cBhvr>
                                        <p:cTn id="18" dur="500"/>
                                        <p:tgtEl>
                                          <p:spTgt spid="69648">
                                            <p:txEl>
                                              <p:pRg st="3" end="3"/>
                                            </p:txEl>
                                          </p:spTgt>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69648">
                                            <p:txEl>
                                              <p:pRg st="4" end="4"/>
                                            </p:txEl>
                                          </p:spTgt>
                                        </p:tgtEl>
                                        <p:attrNameLst>
                                          <p:attrName>style.visibility</p:attrName>
                                        </p:attrNameLst>
                                      </p:cBhvr>
                                      <p:to>
                                        <p:strVal val="visible"/>
                                      </p:to>
                                    </p:set>
                                    <p:animEffect transition="in" filter="box(in)">
                                      <p:cBhvr>
                                        <p:cTn id="21" dur="500"/>
                                        <p:tgtEl>
                                          <p:spTgt spid="69648">
                                            <p:txEl>
                                              <p:pRg st="4" end="4"/>
                                            </p:txEl>
                                          </p:spTgt>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69648">
                                            <p:txEl>
                                              <p:pRg st="5" end="5"/>
                                            </p:txEl>
                                          </p:spTgt>
                                        </p:tgtEl>
                                        <p:attrNameLst>
                                          <p:attrName>style.visibility</p:attrName>
                                        </p:attrNameLst>
                                      </p:cBhvr>
                                      <p:to>
                                        <p:strVal val="visible"/>
                                      </p:to>
                                    </p:set>
                                    <p:animEffect transition="in" filter="box(in)">
                                      <p:cBhvr>
                                        <p:cTn id="24" dur="500"/>
                                        <p:tgtEl>
                                          <p:spTgt spid="69648">
                                            <p:txEl>
                                              <p:pRg st="5" end="5"/>
                                            </p:txEl>
                                          </p:spTgt>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69648">
                                            <p:txEl>
                                              <p:pRg st="6" end="6"/>
                                            </p:txEl>
                                          </p:spTgt>
                                        </p:tgtEl>
                                        <p:attrNameLst>
                                          <p:attrName>style.visibility</p:attrName>
                                        </p:attrNameLst>
                                      </p:cBhvr>
                                      <p:to>
                                        <p:strVal val="visible"/>
                                      </p:to>
                                    </p:set>
                                    <p:animEffect transition="in" filter="box(in)">
                                      <p:cBhvr>
                                        <p:cTn id="27" dur="500"/>
                                        <p:tgtEl>
                                          <p:spTgt spid="69648">
                                            <p:txEl>
                                              <p:pRg st="6" end="6"/>
                                            </p:txEl>
                                          </p:spTgt>
                                        </p:tgtEl>
                                      </p:cBhvr>
                                    </p:animEffect>
                                  </p:childTnLst>
                                </p:cTn>
                              </p:par>
                            </p:childTnLst>
                          </p:cTn>
                        </p:par>
                      </p:childTnLst>
                    </p:cTn>
                  </p:par>
                  <p:par>
                    <p:cTn id="28" fill="hold">
                      <p:stCondLst>
                        <p:cond delay="indefinite"/>
                      </p:stCondLst>
                      <p:childTnLst>
                        <p:par>
                          <p:cTn id="29" fill="hold" nodeType="afterGroup">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69636"/>
                                        </p:tgtEl>
                                        <p:attrNameLst>
                                          <p:attrName>style.visibility</p:attrName>
                                        </p:attrNameLst>
                                      </p:cBhvr>
                                      <p:to>
                                        <p:strVal val="visible"/>
                                      </p:to>
                                    </p:set>
                                    <p:animEffect transition="in" filter="strips(downLeft)">
                                      <p:cBhvr>
                                        <p:cTn id="32" dur="500"/>
                                        <p:tgtEl>
                                          <p:spTgt spid="696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69638"/>
                                        </p:tgtEl>
                                        <p:attrNameLst>
                                          <p:attrName>style.visibility</p:attrName>
                                        </p:attrNameLst>
                                      </p:cBhvr>
                                      <p:to>
                                        <p:strVal val="visible"/>
                                      </p:to>
                                    </p:set>
                                    <p:animEffect transition="in" filter="slide(fromBottom)">
                                      <p:cBhvr>
                                        <p:cTn id="37" dur="500"/>
                                        <p:tgtEl>
                                          <p:spTgt spid="69638"/>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autoUpdateAnimBg="0"/>
      <p:bldP spid="69648" grpId="0" build="p" autoUpdateAnimBg="0"/>
      <p:bldP spid="69638" grpId="0" autoUpdateAnimBg="0"/>
      <p:bldP spid="2"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endParaRPr lang="zh-CN" altLang="en-US"/>
          </a:p>
        </p:txBody>
      </p:sp>
      <p:sp>
        <p:nvSpPr>
          <p:cNvPr id="88073" name="Rectangle 1"/>
          <p:cNvSpPr>
            <a:spLocks noChangeArrowheads="1"/>
          </p:cNvSpPr>
          <p:nvPr/>
        </p:nvSpPr>
        <p:spPr bwMode="auto">
          <a:xfrm>
            <a:off x="1836095" y="1453988"/>
            <a:ext cx="39603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667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r>
              <a:rPr lang="zh-CN" altLang="zh-CN" sz="2000" dirty="0">
                <a:latin typeface="Times New Roman" pitchFamily="18" charset="0"/>
                <a:cs typeface="Times New Roman" pitchFamily="18" charset="0"/>
              </a:rPr>
              <a:t>将该文法简化为下述形式</a:t>
            </a:r>
            <a:r>
              <a:rPr lang="zh-CN" altLang="en-US" sz="1800" dirty="0">
                <a:latin typeface="Times New Roman" pitchFamily="18" charset="0"/>
                <a:cs typeface="Times New Roman" pitchFamily="18" charset="0"/>
              </a:rPr>
              <a:t>：</a:t>
            </a:r>
            <a:endParaRPr lang="zh-CN" altLang="zh-CN" sz="2000" dirty="0"/>
          </a:p>
        </p:txBody>
      </p:sp>
      <p:sp>
        <p:nvSpPr>
          <p:cNvPr id="6" name="矩形 5"/>
          <p:cNvSpPr/>
          <p:nvPr/>
        </p:nvSpPr>
        <p:spPr>
          <a:xfrm>
            <a:off x="162391" y="4263539"/>
            <a:ext cx="8819218" cy="646331"/>
          </a:xfrm>
          <a:prstGeom prst="rect">
            <a:avLst/>
          </a:prstGeom>
          <a:solidFill>
            <a:schemeClr val="bg1"/>
          </a:solidFill>
        </p:spPr>
        <p:txBody>
          <a:bodyPr wrap="square">
            <a:spAutoFit/>
          </a:bodyPr>
          <a:lstStyle/>
          <a:p>
            <a:pPr>
              <a:buFontTx/>
              <a:buNone/>
              <a:defRPr/>
            </a:pPr>
            <a:r>
              <a:rPr lang="zh-CN" altLang="en-US" kern="100" dirty="0">
                <a:latin typeface="Times New Roman" panose="02020603050405020304" pitchFamily="18" charset="0"/>
              </a:rPr>
              <a:t>注：（</a:t>
            </a:r>
            <a:r>
              <a:rPr lang="en-US" altLang="zh-CN" kern="100" dirty="0">
                <a:latin typeface="Times New Roman" panose="02020603050405020304" pitchFamily="18" charset="0"/>
              </a:rPr>
              <a:t>1</a:t>
            </a:r>
            <a:r>
              <a:rPr lang="zh-CN" altLang="en-US" kern="100" dirty="0">
                <a:latin typeface="Times New Roman" panose="02020603050405020304" pitchFamily="18" charset="0"/>
              </a:rPr>
              <a:t>）为简化期间，此处简化时，忽略了算术表达式，直接用</a:t>
            </a:r>
            <a:r>
              <a:rPr lang="en-US" altLang="zh-CN" sz="1800" kern="100" dirty="0"/>
              <a:t>&lt;BP&gt;→id </a:t>
            </a:r>
            <a:r>
              <a:rPr lang="zh-CN" altLang="en-US" sz="1800" kern="100" dirty="0"/>
              <a:t>来代替      </a:t>
            </a:r>
            <a:endParaRPr lang="en-US" altLang="zh-CN" sz="1800" kern="100" dirty="0"/>
          </a:p>
          <a:p>
            <a:pPr>
              <a:buFontTx/>
              <a:buNone/>
              <a:defRPr/>
            </a:pPr>
            <a:r>
              <a:rPr lang="en-US" altLang="zh-CN" kern="100" dirty="0">
                <a:latin typeface="Times New Roman" panose="02020603050405020304" pitchFamily="18" charset="0"/>
              </a:rPr>
              <a:t>        </a:t>
            </a:r>
            <a:r>
              <a:rPr lang="zh-CN" altLang="en-US" kern="100" dirty="0">
                <a:latin typeface="Times New Roman" panose="02020603050405020304" pitchFamily="18" charset="0"/>
              </a:rPr>
              <a:t>（</a:t>
            </a:r>
            <a:r>
              <a:rPr lang="en-US" altLang="zh-CN" kern="100" dirty="0">
                <a:latin typeface="Times New Roman" panose="02020603050405020304" pitchFamily="18" charset="0"/>
              </a:rPr>
              <a:t>2</a:t>
            </a:r>
            <a:r>
              <a:rPr lang="zh-CN" altLang="en-US" kern="100" dirty="0">
                <a:latin typeface="Times New Roman" panose="02020603050405020304" pitchFamily="18" charset="0"/>
              </a:rPr>
              <a:t>）</a:t>
            </a:r>
            <a:r>
              <a:rPr lang="en-US" altLang="zh-CN" kern="100" dirty="0" err="1">
                <a:latin typeface="Times New Roman" panose="02020603050405020304" pitchFamily="18" charset="0"/>
              </a:rPr>
              <a:t>rop</a:t>
            </a:r>
            <a:r>
              <a:rPr lang="zh-CN" altLang="zh-CN" kern="100" dirty="0">
                <a:latin typeface="Times New Roman" panose="02020603050405020304" pitchFamily="18" charset="0"/>
                <a:cs typeface="Times New Roman" panose="02020603050405020304" pitchFamily="18" charset="0"/>
              </a:rPr>
              <a:t>表示关系运算符，可以是</a:t>
            </a:r>
            <a:r>
              <a:rPr lang="en-US" altLang="zh-CN" kern="100" dirty="0">
                <a:latin typeface="Times New Roman" panose="02020603050405020304" pitchFamily="18" charset="0"/>
              </a:rPr>
              <a:t>&gt;</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rPr>
              <a:t>&lt;</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rPr>
              <a:t>&gt;=</a:t>
            </a: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rPr>
              <a:t>&lt;=</a:t>
            </a:r>
            <a:r>
              <a:rPr lang="zh-CN" altLang="zh-CN" kern="100" dirty="0">
                <a:latin typeface="Times New Roman" panose="02020603050405020304" pitchFamily="18" charset="0"/>
                <a:cs typeface="Times New Roman" panose="02020603050405020304" pitchFamily="18" charset="0"/>
              </a:rPr>
              <a:t>和</a:t>
            </a:r>
            <a:r>
              <a:rPr lang="en-US" altLang="zh-CN" kern="100" dirty="0">
                <a:latin typeface="Times New Roman" panose="02020603050405020304" pitchFamily="18" charset="0"/>
              </a:rPr>
              <a:t>&lt;&gt;</a:t>
            </a:r>
            <a:endParaRPr lang="zh-CN" altLang="en-US" dirty="0">
              <a:latin typeface="Arial" pitchFamily="34" charset="0"/>
            </a:endParaRPr>
          </a:p>
        </p:txBody>
      </p:sp>
      <p:sp>
        <p:nvSpPr>
          <p:cNvPr id="3" name="矩形 2"/>
          <p:cNvSpPr/>
          <p:nvPr/>
        </p:nvSpPr>
        <p:spPr>
          <a:xfrm>
            <a:off x="5147755" y="1710891"/>
            <a:ext cx="3630357" cy="206210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indent="285750" algn="just">
              <a:spcAft>
                <a:spcPts val="0"/>
              </a:spcAft>
            </a:pPr>
            <a:r>
              <a:rPr lang="zh-CN" altLang="zh-CN" sz="1600" kern="100" dirty="0"/>
              <a:t>（</a:t>
            </a:r>
            <a:r>
              <a:rPr lang="en-US" altLang="zh-CN" sz="1600" kern="100" dirty="0"/>
              <a:t>1</a:t>
            </a:r>
            <a:r>
              <a:rPr lang="zh-CN" altLang="zh-CN" sz="1600" kern="100" dirty="0"/>
              <a:t>）</a:t>
            </a:r>
            <a:r>
              <a:rPr lang="en-US" altLang="zh-CN" sz="1600" kern="100" dirty="0"/>
              <a:t>&lt;BE&gt;→&lt;BE&gt;</a:t>
            </a:r>
            <a:r>
              <a:rPr lang="en-US" altLang="zh-CN" sz="1600" kern="100" baseline="30000" dirty="0"/>
              <a:t>(1)</a:t>
            </a:r>
            <a:r>
              <a:rPr lang="en-US" altLang="zh-CN" sz="1600" kern="100" dirty="0"/>
              <a:t> || &lt;BT&gt;</a:t>
            </a:r>
            <a:endParaRPr lang="zh-CN" altLang="zh-CN" sz="1600" kern="100" dirty="0"/>
          </a:p>
          <a:p>
            <a:pPr indent="285750" algn="just">
              <a:spcAft>
                <a:spcPts val="0"/>
              </a:spcAft>
            </a:pPr>
            <a:r>
              <a:rPr lang="zh-CN" altLang="zh-CN" sz="1600" kern="100" dirty="0"/>
              <a:t>（</a:t>
            </a:r>
            <a:r>
              <a:rPr lang="en-US" altLang="zh-CN" sz="1600" kern="100" dirty="0"/>
              <a:t>2</a:t>
            </a:r>
            <a:r>
              <a:rPr lang="zh-CN" altLang="zh-CN" sz="1600" kern="100" dirty="0"/>
              <a:t>）</a:t>
            </a:r>
            <a:r>
              <a:rPr lang="en-US" altLang="zh-CN" sz="1600" kern="100" dirty="0"/>
              <a:t>&lt;BE&gt;→&lt;BT&gt;</a:t>
            </a:r>
            <a:endParaRPr lang="zh-CN" altLang="zh-CN" sz="1600" kern="100" dirty="0"/>
          </a:p>
          <a:p>
            <a:pPr indent="285750" algn="just">
              <a:spcAft>
                <a:spcPts val="0"/>
              </a:spcAft>
            </a:pPr>
            <a:r>
              <a:rPr lang="zh-CN" altLang="zh-CN" sz="1600" kern="100" dirty="0"/>
              <a:t>（</a:t>
            </a:r>
            <a:r>
              <a:rPr lang="en-US" altLang="zh-CN" sz="1600" kern="100" dirty="0"/>
              <a:t>3</a:t>
            </a:r>
            <a:r>
              <a:rPr lang="zh-CN" altLang="zh-CN" sz="1600" kern="100" dirty="0"/>
              <a:t>）</a:t>
            </a:r>
            <a:r>
              <a:rPr lang="en-US" altLang="zh-CN" sz="1600" kern="100" dirty="0"/>
              <a:t>&lt;BT&gt;→&lt;BT&gt;</a:t>
            </a:r>
            <a:r>
              <a:rPr lang="en-US" altLang="zh-CN" sz="1600" kern="100" baseline="30000" dirty="0"/>
              <a:t>(1)</a:t>
            </a:r>
            <a:r>
              <a:rPr lang="en-US" altLang="zh-CN" sz="1600" kern="100" dirty="0"/>
              <a:t> &amp;&amp; &lt;BF&gt;</a:t>
            </a:r>
            <a:endParaRPr lang="zh-CN" altLang="zh-CN" sz="1600" kern="100" dirty="0"/>
          </a:p>
          <a:p>
            <a:pPr indent="285750" algn="just">
              <a:spcAft>
                <a:spcPts val="0"/>
              </a:spcAft>
            </a:pPr>
            <a:r>
              <a:rPr lang="zh-CN" altLang="zh-CN" sz="1600" kern="100" dirty="0"/>
              <a:t>（</a:t>
            </a:r>
            <a:r>
              <a:rPr lang="en-US" altLang="zh-CN" sz="1600" kern="100" dirty="0"/>
              <a:t>4</a:t>
            </a:r>
            <a:r>
              <a:rPr lang="zh-CN" altLang="zh-CN" sz="1600" kern="100" dirty="0"/>
              <a:t>）</a:t>
            </a:r>
            <a:r>
              <a:rPr lang="en-US" altLang="zh-CN" sz="1600" kern="100" dirty="0"/>
              <a:t>&lt;BT&gt;→&lt;BF&gt;</a:t>
            </a:r>
          </a:p>
          <a:p>
            <a:pPr indent="285750" algn="just"/>
            <a:r>
              <a:rPr lang="zh-CN" altLang="zh-CN" sz="1600" kern="100" dirty="0"/>
              <a:t>（</a:t>
            </a:r>
            <a:r>
              <a:rPr lang="en-US" altLang="zh-CN" sz="1600" kern="100" dirty="0"/>
              <a:t>5</a:t>
            </a:r>
            <a:r>
              <a:rPr lang="zh-CN" altLang="zh-CN" sz="1600" kern="100" dirty="0"/>
              <a:t>）</a:t>
            </a:r>
            <a:r>
              <a:rPr lang="en-US" altLang="zh-CN" sz="1600" kern="100" dirty="0"/>
              <a:t>&lt;BF&gt;→! &lt;BF&gt;</a:t>
            </a:r>
          </a:p>
          <a:p>
            <a:pPr indent="285750" algn="just">
              <a:spcAft>
                <a:spcPts val="0"/>
              </a:spcAft>
            </a:pPr>
            <a:r>
              <a:rPr lang="zh-CN" altLang="zh-CN" sz="1600" kern="100" dirty="0"/>
              <a:t>（</a:t>
            </a:r>
            <a:r>
              <a:rPr lang="en-US" altLang="zh-CN" sz="1600" kern="100" dirty="0"/>
              <a:t>6</a:t>
            </a:r>
            <a:r>
              <a:rPr lang="zh-CN" altLang="zh-CN" sz="1600" kern="100" dirty="0"/>
              <a:t>）</a:t>
            </a:r>
            <a:r>
              <a:rPr lang="en-US" altLang="zh-CN" sz="1600" kern="100" dirty="0"/>
              <a:t>&lt;BF&gt;→(&lt;BE&gt;)</a:t>
            </a:r>
          </a:p>
          <a:p>
            <a:pPr indent="285750" algn="just"/>
            <a:r>
              <a:rPr lang="zh-CN" altLang="zh-CN" sz="1600" kern="100" dirty="0"/>
              <a:t>（</a:t>
            </a:r>
            <a:r>
              <a:rPr lang="en-US" altLang="zh-CN" sz="1600" kern="100" dirty="0"/>
              <a:t>7</a:t>
            </a:r>
            <a:r>
              <a:rPr lang="zh-CN" altLang="zh-CN" sz="1600" kern="100" dirty="0"/>
              <a:t>）</a:t>
            </a:r>
            <a:r>
              <a:rPr lang="en-US" altLang="zh-CN" sz="1600" kern="100" dirty="0"/>
              <a:t>&lt;BF&gt; →&lt;AE&gt; </a:t>
            </a:r>
            <a:r>
              <a:rPr lang="en-US" altLang="zh-CN" sz="1600" kern="100" dirty="0" err="1"/>
              <a:t>rop</a:t>
            </a:r>
            <a:r>
              <a:rPr lang="en-US" altLang="zh-CN" sz="1600" kern="100" dirty="0"/>
              <a:t> &lt;AE&gt;</a:t>
            </a:r>
            <a:endParaRPr lang="zh-CN" altLang="zh-CN" sz="1600" kern="100" dirty="0"/>
          </a:p>
          <a:p>
            <a:pPr indent="285750" algn="just">
              <a:spcAft>
                <a:spcPts val="0"/>
              </a:spcAft>
            </a:pPr>
            <a:r>
              <a:rPr lang="zh-CN" altLang="zh-CN" sz="1600" kern="100" dirty="0"/>
              <a:t>（</a:t>
            </a:r>
            <a:r>
              <a:rPr lang="en-US" altLang="zh-CN" sz="1600" kern="100" dirty="0"/>
              <a:t>8</a:t>
            </a:r>
            <a:r>
              <a:rPr lang="zh-CN" altLang="zh-CN" sz="1600" kern="100" dirty="0"/>
              <a:t>）</a:t>
            </a:r>
            <a:r>
              <a:rPr lang="en-US" altLang="zh-CN" sz="1600" kern="100" dirty="0"/>
              <a:t>&lt;BF&gt;→id</a:t>
            </a:r>
            <a:endParaRPr lang="zh-CN" altLang="zh-CN" sz="1600" kern="100" dirty="0">
              <a:latin typeface="Times New Roman" panose="02020603050405020304" pitchFamily="18" charset="0"/>
              <a:ea typeface="宋体" panose="02010600030101010101" pitchFamily="2" charset="-122"/>
            </a:endParaRPr>
          </a:p>
        </p:txBody>
      </p:sp>
      <p:sp>
        <p:nvSpPr>
          <p:cNvPr id="8" name="矩形 7"/>
          <p:cNvSpPr/>
          <p:nvPr/>
        </p:nvSpPr>
        <p:spPr>
          <a:xfrm>
            <a:off x="765175" y="47068"/>
            <a:ext cx="8023063" cy="132343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spcAft>
                <a:spcPts val="0"/>
              </a:spcAft>
              <a:buFontTx/>
              <a:buNone/>
              <a:defRPr/>
            </a:pPr>
            <a:r>
              <a:rPr lang="zh-CN" altLang="zh-CN" sz="1600" kern="100" dirty="0">
                <a:latin typeface="宋体" panose="02010600030101010101" pitchFamily="2" charset="-122"/>
                <a:ea typeface="宋体" panose="02010600030101010101" pitchFamily="2" charset="-122"/>
              </a:rPr>
              <a:t>（</a:t>
            </a:r>
            <a:r>
              <a:rPr lang="it-IT" altLang="zh-CN" sz="1600" kern="100" dirty="0">
                <a:latin typeface="宋体" panose="02010600030101010101" pitchFamily="2" charset="-122"/>
                <a:ea typeface="宋体" panose="02010600030101010101" pitchFamily="2" charset="-122"/>
              </a:rPr>
              <a:t>1</a:t>
            </a:r>
            <a:r>
              <a:rPr lang="zh-CN" altLang="zh-CN" sz="1600" kern="100" dirty="0">
                <a:latin typeface="宋体" panose="02010600030101010101" pitchFamily="2" charset="-122"/>
                <a:ea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rPr>
              <a:t> &lt;</a:t>
            </a:r>
            <a:r>
              <a:rPr lang="zh-CN" altLang="zh-CN" sz="1600" kern="100" dirty="0">
                <a:latin typeface="Times New Roman" panose="02020603050405020304" pitchFamily="18" charset="0"/>
                <a:ea typeface="宋体" panose="02010600030101010101" pitchFamily="2" charset="-122"/>
              </a:rPr>
              <a:t>布尔表达式</a:t>
            </a:r>
            <a:r>
              <a:rPr lang="en-US" altLang="zh-CN" sz="1600" kern="100" dirty="0">
                <a:latin typeface="Times New Roman" panose="02020603050405020304" pitchFamily="18" charset="0"/>
                <a:ea typeface="宋体" panose="02010600030101010101" pitchFamily="2" charset="-122"/>
              </a:rPr>
              <a:t>&gt;</a:t>
            </a:r>
            <a:r>
              <a:rPr lang="zh-CN" altLang="zh-CN" sz="1600" kern="100" dirty="0">
                <a:latin typeface="Times New Roman" panose="02020603050405020304" pitchFamily="18" charset="0"/>
                <a:ea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rPr>
              <a:t>&lt;</a:t>
            </a:r>
            <a:r>
              <a:rPr lang="zh-CN" altLang="zh-CN" sz="1600" kern="100" dirty="0">
                <a:latin typeface="Times New Roman" panose="02020603050405020304" pitchFamily="18" charset="0"/>
                <a:ea typeface="宋体" panose="02010600030101010101" pitchFamily="2" charset="-122"/>
              </a:rPr>
              <a:t>布尔表达式</a:t>
            </a:r>
            <a:r>
              <a:rPr lang="en-US" altLang="zh-CN" sz="1600" kern="100" dirty="0">
                <a:latin typeface="Times New Roman" panose="02020603050405020304" pitchFamily="18" charset="0"/>
                <a:ea typeface="宋体" panose="02010600030101010101" pitchFamily="2" charset="-122"/>
              </a:rPr>
              <a:t>&gt;||&lt;</a:t>
            </a:r>
            <a:r>
              <a:rPr lang="zh-CN" altLang="zh-CN" sz="1600" kern="100" dirty="0">
                <a:latin typeface="Times New Roman" panose="02020603050405020304" pitchFamily="18" charset="0"/>
                <a:ea typeface="宋体" panose="02010600030101010101" pitchFamily="2" charset="-122"/>
              </a:rPr>
              <a:t>布尔项</a:t>
            </a:r>
            <a:r>
              <a:rPr lang="en-US" altLang="zh-CN" sz="1600" kern="100" dirty="0">
                <a:latin typeface="Times New Roman" panose="02020603050405020304" pitchFamily="18" charset="0"/>
                <a:ea typeface="宋体" panose="02010600030101010101" pitchFamily="2" charset="-122"/>
              </a:rPr>
              <a:t>&gt;</a:t>
            </a:r>
            <a:r>
              <a:rPr lang="en-US" altLang="zh-CN" sz="1600" kern="100" dirty="0">
                <a:latin typeface="宋体" panose="02010600030101010101" pitchFamily="2" charset="-122"/>
                <a:ea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rPr>
              <a:t>&lt;</a:t>
            </a:r>
            <a:r>
              <a:rPr lang="zh-CN" altLang="zh-CN" sz="1600" kern="100" dirty="0">
                <a:latin typeface="Times New Roman" panose="02020603050405020304" pitchFamily="18" charset="0"/>
                <a:ea typeface="宋体" panose="02010600030101010101" pitchFamily="2" charset="-122"/>
              </a:rPr>
              <a:t>布尔项</a:t>
            </a:r>
            <a:r>
              <a:rPr lang="en-US" altLang="zh-CN" sz="1600" kern="100" dirty="0">
                <a:latin typeface="Times New Roman" panose="02020603050405020304" pitchFamily="18" charset="0"/>
                <a:ea typeface="宋体" panose="02010600030101010101" pitchFamily="2" charset="-122"/>
              </a:rPr>
              <a:t>&gt; </a:t>
            </a:r>
          </a:p>
          <a:p>
            <a:pPr>
              <a:defRPr/>
            </a:pPr>
            <a:r>
              <a:rPr lang="zh-CN" altLang="zh-CN" sz="1600" kern="100" dirty="0">
                <a:latin typeface="宋体" panose="02010600030101010101" pitchFamily="2" charset="-122"/>
                <a:ea typeface="宋体" panose="02010600030101010101" pitchFamily="2" charset="-122"/>
              </a:rPr>
              <a:t>（</a:t>
            </a:r>
            <a:r>
              <a:rPr lang="fr-FR" altLang="zh-CN" sz="1600" kern="100" dirty="0">
                <a:latin typeface="宋体" panose="02010600030101010101" pitchFamily="2" charset="-122"/>
                <a:ea typeface="宋体" panose="02010600030101010101" pitchFamily="2" charset="-122"/>
              </a:rPr>
              <a:t>2</a:t>
            </a:r>
            <a:r>
              <a:rPr lang="zh-CN" altLang="zh-CN" sz="1600" kern="100" dirty="0">
                <a:latin typeface="宋体" panose="02010600030101010101" pitchFamily="2" charset="-122"/>
                <a:ea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rPr>
              <a:t>&lt;</a:t>
            </a:r>
            <a:r>
              <a:rPr lang="zh-CN" altLang="zh-CN" sz="1600" kern="100" dirty="0">
                <a:latin typeface="Times New Roman" panose="02020603050405020304" pitchFamily="18" charset="0"/>
                <a:ea typeface="宋体" panose="02010600030101010101" pitchFamily="2" charset="-122"/>
              </a:rPr>
              <a:t>布尔项</a:t>
            </a:r>
            <a:r>
              <a:rPr lang="en-US" altLang="zh-CN" sz="1600" kern="100" dirty="0">
                <a:latin typeface="Times New Roman" panose="02020603050405020304" pitchFamily="18" charset="0"/>
                <a:ea typeface="宋体" panose="02010600030101010101" pitchFamily="2" charset="-122"/>
              </a:rPr>
              <a:t>&gt;</a:t>
            </a:r>
            <a:r>
              <a:rPr lang="zh-CN" altLang="zh-CN" sz="1600" kern="100" dirty="0">
                <a:latin typeface="Times New Roman" panose="02020603050405020304" pitchFamily="18" charset="0"/>
                <a:ea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rPr>
              <a:t>&lt;</a:t>
            </a:r>
            <a:r>
              <a:rPr lang="zh-CN" altLang="zh-CN" sz="1600" kern="100" dirty="0">
                <a:latin typeface="Times New Roman" panose="02020603050405020304" pitchFamily="18" charset="0"/>
                <a:ea typeface="宋体" panose="02010600030101010101" pitchFamily="2" charset="-122"/>
              </a:rPr>
              <a:t>布尔项</a:t>
            </a:r>
            <a:r>
              <a:rPr lang="en-US" altLang="zh-CN" sz="1600" kern="100" dirty="0">
                <a:latin typeface="Times New Roman" panose="02020603050405020304" pitchFamily="18" charset="0"/>
                <a:ea typeface="宋体" panose="02010600030101010101" pitchFamily="2" charset="-122"/>
              </a:rPr>
              <a:t>&gt;&amp;&amp;&lt;</a:t>
            </a:r>
            <a:r>
              <a:rPr lang="zh-CN" altLang="zh-CN" sz="1600" kern="100" dirty="0">
                <a:latin typeface="Times New Roman" panose="02020603050405020304" pitchFamily="18" charset="0"/>
                <a:ea typeface="宋体" panose="02010600030101010101" pitchFamily="2" charset="-122"/>
              </a:rPr>
              <a:t>布尔因子</a:t>
            </a:r>
            <a:r>
              <a:rPr lang="en-US" altLang="zh-CN" sz="1600" kern="100" dirty="0">
                <a:latin typeface="Times New Roman" panose="02020603050405020304" pitchFamily="18" charset="0"/>
                <a:ea typeface="宋体" panose="02010600030101010101" pitchFamily="2" charset="-122"/>
              </a:rPr>
              <a:t>&gt;</a:t>
            </a:r>
            <a:r>
              <a:rPr lang="en-US" altLang="zh-CN" sz="1600" kern="100" dirty="0">
                <a:latin typeface="宋体" panose="02010600030101010101" pitchFamily="2" charset="-122"/>
                <a:ea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rPr>
              <a:t>&lt;</a:t>
            </a:r>
            <a:r>
              <a:rPr lang="zh-CN" altLang="zh-CN" sz="1600" kern="100" dirty="0">
                <a:latin typeface="Times New Roman" panose="02020603050405020304" pitchFamily="18" charset="0"/>
                <a:ea typeface="宋体" panose="02010600030101010101" pitchFamily="2" charset="-122"/>
              </a:rPr>
              <a:t>布尔因子</a:t>
            </a:r>
            <a:r>
              <a:rPr lang="en-US" altLang="zh-CN" sz="1600" kern="100" dirty="0">
                <a:latin typeface="Times New Roman" panose="02020603050405020304" pitchFamily="18" charset="0"/>
                <a:ea typeface="宋体" panose="02010600030101010101" pitchFamily="2" charset="-122"/>
              </a:rPr>
              <a:t>&gt;</a:t>
            </a:r>
            <a:r>
              <a:rPr lang="x-none" altLang="zh-CN" sz="1600" kern="100" dirty="0">
                <a:latin typeface="Times New Roman" panose="02020603050405020304" pitchFamily="18" charset="0"/>
                <a:ea typeface="宋体" panose="02010600030101010101" pitchFamily="2" charset="-122"/>
              </a:rPr>
              <a:t> </a:t>
            </a:r>
            <a:endParaRPr lang="en-US" altLang="zh-CN" sz="1600" kern="100" dirty="0">
              <a:latin typeface="Times New Roman" panose="02020603050405020304" pitchFamily="18" charset="0"/>
              <a:ea typeface="宋体" panose="02010600030101010101" pitchFamily="2" charset="-122"/>
            </a:endParaRPr>
          </a:p>
          <a:p>
            <a:pPr>
              <a:defRPr/>
            </a:pPr>
            <a:r>
              <a:rPr lang="zh-CN" altLang="zh-CN" sz="1600" kern="100" dirty="0">
                <a:latin typeface="宋体" panose="02010600030101010101" pitchFamily="2" charset="-122"/>
                <a:ea typeface="宋体" panose="02010600030101010101" pitchFamily="2" charset="-122"/>
              </a:rPr>
              <a:t>（</a:t>
            </a:r>
            <a:r>
              <a:rPr lang="fr-FR" altLang="zh-CN" sz="1600" kern="100" dirty="0">
                <a:latin typeface="宋体" panose="02010600030101010101" pitchFamily="2" charset="-122"/>
                <a:ea typeface="宋体" panose="02010600030101010101" pitchFamily="2" charset="-122"/>
              </a:rPr>
              <a:t>3</a:t>
            </a:r>
            <a:r>
              <a:rPr lang="zh-CN" altLang="zh-CN" sz="1600" kern="100" dirty="0">
                <a:latin typeface="宋体" panose="02010600030101010101" pitchFamily="2" charset="-122"/>
                <a:ea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rPr>
              <a:t>&lt;</a:t>
            </a:r>
            <a:r>
              <a:rPr lang="zh-CN" altLang="zh-CN" sz="1600" kern="100" dirty="0">
                <a:latin typeface="Times New Roman" panose="02020603050405020304" pitchFamily="18" charset="0"/>
                <a:ea typeface="宋体" panose="02010600030101010101" pitchFamily="2" charset="-122"/>
              </a:rPr>
              <a:t>布尔因子</a:t>
            </a:r>
            <a:r>
              <a:rPr lang="en-US" altLang="zh-CN" sz="1600" kern="100" dirty="0">
                <a:latin typeface="Times New Roman" panose="02020603050405020304" pitchFamily="18" charset="0"/>
                <a:ea typeface="宋体" panose="02010600030101010101" pitchFamily="2" charset="-122"/>
              </a:rPr>
              <a:t>&gt;</a:t>
            </a:r>
            <a:r>
              <a:rPr lang="zh-CN" altLang="zh-CN" sz="1600" kern="100" dirty="0">
                <a:latin typeface="Times New Roman" panose="02020603050405020304" pitchFamily="18" charset="0"/>
                <a:ea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rPr>
              <a:t>!&lt;</a:t>
            </a:r>
            <a:r>
              <a:rPr lang="zh-CN" altLang="zh-CN" sz="1600" kern="100" dirty="0">
                <a:latin typeface="Times New Roman" panose="02020603050405020304" pitchFamily="18" charset="0"/>
                <a:ea typeface="宋体" panose="02010600030101010101" pitchFamily="2" charset="-122"/>
              </a:rPr>
              <a:t>布尔</a:t>
            </a:r>
            <a:r>
              <a:rPr lang="zh-CN" altLang="en-US" sz="1600" kern="100" dirty="0">
                <a:latin typeface="Times New Roman" panose="02020603050405020304" pitchFamily="18" charset="0"/>
                <a:ea typeface="宋体" panose="02010600030101010101" pitchFamily="2" charset="-122"/>
              </a:rPr>
              <a:t>因子</a:t>
            </a:r>
            <a:r>
              <a:rPr lang="en-US" altLang="zh-CN" sz="1600" kern="100" dirty="0">
                <a:latin typeface="Times New Roman" panose="02020603050405020304" pitchFamily="18" charset="0"/>
                <a:ea typeface="宋体" panose="02010600030101010101" pitchFamily="2" charset="-122"/>
              </a:rPr>
              <a:t>&gt;</a:t>
            </a:r>
            <a:endParaRPr lang="zh-CN" altLang="zh-CN" sz="1600" kern="100" dirty="0">
              <a:latin typeface="Times New Roman" panose="02020603050405020304" pitchFamily="18" charset="0"/>
              <a:ea typeface="宋体" panose="02010600030101010101" pitchFamily="2" charset="-122"/>
            </a:endParaRPr>
          </a:p>
          <a:p>
            <a:pPr>
              <a:spcAft>
                <a:spcPts val="0"/>
              </a:spcAft>
              <a:buFontTx/>
              <a:buNone/>
              <a:defRPr/>
            </a:pPr>
            <a:r>
              <a:rPr lang="zh-CN" altLang="zh-CN" sz="1600" kern="100" dirty="0">
                <a:latin typeface="宋体" panose="02010600030101010101" pitchFamily="2" charset="-122"/>
                <a:ea typeface="宋体" panose="02010600030101010101" pitchFamily="2" charset="-122"/>
              </a:rPr>
              <a:t>（</a:t>
            </a:r>
            <a:r>
              <a:rPr lang="en-US" altLang="zh-CN" sz="1600" kern="100" dirty="0">
                <a:latin typeface="宋体" panose="02010600030101010101" pitchFamily="2" charset="-122"/>
                <a:ea typeface="宋体" panose="02010600030101010101" pitchFamily="2" charset="-122"/>
              </a:rPr>
              <a:t>4</a:t>
            </a:r>
            <a:r>
              <a:rPr lang="zh-CN" altLang="zh-CN" sz="1600" kern="100" dirty="0">
                <a:latin typeface="宋体" panose="02010600030101010101" pitchFamily="2" charset="-122"/>
                <a:ea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rPr>
              <a:t> &lt;</a:t>
            </a:r>
            <a:r>
              <a:rPr lang="zh-CN" altLang="zh-CN" sz="1600" kern="100" dirty="0">
                <a:latin typeface="Times New Roman" panose="02020603050405020304" pitchFamily="18" charset="0"/>
                <a:ea typeface="宋体" panose="02010600030101010101" pitchFamily="2" charset="-122"/>
              </a:rPr>
              <a:t>布尔</a:t>
            </a:r>
            <a:r>
              <a:rPr lang="zh-CN" altLang="en-US" sz="1600" kern="100" dirty="0">
                <a:latin typeface="Times New Roman" panose="02020603050405020304" pitchFamily="18" charset="0"/>
                <a:ea typeface="宋体" panose="02010600030101010101" pitchFamily="2" charset="-122"/>
              </a:rPr>
              <a:t>因子</a:t>
            </a:r>
            <a:r>
              <a:rPr lang="en-US" altLang="zh-CN" sz="1600" kern="100" dirty="0">
                <a:latin typeface="Times New Roman" panose="02020603050405020304" pitchFamily="18" charset="0"/>
                <a:ea typeface="宋体" panose="02010600030101010101" pitchFamily="2" charset="-122"/>
              </a:rPr>
              <a:t>&gt;</a:t>
            </a:r>
            <a:r>
              <a:rPr lang="x-none" altLang="zh-CN" sz="1600" kern="100" dirty="0">
                <a:latin typeface="Times New Roman" panose="02020603050405020304" pitchFamily="18" charset="0"/>
                <a:ea typeface="宋体" panose="02010600030101010101" pitchFamily="2" charset="-122"/>
              </a:rPr>
              <a:t> </a:t>
            </a:r>
            <a:r>
              <a:rPr lang="zh-CN" altLang="zh-CN" sz="1600" kern="100" dirty="0">
                <a:latin typeface="Times New Roman" panose="02020603050405020304" pitchFamily="18" charset="0"/>
                <a:ea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rPr>
              <a:t>(&lt;</a:t>
            </a:r>
            <a:r>
              <a:rPr lang="zh-CN" altLang="zh-CN" sz="1600" kern="100" dirty="0">
                <a:latin typeface="Times New Roman" panose="02020603050405020304" pitchFamily="18" charset="0"/>
                <a:ea typeface="宋体" panose="02010600030101010101" pitchFamily="2" charset="-122"/>
              </a:rPr>
              <a:t>布尔表达式</a:t>
            </a:r>
            <a:r>
              <a:rPr lang="en-US" altLang="zh-CN" sz="1600" kern="100" dirty="0">
                <a:latin typeface="Times New Roman" panose="02020603050405020304" pitchFamily="18" charset="0"/>
                <a:ea typeface="宋体" panose="02010600030101010101" pitchFamily="2" charset="-122"/>
              </a:rPr>
              <a:t>&gt;)|&lt;</a:t>
            </a:r>
            <a:r>
              <a:rPr lang="zh-CN" altLang="zh-CN" sz="1600" kern="100" dirty="0">
                <a:latin typeface="Times New Roman" panose="02020603050405020304" pitchFamily="18" charset="0"/>
                <a:ea typeface="宋体" panose="02010600030101010101" pitchFamily="2" charset="-122"/>
              </a:rPr>
              <a:t>算术表达式</a:t>
            </a:r>
            <a:r>
              <a:rPr lang="en-US" altLang="zh-CN" sz="1600" kern="100" dirty="0">
                <a:latin typeface="Times New Roman" panose="02020603050405020304" pitchFamily="18" charset="0"/>
                <a:ea typeface="宋体" panose="02010600030101010101" pitchFamily="2" charset="-122"/>
              </a:rPr>
              <a:t>&gt;|&lt;</a:t>
            </a:r>
            <a:r>
              <a:rPr lang="zh-CN" altLang="zh-CN" sz="1600" kern="100" dirty="0">
                <a:latin typeface="Times New Roman" panose="02020603050405020304" pitchFamily="18" charset="0"/>
                <a:ea typeface="宋体" panose="02010600030101010101" pitchFamily="2" charset="-122"/>
              </a:rPr>
              <a:t>关系表达式</a:t>
            </a:r>
            <a:r>
              <a:rPr lang="en-US" altLang="zh-CN" sz="1600" kern="100" dirty="0">
                <a:latin typeface="Times New Roman" panose="02020603050405020304" pitchFamily="18" charset="0"/>
                <a:ea typeface="宋体" panose="02010600030101010101" pitchFamily="2" charset="-122"/>
              </a:rPr>
              <a:t>&gt;</a:t>
            </a:r>
            <a:r>
              <a:rPr lang="it-IT" altLang="zh-CN" sz="1600" kern="100" dirty="0">
                <a:latin typeface="Times New Roman" panose="02020603050405020304" pitchFamily="18" charset="0"/>
                <a:ea typeface="宋体" panose="02010600030101010101" pitchFamily="2" charset="-122"/>
              </a:rPr>
              <a:t> </a:t>
            </a:r>
          </a:p>
          <a:p>
            <a:pPr>
              <a:spcAft>
                <a:spcPts val="0"/>
              </a:spcAft>
              <a:buFontTx/>
              <a:buNone/>
              <a:defRPr/>
            </a:pPr>
            <a:r>
              <a:rPr lang="zh-CN" altLang="en-US" sz="1600" kern="100" dirty="0">
                <a:latin typeface="Times New Roman" panose="02020603050405020304" pitchFamily="18" charset="0"/>
                <a:ea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rPr>
              <a:t>5</a:t>
            </a:r>
            <a:r>
              <a:rPr lang="zh-CN" altLang="en-US" sz="1600" kern="100" dirty="0">
                <a:latin typeface="Times New Roman" panose="02020603050405020304" pitchFamily="18" charset="0"/>
                <a:ea typeface="宋体" panose="02010600030101010101" pitchFamily="2" charset="-122"/>
              </a:rPr>
              <a:t>） </a:t>
            </a:r>
            <a:r>
              <a:rPr lang="en-US" altLang="zh-CN" sz="1600" kern="100" dirty="0">
                <a:latin typeface="Times New Roman" panose="02020603050405020304" pitchFamily="18" charset="0"/>
                <a:ea typeface="宋体" panose="02010600030101010101" pitchFamily="2" charset="-122"/>
              </a:rPr>
              <a:t>&lt;</a:t>
            </a:r>
            <a:r>
              <a:rPr lang="zh-CN" altLang="zh-CN" sz="1600" kern="100" dirty="0">
                <a:latin typeface="Times New Roman" panose="02020603050405020304" pitchFamily="18" charset="0"/>
                <a:ea typeface="宋体" panose="02010600030101010101" pitchFamily="2" charset="-122"/>
              </a:rPr>
              <a:t>关系表达式</a:t>
            </a:r>
            <a:r>
              <a:rPr lang="en-US" altLang="zh-CN" sz="1600" kern="100" dirty="0">
                <a:latin typeface="Times New Roman" panose="02020603050405020304" pitchFamily="18" charset="0"/>
                <a:ea typeface="宋体" panose="02010600030101010101" pitchFamily="2" charset="-122"/>
              </a:rPr>
              <a:t>&gt;</a:t>
            </a:r>
            <a:r>
              <a:rPr lang="zh-CN" altLang="zh-CN" sz="1600" kern="100" dirty="0">
                <a:latin typeface="Times New Roman" panose="02020603050405020304" pitchFamily="18" charset="0"/>
                <a:ea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rPr>
              <a:t>&lt;</a:t>
            </a:r>
            <a:r>
              <a:rPr lang="zh-CN" altLang="zh-CN" sz="1600" kern="100" dirty="0">
                <a:latin typeface="Times New Roman" panose="02020603050405020304" pitchFamily="18" charset="0"/>
                <a:ea typeface="宋体" panose="02010600030101010101" pitchFamily="2" charset="-122"/>
              </a:rPr>
              <a:t>算术表达式</a:t>
            </a:r>
            <a:r>
              <a:rPr lang="en-US" altLang="zh-CN" sz="1600" kern="100" dirty="0">
                <a:latin typeface="Times New Roman" panose="02020603050405020304" pitchFamily="18" charset="0"/>
                <a:ea typeface="宋体" panose="02010600030101010101" pitchFamily="2" charset="-122"/>
              </a:rPr>
              <a:t>&gt;&lt;</a:t>
            </a:r>
            <a:r>
              <a:rPr lang="zh-CN" altLang="zh-CN" sz="1600" kern="100" dirty="0">
                <a:latin typeface="Times New Roman" panose="02020603050405020304" pitchFamily="18" charset="0"/>
                <a:ea typeface="宋体" panose="02010600030101010101" pitchFamily="2" charset="-122"/>
              </a:rPr>
              <a:t>关系运算符</a:t>
            </a:r>
            <a:r>
              <a:rPr lang="en-US" altLang="zh-CN" sz="1600" kern="100" dirty="0">
                <a:latin typeface="Times New Roman" panose="02020603050405020304" pitchFamily="18" charset="0"/>
                <a:ea typeface="宋体" panose="02010600030101010101" pitchFamily="2" charset="-122"/>
              </a:rPr>
              <a:t>&gt;&lt;</a:t>
            </a:r>
            <a:r>
              <a:rPr lang="zh-CN" altLang="zh-CN" sz="1600" kern="100" dirty="0">
                <a:latin typeface="Times New Roman" panose="02020603050405020304" pitchFamily="18" charset="0"/>
                <a:ea typeface="宋体" panose="02010600030101010101" pitchFamily="2" charset="-122"/>
              </a:rPr>
              <a:t>算术表达式</a:t>
            </a:r>
            <a:r>
              <a:rPr lang="en-US" altLang="zh-CN" sz="1600" kern="100" dirty="0">
                <a:latin typeface="Times New Roman" panose="02020603050405020304" pitchFamily="18" charset="0"/>
                <a:ea typeface="宋体" panose="02010600030101010101" pitchFamily="2" charset="-122"/>
              </a:rPr>
              <a:t>&gt;</a:t>
            </a:r>
            <a:endParaRPr lang="zh-CN" altLang="zh-CN" sz="1600" kern="100" dirty="0">
              <a:latin typeface="Times New Roman" panose="02020603050405020304" pitchFamily="18" charset="0"/>
              <a:ea typeface="宋体" panose="02010600030101010101" pitchFamily="2" charset="-122"/>
            </a:endParaRPr>
          </a:p>
        </p:txBody>
      </p:sp>
      <p:sp>
        <p:nvSpPr>
          <p:cNvPr id="10" name="矩形 9"/>
          <p:cNvSpPr/>
          <p:nvPr/>
        </p:nvSpPr>
        <p:spPr>
          <a:xfrm>
            <a:off x="630215" y="1872797"/>
            <a:ext cx="2411760" cy="2308324"/>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zh-CN" altLang="en-US" sz="1600" dirty="0"/>
              <a:t>算术表达式文法：</a:t>
            </a:r>
            <a:endParaRPr lang="en-US" altLang="zh-CN" sz="1600" dirty="0"/>
          </a:p>
          <a:p>
            <a:r>
              <a:rPr lang="zh-CN" altLang="en-US" sz="1600" dirty="0"/>
              <a:t>（</a:t>
            </a:r>
            <a:r>
              <a:rPr lang="en-US" altLang="zh-CN" sz="1600" dirty="0"/>
              <a:t>1</a:t>
            </a:r>
            <a:r>
              <a:rPr lang="zh-CN" altLang="en-US" sz="1600" dirty="0"/>
              <a:t>）	</a:t>
            </a:r>
            <a:r>
              <a:rPr lang="en-US" altLang="zh-CN" sz="1600" dirty="0"/>
              <a:t>E→E</a:t>
            </a:r>
            <a:r>
              <a:rPr lang="en-US" altLang="zh-CN" sz="1600" baseline="-25000" dirty="0"/>
              <a:t>1</a:t>
            </a:r>
            <a:r>
              <a:rPr lang="en-US" altLang="zh-CN" sz="1600" dirty="0"/>
              <a:t>+T</a:t>
            </a:r>
          </a:p>
          <a:p>
            <a:r>
              <a:rPr lang="zh-CN" altLang="en-US" sz="1600" dirty="0"/>
              <a:t>（</a:t>
            </a:r>
            <a:r>
              <a:rPr lang="en-US" altLang="zh-CN" sz="1600" dirty="0"/>
              <a:t>2</a:t>
            </a:r>
            <a:r>
              <a:rPr lang="zh-CN" altLang="en-US" sz="1600" dirty="0"/>
              <a:t>）	</a:t>
            </a:r>
            <a:r>
              <a:rPr lang="en-US" altLang="zh-CN" sz="1600" dirty="0"/>
              <a:t>E→T</a:t>
            </a:r>
          </a:p>
          <a:p>
            <a:r>
              <a:rPr lang="zh-CN" altLang="en-US" sz="1600" dirty="0"/>
              <a:t>（</a:t>
            </a:r>
            <a:r>
              <a:rPr lang="en-US" altLang="zh-CN" sz="1600" dirty="0"/>
              <a:t>3</a:t>
            </a:r>
            <a:r>
              <a:rPr lang="zh-CN" altLang="en-US" sz="1600" dirty="0"/>
              <a:t>）    </a:t>
            </a:r>
            <a:r>
              <a:rPr lang="en-US" altLang="zh-CN" sz="1600" dirty="0"/>
              <a:t>T→T</a:t>
            </a:r>
            <a:r>
              <a:rPr lang="en-US" altLang="zh-CN" sz="1600" baseline="-25000" dirty="0"/>
              <a:t>1</a:t>
            </a:r>
            <a:r>
              <a:rPr lang="en-US" altLang="zh-CN" sz="1600" dirty="0"/>
              <a:t>*F</a:t>
            </a:r>
          </a:p>
          <a:p>
            <a:r>
              <a:rPr lang="zh-CN" altLang="en-US" sz="1600" dirty="0"/>
              <a:t>（</a:t>
            </a:r>
            <a:r>
              <a:rPr lang="en-US" altLang="zh-CN" sz="1600" dirty="0"/>
              <a:t>4</a:t>
            </a:r>
            <a:r>
              <a:rPr lang="zh-CN" altLang="en-US" sz="1600" dirty="0"/>
              <a:t>）	</a:t>
            </a:r>
            <a:r>
              <a:rPr lang="en-US" altLang="zh-CN" sz="1600" dirty="0"/>
              <a:t>T→F</a:t>
            </a:r>
          </a:p>
          <a:p>
            <a:r>
              <a:rPr lang="zh-CN" altLang="en-US" sz="1600" dirty="0"/>
              <a:t>（</a:t>
            </a:r>
            <a:r>
              <a:rPr lang="en-US" altLang="zh-CN" sz="1600" dirty="0"/>
              <a:t>5</a:t>
            </a:r>
            <a:r>
              <a:rPr lang="zh-CN" altLang="en-US" sz="1600" dirty="0"/>
              <a:t>）	</a:t>
            </a:r>
            <a:r>
              <a:rPr lang="en-US" altLang="zh-CN" sz="1600" dirty="0"/>
              <a:t>F→ P</a:t>
            </a:r>
          </a:p>
          <a:p>
            <a:r>
              <a:rPr lang="zh-CN" altLang="en-US" sz="1600" dirty="0"/>
              <a:t>（</a:t>
            </a:r>
            <a:r>
              <a:rPr lang="en-US" altLang="zh-CN" sz="1600" dirty="0"/>
              <a:t>6</a:t>
            </a:r>
            <a:r>
              <a:rPr lang="zh-CN" altLang="en-US" sz="1600" dirty="0"/>
              <a:t>）	</a:t>
            </a:r>
            <a:r>
              <a:rPr lang="en-US" altLang="zh-CN" sz="1600" dirty="0"/>
              <a:t>F→ -P</a:t>
            </a:r>
          </a:p>
          <a:p>
            <a:r>
              <a:rPr lang="zh-CN" altLang="en-US" sz="1600" dirty="0"/>
              <a:t>（</a:t>
            </a:r>
            <a:r>
              <a:rPr lang="en-US" altLang="zh-CN" sz="1600" dirty="0"/>
              <a:t>7</a:t>
            </a:r>
            <a:r>
              <a:rPr lang="zh-CN" altLang="en-US" sz="1600" dirty="0"/>
              <a:t>）	</a:t>
            </a:r>
            <a:r>
              <a:rPr lang="en-US" altLang="zh-CN" sz="1600" dirty="0" err="1"/>
              <a:t>P→id</a:t>
            </a:r>
            <a:endParaRPr lang="en-US" altLang="zh-CN" sz="1600" dirty="0"/>
          </a:p>
          <a:p>
            <a:r>
              <a:rPr lang="zh-CN" altLang="en-US" sz="1600" dirty="0"/>
              <a:t>（</a:t>
            </a:r>
            <a:r>
              <a:rPr lang="en-US" altLang="zh-CN" sz="1600" dirty="0"/>
              <a:t>8</a:t>
            </a:r>
            <a:r>
              <a:rPr lang="zh-CN" altLang="en-US" sz="1600" dirty="0"/>
              <a:t>）	</a:t>
            </a:r>
            <a:r>
              <a:rPr lang="en-US" altLang="zh-CN" sz="1600" dirty="0"/>
              <a:t>P→(E)</a:t>
            </a:r>
          </a:p>
        </p:txBody>
      </p:sp>
    </p:spTree>
    <p:extLst>
      <p:ext uri="{BB962C8B-B14F-4D97-AF65-F5344CB8AC3E}">
        <p14:creationId xmlns:p14="http://schemas.microsoft.com/office/powerpoint/2010/main" val="132958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3" grpId="0"/>
      <p:bldP spid="6" grpId="0" animBg="1"/>
      <p:bldP spid="3" grpId="0" animBg="1"/>
      <p:bldP spid="10"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23528" y="195486"/>
            <a:ext cx="8229600" cy="1462559"/>
          </a:xfrm>
        </p:spPr>
        <p:txBody>
          <a:bodyPr>
            <a:normAutofit fontScale="70000" lnSpcReduction="20000"/>
          </a:bodyPr>
          <a:lstStyle/>
          <a:p>
            <a:pPr marL="0" indent="0">
              <a:lnSpc>
                <a:spcPct val="120000"/>
              </a:lnSpc>
              <a:spcBef>
                <a:spcPts val="0"/>
              </a:spcBef>
              <a:buFontTx/>
              <a:buNone/>
              <a:defRPr/>
            </a:pPr>
            <a:r>
              <a:rPr lang="en-US" altLang="zh-CN" sz="3400" dirty="0"/>
              <a:t>4</a:t>
            </a:r>
            <a:r>
              <a:rPr lang="zh-CN" altLang="en-US" sz="3400" dirty="0"/>
              <a:t>、</a:t>
            </a:r>
            <a:r>
              <a:rPr lang="zh-CN" altLang="zh-CN" sz="3400" dirty="0"/>
              <a:t>布尔表达式的语义处理有两种方式</a:t>
            </a:r>
            <a:r>
              <a:rPr lang="zh-CN" altLang="en-US" sz="3400" dirty="0"/>
              <a:t>：</a:t>
            </a:r>
            <a:endParaRPr lang="en-US" altLang="zh-CN" sz="3400" dirty="0"/>
          </a:p>
          <a:p>
            <a:pPr marL="0" indent="0">
              <a:lnSpc>
                <a:spcPct val="120000"/>
              </a:lnSpc>
              <a:spcBef>
                <a:spcPts val="0"/>
              </a:spcBef>
              <a:buFontTx/>
              <a:buNone/>
              <a:defRPr/>
            </a:pPr>
            <a:endParaRPr lang="en-US" altLang="zh-CN" sz="2800" dirty="0"/>
          </a:p>
          <a:p>
            <a:pPr marL="0" indent="0">
              <a:lnSpc>
                <a:spcPct val="120000"/>
              </a:lnSpc>
              <a:spcBef>
                <a:spcPts val="0"/>
              </a:spcBef>
              <a:buFontTx/>
              <a:buNone/>
              <a:defRPr/>
            </a:pPr>
            <a:r>
              <a:rPr lang="zh-CN" altLang="en-US" sz="2900" dirty="0"/>
              <a:t>（</a:t>
            </a:r>
            <a:r>
              <a:rPr lang="en-US" altLang="zh-CN" sz="2900" dirty="0"/>
              <a:t>1</a:t>
            </a:r>
            <a:r>
              <a:rPr lang="zh-CN" altLang="en-US" sz="2900" dirty="0"/>
              <a:t>）按照</a:t>
            </a:r>
            <a:r>
              <a:rPr lang="zh-CN" altLang="zh-CN" sz="2900" b="1" dirty="0">
                <a:solidFill>
                  <a:srgbClr val="FF0000"/>
                </a:solidFill>
              </a:rPr>
              <a:t>算术表达式的通用处理方法</a:t>
            </a:r>
            <a:r>
              <a:rPr lang="zh-CN" altLang="zh-CN" sz="2900" dirty="0"/>
              <a:t>，对布尔表达式中的每个项和因子都计算其布尔值，最后求得整个表达式的布尔值。</a:t>
            </a:r>
            <a:endParaRPr lang="zh-CN" altLang="en-US" sz="2900" dirty="0"/>
          </a:p>
        </p:txBody>
      </p:sp>
      <p:sp>
        <p:nvSpPr>
          <p:cNvPr id="2" name="矩形 1"/>
          <p:cNvSpPr/>
          <p:nvPr/>
        </p:nvSpPr>
        <p:spPr>
          <a:xfrm>
            <a:off x="899592" y="2037086"/>
            <a:ext cx="2520280" cy="1345753"/>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90000"/>
              </a:lnSpc>
              <a:buFontTx/>
              <a:buNone/>
              <a:defRPr/>
            </a:pPr>
            <a:r>
              <a:rPr lang="en-US" altLang="zh-CN" kern="0" dirty="0">
                <a:solidFill>
                  <a:srgbClr val="000000"/>
                </a:solidFill>
              </a:rPr>
              <a:t>1 ||</a:t>
            </a:r>
            <a:r>
              <a:rPr lang="zh-CN" altLang="zh-CN" kern="0" dirty="0">
                <a:solidFill>
                  <a:srgbClr val="000000"/>
                </a:solidFill>
              </a:rPr>
              <a:t>（</a:t>
            </a:r>
            <a:r>
              <a:rPr lang="en-US" altLang="zh-CN" kern="0" dirty="0">
                <a:solidFill>
                  <a:srgbClr val="000000"/>
                </a:solidFill>
              </a:rPr>
              <a:t>!0 &amp;&amp; 0</a:t>
            </a:r>
            <a:r>
              <a:rPr lang="zh-CN" altLang="zh-CN" kern="0" dirty="0">
                <a:solidFill>
                  <a:srgbClr val="000000"/>
                </a:solidFill>
              </a:rPr>
              <a:t>）</a:t>
            </a:r>
            <a:r>
              <a:rPr lang="en-US" altLang="zh-CN" kern="0" dirty="0">
                <a:solidFill>
                  <a:srgbClr val="000000"/>
                </a:solidFill>
              </a:rPr>
              <a:t>|| 0</a:t>
            </a:r>
            <a:endParaRPr lang="zh-CN" altLang="zh-CN" kern="0" dirty="0">
              <a:solidFill>
                <a:srgbClr val="000000"/>
              </a:solidFill>
            </a:endParaRPr>
          </a:p>
          <a:p>
            <a:pPr>
              <a:lnSpc>
                <a:spcPct val="90000"/>
              </a:lnSpc>
              <a:buFontTx/>
              <a:buNone/>
              <a:defRPr/>
            </a:pPr>
            <a:r>
              <a:rPr lang="zh-CN" altLang="zh-CN" kern="0" dirty="0">
                <a:solidFill>
                  <a:srgbClr val="000000"/>
                </a:solidFill>
              </a:rPr>
              <a:t>＝</a:t>
            </a:r>
            <a:r>
              <a:rPr lang="en-US" altLang="zh-CN" kern="0" dirty="0">
                <a:solidFill>
                  <a:srgbClr val="000000"/>
                </a:solidFill>
              </a:rPr>
              <a:t>1 ||</a:t>
            </a:r>
            <a:r>
              <a:rPr lang="zh-CN" altLang="zh-CN" kern="0" dirty="0">
                <a:solidFill>
                  <a:srgbClr val="000000"/>
                </a:solidFill>
              </a:rPr>
              <a:t>（</a:t>
            </a:r>
            <a:r>
              <a:rPr lang="en-US" altLang="zh-CN" kern="0" dirty="0">
                <a:solidFill>
                  <a:srgbClr val="000000"/>
                </a:solidFill>
              </a:rPr>
              <a:t>1 &amp;&amp; 0</a:t>
            </a:r>
            <a:r>
              <a:rPr lang="zh-CN" altLang="zh-CN" kern="0" dirty="0">
                <a:solidFill>
                  <a:srgbClr val="000000"/>
                </a:solidFill>
              </a:rPr>
              <a:t>）</a:t>
            </a:r>
            <a:r>
              <a:rPr lang="en-US" altLang="zh-CN" kern="0" dirty="0">
                <a:solidFill>
                  <a:srgbClr val="000000"/>
                </a:solidFill>
              </a:rPr>
              <a:t>|| 0</a:t>
            </a:r>
            <a:endParaRPr lang="zh-CN" altLang="zh-CN" kern="0" dirty="0">
              <a:solidFill>
                <a:srgbClr val="000000"/>
              </a:solidFill>
            </a:endParaRPr>
          </a:p>
          <a:p>
            <a:pPr>
              <a:lnSpc>
                <a:spcPct val="90000"/>
              </a:lnSpc>
              <a:buFontTx/>
              <a:buNone/>
              <a:defRPr/>
            </a:pPr>
            <a:r>
              <a:rPr lang="zh-CN" altLang="zh-CN" kern="0" dirty="0">
                <a:solidFill>
                  <a:srgbClr val="000000"/>
                </a:solidFill>
              </a:rPr>
              <a:t>＝</a:t>
            </a:r>
            <a:r>
              <a:rPr lang="en-US" altLang="zh-CN" kern="0" dirty="0">
                <a:solidFill>
                  <a:srgbClr val="000000"/>
                </a:solidFill>
              </a:rPr>
              <a:t>1 || 0 || 0</a:t>
            </a:r>
            <a:endParaRPr lang="zh-CN" altLang="zh-CN" kern="0" dirty="0">
              <a:solidFill>
                <a:srgbClr val="000000"/>
              </a:solidFill>
            </a:endParaRPr>
          </a:p>
          <a:p>
            <a:pPr>
              <a:lnSpc>
                <a:spcPct val="90000"/>
              </a:lnSpc>
              <a:buFontTx/>
              <a:buNone/>
              <a:defRPr/>
            </a:pPr>
            <a:r>
              <a:rPr lang="zh-CN" altLang="zh-CN" kern="0" dirty="0">
                <a:solidFill>
                  <a:srgbClr val="000000"/>
                </a:solidFill>
              </a:rPr>
              <a:t>＝</a:t>
            </a:r>
            <a:r>
              <a:rPr lang="en-US" altLang="zh-CN" kern="0" dirty="0">
                <a:solidFill>
                  <a:srgbClr val="000000"/>
                </a:solidFill>
              </a:rPr>
              <a:t>1 || 0</a:t>
            </a:r>
            <a:endParaRPr lang="zh-CN" altLang="zh-CN" kern="0" dirty="0">
              <a:solidFill>
                <a:srgbClr val="000000"/>
              </a:solidFill>
            </a:endParaRPr>
          </a:p>
          <a:p>
            <a:pPr>
              <a:lnSpc>
                <a:spcPct val="90000"/>
              </a:lnSpc>
              <a:buFontTx/>
              <a:buNone/>
              <a:defRPr/>
            </a:pPr>
            <a:r>
              <a:rPr lang="zh-CN" altLang="zh-CN" kern="0" dirty="0">
                <a:solidFill>
                  <a:srgbClr val="000000"/>
                </a:solidFill>
              </a:rPr>
              <a:t>＝</a:t>
            </a:r>
            <a:r>
              <a:rPr lang="en-US" altLang="zh-CN" kern="0" dirty="0">
                <a:solidFill>
                  <a:srgbClr val="000000"/>
                </a:solidFill>
              </a:rPr>
              <a:t>1</a:t>
            </a:r>
            <a:endParaRPr lang="zh-CN" altLang="zh-CN" kern="0" dirty="0">
              <a:solidFill>
                <a:srgbClr val="000000"/>
              </a:solidFill>
            </a:endParaRPr>
          </a:p>
        </p:txBody>
      </p:sp>
      <p:sp>
        <p:nvSpPr>
          <p:cNvPr id="4" name="Rectangle 3"/>
          <p:cNvSpPr txBox="1">
            <a:spLocks noChangeArrowheads="1"/>
          </p:cNvSpPr>
          <p:nvPr/>
        </p:nvSpPr>
        <p:spPr bwMode="auto">
          <a:xfrm>
            <a:off x="4805148" y="3366491"/>
            <a:ext cx="3526482" cy="1395766"/>
          </a:xfrm>
          <a:prstGeom prst="rect">
            <a:avLst/>
          </a:prstGeom>
          <a:ln/>
        </p:spPr>
        <p:style>
          <a:lnRef idx="2">
            <a:schemeClr val="accent1"/>
          </a:lnRef>
          <a:fillRef idx="1">
            <a:schemeClr val="lt1"/>
          </a:fillRef>
          <a:effectRef idx="0">
            <a:schemeClr val="accent1"/>
          </a:effectRef>
          <a:fontRef idx="minor">
            <a:schemeClr val="dk1"/>
          </a:fontRef>
        </p:style>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gn="just">
              <a:lnSpc>
                <a:spcPct val="100000"/>
              </a:lnSpc>
              <a:spcBef>
                <a:spcPts val="0"/>
              </a:spcBef>
              <a:defRPr/>
            </a:pPr>
            <a:r>
              <a:rPr lang="en-US" altLang="zh-CN" sz="2000" b="1" kern="0" dirty="0">
                <a:solidFill>
                  <a:srgbClr val="FF0000"/>
                </a:solidFill>
                <a:latin typeface="宋体" panose="02010600030101010101" pitchFamily="2" charset="-122"/>
                <a:ea typeface="宋体" panose="02010600030101010101" pitchFamily="2" charset="-122"/>
              </a:rPr>
              <a:t>A || B &amp;&amp;</a:t>
            </a:r>
            <a:r>
              <a:rPr lang="en-US" altLang="zh-CN" sz="2000" b="1" kern="0" dirty="0">
                <a:solidFill>
                  <a:srgbClr val="FF0000"/>
                </a:solidFill>
                <a:latin typeface="宋体" panose="02010600030101010101" pitchFamily="2" charset="-122"/>
                <a:ea typeface="宋体" panose="02010600030101010101" pitchFamily="2" charset="-122"/>
                <a:sym typeface="Symbol" pitchFamily="18" charset="2"/>
              </a:rPr>
              <a:t> </a:t>
            </a:r>
            <a:r>
              <a:rPr lang="en-US" altLang="zh-CN" sz="2000" b="1" kern="0" dirty="0">
                <a:solidFill>
                  <a:srgbClr val="0000FF"/>
                </a:solidFill>
                <a:latin typeface="宋体" panose="02010600030101010101" pitchFamily="2" charset="-122"/>
                <a:ea typeface="宋体" panose="02010600030101010101" pitchFamily="2" charset="-122"/>
                <a:sym typeface="Symbol" pitchFamily="18" charset="2"/>
              </a:rPr>
              <a:t>C==D </a:t>
            </a:r>
            <a:r>
              <a:rPr lang="zh-CN" altLang="en-US" sz="2000" kern="0" dirty="0">
                <a:latin typeface="宋体" panose="02010600030101010101" pitchFamily="2" charset="-122"/>
                <a:ea typeface="宋体" panose="02010600030101010101" pitchFamily="2" charset="-122"/>
              </a:rPr>
              <a:t>翻译为：</a:t>
            </a:r>
          </a:p>
          <a:p>
            <a:pPr algn="just">
              <a:lnSpc>
                <a:spcPct val="100000"/>
              </a:lnSpc>
              <a:spcBef>
                <a:spcPts val="0"/>
              </a:spcBef>
              <a:buFont typeface="Wingdings" pitchFamily="2" charset="2"/>
              <a:buNone/>
              <a:defRPr/>
            </a:pPr>
            <a:r>
              <a:rPr lang="zh-CN" altLang="en-US" sz="2000" kern="0" dirty="0">
                <a:latin typeface="宋体" panose="02010600030101010101" pitchFamily="2" charset="-122"/>
                <a:ea typeface="宋体" panose="02010600030101010101" pitchFamily="2" charset="-122"/>
              </a:rPr>
              <a:t>	(1)  (</a:t>
            </a:r>
            <a:r>
              <a:rPr lang="en-US" altLang="zh-CN" sz="2000" kern="0" dirty="0">
                <a:solidFill>
                  <a:srgbClr val="0000FF"/>
                </a:solidFill>
                <a:latin typeface="宋体" panose="02010600030101010101" pitchFamily="2" charset="-122"/>
                <a:ea typeface="宋体" panose="02010600030101010101" pitchFamily="2" charset="-122"/>
              </a:rPr>
              <a:t>=</a:t>
            </a:r>
            <a:r>
              <a:rPr lang="zh-CN" altLang="en-US" sz="2000" kern="0" dirty="0">
                <a:solidFill>
                  <a:srgbClr val="0000FF"/>
                </a:solidFill>
                <a:latin typeface="宋体" panose="02010600030101010101" pitchFamily="2" charset="-122"/>
                <a:ea typeface="宋体" panose="02010600030101010101" pitchFamily="2" charset="-122"/>
              </a:rPr>
              <a:t>=, </a:t>
            </a:r>
            <a:r>
              <a:rPr lang="en-US" altLang="zh-CN" sz="2000" kern="0" dirty="0">
                <a:solidFill>
                  <a:srgbClr val="0000FF"/>
                </a:solidFill>
                <a:latin typeface="宋体" panose="02010600030101010101" pitchFamily="2" charset="-122"/>
                <a:ea typeface="宋体" panose="02010600030101010101" pitchFamily="2" charset="-122"/>
              </a:rPr>
              <a:t>C, D, T</a:t>
            </a:r>
            <a:r>
              <a:rPr lang="en-US" altLang="zh-CN" sz="2000" kern="0" baseline="-25000" dirty="0">
                <a:solidFill>
                  <a:srgbClr val="0000FF"/>
                </a:solidFill>
                <a:latin typeface="宋体" panose="02010600030101010101" pitchFamily="2" charset="-122"/>
                <a:ea typeface="宋体" panose="02010600030101010101" pitchFamily="2" charset="-122"/>
              </a:rPr>
              <a:t>1</a:t>
            </a:r>
            <a:r>
              <a:rPr lang="en-US" altLang="zh-CN" sz="2000" kern="0" dirty="0">
                <a:latin typeface="宋体" panose="02010600030101010101" pitchFamily="2" charset="-122"/>
                <a:ea typeface="宋体" panose="02010600030101010101" pitchFamily="2" charset="-122"/>
              </a:rPr>
              <a:t>)</a:t>
            </a:r>
          </a:p>
          <a:p>
            <a:pPr algn="just">
              <a:lnSpc>
                <a:spcPct val="100000"/>
              </a:lnSpc>
              <a:spcBef>
                <a:spcPts val="0"/>
              </a:spcBef>
              <a:buFont typeface="Wingdings" pitchFamily="2" charset="2"/>
              <a:buNone/>
              <a:defRPr/>
            </a:pPr>
            <a:r>
              <a:rPr lang="en-US" altLang="zh-CN" sz="2000" kern="0" dirty="0">
                <a:latin typeface="宋体" panose="02010600030101010101" pitchFamily="2" charset="-122"/>
                <a:ea typeface="宋体" panose="02010600030101010101" pitchFamily="2" charset="-122"/>
              </a:rPr>
              <a:t>	(2)  (&amp;&amp;, B, T</a:t>
            </a:r>
            <a:r>
              <a:rPr lang="en-US" altLang="zh-CN" sz="2000" kern="0" baseline="-25000" dirty="0">
                <a:latin typeface="宋体" panose="02010600030101010101" pitchFamily="2" charset="-122"/>
                <a:ea typeface="宋体" panose="02010600030101010101" pitchFamily="2" charset="-122"/>
              </a:rPr>
              <a:t>1</a:t>
            </a:r>
            <a:r>
              <a:rPr lang="en-US" altLang="zh-CN" sz="2000" kern="0" dirty="0">
                <a:latin typeface="宋体" panose="02010600030101010101" pitchFamily="2" charset="-122"/>
                <a:ea typeface="宋体" panose="02010600030101010101" pitchFamily="2" charset="-122"/>
              </a:rPr>
              <a:t>, T</a:t>
            </a:r>
            <a:r>
              <a:rPr lang="en-US" altLang="zh-CN" sz="2000" kern="0" baseline="-25000" dirty="0">
                <a:latin typeface="宋体" panose="02010600030101010101" pitchFamily="2" charset="-122"/>
                <a:ea typeface="宋体" panose="02010600030101010101" pitchFamily="2" charset="-122"/>
              </a:rPr>
              <a:t>2</a:t>
            </a:r>
            <a:r>
              <a:rPr lang="en-US" altLang="zh-CN" sz="2000" kern="0" dirty="0">
                <a:latin typeface="宋体" panose="02010600030101010101" pitchFamily="2" charset="-122"/>
                <a:ea typeface="宋体" panose="02010600030101010101" pitchFamily="2" charset="-122"/>
              </a:rPr>
              <a:t>)</a:t>
            </a:r>
          </a:p>
          <a:p>
            <a:pPr algn="just">
              <a:lnSpc>
                <a:spcPct val="100000"/>
              </a:lnSpc>
              <a:spcBef>
                <a:spcPts val="0"/>
              </a:spcBef>
              <a:buFont typeface="Wingdings" pitchFamily="2" charset="2"/>
              <a:buNone/>
              <a:defRPr/>
            </a:pPr>
            <a:r>
              <a:rPr lang="en-US" altLang="zh-CN" sz="2000" kern="0" dirty="0">
                <a:latin typeface="宋体" panose="02010600030101010101" pitchFamily="2" charset="-122"/>
                <a:ea typeface="宋体" panose="02010600030101010101" pitchFamily="2" charset="-122"/>
              </a:rPr>
              <a:t>	(3)  (||, A, T</a:t>
            </a:r>
            <a:r>
              <a:rPr lang="en-US" altLang="zh-CN" sz="2000" kern="0" baseline="-25000" dirty="0">
                <a:latin typeface="宋体" panose="02010600030101010101" pitchFamily="2" charset="-122"/>
                <a:ea typeface="宋体" panose="02010600030101010101" pitchFamily="2" charset="-122"/>
              </a:rPr>
              <a:t>2</a:t>
            </a:r>
            <a:r>
              <a:rPr lang="en-US" altLang="zh-CN" sz="2000" kern="0" dirty="0">
                <a:latin typeface="宋体" panose="02010600030101010101" pitchFamily="2" charset="-122"/>
                <a:ea typeface="宋体" panose="02010600030101010101" pitchFamily="2" charset="-122"/>
              </a:rPr>
              <a:t>, T</a:t>
            </a:r>
            <a:r>
              <a:rPr lang="en-US" altLang="zh-CN" sz="2000" kern="0" baseline="-25000" dirty="0">
                <a:latin typeface="宋体" panose="02010600030101010101" pitchFamily="2" charset="-122"/>
                <a:ea typeface="宋体" panose="02010600030101010101" pitchFamily="2" charset="-122"/>
              </a:rPr>
              <a:t>3</a:t>
            </a:r>
            <a:r>
              <a:rPr lang="en-US" altLang="zh-CN" sz="2000" kern="0" dirty="0">
                <a:latin typeface="宋体" panose="02010600030101010101" pitchFamily="2" charset="-122"/>
                <a:ea typeface="宋体" panose="02010600030101010101" pitchFamily="2" charset="-122"/>
              </a:rPr>
              <a:t>)</a:t>
            </a:r>
          </a:p>
        </p:txBody>
      </p:sp>
      <p:sp>
        <p:nvSpPr>
          <p:cNvPr id="7" name="Rectangle 3"/>
          <p:cNvSpPr txBox="1">
            <a:spLocks noChangeArrowheads="1"/>
          </p:cNvSpPr>
          <p:nvPr/>
        </p:nvSpPr>
        <p:spPr bwMode="auto">
          <a:xfrm>
            <a:off x="4788024" y="1658045"/>
            <a:ext cx="3526482" cy="1440159"/>
          </a:xfrm>
          <a:prstGeom prst="rect">
            <a:avLst/>
          </a:prstGeom>
          <a:ln/>
        </p:spPr>
        <p:style>
          <a:lnRef idx="2">
            <a:schemeClr val="accent1"/>
          </a:lnRef>
          <a:fillRef idx="1">
            <a:schemeClr val="lt1"/>
          </a:fillRef>
          <a:effectRef idx="0">
            <a:schemeClr val="accent1"/>
          </a:effectRef>
          <a:fontRef idx="minor">
            <a:schemeClr val="dk1"/>
          </a:fontRef>
        </p:style>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nSpc>
                <a:spcPct val="85000"/>
              </a:lnSpc>
              <a:defRPr/>
            </a:pPr>
            <a:r>
              <a:rPr lang="en-US" altLang="zh-CN" sz="2000" b="1" kern="0" dirty="0">
                <a:solidFill>
                  <a:srgbClr val="FF0000"/>
                </a:solidFill>
                <a:latin typeface="宋体" panose="02010600030101010101" pitchFamily="2" charset="-122"/>
                <a:ea typeface="宋体" panose="02010600030101010101" pitchFamily="2" charset="-122"/>
              </a:rPr>
              <a:t>a &amp;&amp; (b || !c) </a:t>
            </a:r>
            <a:r>
              <a:rPr lang="zh-CN" altLang="en-US" sz="2000" kern="0" dirty="0">
                <a:latin typeface="宋体" panose="02010600030101010101" pitchFamily="2" charset="-122"/>
                <a:ea typeface="宋体" panose="02010600030101010101" pitchFamily="2" charset="-122"/>
              </a:rPr>
              <a:t>翻译为：</a:t>
            </a:r>
          </a:p>
          <a:p>
            <a:pPr>
              <a:lnSpc>
                <a:spcPct val="85000"/>
              </a:lnSpc>
              <a:buFont typeface="Wingdings" pitchFamily="2" charset="2"/>
              <a:buNone/>
              <a:defRPr/>
            </a:pPr>
            <a:r>
              <a:rPr lang="en-US" altLang="zh-CN" sz="2000" kern="0" dirty="0">
                <a:latin typeface="宋体" panose="02010600030101010101" pitchFamily="2" charset="-122"/>
                <a:ea typeface="宋体" panose="02010600030101010101" pitchFamily="2" charset="-122"/>
              </a:rPr>
              <a:t>	 (1) (!,  c, _ , T</a:t>
            </a:r>
            <a:r>
              <a:rPr lang="en-US" altLang="zh-CN" sz="2000" kern="0" baseline="-30000" dirty="0">
                <a:latin typeface="宋体" panose="02010600030101010101" pitchFamily="2" charset="-122"/>
                <a:ea typeface="宋体" panose="02010600030101010101" pitchFamily="2" charset="-122"/>
              </a:rPr>
              <a:t>1</a:t>
            </a:r>
            <a:r>
              <a:rPr lang="en-US" altLang="zh-CN" sz="2000" kern="0" dirty="0">
                <a:latin typeface="宋体" panose="02010600030101010101" pitchFamily="2" charset="-122"/>
                <a:ea typeface="宋体" panose="02010600030101010101" pitchFamily="2" charset="-122"/>
              </a:rPr>
              <a:t> )</a:t>
            </a:r>
          </a:p>
          <a:p>
            <a:pPr>
              <a:lnSpc>
                <a:spcPct val="85000"/>
              </a:lnSpc>
              <a:buFont typeface="Wingdings" pitchFamily="2" charset="2"/>
              <a:buNone/>
              <a:defRPr/>
            </a:pPr>
            <a:r>
              <a:rPr lang="en-US" altLang="zh-CN" sz="2000" kern="0" dirty="0">
                <a:latin typeface="宋体" panose="02010600030101010101" pitchFamily="2" charset="-122"/>
                <a:ea typeface="宋体" panose="02010600030101010101" pitchFamily="2" charset="-122"/>
              </a:rPr>
              <a:t>	 (2) (||, b ,T</a:t>
            </a:r>
            <a:r>
              <a:rPr lang="en-US" altLang="zh-CN" sz="2000" kern="0" baseline="-30000" dirty="0">
                <a:latin typeface="宋体" panose="02010600030101010101" pitchFamily="2" charset="-122"/>
                <a:ea typeface="宋体" panose="02010600030101010101" pitchFamily="2" charset="-122"/>
              </a:rPr>
              <a:t>1</a:t>
            </a:r>
            <a:r>
              <a:rPr lang="zh-CN" altLang="en-US" sz="2000" kern="0" baseline="-30000" dirty="0">
                <a:latin typeface="宋体" panose="02010600030101010101" pitchFamily="2" charset="-122"/>
                <a:ea typeface="宋体" panose="02010600030101010101" pitchFamily="2" charset="-122"/>
              </a:rPr>
              <a:t>，</a:t>
            </a:r>
            <a:r>
              <a:rPr lang="en-US" altLang="zh-CN" sz="2000" kern="0" dirty="0">
                <a:latin typeface="宋体" panose="02010600030101010101" pitchFamily="2" charset="-122"/>
                <a:ea typeface="宋体" panose="02010600030101010101" pitchFamily="2" charset="-122"/>
              </a:rPr>
              <a:t>T</a:t>
            </a:r>
            <a:r>
              <a:rPr lang="en-US" altLang="zh-CN" sz="2000" kern="0" baseline="-30000" dirty="0">
                <a:latin typeface="宋体" panose="02010600030101010101" pitchFamily="2" charset="-122"/>
                <a:ea typeface="宋体" panose="02010600030101010101" pitchFamily="2" charset="-122"/>
              </a:rPr>
              <a:t>2</a:t>
            </a:r>
            <a:r>
              <a:rPr lang="en-US" altLang="zh-CN" sz="2000" kern="0" dirty="0">
                <a:latin typeface="宋体" panose="02010600030101010101" pitchFamily="2" charset="-122"/>
                <a:ea typeface="宋体" panose="02010600030101010101" pitchFamily="2" charset="-122"/>
              </a:rPr>
              <a:t> )</a:t>
            </a:r>
          </a:p>
          <a:p>
            <a:pPr algn="just">
              <a:lnSpc>
                <a:spcPct val="85000"/>
              </a:lnSpc>
              <a:buFont typeface="Wingdings" pitchFamily="2" charset="2"/>
              <a:buNone/>
              <a:defRPr/>
            </a:pPr>
            <a:r>
              <a:rPr lang="en-US" altLang="zh-CN" sz="2000" kern="0" dirty="0">
                <a:latin typeface="宋体" panose="02010600030101010101" pitchFamily="2" charset="-122"/>
                <a:ea typeface="宋体" panose="02010600030101010101" pitchFamily="2" charset="-122"/>
              </a:rPr>
              <a:t>	 (3) (&amp;&amp;, a , T</a:t>
            </a:r>
            <a:r>
              <a:rPr lang="en-US" altLang="zh-CN" sz="2000" kern="0" baseline="-30000" dirty="0">
                <a:latin typeface="宋体" panose="02010600030101010101" pitchFamily="2" charset="-122"/>
                <a:ea typeface="宋体" panose="02010600030101010101" pitchFamily="2" charset="-122"/>
              </a:rPr>
              <a:t>2</a:t>
            </a:r>
            <a:r>
              <a:rPr lang="zh-CN" altLang="en-US" sz="2000" kern="0" baseline="-30000" dirty="0">
                <a:latin typeface="宋体" panose="02010600030101010101" pitchFamily="2" charset="-122"/>
                <a:ea typeface="宋体" panose="02010600030101010101" pitchFamily="2" charset="-122"/>
              </a:rPr>
              <a:t>，</a:t>
            </a:r>
            <a:r>
              <a:rPr lang="en-US" altLang="zh-CN" sz="2000" kern="0" dirty="0">
                <a:latin typeface="宋体" panose="02010600030101010101" pitchFamily="2" charset="-122"/>
                <a:ea typeface="宋体" panose="02010600030101010101" pitchFamily="2" charset="-122"/>
              </a:rPr>
              <a:t>T</a:t>
            </a:r>
            <a:r>
              <a:rPr lang="en-US" altLang="zh-CN" sz="2000" kern="0" baseline="-30000" dirty="0">
                <a:latin typeface="宋体" panose="02010600030101010101" pitchFamily="2" charset="-122"/>
                <a:ea typeface="宋体" panose="02010600030101010101" pitchFamily="2" charset="-122"/>
              </a:rPr>
              <a:t>3</a:t>
            </a:r>
            <a:r>
              <a:rPr lang="en-US" altLang="zh-CN" sz="2000" kern="0" dirty="0">
                <a:latin typeface="宋体" panose="02010600030101010101" pitchFamily="2" charset="-122"/>
                <a:ea typeface="宋体" panose="02010600030101010101" pitchFamily="2" charset="-122"/>
              </a:rPr>
              <a:t> )</a:t>
            </a:r>
          </a:p>
          <a:p>
            <a:pPr algn="just">
              <a:lnSpc>
                <a:spcPct val="100000"/>
              </a:lnSpc>
              <a:buFont typeface="Wingdings" pitchFamily="2" charset="2"/>
              <a:buNone/>
              <a:defRPr/>
            </a:pPr>
            <a:endParaRPr lang="en-US" altLang="zh-CN" sz="2000" kern="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80669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
                                            <p:bg/>
                                          </p:spTgt>
                                        </p:tgtEl>
                                        <p:attrNameLst>
                                          <p:attrName>style.visibility</p:attrName>
                                        </p:attrNameLst>
                                      </p:cBhvr>
                                      <p:to>
                                        <p:strVal val="visible"/>
                                      </p:to>
                                    </p:set>
                                    <p:animEffect transition="in" filter="wipe(left)">
                                      <p:cBhvr>
                                        <p:cTn id="11" dur="500"/>
                                        <p:tgtEl>
                                          <p:spTgt spid="7">
                                            <p:bg/>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wipe(left)">
                                      <p:cBhvr>
                                        <p:cTn id="14" dur="500"/>
                                        <p:tgtEl>
                                          <p:spTgt spid="7">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wipe(left)">
                                      <p:cBhvr>
                                        <p:cTn id="19" dur="500"/>
                                        <p:tgtEl>
                                          <p:spTgt spid="7">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wipe(left)">
                                      <p:cBhvr>
                                        <p:cTn id="24" dur="500"/>
                                        <p:tgtEl>
                                          <p:spTgt spid="7">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wipe(left)">
                                      <p:cBhvr>
                                        <p:cTn id="29" dur="500"/>
                                        <p:tgtEl>
                                          <p:spTgt spid="7">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
                                            <p:bg/>
                                          </p:spTgt>
                                        </p:tgtEl>
                                        <p:attrNameLst>
                                          <p:attrName>style.visibility</p:attrName>
                                        </p:attrNameLst>
                                      </p:cBhvr>
                                      <p:to>
                                        <p:strVal val="visible"/>
                                      </p:to>
                                    </p:set>
                                    <p:animEffect transition="in" filter="wipe(left)">
                                      <p:cBhvr>
                                        <p:cTn id="34" dur="500"/>
                                        <p:tgtEl>
                                          <p:spTgt spid="4">
                                            <p:bg/>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left)">
                                      <p:cBhvr>
                                        <p:cTn id="37" dur="500"/>
                                        <p:tgtEl>
                                          <p:spTgt spid="4">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left)">
                                      <p:cBhvr>
                                        <p:cTn id="42" dur="500"/>
                                        <p:tgtEl>
                                          <p:spTgt spid="4">
                                            <p:txEl>
                                              <p:pRg st="1" end="1"/>
                                            </p:txEl>
                                          </p:spTgt>
                                        </p:tgtEl>
                                      </p:cBhvr>
                                    </p:animEffect>
                                  </p:childTnLst>
                                </p:cTn>
                              </p:par>
                            </p:childTnLst>
                          </p:cTn>
                        </p:par>
                      </p:childTnLst>
                    </p:cTn>
                  </p:par>
                  <p:par>
                    <p:cTn id="43" fill="hold">
                      <p:stCondLst>
                        <p:cond delay="indefinite"/>
                      </p:stCondLst>
                      <p:childTnLst>
                        <p:par>
                          <p:cTn id="44" fill="hold" nodeType="after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wipe(left)">
                                      <p:cBhvr>
                                        <p:cTn id="47" dur="500"/>
                                        <p:tgtEl>
                                          <p:spTgt spid="4">
                                            <p:txEl>
                                              <p:pRg st="2" end="2"/>
                                            </p:txEl>
                                          </p:spTgt>
                                        </p:tgtEl>
                                      </p:cBhvr>
                                    </p:animEffect>
                                  </p:childTnLst>
                                </p:cTn>
                              </p:par>
                            </p:childTnLst>
                          </p:cTn>
                        </p:par>
                      </p:childTnLst>
                    </p:cTn>
                  </p:par>
                  <p:par>
                    <p:cTn id="48" fill="hold">
                      <p:stCondLst>
                        <p:cond delay="indefinite"/>
                      </p:stCondLst>
                      <p:childTnLst>
                        <p:par>
                          <p:cTn id="49" fill="hold" nodeType="after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wipe(left)">
                                      <p:cBhvr>
                                        <p:cTn id="5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uiExpand="1" build="p" animBg="1"/>
      <p:bldP spid="7" grpId="0" uiExpand="1" build="p"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486984" y="1497235"/>
            <a:ext cx="7797178" cy="792287"/>
          </a:xfrm>
          <a:prstGeom prst="rect">
            <a:avLst/>
          </a:prstGeom>
          <a:ln/>
        </p:spPr>
        <p:style>
          <a:lnRef idx="2">
            <a:schemeClr val="accent2"/>
          </a:lnRef>
          <a:fillRef idx="1">
            <a:schemeClr val="lt1"/>
          </a:fillRef>
          <a:effectRef idx="0">
            <a:schemeClr val="accent2"/>
          </a:effectRef>
          <a:fontRef idx="minor">
            <a:schemeClr val="dk1"/>
          </a:fontRef>
        </p:style>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spcBef>
                <a:spcPts val="0"/>
              </a:spcBef>
              <a:buNone/>
              <a:defRPr/>
            </a:pPr>
            <a:r>
              <a:rPr lang="zh-CN" altLang="en-US" sz="2000" kern="0" dirty="0">
                <a:latin typeface="宋体" panose="02010600030101010101" pitchFamily="2" charset="-122"/>
                <a:ea typeface="宋体" panose="02010600030101010101" pitchFamily="2" charset="-122"/>
              </a:rPr>
              <a:t>关系表达式</a:t>
            </a:r>
            <a:r>
              <a:rPr lang="en-US" altLang="zh-CN" sz="2400" b="1" kern="0" dirty="0">
                <a:solidFill>
                  <a:srgbClr val="FF0000"/>
                </a:solidFill>
                <a:latin typeface="宋体" panose="02010600030101010101" pitchFamily="2" charset="-122"/>
                <a:ea typeface="宋体" panose="02010600030101010101" pitchFamily="2" charset="-122"/>
              </a:rPr>
              <a:t>a&lt;b</a:t>
            </a:r>
            <a:r>
              <a:rPr lang="zh-CN" altLang="en-US" sz="2000" kern="0" dirty="0">
                <a:latin typeface="宋体" panose="02010600030101010101" pitchFamily="2" charset="-122"/>
                <a:ea typeface="宋体" panose="02010600030101010101" pitchFamily="2" charset="-122"/>
              </a:rPr>
              <a:t>的含义是：如果</a:t>
            </a:r>
            <a:r>
              <a:rPr lang="en-US" altLang="zh-CN" sz="2000" kern="0" dirty="0">
                <a:latin typeface="宋体" panose="02010600030101010101" pitchFamily="2" charset="-122"/>
                <a:ea typeface="宋体" panose="02010600030101010101" pitchFamily="2" charset="-122"/>
              </a:rPr>
              <a:t>a&lt;b</a:t>
            </a:r>
            <a:r>
              <a:rPr lang="zh-CN" altLang="en-US" sz="2000" kern="0" dirty="0">
                <a:latin typeface="宋体" panose="02010600030101010101" pitchFamily="2" charset="-122"/>
                <a:ea typeface="宋体" panose="02010600030101010101" pitchFamily="2" charset="-122"/>
              </a:rPr>
              <a:t>结果为</a:t>
            </a:r>
            <a:r>
              <a:rPr lang="en-US" altLang="zh-CN" sz="2000" kern="0" dirty="0">
                <a:latin typeface="宋体" panose="02010600030101010101" pitchFamily="2" charset="-122"/>
                <a:ea typeface="宋体" panose="02010600030101010101" pitchFamily="2" charset="-122"/>
              </a:rPr>
              <a:t>1</a:t>
            </a:r>
            <a:r>
              <a:rPr lang="zh-CN" altLang="en-US" sz="2000" kern="0" dirty="0">
                <a:latin typeface="宋体" panose="02010600030101010101" pitchFamily="2" charset="-122"/>
                <a:ea typeface="宋体" panose="02010600030101010101" pitchFamily="2" charset="-122"/>
              </a:rPr>
              <a:t>，否则结果为</a:t>
            </a:r>
            <a:r>
              <a:rPr lang="en-US" altLang="zh-CN" sz="2000" kern="0" dirty="0">
                <a:latin typeface="宋体" panose="02010600030101010101" pitchFamily="2" charset="-122"/>
                <a:ea typeface="宋体" panose="02010600030101010101" pitchFamily="2" charset="-122"/>
              </a:rPr>
              <a:t>0</a:t>
            </a:r>
            <a:r>
              <a:rPr lang="zh-CN" altLang="en-US" sz="2000" kern="0" dirty="0">
                <a:latin typeface="宋体" panose="02010600030101010101" pitchFamily="2" charset="-122"/>
                <a:ea typeface="宋体" panose="02010600030101010101" pitchFamily="2" charset="-122"/>
              </a:rPr>
              <a:t>，等价为</a:t>
            </a:r>
            <a:r>
              <a:rPr lang="en-US" altLang="zh-CN" sz="2000" b="1" kern="0" dirty="0">
                <a:solidFill>
                  <a:srgbClr val="FF0000"/>
                </a:solidFill>
                <a:latin typeface="宋体" panose="02010600030101010101" pitchFamily="2" charset="-122"/>
                <a:ea typeface="宋体" panose="02010600030101010101" pitchFamily="2" charset="-122"/>
              </a:rPr>
              <a:t>T=(a&lt;b)</a:t>
            </a:r>
            <a:r>
              <a:rPr lang="en-US" altLang="zh-CN" sz="2000" kern="0" dirty="0">
                <a:latin typeface="宋体" panose="02010600030101010101" pitchFamily="2" charset="-122"/>
                <a:ea typeface="宋体" panose="02010600030101010101" pitchFamily="2" charset="-122"/>
              </a:rPr>
              <a:t>，</a:t>
            </a:r>
            <a:r>
              <a:rPr lang="zh-CN" altLang="en-US" sz="2000" kern="0" dirty="0">
                <a:latin typeface="宋体" panose="02010600030101010101" pitchFamily="2" charset="-122"/>
                <a:ea typeface="宋体" panose="02010600030101010101" pitchFamily="2" charset="-122"/>
              </a:rPr>
              <a:t>因此等价的四元式为：</a:t>
            </a:r>
          </a:p>
        </p:txBody>
      </p:sp>
      <p:sp>
        <p:nvSpPr>
          <p:cNvPr id="3" name="矩形 2"/>
          <p:cNvSpPr/>
          <p:nvPr/>
        </p:nvSpPr>
        <p:spPr>
          <a:xfrm>
            <a:off x="461654" y="2643758"/>
            <a:ext cx="3534282"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zh-CN" altLang="en-US" b="1" kern="0" dirty="0">
                <a:solidFill>
                  <a:srgbClr val="0000FF"/>
                </a:solidFill>
                <a:latin typeface="宋体" panose="02010600030101010101" pitchFamily="2" charset="-122"/>
                <a:ea typeface="宋体" panose="02010600030101010101" pitchFamily="2" charset="-122"/>
              </a:rPr>
              <a:t>（</a:t>
            </a:r>
            <a:r>
              <a:rPr lang="en-US" altLang="zh-CN" b="1" kern="0" dirty="0">
                <a:solidFill>
                  <a:srgbClr val="0000FF"/>
                </a:solidFill>
                <a:latin typeface="宋体" panose="02010600030101010101" pitchFamily="2" charset="-122"/>
                <a:ea typeface="宋体" panose="02010600030101010101" pitchFamily="2" charset="-122"/>
              </a:rPr>
              <a:t>1</a:t>
            </a:r>
            <a:r>
              <a:rPr lang="zh-CN" altLang="en-US" b="1" kern="0" dirty="0">
                <a:solidFill>
                  <a:srgbClr val="0000FF"/>
                </a:solidFill>
                <a:latin typeface="宋体" panose="02010600030101010101" pitchFamily="2" charset="-122"/>
                <a:ea typeface="宋体" panose="02010600030101010101" pitchFamily="2" charset="-122"/>
              </a:rPr>
              <a:t>）  </a:t>
            </a:r>
            <a:r>
              <a:rPr lang="en-US" altLang="zh-CN" b="1" kern="0" dirty="0">
                <a:solidFill>
                  <a:srgbClr val="0000FF"/>
                </a:solidFill>
                <a:latin typeface="宋体" panose="02010600030101010101" pitchFamily="2" charset="-122"/>
                <a:ea typeface="宋体" panose="02010600030101010101" pitchFamily="2" charset="-122"/>
              </a:rPr>
              <a:t>(j&lt;, a, b, (4) )</a:t>
            </a:r>
          </a:p>
          <a:p>
            <a:pPr>
              <a:defRPr/>
            </a:pPr>
            <a:r>
              <a:rPr lang="zh-CN" altLang="en-US" b="1" kern="0" dirty="0">
                <a:solidFill>
                  <a:srgbClr val="0000FF"/>
                </a:solidFill>
                <a:latin typeface="宋体" panose="02010600030101010101" pitchFamily="2" charset="-122"/>
                <a:ea typeface="宋体" panose="02010600030101010101" pitchFamily="2" charset="-122"/>
              </a:rPr>
              <a:t>（</a:t>
            </a:r>
            <a:r>
              <a:rPr lang="en-US" altLang="zh-CN" b="1" kern="0" dirty="0">
                <a:solidFill>
                  <a:srgbClr val="0000FF"/>
                </a:solidFill>
                <a:latin typeface="宋体" panose="02010600030101010101" pitchFamily="2" charset="-122"/>
                <a:ea typeface="宋体" panose="02010600030101010101" pitchFamily="2" charset="-122"/>
              </a:rPr>
              <a:t>2</a:t>
            </a:r>
            <a:r>
              <a:rPr lang="zh-CN" altLang="en-US" b="1" kern="0" dirty="0">
                <a:solidFill>
                  <a:srgbClr val="0000FF"/>
                </a:solidFill>
                <a:latin typeface="宋体" panose="02010600030101010101" pitchFamily="2" charset="-122"/>
                <a:ea typeface="宋体" panose="02010600030101010101" pitchFamily="2" charset="-122"/>
              </a:rPr>
              <a:t>）</a:t>
            </a:r>
            <a:r>
              <a:rPr lang="en-US" altLang="zh-CN" b="1" kern="0" dirty="0">
                <a:solidFill>
                  <a:srgbClr val="0000FF"/>
                </a:solidFill>
                <a:latin typeface="宋体" panose="02010600030101010101" pitchFamily="2" charset="-122"/>
                <a:ea typeface="宋体" panose="02010600030101010101" pitchFamily="2" charset="-122"/>
              </a:rPr>
              <a:t>  (=, 0 , _ , T  )</a:t>
            </a:r>
          </a:p>
          <a:p>
            <a:pPr>
              <a:defRPr/>
            </a:pPr>
            <a:r>
              <a:rPr lang="zh-CN" altLang="en-US" b="1" kern="0" dirty="0">
                <a:solidFill>
                  <a:srgbClr val="0000FF"/>
                </a:solidFill>
                <a:latin typeface="宋体" panose="02010600030101010101" pitchFamily="2" charset="-122"/>
                <a:ea typeface="宋体" panose="02010600030101010101" pitchFamily="2" charset="-122"/>
              </a:rPr>
              <a:t>（</a:t>
            </a:r>
            <a:r>
              <a:rPr lang="en-US" altLang="zh-CN" b="1" kern="0" dirty="0">
                <a:solidFill>
                  <a:srgbClr val="0000FF"/>
                </a:solidFill>
                <a:latin typeface="宋体" panose="02010600030101010101" pitchFamily="2" charset="-122"/>
                <a:ea typeface="宋体" panose="02010600030101010101" pitchFamily="2" charset="-122"/>
              </a:rPr>
              <a:t>3</a:t>
            </a:r>
            <a:r>
              <a:rPr lang="zh-CN" altLang="en-US" b="1" kern="0" dirty="0">
                <a:solidFill>
                  <a:srgbClr val="0000FF"/>
                </a:solidFill>
                <a:latin typeface="宋体" panose="02010600030101010101" pitchFamily="2" charset="-122"/>
                <a:ea typeface="宋体" panose="02010600030101010101" pitchFamily="2" charset="-122"/>
              </a:rPr>
              <a:t>）</a:t>
            </a:r>
            <a:r>
              <a:rPr lang="en-US" altLang="zh-CN" b="1" kern="0" dirty="0">
                <a:solidFill>
                  <a:srgbClr val="0000FF"/>
                </a:solidFill>
                <a:latin typeface="宋体" panose="02010600030101010101" pitchFamily="2" charset="-122"/>
                <a:ea typeface="宋体" panose="02010600030101010101" pitchFamily="2" charset="-122"/>
              </a:rPr>
              <a:t>  (j,_, _, (5)   )</a:t>
            </a:r>
          </a:p>
          <a:p>
            <a:pPr>
              <a:defRPr/>
            </a:pPr>
            <a:r>
              <a:rPr lang="zh-CN" altLang="en-US" b="1" kern="0" dirty="0">
                <a:solidFill>
                  <a:srgbClr val="0000FF"/>
                </a:solidFill>
                <a:latin typeface="宋体" panose="02010600030101010101" pitchFamily="2" charset="-122"/>
                <a:ea typeface="宋体" panose="02010600030101010101" pitchFamily="2" charset="-122"/>
              </a:rPr>
              <a:t>（</a:t>
            </a:r>
            <a:r>
              <a:rPr lang="en-US" altLang="zh-CN" b="1" kern="0" dirty="0">
                <a:solidFill>
                  <a:srgbClr val="0000FF"/>
                </a:solidFill>
                <a:latin typeface="宋体" panose="02010600030101010101" pitchFamily="2" charset="-122"/>
                <a:ea typeface="宋体" panose="02010600030101010101" pitchFamily="2" charset="-122"/>
              </a:rPr>
              <a:t>4</a:t>
            </a:r>
            <a:r>
              <a:rPr lang="zh-CN" altLang="en-US" b="1" kern="0" dirty="0">
                <a:solidFill>
                  <a:srgbClr val="0000FF"/>
                </a:solidFill>
                <a:latin typeface="宋体" panose="02010600030101010101" pitchFamily="2" charset="-122"/>
                <a:ea typeface="宋体" panose="02010600030101010101" pitchFamily="2" charset="-122"/>
              </a:rPr>
              <a:t>）</a:t>
            </a:r>
            <a:r>
              <a:rPr lang="en-US" altLang="zh-CN" b="1" kern="0" dirty="0">
                <a:solidFill>
                  <a:srgbClr val="0000FF"/>
                </a:solidFill>
                <a:latin typeface="宋体" panose="02010600030101010101" pitchFamily="2" charset="-122"/>
                <a:ea typeface="宋体" panose="02010600030101010101" pitchFamily="2" charset="-122"/>
              </a:rPr>
              <a:t>  (=, 1 , _ , T  )</a:t>
            </a:r>
          </a:p>
          <a:p>
            <a:pPr>
              <a:defRPr/>
            </a:pPr>
            <a:r>
              <a:rPr lang="zh-CN" altLang="en-US" b="1" kern="0" dirty="0">
                <a:solidFill>
                  <a:srgbClr val="0000FF"/>
                </a:solidFill>
                <a:latin typeface="宋体" panose="02010600030101010101" pitchFamily="2" charset="-122"/>
                <a:ea typeface="宋体" panose="02010600030101010101" pitchFamily="2" charset="-122"/>
              </a:rPr>
              <a:t>（</a:t>
            </a:r>
            <a:r>
              <a:rPr lang="en-US" altLang="zh-CN" b="1" kern="0" dirty="0">
                <a:solidFill>
                  <a:srgbClr val="0000FF"/>
                </a:solidFill>
                <a:latin typeface="宋体" panose="02010600030101010101" pitchFamily="2" charset="-122"/>
                <a:ea typeface="宋体" panose="02010600030101010101" pitchFamily="2" charset="-122"/>
              </a:rPr>
              <a:t>5</a:t>
            </a:r>
            <a:r>
              <a:rPr lang="zh-CN" altLang="en-US" b="1" kern="0" dirty="0">
                <a:solidFill>
                  <a:srgbClr val="0000FF"/>
                </a:solidFill>
                <a:latin typeface="宋体" panose="02010600030101010101" pitchFamily="2" charset="-122"/>
                <a:ea typeface="宋体" panose="02010600030101010101" pitchFamily="2" charset="-122"/>
              </a:rPr>
              <a:t>）</a:t>
            </a:r>
            <a:endParaRPr lang="en-US" altLang="zh-CN" b="1" kern="0" dirty="0">
              <a:solidFill>
                <a:srgbClr val="0000FF"/>
              </a:solidFill>
              <a:latin typeface="宋体" panose="02010600030101010101" pitchFamily="2" charset="-122"/>
              <a:ea typeface="宋体" panose="02010600030101010101" pitchFamily="2" charset="-122"/>
            </a:endParaRPr>
          </a:p>
        </p:txBody>
      </p:sp>
      <p:sp>
        <p:nvSpPr>
          <p:cNvPr id="8" name="内容占位符 5"/>
          <p:cNvSpPr txBox="1">
            <a:spLocks/>
          </p:cNvSpPr>
          <p:nvPr/>
        </p:nvSpPr>
        <p:spPr>
          <a:xfrm>
            <a:off x="179512" y="42114"/>
            <a:ext cx="8229600" cy="1462559"/>
          </a:xfrm>
          <a:prstGeom prst="rect">
            <a:avLst/>
          </a:prstGeom>
        </p:spPr>
        <p:txBody>
          <a:bodyPr vert="horz">
            <a:normAutofit fontScale="700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nSpc>
                <a:spcPct val="120000"/>
              </a:lnSpc>
              <a:spcBef>
                <a:spcPts val="0"/>
              </a:spcBef>
              <a:buFontTx/>
              <a:buNone/>
              <a:defRPr/>
            </a:pPr>
            <a:r>
              <a:rPr lang="en-US" altLang="zh-CN" sz="3400" dirty="0"/>
              <a:t>4</a:t>
            </a:r>
            <a:r>
              <a:rPr lang="zh-CN" altLang="en-US" sz="3400" dirty="0"/>
              <a:t>、</a:t>
            </a:r>
            <a:r>
              <a:rPr lang="zh-CN" altLang="zh-CN" sz="3400" dirty="0"/>
              <a:t>布尔表达式的语义处理有两种方式</a:t>
            </a:r>
            <a:r>
              <a:rPr lang="zh-CN" altLang="en-US" sz="3400" dirty="0"/>
              <a:t>：</a:t>
            </a:r>
            <a:endParaRPr lang="en-US" altLang="zh-CN" sz="3400" dirty="0"/>
          </a:p>
          <a:p>
            <a:pPr marL="0" indent="0">
              <a:lnSpc>
                <a:spcPct val="120000"/>
              </a:lnSpc>
              <a:spcBef>
                <a:spcPts val="0"/>
              </a:spcBef>
              <a:buFontTx/>
              <a:buNone/>
              <a:defRPr/>
            </a:pPr>
            <a:endParaRPr lang="en-US" altLang="zh-CN" sz="2800" dirty="0"/>
          </a:p>
          <a:p>
            <a:pPr marL="0" indent="0">
              <a:lnSpc>
                <a:spcPct val="120000"/>
              </a:lnSpc>
              <a:spcBef>
                <a:spcPts val="0"/>
              </a:spcBef>
              <a:buFontTx/>
              <a:buNone/>
              <a:defRPr/>
            </a:pPr>
            <a:r>
              <a:rPr lang="zh-CN" altLang="en-US" sz="2900" dirty="0"/>
              <a:t>（</a:t>
            </a:r>
            <a:r>
              <a:rPr lang="en-US" altLang="zh-CN" sz="2900" dirty="0"/>
              <a:t>1</a:t>
            </a:r>
            <a:r>
              <a:rPr lang="zh-CN" altLang="en-US" sz="2900" dirty="0"/>
              <a:t>）按照</a:t>
            </a:r>
            <a:r>
              <a:rPr lang="zh-CN" altLang="zh-CN" sz="2900" b="1" dirty="0">
                <a:solidFill>
                  <a:srgbClr val="FF0000"/>
                </a:solidFill>
              </a:rPr>
              <a:t>算术表达式的通用处理方法</a:t>
            </a:r>
            <a:r>
              <a:rPr lang="zh-CN" altLang="zh-CN" sz="2900" dirty="0"/>
              <a:t>，对布尔表达式中的每个项和因子都计算其布尔值，最后求得整个表达式的布尔值。</a:t>
            </a:r>
            <a:endParaRPr lang="zh-CN" altLang="en-US" sz="2900" dirty="0"/>
          </a:p>
        </p:txBody>
      </p:sp>
      <p:grpSp>
        <p:nvGrpSpPr>
          <p:cNvPr id="73" name="组合 72"/>
          <p:cNvGrpSpPr/>
          <p:nvPr/>
        </p:nvGrpSpPr>
        <p:grpSpPr>
          <a:xfrm>
            <a:off x="4630900" y="2578176"/>
            <a:ext cx="1610392" cy="2122313"/>
            <a:chOff x="4630900" y="2480578"/>
            <a:chExt cx="1610392" cy="2220670"/>
          </a:xfrm>
        </p:grpSpPr>
        <p:sp>
          <p:nvSpPr>
            <p:cNvPr id="22" name="TextBox 21"/>
            <p:cNvSpPr txBox="1"/>
            <p:nvPr/>
          </p:nvSpPr>
          <p:spPr>
            <a:xfrm>
              <a:off x="4823990" y="2905759"/>
              <a:ext cx="396007" cy="338554"/>
            </a:xfrm>
            <a:prstGeom prst="rect">
              <a:avLst/>
            </a:prstGeom>
            <a:noFill/>
          </p:spPr>
          <p:txBody>
            <a:bodyPr wrap="square" rtlCol="0">
              <a:spAutoFit/>
            </a:bodyPr>
            <a:lstStyle/>
            <a:p>
              <a:r>
                <a:rPr lang="en-US" altLang="zh-CN" sz="1600" dirty="0"/>
                <a:t>Y</a:t>
              </a:r>
              <a:endParaRPr lang="zh-CN" altLang="en-US" sz="1600" dirty="0"/>
            </a:p>
          </p:txBody>
        </p:sp>
        <p:grpSp>
          <p:nvGrpSpPr>
            <p:cNvPr id="72" name="组合 71"/>
            <p:cNvGrpSpPr/>
            <p:nvPr/>
          </p:nvGrpSpPr>
          <p:grpSpPr>
            <a:xfrm>
              <a:off x="4630900" y="2480578"/>
              <a:ext cx="1610392" cy="2220670"/>
              <a:chOff x="4630900" y="2480578"/>
              <a:chExt cx="1610392" cy="2220670"/>
            </a:xfrm>
          </p:grpSpPr>
          <p:sp>
            <p:nvSpPr>
              <p:cNvPr id="11" name="Text Box 7"/>
              <p:cNvSpPr txBox="1">
                <a:spLocks noChangeArrowheads="1"/>
              </p:cNvSpPr>
              <p:nvPr/>
            </p:nvSpPr>
            <p:spPr bwMode="auto">
              <a:xfrm>
                <a:off x="5148064" y="2480578"/>
                <a:ext cx="589172" cy="386448"/>
              </a:xfrm>
              <a:prstGeom prst="rect">
                <a:avLst/>
              </a:prstGeom>
              <a:noFill/>
              <a:ln w="28575">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50000"/>
                  </a:spcBef>
                  <a:buFontTx/>
                  <a:buNone/>
                </a:pPr>
                <a:r>
                  <a:rPr lang="en-US" altLang="zh-CN" sz="1800" b="1" dirty="0"/>
                  <a:t>a&lt;b</a:t>
                </a:r>
              </a:p>
            </p:txBody>
          </p:sp>
          <p:sp>
            <p:nvSpPr>
              <p:cNvPr id="13" name="Line 10"/>
              <p:cNvSpPr>
                <a:spLocks noChangeShapeType="1"/>
              </p:cNvSpPr>
              <p:nvPr/>
            </p:nvSpPr>
            <p:spPr bwMode="auto">
              <a:xfrm>
                <a:off x="5526692" y="2892872"/>
                <a:ext cx="468088" cy="467962"/>
              </a:xfrm>
              <a:prstGeom prst="line">
                <a:avLst/>
              </a:prstGeom>
              <a:noFill/>
              <a:ln w="28575">
                <a:solidFill>
                  <a:schemeClr val="tx1"/>
                </a:solidFill>
                <a:round/>
                <a:headEnd type="none"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4" name="Line 11"/>
              <p:cNvSpPr>
                <a:spLocks noChangeShapeType="1"/>
              </p:cNvSpPr>
              <p:nvPr/>
            </p:nvSpPr>
            <p:spPr bwMode="auto">
              <a:xfrm flipH="1">
                <a:off x="4932040" y="2875161"/>
                <a:ext cx="452597" cy="473489"/>
              </a:xfrm>
              <a:prstGeom prst="line">
                <a:avLst/>
              </a:prstGeom>
              <a:noFill/>
              <a:ln w="28575">
                <a:solidFill>
                  <a:schemeClr val="tx1"/>
                </a:solidFill>
                <a:round/>
                <a:headEnd type="none"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7" name="Text Box 7"/>
              <p:cNvSpPr txBox="1">
                <a:spLocks noChangeArrowheads="1"/>
              </p:cNvSpPr>
              <p:nvPr/>
            </p:nvSpPr>
            <p:spPr bwMode="auto">
              <a:xfrm>
                <a:off x="4630900" y="3373721"/>
                <a:ext cx="589172" cy="386448"/>
              </a:xfrm>
              <a:prstGeom prst="rect">
                <a:avLst/>
              </a:prstGeom>
              <a:noFill/>
              <a:ln w="28575">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50000"/>
                  </a:spcBef>
                  <a:buFontTx/>
                  <a:buNone/>
                </a:pPr>
                <a:r>
                  <a:rPr lang="en-US" altLang="zh-CN" sz="1800" b="1" dirty="0"/>
                  <a:t>T=1</a:t>
                </a:r>
              </a:p>
            </p:txBody>
          </p:sp>
          <p:sp>
            <p:nvSpPr>
              <p:cNvPr id="18" name="Text Box 7"/>
              <p:cNvSpPr txBox="1">
                <a:spLocks noChangeArrowheads="1"/>
              </p:cNvSpPr>
              <p:nvPr/>
            </p:nvSpPr>
            <p:spPr bwMode="auto">
              <a:xfrm>
                <a:off x="5652120" y="3359267"/>
                <a:ext cx="589172" cy="386448"/>
              </a:xfrm>
              <a:prstGeom prst="rect">
                <a:avLst/>
              </a:prstGeom>
              <a:noFill/>
              <a:ln w="28575">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50000"/>
                  </a:spcBef>
                  <a:buFontTx/>
                  <a:buNone/>
                </a:pPr>
                <a:r>
                  <a:rPr lang="en-US" altLang="zh-CN" sz="1800" b="1" dirty="0"/>
                  <a:t>T=0</a:t>
                </a:r>
              </a:p>
            </p:txBody>
          </p:sp>
          <p:sp>
            <p:nvSpPr>
              <p:cNvPr id="19" name="Text Box 7"/>
              <p:cNvSpPr txBox="1">
                <a:spLocks noChangeArrowheads="1"/>
              </p:cNvSpPr>
              <p:nvPr/>
            </p:nvSpPr>
            <p:spPr bwMode="auto">
              <a:xfrm>
                <a:off x="5076056" y="4314800"/>
                <a:ext cx="826921" cy="386448"/>
              </a:xfrm>
              <a:prstGeom prst="rect">
                <a:avLst/>
              </a:prstGeom>
              <a:noFill/>
              <a:ln w="28575">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50000"/>
                  </a:spcBef>
                  <a:buFontTx/>
                  <a:buNone/>
                </a:pPr>
                <a:r>
                  <a:rPr lang="en-US" altLang="zh-CN" sz="1800" b="1" dirty="0"/>
                  <a:t>……</a:t>
                </a:r>
              </a:p>
            </p:txBody>
          </p:sp>
          <p:sp>
            <p:nvSpPr>
              <p:cNvPr id="20" name="Line 11"/>
              <p:cNvSpPr>
                <a:spLocks noChangeShapeType="1"/>
              </p:cNvSpPr>
              <p:nvPr/>
            </p:nvSpPr>
            <p:spPr bwMode="auto">
              <a:xfrm>
                <a:off x="4823991" y="3773830"/>
                <a:ext cx="503981" cy="539543"/>
              </a:xfrm>
              <a:prstGeom prst="line">
                <a:avLst/>
              </a:prstGeom>
              <a:noFill/>
              <a:ln w="28575">
                <a:solidFill>
                  <a:schemeClr val="tx1"/>
                </a:solidFill>
                <a:round/>
                <a:headEnd type="none"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10"/>
              <p:cNvSpPr>
                <a:spLocks noChangeShapeType="1"/>
              </p:cNvSpPr>
              <p:nvPr/>
            </p:nvSpPr>
            <p:spPr bwMode="auto">
              <a:xfrm flipH="1">
                <a:off x="5616078" y="3773830"/>
                <a:ext cx="330628" cy="540969"/>
              </a:xfrm>
              <a:prstGeom prst="line">
                <a:avLst/>
              </a:prstGeom>
              <a:noFill/>
              <a:ln w="28575">
                <a:solidFill>
                  <a:schemeClr val="tx1"/>
                </a:solidFill>
                <a:round/>
                <a:headEnd type="none"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 name="TextBox 22"/>
              <p:cNvSpPr txBox="1"/>
              <p:nvPr/>
            </p:nvSpPr>
            <p:spPr>
              <a:xfrm>
                <a:off x="5724128" y="2876992"/>
                <a:ext cx="396007" cy="338554"/>
              </a:xfrm>
              <a:prstGeom prst="rect">
                <a:avLst/>
              </a:prstGeom>
              <a:noFill/>
            </p:spPr>
            <p:txBody>
              <a:bodyPr wrap="square" rtlCol="0">
                <a:spAutoFit/>
              </a:bodyPr>
              <a:lstStyle/>
              <a:p>
                <a:r>
                  <a:rPr lang="en-US" altLang="zh-CN" sz="1600" dirty="0"/>
                  <a:t>N</a:t>
                </a:r>
                <a:endParaRPr lang="zh-CN" altLang="en-US" sz="1600" dirty="0"/>
              </a:p>
            </p:txBody>
          </p:sp>
        </p:grpSp>
      </p:grpSp>
      <p:grpSp>
        <p:nvGrpSpPr>
          <p:cNvPr id="29" name="组合 28"/>
          <p:cNvGrpSpPr/>
          <p:nvPr/>
        </p:nvGrpSpPr>
        <p:grpSpPr>
          <a:xfrm>
            <a:off x="4320009" y="2591521"/>
            <a:ext cx="1440086" cy="2061832"/>
            <a:chOff x="4248001" y="2495967"/>
            <a:chExt cx="1440086" cy="2157386"/>
          </a:xfrm>
        </p:grpSpPr>
        <p:sp>
          <p:nvSpPr>
            <p:cNvPr id="24" name="TextBox 23"/>
            <p:cNvSpPr txBox="1"/>
            <p:nvPr/>
          </p:nvSpPr>
          <p:spPr>
            <a:xfrm>
              <a:off x="4716016" y="2495967"/>
              <a:ext cx="396007" cy="338554"/>
            </a:xfrm>
            <a:prstGeom prst="rect">
              <a:avLst/>
            </a:prstGeom>
            <a:noFill/>
          </p:spPr>
          <p:txBody>
            <a:bodyPr wrap="square" rtlCol="0">
              <a:spAutoFit/>
            </a:bodyPr>
            <a:lstStyle/>
            <a:p>
              <a:r>
                <a:rPr lang="en-US" altLang="zh-CN" sz="1600" b="1" dirty="0">
                  <a:solidFill>
                    <a:srgbClr val="CC00FF"/>
                  </a:solidFill>
                </a:rPr>
                <a:t>1</a:t>
              </a:r>
              <a:endParaRPr lang="zh-CN" altLang="en-US" sz="1600" b="1" dirty="0">
                <a:solidFill>
                  <a:srgbClr val="CC00FF"/>
                </a:solidFill>
              </a:endParaRPr>
            </a:p>
          </p:txBody>
        </p:sp>
        <p:sp>
          <p:nvSpPr>
            <p:cNvPr id="25" name="TextBox 24"/>
            <p:cNvSpPr txBox="1"/>
            <p:nvPr/>
          </p:nvSpPr>
          <p:spPr>
            <a:xfrm>
              <a:off x="4248001" y="3382423"/>
              <a:ext cx="396007" cy="338554"/>
            </a:xfrm>
            <a:prstGeom prst="rect">
              <a:avLst/>
            </a:prstGeom>
            <a:noFill/>
          </p:spPr>
          <p:txBody>
            <a:bodyPr wrap="square" rtlCol="0">
              <a:spAutoFit/>
            </a:bodyPr>
            <a:lstStyle/>
            <a:p>
              <a:r>
                <a:rPr lang="en-US" altLang="zh-CN" sz="1600" b="1" dirty="0">
                  <a:solidFill>
                    <a:srgbClr val="CC00FF"/>
                  </a:solidFill>
                </a:rPr>
                <a:t>4</a:t>
              </a:r>
              <a:endParaRPr lang="zh-CN" altLang="en-US" sz="1600" b="1" dirty="0">
                <a:solidFill>
                  <a:srgbClr val="CC00FF"/>
                </a:solidFill>
              </a:endParaRPr>
            </a:p>
          </p:txBody>
        </p:sp>
        <p:sp>
          <p:nvSpPr>
            <p:cNvPr id="26" name="TextBox 25"/>
            <p:cNvSpPr txBox="1"/>
            <p:nvPr/>
          </p:nvSpPr>
          <p:spPr>
            <a:xfrm>
              <a:off x="5292080" y="3354546"/>
              <a:ext cx="396007" cy="338554"/>
            </a:xfrm>
            <a:prstGeom prst="rect">
              <a:avLst/>
            </a:prstGeom>
            <a:noFill/>
          </p:spPr>
          <p:txBody>
            <a:bodyPr wrap="square" rtlCol="0">
              <a:spAutoFit/>
            </a:bodyPr>
            <a:lstStyle/>
            <a:p>
              <a:r>
                <a:rPr lang="en-US" altLang="zh-CN" sz="1600" b="1" dirty="0">
                  <a:solidFill>
                    <a:srgbClr val="CC00FF"/>
                  </a:solidFill>
                </a:rPr>
                <a:t>2</a:t>
              </a:r>
              <a:endParaRPr lang="zh-CN" altLang="en-US" sz="1600" b="1" dirty="0">
                <a:solidFill>
                  <a:srgbClr val="CC00FF"/>
                </a:solidFill>
              </a:endParaRPr>
            </a:p>
          </p:txBody>
        </p:sp>
        <p:sp>
          <p:nvSpPr>
            <p:cNvPr id="27" name="TextBox 26"/>
            <p:cNvSpPr txBox="1"/>
            <p:nvPr/>
          </p:nvSpPr>
          <p:spPr>
            <a:xfrm>
              <a:off x="4751982" y="4314799"/>
              <a:ext cx="396007" cy="338554"/>
            </a:xfrm>
            <a:prstGeom prst="rect">
              <a:avLst/>
            </a:prstGeom>
            <a:noFill/>
          </p:spPr>
          <p:txBody>
            <a:bodyPr wrap="square" rtlCol="0">
              <a:spAutoFit/>
            </a:bodyPr>
            <a:lstStyle/>
            <a:p>
              <a:r>
                <a:rPr lang="en-US" altLang="zh-CN" sz="1600" b="1" dirty="0">
                  <a:solidFill>
                    <a:srgbClr val="CC00FF"/>
                  </a:solidFill>
                </a:rPr>
                <a:t>5</a:t>
              </a:r>
              <a:endParaRPr lang="zh-CN" altLang="en-US" sz="1600" b="1" dirty="0">
                <a:solidFill>
                  <a:srgbClr val="CC00FF"/>
                </a:solidFill>
              </a:endParaRPr>
            </a:p>
          </p:txBody>
        </p:sp>
      </p:grpSp>
      <p:grpSp>
        <p:nvGrpSpPr>
          <p:cNvPr id="70" name="组合 69"/>
          <p:cNvGrpSpPr/>
          <p:nvPr/>
        </p:nvGrpSpPr>
        <p:grpSpPr>
          <a:xfrm>
            <a:off x="7236296" y="2178067"/>
            <a:ext cx="1260178" cy="2667161"/>
            <a:chOff x="7416278" y="2178067"/>
            <a:chExt cx="1260178" cy="2667161"/>
          </a:xfrm>
        </p:grpSpPr>
        <p:sp>
          <p:nvSpPr>
            <p:cNvPr id="31" name="Text Box 7"/>
            <p:cNvSpPr txBox="1">
              <a:spLocks noChangeArrowheads="1"/>
            </p:cNvSpPr>
            <p:nvPr/>
          </p:nvSpPr>
          <p:spPr bwMode="auto">
            <a:xfrm>
              <a:off x="7861819" y="2178067"/>
              <a:ext cx="792163" cy="369332"/>
            </a:xfrm>
            <a:prstGeom prst="rect">
              <a:avLst/>
            </a:prstGeom>
            <a:noFill/>
            <a:ln w="28575">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50000"/>
                </a:spcBef>
                <a:buFontTx/>
                <a:buNone/>
              </a:pPr>
              <a:r>
                <a:rPr lang="en-US" altLang="zh-CN" sz="1800" b="1" dirty="0"/>
                <a:t>a&lt;b</a:t>
              </a:r>
            </a:p>
          </p:txBody>
        </p:sp>
        <p:sp>
          <p:nvSpPr>
            <p:cNvPr id="32" name="Line 10"/>
            <p:cNvSpPr>
              <a:spLocks noChangeShapeType="1"/>
            </p:cNvSpPr>
            <p:nvPr/>
          </p:nvSpPr>
          <p:spPr bwMode="auto">
            <a:xfrm flipH="1">
              <a:off x="8257900" y="2563241"/>
              <a:ext cx="16483" cy="467509"/>
            </a:xfrm>
            <a:prstGeom prst="line">
              <a:avLst/>
            </a:prstGeom>
            <a:noFill/>
            <a:ln w="28575">
              <a:solidFill>
                <a:schemeClr val="tx1"/>
              </a:solidFill>
              <a:round/>
              <a:headEnd type="none"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 name="Text Box 7"/>
            <p:cNvSpPr txBox="1">
              <a:spLocks noChangeArrowheads="1"/>
            </p:cNvSpPr>
            <p:nvPr/>
          </p:nvSpPr>
          <p:spPr bwMode="auto">
            <a:xfrm>
              <a:off x="7849332" y="3615953"/>
              <a:ext cx="792163" cy="369332"/>
            </a:xfrm>
            <a:prstGeom prst="rect">
              <a:avLst/>
            </a:prstGeom>
            <a:noFill/>
            <a:ln w="28575">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50000"/>
                </a:spcBef>
                <a:buFontTx/>
                <a:buNone/>
              </a:pPr>
              <a:r>
                <a:rPr lang="en-US" altLang="zh-CN" sz="1800" b="1" dirty="0"/>
                <a:t>T=1</a:t>
              </a:r>
            </a:p>
          </p:txBody>
        </p:sp>
        <p:sp>
          <p:nvSpPr>
            <p:cNvPr id="35" name="Text Box 7"/>
            <p:cNvSpPr txBox="1">
              <a:spLocks noChangeArrowheads="1"/>
            </p:cNvSpPr>
            <p:nvPr/>
          </p:nvSpPr>
          <p:spPr bwMode="auto">
            <a:xfrm>
              <a:off x="7849333" y="3041820"/>
              <a:ext cx="792163" cy="369332"/>
            </a:xfrm>
            <a:prstGeom prst="rect">
              <a:avLst/>
            </a:prstGeom>
            <a:noFill/>
            <a:ln w="28575">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50000"/>
                </a:spcBef>
                <a:buFontTx/>
                <a:buNone/>
              </a:pPr>
              <a:r>
                <a:rPr lang="en-US" altLang="zh-CN" sz="1800" b="1" dirty="0"/>
                <a:t>T=0</a:t>
              </a:r>
            </a:p>
          </p:txBody>
        </p:sp>
        <p:sp>
          <p:nvSpPr>
            <p:cNvPr id="36" name="Text Box 7"/>
            <p:cNvSpPr txBox="1">
              <a:spLocks noChangeArrowheads="1"/>
            </p:cNvSpPr>
            <p:nvPr/>
          </p:nvSpPr>
          <p:spPr bwMode="auto">
            <a:xfrm>
              <a:off x="7884293" y="4475896"/>
              <a:ext cx="792163" cy="369332"/>
            </a:xfrm>
            <a:prstGeom prst="rect">
              <a:avLst/>
            </a:prstGeom>
            <a:noFill/>
            <a:ln w="28575">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50000"/>
                </a:spcBef>
                <a:buFontTx/>
                <a:buNone/>
              </a:pPr>
              <a:r>
                <a:rPr lang="en-US" altLang="zh-CN" sz="1800" b="1" dirty="0"/>
                <a:t>……</a:t>
              </a:r>
            </a:p>
          </p:txBody>
        </p:sp>
        <p:sp>
          <p:nvSpPr>
            <p:cNvPr id="38" name="Line 10"/>
            <p:cNvSpPr>
              <a:spLocks noChangeShapeType="1"/>
            </p:cNvSpPr>
            <p:nvPr/>
          </p:nvSpPr>
          <p:spPr bwMode="auto">
            <a:xfrm flipH="1">
              <a:off x="8220325" y="4016063"/>
              <a:ext cx="0" cy="483402"/>
            </a:xfrm>
            <a:prstGeom prst="line">
              <a:avLst/>
            </a:prstGeom>
            <a:noFill/>
            <a:ln w="28575">
              <a:solidFill>
                <a:schemeClr val="tx1"/>
              </a:solidFill>
              <a:round/>
              <a:headEnd type="none"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9" name="TextBox 38"/>
            <p:cNvSpPr txBox="1"/>
            <p:nvPr/>
          </p:nvSpPr>
          <p:spPr>
            <a:xfrm>
              <a:off x="8266141" y="2652236"/>
              <a:ext cx="396007" cy="338554"/>
            </a:xfrm>
            <a:prstGeom prst="rect">
              <a:avLst/>
            </a:prstGeom>
            <a:noFill/>
          </p:spPr>
          <p:txBody>
            <a:bodyPr wrap="square" rtlCol="0">
              <a:spAutoFit/>
            </a:bodyPr>
            <a:lstStyle/>
            <a:p>
              <a:r>
                <a:rPr lang="en-US" altLang="zh-CN" sz="1600" dirty="0"/>
                <a:t>N</a:t>
              </a:r>
              <a:endParaRPr lang="zh-CN" altLang="en-US" sz="1600" dirty="0"/>
            </a:p>
          </p:txBody>
        </p:sp>
        <p:sp>
          <p:nvSpPr>
            <p:cNvPr id="40" name="TextBox 39"/>
            <p:cNvSpPr txBox="1"/>
            <p:nvPr/>
          </p:nvSpPr>
          <p:spPr>
            <a:xfrm>
              <a:off x="7416278" y="2499742"/>
              <a:ext cx="396007" cy="338554"/>
            </a:xfrm>
            <a:prstGeom prst="rect">
              <a:avLst/>
            </a:prstGeom>
            <a:noFill/>
          </p:spPr>
          <p:txBody>
            <a:bodyPr wrap="square" rtlCol="0">
              <a:spAutoFit/>
            </a:bodyPr>
            <a:lstStyle/>
            <a:p>
              <a:r>
                <a:rPr lang="en-US" altLang="zh-CN" sz="1600" dirty="0"/>
                <a:t>Y</a:t>
              </a:r>
              <a:endParaRPr lang="zh-CN" altLang="en-US" sz="1600" dirty="0"/>
            </a:p>
          </p:txBody>
        </p:sp>
        <p:cxnSp>
          <p:nvCxnSpPr>
            <p:cNvPr id="45" name="肘形连接符 44"/>
            <p:cNvCxnSpPr>
              <a:endCxn id="34" idx="1"/>
            </p:cNvCxnSpPr>
            <p:nvPr/>
          </p:nvCxnSpPr>
          <p:spPr>
            <a:xfrm rot="5400000">
              <a:off x="7533591" y="3068064"/>
              <a:ext cx="1048296" cy="416814"/>
            </a:xfrm>
            <a:prstGeom prst="bentConnector4">
              <a:avLst>
                <a:gd name="adj1" fmla="val 222"/>
                <a:gd name="adj2" fmla="val 154845"/>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60" name="肘形连接符 59"/>
          <p:cNvCxnSpPr>
            <a:stCxn id="35" idx="3"/>
          </p:cNvCxnSpPr>
          <p:nvPr/>
        </p:nvCxnSpPr>
        <p:spPr>
          <a:xfrm flipH="1">
            <a:off x="8373146" y="3226486"/>
            <a:ext cx="88368" cy="1272979"/>
          </a:xfrm>
          <a:prstGeom prst="bentConnector4">
            <a:avLst>
              <a:gd name="adj1" fmla="val -258691"/>
              <a:gd name="adj2" fmla="val 67048"/>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5796136" y="3908322"/>
            <a:ext cx="396007" cy="338554"/>
          </a:xfrm>
          <a:prstGeom prst="rect">
            <a:avLst/>
          </a:prstGeom>
          <a:noFill/>
        </p:spPr>
        <p:txBody>
          <a:bodyPr wrap="square" rtlCol="0">
            <a:spAutoFit/>
          </a:bodyPr>
          <a:lstStyle/>
          <a:p>
            <a:r>
              <a:rPr lang="en-US" altLang="zh-CN" sz="1600" b="1" dirty="0">
                <a:solidFill>
                  <a:srgbClr val="CC00FF"/>
                </a:solidFill>
              </a:rPr>
              <a:t>3</a:t>
            </a:r>
            <a:endParaRPr lang="zh-CN" altLang="en-US" sz="1600" b="1" dirty="0">
              <a:solidFill>
                <a:srgbClr val="CC00FF"/>
              </a:solidFill>
            </a:endParaRPr>
          </a:p>
        </p:txBody>
      </p:sp>
    </p:spTree>
    <p:extLst>
      <p:ext uri="{BB962C8B-B14F-4D97-AF65-F5344CB8AC3E}">
        <p14:creationId xmlns:p14="http://schemas.microsoft.com/office/powerpoint/2010/main" val="4127393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nodeType="after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left)">
                                      <p:cBhvr>
                                        <p:cTn id="7" dur="500"/>
                                        <p:tgtEl>
                                          <p:spTgt spid="5">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left)">
                                      <p:cBhvr>
                                        <p:cTn id="10" dur="5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P spid="3" grpId="0" animBg="1"/>
      <p:bldP spid="74" grpId="0"/>
    </p:bld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06" name="Rectangle 6"/>
          <p:cNvSpPr>
            <a:spLocks noChangeArrowheads="1"/>
          </p:cNvSpPr>
          <p:nvPr/>
        </p:nvSpPr>
        <p:spPr bwMode="auto">
          <a:xfrm>
            <a:off x="164368" y="483519"/>
            <a:ext cx="6279840" cy="180231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0" rIns="0"/>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360000">
              <a:buClr>
                <a:schemeClr val="bg2"/>
              </a:buClr>
              <a:buSzPct val="75000"/>
            </a:pPr>
            <a:r>
              <a:rPr lang="en-US" altLang="zh-CN" sz="1600" dirty="0">
                <a:sym typeface="Symbol" pitchFamily="18" charset="2"/>
              </a:rPr>
              <a:t>&lt;BF&gt;</a:t>
            </a:r>
            <a:r>
              <a:rPr lang="en-US" altLang="zh-CN" sz="1600" kern="100" dirty="0"/>
              <a:t>&lt;AE&gt;</a:t>
            </a:r>
            <a:r>
              <a:rPr lang="en-US" altLang="zh-CN" sz="1600" kern="100" baseline="30000" dirty="0"/>
              <a:t>(1)</a:t>
            </a:r>
            <a:r>
              <a:rPr lang="en-US" altLang="zh-CN" sz="1600" kern="100" dirty="0"/>
              <a:t> </a:t>
            </a:r>
            <a:r>
              <a:rPr lang="en-US" altLang="zh-CN" sz="1600" kern="100" dirty="0" err="1"/>
              <a:t>rop</a:t>
            </a:r>
            <a:r>
              <a:rPr lang="en-US" altLang="zh-CN" sz="1600" kern="100" dirty="0"/>
              <a:t> &lt;AE&gt;</a:t>
            </a:r>
            <a:r>
              <a:rPr lang="en-US" altLang="zh-CN" sz="1600" kern="100" baseline="30000" dirty="0"/>
              <a:t>(2)</a:t>
            </a:r>
            <a:endParaRPr lang="zh-CN" altLang="zh-CN" sz="1600" kern="100" dirty="0"/>
          </a:p>
          <a:p>
            <a:pPr marL="360000">
              <a:buClr>
                <a:schemeClr val="bg2"/>
              </a:buClr>
              <a:buSzPct val="75000"/>
              <a:buFont typeface="Wingdings" pitchFamily="2" charset="2"/>
              <a:buNone/>
            </a:pPr>
            <a:r>
              <a:rPr lang="en-US" altLang="zh-CN" sz="1600" dirty="0"/>
              <a:t> {   </a:t>
            </a:r>
            <a:r>
              <a:rPr lang="en-US" altLang="zh-CN" sz="1600" dirty="0">
                <a:sym typeface="Symbol" pitchFamily="18" charset="2"/>
              </a:rPr>
              <a:t>&lt;BF&gt;</a:t>
            </a:r>
            <a:r>
              <a:rPr lang="en-US" altLang="zh-CN" sz="1600" dirty="0"/>
              <a:t>.</a:t>
            </a:r>
            <a:r>
              <a:rPr lang="fr-FR" altLang="zh-CN" sz="1600" dirty="0">
                <a:latin typeface="Times New Roman" pitchFamily="18" charset="0"/>
                <a:cs typeface="Times New Roman" pitchFamily="18" charset="0"/>
              </a:rPr>
              <a:t> PLACE</a:t>
            </a:r>
            <a:r>
              <a:rPr lang="en-US" altLang="zh-CN" sz="1600" dirty="0"/>
              <a:t>= </a:t>
            </a:r>
            <a:r>
              <a:rPr lang="en-US" altLang="zh-CN" sz="1600" dirty="0" err="1"/>
              <a:t>newtemp</a:t>
            </a:r>
            <a:r>
              <a:rPr lang="en-US" altLang="zh-CN" sz="1600" dirty="0"/>
              <a:t>();</a:t>
            </a:r>
          </a:p>
          <a:p>
            <a:pPr marL="360000">
              <a:buClr>
                <a:schemeClr val="bg2"/>
              </a:buClr>
              <a:buSzPct val="75000"/>
            </a:pPr>
            <a:r>
              <a:rPr lang="en-US" altLang="zh-CN" sz="1600" dirty="0"/>
              <a:t>	</a:t>
            </a:r>
            <a:r>
              <a:rPr lang="fr-FR" altLang="zh-CN" sz="1600" dirty="0">
                <a:latin typeface="Times New Roman" pitchFamily="18" charset="0"/>
                <a:cs typeface="Times New Roman" pitchFamily="18" charset="0"/>
              </a:rPr>
              <a:t> gencode</a:t>
            </a:r>
            <a:r>
              <a:rPr lang="en-US" altLang="zh-CN" sz="1600" dirty="0"/>
              <a:t>(</a:t>
            </a:r>
            <a:r>
              <a:rPr lang="en-US" altLang="zh-CN" sz="1600" dirty="0" err="1"/>
              <a:t>jrop</a:t>
            </a:r>
            <a:r>
              <a:rPr lang="en-US" altLang="zh-CN" sz="1600" dirty="0"/>
              <a:t>, </a:t>
            </a:r>
            <a:r>
              <a:rPr lang="en-US" altLang="zh-CN" sz="1600" kern="100" dirty="0"/>
              <a:t>&lt;AE&gt;</a:t>
            </a:r>
            <a:r>
              <a:rPr lang="en-US" altLang="zh-CN" sz="1600" kern="100" baseline="30000" dirty="0"/>
              <a:t>(1)</a:t>
            </a:r>
            <a:r>
              <a:rPr lang="en-US" altLang="zh-CN" sz="1600" dirty="0"/>
              <a:t>.</a:t>
            </a:r>
            <a:r>
              <a:rPr lang="fr-FR" altLang="zh-CN" sz="1600" dirty="0">
                <a:latin typeface="Times New Roman" pitchFamily="18" charset="0"/>
                <a:cs typeface="Times New Roman" pitchFamily="18" charset="0"/>
              </a:rPr>
              <a:t> PLACE</a:t>
            </a:r>
            <a:r>
              <a:rPr lang="en-US" altLang="zh-CN" sz="1600" dirty="0"/>
              <a:t>, </a:t>
            </a:r>
            <a:r>
              <a:rPr lang="en-US" altLang="zh-CN" sz="1600" kern="100" dirty="0"/>
              <a:t>&lt;AE&gt;</a:t>
            </a:r>
            <a:r>
              <a:rPr lang="en-US" altLang="zh-CN" sz="1600" kern="100" baseline="30000" dirty="0"/>
              <a:t>(2)</a:t>
            </a:r>
            <a:r>
              <a:rPr lang="en-US" altLang="zh-CN" sz="1600" dirty="0"/>
              <a:t>.</a:t>
            </a:r>
            <a:r>
              <a:rPr lang="fr-FR" altLang="zh-CN" sz="1600" dirty="0">
                <a:latin typeface="Times New Roman" pitchFamily="18" charset="0"/>
                <a:cs typeface="Times New Roman" pitchFamily="18" charset="0"/>
              </a:rPr>
              <a:t> PLACE</a:t>
            </a:r>
            <a:r>
              <a:rPr lang="en-US" altLang="zh-CN" sz="1600" dirty="0"/>
              <a:t>, NXQ+2);</a:t>
            </a:r>
          </a:p>
          <a:p>
            <a:pPr marL="360000">
              <a:buClr>
                <a:schemeClr val="bg2"/>
              </a:buClr>
              <a:buSzPct val="75000"/>
              <a:buFont typeface="Wingdings" pitchFamily="2" charset="2"/>
              <a:buNone/>
            </a:pPr>
            <a:r>
              <a:rPr lang="en-US" altLang="zh-CN" sz="1600" dirty="0"/>
              <a:t>	</a:t>
            </a:r>
            <a:r>
              <a:rPr lang="fr-FR" altLang="zh-CN" sz="1600" dirty="0">
                <a:latin typeface="Times New Roman" pitchFamily="18" charset="0"/>
                <a:cs typeface="Times New Roman" pitchFamily="18" charset="0"/>
              </a:rPr>
              <a:t> gencode</a:t>
            </a:r>
            <a:r>
              <a:rPr lang="en-US" altLang="zh-CN" sz="1600" dirty="0"/>
              <a:t>(=, 0, _, </a:t>
            </a:r>
            <a:r>
              <a:rPr lang="en-US" altLang="zh-CN" sz="1600" dirty="0">
                <a:sym typeface="Symbol" pitchFamily="18" charset="2"/>
              </a:rPr>
              <a:t>&lt;BF&gt;</a:t>
            </a:r>
            <a:r>
              <a:rPr lang="en-US" altLang="zh-CN" sz="1600" dirty="0"/>
              <a:t>.</a:t>
            </a:r>
            <a:r>
              <a:rPr lang="fr-FR" altLang="zh-CN" sz="1600" dirty="0">
                <a:latin typeface="Times New Roman" pitchFamily="18" charset="0"/>
                <a:cs typeface="Times New Roman" pitchFamily="18" charset="0"/>
              </a:rPr>
              <a:t> PLACE</a:t>
            </a:r>
            <a:r>
              <a:rPr lang="en-US" altLang="zh-CN" sz="1600" dirty="0"/>
              <a:t>);</a:t>
            </a:r>
          </a:p>
          <a:p>
            <a:pPr marL="360000">
              <a:buClr>
                <a:schemeClr val="bg2"/>
              </a:buClr>
              <a:buSzPct val="75000"/>
              <a:buFont typeface="Wingdings" pitchFamily="2" charset="2"/>
              <a:buNone/>
            </a:pPr>
            <a:r>
              <a:rPr lang="en-US" altLang="zh-CN" sz="1600" dirty="0"/>
              <a:t>	</a:t>
            </a:r>
            <a:r>
              <a:rPr lang="fr-FR" altLang="zh-CN" sz="1600" dirty="0">
                <a:latin typeface="Times New Roman" pitchFamily="18" charset="0"/>
                <a:cs typeface="Times New Roman" pitchFamily="18" charset="0"/>
              </a:rPr>
              <a:t> gencode</a:t>
            </a:r>
            <a:r>
              <a:rPr lang="en-US" altLang="zh-CN" sz="1600" dirty="0"/>
              <a:t>(j, _ ,_ , NXQ+1);</a:t>
            </a:r>
          </a:p>
          <a:p>
            <a:pPr marL="360000">
              <a:buClr>
                <a:schemeClr val="bg2"/>
              </a:buClr>
              <a:buSzPct val="75000"/>
              <a:buFont typeface="Wingdings" pitchFamily="2" charset="2"/>
              <a:buNone/>
            </a:pPr>
            <a:r>
              <a:rPr lang="en-US" altLang="zh-CN" sz="1600" dirty="0"/>
              <a:t>	</a:t>
            </a:r>
            <a:r>
              <a:rPr lang="fr-FR" altLang="zh-CN" sz="1600" dirty="0">
                <a:latin typeface="Times New Roman" pitchFamily="18" charset="0"/>
                <a:cs typeface="Times New Roman" pitchFamily="18" charset="0"/>
              </a:rPr>
              <a:t> gencode</a:t>
            </a:r>
            <a:r>
              <a:rPr lang="en-US" altLang="zh-CN" sz="1600" dirty="0"/>
              <a:t>(=, 1, _, </a:t>
            </a:r>
            <a:r>
              <a:rPr lang="en-US" altLang="zh-CN" sz="1600" dirty="0">
                <a:sym typeface="Symbol" pitchFamily="18" charset="2"/>
              </a:rPr>
              <a:t>&lt;BF&gt;</a:t>
            </a:r>
            <a:r>
              <a:rPr lang="en-US" altLang="zh-CN" sz="1600" dirty="0"/>
              <a:t>.</a:t>
            </a:r>
            <a:r>
              <a:rPr lang="fr-FR" altLang="zh-CN" sz="1600" dirty="0">
                <a:latin typeface="Times New Roman" pitchFamily="18" charset="0"/>
                <a:cs typeface="Times New Roman" pitchFamily="18" charset="0"/>
              </a:rPr>
              <a:t> PLACE</a:t>
            </a:r>
            <a:r>
              <a:rPr lang="en-US" altLang="zh-CN" sz="1600" dirty="0"/>
              <a:t>)                          }</a:t>
            </a:r>
          </a:p>
        </p:txBody>
      </p:sp>
      <p:sp>
        <p:nvSpPr>
          <p:cNvPr id="11" name="Rectangle 6"/>
          <p:cNvSpPr>
            <a:spLocks noChangeArrowheads="1"/>
          </p:cNvSpPr>
          <p:nvPr/>
        </p:nvSpPr>
        <p:spPr bwMode="auto">
          <a:xfrm>
            <a:off x="164368" y="2285834"/>
            <a:ext cx="6279840" cy="93398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0" rIns="0"/>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0" lvl="0" indent="0" algn="just" fontAlgn="base">
              <a:spcBef>
                <a:spcPct val="0"/>
              </a:spcBef>
              <a:spcAft>
                <a:spcPct val="0"/>
              </a:spcAft>
            </a:pPr>
            <a:r>
              <a:rPr lang="en-US" altLang="zh-CN" sz="1800" kern="100" dirty="0">
                <a:solidFill>
                  <a:srgbClr val="0000FF"/>
                </a:solidFill>
              </a:rPr>
              <a:t>&lt;BF&gt;→id</a:t>
            </a:r>
            <a:r>
              <a:rPr lang="en-US" altLang="zh-CN" sz="1800" dirty="0">
                <a:solidFill>
                  <a:srgbClr val="0000FF"/>
                </a:solidFill>
              </a:rPr>
              <a:t> </a:t>
            </a:r>
          </a:p>
          <a:p>
            <a:pPr marL="0" lvl="0" indent="0" algn="just" fontAlgn="base">
              <a:spcBef>
                <a:spcPct val="0"/>
              </a:spcBef>
              <a:spcAft>
                <a:spcPct val="0"/>
              </a:spcAft>
            </a:pPr>
            <a:r>
              <a:rPr lang="en-US" altLang="zh-CN" sz="1800" dirty="0">
                <a:solidFill>
                  <a:srgbClr val="0000FF"/>
                </a:solidFill>
                <a:latin typeface="Times New Roman" pitchFamily="18" charset="0"/>
                <a:cs typeface="Times New Roman" pitchFamily="18" charset="0"/>
              </a:rPr>
              <a:t>{    </a:t>
            </a:r>
            <a:r>
              <a:rPr lang="en-US" altLang="zh-CN" sz="1800" kern="100" dirty="0">
                <a:solidFill>
                  <a:srgbClr val="0000FF"/>
                </a:solidFill>
              </a:rPr>
              <a:t>&lt;BF&gt;</a:t>
            </a:r>
            <a:r>
              <a:rPr lang="en-US" altLang="zh-CN" sz="1800" dirty="0">
                <a:solidFill>
                  <a:srgbClr val="0000FF"/>
                </a:solidFill>
                <a:latin typeface="Times New Roman" pitchFamily="18" charset="0"/>
                <a:cs typeface="Times New Roman" pitchFamily="18" charset="0"/>
              </a:rPr>
              <a:t>.PLACE = </a:t>
            </a:r>
            <a:r>
              <a:rPr lang="en-US" altLang="zh-CN" sz="1800" dirty="0" err="1">
                <a:solidFill>
                  <a:srgbClr val="0000FF"/>
                </a:solidFill>
              </a:rPr>
              <a:t>newtemp</a:t>
            </a:r>
            <a:r>
              <a:rPr lang="en-US" altLang="zh-CN" sz="1800" dirty="0">
                <a:solidFill>
                  <a:srgbClr val="0000FF"/>
                </a:solidFill>
              </a:rPr>
              <a:t>()</a:t>
            </a:r>
            <a:r>
              <a:rPr lang="en-US" altLang="zh-CN" sz="1800" dirty="0">
                <a:solidFill>
                  <a:srgbClr val="0000FF"/>
                </a:solidFill>
                <a:latin typeface="Times New Roman" pitchFamily="18" charset="0"/>
                <a:cs typeface="Times New Roman" pitchFamily="18" charset="0"/>
              </a:rPr>
              <a:t>;</a:t>
            </a:r>
            <a:endParaRPr lang="zh-CN" altLang="zh-CN" sz="1800" dirty="0">
              <a:solidFill>
                <a:srgbClr val="0000FF"/>
              </a:solidFill>
              <a:latin typeface="Times New Roman" pitchFamily="18" charset="0"/>
              <a:cs typeface="Times New Roman" pitchFamily="18" charset="0"/>
            </a:endParaRPr>
          </a:p>
          <a:p>
            <a:pPr marL="0" lvl="0" indent="0" algn="just" fontAlgn="base">
              <a:spcBef>
                <a:spcPct val="0"/>
              </a:spcBef>
              <a:spcAft>
                <a:spcPct val="0"/>
              </a:spcAft>
            </a:pPr>
            <a:r>
              <a:rPr lang="en-US" altLang="zh-CN" sz="1800" kern="100" dirty="0">
                <a:solidFill>
                  <a:srgbClr val="0000FF"/>
                </a:solidFill>
              </a:rPr>
              <a:t>     &lt;BF&gt;</a:t>
            </a:r>
            <a:r>
              <a:rPr lang="en-US" altLang="zh-CN" sz="1800" dirty="0">
                <a:solidFill>
                  <a:srgbClr val="0000FF"/>
                </a:solidFill>
                <a:latin typeface="Times New Roman" pitchFamily="18" charset="0"/>
                <a:cs typeface="Times New Roman" pitchFamily="18" charset="0"/>
              </a:rPr>
              <a:t>.PLACE = ENTYR(id).name       }  </a:t>
            </a:r>
            <a:r>
              <a:rPr lang="en-US" altLang="zh-CN" sz="1800" dirty="0"/>
              <a:t>	</a:t>
            </a:r>
          </a:p>
        </p:txBody>
      </p:sp>
      <p:sp>
        <p:nvSpPr>
          <p:cNvPr id="12" name="Rectangle 6"/>
          <p:cNvSpPr>
            <a:spLocks noChangeArrowheads="1"/>
          </p:cNvSpPr>
          <p:nvPr/>
        </p:nvSpPr>
        <p:spPr bwMode="auto">
          <a:xfrm>
            <a:off x="164368" y="3219822"/>
            <a:ext cx="6279840" cy="90635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0" rIns="0"/>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360000">
              <a:buClr>
                <a:schemeClr val="bg2"/>
              </a:buClr>
              <a:buSzPct val="75000"/>
              <a:buFont typeface="Wingdings" pitchFamily="2" charset="2"/>
              <a:buNone/>
            </a:pPr>
            <a:r>
              <a:rPr lang="en-US" altLang="zh-CN" sz="1800" kern="100" dirty="0">
                <a:solidFill>
                  <a:srgbClr val="0000FF"/>
                </a:solidFill>
              </a:rPr>
              <a:t>&lt;BT&gt;→&lt;BT&gt;</a:t>
            </a:r>
            <a:r>
              <a:rPr lang="en-US" altLang="zh-CN" sz="1800" kern="100" baseline="30000" dirty="0">
                <a:solidFill>
                  <a:srgbClr val="0000FF"/>
                </a:solidFill>
              </a:rPr>
              <a:t>(1)</a:t>
            </a:r>
            <a:r>
              <a:rPr lang="en-US" altLang="zh-CN" sz="1800" kern="100" dirty="0">
                <a:solidFill>
                  <a:srgbClr val="0000FF"/>
                </a:solidFill>
              </a:rPr>
              <a:t> &amp;&amp; &lt;BF&gt;</a:t>
            </a:r>
          </a:p>
          <a:p>
            <a:pPr marL="360000">
              <a:buClr>
                <a:schemeClr val="bg2"/>
              </a:buClr>
              <a:buSzPct val="75000"/>
              <a:buFont typeface="Wingdings" pitchFamily="2" charset="2"/>
              <a:buNone/>
            </a:pPr>
            <a:r>
              <a:rPr lang="en-US" altLang="zh-CN" sz="1800" dirty="0">
                <a:solidFill>
                  <a:srgbClr val="0000FF"/>
                </a:solidFill>
              </a:rPr>
              <a:t>{   </a:t>
            </a:r>
            <a:r>
              <a:rPr lang="en-US" altLang="zh-CN" sz="1800" kern="100" dirty="0">
                <a:solidFill>
                  <a:srgbClr val="0000FF"/>
                </a:solidFill>
              </a:rPr>
              <a:t>&lt;BT&gt;</a:t>
            </a:r>
            <a:r>
              <a:rPr lang="en-US" altLang="zh-CN" sz="1800" dirty="0">
                <a:solidFill>
                  <a:srgbClr val="0000FF"/>
                </a:solidFill>
              </a:rPr>
              <a:t>.</a:t>
            </a:r>
            <a:r>
              <a:rPr lang="fr-FR" altLang="zh-CN" sz="1800" dirty="0">
                <a:solidFill>
                  <a:srgbClr val="0000FF"/>
                </a:solidFill>
                <a:latin typeface="Times New Roman" pitchFamily="18" charset="0"/>
                <a:cs typeface="Times New Roman" pitchFamily="18" charset="0"/>
              </a:rPr>
              <a:t> PLACE </a:t>
            </a:r>
            <a:r>
              <a:rPr lang="en-US" altLang="zh-CN" sz="1800" dirty="0">
                <a:solidFill>
                  <a:srgbClr val="0000FF"/>
                </a:solidFill>
              </a:rPr>
              <a:t>= </a:t>
            </a:r>
            <a:r>
              <a:rPr lang="en-US" altLang="zh-CN" sz="1800" dirty="0" err="1">
                <a:solidFill>
                  <a:srgbClr val="0000FF"/>
                </a:solidFill>
              </a:rPr>
              <a:t>newtemp</a:t>
            </a:r>
            <a:r>
              <a:rPr lang="en-US" altLang="zh-CN" sz="1800" dirty="0">
                <a:solidFill>
                  <a:srgbClr val="0000FF"/>
                </a:solidFill>
              </a:rPr>
              <a:t>();</a:t>
            </a:r>
          </a:p>
          <a:p>
            <a:pPr marL="360000">
              <a:buClr>
                <a:schemeClr val="bg2"/>
              </a:buClr>
              <a:buSzPct val="75000"/>
              <a:buFont typeface="Wingdings" pitchFamily="2" charset="2"/>
              <a:buNone/>
            </a:pPr>
            <a:r>
              <a:rPr lang="fr-FR" altLang="zh-CN" sz="1800" dirty="0">
                <a:solidFill>
                  <a:srgbClr val="0000FF"/>
                </a:solidFill>
                <a:latin typeface="Times New Roman" pitchFamily="18" charset="0"/>
                <a:cs typeface="Times New Roman" pitchFamily="18" charset="0"/>
              </a:rPr>
              <a:t>    gencode</a:t>
            </a:r>
            <a:r>
              <a:rPr lang="en-US" altLang="zh-CN" sz="1800" dirty="0">
                <a:solidFill>
                  <a:srgbClr val="0000FF"/>
                </a:solidFill>
              </a:rPr>
              <a:t>(&amp;&amp;, </a:t>
            </a:r>
            <a:r>
              <a:rPr lang="en-US" altLang="zh-CN" sz="1800" kern="100" dirty="0">
                <a:solidFill>
                  <a:srgbClr val="0000FF"/>
                </a:solidFill>
              </a:rPr>
              <a:t>&lt;BT&gt;</a:t>
            </a:r>
            <a:r>
              <a:rPr lang="en-US" altLang="zh-CN" sz="1800" kern="100" baseline="30000" dirty="0">
                <a:solidFill>
                  <a:srgbClr val="0000FF"/>
                </a:solidFill>
              </a:rPr>
              <a:t>(1)</a:t>
            </a:r>
            <a:r>
              <a:rPr lang="en-US" altLang="zh-CN" sz="1800" dirty="0">
                <a:solidFill>
                  <a:srgbClr val="0000FF"/>
                </a:solidFill>
              </a:rPr>
              <a:t>.</a:t>
            </a:r>
            <a:r>
              <a:rPr lang="fr-FR" altLang="zh-CN" sz="1800" dirty="0">
                <a:solidFill>
                  <a:srgbClr val="0000FF"/>
                </a:solidFill>
                <a:latin typeface="Times New Roman" pitchFamily="18" charset="0"/>
                <a:cs typeface="Times New Roman" pitchFamily="18" charset="0"/>
              </a:rPr>
              <a:t>PLACE</a:t>
            </a:r>
            <a:r>
              <a:rPr lang="en-US" altLang="zh-CN" sz="1800" dirty="0">
                <a:solidFill>
                  <a:srgbClr val="0000FF"/>
                </a:solidFill>
              </a:rPr>
              <a:t>, </a:t>
            </a:r>
            <a:r>
              <a:rPr lang="en-US" altLang="zh-CN" sz="1800" kern="100" dirty="0">
                <a:solidFill>
                  <a:srgbClr val="0000FF"/>
                </a:solidFill>
              </a:rPr>
              <a:t>&lt;BF&gt;</a:t>
            </a:r>
            <a:r>
              <a:rPr lang="en-US" altLang="zh-CN" sz="1800" dirty="0">
                <a:solidFill>
                  <a:srgbClr val="0000FF"/>
                </a:solidFill>
              </a:rPr>
              <a:t>.</a:t>
            </a:r>
            <a:r>
              <a:rPr lang="fr-FR" altLang="zh-CN" sz="1800" dirty="0">
                <a:solidFill>
                  <a:srgbClr val="0000FF"/>
                </a:solidFill>
                <a:latin typeface="Times New Roman" pitchFamily="18" charset="0"/>
                <a:cs typeface="Times New Roman" pitchFamily="18" charset="0"/>
              </a:rPr>
              <a:t>PLACE</a:t>
            </a:r>
            <a:r>
              <a:rPr lang="en-US" altLang="zh-CN" sz="1800" dirty="0">
                <a:solidFill>
                  <a:srgbClr val="0000FF"/>
                </a:solidFill>
              </a:rPr>
              <a:t>, </a:t>
            </a:r>
            <a:r>
              <a:rPr lang="en-US" altLang="zh-CN" sz="1800" kern="100" dirty="0">
                <a:solidFill>
                  <a:srgbClr val="0000FF"/>
                </a:solidFill>
              </a:rPr>
              <a:t>&lt;BT&gt;</a:t>
            </a:r>
            <a:r>
              <a:rPr lang="en-US" altLang="zh-CN" sz="1800" dirty="0">
                <a:solidFill>
                  <a:srgbClr val="0000FF"/>
                </a:solidFill>
              </a:rPr>
              <a:t>.</a:t>
            </a:r>
            <a:r>
              <a:rPr lang="fr-FR" altLang="zh-CN" sz="1800" dirty="0">
                <a:solidFill>
                  <a:srgbClr val="0000FF"/>
                </a:solidFill>
                <a:latin typeface="Times New Roman" pitchFamily="18" charset="0"/>
                <a:cs typeface="Times New Roman" pitchFamily="18" charset="0"/>
              </a:rPr>
              <a:t> PLACE</a:t>
            </a:r>
            <a:r>
              <a:rPr lang="en-US" altLang="zh-CN" sz="1800" dirty="0">
                <a:solidFill>
                  <a:srgbClr val="0000FF"/>
                </a:solidFill>
              </a:rPr>
              <a:t>)}</a:t>
            </a:r>
            <a:endParaRPr lang="zh-CN" altLang="en-US" sz="1800" dirty="0">
              <a:solidFill>
                <a:srgbClr val="0000FF"/>
              </a:solidFill>
            </a:endParaRPr>
          </a:p>
        </p:txBody>
      </p:sp>
      <p:sp>
        <p:nvSpPr>
          <p:cNvPr id="13" name="Rectangle 6"/>
          <p:cNvSpPr>
            <a:spLocks noChangeArrowheads="1"/>
          </p:cNvSpPr>
          <p:nvPr/>
        </p:nvSpPr>
        <p:spPr bwMode="auto">
          <a:xfrm>
            <a:off x="164368" y="4135388"/>
            <a:ext cx="6279840" cy="967212"/>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0" rIns="0"/>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360000">
              <a:buClr>
                <a:schemeClr val="bg2"/>
              </a:buClr>
              <a:buSzPct val="75000"/>
            </a:pPr>
            <a:r>
              <a:rPr lang="en-US" altLang="zh-CN" sz="1800" kern="100" dirty="0"/>
              <a:t>&lt;BE&gt;→&lt;BE&gt;</a:t>
            </a:r>
            <a:r>
              <a:rPr lang="en-US" altLang="zh-CN" sz="1800" kern="100" baseline="30000" dirty="0"/>
              <a:t>(1)</a:t>
            </a:r>
            <a:r>
              <a:rPr lang="en-US" altLang="zh-CN" sz="1800" kern="100" dirty="0"/>
              <a:t> || &lt;BT&gt;</a:t>
            </a:r>
            <a:endParaRPr lang="zh-CN" altLang="zh-CN" sz="1800" kern="100" dirty="0"/>
          </a:p>
          <a:p>
            <a:pPr marL="360000">
              <a:buClr>
                <a:schemeClr val="bg2"/>
              </a:buClr>
              <a:buSzPct val="75000"/>
              <a:buFont typeface="Wingdings" pitchFamily="2" charset="2"/>
              <a:buNone/>
            </a:pPr>
            <a:r>
              <a:rPr lang="en-US" altLang="zh-CN" sz="1800" dirty="0"/>
              <a:t>{    </a:t>
            </a:r>
            <a:r>
              <a:rPr lang="en-US" altLang="zh-CN" sz="1800" kern="100" dirty="0"/>
              <a:t>&lt;BE&gt;</a:t>
            </a:r>
            <a:r>
              <a:rPr lang="en-US" altLang="zh-CN" sz="1800" dirty="0"/>
              <a:t>.</a:t>
            </a:r>
            <a:r>
              <a:rPr lang="fr-FR" altLang="zh-CN" sz="1800" dirty="0">
                <a:latin typeface="Times New Roman" pitchFamily="18" charset="0"/>
                <a:cs typeface="Times New Roman" pitchFamily="18" charset="0"/>
              </a:rPr>
              <a:t> PLACE  </a:t>
            </a:r>
            <a:r>
              <a:rPr lang="en-US" altLang="zh-CN" sz="1800" dirty="0"/>
              <a:t>= </a:t>
            </a:r>
            <a:r>
              <a:rPr lang="en-US" altLang="zh-CN" sz="1800" dirty="0" err="1"/>
              <a:t>newtemp</a:t>
            </a:r>
            <a:r>
              <a:rPr lang="en-US" altLang="zh-CN" sz="1800" dirty="0"/>
              <a:t>();</a:t>
            </a:r>
          </a:p>
          <a:p>
            <a:pPr marL="360000">
              <a:buClr>
                <a:schemeClr val="bg2"/>
              </a:buClr>
              <a:buSzPct val="75000"/>
              <a:buFont typeface="Wingdings" pitchFamily="2" charset="2"/>
              <a:buNone/>
            </a:pPr>
            <a:r>
              <a:rPr lang="en-US" altLang="zh-CN" sz="1800" dirty="0"/>
              <a:t>     </a:t>
            </a:r>
            <a:r>
              <a:rPr lang="fr-FR" altLang="zh-CN" sz="1800" dirty="0">
                <a:latin typeface="Times New Roman" pitchFamily="18" charset="0"/>
                <a:cs typeface="Times New Roman" pitchFamily="18" charset="0"/>
              </a:rPr>
              <a:t>gencode</a:t>
            </a:r>
            <a:r>
              <a:rPr lang="en-US" altLang="zh-CN" sz="1800" dirty="0"/>
              <a:t>(||, </a:t>
            </a:r>
            <a:r>
              <a:rPr lang="en-US" altLang="zh-CN" sz="1800" kern="100" dirty="0"/>
              <a:t>&lt;BE&gt;</a:t>
            </a:r>
            <a:r>
              <a:rPr lang="en-US" altLang="zh-CN" sz="1800" kern="100" baseline="30000" dirty="0"/>
              <a:t>(1)</a:t>
            </a:r>
            <a:r>
              <a:rPr lang="en-US" altLang="zh-CN" sz="1800" dirty="0"/>
              <a:t>.</a:t>
            </a:r>
            <a:r>
              <a:rPr lang="fr-FR" altLang="zh-CN" sz="1800" dirty="0">
                <a:latin typeface="Times New Roman" pitchFamily="18" charset="0"/>
                <a:cs typeface="Times New Roman" pitchFamily="18" charset="0"/>
              </a:rPr>
              <a:t>PLACE</a:t>
            </a:r>
            <a:r>
              <a:rPr lang="en-US" altLang="zh-CN" sz="1800" dirty="0"/>
              <a:t>, </a:t>
            </a:r>
            <a:r>
              <a:rPr lang="en-US" altLang="zh-CN" sz="1800" kern="100" dirty="0"/>
              <a:t>&lt;BT&gt;</a:t>
            </a:r>
            <a:r>
              <a:rPr lang="en-US" altLang="zh-CN" sz="1800" dirty="0"/>
              <a:t>.</a:t>
            </a:r>
            <a:r>
              <a:rPr lang="fr-FR" altLang="zh-CN" sz="1800" dirty="0">
                <a:latin typeface="Times New Roman" pitchFamily="18" charset="0"/>
                <a:cs typeface="Times New Roman" pitchFamily="18" charset="0"/>
              </a:rPr>
              <a:t>PLACE</a:t>
            </a:r>
            <a:r>
              <a:rPr lang="en-US" altLang="zh-CN" sz="1800" dirty="0"/>
              <a:t>,</a:t>
            </a:r>
            <a:r>
              <a:rPr lang="en-US" altLang="zh-CN" sz="1800" kern="100" dirty="0"/>
              <a:t> &lt;BE&gt;</a:t>
            </a:r>
            <a:r>
              <a:rPr lang="en-US" altLang="zh-CN" sz="1800" dirty="0"/>
              <a:t>.</a:t>
            </a:r>
            <a:r>
              <a:rPr lang="fr-FR" altLang="zh-CN" sz="1800" dirty="0">
                <a:latin typeface="Times New Roman" pitchFamily="18" charset="0"/>
                <a:cs typeface="Times New Roman" pitchFamily="18" charset="0"/>
              </a:rPr>
              <a:t> PLACE</a:t>
            </a:r>
            <a:r>
              <a:rPr lang="en-US" altLang="zh-CN" sz="1800" dirty="0"/>
              <a:t>) }</a:t>
            </a:r>
          </a:p>
        </p:txBody>
      </p:sp>
      <p:sp>
        <p:nvSpPr>
          <p:cNvPr id="4" name="标题 3"/>
          <p:cNvSpPr>
            <a:spLocks noGrp="1"/>
          </p:cNvSpPr>
          <p:nvPr>
            <p:ph type="title"/>
          </p:nvPr>
        </p:nvSpPr>
        <p:spPr>
          <a:xfrm>
            <a:off x="107504" y="-20538"/>
            <a:ext cx="8229600" cy="483517"/>
          </a:xfrm>
        </p:spPr>
        <p:txBody>
          <a:bodyPr>
            <a:normAutofit fontScale="90000"/>
          </a:bodyPr>
          <a:lstStyle/>
          <a:p>
            <a:r>
              <a:rPr lang="zh-CN" altLang="en-US" dirty="0"/>
              <a:t>布尔表达式的语义规则</a:t>
            </a:r>
          </a:p>
        </p:txBody>
      </p:sp>
      <p:sp>
        <p:nvSpPr>
          <p:cNvPr id="17" name="矩形 16"/>
          <p:cNvSpPr/>
          <p:nvPr/>
        </p:nvSpPr>
        <p:spPr>
          <a:xfrm>
            <a:off x="5724127" y="-22141"/>
            <a:ext cx="3419873" cy="218521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spcAft>
                <a:spcPts val="0"/>
              </a:spcAft>
            </a:pPr>
            <a:r>
              <a:rPr lang="en-US" altLang="zh-CN" sz="1700" kern="100" dirty="0"/>
              <a:t>(1) &lt;BE&gt;→&lt;BE&gt;</a:t>
            </a:r>
            <a:r>
              <a:rPr lang="en-US" altLang="zh-CN" sz="1700" kern="100" baseline="30000" dirty="0"/>
              <a:t>(1)</a:t>
            </a:r>
            <a:r>
              <a:rPr lang="en-US" altLang="zh-CN" sz="1700" kern="100" dirty="0"/>
              <a:t> || &lt;BT&gt;</a:t>
            </a:r>
            <a:endParaRPr lang="zh-CN" altLang="zh-CN" sz="1700" kern="100" dirty="0"/>
          </a:p>
          <a:p>
            <a:pPr algn="just">
              <a:spcAft>
                <a:spcPts val="0"/>
              </a:spcAft>
            </a:pPr>
            <a:r>
              <a:rPr lang="en-US" altLang="zh-CN" sz="1700" kern="100" dirty="0"/>
              <a:t>(2) &lt;BE&gt;→&lt;BT&gt;</a:t>
            </a:r>
            <a:endParaRPr lang="zh-CN" altLang="zh-CN" sz="1700" kern="100" dirty="0"/>
          </a:p>
          <a:p>
            <a:pPr algn="just">
              <a:spcAft>
                <a:spcPts val="0"/>
              </a:spcAft>
            </a:pPr>
            <a:r>
              <a:rPr lang="en-US" altLang="zh-CN" sz="1700" kern="100" dirty="0"/>
              <a:t>(3) &lt;BT&gt;→&lt;BT&gt;</a:t>
            </a:r>
            <a:r>
              <a:rPr lang="en-US" altLang="zh-CN" sz="1700" kern="100" baseline="30000" dirty="0"/>
              <a:t>(1)</a:t>
            </a:r>
            <a:r>
              <a:rPr lang="en-US" altLang="zh-CN" sz="1700" kern="100" dirty="0"/>
              <a:t> &amp;&amp; &lt;BF&gt;</a:t>
            </a:r>
            <a:endParaRPr lang="zh-CN" altLang="zh-CN" sz="1700" kern="100" dirty="0"/>
          </a:p>
          <a:p>
            <a:pPr algn="just">
              <a:spcAft>
                <a:spcPts val="0"/>
              </a:spcAft>
            </a:pPr>
            <a:r>
              <a:rPr lang="en-US" altLang="zh-CN" sz="1700" kern="100" dirty="0"/>
              <a:t>(4) &lt;BT&gt;→&lt;BF&gt;</a:t>
            </a:r>
            <a:endParaRPr lang="zh-CN" altLang="zh-CN" sz="1700" kern="100" dirty="0"/>
          </a:p>
          <a:p>
            <a:pPr algn="just">
              <a:spcAft>
                <a:spcPts val="0"/>
              </a:spcAft>
            </a:pPr>
            <a:r>
              <a:rPr lang="en-US" altLang="zh-CN" sz="1700" kern="100" dirty="0"/>
              <a:t>(5) &lt;BF&gt;→! &lt;BF&gt;</a:t>
            </a:r>
            <a:r>
              <a:rPr lang="en-US" altLang="zh-CN" sz="1700" kern="100" baseline="30000" dirty="0"/>
              <a:t>(1)</a:t>
            </a:r>
            <a:endParaRPr lang="zh-CN" altLang="zh-CN" sz="1700" kern="100" dirty="0"/>
          </a:p>
          <a:p>
            <a:pPr algn="just">
              <a:spcAft>
                <a:spcPts val="0"/>
              </a:spcAft>
            </a:pPr>
            <a:r>
              <a:rPr lang="en-US" altLang="zh-CN" sz="1700" kern="100" dirty="0"/>
              <a:t>(6) &lt;BF&gt;→(&lt;BE&gt;)</a:t>
            </a:r>
            <a:endParaRPr lang="zh-CN" altLang="zh-CN" sz="1700" kern="100" dirty="0"/>
          </a:p>
          <a:p>
            <a:pPr algn="just">
              <a:spcAft>
                <a:spcPts val="0"/>
              </a:spcAft>
            </a:pPr>
            <a:r>
              <a:rPr lang="en-US" altLang="zh-CN" sz="1700" kern="100" dirty="0"/>
              <a:t>(7) &lt;BF&gt;→&lt;AE&gt;</a:t>
            </a:r>
            <a:r>
              <a:rPr lang="en-US" altLang="zh-CN" sz="1700" kern="100" baseline="30000" dirty="0"/>
              <a:t>(1)</a:t>
            </a:r>
            <a:r>
              <a:rPr lang="en-US" altLang="zh-CN" sz="1700" kern="100" dirty="0"/>
              <a:t> </a:t>
            </a:r>
            <a:r>
              <a:rPr lang="en-US" altLang="zh-CN" sz="1700" kern="100" dirty="0" err="1"/>
              <a:t>rop</a:t>
            </a:r>
            <a:r>
              <a:rPr lang="en-US" altLang="zh-CN" sz="1700" kern="100" dirty="0"/>
              <a:t> &lt;AE&gt;</a:t>
            </a:r>
            <a:r>
              <a:rPr lang="en-US" altLang="zh-CN" sz="1700" kern="100" baseline="30000" dirty="0"/>
              <a:t>(2)</a:t>
            </a:r>
            <a:endParaRPr lang="zh-CN" altLang="zh-CN" sz="1700" kern="100" dirty="0"/>
          </a:p>
          <a:p>
            <a:pPr algn="just">
              <a:spcAft>
                <a:spcPts val="0"/>
              </a:spcAft>
            </a:pPr>
            <a:r>
              <a:rPr lang="en-US" altLang="zh-CN" sz="1700" kern="100" dirty="0"/>
              <a:t>(8) &lt;BF&gt;→id</a:t>
            </a:r>
            <a:endParaRPr lang="zh-CN" altLang="zh-CN" sz="1700" kern="100" dirty="0">
              <a:latin typeface="Times New Roman" panose="02020603050405020304" pitchFamily="18" charset="0"/>
              <a:ea typeface="宋体" panose="02010600030101010101" pitchFamily="2" charset="-122"/>
            </a:endParaRPr>
          </a:p>
        </p:txBody>
      </p:sp>
      <p:sp>
        <p:nvSpPr>
          <p:cNvPr id="5" name="TextBox 4"/>
          <p:cNvSpPr txBox="1"/>
          <p:nvPr/>
        </p:nvSpPr>
        <p:spPr>
          <a:xfrm>
            <a:off x="6508131" y="2752828"/>
            <a:ext cx="2635869" cy="178510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defRPr/>
            </a:pPr>
            <a:r>
              <a:rPr lang="en-US" altLang="zh-CN" sz="2000" b="1" kern="0" dirty="0">
                <a:solidFill>
                  <a:srgbClr val="FF0000"/>
                </a:solidFill>
                <a:latin typeface="宋体" panose="02010600030101010101" pitchFamily="2" charset="-122"/>
                <a:ea typeface="宋体" panose="02010600030101010101" pitchFamily="2" charset="-122"/>
              </a:rPr>
              <a:t>a&lt;b</a:t>
            </a:r>
            <a:r>
              <a:rPr lang="zh-CN" altLang="en-US" kern="0" dirty="0">
                <a:latin typeface="宋体" panose="02010600030101010101" pitchFamily="2" charset="-122"/>
                <a:ea typeface="宋体" panose="02010600030101010101" pitchFamily="2" charset="-122"/>
              </a:rPr>
              <a:t>等价的四元式为：</a:t>
            </a:r>
          </a:p>
          <a:p>
            <a:pPr>
              <a:defRPr/>
            </a:pPr>
            <a:r>
              <a:rPr lang="zh-CN" altLang="en-US" kern="0" dirty="0">
                <a:latin typeface="宋体" panose="02010600030101010101" pitchFamily="2" charset="-122"/>
                <a:ea typeface="宋体" panose="02010600030101010101" pitchFamily="2" charset="-122"/>
              </a:rPr>
              <a:t>（</a:t>
            </a:r>
            <a:r>
              <a:rPr lang="en-US" altLang="zh-CN" kern="0" dirty="0">
                <a:latin typeface="宋体" panose="02010600030101010101" pitchFamily="2" charset="-122"/>
                <a:ea typeface="宋体" panose="02010600030101010101" pitchFamily="2" charset="-122"/>
              </a:rPr>
              <a:t>1</a:t>
            </a:r>
            <a:r>
              <a:rPr lang="zh-CN" altLang="en-US" kern="0" dirty="0">
                <a:latin typeface="宋体" panose="02010600030101010101" pitchFamily="2" charset="-122"/>
                <a:ea typeface="宋体" panose="02010600030101010101" pitchFamily="2" charset="-122"/>
              </a:rPr>
              <a:t>）  </a:t>
            </a:r>
            <a:r>
              <a:rPr lang="en-US" altLang="zh-CN" kern="0" dirty="0">
                <a:latin typeface="宋体" panose="02010600030101010101" pitchFamily="2" charset="-122"/>
                <a:ea typeface="宋体" panose="02010600030101010101" pitchFamily="2" charset="-122"/>
              </a:rPr>
              <a:t>(j&lt;, a, b, (4))</a:t>
            </a:r>
          </a:p>
          <a:p>
            <a:pPr>
              <a:defRPr/>
            </a:pPr>
            <a:r>
              <a:rPr lang="zh-CN" altLang="en-US" kern="0" dirty="0">
                <a:latin typeface="宋体" panose="02010600030101010101" pitchFamily="2" charset="-122"/>
                <a:ea typeface="宋体" panose="02010600030101010101" pitchFamily="2" charset="-122"/>
              </a:rPr>
              <a:t>（</a:t>
            </a:r>
            <a:r>
              <a:rPr lang="en-US" altLang="zh-CN" kern="0" dirty="0">
                <a:latin typeface="宋体" panose="02010600030101010101" pitchFamily="2" charset="-122"/>
                <a:ea typeface="宋体" panose="02010600030101010101" pitchFamily="2" charset="-122"/>
              </a:rPr>
              <a:t>2</a:t>
            </a:r>
            <a:r>
              <a:rPr lang="zh-CN" altLang="en-US" kern="0" dirty="0">
                <a:latin typeface="宋体" panose="02010600030101010101" pitchFamily="2" charset="-122"/>
                <a:ea typeface="宋体" panose="02010600030101010101" pitchFamily="2" charset="-122"/>
              </a:rPr>
              <a:t>）</a:t>
            </a:r>
            <a:r>
              <a:rPr lang="en-US" altLang="zh-CN" kern="0" dirty="0">
                <a:latin typeface="宋体" panose="02010600030101010101" pitchFamily="2" charset="-122"/>
                <a:ea typeface="宋体" panose="02010600030101010101" pitchFamily="2" charset="-122"/>
              </a:rPr>
              <a:t>  (=, 0 , _ , T)</a:t>
            </a:r>
          </a:p>
          <a:p>
            <a:pPr>
              <a:defRPr/>
            </a:pPr>
            <a:r>
              <a:rPr lang="zh-CN" altLang="en-US" kern="0" dirty="0">
                <a:latin typeface="宋体" panose="02010600030101010101" pitchFamily="2" charset="-122"/>
                <a:ea typeface="宋体" panose="02010600030101010101" pitchFamily="2" charset="-122"/>
              </a:rPr>
              <a:t>（</a:t>
            </a:r>
            <a:r>
              <a:rPr lang="en-US" altLang="zh-CN" kern="0" dirty="0">
                <a:latin typeface="宋体" panose="02010600030101010101" pitchFamily="2" charset="-122"/>
                <a:ea typeface="宋体" panose="02010600030101010101" pitchFamily="2" charset="-122"/>
              </a:rPr>
              <a:t>3</a:t>
            </a:r>
            <a:r>
              <a:rPr lang="zh-CN" altLang="en-US" kern="0" dirty="0">
                <a:latin typeface="宋体" panose="02010600030101010101" pitchFamily="2" charset="-122"/>
                <a:ea typeface="宋体" panose="02010600030101010101" pitchFamily="2" charset="-122"/>
              </a:rPr>
              <a:t>）</a:t>
            </a:r>
            <a:r>
              <a:rPr lang="en-US" altLang="zh-CN" kern="0" dirty="0">
                <a:latin typeface="宋体" panose="02010600030101010101" pitchFamily="2" charset="-122"/>
                <a:ea typeface="宋体" panose="02010600030101010101" pitchFamily="2" charset="-122"/>
              </a:rPr>
              <a:t>  (j,_, _, (5) )</a:t>
            </a:r>
          </a:p>
          <a:p>
            <a:pPr>
              <a:defRPr/>
            </a:pPr>
            <a:r>
              <a:rPr lang="zh-CN" altLang="en-US" kern="0" dirty="0">
                <a:latin typeface="宋体" panose="02010600030101010101" pitchFamily="2" charset="-122"/>
                <a:ea typeface="宋体" panose="02010600030101010101" pitchFamily="2" charset="-122"/>
              </a:rPr>
              <a:t>（</a:t>
            </a:r>
            <a:r>
              <a:rPr lang="en-US" altLang="zh-CN" kern="0" dirty="0">
                <a:latin typeface="宋体" panose="02010600030101010101" pitchFamily="2" charset="-122"/>
                <a:ea typeface="宋体" panose="02010600030101010101" pitchFamily="2" charset="-122"/>
              </a:rPr>
              <a:t>4</a:t>
            </a:r>
            <a:r>
              <a:rPr lang="zh-CN" altLang="en-US" kern="0" dirty="0">
                <a:latin typeface="宋体" panose="02010600030101010101" pitchFamily="2" charset="-122"/>
                <a:ea typeface="宋体" panose="02010600030101010101" pitchFamily="2" charset="-122"/>
              </a:rPr>
              <a:t>）</a:t>
            </a:r>
            <a:r>
              <a:rPr lang="en-US" altLang="zh-CN" kern="0" dirty="0">
                <a:latin typeface="宋体" panose="02010600030101010101" pitchFamily="2" charset="-122"/>
                <a:ea typeface="宋体" panose="02010600030101010101" pitchFamily="2" charset="-122"/>
              </a:rPr>
              <a:t>  (=, 1 , _ , T)</a:t>
            </a:r>
          </a:p>
          <a:p>
            <a:pPr>
              <a:defRPr/>
            </a:pPr>
            <a:r>
              <a:rPr lang="zh-CN" altLang="en-US" kern="0" dirty="0">
                <a:latin typeface="宋体" panose="02010600030101010101" pitchFamily="2" charset="-122"/>
                <a:ea typeface="宋体" panose="02010600030101010101" pitchFamily="2" charset="-122"/>
              </a:rPr>
              <a:t>（</a:t>
            </a:r>
            <a:r>
              <a:rPr lang="en-US" altLang="zh-CN" kern="0" dirty="0">
                <a:latin typeface="宋体" panose="02010600030101010101" pitchFamily="2" charset="-122"/>
                <a:ea typeface="宋体" panose="02010600030101010101" pitchFamily="2" charset="-122"/>
              </a:rPr>
              <a:t>5</a:t>
            </a:r>
            <a:r>
              <a:rPr lang="zh-CN" altLang="en-US" kern="0" dirty="0">
                <a:latin typeface="宋体" panose="02010600030101010101" pitchFamily="2" charset="-122"/>
                <a:ea typeface="宋体" panose="02010600030101010101" pitchFamily="2" charset="-122"/>
              </a:rPr>
              <a:t>）</a:t>
            </a:r>
            <a:endParaRPr lang="zh-CN" altLang="en-US" dirty="0"/>
          </a:p>
        </p:txBody>
      </p:sp>
    </p:spTree>
    <p:extLst>
      <p:ext uri="{BB962C8B-B14F-4D97-AF65-F5344CB8AC3E}">
        <p14:creationId xmlns:p14="http://schemas.microsoft.com/office/powerpoint/2010/main" val="3975166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48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6" grpId="0" animBg="1"/>
      <p:bldP spid="11" grpId="0" animBg="1"/>
      <p:bldP spid="12" grpId="0" animBg="1"/>
      <p:bldP spid="13" grpId="0" animBg="1"/>
      <p:bldP spid="5" grpId="0" animBg="1"/>
    </p:bldLst>
  </p:timing>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1588" y="12642"/>
            <a:ext cx="9145588" cy="470876"/>
          </a:xfrm>
        </p:spPr>
        <p:txBody>
          <a:bodyPr>
            <a:noAutofit/>
          </a:bodyPr>
          <a:lstStyle/>
          <a:p>
            <a:r>
              <a:rPr lang="zh-CN" altLang="en-US" sz="3200" b="1" dirty="0"/>
              <a:t>例：布尔表达式</a:t>
            </a:r>
            <a:r>
              <a:rPr lang="en-US" altLang="zh-CN" sz="3200" b="1" dirty="0">
                <a:solidFill>
                  <a:srgbClr val="FF3300"/>
                </a:solidFill>
              </a:rPr>
              <a:t>a&lt;b </a:t>
            </a:r>
            <a:r>
              <a:rPr lang="en-US" altLang="zh-CN" sz="3200" b="1" dirty="0"/>
              <a:t>|| </a:t>
            </a:r>
            <a:r>
              <a:rPr lang="en-US" altLang="zh-CN" sz="3200" b="1" dirty="0">
                <a:solidFill>
                  <a:srgbClr val="003399"/>
                </a:solidFill>
              </a:rPr>
              <a:t>c&lt;d</a:t>
            </a:r>
            <a:r>
              <a:rPr lang="en-US" altLang="zh-CN" sz="3200" b="1" dirty="0"/>
              <a:t> &amp;&amp; </a:t>
            </a:r>
            <a:r>
              <a:rPr lang="en-US" altLang="zh-CN" sz="3200" b="1" dirty="0">
                <a:solidFill>
                  <a:srgbClr val="CC00CC"/>
                </a:solidFill>
              </a:rPr>
              <a:t>e&gt;f</a:t>
            </a:r>
            <a:r>
              <a:rPr lang="zh-CN" altLang="en-US" sz="3200" b="1" dirty="0"/>
              <a:t>的翻译结果 </a:t>
            </a:r>
          </a:p>
        </p:txBody>
      </p:sp>
      <p:sp>
        <p:nvSpPr>
          <p:cNvPr id="204803" name="Rectangle 3"/>
          <p:cNvSpPr>
            <a:spLocks noGrp="1" noChangeArrowheads="1"/>
          </p:cNvSpPr>
          <p:nvPr>
            <p:ph type="body" idx="1"/>
          </p:nvPr>
        </p:nvSpPr>
        <p:spPr>
          <a:xfrm>
            <a:off x="107504" y="527036"/>
            <a:ext cx="2809057" cy="4616463"/>
          </a:xfrm>
        </p:spPr>
        <p:style>
          <a:lnRef idx="2">
            <a:schemeClr val="accent1"/>
          </a:lnRef>
          <a:fillRef idx="1">
            <a:schemeClr val="lt1"/>
          </a:fillRef>
          <a:effectRef idx="0">
            <a:schemeClr val="accent1"/>
          </a:effectRef>
          <a:fontRef idx="minor">
            <a:schemeClr val="dk1"/>
          </a:fontRef>
        </p:style>
        <p:txBody>
          <a:bodyPr>
            <a:noAutofit/>
          </a:bodyPr>
          <a:lstStyle/>
          <a:p>
            <a:pPr>
              <a:spcBef>
                <a:spcPts val="0"/>
              </a:spcBef>
              <a:buFont typeface="Wingdings" pitchFamily="2" charset="2"/>
              <a:buNone/>
            </a:pPr>
            <a:r>
              <a:rPr lang="fr-FR" altLang="zh-CN" sz="1800" b="1" dirty="0">
                <a:solidFill>
                  <a:srgbClr val="FF3300"/>
                </a:solidFill>
              </a:rPr>
              <a:t>100:	(j&lt;, a, b, 103)</a:t>
            </a:r>
          </a:p>
          <a:p>
            <a:pPr>
              <a:spcBef>
                <a:spcPts val="0"/>
              </a:spcBef>
              <a:buFont typeface="Wingdings" pitchFamily="2" charset="2"/>
              <a:buNone/>
            </a:pPr>
            <a:r>
              <a:rPr lang="fr-FR" altLang="zh-CN" sz="1800" b="1" dirty="0">
                <a:solidFill>
                  <a:srgbClr val="FF3300"/>
                </a:solidFill>
              </a:rPr>
              <a:t>101:	(=, 0, _, T1 )</a:t>
            </a:r>
          </a:p>
          <a:p>
            <a:pPr>
              <a:spcBef>
                <a:spcPts val="0"/>
              </a:spcBef>
              <a:buFont typeface="Wingdings" pitchFamily="2" charset="2"/>
              <a:buNone/>
            </a:pPr>
            <a:r>
              <a:rPr lang="fr-FR" altLang="zh-CN" sz="1800" b="1" dirty="0">
                <a:solidFill>
                  <a:srgbClr val="FF3300"/>
                </a:solidFill>
              </a:rPr>
              <a:t>102:	(j, _, _, 104)</a:t>
            </a:r>
          </a:p>
          <a:p>
            <a:pPr>
              <a:spcBef>
                <a:spcPts val="0"/>
              </a:spcBef>
              <a:buFont typeface="Wingdings" pitchFamily="2" charset="2"/>
              <a:buNone/>
            </a:pPr>
            <a:r>
              <a:rPr lang="fr-FR" altLang="zh-CN" sz="1800" b="1" dirty="0">
                <a:solidFill>
                  <a:srgbClr val="FF3300"/>
                </a:solidFill>
              </a:rPr>
              <a:t>103:	(=, 1, _, T1 )</a:t>
            </a:r>
          </a:p>
        </p:txBody>
      </p:sp>
      <p:sp>
        <p:nvSpPr>
          <p:cNvPr id="204806" name="Rectangle 6"/>
          <p:cNvSpPr>
            <a:spLocks noChangeArrowheads="1"/>
          </p:cNvSpPr>
          <p:nvPr/>
        </p:nvSpPr>
        <p:spPr bwMode="auto">
          <a:xfrm>
            <a:off x="2915816" y="555525"/>
            <a:ext cx="6279840" cy="453650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0" rIns="0"/>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360000">
              <a:buClr>
                <a:schemeClr val="bg2"/>
              </a:buClr>
              <a:buSzPct val="75000"/>
            </a:pPr>
            <a:r>
              <a:rPr lang="en-US" altLang="zh-CN" sz="1800" dirty="0">
                <a:sym typeface="Symbol" pitchFamily="18" charset="2"/>
              </a:rPr>
              <a:t>&lt;BF&gt;</a:t>
            </a:r>
            <a:r>
              <a:rPr lang="en-US" altLang="zh-CN" sz="1800" kern="100" dirty="0"/>
              <a:t>&lt;AE&gt;</a:t>
            </a:r>
            <a:r>
              <a:rPr lang="en-US" altLang="zh-CN" sz="1800" kern="100" baseline="30000" dirty="0"/>
              <a:t>(1)</a:t>
            </a:r>
            <a:r>
              <a:rPr lang="en-US" altLang="zh-CN" sz="1800" kern="100" dirty="0"/>
              <a:t> </a:t>
            </a:r>
            <a:r>
              <a:rPr lang="en-US" altLang="zh-CN" sz="1800" kern="100" dirty="0" err="1"/>
              <a:t>rop</a:t>
            </a:r>
            <a:r>
              <a:rPr lang="en-US" altLang="zh-CN" sz="1800" kern="100" dirty="0"/>
              <a:t> &lt;AE&gt;</a:t>
            </a:r>
            <a:r>
              <a:rPr lang="en-US" altLang="zh-CN" sz="1800" kern="100" baseline="30000" dirty="0"/>
              <a:t>(2)</a:t>
            </a:r>
            <a:endParaRPr lang="zh-CN" altLang="zh-CN" sz="1800" kern="100" dirty="0"/>
          </a:p>
          <a:p>
            <a:pPr marL="360000">
              <a:buClr>
                <a:schemeClr val="bg2"/>
              </a:buClr>
              <a:buSzPct val="75000"/>
              <a:buFont typeface="Wingdings" pitchFamily="2" charset="2"/>
              <a:buNone/>
            </a:pPr>
            <a:r>
              <a:rPr lang="en-US" altLang="zh-CN" sz="1800" dirty="0"/>
              <a:t> {   </a:t>
            </a:r>
            <a:r>
              <a:rPr lang="en-US" altLang="zh-CN" sz="1800" dirty="0">
                <a:sym typeface="Symbol" pitchFamily="18" charset="2"/>
              </a:rPr>
              <a:t>&lt;BF&gt;</a:t>
            </a:r>
            <a:r>
              <a:rPr lang="en-US" altLang="zh-CN" sz="1800" dirty="0"/>
              <a:t>.</a:t>
            </a:r>
            <a:r>
              <a:rPr lang="fr-FR" altLang="zh-CN" sz="1800" dirty="0">
                <a:latin typeface="Times New Roman" pitchFamily="18" charset="0"/>
                <a:cs typeface="Times New Roman" pitchFamily="18" charset="0"/>
              </a:rPr>
              <a:t> PLACE</a:t>
            </a:r>
            <a:r>
              <a:rPr lang="en-US" altLang="zh-CN" sz="1800" dirty="0"/>
              <a:t>= </a:t>
            </a:r>
            <a:r>
              <a:rPr lang="en-US" altLang="zh-CN" sz="1800" dirty="0" err="1"/>
              <a:t>newtemp</a:t>
            </a:r>
            <a:r>
              <a:rPr lang="en-US" altLang="zh-CN" sz="1800" dirty="0"/>
              <a:t>();</a:t>
            </a:r>
          </a:p>
          <a:p>
            <a:pPr marL="360000">
              <a:buClr>
                <a:schemeClr val="bg2"/>
              </a:buClr>
              <a:buSzPct val="75000"/>
            </a:pPr>
            <a:r>
              <a:rPr lang="en-US" altLang="zh-CN" sz="1800" dirty="0"/>
              <a:t>	</a:t>
            </a:r>
            <a:r>
              <a:rPr lang="fr-FR" altLang="zh-CN" sz="1800" dirty="0">
                <a:latin typeface="Times New Roman" pitchFamily="18" charset="0"/>
                <a:cs typeface="Times New Roman" pitchFamily="18" charset="0"/>
              </a:rPr>
              <a:t> gencode</a:t>
            </a:r>
            <a:r>
              <a:rPr lang="en-US" altLang="zh-CN" sz="1800" dirty="0"/>
              <a:t>(</a:t>
            </a:r>
            <a:r>
              <a:rPr lang="en-US" altLang="zh-CN" sz="1800" dirty="0" err="1"/>
              <a:t>jrop</a:t>
            </a:r>
            <a:r>
              <a:rPr lang="en-US" altLang="zh-CN" sz="1800" dirty="0"/>
              <a:t>, </a:t>
            </a:r>
            <a:r>
              <a:rPr lang="en-US" altLang="zh-CN" sz="1800" kern="100" dirty="0"/>
              <a:t>&lt;AE&gt;</a:t>
            </a:r>
            <a:r>
              <a:rPr lang="en-US" altLang="zh-CN" sz="1800" kern="100" baseline="30000" dirty="0"/>
              <a:t>(1)</a:t>
            </a:r>
            <a:r>
              <a:rPr lang="en-US" altLang="zh-CN" sz="1800" dirty="0"/>
              <a:t>.</a:t>
            </a:r>
            <a:r>
              <a:rPr lang="fr-FR" altLang="zh-CN" sz="1800" dirty="0">
                <a:latin typeface="Times New Roman" pitchFamily="18" charset="0"/>
                <a:cs typeface="Times New Roman" pitchFamily="18" charset="0"/>
              </a:rPr>
              <a:t> PLACE</a:t>
            </a:r>
            <a:r>
              <a:rPr lang="en-US" altLang="zh-CN" sz="1800" dirty="0"/>
              <a:t>, </a:t>
            </a:r>
            <a:r>
              <a:rPr lang="en-US" altLang="zh-CN" sz="1800" kern="100" dirty="0"/>
              <a:t>&lt;AE&gt;</a:t>
            </a:r>
            <a:r>
              <a:rPr lang="en-US" altLang="zh-CN" sz="1800" kern="100" baseline="30000" dirty="0"/>
              <a:t>(2)</a:t>
            </a:r>
            <a:r>
              <a:rPr lang="en-US" altLang="zh-CN" sz="1800" dirty="0"/>
              <a:t>.</a:t>
            </a:r>
            <a:r>
              <a:rPr lang="fr-FR" altLang="zh-CN" sz="1800" dirty="0">
                <a:latin typeface="Times New Roman" pitchFamily="18" charset="0"/>
                <a:cs typeface="Times New Roman" pitchFamily="18" charset="0"/>
              </a:rPr>
              <a:t> PLACE</a:t>
            </a:r>
            <a:r>
              <a:rPr lang="en-US" altLang="zh-CN" sz="1800" dirty="0"/>
              <a:t>, NXQ+2);</a:t>
            </a:r>
          </a:p>
          <a:p>
            <a:pPr marL="360000">
              <a:buClr>
                <a:schemeClr val="bg2"/>
              </a:buClr>
              <a:buSzPct val="75000"/>
              <a:buFont typeface="Wingdings" pitchFamily="2" charset="2"/>
              <a:buNone/>
            </a:pPr>
            <a:r>
              <a:rPr lang="en-US" altLang="zh-CN" sz="1800" dirty="0"/>
              <a:t>	</a:t>
            </a:r>
            <a:r>
              <a:rPr lang="fr-FR" altLang="zh-CN" sz="1800" dirty="0">
                <a:latin typeface="Times New Roman" pitchFamily="18" charset="0"/>
                <a:cs typeface="Times New Roman" pitchFamily="18" charset="0"/>
              </a:rPr>
              <a:t> gencode</a:t>
            </a:r>
            <a:r>
              <a:rPr lang="en-US" altLang="zh-CN" sz="1800" dirty="0"/>
              <a:t>(=, 0, _, </a:t>
            </a:r>
            <a:r>
              <a:rPr lang="en-US" altLang="zh-CN" sz="1800" dirty="0">
                <a:sym typeface="Symbol" pitchFamily="18" charset="2"/>
              </a:rPr>
              <a:t>&lt;BF&gt;</a:t>
            </a:r>
            <a:r>
              <a:rPr lang="en-US" altLang="zh-CN" sz="1800" dirty="0"/>
              <a:t>.</a:t>
            </a:r>
            <a:r>
              <a:rPr lang="fr-FR" altLang="zh-CN" sz="1800" dirty="0">
                <a:latin typeface="Times New Roman" pitchFamily="18" charset="0"/>
                <a:cs typeface="Times New Roman" pitchFamily="18" charset="0"/>
              </a:rPr>
              <a:t> PLACE</a:t>
            </a:r>
            <a:r>
              <a:rPr lang="en-US" altLang="zh-CN" sz="1800" dirty="0"/>
              <a:t>);</a:t>
            </a:r>
          </a:p>
          <a:p>
            <a:pPr marL="360000">
              <a:buClr>
                <a:schemeClr val="bg2"/>
              </a:buClr>
              <a:buSzPct val="75000"/>
              <a:buFont typeface="Wingdings" pitchFamily="2" charset="2"/>
              <a:buNone/>
            </a:pPr>
            <a:r>
              <a:rPr lang="en-US" altLang="zh-CN" sz="1800" dirty="0"/>
              <a:t>	</a:t>
            </a:r>
            <a:r>
              <a:rPr lang="fr-FR" altLang="zh-CN" sz="1800" dirty="0">
                <a:latin typeface="Times New Roman" pitchFamily="18" charset="0"/>
                <a:cs typeface="Times New Roman" pitchFamily="18" charset="0"/>
              </a:rPr>
              <a:t> gencode</a:t>
            </a:r>
            <a:r>
              <a:rPr lang="en-US" altLang="zh-CN" sz="1800" dirty="0"/>
              <a:t>(j, _ ,_ , NXQ+1);</a:t>
            </a:r>
          </a:p>
          <a:p>
            <a:pPr marL="360000">
              <a:buClr>
                <a:schemeClr val="bg2"/>
              </a:buClr>
              <a:buSzPct val="75000"/>
              <a:buFont typeface="Wingdings" pitchFamily="2" charset="2"/>
              <a:buNone/>
            </a:pPr>
            <a:r>
              <a:rPr lang="en-US" altLang="zh-CN" sz="1800" dirty="0"/>
              <a:t>	</a:t>
            </a:r>
            <a:r>
              <a:rPr lang="fr-FR" altLang="zh-CN" sz="1800" dirty="0">
                <a:latin typeface="Times New Roman" pitchFamily="18" charset="0"/>
                <a:cs typeface="Times New Roman" pitchFamily="18" charset="0"/>
              </a:rPr>
              <a:t> gencode</a:t>
            </a:r>
            <a:r>
              <a:rPr lang="en-US" altLang="zh-CN" sz="1800" dirty="0"/>
              <a:t>(=, 1, _, </a:t>
            </a:r>
            <a:r>
              <a:rPr lang="en-US" altLang="zh-CN" sz="1800" dirty="0">
                <a:sym typeface="Symbol" pitchFamily="18" charset="2"/>
              </a:rPr>
              <a:t>&lt;BF&gt;</a:t>
            </a:r>
            <a:r>
              <a:rPr lang="en-US" altLang="zh-CN" sz="1800" dirty="0"/>
              <a:t>.</a:t>
            </a:r>
            <a:r>
              <a:rPr lang="fr-FR" altLang="zh-CN" sz="1800" dirty="0">
                <a:latin typeface="Times New Roman" pitchFamily="18" charset="0"/>
                <a:cs typeface="Times New Roman" pitchFamily="18" charset="0"/>
              </a:rPr>
              <a:t> PLACE</a:t>
            </a:r>
            <a:r>
              <a:rPr lang="en-US" altLang="zh-CN" sz="1800" dirty="0"/>
              <a:t>)             }</a:t>
            </a:r>
          </a:p>
        </p:txBody>
      </p:sp>
      <p:sp>
        <p:nvSpPr>
          <p:cNvPr id="6" name="Rectangle 3"/>
          <p:cNvSpPr txBox="1">
            <a:spLocks noChangeArrowheads="1"/>
          </p:cNvSpPr>
          <p:nvPr/>
        </p:nvSpPr>
        <p:spPr>
          <a:xfrm>
            <a:off x="106759" y="1860685"/>
            <a:ext cx="2809057" cy="1296144"/>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a:spcBef>
                <a:spcPts val="0"/>
              </a:spcBef>
              <a:buFont typeface="Wingdings" pitchFamily="2" charset="2"/>
              <a:buNone/>
            </a:pPr>
            <a:r>
              <a:rPr lang="en-US" altLang="zh-CN" sz="1800" b="1" dirty="0">
                <a:solidFill>
                  <a:srgbClr val="003399"/>
                </a:solidFill>
              </a:rPr>
              <a:t>104:	(j&lt;, c, d ,107)</a:t>
            </a:r>
          </a:p>
          <a:p>
            <a:pPr>
              <a:spcBef>
                <a:spcPts val="0"/>
              </a:spcBef>
              <a:buFont typeface="Wingdings" pitchFamily="2" charset="2"/>
              <a:buNone/>
            </a:pPr>
            <a:r>
              <a:rPr lang="en-US" altLang="zh-CN" sz="1800" b="1" dirty="0">
                <a:solidFill>
                  <a:srgbClr val="003399"/>
                </a:solidFill>
              </a:rPr>
              <a:t>105:	(=,0, _, T2 )</a:t>
            </a:r>
          </a:p>
          <a:p>
            <a:pPr>
              <a:spcBef>
                <a:spcPts val="0"/>
              </a:spcBef>
              <a:buFont typeface="Wingdings" pitchFamily="2" charset="2"/>
              <a:buNone/>
            </a:pPr>
            <a:r>
              <a:rPr lang="en-US" altLang="zh-CN" sz="1800" b="1" dirty="0">
                <a:solidFill>
                  <a:srgbClr val="003399"/>
                </a:solidFill>
              </a:rPr>
              <a:t>106:	(j, _, _, 108)</a:t>
            </a:r>
          </a:p>
          <a:p>
            <a:pPr>
              <a:spcBef>
                <a:spcPts val="0"/>
              </a:spcBef>
              <a:buFont typeface="Wingdings" pitchFamily="2" charset="2"/>
              <a:buNone/>
            </a:pPr>
            <a:r>
              <a:rPr lang="en-US" altLang="zh-CN" sz="1800" b="1" dirty="0">
                <a:solidFill>
                  <a:srgbClr val="003399"/>
                </a:solidFill>
              </a:rPr>
              <a:t>107: 	(=,1, _, T2 )</a:t>
            </a:r>
          </a:p>
        </p:txBody>
      </p:sp>
      <p:sp>
        <p:nvSpPr>
          <p:cNvPr id="7" name="Rectangle 3"/>
          <p:cNvSpPr txBox="1">
            <a:spLocks noChangeArrowheads="1"/>
          </p:cNvSpPr>
          <p:nvPr/>
        </p:nvSpPr>
        <p:spPr>
          <a:xfrm>
            <a:off x="111873" y="3156829"/>
            <a:ext cx="2809057" cy="1296144"/>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a:spcBef>
                <a:spcPts val="0"/>
              </a:spcBef>
              <a:buFont typeface="Wingdings" pitchFamily="2" charset="2"/>
              <a:buNone/>
            </a:pPr>
            <a:r>
              <a:rPr lang="en-US" altLang="zh-CN" sz="1800" b="1" dirty="0">
                <a:solidFill>
                  <a:srgbClr val="CC00CC"/>
                </a:solidFill>
              </a:rPr>
              <a:t>108:  </a:t>
            </a:r>
            <a:r>
              <a:rPr lang="en-US" altLang="zh-CN" sz="1800" b="1">
                <a:solidFill>
                  <a:srgbClr val="CC00CC"/>
                </a:solidFill>
              </a:rPr>
              <a:t>(j&gt;, </a:t>
            </a:r>
            <a:r>
              <a:rPr lang="en-US" altLang="zh-CN" sz="1800" b="1" dirty="0">
                <a:solidFill>
                  <a:srgbClr val="CC00CC"/>
                </a:solidFill>
              </a:rPr>
              <a:t>e, f , 111)</a:t>
            </a:r>
          </a:p>
          <a:p>
            <a:pPr>
              <a:spcBef>
                <a:spcPts val="0"/>
              </a:spcBef>
              <a:buFont typeface="Wingdings" pitchFamily="2" charset="2"/>
              <a:buNone/>
            </a:pPr>
            <a:r>
              <a:rPr lang="en-US" altLang="zh-CN" sz="1800" b="1" dirty="0">
                <a:solidFill>
                  <a:srgbClr val="CC00CC"/>
                </a:solidFill>
              </a:rPr>
              <a:t>109:  (=, 0, _, T3 )</a:t>
            </a:r>
          </a:p>
          <a:p>
            <a:pPr>
              <a:spcBef>
                <a:spcPts val="0"/>
              </a:spcBef>
              <a:buFont typeface="Wingdings" pitchFamily="2" charset="2"/>
              <a:buNone/>
            </a:pPr>
            <a:r>
              <a:rPr lang="en-US" altLang="zh-CN" sz="1800" b="1" dirty="0">
                <a:solidFill>
                  <a:srgbClr val="CC00CC"/>
                </a:solidFill>
              </a:rPr>
              <a:t>110:  (j, _, _, 112)</a:t>
            </a:r>
          </a:p>
          <a:p>
            <a:pPr>
              <a:spcBef>
                <a:spcPts val="0"/>
              </a:spcBef>
              <a:buFont typeface="Wingdings" pitchFamily="2" charset="2"/>
              <a:buNone/>
            </a:pPr>
            <a:r>
              <a:rPr lang="en-US" altLang="zh-CN" sz="1800" b="1" dirty="0">
                <a:solidFill>
                  <a:srgbClr val="CC00CC"/>
                </a:solidFill>
              </a:rPr>
              <a:t>111:  (=, 1, _, T3 )</a:t>
            </a:r>
          </a:p>
        </p:txBody>
      </p:sp>
      <p:sp>
        <p:nvSpPr>
          <p:cNvPr id="8" name="Rectangle 3"/>
          <p:cNvSpPr txBox="1">
            <a:spLocks noChangeArrowheads="1"/>
          </p:cNvSpPr>
          <p:nvPr/>
        </p:nvSpPr>
        <p:spPr>
          <a:xfrm>
            <a:off x="106758" y="4452973"/>
            <a:ext cx="2809057" cy="711065"/>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dk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dk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dk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dk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dk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dk1"/>
                </a:solidFill>
                <a:latin typeface="+mn-lt"/>
                <a:ea typeface="+mn-ea"/>
                <a:cs typeface="+mn-cs"/>
              </a:defRPr>
            </a:lvl9pPr>
            <a:extLst/>
          </a:lstStyle>
          <a:p>
            <a:pPr>
              <a:spcBef>
                <a:spcPts val="0"/>
              </a:spcBef>
              <a:buFont typeface="Wingdings" pitchFamily="2" charset="2"/>
              <a:buNone/>
            </a:pPr>
            <a:r>
              <a:rPr lang="en-US" altLang="zh-CN" sz="1800" b="1" dirty="0"/>
              <a:t>112:  (&amp;&amp;,T2 ,T3,T4 )</a:t>
            </a:r>
          </a:p>
          <a:p>
            <a:pPr>
              <a:spcBef>
                <a:spcPts val="0"/>
              </a:spcBef>
              <a:buFont typeface="Wingdings" pitchFamily="2" charset="2"/>
              <a:buNone/>
            </a:pPr>
            <a:r>
              <a:rPr lang="en-US" altLang="zh-CN" sz="1800" b="1" dirty="0"/>
              <a:t>113:  (||,T1,T4,T5 )</a:t>
            </a:r>
          </a:p>
        </p:txBody>
      </p:sp>
      <p:sp>
        <p:nvSpPr>
          <p:cNvPr id="11" name="Rectangle 6"/>
          <p:cNvSpPr>
            <a:spLocks noChangeArrowheads="1"/>
          </p:cNvSpPr>
          <p:nvPr/>
        </p:nvSpPr>
        <p:spPr bwMode="auto">
          <a:xfrm>
            <a:off x="2915816" y="2355726"/>
            <a:ext cx="6279840" cy="88251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0" rIns="0"/>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0" lvl="0" indent="0" algn="just" fontAlgn="base">
              <a:spcBef>
                <a:spcPct val="0"/>
              </a:spcBef>
              <a:spcAft>
                <a:spcPct val="0"/>
              </a:spcAft>
            </a:pPr>
            <a:r>
              <a:rPr lang="en-US" altLang="zh-CN" sz="1800" kern="100" dirty="0">
                <a:solidFill>
                  <a:srgbClr val="0000FF"/>
                </a:solidFill>
              </a:rPr>
              <a:t>&lt;BF&gt;→id</a:t>
            </a:r>
            <a:r>
              <a:rPr lang="en-US" altLang="zh-CN" sz="1800" dirty="0">
                <a:solidFill>
                  <a:srgbClr val="0000FF"/>
                </a:solidFill>
              </a:rPr>
              <a:t> </a:t>
            </a:r>
          </a:p>
          <a:p>
            <a:pPr marL="0" lvl="0" indent="0" algn="just" fontAlgn="base">
              <a:spcBef>
                <a:spcPct val="0"/>
              </a:spcBef>
              <a:spcAft>
                <a:spcPct val="0"/>
              </a:spcAft>
            </a:pPr>
            <a:r>
              <a:rPr lang="en-US" altLang="zh-CN" sz="1800" dirty="0">
                <a:solidFill>
                  <a:srgbClr val="0000FF"/>
                </a:solidFill>
                <a:latin typeface="Times New Roman" pitchFamily="18" charset="0"/>
                <a:cs typeface="Times New Roman" pitchFamily="18" charset="0"/>
              </a:rPr>
              <a:t>{    </a:t>
            </a:r>
            <a:r>
              <a:rPr lang="en-US" altLang="zh-CN" sz="1800" kern="100" dirty="0">
                <a:solidFill>
                  <a:srgbClr val="0000FF"/>
                </a:solidFill>
              </a:rPr>
              <a:t>&lt;BF&gt;</a:t>
            </a:r>
            <a:r>
              <a:rPr lang="en-US" altLang="zh-CN" sz="1800" dirty="0">
                <a:solidFill>
                  <a:srgbClr val="0000FF"/>
                </a:solidFill>
                <a:latin typeface="Times New Roman" pitchFamily="18" charset="0"/>
                <a:cs typeface="Times New Roman" pitchFamily="18" charset="0"/>
              </a:rPr>
              <a:t>.PLACE = </a:t>
            </a:r>
            <a:r>
              <a:rPr lang="en-US" altLang="zh-CN" sz="1800" dirty="0" err="1">
                <a:solidFill>
                  <a:srgbClr val="0000FF"/>
                </a:solidFill>
              </a:rPr>
              <a:t>newtemp</a:t>
            </a:r>
            <a:r>
              <a:rPr lang="en-US" altLang="zh-CN" sz="1800" dirty="0">
                <a:solidFill>
                  <a:srgbClr val="0000FF"/>
                </a:solidFill>
              </a:rPr>
              <a:t>()</a:t>
            </a:r>
            <a:r>
              <a:rPr lang="en-US" altLang="zh-CN" sz="1800" dirty="0">
                <a:solidFill>
                  <a:srgbClr val="0000FF"/>
                </a:solidFill>
                <a:latin typeface="Times New Roman" pitchFamily="18" charset="0"/>
                <a:cs typeface="Times New Roman" pitchFamily="18" charset="0"/>
              </a:rPr>
              <a:t>;</a:t>
            </a:r>
            <a:endParaRPr lang="zh-CN" altLang="zh-CN" sz="1800" dirty="0">
              <a:solidFill>
                <a:srgbClr val="0000FF"/>
              </a:solidFill>
              <a:latin typeface="Times New Roman" pitchFamily="18" charset="0"/>
              <a:cs typeface="Times New Roman" pitchFamily="18" charset="0"/>
            </a:endParaRPr>
          </a:p>
          <a:p>
            <a:pPr marL="0" lvl="0" indent="0" algn="just" fontAlgn="base">
              <a:spcBef>
                <a:spcPct val="0"/>
              </a:spcBef>
              <a:spcAft>
                <a:spcPct val="0"/>
              </a:spcAft>
            </a:pPr>
            <a:r>
              <a:rPr lang="en-US" altLang="zh-CN" sz="1800" dirty="0">
                <a:solidFill>
                  <a:srgbClr val="0000FF"/>
                </a:solidFill>
                <a:latin typeface="Times New Roman" pitchFamily="18" charset="0"/>
                <a:cs typeface="Times New Roman" pitchFamily="18" charset="0"/>
              </a:rPr>
              <a:t>      </a:t>
            </a:r>
            <a:r>
              <a:rPr lang="en-US" altLang="zh-CN" sz="1800" kern="100" dirty="0">
                <a:solidFill>
                  <a:srgbClr val="0000FF"/>
                </a:solidFill>
              </a:rPr>
              <a:t>&lt;BF&gt;</a:t>
            </a:r>
            <a:r>
              <a:rPr lang="en-US" altLang="zh-CN" sz="1800" dirty="0">
                <a:solidFill>
                  <a:srgbClr val="0000FF"/>
                </a:solidFill>
                <a:latin typeface="Times New Roman" pitchFamily="18" charset="0"/>
                <a:cs typeface="Times New Roman" pitchFamily="18" charset="0"/>
              </a:rPr>
              <a:t>.PLACE = ENTYR(id).name                             }  </a:t>
            </a:r>
            <a:r>
              <a:rPr lang="en-US" altLang="zh-CN" sz="1800" dirty="0"/>
              <a:t>	</a:t>
            </a:r>
          </a:p>
        </p:txBody>
      </p:sp>
      <p:sp>
        <p:nvSpPr>
          <p:cNvPr id="12" name="Rectangle 6"/>
          <p:cNvSpPr>
            <a:spLocks noChangeArrowheads="1"/>
          </p:cNvSpPr>
          <p:nvPr/>
        </p:nvSpPr>
        <p:spPr bwMode="auto">
          <a:xfrm>
            <a:off x="2915816" y="3219822"/>
            <a:ext cx="6279840" cy="85488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0" rIns="0"/>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360000">
              <a:buClr>
                <a:schemeClr val="bg2"/>
              </a:buClr>
              <a:buSzPct val="75000"/>
              <a:buFont typeface="Wingdings" pitchFamily="2" charset="2"/>
              <a:buNone/>
            </a:pPr>
            <a:r>
              <a:rPr lang="en-US" altLang="zh-CN" sz="1800" kern="100" dirty="0"/>
              <a:t>&lt;BT&gt;→&lt;BT&gt;</a:t>
            </a:r>
            <a:r>
              <a:rPr lang="en-US" altLang="zh-CN" sz="1800" kern="100" baseline="30000" dirty="0"/>
              <a:t>(1)</a:t>
            </a:r>
            <a:r>
              <a:rPr lang="en-US" altLang="zh-CN" sz="1800" kern="100" dirty="0"/>
              <a:t> &amp;&amp; &lt;BF&gt;</a:t>
            </a:r>
          </a:p>
          <a:p>
            <a:pPr marL="360000">
              <a:buClr>
                <a:schemeClr val="bg2"/>
              </a:buClr>
              <a:buSzPct val="75000"/>
              <a:buFont typeface="Wingdings" pitchFamily="2" charset="2"/>
              <a:buNone/>
            </a:pPr>
            <a:r>
              <a:rPr lang="en-US" altLang="zh-CN" sz="1800" dirty="0"/>
              <a:t>   {</a:t>
            </a:r>
            <a:r>
              <a:rPr lang="en-US" altLang="zh-CN" sz="1800" kern="100" dirty="0"/>
              <a:t>&lt;BT&gt;</a:t>
            </a:r>
            <a:r>
              <a:rPr lang="en-US" altLang="zh-CN" sz="1800" dirty="0"/>
              <a:t>.</a:t>
            </a:r>
            <a:r>
              <a:rPr lang="fr-FR" altLang="zh-CN" sz="1800" dirty="0">
                <a:latin typeface="Times New Roman" pitchFamily="18" charset="0"/>
                <a:cs typeface="Times New Roman" pitchFamily="18" charset="0"/>
              </a:rPr>
              <a:t> PLACE </a:t>
            </a:r>
            <a:r>
              <a:rPr lang="en-US" altLang="zh-CN" sz="1800" dirty="0"/>
              <a:t>= </a:t>
            </a:r>
            <a:r>
              <a:rPr lang="en-US" altLang="zh-CN" sz="1800" dirty="0" err="1"/>
              <a:t>newtemp</a:t>
            </a:r>
            <a:r>
              <a:rPr lang="en-US" altLang="zh-CN" sz="1800" dirty="0"/>
              <a:t>();</a:t>
            </a:r>
          </a:p>
          <a:p>
            <a:pPr marL="360000">
              <a:buClr>
                <a:schemeClr val="bg2"/>
              </a:buClr>
              <a:buSzPct val="75000"/>
              <a:buFont typeface="Wingdings" pitchFamily="2" charset="2"/>
              <a:buNone/>
            </a:pPr>
            <a:r>
              <a:rPr lang="fr-FR" altLang="zh-CN" sz="1800" dirty="0">
                <a:latin typeface="Times New Roman" pitchFamily="18" charset="0"/>
                <a:cs typeface="Times New Roman" pitchFamily="18" charset="0"/>
              </a:rPr>
              <a:t>    gencode</a:t>
            </a:r>
            <a:r>
              <a:rPr lang="en-US" altLang="zh-CN" sz="1800" dirty="0"/>
              <a:t>(&amp;&amp;, </a:t>
            </a:r>
            <a:r>
              <a:rPr lang="en-US" altLang="zh-CN" sz="1800" kern="100" dirty="0"/>
              <a:t>&lt;BT&gt;</a:t>
            </a:r>
            <a:r>
              <a:rPr lang="en-US" altLang="zh-CN" sz="1800" kern="100" baseline="30000" dirty="0"/>
              <a:t>(1)</a:t>
            </a:r>
            <a:r>
              <a:rPr lang="en-US" altLang="zh-CN" sz="1800" dirty="0"/>
              <a:t>.</a:t>
            </a:r>
            <a:r>
              <a:rPr lang="fr-FR" altLang="zh-CN" sz="1800" dirty="0">
                <a:latin typeface="Times New Roman" pitchFamily="18" charset="0"/>
                <a:cs typeface="Times New Roman" pitchFamily="18" charset="0"/>
              </a:rPr>
              <a:t>PLACE</a:t>
            </a:r>
            <a:r>
              <a:rPr lang="en-US" altLang="zh-CN" sz="1800" dirty="0"/>
              <a:t>, </a:t>
            </a:r>
            <a:r>
              <a:rPr lang="en-US" altLang="zh-CN" sz="1800" kern="100" dirty="0"/>
              <a:t>&lt;BF&gt;</a:t>
            </a:r>
            <a:r>
              <a:rPr lang="en-US" altLang="zh-CN" sz="1800" dirty="0"/>
              <a:t>.</a:t>
            </a:r>
            <a:r>
              <a:rPr lang="fr-FR" altLang="zh-CN" sz="1800" dirty="0">
                <a:latin typeface="Times New Roman" pitchFamily="18" charset="0"/>
                <a:cs typeface="Times New Roman" pitchFamily="18" charset="0"/>
              </a:rPr>
              <a:t>PLACE</a:t>
            </a:r>
            <a:r>
              <a:rPr lang="en-US" altLang="zh-CN" sz="1800" dirty="0"/>
              <a:t>, </a:t>
            </a:r>
            <a:r>
              <a:rPr lang="en-US" altLang="zh-CN" sz="1800" kern="100" dirty="0"/>
              <a:t>&lt;BT&gt;</a:t>
            </a:r>
            <a:r>
              <a:rPr lang="en-US" altLang="zh-CN" sz="1800" dirty="0"/>
              <a:t>.</a:t>
            </a:r>
            <a:r>
              <a:rPr lang="fr-FR" altLang="zh-CN" sz="1800" dirty="0">
                <a:latin typeface="Times New Roman" pitchFamily="18" charset="0"/>
                <a:cs typeface="Times New Roman" pitchFamily="18" charset="0"/>
              </a:rPr>
              <a:t> PLACE</a:t>
            </a:r>
            <a:r>
              <a:rPr lang="en-US" altLang="zh-CN" sz="1800" dirty="0"/>
              <a:t>)}</a:t>
            </a:r>
            <a:endParaRPr lang="zh-CN" altLang="en-US" sz="1800" dirty="0"/>
          </a:p>
        </p:txBody>
      </p:sp>
      <p:sp>
        <p:nvSpPr>
          <p:cNvPr id="13" name="Rectangle 6"/>
          <p:cNvSpPr>
            <a:spLocks noChangeArrowheads="1"/>
          </p:cNvSpPr>
          <p:nvPr/>
        </p:nvSpPr>
        <p:spPr bwMode="auto">
          <a:xfrm>
            <a:off x="2915816" y="4083918"/>
            <a:ext cx="6279840" cy="967212"/>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0" rIns="0"/>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360000">
              <a:buClr>
                <a:schemeClr val="bg2"/>
              </a:buClr>
              <a:buSzPct val="75000"/>
            </a:pPr>
            <a:r>
              <a:rPr lang="en-US" altLang="zh-CN" sz="1800" kern="100" dirty="0">
                <a:solidFill>
                  <a:srgbClr val="0000FF"/>
                </a:solidFill>
              </a:rPr>
              <a:t>&lt;BE&gt;→&lt;BE&gt;</a:t>
            </a:r>
            <a:r>
              <a:rPr lang="en-US" altLang="zh-CN" sz="1800" kern="100" baseline="30000" dirty="0">
                <a:solidFill>
                  <a:srgbClr val="0000FF"/>
                </a:solidFill>
              </a:rPr>
              <a:t>(1)</a:t>
            </a:r>
            <a:r>
              <a:rPr lang="en-US" altLang="zh-CN" sz="1800" kern="100" dirty="0">
                <a:solidFill>
                  <a:srgbClr val="0000FF"/>
                </a:solidFill>
              </a:rPr>
              <a:t> || &lt;BT&gt;</a:t>
            </a:r>
            <a:endParaRPr lang="zh-CN" altLang="zh-CN" sz="1800" kern="100" dirty="0">
              <a:solidFill>
                <a:srgbClr val="0000FF"/>
              </a:solidFill>
            </a:endParaRPr>
          </a:p>
          <a:p>
            <a:pPr marL="360000">
              <a:buClr>
                <a:schemeClr val="bg2"/>
              </a:buClr>
              <a:buSzPct val="75000"/>
              <a:buFont typeface="Wingdings" pitchFamily="2" charset="2"/>
              <a:buNone/>
            </a:pPr>
            <a:r>
              <a:rPr lang="en-US" altLang="zh-CN" sz="1800" dirty="0">
                <a:solidFill>
                  <a:srgbClr val="0000FF"/>
                </a:solidFill>
              </a:rPr>
              <a:t>   {</a:t>
            </a:r>
            <a:r>
              <a:rPr lang="en-US" altLang="zh-CN" sz="1800" kern="100" dirty="0">
                <a:solidFill>
                  <a:srgbClr val="0000FF"/>
                </a:solidFill>
              </a:rPr>
              <a:t>&lt;BE&gt;</a:t>
            </a:r>
            <a:r>
              <a:rPr lang="en-US" altLang="zh-CN" sz="1800" dirty="0">
                <a:solidFill>
                  <a:srgbClr val="0000FF"/>
                </a:solidFill>
              </a:rPr>
              <a:t>.</a:t>
            </a:r>
            <a:r>
              <a:rPr lang="fr-FR" altLang="zh-CN" sz="1800" dirty="0">
                <a:solidFill>
                  <a:srgbClr val="0000FF"/>
                </a:solidFill>
                <a:latin typeface="Times New Roman" pitchFamily="18" charset="0"/>
                <a:cs typeface="Times New Roman" pitchFamily="18" charset="0"/>
              </a:rPr>
              <a:t> PLACE  </a:t>
            </a:r>
            <a:r>
              <a:rPr lang="en-US" altLang="zh-CN" sz="1800" dirty="0">
                <a:solidFill>
                  <a:srgbClr val="0000FF"/>
                </a:solidFill>
              </a:rPr>
              <a:t>= </a:t>
            </a:r>
            <a:r>
              <a:rPr lang="en-US" altLang="zh-CN" sz="1800" dirty="0" err="1">
                <a:solidFill>
                  <a:srgbClr val="0000FF"/>
                </a:solidFill>
              </a:rPr>
              <a:t>newtemp</a:t>
            </a:r>
            <a:r>
              <a:rPr lang="en-US" altLang="zh-CN" sz="1800" dirty="0">
                <a:solidFill>
                  <a:srgbClr val="0000FF"/>
                </a:solidFill>
              </a:rPr>
              <a:t>();</a:t>
            </a:r>
          </a:p>
          <a:p>
            <a:pPr marL="360000">
              <a:buClr>
                <a:schemeClr val="bg2"/>
              </a:buClr>
              <a:buSzPct val="75000"/>
              <a:buFont typeface="Wingdings" pitchFamily="2" charset="2"/>
              <a:buNone/>
            </a:pPr>
            <a:r>
              <a:rPr lang="en-US" altLang="zh-CN" sz="1800" dirty="0">
                <a:solidFill>
                  <a:srgbClr val="0000FF"/>
                </a:solidFill>
              </a:rPr>
              <a:t>     </a:t>
            </a:r>
            <a:r>
              <a:rPr lang="fr-FR" altLang="zh-CN" sz="1800" dirty="0">
                <a:solidFill>
                  <a:srgbClr val="0000FF"/>
                </a:solidFill>
                <a:latin typeface="Times New Roman" pitchFamily="18" charset="0"/>
                <a:cs typeface="Times New Roman" pitchFamily="18" charset="0"/>
              </a:rPr>
              <a:t>gencode</a:t>
            </a:r>
            <a:r>
              <a:rPr lang="en-US" altLang="zh-CN" sz="1800" dirty="0">
                <a:solidFill>
                  <a:srgbClr val="0000FF"/>
                </a:solidFill>
              </a:rPr>
              <a:t>(||, </a:t>
            </a:r>
            <a:r>
              <a:rPr lang="en-US" altLang="zh-CN" sz="1800" kern="100" dirty="0">
                <a:solidFill>
                  <a:srgbClr val="0000FF"/>
                </a:solidFill>
              </a:rPr>
              <a:t>&lt;BE&gt;</a:t>
            </a:r>
            <a:r>
              <a:rPr lang="en-US" altLang="zh-CN" sz="1800" kern="100" baseline="30000" dirty="0">
                <a:solidFill>
                  <a:srgbClr val="0000FF"/>
                </a:solidFill>
              </a:rPr>
              <a:t>(1)</a:t>
            </a:r>
            <a:r>
              <a:rPr lang="en-US" altLang="zh-CN" sz="1800" dirty="0">
                <a:solidFill>
                  <a:srgbClr val="0000FF"/>
                </a:solidFill>
              </a:rPr>
              <a:t>.</a:t>
            </a:r>
            <a:r>
              <a:rPr lang="fr-FR" altLang="zh-CN" sz="1800" dirty="0">
                <a:solidFill>
                  <a:srgbClr val="0000FF"/>
                </a:solidFill>
                <a:latin typeface="Times New Roman" pitchFamily="18" charset="0"/>
                <a:cs typeface="Times New Roman" pitchFamily="18" charset="0"/>
              </a:rPr>
              <a:t>PLACE</a:t>
            </a:r>
            <a:r>
              <a:rPr lang="en-US" altLang="zh-CN" sz="1800" dirty="0">
                <a:solidFill>
                  <a:srgbClr val="0000FF"/>
                </a:solidFill>
              </a:rPr>
              <a:t>, </a:t>
            </a:r>
            <a:r>
              <a:rPr lang="en-US" altLang="zh-CN" sz="1800" kern="100" dirty="0">
                <a:solidFill>
                  <a:srgbClr val="0000FF"/>
                </a:solidFill>
              </a:rPr>
              <a:t>&lt;BT&gt;</a:t>
            </a:r>
            <a:r>
              <a:rPr lang="en-US" altLang="zh-CN" sz="1800" dirty="0">
                <a:solidFill>
                  <a:srgbClr val="0000FF"/>
                </a:solidFill>
              </a:rPr>
              <a:t>.</a:t>
            </a:r>
            <a:r>
              <a:rPr lang="fr-FR" altLang="zh-CN" sz="1800" dirty="0">
                <a:solidFill>
                  <a:srgbClr val="0000FF"/>
                </a:solidFill>
                <a:latin typeface="Times New Roman" pitchFamily="18" charset="0"/>
                <a:cs typeface="Times New Roman" pitchFamily="18" charset="0"/>
              </a:rPr>
              <a:t>PLACE</a:t>
            </a:r>
            <a:r>
              <a:rPr lang="en-US" altLang="zh-CN" sz="1800" dirty="0">
                <a:solidFill>
                  <a:srgbClr val="0000FF"/>
                </a:solidFill>
              </a:rPr>
              <a:t>,</a:t>
            </a:r>
            <a:r>
              <a:rPr lang="en-US" altLang="zh-CN" sz="1800" kern="100" dirty="0">
                <a:solidFill>
                  <a:srgbClr val="0000FF"/>
                </a:solidFill>
              </a:rPr>
              <a:t> &lt;BE&gt;</a:t>
            </a:r>
            <a:r>
              <a:rPr lang="en-US" altLang="zh-CN" sz="1800" dirty="0">
                <a:solidFill>
                  <a:srgbClr val="0000FF"/>
                </a:solidFill>
              </a:rPr>
              <a:t>.</a:t>
            </a:r>
            <a:r>
              <a:rPr lang="fr-FR" altLang="zh-CN" sz="1800" dirty="0">
                <a:solidFill>
                  <a:srgbClr val="0000FF"/>
                </a:solidFill>
                <a:latin typeface="Times New Roman" pitchFamily="18" charset="0"/>
                <a:cs typeface="Times New Roman" pitchFamily="18" charset="0"/>
              </a:rPr>
              <a:t> PLACE</a:t>
            </a:r>
            <a:r>
              <a:rPr lang="en-US" altLang="zh-CN" sz="1800" dirty="0">
                <a:solidFill>
                  <a:srgbClr val="0000FF"/>
                </a:solidFill>
              </a:rPr>
              <a:t>) }</a:t>
            </a:r>
          </a:p>
        </p:txBody>
      </p:sp>
    </p:spTree>
    <p:extLst>
      <p:ext uri="{BB962C8B-B14F-4D97-AF65-F5344CB8AC3E}">
        <p14:creationId xmlns:p14="http://schemas.microsoft.com/office/powerpoint/2010/main" val="1945576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0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0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480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480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480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3" grpId="0" uiExpand="1" build="p" animBg="1"/>
      <p:bldP spid="6" grpId="0" animBg="1"/>
      <p:bldP spid="7" grpId="0" animBg="1"/>
      <p:bldP spid="8"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2236" y="123478"/>
            <a:ext cx="8229600" cy="576064"/>
          </a:xfrm>
        </p:spPr>
        <p:txBody>
          <a:bodyPr>
            <a:normAutofit fontScale="90000"/>
          </a:bodyPr>
          <a:lstStyle/>
          <a:p>
            <a:r>
              <a:rPr lang="zh-CN" altLang="en-US" dirty="0"/>
              <a:t>打卡，发答案来</a:t>
            </a:r>
          </a:p>
        </p:txBody>
      </p:sp>
      <p:sp>
        <p:nvSpPr>
          <p:cNvPr id="5" name="矩形 4"/>
          <p:cNvSpPr/>
          <p:nvPr/>
        </p:nvSpPr>
        <p:spPr>
          <a:xfrm>
            <a:off x="516744" y="1131590"/>
            <a:ext cx="7727664" cy="3416320"/>
          </a:xfrm>
          <a:prstGeom prst="rect">
            <a:avLst/>
          </a:prstGeom>
          <a:solidFill>
            <a:schemeClr val="bg1"/>
          </a:solidFill>
        </p:spPr>
        <p:txBody>
          <a:bodyPr wrap="square">
            <a:spAutoFit/>
          </a:bodyPr>
          <a:lstStyle/>
          <a:p>
            <a:r>
              <a:rPr lang="en-US" altLang="zh-CN" sz="2400" dirty="0"/>
              <a:t>(1) </a:t>
            </a:r>
            <a:r>
              <a:rPr lang="zh-CN" altLang="zh-CN" sz="2400" dirty="0"/>
              <a:t>语义分析所依据的是</a:t>
            </a:r>
            <a:r>
              <a:rPr lang="en-US" altLang="zh-CN" sz="2400" u="sng" dirty="0"/>
              <a:t>          </a:t>
            </a:r>
            <a:r>
              <a:rPr lang="zh-CN" altLang="zh-CN" sz="2400" dirty="0"/>
              <a:t>。</a:t>
            </a:r>
          </a:p>
          <a:p>
            <a:r>
              <a:rPr lang="en-US" altLang="zh-CN" sz="2400" dirty="0"/>
              <a:t>        A</a:t>
            </a:r>
            <a:r>
              <a:rPr lang="zh-CN" altLang="zh-CN" sz="2400" dirty="0"/>
              <a:t>．语法规则</a:t>
            </a:r>
            <a:r>
              <a:rPr lang="en-US" altLang="zh-CN" sz="2400" dirty="0"/>
              <a:t>         B</a:t>
            </a:r>
            <a:r>
              <a:rPr lang="zh-CN" altLang="zh-CN" sz="2400" dirty="0"/>
              <a:t>．词法规则</a:t>
            </a:r>
            <a:r>
              <a:rPr lang="en-US" altLang="zh-CN" sz="2400" dirty="0"/>
              <a:t>        </a:t>
            </a:r>
            <a:endParaRPr lang="zh-CN" altLang="zh-CN" sz="2400" dirty="0"/>
          </a:p>
          <a:p>
            <a:r>
              <a:rPr lang="en-US" altLang="zh-CN" sz="2400" dirty="0"/>
              <a:t>        C</a:t>
            </a:r>
            <a:r>
              <a:rPr lang="zh-CN" altLang="zh-CN" sz="2400" dirty="0"/>
              <a:t>．语义规则</a:t>
            </a:r>
            <a:r>
              <a:rPr lang="en-US" altLang="zh-CN" sz="2400" dirty="0"/>
              <a:t>         D</a:t>
            </a:r>
            <a:r>
              <a:rPr lang="zh-CN" altLang="zh-CN" sz="2400" dirty="0"/>
              <a:t>．等价变换规则</a:t>
            </a:r>
          </a:p>
          <a:p>
            <a:r>
              <a:rPr lang="en-US" altLang="zh-CN" sz="2400" dirty="0"/>
              <a:t>(2) </a:t>
            </a:r>
            <a:r>
              <a:rPr lang="zh-CN" altLang="zh-CN" sz="2400" dirty="0"/>
              <a:t>语法制导的编译程序能同时进行</a:t>
            </a:r>
            <a:r>
              <a:rPr lang="en-US" altLang="zh-CN" sz="2400" u="sng" dirty="0"/>
              <a:t>           </a:t>
            </a:r>
            <a:r>
              <a:rPr lang="zh-CN" altLang="zh-CN" sz="2400" dirty="0"/>
              <a:t>和语义分析。</a:t>
            </a:r>
          </a:p>
          <a:p>
            <a:r>
              <a:rPr lang="en-US" altLang="zh-CN" sz="2400" dirty="0"/>
              <a:t>        A</a:t>
            </a:r>
            <a:r>
              <a:rPr lang="zh-CN" altLang="zh-CN" sz="2400" dirty="0"/>
              <a:t>．词法分析</a:t>
            </a:r>
            <a:r>
              <a:rPr lang="en-US" altLang="zh-CN" sz="2400" dirty="0"/>
              <a:t>         B</a:t>
            </a:r>
            <a:r>
              <a:rPr lang="zh-CN" altLang="zh-CN" sz="2400" dirty="0"/>
              <a:t>．语法分析</a:t>
            </a:r>
            <a:r>
              <a:rPr lang="en-US" altLang="zh-CN" sz="2400" dirty="0"/>
              <a:t>      </a:t>
            </a:r>
            <a:endParaRPr lang="zh-CN" altLang="zh-CN" sz="2400" dirty="0"/>
          </a:p>
          <a:p>
            <a:r>
              <a:rPr lang="en-GB" altLang="zh-CN" sz="2400" dirty="0"/>
              <a:t>        C</a:t>
            </a:r>
            <a:r>
              <a:rPr lang="zh-CN" altLang="zh-CN" sz="2400" dirty="0"/>
              <a:t>．优化</a:t>
            </a:r>
            <a:r>
              <a:rPr lang="en-US" altLang="zh-CN" sz="2400" dirty="0"/>
              <a:t>               D</a:t>
            </a:r>
            <a:r>
              <a:rPr lang="zh-CN" altLang="zh-CN" sz="2400" dirty="0"/>
              <a:t>．目标代码生成</a:t>
            </a:r>
            <a:endParaRPr lang="en-US" altLang="zh-CN" sz="2400" dirty="0"/>
          </a:p>
          <a:p>
            <a:r>
              <a:rPr lang="en-US" altLang="zh-CN" sz="2400" dirty="0"/>
              <a:t>(3) </a:t>
            </a:r>
            <a:r>
              <a:rPr lang="zh-CN" altLang="zh-CN" sz="2400" dirty="0"/>
              <a:t>四元式之间的联系是通过</a:t>
            </a:r>
            <a:r>
              <a:rPr lang="en-US" altLang="zh-CN" sz="2400" u="sng" dirty="0"/>
              <a:t>         </a:t>
            </a:r>
            <a:r>
              <a:rPr lang="zh-CN" altLang="zh-CN" sz="2400" dirty="0"/>
              <a:t>实现的。</a:t>
            </a:r>
          </a:p>
          <a:p>
            <a:r>
              <a:rPr lang="en-US" altLang="zh-CN" sz="2400" dirty="0"/>
              <a:t>        A</a:t>
            </a:r>
            <a:r>
              <a:rPr lang="zh-CN" altLang="zh-CN" sz="2400" dirty="0"/>
              <a:t>．指示器</a:t>
            </a:r>
            <a:r>
              <a:rPr lang="en-US" altLang="zh-CN" sz="2400" dirty="0"/>
              <a:t>            B</a:t>
            </a:r>
            <a:r>
              <a:rPr lang="zh-CN" altLang="zh-CN" sz="2400" dirty="0"/>
              <a:t>．临时变量</a:t>
            </a:r>
          </a:p>
          <a:p>
            <a:r>
              <a:rPr lang="en-GB" altLang="zh-CN" sz="2400" dirty="0"/>
              <a:t>        C</a:t>
            </a:r>
            <a:r>
              <a:rPr lang="zh-CN" altLang="zh-CN" sz="2400" dirty="0"/>
              <a:t>．符号表</a:t>
            </a:r>
            <a:r>
              <a:rPr lang="en-US" altLang="zh-CN" sz="2400" dirty="0"/>
              <a:t>            D</a:t>
            </a:r>
            <a:r>
              <a:rPr lang="zh-CN" altLang="zh-CN" sz="2400" dirty="0"/>
              <a:t>．程序变量</a:t>
            </a:r>
          </a:p>
        </p:txBody>
      </p:sp>
    </p:spTree>
    <p:extLst>
      <p:ext uri="{BB962C8B-B14F-4D97-AF65-F5344CB8AC3E}">
        <p14:creationId xmlns:p14="http://schemas.microsoft.com/office/powerpoint/2010/main" val="62864576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内容占位符 2"/>
          <p:cNvSpPr>
            <a:spLocks noGrp="1"/>
          </p:cNvSpPr>
          <p:nvPr>
            <p:ph idx="1"/>
          </p:nvPr>
        </p:nvSpPr>
        <p:spPr>
          <a:xfrm>
            <a:off x="755576" y="1714912"/>
            <a:ext cx="5414511" cy="792088"/>
          </a:xfrm>
        </p:spPr>
        <p:txBody>
          <a:bodyPr>
            <a:normAutofit/>
          </a:bodyPr>
          <a:lstStyle/>
          <a:p>
            <a:pPr marL="342900" indent="-342900">
              <a:spcBef>
                <a:spcPts val="0"/>
              </a:spcBef>
            </a:pPr>
            <a:r>
              <a:rPr lang="zh-CN" altLang="zh-CN" sz="2000" dirty="0"/>
              <a:t>如果布尔表达式作为控制语句中的条件式，其作用是选择下一个执行点。</a:t>
            </a:r>
            <a:endParaRPr lang="zh-CN" altLang="en-US" sz="2000" dirty="0"/>
          </a:p>
        </p:txBody>
      </p:sp>
      <p:sp>
        <p:nvSpPr>
          <p:cNvPr id="4" name="矩形 3"/>
          <p:cNvSpPr/>
          <p:nvPr/>
        </p:nvSpPr>
        <p:spPr>
          <a:xfrm>
            <a:off x="6804248" y="1722170"/>
            <a:ext cx="1388840" cy="156966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en-US" altLang="zh-CN" sz="2400" b="1" kern="100" dirty="0">
                <a:solidFill>
                  <a:schemeClr val="tx1"/>
                </a:solidFill>
                <a:latin typeface="Times New Roman" panose="02020603050405020304" pitchFamily="18" charset="0"/>
              </a:rPr>
              <a:t>if  (E)  </a:t>
            </a:r>
          </a:p>
          <a:p>
            <a:pPr>
              <a:defRPr/>
            </a:pPr>
            <a:r>
              <a:rPr lang="en-US" altLang="zh-CN" sz="2400" b="1" kern="100" dirty="0">
                <a:solidFill>
                  <a:schemeClr val="tx1"/>
                </a:solidFill>
                <a:latin typeface="Times New Roman" panose="02020603050405020304" pitchFamily="18" charset="0"/>
              </a:rPr>
              <a:t>     S</a:t>
            </a:r>
            <a:r>
              <a:rPr lang="en-US" altLang="zh-CN" sz="2400" b="1" kern="100" baseline="30000" dirty="0">
                <a:solidFill>
                  <a:schemeClr val="tx1"/>
                </a:solidFill>
                <a:latin typeface="Times New Roman" panose="02020603050405020304" pitchFamily="18" charset="0"/>
              </a:rPr>
              <a:t>(1)</a:t>
            </a:r>
          </a:p>
          <a:p>
            <a:pPr>
              <a:defRPr/>
            </a:pPr>
            <a:r>
              <a:rPr lang="en-US" altLang="zh-CN" sz="2400" b="1" dirty="0">
                <a:solidFill>
                  <a:schemeClr val="tx1"/>
                </a:solidFill>
                <a:latin typeface="Arial" pitchFamily="34" charset="0"/>
              </a:rPr>
              <a:t> else </a:t>
            </a:r>
          </a:p>
          <a:p>
            <a:pPr>
              <a:defRPr/>
            </a:pPr>
            <a:r>
              <a:rPr lang="en-US" altLang="zh-CN" sz="2400" dirty="0">
                <a:solidFill>
                  <a:schemeClr val="tx1"/>
                </a:solidFill>
                <a:latin typeface="Arial" pitchFamily="34" charset="0"/>
              </a:rPr>
              <a:t>    </a:t>
            </a:r>
            <a:r>
              <a:rPr lang="en-US" altLang="zh-CN" sz="2400" b="1" dirty="0">
                <a:solidFill>
                  <a:schemeClr val="tx1"/>
                </a:solidFill>
                <a:latin typeface="Times New Roman" panose="02020603050405020304" pitchFamily="18" charset="0"/>
                <a:cs typeface="Times New Roman" panose="02020603050405020304" pitchFamily="18" charset="0"/>
              </a:rPr>
              <a:t>S</a:t>
            </a:r>
            <a:r>
              <a:rPr lang="en-US" altLang="zh-CN" sz="2400" b="1" baseline="30000" dirty="0">
                <a:solidFill>
                  <a:schemeClr val="tx1"/>
                </a:solidFill>
                <a:latin typeface="Times New Roman" panose="02020603050405020304" pitchFamily="18" charset="0"/>
                <a:cs typeface="Times New Roman" panose="02020603050405020304" pitchFamily="18" charset="0"/>
              </a:rPr>
              <a:t>(2)</a:t>
            </a:r>
            <a:endParaRPr lang="zh-CN" altLang="en-US" sz="2400" b="1" baseline="30000" dirty="0">
              <a:solidFill>
                <a:schemeClr val="tx1"/>
              </a:solidFill>
              <a:latin typeface="Times New Roman" panose="02020603050405020304" pitchFamily="18" charset="0"/>
              <a:cs typeface="Times New Roman" panose="02020603050405020304" pitchFamily="18" charset="0"/>
            </a:endParaRPr>
          </a:p>
        </p:txBody>
      </p:sp>
      <p:sp>
        <p:nvSpPr>
          <p:cNvPr id="6" name="内容占位符 5"/>
          <p:cNvSpPr txBox="1">
            <a:spLocks/>
          </p:cNvSpPr>
          <p:nvPr/>
        </p:nvSpPr>
        <p:spPr>
          <a:xfrm>
            <a:off x="323528" y="195487"/>
            <a:ext cx="8229600" cy="1296144"/>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nSpc>
                <a:spcPct val="120000"/>
              </a:lnSpc>
              <a:spcBef>
                <a:spcPts val="0"/>
              </a:spcBef>
              <a:buFontTx/>
              <a:buNone/>
              <a:defRPr/>
            </a:pPr>
            <a:r>
              <a:rPr lang="en-US" altLang="zh-CN" dirty="0"/>
              <a:t>4</a:t>
            </a:r>
            <a:r>
              <a:rPr lang="zh-CN" altLang="en-US" dirty="0"/>
              <a:t>、</a:t>
            </a:r>
            <a:r>
              <a:rPr lang="zh-CN" altLang="zh-CN" dirty="0"/>
              <a:t>布尔表达式的语义处理有两种方式</a:t>
            </a:r>
            <a:r>
              <a:rPr lang="zh-CN" altLang="en-US" dirty="0"/>
              <a:t>：</a:t>
            </a:r>
            <a:endParaRPr lang="en-US" altLang="zh-CN" dirty="0"/>
          </a:p>
          <a:p>
            <a:pPr marL="0" indent="0">
              <a:lnSpc>
                <a:spcPct val="120000"/>
              </a:lnSpc>
              <a:spcBef>
                <a:spcPts val="0"/>
              </a:spcBef>
              <a:buFontTx/>
              <a:buNone/>
              <a:defRPr/>
            </a:pPr>
            <a:endParaRPr lang="en-US" altLang="zh-CN" sz="2000" dirty="0"/>
          </a:p>
          <a:p>
            <a:pPr marL="0" indent="0">
              <a:lnSpc>
                <a:spcPct val="120000"/>
              </a:lnSpc>
              <a:spcBef>
                <a:spcPts val="0"/>
              </a:spcBef>
              <a:buFontTx/>
              <a:buNone/>
              <a:defRPr/>
            </a:pPr>
            <a:r>
              <a:rPr lang="zh-CN" altLang="en-US" sz="2000" dirty="0"/>
              <a:t>（</a:t>
            </a:r>
            <a:r>
              <a:rPr lang="en-US" altLang="zh-CN" sz="2000" dirty="0"/>
              <a:t>2</a:t>
            </a:r>
            <a:r>
              <a:rPr lang="zh-CN" altLang="en-US" sz="2000" dirty="0"/>
              <a:t>）</a:t>
            </a:r>
            <a:r>
              <a:rPr lang="zh-CN" altLang="en-US" sz="2000" b="1" dirty="0">
                <a:solidFill>
                  <a:srgbClr val="FF0000"/>
                </a:solidFill>
              </a:rPr>
              <a:t>根据布尔运算的特殊性采用某些优化措施</a:t>
            </a:r>
            <a:endParaRPr lang="zh-CN" altLang="en-US" sz="2000" dirty="0"/>
          </a:p>
        </p:txBody>
      </p:sp>
      <p:sp>
        <p:nvSpPr>
          <p:cNvPr id="8" name="内容占位符 2"/>
          <p:cNvSpPr txBox="1">
            <a:spLocks/>
          </p:cNvSpPr>
          <p:nvPr/>
        </p:nvSpPr>
        <p:spPr>
          <a:xfrm>
            <a:off x="755576" y="2589752"/>
            <a:ext cx="5414511" cy="1062118"/>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spcBef>
                <a:spcPts val="0"/>
              </a:spcBef>
            </a:pPr>
            <a:r>
              <a:rPr lang="zh-CN" altLang="en-US" sz="2000" dirty="0"/>
              <a:t>下一个执行点有两个：</a:t>
            </a:r>
            <a:r>
              <a:rPr lang="en-US" altLang="zh-CN" sz="2000" dirty="0"/>
              <a:t>E</a:t>
            </a:r>
            <a:r>
              <a:rPr lang="zh-CN" altLang="en-US" sz="2000" dirty="0"/>
              <a:t>为真和为假时应跳转到的位置，称为</a:t>
            </a:r>
            <a:r>
              <a:rPr lang="en-US" altLang="zh-CN" sz="2000" dirty="0"/>
              <a:t>E</a:t>
            </a:r>
            <a:r>
              <a:rPr lang="zh-CN" altLang="en-US" sz="2000" dirty="0"/>
              <a:t>的</a:t>
            </a:r>
            <a:r>
              <a:rPr lang="zh-CN" altLang="en-US" sz="2000" b="1" dirty="0">
                <a:solidFill>
                  <a:srgbClr val="FF0000"/>
                </a:solidFill>
              </a:rPr>
              <a:t>真出口</a:t>
            </a:r>
            <a:r>
              <a:rPr lang="zh-CN" altLang="en-US" sz="2000" dirty="0"/>
              <a:t>和</a:t>
            </a:r>
            <a:r>
              <a:rPr lang="zh-CN" altLang="en-US" sz="2000" b="1" dirty="0">
                <a:solidFill>
                  <a:srgbClr val="FF0000"/>
                </a:solidFill>
              </a:rPr>
              <a:t>假出口</a:t>
            </a:r>
            <a:r>
              <a:rPr lang="zh-CN" altLang="en-US" sz="2000" dirty="0"/>
              <a:t>，用</a:t>
            </a:r>
            <a:r>
              <a:rPr lang="en-US" altLang="zh-CN" sz="2000" dirty="0"/>
              <a:t>E.TC</a:t>
            </a:r>
            <a:r>
              <a:rPr lang="zh-CN" altLang="en-US" sz="2000" dirty="0"/>
              <a:t>和</a:t>
            </a:r>
            <a:r>
              <a:rPr lang="en-US" altLang="zh-CN" sz="2000" dirty="0"/>
              <a:t>E.FC</a:t>
            </a:r>
            <a:r>
              <a:rPr lang="zh-CN" altLang="en-US" sz="2000" dirty="0"/>
              <a:t>来表示。</a:t>
            </a:r>
          </a:p>
          <a:p>
            <a:pPr marL="342900" indent="-342900">
              <a:spcBef>
                <a:spcPts val="0"/>
              </a:spcBef>
            </a:pPr>
            <a:endParaRPr lang="zh-CN" altLang="en-US" sz="2000" dirty="0"/>
          </a:p>
        </p:txBody>
      </p:sp>
      <p:sp>
        <p:nvSpPr>
          <p:cNvPr id="9" name="内容占位符 2"/>
          <p:cNvSpPr txBox="1">
            <a:spLocks/>
          </p:cNvSpPr>
          <p:nvPr/>
        </p:nvSpPr>
        <p:spPr>
          <a:xfrm>
            <a:off x="755576" y="3718329"/>
            <a:ext cx="5414511" cy="855095"/>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spcBef>
                <a:spcPts val="0"/>
              </a:spcBef>
            </a:pPr>
            <a:r>
              <a:rPr lang="zh-CN" altLang="en-US" sz="2000" dirty="0"/>
              <a:t>因此布尔表达式翻译的</a:t>
            </a:r>
            <a:r>
              <a:rPr lang="zh-CN" altLang="en-US" sz="2000" dirty="0">
                <a:solidFill>
                  <a:srgbClr val="FF0000"/>
                </a:solidFill>
              </a:rPr>
              <a:t>关键是确定</a:t>
            </a:r>
            <a:r>
              <a:rPr lang="en-US" altLang="zh-CN" sz="2000" dirty="0">
                <a:solidFill>
                  <a:srgbClr val="FF0000"/>
                </a:solidFill>
              </a:rPr>
              <a:t>E.TC</a:t>
            </a:r>
            <a:r>
              <a:rPr lang="zh-CN" altLang="en-US" sz="2000" dirty="0">
                <a:solidFill>
                  <a:srgbClr val="FF0000"/>
                </a:solidFill>
              </a:rPr>
              <a:t>和</a:t>
            </a:r>
            <a:r>
              <a:rPr lang="en-US" altLang="zh-CN" sz="2000" dirty="0">
                <a:solidFill>
                  <a:srgbClr val="FF0000"/>
                </a:solidFill>
              </a:rPr>
              <a:t>E.FC</a:t>
            </a:r>
            <a:r>
              <a:rPr lang="zh-CN" altLang="en-US" sz="2000" dirty="0">
                <a:solidFill>
                  <a:srgbClr val="FF0000"/>
                </a:solidFill>
              </a:rPr>
              <a:t>的值。</a:t>
            </a:r>
            <a:endParaRPr lang="en-US" altLang="zh-CN" sz="2000" dirty="0">
              <a:solidFill>
                <a:srgbClr val="FF0000"/>
              </a:solidFill>
            </a:endParaRPr>
          </a:p>
          <a:p>
            <a:pPr marL="342900" indent="-342900">
              <a:spcBef>
                <a:spcPts val="0"/>
              </a:spcBef>
            </a:pPr>
            <a:endParaRPr lang="zh-CN" altLang="en-US" sz="2000" dirty="0"/>
          </a:p>
        </p:txBody>
      </p:sp>
    </p:spTree>
    <p:extLst>
      <p:ext uri="{BB962C8B-B14F-4D97-AF65-F5344CB8AC3E}">
        <p14:creationId xmlns:p14="http://schemas.microsoft.com/office/powerpoint/2010/main" val="2533255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9"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type="body" idx="1"/>
          </p:nvPr>
        </p:nvSpPr>
        <p:spPr>
          <a:xfrm>
            <a:off x="127600" y="1203374"/>
            <a:ext cx="6604640" cy="1272748"/>
          </a:xfrm>
        </p:spPr>
        <p:txBody>
          <a:bodyPr>
            <a:normAutofit/>
          </a:bodyPr>
          <a:lstStyle/>
          <a:p>
            <a:pPr eaLnBrk="1" hangingPunct="1">
              <a:spcBef>
                <a:spcPts val="0"/>
              </a:spcBef>
            </a:pPr>
            <a:r>
              <a:rPr lang="zh-CN" altLang="en-US" sz="2200" b="1" dirty="0">
                <a:solidFill>
                  <a:schemeClr val="accent2"/>
                </a:solidFill>
              </a:rPr>
              <a:t>布尔量</a:t>
            </a:r>
            <a:r>
              <a:rPr lang="en-US" altLang="zh-CN" sz="2200" b="1" dirty="0"/>
              <a:t>A</a:t>
            </a:r>
            <a:r>
              <a:rPr lang="zh-CN" altLang="en-US" sz="2200" b="1" dirty="0">
                <a:solidFill>
                  <a:schemeClr val="accent2"/>
                </a:solidFill>
              </a:rPr>
              <a:t>翻译为两条四元式：</a:t>
            </a:r>
          </a:p>
          <a:p>
            <a:pPr lvl="1" eaLnBrk="1" hangingPunct="1">
              <a:spcBef>
                <a:spcPts val="0"/>
              </a:spcBef>
            </a:pPr>
            <a:r>
              <a:rPr lang="en-US" altLang="zh-CN" sz="2000" b="1" dirty="0"/>
              <a:t>(</a:t>
            </a:r>
            <a:r>
              <a:rPr lang="en-US" altLang="zh-CN" sz="2000" b="1" dirty="0" err="1"/>
              <a:t>jnz</a:t>
            </a:r>
            <a:r>
              <a:rPr lang="en-US" altLang="zh-CN" sz="2000" b="1" dirty="0"/>
              <a:t>, </a:t>
            </a:r>
            <a:r>
              <a:rPr lang="en-US" altLang="zh-CN" sz="2000" b="1" dirty="0" err="1"/>
              <a:t>A,_,p</a:t>
            </a:r>
            <a:r>
              <a:rPr lang="en-US" altLang="zh-CN" sz="2000" b="1" dirty="0"/>
              <a:t>): </a:t>
            </a:r>
            <a:r>
              <a:rPr lang="zh-CN" altLang="en-US" sz="2000" b="1" dirty="0"/>
              <a:t>真出口，当</a:t>
            </a:r>
            <a:r>
              <a:rPr lang="en-US" altLang="zh-CN" sz="2000" b="1" dirty="0"/>
              <a:t>A</a:t>
            </a:r>
            <a:r>
              <a:rPr lang="zh-CN" altLang="en-US" sz="2000" b="1" dirty="0"/>
              <a:t>为真时跳转到四元式</a:t>
            </a:r>
            <a:r>
              <a:rPr lang="en-US" altLang="zh-CN" sz="2000" b="1" dirty="0"/>
              <a:t>p</a:t>
            </a:r>
          </a:p>
          <a:p>
            <a:pPr lvl="1" eaLnBrk="1" hangingPunct="1">
              <a:spcBef>
                <a:spcPts val="0"/>
              </a:spcBef>
            </a:pPr>
            <a:r>
              <a:rPr lang="en-US" altLang="zh-CN" sz="2000" b="1" dirty="0"/>
              <a:t>(j, _,_,q) : </a:t>
            </a:r>
            <a:r>
              <a:rPr lang="zh-CN" altLang="en-US" sz="2000" b="1" dirty="0"/>
              <a:t>假出口，无条件跳转到四元式</a:t>
            </a:r>
            <a:r>
              <a:rPr lang="en-US" altLang="zh-CN" sz="2000" b="1" dirty="0"/>
              <a:t>q</a:t>
            </a:r>
          </a:p>
        </p:txBody>
      </p:sp>
      <p:sp>
        <p:nvSpPr>
          <p:cNvPr id="92163" name="Rectangle 4"/>
          <p:cNvSpPr>
            <a:spLocks noChangeArrowheads="1"/>
          </p:cNvSpPr>
          <p:nvPr/>
        </p:nvSpPr>
        <p:spPr bwMode="auto">
          <a:xfrm>
            <a:off x="50238" y="123479"/>
            <a:ext cx="8741056" cy="1152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buFontTx/>
              <a:buNone/>
            </a:pPr>
            <a:r>
              <a:rPr lang="en-US" altLang="zh-CN" sz="2200" b="1" dirty="0">
                <a:solidFill>
                  <a:srgbClr val="0033CC"/>
                </a:solidFill>
              </a:rPr>
              <a:t>5</a:t>
            </a:r>
            <a:r>
              <a:rPr lang="zh-CN" altLang="en-US" sz="2200" b="1" dirty="0">
                <a:solidFill>
                  <a:srgbClr val="0033CC"/>
                </a:solidFill>
              </a:rPr>
              <a:t>、</a:t>
            </a:r>
            <a:r>
              <a:rPr lang="zh-CN" altLang="en-US" sz="2200" b="1" dirty="0">
                <a:solidFill>
                  <a:schemeClr val="accent2"/>
                </a:solidFill>
                <a:latin typeface="宋体" pitchFamily="2" charset="-122"/>
              </a:rPr>
              <a:t>布尔量</a:t>
            </a:r>
            <a:r>
              <a:rPr lang="zh-CN" altLang="en-US" sz="2200" b="1" dirty="0">
                <a:solidFill>
                  <a:srgbClr val="0033CC"/>
                </a:solidFill>
              </a:rPr>
              <a:t>的代码结构</a:t>
            </a:r>
          </a:p>
          <a:p>
            <a:pPr lvl="1" eaLnBrk="1" hangingPunct="1">
              <a:lnSpc>
                <a:spcPct val="100000"/>
              </a:lnSpc>
            </a:pPr>
            <a:r>
              <a:rPr lang="zh-CN" altLang="en-US" sz="2000" b="1" dirty="0"/>
              <a:t>每个布尔表达式的目标结构有两个出口，真出口指向为真时应跳转的位置；假出口指向为假时应跳转的位置</a:t>
            </a:r>
          </a:p>
        </p:txBody>
      </p:sp>
      <p:sp>
        <p:nvSpPr>
          <p:cNvPr id="2" name="矩形 1"/>
          <p:cNvSpPr/>
          <p:nvPr/>
        </p:nvSpPr>
        <p:spPr>
          <a:xfrm>
            <a:off x="38979" y="4016871"/>
            <a:ext cx="932621" cy="1107996"/>
          </a:xfrm>
          <a:prstGeom prst="rect">
            <a:avLst/>
          </a:prstGeom>
          <a:solidFill>
            <a:schemeClr val="bg1"/>
          </a:solidFill>
        </p:spPr>
        <p:txBody>
          <a:bodyPr wrap="square" lIns="91440" tIns="45720" rIns="91440" bIns="45720">
            <a:spAutoFit/>
          </a:bodyPr>
          <a:lstStyle/>
          <a:p>
            <a:pPr algn="r"/>
            <a:r>
              <a:rPr lang="zh-CN" altLang="en-US" sz="66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t>
            </a:r>
          </a:p>
        </p:txBody>
      </p:sp>
      <p:sp>
        <p:nvSpPr>
          <p:cNvPr id="92166" name="AutoShape 3"/>
          <p:cNvSpPr>
            <a:spLocks noChangeArrowheads="1"/>
          </p:cNvSpPr>
          <p:nvPr/>
        </p:nvSpPr>
        <p:spPr bwMode="auto">
          <a:xfrm>
            <a:off x="705528" y="3939902"/>
            <a:ext cx="7430476" cy="1329928"/>
          </a:xfrm>
          <a:prstGeom prst="wave">
            <a:avLst>
              <a:gd name="adj1" fmla="val 13005"/>
              <a:gd name="adj2" fmla="val 0"/>
            </a:avLst>
          </a:prstGeom>
          <a:solidFill>
            <a:srgbClr val="FFCCFF"/>
          </a:solidFill>
          <a:ln w="12700">
            <a:solidFill>
              <a:schemeClr val="tx1"/>
            </a:solidFill>
            <a:round/>
            <a:headEnd type="none" w="sm" len="sm"/>
            <a:tailEnd type="none" w="sm" len="sm"/>
          </a:ln>
        </p:spPr>
        <p:txBody>
          <a:bodyPr wrap="none" anchor="ct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kumimoji="1" lang="zh-CN" altLang="en-US" sz="2200" b="1" dirty="0">
                <a:solidFill>
                  <a:srgbClr val="CC0000"/>
                </a:solidFill>
                <a:latin typeface="宋体" panose="02010600030101010101" pitchFamily="2" charset="-122"/>
              </a:rPr>
              <a:t>在翻译布尔表达式时，后面的语句未翻译，</a:t>
            </a:r>
            <a:r>
              <a:rPr kumimoji="1" lang="en-US" altLang="zh-CN" sz="2200" b="1" dirty="0" err="1">
                <a:solidFill>
                  <a:srgbClr val="CC0000"/>
                </a:solidFill>
                <a:latin typeface="宋体" panose="02010600030101010101" pitchFamily="2" charset="-122"/>
              </a:rPr>
              <a:t>p,q</a:t>
            </a:r>
            <a:r>
              <a:rPr kumimoji="1" lang="zh-CN" altLang="en-US" sz="2200" b="1" dirty="0">
                <a:solidFill>
                  <a:srgbClr val="CC0000"/>
                </a:solidFill>
                <a:latin typeface="宋体" panose="02010600030101010101" pitchFamily="2" charset="-122"/>
              </a:rPr>
              <a:t>如何知道？</a:t>
            </a:r>
          </a:p>
        </p:txBody>
      </p:sp>
      <p:sp>
        <p:nvSpPr>
          <p:cNvPr id="14" name="Rectangle 3"/>
          <p:cNvSpPr txBox="1">
            <a:spLocks noChangeArrowheads="1"/>
          </p:cNvSpPr>
          <p:nvPr/>
        </p:nvSpPr>
        <p:spPr>
          <a:xfrm>
            <a:off x="107504" y="2338079"/>
            <a:ext cx="6337704" cy="1457807"/>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spcBef>
                <a:spcPts val="0"/>
              </a:spcBef>
            </a:pPr>
            <a:r>
              <a:rPr lang="zh-CN" altLang="en-US" sz="2200" b="1" dirty="0">
                <a:solidFill>
                  <a:schemeClr val="accent2"/>
                </a:solidFill>
              </a:rPr>
              <a:t>关系表达式</a:t>
            </a:r>
            <a:r>
              <a:rPr lang="en-US" altLang="zh-CN" sz="2000" b="1" dirty="0"/>
              <a:t>i1 </a:t>
            </a:r>
            <a:r>
              <a:rPr lang="en-US" altLang="zh-CN" sz="2000" b="1" dirty="0" err="1"/>
              <a:t>rop</a:t>
            </a:r>
            <a:r>
              <a:rPr lang="en-US" altLang="zh-CN" sz="2000" b="1" dirty="0"/>
              <a:t> i2</a:t>
            </a:r>
            <a:r>
              <a:rPr lang="zh-CN" altLang="en-US" sz="2200" b="1" dirty="0">
                <a:solidFill>
                  <a:schemeClr val="accent2"/>
                </a:solidFill>
              </a:rPr>
              <a:t>也翻译为两条四元式：</a:t>
            </a:r>
          </a:p>
          <a:p>
            <a:pPr lvl="1">
              <a:spcBef>
                <a:spcPts val="0"/>
              </a:spcBef>
            </a:pPr>
            <a:r>
              <a:rPr lang="en-US" altLang="zh-CN" sz="2000" b="1" dirty="0"/>
              <a:t>(</a:t>
            </a:r>
            <a:r>
              <a:rPr lang="en-US" altLang="zh-CN" sz="2000" b="1" dirty="0" err="1"/>
              <a:t>jrop</a:t>
            </a:r>
            <a:r>
              <a:rPr lang="en-US" altLang="zh-CN" sz="2000" b="1" dirty="0"/>
              <a:t>, i1, i2, p) : </a:t>
            </a:r>
            <a:r>
              <a:rPr lang="zh-CN" altLang="en-US" sz="2000" b="1" dirty="0"/>
              <a:t>真出口，当</a:t>
            </a:r>
            <a:r>
              <a:rPr lang="en-US" altLang="zh-CN" sz="2000" b="1" dirty="0"/>
              <a:t>i1 </a:t>
            </a:r>
            <a:r>
              <a:rPr lang="en-US" altLang="zh-CN" sz="2000" b="1" dirty="0" err="1"/>
              <a:t>rop</a:t>
            </a:r>
            <a:r>
              <a:rPr lang="en-US" altLang="zh-CN" sz="2000" b="1" dirty="0"/>
              <a:t> i2</a:t>
            </a:r>
            <a:r>
              <a:rPr lang="zh-CN" altLang="en-US" sz="2000" b="1" dirty="0"/>
              <a:t>为真时转四元式</a:t>
            </a:r>
            <a:r>
              <a:rPr lang="en-US" altLang="zh-CN" sz="2000" b="1" dirty="0"/>
              <a:t>p</a:t>
            </a:r>
          </a:p>
          <a:p>
            <a:pPr lvl="1">
              <a:spcBef>
                <a:spcPts val="0"/>
              </a:spcBef>
            </a:pPr>
            <a:r>
              <a:rPr lang="en-US" altLang="zh-CN" sz="2000" b="1" dirty="0"/>
              <a:t>(j, _,_,q) : </a:t>
            </a:r>
            <a:r>
              <a:rPr lang="zh-CN" altLang="en-US" sz="2000" b="1" dirty="0"/>
              <a:t>假出口，无条件跳转到四元式</a:t>
            </a:r>
            <a:r>
              <a:rPr lang="en-US" altLang="zh-CN" sz="2000" b="1" dirty="0"/>
              <a:t>q</a:t>
            </a:r>
          </a:p>
        </p:txBody>
      </p:sp>
      <p:grpSp>
        <p:nvGrpSpPr>
          <p:cNvPr id="11" name="组合 10"/>
          <p:cNvGrpSpPr/>
          <p:nvPr/>
        </p:nvGrpSpPr>
        <p:grpSpPr>
          <a:xfrm>
            <a:off x="7056784" y="1307259"/>
            <a:ext cx="2051720" cy="2330120"/>
            <a:chOff x="7164288" y="1116703"/>
            <a:chExt cx="2051720" cy="2330120"/>
          </a:xfrm>
        </p:grpSpPr>
        <p:sp>
          <p:nvSpPr>
            <p:cNvPr id="92167" name="Text Box 7"/>
            <p:cNvSpPr txBox="1">
              <a:spLocks noChangeArrowheads="1"/>
            </p:cNvSpPr>
            <p:nvPr/>
          </p:nvSpPr>
          <p:spPr bwMode="auto">
            <a:xfrm>
              <a:off x="7482603" y="1248618"/>
              <a:ext cx="945157" cy="461646"/>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buFontTx/>
                <a:buNone/>
              </a:pPr>
              <a:r>
                <a:rPr lang="en-US" altLang="zh-CN" sz="2400" b="1" dirty="0"/>
                <a:t>A</a:t>
              </a:r>
            </a:p>
          </p:txBody>
        </p:sp>
        <p:sp>
          <p:nvSpPr>
            <p:cNvPr id="92170" name="Line 11"/>
            <p:cNvSpPr>
              <a:spLocks noChangeShapeType="1"/>
            </p:cNvSpPr>
            <p:nvPr/>
          </p:nvSpPr>
          <p:spPr bwMode="auto">
            <a:xfrm>
              <a:off x="7956376" y="1710264"/>
              <a:ext cx="0" cy="382247"/>
            </a:xfrm>
            <a:prstGeom prst="line">
              <a:avLst/>
            </a:prstGeom>
            <a:noFill/>
            <a:ln w="28575">
              <a:solidFill>
                <a:schemeClr val="tx1"/>
              </a:solidFill>
              <a:round/>
              <a:headEnd type="none"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92171" name="Text Box 12"/>
            <p:cNvSpPr txBox="1">
              <a:spLocks noChangeArrowheads="1"/>
            </p:cNvSpPr>
            <p:nvPr/>
          </p:nvSpPr>
          <p:spPr bwMode="auto">
            <a:xfrm>
              <a:off x="7181649" y="2137882"/>
              <a:ext cx="362248" cy="400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buFontTx/>
                <a:buNone/>
              </a:pPr>
              <a:r>
                <a:rPr lang="en-US" altLang="zh-CN" sz="2000" b="1" dirty="0"/>
                <a:t>p</a:t>
              </a:r>
            </a:p>
          </p:txBody>
        </p:sp>
        <p:sp>
          <p:nvSpPr>
            <p:cNvPr id="92172" name="Text Box 13"/>
            <p:cNvSpPr txBox="1">
              <a:spLocks noChangeArrowheads="1"/>
            </p:cNvSpPr>
            <p:nvPr/>
          </p:nvSpPr>
          <p:spPr bwMode="auto">
            <a:xfrm>
              <a:off x="7181648" y="3041891"/>
              <a:ext cx="389217" cy="400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buFontTx/>
                <a:buNone/>
              </a:pPr>
              <a:r>
                <a:rPr lang="en-US" altLang="zh-CN" sz="2000" b="1" dirty="0"/>
                <a:t>q</a:t>
              </a:r>
            </a:p>
          </p:txBody>
        </p:sp>
        <p:sp>
          <p:nvSpPr>
            <p:cNvPr id="15" name="Text Box 7"/>
            <p:cNvSpPr txBox="1">
              <a:spLocks noChangeArrowheads="1"/>
            </p:cNvSpPr>
            <p:nvPr/>
          </p:nvSpPr>
          <p:spPr bwMode="auto">
            <a:xfrm>
              <a:off x="7509573" y="2092511"/>
              <a:ext cx="945157" cy="461646"/>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buFontTx/>
                <a:buNone/>
              </a:pPr>
              <a:r>
                <a:rPr lang="en-US" altLang="zh-CN" sz="2400" b="1" dirty="0"/>
                <a:t>……</a:t>
              </a:r>
            </a:p>
          </p:txBody>
        </p:sp>
        <p:sp>
          <p:nvSpPr>
            <p:cNvPr id="16" name="Text Box 7"/>
            <p:cNvSpPr txBox="1">
              <a:spLocks noChangeArrowheads="1"/>
            </p:cNvSpPr>
            <p:nvPr/>
          </p:nvSpPr>
          <p:spPr bwMode="auto">
            <a:xfrm>
              <a:off x="7543897" y="2985177"/>
              <a:ext cx="945157" cy="461646"/>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buFontTx/>
                <a:buNone/>
              </a:pPr>
              <a:r>
                <a:rPr lang="en-US" altLang="zh-CN" sz="2400" b="1" dirty="0"/>
                <a:t>……</a:t>
              </a:r>
            </a:p>
          </p:txBody>
        </p:sp>
        <p:cxnSp>
          <p:nvCxnSpPr>
            <p:cNvPr id="4" name="肘形连接符 3"/>
            <p:cNvCxnSpPr>
              <a:stCxn id="92167" idx="3"/>
            </p:cNvCxnSpPr>
            <p:nvPr/>
          </p:nvCxnSpPr>
          <p:spPr>
            <a:xfrm flipH="1">
              <a:off x="8316417" y="1479441"/>
              <a:ext cx="111344" cy="1505736"/>
            </a:xfrm>
            <a:prstGeom prst="bentConnector4">
              <a:avLst>
                <a:gd name="adj1" fmla="val -205310"/>
                <a:gd name="adj2" fmla="val 81588"/>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Text Box 12"/>
            <p:cNvSpPr txBox="1">
              <a:spLocks noChangeArrowheads="1"/>
            </p:cNvSpPr>
            <p:nvPr/>
          </p:nvSpPr>
          <p:spPr bwMode="auto">
            <a:xfrm>
              <a:off x="7164288" y="1661114"/>
              <a:ext cx="778436" cy="400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buFontTx/>
                <a:buNone/>
              </a:pPr>
              <a:r>
                <a:rPr lang="en-US" altLang="zh-CN" sz="2000" b="1" dirty="0"/>
                <a:t>A.TC</a:t>
              </a:r>
            </a:p>
          </p:txBody>
        </p:sp>
        <p:sp>
          <p:nvSpPr>
            <p:cNvPr id="27" name="Text Box 13"/>
            <p:cNvSpPr txBox="1">
              <a:spLocks noChangeArrowheads="1"/>
            </p:cNvSpPr>
            <p:nvPr/>
          </p:nvSpPr>
          <p:spPr bwMode="auto">
            <a:xfrm>
              <a:off x="8437572" y="1116703"/>
              <a:ext cx="778436" cy="400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buFontTx/>
                <a:buNone/>
              </a:pPr>
              <a:r>
                <a:rPr lang="en-US" altLang="zh-CN" sz="2000" b="1" dirty="0"/>
                <a:t>A.FC</a:t>
              </a:r>
            </a:p>
          </p:txBody>
        </p:sp>
      </p:grpSp>
      <p:sp>
        <p:nvSpPr>
          <p:cNvPr id="12" name="TextBox 11"/>
          <p:cNvSpPr txBox="1"/>
          <p:nvPr/>
        </p:nvSpPr>
        <p:spPr>
          <a:xfrm>
            <a:off x="8136004" y="4155370"/>
            <a:ext cx="972500" cy="830997"/>
          </a:xfrm>
          <a:prstGeom prst="rect">
            <a:avLst/>
          </a:prstGeom>
          <a:noFill/>
        </p:spPr>
        <p:txBody>
          <a:bodyPr wrap="square" rtlCol="0">
            <a:spAutoFit/>
          </a:bodyPr>
          <a:lstStyle/>
          <a:p>
            <a:pPr algn="ctr"/>
            <a:r>
              <a:rPr lang="zh-CN" altLang="en-US" sz="2400" dirty="0"/>
              <a:t>回填技术</a:t>
            </a:r>
          </a:p>
        </p:txBody>
      </p:sp>
    </p:spTree>
    <p:extLst>
      <p:ext uri="{BB962C8B-B14F-4D97-AF65-F5344CB8AC3E}">
        <p14:creationId xmlns:p14="http://schemas.microsoft.com/office/powerpoint/2010/main" val="13785249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12" fill="hold" grpId="0" nodeType="clickEffect">
                                  <p:stCondLst>
                                    <p:cond delay="0"/>
                                  </p:stCondLst>
                                  <p:childTnLst>
                                    <p:set>
                                      <p:cBhvr>
                                        <p:cTn id="10" dur="1" fill="hold">
                                          <p:stCondLst>
                                            <p:cond delay="0"/>
                                          </p:stCondLst>
                                        </p:cTn>
                                        <p:tgtEl>
                                          <p:spTgt spid="68611">
                                            <p:txEl>
                                              <p:pRg st="0" end="0"/>
                                            </p:txEl>
                                          </p:spTgt>
                                        </p:tgtEl>
                                        <p:attrNameLst>
                                          <p:attrName>style.visibility</p:attrName>
                                        </p:attrNameLst>
                                      </p:cBhvr>
                                      <p:to>
                                        <p:strVal val="visible"/>
                                      </p:to>
                                    </p:set>
                                    <p:animEffect transition="in" filter="strips(downLeft)">
                                      <p:cBhvr>
                                        <p:cTn id="11" dur="500"/>
                                        <p:tgtEl>
                                          <p:spTgt spid="68611">
                                            <p:txEl>
                                              <p:pRg st="0" end="0"/>
                                            </p:txEl>
                                          </p:spTgt>
                                        </p:tgtEl>
                                      </p:cBhvr>
                                    </p:animEffect>
                                  </p:childTnLst>
                                </p:cTn>
                              </p:par>
                              <p:par>
                                <p:cTn id="12" presetID="18" presetClass="entr" presetSubtype="12" fill="hold" grpId="0" nodeType="withEffect">
                                  <p:stCondLst>
                                    <p:cond delay="0"/>
                                  </p:stCondLst>
                                  <p:childTnLst>
                                    <p:set>
                                      <p:cBhvr>
                                        <p:cTn id="13" dur="1" fill="hold">
                                          <p:stCondLst>
                                            <p:cond delay="0"/>
                                          </p:stCondLst>
                                        </p:cTn>
                                        <p:tgtEl>
                                          <p:spTgt spid="68611">
                                            <p:txEl>
                                              <p:pRg st="1" end="1"/>
                                            </p:txEl>
                                          </p:spTgt>
                                        </p:tgtEl>
                                        <p:attrNameLst>
                                          <p:attrName>style.visibility</p:attrName>
                                        </p:attrNameLst>
                                      </p:cBhvr>
                                      <p:to>
                                        <p:strVal val="visible"/>
                                      </p:to>
                                    </p:set>
                                    <p:animEffect transition="in" filter="strips(downLeft)">
                                      <p:cBhvr>
                                        <p:cTn id="14" dur="500"/>
                                        <p:tgtEl>
                                          <p:spTgt spid="68611">
                                            <p:txEl>
                                              <p:pRg st="1" end="1"/>
                                            </p:txEl>
                                          </p:spTgt>
                                        </p:tgtEl>
                                      </p:cBhvr>
                                    </p:animEffect>
                                  </p:childTnLst>
                                </p:cTn>
                              </p:par>
                              <p:par>
                                <p:cTn id="15" presetID="18" presetClass="entr" presetSubtype="12" fill="hold" grpId="0" nodeType="withEffect">
                                  <p:stCondLst>
                                    <p:cond delay="0"/>
                                  </p:stCondLst>
                                  <p:childTnLst>
                                    <p:set>
                                      <p:cBhvr>
                                        <p:cTn id="16" dur="1" fill="hold">
                                          <p:stCondLst>
                                            <p:cond delay="0"/>
                                          </p:stCondLst>
                                        </p:cTn>
                                        <p:tgtEl>
                                          <p:spTgt spid="68611">
                                            <p:txEl>
                                              <p:pRg st="2" end="2"/>
                                            </p:txEl>
                                          </p:spTgt>
                                        </p:tgtEl>
                                        <p:attrNameLst>
                                          <p:attrName>style.visibility</p:attrName>
                                        </p:attrNameLst>
                                      </p:cBhvr>
                                      <p:to>
                                        <p:strVal val="visible"/>
                                      </p:to>
                                    </p:set>
                                    <p:animEffect transition="in" filter="strips(downLeft)">
                                      <p:cBhvr>
                                        <p:cTn id="17" dur="500"/>
                                        <p:tgtEl>
                                          <p:spTgt spid="686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4">
                                            <p:txEl>
                                              <p:pRg st="0" end="0"/>
                                            </p:txEl>
                                          </p:spTgt>
                                        </p:tgtEl>
                                        <p:attrNameLst>
                                          <p:attrName>style.visibility</p:attrName>
                                        </p:attrNameLst>
                                      </p:cBhvr>
                                      <p:to>
                                        <p:strVal val="visible"/>
                                      </p:to>
                                    </p:set>
                                    <p:animEffect transition="in" filter="strips(downLeft)">
                                      <p:cBhvr>
                                        <p:cTn id="22" dur="500"/>
                                        <p:tgtEl>
                                          <p:spTgt spid="14">
                                            <p:txEl>
                                              <p:pRg st="0" end="0"/>
                                            </p:txEl>
                                          </p:spTgt>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14">
                                            <p:txEl>
                                              <p:pRg st="1" end="1"/>
                                            </p:txEl>
                                          </p:spTgt>
                                        </p:tgtEl>
                                        <p:attrNameLst>
                                          <p:attrName>style.visibility</p:attrName>
                                        </p:attrNameLst>
                                      </p:cBhvr>
                                      <p:to>
                                        <p:strVal val="visible"/>
                                      </p:to>
                                    </p:set>
                                    <p:animEffect transition="in" filter="strips(downLeft)">
                                      <p:cBhvr>
                                        <p:cTn id="25" dur="500"/>
                                        <p:tgtEl>
                                          <p:spTgt spid="14">
                                            <p:txEl>
                                              <p:pRg st="1" end="1"/>
                                            </p:txEl>
                                          </p:spTgt>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14">
                                            <p:txEl>
                                              <p:pRg st="2" end="2"/>
                                            </p:txEl>
                                          </p:spTgt>
                                        </p:tgtEl>
                                        <p:attrNameLst>
                                          <p:attrName>style.visibility</p:attrName>
                                        </p:attrNameLst>
                                      </p:cBhvr>
                                      <p:to>
                                        <p:strVal val="visible"/>
                                      </p:to>
                                    </p:set>
                                    <p:animEffect transition="in" filter="strips(downLeft)">
                                      <p:cBhvr>
                                        <p:cTn id="28" dur="500"/>
                                        <p:tgtEl>
                                          <p:spTgt spid="14">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216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uiExpand="1" build="p"/>
      <p:bldP spid="2" grpId="0" animBg="1"/>
      <p:bldP spid="92166" grpId="0" animBg="1"/>
      <p:bldP spid="14" grpId="0" uiExpand="1" build="p"/>
      <p:bldP spid="12"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a:spLocks noGrp="1" noChangeArrowheads="1"/>
          </p:cNvSpPr>
          <p:nvPr>
            <p:ph type="body" sz="half" idx="1"/>
          </p:nvPr>
        </p:nvSpPr>
        <p:spPr>
          <a:xfrm>
            <a:off x="90016" y="123478"/>
            <a:ext cx="6480397" cy="1349945"/>
          </a:xfrm>
        </p:spPr>
        <p:style>
          <a:lnRef idx="2">
            <a:schemeClr val="accent1"/>
          </a:lnRef>
          <a:fillRef idx="1">
            <a:schemeClr val="lt1"/>
          </a:fillRef>
          <a:effectRef idx="0">
            <a:schemeClr val="accent1"/>
          </a:effectRef>
          <a:fontRef idx="minor">
            <a:schemeClr val="dk1"/>
          </a:fontRef>
        </p:style>
        <p:txBody>
          <a:bodyPr>
            <a:normAutofit/>
          </a:bodyPr>
          <a:lstStyle/>
          <a:p>
            <a:pPr eaLnBrk="1" hangingPunct="1">
              <a:lnSpc>
                <a:spcPct val="90000"/>
              </a:lnSpc>
            </a:pPr>
            <a:r>
              <a:rPr lang="zh-CN" altLang="en-US" sz="2200" b="1" dirty="0">
                <a:solidFill>
                  <a:srgbClr val="CC00CC"/>
                </a:solidFill>
              </a:rPr>
              <a:t>回填技术的基本思想</a:t>
            </a:r>
          </a:p>
          <a:p>
            <a:pPr lvl="1" eaLnBrk="1" hangingPunct="1">
              <a:lnSpc>
                <a:spcPct val="90000"/>
              </a:lnSpc>
            </a:pPr>
            <a:r>
              <a:rPr lang="zh-CN" altLang="en-US" sz="2000" dirty="0"/>
              <a:t>已知就直接填入；不知时先填</a:t>
            </a:r>
            <a:r>
              <a:rPr lang="en-US" altLang="zh-CN" sz="2000" dirty="0"/>
              <a:t>0</a:t>
            </a:r>
            <a:r>
              <a:rPr lang="zh-CN" altLang="en-US" sz="2000" dirty="0"/>
              <a:t>，等知道后再返填</a:t>
            </a:r>
          </a:p>
          <a:p>
            <a:pPr lvl="1" eaLnBrk="1" hangingPunct="1">
              <a:lnSpc>
                <a:spcPct val="90000"/>
              </a:lnSpc>
            </a:pPr>
            <a:r>
              <a:rPr lang="zh-CN" altLang="en-US" sz="2000" dirty="0"/>
              <a:t>若多个因子的转移去向相同，但又不知道具体位置，应该用链将这些未知且出口相同的四元式链在一起。</a:t>
            </a:r>
          </a:p>
        </p:txBody>
      </p:sp>
      <p:sp>
        <p:nvSpPr>
          <p:cNvPr id="72717" name="Text Box 13"/>
          <p:cNvSpPr txBox="1">
            <a:spLocks noChangeArrowheads="1"/>
          </p:cNvSpPr>
          <p:nvPr/>
        </p:nvSpPr>
        <p:spPr bwMode="auto">
          <a:xfrm>
            <a:off x="198139" y="4155926"/>
            <a:ext cx="3797797" cy="1015663"/>
          </a:xfrm>
          <a:prstGeom prst="rect">
            <a:avLst/>
          </a:prstGeom>
          <a:solidFill>
            <a:schemeClr val="bg1"/>
          </a:solidFill>
          <a:ln>
            <a:noFill/>
          </a:ln>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buFontTx/>
              <a:buNone/>
            </a:pPr>
            <a:r>
              <a:rPr lang="zh-CN" altLang="en-US" sz="2000" b="1" dirty="0">
                <a:solidFill>
                  <a:schemeClr val="accent2"/>
                </a:solidFill>
              </a:rPr>
              <a:t>翻译结束时，生成了真、假出口两个链，两个</a:t>
            </a:r>
            <a:r>
              <a:rPr lang="en-US" altLang="zh-CN" sz="2000" b="1" dirty="0">
                <a:solidFill>
                  <a:schemeClr val="accent2"/>
                </a:solidFill>
              </a:rPr>
              <a:t>0</a:t>
            </a:r>
            <a:r>
              <a:rPr lang="zh-CN" altLang="en-US" sz="2000" b="1" dirty="0">
                <a:solidFill>
                  <a:schemeClr val="accent2"/>
                </a:solidFill>
              </a:rPr>
              <a:t>就是待填部分。等以后翻译到后面知道了再填入。</a:t>
            </a:r>
          </a:p>
        </p:txBody>
      </p:sp>
      <p:sp>
        <p:nvSpPr>
          <p:cNvPr id="2" name="矩形 1"/>
          <p:cNvSpPr/>
          <p:nvPr/>
        </p:nvSpPr>
        <p:spPr>
          <a:xfrm>
            <a:off x="198139" y="1620811"/>
            <a:ext cx="6443739" cy="376963"/>
          </a:xfrm>
          <a:prstGeom prst="rect">
            <a:avLst/>
          </a:prstGeom>
        </p:spPr>
        <p:txBody>
          <a:bodyPr wrap="square">
            <a:spAutoFit/>
          </a:bodyPr>
          <a:lstStyle/>
          <a:p>
            <a:pPr marL="0" lvl="1">
              <a:lnSpc>
                <a:spcPct val="90000"/>
              </a:lnSpc>
            </a:pPr>
            <a:r>
              <a:rPr lang="zh-CN" altLang="en-US" sz="2000" dirty="0"/>
              <a:t>例：布尔表达式</a:t>
            </a:r>
            <a:r>
              <a:rPr lang="en-US" altLang="zh-CN" sz="2000" dirty="0"/>
              <a:t>:  A &amp;&amp; B &amp;&amp; C&gt;D  </a:t>
            </a:r>
            <a:r>
              <a:rPr lang="zh-CN" altLang="en-US" sz="2000" dirty="0"/>
              <a:t>的四元式为：  </a:t>
            </a:r>
          </a:p>
        </p:txBody>
      </p:sp>
      <p:sp>
        <p:nvSpPr>
          <p:cNvPr id="3" name="线形标注 1 2"/>
          <p:cNvSpPr/>
          <p:nvPr/>
        </p:nvSpPr>
        <p:spPr>
          <a:xfrm>
            <a:off x="4085976" y="1809292"/>
            <a:ext cx="2555902" cy="395521"/>
          </a:xfrm>
          <a:prstGeom prst="borderCallout1">
            <a:avLst>
              <a:gd name="adj1" fmla="val 13456"/>
              <a:gd name="adj2" fmla="val -86"/>
              <a:gd name="adj3" fmla="val 128981"/>
              <a:gd name="adj4" fmla="val -31750"/>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solidFill>
                  <a:schemeClr val="tx1"/>
                </a:solidFill>
                <a:latin typeface="宋体" panose="02010600030101010101" pitchFamily="2" charset="-122"/>
                <a:ea typeface="宋体" panose="02010600030101010101" pitchFamily="2" charset="-122"/>
              </a:rPr>
              <a:t>其中真出口已知，为</a:t>
            </a:r>
            <a:r>
              <a:rPr lang="en-US" altLang="zh-CN" dirty="0">
                <a:solidFill>
                  <a:schemeClr val="tx1"/>
                </a:solidFill>
                <a:latin typeface="宋体" panose="02010600030101010101" pitchFamily="2" charset="-122"/>
                <a:ea typeface="宋体" panose="02010600030101010101" pitchFamily="2" charset="-122"/>
              </a:rPr>
              <a:t>3</a:t>
            </a:r>
          </a:p>
        </p:txBody>
      </p:sp>
      <p:sp>
        <p:nvSpPr>
          <p:cNvPr id="14" name="线形标注 1 13"/>
          <p:cNvSpPr/>
          <p:nvPr/>
        </p:nvSpPr>
        <p:spPr>
          <a:xfrm>
            <a:off x="4085976" y="2611202"/>
            <a:ext cx="2555902" cy="392596"/>
          </a:xfrm>
          <a:prstGeom prst="borderCallout1">
            <a:avLst>
              <a:gd name="adj1" fmla="val 13456"/>
              <a:gd name="adj2" fmla="val -86"/>
              <a:gd name="adj3" fmla="val 80570"/>
              <a:gd name="adj4" fmla="val -30444"/>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solidFill>
                  <a:schemeClr val="tx1"/>
                </a:solidFill>
                <a:latin typeface="宋体" panose="02010600030101010101" pitchFamily="2" charset="-122"/>
                <a:ea typeface="宋体" panose="02010600030101010101" pitchFamily="2" charset="-122"/>
              </a:rPr>
              <a:t>其中真出口已知，为</a:t>
            </a:r>
            <a:r>
              <a:rPr lang="en-US" altLang="zh-CN" dirty="0">
                <a:solidFill>
                  <a:schemeClr val="tx1"/>
                </a:solidFill>
                <a:latin typeface="宋体" panose="02010600030101010101" pitchFamily="2" charset="-122"/>
                <a:ea typeface="宋体" panose="02010600030101010101" pitchFamily="2" charset="-122"/>
              </a:rPr>
              <a:t>5</a:t>
            </a:r>
          </a:p>
        </p:txBody>
      </p:sp>
      <p:sp>
        <p:nvSpPr>
          <p:cNvPr id="15" name="线形标注 1 14"/>
          <p:cNvSpPr/>
          <p:nvPr/>
        </p:nvSpPr>
        <p:spPr>
          <a:xfrm>
            <a:off x="6137822" y="3789789"/>
            <a:ext cx="2483767" cy="304619"/>
          </a:xfrm>
          <a:prstGeom prst="borderCallout1">
            <a:avLst>
              <a:gd name="adj1" fmla="val 13456"/>
              <a:gd name="adj2" fmla="val -86"/>
              <a:gd name="adj3" fmla="val -35910"/>
              <a:gd name="adj4" fmla="val -115709"/>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solidFill>
                  <a:schemeClr val="tx1"/>
                </a:solidFill>
                <a:latin typeface="宋体" panose="02010600030101010101" pitchFamily="2" charset="-122"/>
                <a:ea typeface="宋体" panose="02010600030101010101" pitchFamily="2" charset="-122"/>
              </a:rPr>
              <a:t>此时真出口未知，填</a:t>
            </a:r>
            <a:r>
              <a:rPr lang="en-US" altLang="zh-CN" dirty="0">
                <a:solidFill>
                  <a:schemeClr val="tx1"/>
                </a:solidFill>
                <a:latin typeface="宋体" panose="02010600030101010101" pitchFamily="2" charset="-122"/>
                <a:ea typeface="宋体" panose="02010600030101010101" pitchFamily="2" charset="-122"/>
              </a:rPr>
              <a:t>0</a:t>
            </a:r>
          </a:p>
        </p:txBody>
      </p:sp>
      <p:sp>
        <p:nvSpPr>
          <p:cNvPr id="16" name="线形标注 1 15"/>
          <p:cNvSpPr/>
          <p:nvPr/>
        </p:nvSpPr>
        <p:spPr>
          <a:xfrm>
            <a:off x="4085975" y="3019767"/>
            <a:ext cx="3203701" cy="657144"/>
          </a:xfrm>
          <a:prstGeom prst="borderCallout1">
            <a:avLst>
              <a:gd name="adj1" fmla="val 13456"/>
              <a:gd name="adj2" fmla="val -86"/>
              <a:gd name="adj3" fmla="val 43670"/>
              <a:gd name="adj4" fmla="val -38420"/>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solidFill>
                  <a:schemeClr val="tx1"/>
                </a:solidFill>
                <a:latin typeface="宋体" panose="02010600030101010101" pitchFamily="2" charset="-122"/>
                <a:ea typeface="宋体" panose="02010600030101010101" pitchFamily="2" charset="-122"/>
              </a:rPr>
              <a:t>假出口仍未知，但它与</a:t>
            </a:r>
            <a:r>
              <a:rPr lang="en-US" altLang="zh-CN" dirty="0">
                <a:solidFill>
                  <a:schemeClr val="tx1"/>
                </a:solidFill>
                <a:latin typeface="宋体" panose="02010600030101010101" pitchFamily="2" charset="-122"/>
                <a:ea typeface="宋体" panose="02010600030101010101" pitchFamily="2" charset="-122"/>
              </a:rPr>
              <a:t>A</a:t>
            </a:r>
            <a:r>
              <a:rPr lang="zh-CN" altLang="en-US" dirty="0">
                <a:solidFill>
                  <a:schemeClr val="tx1"/>
                </a:solidFill>
                <a:latin typeface="宋体" panose="02010600030101010101" pitchFamily="2" charset="-122"/>
                <a:ea typeface="宋体" panose="02010600030101010101" pitchFamily="2" charset="-122"/>
              </a:rPr>
              <a:t>的假出口相同，则链接起来，填</a:t>
            </a:r>
            <a:r>
              <a:rPr lang="en-US" altLang="zh-CN" dirty="0">
                <a:solidFill>
                  <a:schemeClr val="tx1"/>
                </a:solidFill>
                <a:latin typeface="宋体" panose="02010600030101010101" pitchFamily="2" charset="-122"/>
                <a:ea typeface="宋体" panose="02010600030101010101" pitchFamily="2" charset="-122"/>
              </a:rPr>
              <a:t>2</a:t>
            </a:r>
          </a:p>
        </p:txBody>
      </p:sp>
      <p:sp>
        <p:nvSpPr>
          <p:cNvPr id="17" name="线形标注 1 16"/>
          <p:cNvSpPr/>
          <p:nvPr/>
        </p:nvSpPr>
        <p:spPr>
          <a:xfrm>
            <a:off x="4085976" y="4143732"/>
            <a:ext cx="3924054" cy="659594"/>
          </a:xfrm>
          <a:prstGeom prst="borderCallout1">
            <a:avLst>
              <a:gd name="adj1" fmla="val 13456"/>
              <a:gd name="adj2" fmla="val -86"/>
              <a:gd name="adj3" fmla="val -22315"/>
              <a:gd name="adj4" fmla="val -27701"/>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solidFill>
                  <a:schemeClr val="tx1"/>
                </a:solidFill>
                <a:latin typeface="宋体" panose="02010600030101010101" pitchFamily="2" charset="-122"/>
                <a:ea typeface="宋体" panose="02010600030101010101" pitchFamily="2" charset="-122"/>
              </a:rPr>
              <a:t>假出口仍未知，但它与上两个布尔量的假出口相同，则链接起来，填</a:t>
            </a:r>
            <a:r>
              <a:rPr lang="en-US" altLang="zh-CN" dirty="0">
                <a:solidFill>
                  <a:schemeClr val="tx1"/>
                </a:solidFill>
                <a:latin typeface="宋体" panose="02010600030101010101" pitchFamily="2" charset="-122"/>
                <a:ea typeface="宋体" panose="02010600030101010101" pitchFamily="2" charset="-122"/>
              </a:rPr>
              <a:t>4</a:t>
            </a:r>
          </a:p>
        </p:txBody>
      </p:sp>
      <p:sp>
        <p:nvSpPr>
          <p:cNvPr id="4" name="矩形 3"/>
          <p:cNvSpPr/>
          <p:nvPr/>
        </p:nvSpPr>
        <p:spPr>
          <a:xfrm>
            <a:off x="665214" y="3435846"/>
            <a:ext cx="3096344" cy="707886"/>
          </a:xfrm>
          <a:prstGeom prst="rect">
            <a:avLst/>
          </a:prstGeom>
        </p:spPr>
        <p:txBody>
          <a:bodyPr wrap="square">
            <a:spAutoFit/>
          </a:bodyPr>
          <a:lstStyle/>
          <a:p>
            <a:r>
              <a:rPr lang="zh-CN" altLang="zh-CN" sz="2000" dirty="0"/>
              <a:t>（</a:t>
            </a:r>
            <a:r>
              <a:rPr lang="en-US" altLang="zh-CN" sz="2000" dirty="0"/>
              <a:t>5</a:t>
            </a:r>
            <a:r>
              <a:rPr lang="zh-CN" altLang="zh-CN" sz="2000" dirty="0"/>
              <a:t>）</a:t>
            </a:r>
            <a:r>
              <a:rPr lang="en-US" altLang="zh-CN" sz="2000" dirty="0"/>
              <a:t>  (j&gt;</a:t>
            </a:r>
            <a:r>
              <a:rPr lang="zh-CN" altLang="zh-CN" sz="2000" dirty="0"/>
              <a:t>，</a:t>
            </a:r>
            <a:r>
              <a:rPr lang="en-US" altLang="zh-CN" sz="2000" dirty="0"/>
              <a:t>C</a:t>
            </a:r>
            <a:r>
              <a:rPr lang="zh-CN" altLang="zh-CN" sz="2000" dirty="0"/>
              <a:t>，</a:t>
            </a:r>
            <a:r>
              <a:rPr lang="en-US" altLang="zh-CN" sz="2000" dirty="0"/>
              <a:t>D</a:t>
            </a:r>
            <a:r>
              <a:rPr lang="zh-CN" altLang="zh-CN" sz="2000" dirty="0"/>
              <a:t>，</a:t>
            </a:r>
            <a:r>
              <a:rPr lang="en-US" altLang="zh-CN" sz="2000" dirty="0"/>
              <a:t>0 )</a:t>
            </a:r>
            <a:endParaRPr lang="zh-CN" altLang="zh-CN" sz="2000" dirty="0"/>
          </a:p>
          <a:p>
            <a:r>
              <a:rPr lang="zh-CN" altLang="en-US" sz="2000" dirty="0"/>
              <a:t>（</a:t>
            </a:r>
            <a:r>
              <a:rPr lang="en-US" altLang="zh-CN" sz="2000" dirty="0"/>
              <a:t>6</a:t>
            </a:r>
            <a:r>
              <a:rPr lang="zh-CN" altLang="en-US" sz="2000" dirty="0"/>
              <a:t>）  </a:t>
            </a:r>
            <a:r>
              <a:rPr lang="en-US" altLang="zh-CN" sz="2000" dirty="0"/>
              <a:t>(j</a:t>
            </a:r>
            <a:r>
              <a:rPr lang="zh-CN" altLang="zh-CN" sz="2000" dirty="0"/>
              <a:t>， ， ，</a:t>
            </a:r>
            <a:r>
              <a:rPr lang="en-US" altLang="zh-CN" sz="2000" dirty="0"/>
              <a:t> 0)</a:t>
            </a:r>
            <a:endParaRPr lang="zh-CN" altLang="en-US" sz="2000" dirty="0"/>
          </a:p>
        </p:txBody>
      </p:sp>
      <p:sp>
        <p:nvSpPr>
          <p:cNvPr id="5" name="矩形 4"/>
          <p:cNvSpPr/>
          <p:nvPr/>
        </p:nvSpPr>
        <p:spPr>
          <a:xfrm>
            <a:off x="665214" y="2204813"/>
            <a:ext cx="3100253" cy="707886"/>
          </a:xfrm>
          <a:prstGeom prst="rect">
            <a:avLst/>
          </a:prstGeom>
        </p:spPr>
        <p:txBody>
          <a:bodyPr wrap="square">
            <a:spAutoFit/>
          </a:bodyPr>
          <a:lstStyle/>
          <a:p>
            <a:r>
              <a:rPr lang="zh-CN" altLang="zh-CN" sz="2000" dirty="0"/>
              <a:t>（</a:t>
            </a:r>
            <a:r>
              <a:rPr lang="en-US" altLang="zh-CN" sz="2000" dirty="0"/>
              <a:t>1</a:t>
            </a:r>
            <a:r>
              <a:rPr lang="zh-CN" altLang="zh-CN" sz="2000" dirty="0"/>
              <a:t>）</a:t>
            </a:r>
            <a:r>
              <a:rPr lang="en-US" altLang="zh-CN" sz="2000" dirty="0"/>
              <a:t>  (</a:t>
            </a:r>
            <a:r>
              <a:rPr lang="en-US" altLang="zh-CN" sz="2000" dirty="0" err="1"/>
              <a:t>jnz</a:t>
            </a:r>
            <a:r>
              <a:rPr lang="zh-CN" altLang="zh-CN" sz="2000" dirty="0"/>
              <a:t>，</a:t>
            </a:r>
            <a:r>
              <a:rPr lang="en-US" altLang="zh-CN" sz="2000" dirty="0"/>
              <a:t>A</a:t>
            </a:r>
            <a:r>
              <a:rPr lang="zh-CN" altLang="zh-CN" sz="2000" dirty="0"/>
              <a:t>， ，</a:t>
            </a:r>
            <a:r>
              <a:rPr lang="en-US" altLang="zh-CN" sz="2000" dirty="0"/>
              <a:t> 0 )</a:t>
            </a:r>
            <a:endParaRPr lang="zh-CN" altLang="zh-CN" sz="2000" dirty="0"/>
          </a:p>
          <a:p>
            <a:r>
              <a:rPr lang="zh-CN" altLang="zh-CN" sz="2000" dirty="0"/>
              <a:t>（</a:t>
            </a:r>
            <a:r>
              <a:rPr lang="en-US" altLang="zh-CN" sz="2000" dirty="0"/>
              <a:t>2</a:t>
            </a:r>
            <a:r>
              <a:rPr lang="zh-CN" altLang="zh-CN" sz="2000" dirty="0"/>
              <a:t>）</a:t>
            </a:r>
            <a:r>
              <a:rPr lang="en-US" altLang="zh-CN" sz="2000" dirty="0"/>
              <a:t>  (j</a:t>
            </a:r>
            <a:r>
              <a:rPr lang="zh-CN" altLang="zh-CN" sz="2000" dirty="0"/>
              <a:t>， ， ，</a:t>
            </a:r>
            <a:r>
              <a:rPr lang="en-US" altLang="zh-CN" sz="2000" dirty="0"/>
              <a:t>0 )</a:t>
            </a:r>
            <a:endParaRPr lang="zh-CN" altLang="zh-CN" sz="2000" dirty="0"/>
          </a:p>
        </p:txBody>
      </p:sp>
      <p:sp>
        <p:nvSpPr>
          <p:cNvPr id="7" name="矩形 6"/>
          <p:cNvSpPr/>
          <p:nvPr/>
        </p:nvSpPr>
        <p:spPr>
          <a:xfrm>
            <a:off x="3054948" y="2211710"/>
            <a:ext cx="346570" cy="400110"/>
          </a:xfrm>
          <a:prstGeom prst="rect">
            <a:avLst/>
          </a:prstGeom>
          <a:solidFill>
            <a:schemeClr val="bg1"/>
          </a:solidFill>
        </p:spPr>
        <p:txBody>
          <a:bodyPr wrap="none">
            <a:spAutoFit/>
          </a:bodyPr>
          <a:lstStyle/>
          <a:p>
            <a:r>
              <a:rPr lang="en-US" altLang="zh-CN" sz="2000" dirty="0">
                <a:solidFill>
                  <a:srgbClr val="FF0000"/>
                </a:solidFill>
              </a:rPr>
              <a:t>3</a:t>
            </a:r>
            <a:endParaRPr lang="zh-CN" altLang="en-US" sz="2000" dirty="0">
              <a:solidFill>
                <a:srgbClr val="FF0000"/>
              </a:solidFill>
            </a:endParaRPr>
          </a:p>
        </p:txBody>
      </p:sp>
      <p:sp>
        <p:nvSpPr>
          <p:cNvPr id="8" name="矩形 7"/>
          <p:cNvSpPr/>
          <p:nvPr/>
        </p:nvSpPr>
        <p:spPr>
          <a:xfrm>
            <a:off x="665214" y="2787774"/>
            <a:ext cx="3240297" cy="707886"/>
          </a:xfrm>
          <a:prstGeom prst="rect">
            <a:avLst/>
          </a:prstGeom>
        </p:spPr>
        <p:txBody>
          <a:bodyPr wrap="square">
            <a:spAutoFit/>
          </a:bodyPr>
          <a:lstStyle/>
          <a:p>
            <a:r>
              <a:rPr lang="zh-CN" altLang="zh-CN" sz="2000" dirty="0"/>
              <a:t>（</a:t>
            </a:r>
            <a:r>
              <a:rPr lang="en-US" altLang="zh-CN" sz="2000" dirty="0"/>
              <a:t>3</a:t>
            </a:r>
            <a:r>
              <a:rPr lang="zh-CN" altLang="zh-CN" sz="2000" dirty="0"/>
              <a:t>）</a:t>
            </a:r>
            <a:r>
              <a:rPr lang="en-US" altLang="zh-CN" sz="2000" dirty="0"/>
              <a:t>  (</a:t>
            </a:r>
            <a:r>
              <a:rPr lang="en-US" altLang="zh-CN" sz="2000" dirty="0" err="1"/>
              <a:t>jnz</a:t>
            </a:r>
            <a:r>
              <a:rPr lang="zh-CN" altLang="zh-CN" sz="2000" dirty="0"/>
              <a:t>，</a:t>
            </a:r>
            <a:r>
              <a:rPr lang="en-US" altLang="zh-CN" sz="2000" dirty="0"/>
              <a:t>B</a:t>
            </a:r>
            <a:r>
              <a:rPr lang="zh-CN" altLang="zh-CN" sz="2000" dirty="0"/>
              <a:t>， ，</a:t>
            </a:r>
            <a:r>
              <a:rPr lang="en-US" altLang="zh-CN" sz="2000" dirty="0"/>
              <a:t>0 )</a:t>
            </a:r>
            <a:endParaRPr lang="zh-CN" altLang="zh-CN" sz="2000" dirty="0"/>
          </a:p>
          <a:p>
            <a:r>
              <a:rPr lang="zh-CN" altLang="zh-CN" sz="2000" dirty="0"/>
              <a:t>（</a:t>
            </a:r>
            <a:r>
              <a:rPr lang="en-US" altLang="zh-CN" sz="2000" dirty="0"/>
              <a:t>4</a:t>
            </a:r>
            <a:r>
              <a:rPr lang="zh-CN" altLang="zh-CN" sz="2000" dirty="0"/>
              <a:t>）</a:t>
            </a:r>
            <a:r>
              <a:rPr lang="en-US" altLang="zh-CN" sz="2000" dirty="0"/>
              <a:t>  (j</a:t>
            </a:r>
            <a:r>
              <a:rPr lang="zh-CN" altLang="zh-CN" sz="2000" dirty="0"/>
              <a:t>， ， ，</a:t>
            </a:r>
            <a:r>
              <a:rPr lang="en-US" altLang="zh-CN" sz="2000" dirty="0"/>
              <a:t>0 )</a:t>
            </a:r>
            <a:endParaRPr lang="zh-CN" altLang="zh-CN" sz="2000" dirty="0"/>
          </a:p>
        </p:txBody>
      </p:sp>
      <p:sp>
        <p:nvSpPr>
          <p:cNvPr id="9" name="矩形 8"/>
          <p:cNvSpPr/>
          <p:nvPr/>
        </p:nvSpPr>
        <p:spPr>
          <a:xfrm>
            <a:off x="2952490" y="2819712"/>
            <a:ext cx="346570" cy="400110"/>
          </a:xfrm>
          <a:prstGeom prst="rect">
            <a:avLst/>
          </a:prstGeom>
          <a:solidFill>
            <a:schemeClr val="bg1"/>
          </a:solidFill>
        </p:spPr>
        <p:txBody>
          <a:bodyPr wrap="none">
            <a:spAutoFit/>
          </a:bodyPr>
          <a:lstStyle/>
          <a:p>
            <a:r>
              <a:rPr lang="en-US" altLang="zh-CN" sz="2000" dirty="0">
                <a:solidFill>
                  <a:srgbClr val="FF0000"/>
                </a:solidFill>
              </a:rPr>
              <a:t>5</a:t>
            </a:r>
            <a:endParaRPr lang="zh-CN" altLang="en-US" sz="2000" dirty="0"/>
          </a:p>
        </p:txBody>
      </p:sp>
      <p:sp>
        <p:nvSpPr>
          <p:cNvPr id="10" name="矩形 9"/>
          <p:cNvSpPr/>
          <p:nvPr/>
        </p:nvSpPr>
        <p:spPr>
          <a:xfrm>
            <a:off x="2537422" y="3147814"/>
            <a:ext cx="346570" cy="400110"/>
          </a:xfrm>
          <a:prstGeom prst="rect">
            <a:avLst/>
          </a:prstGeom>
          <a:solidFill>
            <a:schemeClr val="bg1"/>
          </a:solidFill>
        </p:spPr>
        <p:txBody>
          <a:bodyPr wrap="none">
            <a:spAutoFit/>
          </a:bodyPr>
          <a:lstStyle/>
          <a:p>
            <a:r>
              <a:rPr lang="en-US" altLang="zh-CN" sz="2000" dirty="0">
                <a:solidFill>
                  <a:srgbClr val="FF0000"/>
                </a:solidFill>
              </a:rPr>
              <a:t>2</a:t>
            </a:r>
            <a:endParaRPr lang="zh-CN" altLang="en-US" sz="2000" dirty="0"/>
          </a:p>
        </p:txBody>
      </p:sp>
      <p:sp>
        <p:nvSpPr>
          <p:cNvPr id="11" name="矩形 10"/>
          <p:cNvSpPr/>
          <p:nvPr/>
        </p:nvSpPr>
        <p:spPr>
          <a:xfrm>
            <a:off x="2550892" y="3789789"/>
            <a:ext cx="346570" cy="400110"/>
          </a:xfrm>
          <a:prstGeom prst="rect">
            <a:avLst/>
          </a:prstGeom>
          <a:solidFill>
            <a:schemeClr val="bg1"/>
          </a:solidFill>
        </p:spPr>
        <p:txBody>
          <a:bodyPr wrap="none">
            <a:spAutoFit/>
          </a:bodyPr>
          <a:lstStyle/>
          <a:p>
            <a:r>
              <a:rPr lang="en-US" altLang="zh-CN" sz="2000" dirty="0">
                <a:solidFill>
                  <a:srgbClr val="FF0000"/>
                </a:solidFill>
              </a:rPr>
              <a:t>4</a:t>
            </a:r>
            <a:endParaRPr lang="zh-CN" altLang="en-US" dirty="0">
              <a:solidFill>
                <a:srgbClr val="FF0000"/>
              </a:solidFill>
            </a:endParaRPr>
          </a:p>
        </p:txBody>
      </p:sp>
      <p:sp>
        <p:nvSpPr>
          <p:cNvPr id="13" name="线形标注 1 12"/>
          <p:cNvSpPr/>
          <p:nvPr/>
        </p:nvSpPr>
        <p:spPr>
          <a:xfrm>
            <a:off x="6353783" y="2204813"/>
            <a:ext cx="2267807" cy="353943"/>
          </a:xfrm>
          <a:prstGeom prst="borderCallout1">
            <a:avLst>
              <a:gd name="adj1" fmla="val 13456"/>
              <a:gd name="adj2" fmla="val -86"/>
              <a:gd name="adj3" fmla="val 131218"/>
              <a:gd name="adj4" fmla="val -152734"/>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solidFill>
                  <a:schemeClr val="tx1"/>
                </a:solidFill>
                <a:latin typeface="宋体" panose="02010600030101010101" pitchFamily="2" charset="-122"/>
                <a:ea typeface="宋体" panose="02010600030101010101" pitchFamily="2" charset="-122"/>
              </a:rPr>
              <a:t>假出口未知，填入</a:t>
            </a:r>
            <a:r>
              <a:rPr lang="en-US" altLang="zh-CN" dirty="0">
                <a:solidFill>
                  <a:schemeClr val="tx1"/>
                </a:solidFill>
                <a:latin typeface="宋体" panose="02010600030101010101" pitchFamily="2" charset="-122"/>
                <a:ea typeface="宋体" panose="02010600030101010101" pitchFamily="2" charset="-122"/>
              </a:rPr>
              <a:t>0</a:t>
            </a:r>
          </a:p>
        </p:txBody>
      </p:sp>
      <p:sp>
        <p:nvSpPr>
          <p:cNvPr id="12" name="矩形 11"/>
          <p:cNvSpPr/>
          <p:nvPr/>
        </p:nvSpPr>
        <p:spPr>
          <a:xfrm>
            <a:off x="6691451" y="-528"/>
            <a:ext cx="2452549" cy="830997"/>
          </a:xfrm>
          <a:prstGeom prst="rect">
            <a:avLst/>
          </a:prstGeom>
        </p:spPr>
        <p:txBody>
          <a:bodyPr wrap="square">
            <a:spAutoFit/>
          </a:bodyPr>
          <a:lstStyle/>
          <a:p>
            <a:r>
              <a:rPr lang="zh-CN" altLang="en-US" sz="1600" dirty="0">
                <a:latin typeface="宋体" panose="02010600030101010101" pitchFamily="2" charset="-122"/>
                <a:ea typeface="宋体" panose="02010600030101010101" pitchFamily="2" charset="-122"/>
              </a:rPr>
              <a:t>当扫描到</a:t>
            </a:r>
            <a:r>
              <a:rPr lang="en-US" altLang="zh-CN" sz="1600" dirty="0">
                <a:latin typeface="宋体" panose="02010600030101010101" pitchFamily="2" charset="-122"/>
                <a:ea typeface="宋体" panose="02010600030101010101" pitchFamily="2" charset="-122"/>
              </a:rPr>
              <a:t>A</a:t>
            </a:r>
            <a:r>
              <a:rPr lang="zh-CN" altLang="en-US" sz="1600" dirty="0">
                <a:latin typeface="宋体" panose="02010600030101010101" pitchFamily="2" charset="-122"/>
                <a:ea typeface="宋体" panose="02010600030101010101" pitchFamily="2" charset="-122"/>
              </a:rPr>
              <a:t>后面的</a:t>
            </a:r>
            <a:r>
              <a:rPr lang="en-US" altLang="zh-CN" sz="1600" dirty="0">
                <a:latin typeface="宋体" panose="02010600030101010101" pitchFamily="2" charset="-122"/>
                <a:ea typeface="宋体" panose="02010600030101010101" pitchFamily="2" charset="-122"/>
              </a:rPr>
              <a:t>&amp;&amp;</a:t>
            </a:r>
            <a:r>
              <a:rPr lang="zh-CN" altLang="en-US" sz="1600" dirty="0">
                <a:latin typeface="宋体" panose="02010600030101010101" pitchFamily="2" charset="-122"/>
                <a:ea typeface="宋体" panose="02010600030101010101" pitchFamily="2" charset="-122"/>
              </a:rPr>
              <a:t>时，对</a:t>
            </a:r>
            <a:r>
              <a:rPr lang="en-US" altLang="zh-CN" sz="1600" dirty="0">
                <a:latin typeface="宋体" panose="02010600030101010101" pitchFamily="2" charset="-122"/>
                <a:ea typeface="宋体" panose="02010600030101010101" pitchFamily="2" charset="-122"/>
              </a:rPr>
              <a:t>A</a:t>
            </a:r>
            <a:r>
              <a:rPr lang="zh-CN" altLang="en-US" sz="1600" dirty="0">
                <a:latin typeface="宋体" panose="02010600030101010101" pitchFamily="2" charset="-122"/>
                <a:ea typeface="宋体" panose="02010600030101010101" pitchFamily="2" charset="-122"/>
              </a:rPr>
              <a:t>进行归约，产生两个四元式</a:t>
            </a:r>
            <a:r>
              <a:rPr lang="en-US" altLang="zh-CN" sz="1600" dirty="0">
                <a:latin typeface="宋体" panose="02010600030101010101" pitchFamily="2" charset="-122"/>
                <a:ea typeface="宋体" panose="02010600030101010101" pitchFamily="2" charset="-122"/>
              </a:rPr>
              <a:t>1</a:t>
            </a:r>
            <a:r>
              <a:rPr lang="zh-CN" altLang="en-US" sz="1600" dirty="0">
                <a:latin typeface="宋体" panose="02010600030101010101" pitchFamily="2" charset="-122"/>
                <a:ea typeface="宋体" panose="02010600030101010101" pitchFamily="2" charset="-122"/>
              </a:rPr>
              <a:t>，</a:t>
            </a:r>
            <a:r>
              <a:rPr lang="en-US" altLang="zh-CN" sz="1600" dirty="0">
                <a:latin typeface="宋体" panose="02010600030101010101" pitchFamily="2" charset="-122"/>
                <a:ea typeface="宋体" panose="02010600030101010101" pitchFamily="2" charset="-122"/>
              </a:rPr>
              <a:t>2</a:t>
            </a:r>
            <a:endParaRPr lang="zh-CN" altLang="en-US" sz="1600" dirty="0"/>
          </a:p>
        </p:txBody>
      </p:sp>
      <p:sp>
        <p:nvSpPr>
          <p:cNvPr id="27" name="矩形 26"/>
          <p:cNvSpPr/>
          <p:nvPr/>
        </p:nvSpPr>
        <p:spPr>
          <a:xfrm>
            <a:off x="6660232" y="699542"/>
            <a:ext cx="2452549" cy="830997"/>
          </a:xfrm>
          <a:prstGeom prst="rect">
            <a:avLst/>
          </a:prstGeom>
        </p:spPr>
        <p:txBody>
          <a:bodyPr wrap="square">
            <a:spAutoFit/>
          </a:bodyPr>
          <a:lstStyle/>
          <a:p>
            <a:r>
              <a:rPr lang="zh-CN" altLang="en-US" sz="1600" dirty="0">
                <a:latin typeface="宋体" panose="02010600030101010101" pitchFamily="2" charset="-122"/>
                <a:ea typeface="宋体" panose="02010600030101010101" pitchFamily="2" charset="-122"/>
              </a:rPr>
              <a:t>当扫描到</a:t>
            </a:r>
            <a:r>
              <a:rPr lang="en-US" altLang="zh-CN" sz="1600" dirty="0">
                <a:latin typeface="宋体" panose="02010600030101010101" pitchFamily="2" charset="-122"/>
                <a:ea typeface="宋体" panose="02010600030101010101" pitchFamily="2" charset="-122"/>
              </a:rPr>
              <a:t>B</a:t>
            </a:r>
            <a:r>
              <a:rPr lang="zh-CN" altLang="en-US" sz="1600" dirty="0">
                <a:latin typeface="宋体" panose="02010600030101010101" pitchFamily="2" charset="-122"/>
                <a:ea typeface="宋体" panose="02010600030101010101" pitchFamily="2" charset="-122"/>
              </a:rPr>
              <a:t>后的</a:t>
            </a:r>
            <a:r>
              <a:rPr lang="en-US" altLang="zh-CN" sz="1600" dirty="0">
                <a:latin typeface="宋体" panose="02010600030101010101" pitchFamily="2" charset="-122"/>
                <a:ea typeface="宋体" panose="02010600030101010101" pitchFamily="2" charset="-122"/>
              </a:rPr>
              <a:t>&amp;&amp;</a:t>
            </a:r>
            <a:r>
              <a:rPr lang="zh-CN" altLang="en-US" sz="1600" dirty="0">
                <a:latin typeface="宋体" panose="02010600030101010101" pitchFamily="2" charset="-122"/>
                <a:ea typeface="宋体" panose="02010600030101010101" pitchFamily="2" charset="-122"/>
              </a:rPr>
              <a:t>时，对</a:t>
            </a:r>
            <a:r>
              <a:rPr lang="en-US" altLang="zh-CN" sz="1600" dirty="0">
                <a:latin typeface="宋体" panose="02010600030101010101" pitchFamily="2" charset="-122"/>
                <a:ea typeface="宋体" panose="02010600030101010101" pitchFamily="2" charset="-122"/>
              </a:rPr>
              <a:t>B</a:t>
            </a:r>
            <a:r>
              <a:rPr lang="zh-CN" altLang="en-US" sz="1600" dirty="0">
                <a:latin typeface="宋体" panose="02010600030101010101" pitchFamily="2" charset="-122"/>
                <a:ea typeface="宋体" panose="02010600030101010101" pitchFamily="2" charset="-122"/>
              </a:rPr>
              <a:t>进行归约，又产生两个四元式</a:t>
            </a:r>
            <a:r>
              <a:rPr lang="en-US" altLang="zh-CN" sz="1600" dirty="0">
                <a:latin typeface="宋体" panose="02010600030101010101" pitchFamily="2" charset="-122"/>
                <a:ea typeface="宋体" panose="02010600030101010101" pitchFamily="2" charset="-122"/>
              </a:rPr>
              <a:t>3</a:t>
            </a:r>
            <a:r>
              <a:rPr lang="zh-CN" altLang="en-US" sz="1600" dirty="0">
                <a:latin typeface="宋体" panose="02010600030101010101" pitchFamily="2" charset="-122"/>
                <a:ea typeface="宋体" panose="02010600030101010101" pitchFamily="2" charset="-122"/>
              </a:rPr>
              <a:t>，</a:t>
            </a:r>
            <a:r>
              <a:rPr lang="en-US" altLang="zh-CN" sz="1600" dirty="0">
                <a:latin typeface="宋体" panose="02010600030101010101" pitchFamily="2" charset="-122"/>
                <a:ea typeface="宋体" panose="02010600030101010101" pitchFamily="2" charset="-122"/>
              </a:rPr>
              <a:t>4</a:t>
            </a:r>
            <a:endParaRPr lang="zh-CN" altLang="en-US" sz="1600" dirty="0"/>
          </a:p>
        </p:txBody>
      </p:sp>
      <p:sp>
        <p:nvSpPr>
          <p:cNvPr id="28" name="矩形 27"/>
          <p:cNvSpPr/>
          <p:nvPr/>
        </p:nvSpPr>
        <p:spPr>
          <a:xfrm>
            <a:off x="6673326" y="1380713"/>
            <a:ext cx="2452549" cy="830997"/>
          </a:xfrm>
          <a:prstGeom prst="rect">
            <a:avLst/>
          </a:prstGeom>
        </p:spPr>
        <p:txBody>
          <a:bodyPr wrap="square">
            <a:spAutoFit/>
          </a:bodyPr>
          <a:lstStyle/>
          <a:p>
            <a:r>
              <a:rPr lang="zh-CN" altLang="en-US" sz="1600" dirty="0">
                <a:latin typeface="宋体" panose="02010600030101010101" pitchFamily="2" charset="-122"/>
                <a:ea typeface="宋体" panose="02010600030101010101" pitchFamily="2" charset="-122"/>
              </a:rPr>
              <a:t>当扫描到最后，对</a:t>
            </a:r>
            <a:r>
              <a:rPr lang="en-US" altLang="zh-CN" sz="1600" dirty="0">
                <a:latin typeface="宋体" panose="02010600030101010101" pitchFamily="2" charset="-122"/>
                <a:ea typeface="宋体" panose="02010600030101010101" pitchFamily="2" charset="-122"/>
              </a:rPr>
              <a:t>C&gt;D</a:t>
            </a:r>
            <a:r>
              <a:rPr lang="zh-CN" altLang="en-US" sz="1600" dirty="0">
                <a:latin typeface="宋体" panose="02010600030101010101" pitchFamily="2" charset="-122"/>
                <a:ea typeface="宋体" panose="02010600030101010101" pitchFamily="2" charset="-122"/>
              </a:rPr>
              <a:t>进行归约，又产生两个四元式</a:t>
            </a:r>
            <a:r>
              <a:rPr lang="en-US" altLang="zh-CN" sz="1600" dirty="0">
                <a:latin typeface="宋体" panose="02010600030101010101" pitchFamily="2" charset="-122"/>
                <a:ea typeface="宋体" panose="02010600030101010101" pitchFamily="2" charset="-122"/>
              </a:rPr>
              <a:t>5</a:t>
            </a:r>
            <a:r>
              <a:rPr lang="zh-CN" altLang="en-US" sz="1600" dirty="0">
                <a:latin typeface="宋体" panose="02010600030101010101" pitchFamily="2" charset="-122"/>
                <a:ea typeface="宋体" panose="02010600030101010101" pitchFamily="2" charset="-122"/>
              </a:rPr>
              <a:t>，</a:t>
            </a:r>
            <a:r>
              <a:rPr lang="en-US" altLang="zh-CN" sz="1600" dirty="0">
                <a:latin typeface="宋体" panose="02010600030101010101" pitchFamily="2" charset="-122"/>
                <a:ea typeface="宋体" panose="02010600030101010101" pitchFamily="2" charset="-122"/>
              </a:rPr>
              <a:t>6</a:t>
            </a:r>
            <a:endParaRPr lang="zh-CN" altLang="en-US" sz="1600" dirty="0"/>
          </a:p>
        </p:txBody>
      </p:sp>
    </p:spTree>
    <p:extLst>
      <p:ext uri="{BB962C8B-B14F-4D97-AF65-F5344CB8AC3E}">
        <p14:creationId xmlns:p14="http://schemas.microsoft.com/office/powerpoint/2010/main" val="543437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2" presetClass="entr" presetSubtype="4" fill="hold" grpId="0" nodeType="clickEffect">
                                  <p:stCondLst>
                                    <p:cond delay="0"/>
                                  </p:stCondLst>
                                  <p:childTnLst>
                                    <p:set>
                                      <p:cBhvr>
                                        <p:cTn id="74" dur="1" fill="hold">
                                          <p:stCondLst>
                                            <p:cond delay="0"/>
                                          </p:stCondLst>
                                        </p:cTn>
                                        <p:tgtEl>
                                          <p:spTgt spid="72717"/>
                                        </p:tgtEl>
                                        <p:attrNameLst>
                                          <p:attrName>style.visibility</p:attrName>
                                        </p:attrNameLst>
                                      </p:cBhvr>
                                      <p:to>
                                        <p:strVal val="visible"/>
                                      </p:to>
                                    </p:set>
                                    <p:animEffect transition="in" filter="slide(fromBottom)">
                                      <p:cBhvr>
                                        <p:cTn id="75" dur="500"/>
                                        <p:tgtEl>
                                          <p:spTgt spid="72717"/>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xit" presetSubtype="0" fill="hold" grpId="1" nodeType="clickEffect">
                                  <p:stCondLst>
                                    <p:cond delay="0"/>
                                  </p:stCondLst>
                                  <p:childTnLst>
                                    <p:set>
                                      <p:cBhvr>
                                        <p:cTn id="79" dur="1" fill="hold">
                                          <p:stCondLst>
                                            <p:cond delay="0"/>
                                          </p:stCondLst>
                                        </p:cTn>
                                        <p:tgtEl>
                                          <p:spTgt spid="3"/>
                                        </p:tgtEl>
                                        <p:attrNameLst>
                                          <p:attrName>style.visibility</p:attrName>
                                        </p:attrNameLst>
                                      </p:cBhvr>
                                      <p:to>
                                        <p:strVal val="hidden"/>
                                      </p:to>
                                    </p:set>
                                  </p:childTnLst>
                                </p:cTn>
                              </p:par>
                              <p:par>
                                <p:cTn id="80" presetID="1" presetClass="exit" presetSubtype="0" fill="hold" grpId="1" nodeType="withEffect">
                                  <p:stCondLst>
                                    <p:cond delay="0"/>
                                  </p:stCondLst>
                                  <p:childTnLst>
                                    <p:set>
                                      <p:cBhvr>
                                        <p:cTn id="81" dur="1" fill="hold">
                                          <p:stCondLst>
                                            <p:cond delay="0"/>
                                          </p:stCondLst>
                                        </p:cTn>
                                        <p:tgtEl>
                                          <p:spTgt spid="13"/>
                                        </p:tgtEl>
                                        <p:attrNameLst>
                                          <p:attrName>style.visibility</p:attrName>
                                        </p:attrNameLst>
                                      </p:cBhvr>
                                      <p:to>
                                        <p:strVal val="hidden"/>
                                      </p:to>
                                    </p:set>
                                  </p:childTnLst>
                                </p:cTn>
                              </p:par>
                              <p:par>
                                <p:cTn id="82" presetID="1" presetClass="exit" presetSubtype="0" fill="hold" grpId="1" nodeType="withEffect">
                                  <p:stCondLst>
                                    <p:cond delay="0"/>
                                  </p:stCondLst>
                                  <p:childTnLst>
                                    <p:set>
                                      <p:cBhvr>
                                        <p:cTn id="83" dur="1" fill="hold">
                                          <p:stCondLst>
                                            <p:cond delay="0"/>
                                          </p:stCondLst>
                                        </p:cTn>
                                        <p:tgtEl>
                                          <p:spTgt spid="14"/>
                                        </p:tgtEl>
                                        <p:attrNameLst>
                                          <p:attrName>style.visibility</p:attrName>
                                        </p:attrNameLst>
                                      </p:cBhvr>
                                      <p:to>
                                        <p:strVal val="hidden"/>
                                      </p:to>
                                    </p:set>
                                  </p:childTnLst>
                                </p:cTn>
                              </p:par>
                              <p:par>
                                <p:cTn id="84" presetID="1" presetClass="exit" presetSubtype="0" fill="hold" grpId="1" nodeType="withEffect">
                                  <p:stCondLst>
                                    <p:cond delay="0"/>
                                  </p:stCondLst>
                                  <p:childTnLst>
                                    <p:set>
                                      <p:cBhvr>
                                        <p:cTn id="85" dur="1" fill="hold">
                                          <p:stCondLst>
                                            <p:cond delay="0"/>
                                          </p:stCondLst>
                                        </p:cTn>
                                        <p:tgtEl>
                                          <p:spTgt spid="16"/>
                                        </p:tgtEl>
                                        <p:attrNameLst>
                                          <p:attrName>style.visibility</p:attrName>
                                        </p:attrNameLst>
                                      </p:cBhvr>
                                      <p:to>
                                        <p:strVal val="hidden"/>
                                      </p:to>
                                    </p:set>
                                  </p:childTnLst>
                                </p:cTn>
                              </p:par>
                              <p:par>
                                <p:cTn id="86" presetID="1" presetClass="exit" presetSubtype="0" fill="hold" grpId="1" nodeType="withEffect">
                                  <p:stCondLst>
                                    <p:cond delay="0"/>
                                  </p:stCondLst>
                                  <p:childTnLst>
                                    <p:set>
                                      <p:cBhvr>
                                        <p:cTn id="87" dur="1" fill="hold">
                                          <p:stCondLst>
                                            <p:cond delay="0"/>
                                          </p:stCondLst>
                                        </p:cTn>
                                        <p:tgtEl>
                                          <p:spTgt spid="15"/>
                                        </p:tgtEl>
                                        <p:attrNameLst>
                                          <p:attrName>style.visibility</p:attrName>
                                        </p:attrNameLst>
                                      </p:cBhvr>
                                      <p:to>
                                        <p:strVal val="hidden"/>
                                      </p:to>
                                    </p:set>
                                  </p:childTnLst>
                                </p:cTn>
                              </p:par>
                              <p:par>
                                <p:cTn id="88" presetID="1" presetClass="exit" presetSubtype="0" fill="hold" grpId="1" nodeType="withEffect">
                                  <p:stCondLst>
                                    <p:cond delay="0"/>
                                  </p:stCondLst>
                                  <p:childTnLst>
                                    <p:set>
                                      <p:cBhvr>
                                        <p:cTn id="89"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7" grpId="0" animBg="1" autoUpdateAnimBg="0"/>
      <p:bldP spid="2" grpId="0"/>
      <p:bldP spid="3" grpId="0" animBg="1"/>
      <p:bldP spid="3" grpId="1" animBg="1"/>
      <p:bldP spid="14" grpId="0" animBg="1"/>
      <p:bldP spid="14" grpId="1" animBg="1"/>
      <p:bldP spid="15" grpId="0" animBg="1"/>
      <p:bldP spid="15" grpId="1" animBg="1"/>
      <p:bldP spid="16" grpId="0" animBg="1"/>
      <p:bldP spid="16" grpId="1" animBg="1"/>
      <p:bldP spid="17" grpId="0" animBg="1"/>
      <p:bldP spid="17" grpId="1" animBg="1"/>
      <p:bldP spid="4" grpId="0"/>
      <p:bldP spid="5" grpId="0"/>
      <p:bldP spid="7" grpId="0" animBg="1"/>
      <p:bldP spid="8" grpId="0"/>
      <p:bldP spid="9" grpId="0" animBg="1"/>
      <p:bldP spid="10" grpId="0" animBg="1"/>
      <p:bldP spid="11" grpId="0" animBg="1"/>
      <p:bldP spid="13" grpId="0" animBg="1"/>
      <p:bldP spid="13" grpId="1" animBg="1"/>
      <p:bldP spid="12" grpId="0"/>
      <p:bldP spid="27" grpId="0"/>
      <p:bldP spid="28"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a:spLocks noGrp="1" noChangeArrowheads="1"/>
          </p:cNvSpPr>
          <p:nvPr>
            <p:ph type="body" sz="half" idx="1"/>
          </p:nvPr>
        </p:nvSpPr>
        <p:spPr>
          <a:xfrm>
            <a:off x="90016" y="123478"/>
            <a:ext cx="6480397" cy="1349945"/>
          </a:xfrm>
        </p:spPr>
        <p:style>
          <a:lnRef idx="2">
            <a:schemeClr val="accent1"/>
          </a:lnRef>
          <a:fillRef idx="1">
            <a:schemeClr val="lt1"/>
          </a:fillRef>
          <a:effectRef idx="0">
            <a:schemeClr val="accent1"/>
          </a:effectRef>
          <a:fontRef idx="minor">
            <a:schemeClr val="dk1"/>
          </a:fontRef>
        </p:style>
        <p:txBody>
          <a:bodyPr>
            <a:normAutofit/>
          </a:bodyPr>
          <a:lstStyle/>
          <a:p>
            <a:pPr eaLnBrk="1" hangingPunct="1">
              <a:lnSpc>
                <a:spcPct val="90000"/>
              </a:lnSpc>
            </a:pPr>
            <a:r>
              <a:rPr lang="zh-CN" altLang="en-US" sz="2200" b="1" dirty="0">
                <a:solidFill>
                  <a:srgbClr val="CC00CC"/>
                </a:solidFill>
              </a:rPr>
              <a:t>回填技术的基本思想</a:t>
            </a:r>
          </a:p>
          <a:p>
            <a:pPr lvl="1" eaLnBrk="1" hangingPunct="1">
              <a:lnSpc>
                <a:spcPct val="90000"/>
              </a:lnSpc>
            </a:pPr>
            <a:r>
              <a:rPr lang="zh-CN" altLang="en-US" sz="2000" dirty="0"/>
              <a:t>已知就直接填入；不知时先填</a:t>
            </a:r>
            <a:r>
              <a:rPr lang="en-US" altLang="zh-CN" sz="2000" dirty="0"/>
              <a:t>0</a:t>
            </a:r>
            <a:r>
              <a:rPr lang="zh-CN" altLang="en-US" sz="2000" dirty="0"/>
              <a:t>，等知道后再返填</a:t>
            </a:r>
          </a:p>
          <a:p>
            <a:pPr lvl="1" eaLnBrk="1" hangingPunct="1">
              <a:lnSpc>
                <a:spcPct val="90000"/>
              </a:lnSpc>
            </a:pPr>
            <a:r>
              <a:rPr lang="zh-CN" altLang="en-US" sz="2000" dirty="0"/>
              <a:t>若多个因子的转移去向相同，但又不知道具体位置，应该用链将这些未知且出口相同的四元式链在一起。</a:t>
            </a:r>
          </a:p>
        </p:txBody>
      </p:sp>
      <p:sp>
        <p:nvSpPr>
          <p:cNvPr id="72717" name="Text Box 13"/>
          <p:cNvSpPr txBox="1">
            <a:spLocks noChangeArrowheads="1"/>
          </p:cNvSpPr>
          <p:nvPr/>
        </p:nvSpPr>
        <p:spPr bwMode="auto">
          <a:xfrm>
            <a:off x="198139" y="4155926"/>
            <a:ext cx="3797797" cy="1015663"/>
          </a:xfrm>
          <a:prstGeom prst="rect">
            <a:avLst/>
          </a:prstGeom>
          <a:solidFill>
            <a:schemeClr val="bg1"/>
          </a:solidFill>
          <a:ln>
            <a:noFill/>
          </a:ln>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buFontTx/>
              <a:buNone/>
            </a:pPr>
            <a:r>
              <a:rPr lang="zh-CN" altLang="en-US" sz="2000" b="1" dirty="0">
                <a:solidFill>
                  <a:schemeClr val="accent2"/>
                </a:solidFill>
              </a:rPr>
              <a:t>翻译结束时，生成了真、假出口两个链，两个</a:t>
            </a:r>
            <a:r>
              <a:rPr lang="en-US" altLang="zh-CN" sz="2000" b="1" dirty="0">
                <a:solidFill>
                  <a:schemeClr val="accent2"/>
                </a:solidFill>
              </a:rPr>
              <a:t>0</a:t>
            </a:r>
            <a:r>
              <a:rPr lang="zh-CN" altLang="en-US" sz="2000" b="1" dirty="0">
                <a:solidFill>
                  <a:schemeClr val="accent2"/>
                </a:solidFill>
              </a:rPr>
              <a:t>就是待填部分。等以后翻译到后面知道了再填入。</a:t>
            </a:r>
          </a:p>
        </p:txBody>
      </p:sp>
      <p:sp>
        <p:nvSpPr>
          <p:cNvPr id="2" name="矩形 1"/>
          <p:cNvSpPr/>
          <p:nvPr/>
        </p:nvSpPr>
        <p:spPr>
          <a:xfrm>
            <a:off x="198139" y="1620811"/>
            <a:ext cx="6443739" cy="376963"/>
          </a:xfrm>
          <a:prstGeom prst="rect">
            <a:avLst/>
          </a:prstGeom>
        </p:spPr>
        <p:txBody>
          <a:bodyPr wrap="square">
            <a:spAutoFit/>
          </a:bodyPr>
          <a:lstStyle/>
          <a:p>
            <a:pPr marL="0" lvl="1">
              <a:lnSpc>
                <a:spcPct val="90000"/>
              </a:lnSpc>
            </a:pPr>
            <a:r>
              <a:rPr lang="zh-CN" altLang="en-US" sz="2000" dirty="0"/>
              <a:t>例：布尔表达式</a:t>
            </a:r>
            <a:r>
              <a:rPr lang="en-US" altLang="zh-CN" sz="2000" dirty="0"/>
              <a:t>:  A &amp;&amp; B &amp;&amp; C&gt;D  </a:t>
            </a:r>
            <a:r>
              <a:rPr lang="zh-CN" altLang="en-US" sz="2000" dirty="0"/>
              <a:t>的四元式为：  </a:t>
            </a:r>
          </a:p>
        </p:txBody>
      </p:sp>
      <p:sp>
        <p:nvSpPr>
          <p:cNvPr id="4" name="矩形 3"/>
          <p:cNvSpPr/>
          <p:nvPr/>
        </p:nvSpPr>
        <p:spPr>
          <a:xfrm>
            <a:off x="665214" y="3435846"/>
            <a:ext cx="3096344" cy="707886"/>
          </a:xfrm>
          <a:prstGeom prst="rect">
            <a:avLst/>
          </a:prstGeom>
        </p:spPr>
        <p:txBody>
          <a:bodyPr wrap="square">
            <a:spAutoFit/>
          </a:bodyPr>
          <a:lstStyle/>
          <a:p>
            <a:r>
              <a:rPr lang="zh-CN" altLang="zh-CN" sz="2000" dirty="0"/>
              <a:t>（</a:t>
            </a:r>
            <a:r>
              <a:rPr lang="en-US" altLang="zh-CN" sz="2000" dirty="0"/>
              <a:t>5</a:t>
            </a:r>
            <a:r>
              <a:rPr lang="zh-CN" altLang="zh-CN" sz="2000" dirty="0"/>
              <a:t>）</a:t>
            </a:r>
            <a:r>
              <a:rPr lang="en-US" altLang="zh-CN" sz="2000" dirty="0"/>
              <a:t>  (j&gt;</a:t>
            </a:r>
            <a:r>
              <a:rPr lang="zh-CN" altLang="zh-CN" sz="2000" dirty="0"/>
              <a:t>，</a:t>
            </a:r>
            <a:r>
              <a:rPr lang="en-US" altLang="zh-CN" sz="2000" dirty="0"/>
              <a:t>C</a:t>
            </a:r>
            <a:r>
              <a:rPr lang="zh-CN" altLang="zh-CN" sz="2000" dirty="0"/>
              <a:t>，</a:t>
            </a:r>
            <a:r>
              <a:rPr lang="en-US" altLang="zh-CN" sz="2000" dirty="0"/>
              <a:t>D</a:t>
            </a:r>
            <a:r>
              <a:rPr lang="zh-CN" altLang="zh-CN" sz="2000" dirty="0"/>
              <a:t>，</a:t>
            </a:r>
            <a:r>
              <a:rPr lang="en-US" altLang="zh-CN" sz="2000" dirty="0"/>
              <a:t>0 )</a:t>
            </a:r>
            <a:endParaRPr lang="zh-CN" altLang="zh-CN" sz="2000" dirty="0"/>
          </a:p>
          <a:p>
            <a:r>
              <a:rPr lang="zh-CN" altLang="en-US" sz="2000" dirty="0"/>
              <a:t>（</a:t>
            </a:r>
            <a:r>
              <a:rPr lang="en-US" altLang="zh-CN" sz="2000" dirty="0"/>
              <a:t>6</a:t>
            </a:r>
            <a:r>
              <a:rPr lang="zh-CN" altLang="en-US" sz="2000" dirty="0"/>
              <a:t>）  </a:t>
            </a:r>
            <a:r>
              <a:rPr lang="en-US" altLang="zh-CN" sz="2000" dirty="0"/>
              <a:t>(j</a:t>
            </a:r>
            <a:r>
              <a:rPr lang="zh-CN" altLang="zh-CN" sz="2000" dirty="0"/>
              <a:t>， ， ，</a:t>
            </a:r>
            <a:r>
              <a:rPr lang="en-US" altLang="zh-CN" sz="2000" dirty="0"/>
              <a:t> 0)</a:t>
            </a:r>
            <a:endParaRPr lang="zh-CN" altLang="en-US" sz="2000" dirty="0"/>
          </a:p>
        </p:txBody>
      </p:sp>
      <p:sp>
        <p:nvSpPr>
          <p:cNvPr id="5" name="矩形 4"/>
          <p:cNvSpPr/>
          <p:nvPr/>
        </p:nvSpPr>
        <p:spPr>
          <a:xfrm>
            <a:off x="665214" y="2204813"/>
            <a:ext cx="3100253" cy="707886"/>
          </a:xfrm>
          <a:prstGeom prst="rect">
            <a:avLst/>
          </a:prstGeom>
        </p:spPr>
        <p:txBody>
          <a:bodyPr wrap="square">
            <a:spAutoFit/>
          </a:bodyPr>
          <a:lstStyle/>
          <a:p>
            <a:r>
              <a:rPr lang="zh-CN" altLang="zh-CN" sz="2000" dirty="0"/>
              <a:t>（</a:t>
            </a:r>
            <a:r>
              <a:rPr lang="en-US" altLang="zh-CN" sz="2000" dirty="0"/>
              <a:t>1</a:t>
            </a:r>
            <a:r>
              <a:rPr lang="zh-CN" altLang="zh-CN" sz="2000" dirty="0"/>
              <a:t>）</a:t>
            </a:r>
            <a:r>
              <a:rPr lang="en-US" altLang="zh-CN" sz="2000" dirty="0"/>
              <a:t>  (</a:t>
            </a:r>
            <a:r>
              <a:rPr lang="en-US" altLang="zh-CN" sz="2000" dirty="0" err="1"/>
              <a:t>jnz</a:t>
            </a:r>
            <a:r>
              <a:rPr lang="zh-CN" altLang="zh-CN" sz="2000" dirty="0"/>
              <a:t>，</a:t>
            </a:r>
            <a:r>
              <a:rPr lang="en-US" altLang="zh-CN" sz="2000" dirty="0"/>
              <a:t>A</a:t>
            </a:r>
            <a:r>
              <a:rPr lang="zh-CN" altLang="zh-CN" sz="2000" dirty="0"/>
              <a:t>， ，</a:t>
            </a:r>
            <a:r>
              <a:rPr lang="en-US" altLang="zh-CN" sz="2000" dirty="0"/>
              <a:t> 0 )</a:t>
            </a:r>
            <a:endParaRPr lang="zh-CN" altLang="zh-CN" sz="2000" dirty="0"/>
          </a:p>
          <a:p>
            <a:r>
              <a:rPr lang="zh-CN" altLang="zh-CN" sz="2000" dirty="0"/>
              <a:t>（</a:t>
            </a:r>
            <a:r>
              <a:rPr lang="en-US" altLang="zh-CN" sz="2000" dirty="0"/>
              <a:t>2</a:t>
            </a:r>
            <a:r>
              <a:rPr lang="zh-CN" altLang="zh-CN" sz="2000" dirty="0"/>
              <a:t>）</a:t>
            </a:r>
            <a:r>
              <a:rPr lang="en-US" altLang="zh-CN" sz="2000" dirty="0"/>
              <a:t>  (j</a:t>
            </a:r>
            <a:r>
              <a:rPr lang="zh-CN" altLang="zh-CN" sz="2000" dirty="0"/>
              <a:t>， ， ，</a:t>
            </a:r>
            <a:r>
              <a:rPr lang="en-US" altLang="zh-CN" sz="2000" dirty="0"/>
              <a:t>0 )</a:t>
            </a:r>
            <a:endParaRPr lang="zh-CN" altLang="zh-CN" sz="2000" dirty="0"/>
          </a:p>
        </p:txBody>
      </p:sp>
      <p:sp>
        <p:nvSpPr>
          <p:cNvPr id="7" name="矩形 6"/>
          <p:cNvSpPr/>
          <p:nvPr/>
        </p:nvSpPr>
        <p:spPr>
          <a:xfrm>
            <a:off x="3054948" y="2211710"/>
            <a:ext cx="346570" cy="400110"/>
          </a:xfrm>
          <a:prstGeom prst="rect">
            <a:avLst/>
          </a:prstGeom>
          <a:solidFill>
            <a:schemeClr val="bg1"/>
          </a:solidFill>
        </p:spPr>
        <p:txBody>
          <a:bodyPr wrap="none">
            <a:spAutoFit/>
          </a:bodyPr>
          <a:lstStyle/>
          <a:p>
            <a:r>
              <a:rPr lang="en-US" altLang="zh-CN" sz="2000" dirty="0">
                <a:solidFill>
                  <a:srgbClr val="FF0000"/>
                </a:solidFill>
              </a:rPr>
              <a:t>3</a:t>
            </a:r>
            <a:endParaRPr lang="zh-CN" altLang="en-US" sz="2000" dirty="0">
              <a:solidFill>
                <a:srgbClr val="FF0000"/>
              </a:solidFill>
            </a:endParaRPr>
          </a:p>
        </p:txBody>
      </p:sp>
      <p:sp>
        <p:nvSpPr>
          <p:cNvPr id="8" name="矩形 7"/>
          <p:cNvSpPr/>
          <p:nvPr/>
        </p:nvSpPr>
        <p:spPr>
          <a:xfrm>
            <a:off x="665214" y="2787774"/>
            <a:ext cx="3240297" cy="707886"/>
          </a:xfrm>
          <a:prstGeom prst="rect">
            <a:avLst/>
          </a:prstGeom>
        </p:spPr>
        <p:txBody>
          <a:bodyPr wrap="square">
            <a:spAutoFit/>
          </a:bodyPr>
          <a:lstStyle/>
          <a:p>
            <a:r>
              <a:rPr lang="zh-CN" altLang="zh-CN" sz="2000" dirty="0"/>
              <a:t>（</a:t>
            </a:r>
            <a:r>
              <a:rPr lang="en-US" altLang="zh-CN" sz="2000" dirty="0"/>
              <a:t>3</a:t>
            </a:r>
            <a:r>
              <a:rPr lang="zh-CN" altLang="zh-CN" sz="2000" dirty="0"/>
              <a:t>）</a:t>
            </a:r>
            <a:r>
              <a:rPr lang="en-US" altLang="zh-CN" sz="2000" dirty="0"/>
              <a:t>  (</a:t>
            </a:r>
            <a:r>
              <a:rPr lang="en-US" altLang="zh-CN" sz="2000" dirty="0" err="1"/>
              <a:t>jnz</a:t>
            </a:r>
            <a:r>
              <a:rPr lang="zh-CN" altLang="zh-CN" sz="2000" dirty="0"/>
              <a:t>，</a:t>
            </a:r>
            <a:r>
              <a:rPr lang="en-US" altLang="zh-CN" sz="2000" dirty="0"/>
              <a:t>B</a:t>
            </a:r>
            <a:r>
              <a:rPr lang="zh-CN" altLang="zh-CN" sz="2000" dirty="0"/>
              <a:t>， ，</a:t>
            </a:r>
            <a:r>
              <a:rPr lang="en-US" altLang="zh-CN" sz="2000" dirty="0"/>
              <a:t>0 )</a:t>
            </a:r>
            <a:endParaRPr lang="zh-CN" altLang="zh-CN" sz="2000" dirty="0"/>
          </a:p>
          <a:p>
            <a:r>
              <a:rPr lang="zh-CN" altLang="zh-CN" sz="2000" dirty="0"/>
              <a:t>（</a:t>
            </a:r>
            <a:r>
              <a:rPr lang="en-US" altLang="zh-CN" sz="2000" dirty="0"/>
              <a:t>4</a:t>
            </a:r>
            <a:r>
              <a:rPr lang="zh-CN" altLang="zh-CN" sz="2000" dirty="0"/>
              <a:t>）</a:t>
            </a:r>
            <a:r>
              <a:rPr lang="en-US" altLang="zh-CN" sz="2000" dirty="0"/>
              <a:t>  (j</a:t>
            </a:r>
            <a:r>
              <a:rPr lang="zh-CN" altLang="zh-CN" sz="2000" dirty="0"/>
              <a:t>， ， ，</a:t>
            </a:r>
            <a:r>
              <a:rPr lang="en-US" altLang="zh-CN" sz="2000" dirty="0"/>
              <a:t>0 )</a:t>
            </a:r>
            <a:endParaRPr lang="zh-CN" altLang="zh-CN" sz="2000" dirty="0"/>
          </a:p>
        </p:txBody>
      </p:sp>
      <p:sp>
        <p:nvSpPr>
          <p:cNvPr id="9" name="矩形 8"/>
          <p:cNvSpPr/>
          <p:nvPr/>
        </p:nvSpPr>
        <p:spPr>
          <a:xfrm>
            <a:off x="2952490" y="2819712"/>
            <a:ext cx="346570" cy="400110"/>
          </a:xfrm>
          <a:prstGeom prst="rect">
            <a:avLst/>
          </a:prstGeom>
          <a:solidFill>
            <a:schemeClr val="bg1"/>
          </a:solidFill>
        </p:spPr>
        <p:txBody>
          <a:bodyPr wrap="none">
            <a:spAutoFit/>
          </a:bodyPr>
          <a:lstStyle/>
          <a:p>
            <a:r>
              <a:rPr lang="en-US" altLang="zh-CN" sz="2000" dirty="0">
                <a:solidFill>
                  <a:srgbClr val="FF0000"/>
                </a:solidFill>
              </a:rPr>
              <a:t>5</a:t>
            </a:r>
            <a:endParaRPr lang="zh-CN" altLang="en-US" sz="2000" dirty="0"/>
          </a:p>
        </p:txBody>
      </p:sp>
      <p:sp>
        <p:nvSpPr>
          <p:cNvPr id="10" name="矩形 9"/>
          <p:cNvSpPr/>
          <p:nvPr/>
        </p:nvSpPr>
        <p:spPr>
          <a:xfrm>
            <a:off x="2537422" y="3147814"/>
            <a:ext cx="346570" cy="400110"/>
          </a:xfrm>
          <a:prstGeom prst="rect">
            <a:avLst/>
          </a:prstGeom>
          <a:solidFill>
            <a:schemeClr val="bg1"/>
          </a:solidFill>
        </p:spPr>
        <p:txBody>
          <a:bodyPr wrap="none">
            <a:spAutoFit/>
          </a:bodyPr>
          <a:lstStyle/>
          <a:p>
            <a:r>
              <a:rPr lang="en-US" altLang="zh-CN" sz="2000" dirty="0">
                <a:solidFill>
                  <a:srgbClr val="FF0000"/>
                </a:solidFill>
              </a:rPr>
              <a:t>2</a:t>
            </a:r>
            <a:endParaRPr lang="zh-CN" altLang="en-US" sz="2000" dirty="0"/>
          </a:p>
        </p:txBody>
      </p:sp>
      <p:sp>
        <p:nvSpPr>
          <p:cNvPr id="11" name="矩形 10"/>
          <p:cNvSpPr/>
          <p:nvPr/>
        </p:nvSpPr>
        <p:spPr>
          <a:xfrm>
            <a:off x="2550892" y="3789789"/>
            <a:ext cx="346570" cy="400110"/>
          </a:xfrm>
          <a:prstGeom prst="rect">
            <a:avLst/>
          </a:prstGeom>
          <a:solidFill>
            <a:schemeClr val="bg1"/>
          </a:solidFill>
        </p:spPr>
        <p:txBody>
          <a:bodyPr wrap="none">
            <a:spAutoFit/>
          </a:bodyPr>
          <a:lstStyle/>
          <a:p>
            <a:r>
              <a:rPr lang="en-US" altLang="zh-CN" sz="2000" dirty="0">
                <a:solidFill>
                  <a:srgbClr val="FF0000"/>
                </a:solidFill>
              </a:rPr>
              <a:t>4</a:t>
            </a:r>
            <a:endParaRPr lang="zh-CN" altLang="en-US" dirty="0">
              <a:solidFill>
                <a:srgbClr val="FF0000"/>
              </a:solidFill>
            </a:endParaRPr>
          </a:p>
        </p:txBody>
      </p:sp>
      <p:sp>
        <p:nvSpPr>
          <p:cNvPr id="12" name="矩形 11"/>
          <p:cNvSpPr/>
          <p:nvPr/>
        </p:nvSpPr>
        <p:spPr>
          <a:xfrm>
            <a:off x="6691451" y="-528"/>
            <a:ext cx="2452549" cy="830997"/>
          </a:xfrm>
          <a:prstGeom prst="rect">
            <a:avLst/>
          </a:prstGeom>
        </p:spPr>
        <p:txBody>
          <a:bodyPr wrap="square">
            <a:spAutoFit/>
          </a:bodyPr>
          <a:lstStyle/>
          <a:p>
            <a:r>
              <a:rPr lang="zh-CN" altLang="en-US" sz="1600" dirty="0">
                <a:latin typeface="宋体" panose="02010600030101010101" pitchFamily="2" charset="-122"/>
                <a:ea typeface="宋体" panose="02010600030101010101" pitchFamily="2" charset="-122"/>
              </a:rPr>
              <a:t>当扫描到</a:t>
            </a:r>
            <a:r>
              <a:rPr lang="en-US" altLang="zh-CN" sz="1600" dirty="0">
                <a:latin typeface="宋体" panose="02010600030101010101" pitchFamily="2" charset="-122"/>
                <a:ea typeface="宋体" panose="02010600030101010101" pitchFamily="2" charset="-122"/>
              </a:rPr>
              <a:t>A</a:t>
            </a:r>
            <a:r>
              <a:rPr lang="zh-CN" altLang="en-US" sz="1600" dirty="0">
                <a:latin typeface="宋体" panose="02010600030101010101" pitchFamily="2" charset="-122"/>
                <a:ea typeface="宋体" panose="02010600030101010101" pitchFamily="2" charset="-122"/>
              </a:rPr>
              <a:t>后面的</a:t>
            </a:r>
            <a:r>
              <a:rPr lang="en-US" altLang="zh-CN" sz="1600" dirty="0">
                <a:latin typeface="宋体" panose="02010600030101010101" pitchFamily="2" charset="-122"/>
                <a:ea typeface="宋体" panose="02010600030101010101" pitchFamily="2" charset="-122"/>
              </a:rPr>
              <a:t>&amp;&amp;</a:t>
            </a:r>
            <a:r>
              <a:rPr lang="zh-CN" altLang="en-US" sz="1600" dirty="0">
                <a:latin typeface="宋体" panose="02010600030101010101" pitchFamily="2" charset="-122"/>
                <a:ea typeface="宋体" panose="02010600030101010101" pitchFamily="2" charset="-122"/>
              </a:rPr>
              <a:t>时，对</a:t>
            </a:r>
            <a:r>
              <a:rPr lang="en-US" altLang="zh-CN" sz="1600" dirty="0">
                <a:latin typeface="宋体" panose="02010600030101010101" pitchFamily="2" charset="-122"/>
                <a:ea typeface="宋体" panose="02010600030101010101" pitchFamily="2" charset="-122"/>
              </a:rPr>
              <a:t>A</a:t>
            </a:r>
            <a:r>
              <a:rPr lang="zh-CN" altLang="en-US" sz="1600" dirty="0">
                <a:latin typeface="宋体" panose="02010600030101010101" pitchFamily="2" charset="-122"/>
                <a:ea typeface="宋体" panose="02010600030101010101" pitchFamily="2" charset="-122"/>
              </a:rPr>
              <a:t>进行归约，产生两个四元式</a:t>
            </a:r>
            <a:r>
              <a:rPr lang="en-US" altLang="zh-CN" sz="1600" dirty="0">
                <a:latin typeface="宋体" panose="02010600030101010101" pitchFamily="2" charset="-122"/>
                <a:ea typeface="宋体" panose="02010600030101010101" pitchFamily="2" charset="-122"/>
              </a:rPr>
              <a:t>1</a:t>
            </a:r>
            <a:r>
              <a:rPr lang="zh-CN" altLang="en-US" sz="1600" dirty="0">
                <a:latin typeface="宋体" panose="02010600030101010101" pitchFamily="2" charset="-122"/>
                <a:ea typeface="宋体" panose="02010600030101010101" pitchFamily="2" charset="-122"/>
              </a:rPr>
              <a:t>，</a:t>
            </a:r>
            <a:r>
              <a:rPr lang="en-US" altLang="zh-CN" sz="1600" dirty="0">
                <a:latin typeface="宋体" panose="02010600030101010101" pitchFamily="2" charset="-122"/>
                <a:ea typeface="宋体" panose="02010600030101010101" pitchFamily="2" charset="-122"/>
              </a:rPr>
              <a:t>2</a:t>
            </a:r>
            <a:endParaRPr lang="zh-CN" altLang="en-US" sz="1600" dirty="0"/>
          </a:p>
        </p:txBody>
      </p:sp>
      <p:sp>
        <p:nvSpPr>
          <p:cNvPr id="27" name="矩形 26"/>
          <p:cNvSpPr/>
          <p:nvPr/>
        </p:nvSpPr>
        <p:spPr>
          <a:xfrm>
            <a:off x="6660232" y="699542"/>
            <a:ext cx="2452549" cy="830997"/>
          </a:xfrm>
          <a:prstGeom prst="rect">
            <a:avLst/>
          </a:prstGeom>
        </p:spPr>
        <p:txBody>
          <a:bodyPr wrap="square">
            <a:spAutoFit/>
          </a:bodyPr>
          <a:lstStyle/>
          <a:p>
            <a:r>
              <a:rPr lang="zh-CN" altLang="en-US" sz="1600" dirty="0">
                <a:latin typeface="宋体" panose="02010600030101010101" pitchFamily="2" charset="-122"/>
                <a:ea typeface="宋体" panose="02010600030101010101" pitchFamily="2" charset="-122"/>
              </a:rPr>
              <a:t>当扫描到</a:t>
            </a:r>
            <a:r>
              <a:rPr lang="en-US" altLang="zh-CN" sz="1600" dirty="0">
                <a:latin typeface="宋体" panose="02010600030101010101" pitchFamily="2" charset="-122"/>
                <a:ea typeface="宋体" panose="02010600030101010101" pitchFamily="2" charset="-122"/>
              </a:rPr>
              <a:t>B</a:t>
            </a:r>
            <a:r>
              <a:rPr lang="zh-CN" altLang="en-US" sz="1600" dirty="0">
                <a:latin typeface="宋体" panose="02010600030101010101" pitchFamily="2" charset="-122"/>
                <a:ea typeface="宋体" panose="02010600030101010101" pitchFamily="2" charset="-122"/>
              </a:rPr>
              <a:t>后的</a:t>
            </a:r>
            <a:r>
              <a:rPr lang="en-US" altLang="zh-CN" sz="1600" dirty="0">
                <a:latin typeface="宋体" panose="02010600030101010101" pitchFamily="2" charset="-122"/>
                <a:ea typeface="宋体" panose="02010600030101010101" pitchFamily="2" charset="-122"/>
              </a:rPr>
              <a:t>&amp;&amp;</a:t>
            </a:r>
            <a:r>
              <a:rPr lang="zh-CN" altLang="en-US" sz="1600" dirty="0">
                <a:latin typeface="宋体" panose="02010600030101010101" pitchFamily="2" charset="-122"/>
                <a:ea typeface="宋体" panose="02010600030101010101" pitchFamily="2" charset="-122"/>
              </a:rPr>
              <a:t>时，对</a:t>
            </a:r>
            <a:r>
              <a:rPr lang="en-US" altLang="zh-CN" sz="1600" dirty="0">
                <a:latin typeface="宋体" panose="02010600030101010101" pitchFamily="2" charset="-122"/>
                <a:ea typeface="宋体" panose="02010600030101010101" pitchFamily="2" charset="-122"/>
              </a:rPr>
              <a:t>B</a:t>
            </a:r>
            <a:r>
              <a:rPr lang="zh-CN" altLang="en-US" sz="1600" dirty="0">
                <a:latin typeface="宋体" panose="02010600030101010101" pitchFamily="2" charset="-122"/>
                <a:ea typeface="宋体" panose="02010600030101010101" pitchFamily="2" charset="-122"/>
              </a:rPr>
              <a:t>进行归约，又产生两个四元式</a:t>
            </a:r>
            <a:r>
              <a:rPr lang="en-US" altLang="zh-CN" sz="1600" dirty="0">
                <a:latin typeface="宋体" panose="02010600030101010101" pitchFamily="2" charset="-122"/>
                <a:ea typeface="宋体" panose="02010600030101010101" pitchFamily="2" charset="-122"/>
              </a:rPr>
              <a:t>3</a:t>
            </a:r>
            <a:r>
              <a:rPr lang="zh-CN" altLang="en-US" sz="1600" dirty="0">
                <a:latin typeface="宋体" panose="02010600030101010101" pitchFamily="2" charset="-122"/>
                <a:ea typeface="宋体" panose="02010600030101010101" pitchFamily="2" charset="-122"/>
              </a:rPr>
              <a:t>，</a:t>
            </a:r>
            <a:r>
              <a:rPr lang="en-US" altLang="zh-CN" sz="1600" dirty="0">
                <a:latin typeface="宋体" panose="02010600030101010101" pitchFamily="2" charset="-122"/>
                <a:ea typeface="宋体" panose="02010600030101010101" pitchFamily="2" charset="-122"/>
              </a:rPr>
              <a:t>4</a:t>
            </a:r>
            <a:endParaRPr lang="zh-CN" altLang="en-US" sz="1600" dirty="0"/>
          </a:p>
        </p:txBody>
      </p:sp>
      <p:sp>
        <p:nvSpPr>
          <p:cNvPr id="28" name="矩形 27"/>
          <p:cNvSpPr/>
          <p:nvPr/>
        </p:nvSpPr>
        <p:spPr>
          <a:xfrm>
            <a:off x="6673326" y="1380713"/>
            <a:ext cx="2452549" cy="830997"/>
          </a:xfrm>
          <a:prstGeom prst="rect">
            <a:avLst/>
          </a:prstGeom>
        </p:spPr>
        <p:txBody>
          <a:bodyPr wrap="square">
            <a:spAutoFit/>
          </a:bodyPr>
          <a:lstStyle/>
          <a:p>
            <a:r>
              <a:rPr lang="zh-CN" altLang="en-US" sz="1600" dirty="0">
                <a:latin typeface="宋体" panose="02010600030101010101" pitchFamily="2" charset="-122"/>
                <a:ea typeface="宋体" panose="02010600030101010101" pitchFamily="2" charset="-122"/>
              </a:rPr>
              <a:t>当扫描到最后，对</a:t>
            </a:r>
            <a:r>
              <a:rPr lang="en-US" altLang="zh-CN" sz="1600" dirty="0">
                <a:latin typeface="宋体" panose="02010600030101010101" pitchFamily="2" charset="-122"/>
                <a:ea typeface="宋体" panose="02010600030101010101" pitchFamily="2" charset="-122"/>
              </a:rPr>
              <a:t>C&gt;D</a:t>
            </a:r>
            <a:r>
              <a:rPr lang="zh-CN" altLang="en-US" sz="1600" dirty="0">
                <a:latin typeface="宋体" panose="02010600030101010101" pitchFamily="2" charset="-122"/>
                <a:ea typeface="宋体" panose="02010600030101010101" pitchFamily="2" charset="-122"/>
              </a:rPr>
              <a:t>进行归约，又产生两个四元式</a:t>
            </a:r>
            <a:r>
              <a:rPr lang="en-US" altLang="zh-CN" sz="1600" dirty="0">
                <a:latin typeface="宋体" panose="02010600030101010101" pitchFamily="2" charset="-122"/>
                <a:ea typeface="宋体" panose="02010600030101010101" pitchFamily="2" charset="-122"/>
              </a:rPr>
              <a:t>5</a:t>
            </a:r>
            <a:r>
              <a:rPr lang="zh-CN" altLang="en-US" sz="1600" dirty="0">
                <a:latin typeface="宋体" panose="02010600030101010101" pitchFamily="2" charset="-122"/>
                <a:ea typeface="宋体" panose="02010600030101010101" pitchFamily="2" charset="-122"/>
              </a:rPr>
              <a:t>，</a:t>
            </a:r>
            <a:r>
              <a:rPr lang="en-US" altLang="zh-CN" sz="1600" dirty="0">
                <a:latin typeface="宋体" panose="02010600030101010101" pitchFamily="2" charset="-122"/>
                <a:ea typeface="宋体" panose="02010600030101010101" pitchFamily="2" charset="-122"/>
              </a:rPr>
              <a:t>6</a:t>
            </a:r>
            <a:endParaRPr lang="zh-CN" altLang="en-US" sz="1600" dirty="0"/>
          </a:p>
        </p:txBody>
      </p:sp>
      <p:sp>
        <p:nvSpPr>
          <p:cNvPr id="19" name="矩形 18"/>
          <p:cNvSpPr/>
          <p:nvPr/>
        </p:nvSpPr>
        <p:spPr>
          <a:xfrm>
            <a:off x="3768780" y="4412157"/>
            <a:ext cx="5170005" cy="400110"/>
          </a:xfrm>
          <a:prstGeom prst="rect">
            <a:avLst/>
          </a:prstGeom>
        </p:spPr>
        <p:txBody>
          <a:bodyPr wrap="none">
            <a:spAutoFit/>
          </a:bodyPr>
          <a:lstStyle/>
          <a:p>
            <a:r>
              <a:rPr lang="en-US" altLang="zh-CN" sz="2000" dirty="0"/>
              <a:t>if (A &amp;&amp; B &amp;&amp;(C&gt;D) )  {  S</a:t>
            </a:r>
            <a:r>
              <a:rPr lang="en-US" altLang="zh-CN" sz="2000" baseline="-25000" dirty="0"/>
              <a:t>1</a:t>
            </a:r>
            <a:r>
              <a:rPr lang="en-US" altLang="zh-CN" sz="2000" dirty="0"/>
              <a:t>  }  else   { S</a:t>
            </a:r>
            <a:r>
              <a:rPr lang="en-US" altLang="zh-CN" sz="2000" baseline="-25000" dirty="0"/>
              <a:t>2   </a:t>
            </a:r>
            <a:r>
              <a:rPr lang="en-US" altLang="zh-CN" sz="2000" dirty="0"/>
              <a:t>}</a:t>
            </a:r>
            <a:endParaRPr lang="zh-CN" altLang="en-US" sz="2000" dirty="0"/>
          </a:p>
        </p:txBody>
      </p:sp>
      <p:grpSp>
        <p:nvGrpSpPr>
          <p:cNvPr id="32" name="组合 31"/>
          <p:cNvGrpSpPr/>
          <p:nvPr/>
        </p:nvGrpSpPr>
        <p:grpSpPr>
          <a:xfrm>
            <a:off x="3553886" y="2303338"/>
            <a:ext cx="2376264" cy="1872208"/>
            <a:chOff x="323528" y="2499742"/>
            <a:chExt cx="2376264" cy="1872208"/>
          </a:xfrm>
        </p:grpSpPr>
        <p:sp>
          <p:nvSpPr>
            <p:cNvPr id="33" name="矩形 32"/>
            <p:cNvSpPr/>
            <p:nvPr/>
          </p:nvSpPr>
          <p:spPr>
            <a:xfrm>
              <a:off x="467544" y="2499742"/>
              <a:ext cx="2232248" cy="1477328"/>
            </a:xfrm>
            <a:prstGeom prst="rect">
              <a:avLst/>
            </a:prstGeom>
            <a:solidFill>
              <a:srgbClr val="D0EBB3"/>
            </a:solidFill>
          </p:spPr>
          <p:txBody>
            <a:bodyPr wrap="square">
              <a:spAutoFit/>
            </a:bodyPr>
            <a:lstStyle/>
            <a:p>
              <a:r>
                <a:rPr lang="zh-CN" altLang="zh-CN" dirty="0"/>
                <a:t>（</a:t>
              </a:r>
              <a:r>
                <a:rPr lang="en-US" altLang="zh-CN" dirty="0"/>
                <a:t>2</a:t>
              </a:r>
              <a:r>
                <a:rPr lang="zh-CN" altLang="zh-CN" dirty="0"/>
                <a:t>）</a:t>
              </a:r>
              <a:r>
                <a:rPr lang="en-US" altLang="zh-CN" dirty="0"/>
                <a:t>  (j</a:t>
              </a:r>
              <a:r>
                <a:rPr lang="zh-CN" altLang="zh-CN" dirty="0"/>
                <a:t>， ， ，</a:t>
              </a:r>
              <a:r>
                <a:rPr lang="en-US" altLang="zh-CN" dirty="0"/>
                <a:t>0)</a:t>
              </a:r>
            </a:p>
            <a:p>
              <a:endParaRPr lang="zh-CN" altLang="zh-CN" dirty="0"/>
            </a:p>
            <a:p>
              <a:r>
                <a:rPr lang="zh-CN" altLang="zh-CN" dirty="0"/>
                <a:t>（</a:t>
              </a:r>
              <a:r>
                <a:rPr lang="en-US" altLang="zh-CN" dirty="0"/>
                <a:t>4</a:t>
              </a:r>
              <a:r>
                <a:rPr lang="zh-CN" altLang="zh-CN" dirty="0"/>
                <a:t>）</a:t>
              </a:r>
              <a:r>
                <a:rPr lang="en-US" altLang="zh-CN" dirty="0"/>
                <a:t>  (j</a:t>
              </a:r>
              <a:r>
                <a:rPr lang="zh-CN" altLang="zh-CN" dirty="0"/>
                <a:t>， ， ，</a:t>
              </a:r>
              <a:r>
                <a:rPr lang="en-US" altLang="zh-CN" dirty="0"/>
                <a:t>2)</a:t>
              </a:r>
              <a:endParaRPr lang="zh-CN" altLang="zh-CN" dirty="0"/>
            </a:p>
            <a:p>
              <a:endParaRPr lang="en-US" altLang="zh-CN" dirty="0"/>
            </a:p>
            <a:p>
              <a:r>
                <a:rPr lang="zh-CN" altLang="zh-CN" dirty="0"/>
                <a:t>（</a:t>
              </a:r>
              <a:r>
                <a:rPr lang="en-US" altLang="zh-CN" dirty="0"/>
                <a:t>6</a:t>
              </a:r>
              <a:r>
                <a:rPr lang="zh-CN" altLang="zh-CN" dirty="0"/>
                <a:t>）</a:t>
              </a:r>
              <a:r>
                <a:rPr lang="en-US" altLang="zh-CN" dirty="0"/>
                <a:t>  (j</a:t>
              </a:r>
              <a:r>
                <a:rPr lang="zh-CN" altLang="zh-CN" dirty="0"/>
                <a:t>， ， ，</a:t>
              </a:r>
              <a:r>
                <a:rPr lang="en-US" altLang="zh-CN" dirty="0"/>
                <a:t>4)</a:t>
              </a:r>
              <a:endParaRPr lang="zh-CN" altLang="en-US" dirty="0"/>
            </a:p>
          </p:txBody>
        </p:sp>
        <p:grpSp>
          <p:nvGrpSpPr>
            <p:cNvPr id="34" name="组合 33"/>
            <p:cNvGrpSpPr/>
            <p:nvPr/>
          </p:nvGrpSpPr>
          <p:grpSpPr>
            <a:xfrm>
              <a:off x="323528" y="2499742"/>
              <a:ext cx="2160240" cy="1872208"/>
              <a:chOff x="323528" y="2499742"/>
              <a:chExt cx="2160240" cy="1872208"/>
            </a:xfrm>
          </p:grpSpPr>
          <p:sp>
            <p:nvSpPr>
              <p:cNvPr id="35" name="椭圆 34"/>
              <p:cNvSpPr/>
              <p:nvPr/>
            </p:nvSpPr>
            <p:spPr>
              <a:xfrm>
                <a:off x="2267744" y="2499742"/>
                <a:ext cx="216024" cy="360041"/>
              </a:xfrm>
              <a:prstGeom prst="ellipse">
                <a:avLst/>
              </a:prstGeom>
              <a:noFill/>
              <a:ln w="19050">
                <a:solidFill>
                  <a:srgbClr val="CC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箭头连接符 35"/>
              <p:cNvCxnSpPr/>
              <p:nvPr/>
            </p:nvCxnSpPr>
            <p:spPr>
              <a:xfrm flipV="1">
                <a:off x="488936" y="3891667"/>
                <a:ext cx="432048" cy="11904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323528" y="4002618"/>
                <a:ext cx="792088" cy="369332"/>
              </a:xfrm>
              <a:prstGeom prst="rect">
                <a:avLst/>
              </a:prstGeom>
              <a:noFill/>
            </p:spPr>
            <p:txBody>
              <a:bodyPr wrap="square" rtlCol="0">
                <a:spAutoFit/>
              </a:bodyPr>
              <a:lstStyle/>
              <a:p>
                <a:r>
                  <a:rPr lang="en-US" altLang="zh-CN" dirty="0"/>
                  <a:t>E.FC</a:t>
                </a:r>
                <a:endParaRPr lang="zh-CN" altLang="en-US" dirty="0"/>
              </a:p>
            </p:txBody>
          </p:sp>
          <p:grpSp>
            <p:nvGrpSpPr>
              <p:cNvPr id="38" name="组合 37"/>
              <p:cNvGrpSpPr/>
              <p:nvPr/>
            </p:nvGrpSpPr>
            <p:grpSpPr>
              <a:xfrm>
                <a:off x="899592" y="3310414"/>
                <a:ext cx="1512168" cy="341456"/>
                <a:chOff x="899592" y="3310414"/>
                <a:chExt cx="1512168" cy="341456"/>
              </a:xfrm>
            </p:grpSpPr>
            <p:cxnSp>
              <p:nvCxnSpPr>
                <p:cNvPr id="43" name="直接连接符 42"/>
                <p:cNvCxnSpPr/>
                <p:nvPr/>
              </p:nvCxnSpPr>
              <p:spPr>
                <a:xfrm flipV="1">
                  <a:off x="2411760" y="3507854"/>
                  <a:ext cx="0" cy="14401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899592" y="3507854"/>
                  <a:ext cx="151216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flipV="1">
                  <a:off x="899592" y="3310414"/>
                  <a:ext cx="0" cy="19744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39" name="组合 38"/>
              <p:cNvGrpSpPr/>
              <p:nvPr/>
            </p:nvGrpSpPr>
            <p:grpSpPr>
              <a:xfrm>
                <a:off x="827584" y="2787774"/>
                <a:ext cx="1512168" cy="341456"/>
                <a:chOff x="899592" y="3310414"/>
                <a:chExt cx="1512168" cy="341456"/>
              </a:xfrm>
            </p:grpSpPr>
            <p:cxnSp>
              <p:nvCxnSpPr>
                <p:cNvPr id="40" name="直接连接符 39"/>
                <p:cNvCxnSpPr/>
                <p:nvPr/>
              </p:nvCxnSpPr>
              <p:spPr>
                <a:xfrm flipV="1">
                  <a:off x="2411760" y="3507854"/>
                  <a:ext cx="0" cy="14401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899592" y="3507854"/>
                  <a:ext cx="151216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V="1">
                  <a:off x="899592" y="3310414"/>
                  <a:ext cx="0" cy="19744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grpSp>
      <p:grpSp>
        <p:nvGrpSpPr>
          <p:cNvPr id="46" name="组合 45"/>
          <p:cNvGrpSpPr/>
          <p:nvPr/>
        </p:nvGrpSpPr>
        <p:grpSpPr>
          <a:xfrm>
            <a:off x="5940152" y="2560039"/>
            <a:ext cx="2942326" cy="1477328"/>
            <a:chOff x="2421762" y="2473863"/>
            <a:chExt cx="2942326" cy="1477328"/>
          </a:xfrm>
        </p:grpSpPr>
        <p:sp>
          <p:nvSpPr>
            <p:cNvPr id="47" name="矩形 46"/>
            <p:cNvSpPr/>
            <p:nvPr/>
          </p:nvSpPr>
          <p:spPr>
            <a:xfrm>
              <a:off x="2969568" y="2473863"/>
              <a:ext cx="2394520" cy="1477328"/>
            </a:xfrm>
            <a:prstGeom prst="rect">
              <a:avLst/>
            </a:prstGeom>
            <a:solidFill>
              <a:srgbClr val="D0EBB3"/>
            </a:solidFill>
          </p:spPr>
          <p:txBody>
            <a:bodyPr wrap="square">
              <a:spAutoFit/>
            </a:bodyPr>
            <a:lstStyle/>
            <a:p>
              <a:r>
                <a:rPr lang="zh-CN" altLang="zh-CN" dirty="0"/>
                <a:t>（</a:t>
              </a:r>
              <a:r>
                <a:rPr lang="en-US" altLang="zh-CN" dirty="0"/>
                <a:t>1</a:t>
              </a:r>
              <a:r>
                <a:rPr lang="zh-CN" altLang="zh-CN" dirty="0"/>
                <a:t>）</a:t>
              </a:r>
              <a:r>
                <a:rPr lang="en-US" altLang="zh-CN" dirty="0"/>
                <a:t>(</a:t>
              </a:r>
              <a:r>
                <a:rPr lang="en-US" altLang="zh-CN" dirty="0" err="1"/>
                <a:t>jnz</a:t>
              </a:r>
              <a:r>
                <a:rPr lang="zh-CN" altLang="zh-CN" dirty="0"/>
                <a:t>，</a:t>
              </a:r>
              <a:r>
                <a:rPr lang="en-US" altLang="zh-CN" dirty="0"/>
                <a:t>A</a:t>
              </a:r>
              <a:r>
                <a:rPr lang="zh-CN" altLang="zh-CN" dirty="0"/>
                <a:t>， ，</a:t>
              </a:r>
              <a:r>
                <a:rPr lang="en-US" altLang="zh-CN" dirty="0"/>
                <a:t>3)</a:t>
              </a:r>
              <a:endParaRPr lang="zh-CN" altLang="zh-CN" dirty="0"/>
            </a:p>
            <a:p>
              <a:endParaRPr lang="en-US" altLang="zh-CN" dirty="0"/>
            </a:p>
            <a:p>
              <a:r>
                <a:rPr lang="zh-CN" altLang="zh-CN" dirty="0"/>
                <a:t>（</a:t>
              </a:r>
              <a:r>
                <a:rPr lang="en-US" altLang="zh-CN" dirty="0"/>
                <a:t>3</a:t>
              </a:r>
              <a:r>
                <a:rPr lang="zh-CN" altLang="zh-CN" dirty="0"/>
                <a:t>）</a:t>
              </a:r>
              <a:r>
                <a:rPr lang="en-US" altLang="zh-CN" dirty="0"/>
                <a:t>(</a:t>
              </a:r>
              <a:r>
                <a:rPr lang="en-US" altLang="zh-CN" dirty="0" err="1"/>
                <a:t>jnz</a:t>
              </a:r>
              <a:r>
                <a:rPr lang="zh-CN" altLang="zh-CN" dirty="0"/>
                <a:t>，</a:t>
              </a:r>
              <a:r>
                <a:rPr lang="en-US" altLang="zh-CN" dirty="0"/>
                <a:t>B</a:t>
              </a:r>
              <a:r>
                <a:rPr lang="zh-CN" altLang="zh-CN" dirty="0"/>
                <a:t>， ，</a:t>
              </a:r>
              <a:r>
                <a:rPr lang="en-US" altLang="zh-CN" dirty="0"/>
                <a:t>5)</a:t>
              </a:r>
            </a:p>
            <a:p>
              <a:endParaRPr lang="zh-CN" altLang="zh-CN" dirty="0"/>
            </a:p>
            <a:p>
              <a:r>
                <a:rPr lang="zh-CN" altLang="zh-CN" dirty="0"/>
                <a:t>（</a:t>
              </a:r>
              <a:r>
                <a:rPr lang="en-US" altLang="zh-CN" dirty="0"/>
                <a:t>5</a:t>
              </a:r>
              <a:r>
                <a:rPr lang="zh-CN" altLang="zh-CN" dirty="0"/>
                <a:t>）</a:t>
              </a:r>
              <a:r>
                <a:rPr lang="en-US" altLang="zh-CN" dirty="0"/>
                <a:t>(j&gt;</a:t>
              </a:r>
              <a:r>
                <a:rPr lang="zh-CN" altLang="zh-CN" dirty="0"/>
                <a:t>，</a:t>
              </a:r>
              <a:r>
                <a:rPr lang="en-US" altLang="zh-CN" dirty="0"/>
                <a:t>C</a:t>
              </a:r>
              <a:r>
                <a:rPr lang="zh-CN" altLang="zh-CN" dirty="0"/>
                <a:t>，</a:t>
              </a:r>
              <a:r>
                <a:rPr lang="en-US" altLang="zh-CN" dirty="0"/>
                <a:t>D</a:t>
              </a:r>
              <a:r>
                <a:rPr lang="zh-CN" altLang="zh-CN" dirty="0"/>
                <a:t>，</a:t>
              </a:r>
              <a:r>
                <a:rPr lang="en-US" altLang="zh-CN" dirty="0"/>
                <a:t>0)</a:t>
              </a:r>
              <a:endParaRPr lang="zh-CN" altLang="zh-CN" dirty="0"/>
            </a:p>
          </p:txBody>
        </p:sp>
        <p:grpSp>
          <p:nvGrpSpPr>
            <p:cNvPr id="48" name="组合 47"/>
            <p:cNvGrpSpPr/>
            <p:nvPr/>
          </p:nvGrpSpPr>
          <p:grpSpPr>
            <a:xfrm>
              <a:off x="3347864" y="2742478"/>
              <a:ext cx="1728192" cy="341456"/>
              <a:chOff x="3347864" y="2742478"/>
              <a:chExt cx="1728192" cy="341456"/>
            </a:xfrm>
          </p:grpSpPr>
          <p:cxnSp>
            <p:nvCxnSpPr>
              <p:cNvPr id="56" name="直接连接符 55"/>
              <p:cNvCxnSpPr/>
              <p:nvPr/>
            </p:nvCxnSpPr>
            <p:spPr>
              <a:xfrm rot="10800000" flipV="1">
                <a:off x="5076056" y="2742478"/>
                <a:ext cx="0" cy="14401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3347864" y="2886494"/>
                <a:ext cx="172819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rot="10800000" flipV="1">
                <a:off x="3347864" y="2886494"/>
                <a:ext cx="0" cy="19744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49" name="组合 48"/>
            <p:cNvGrpSpPr/>
            <p:nvPr/>
          </p:nvGrpSpPr>
          <p:grpSpPr>
            <a:xfrm>
              <a:off x="3347864" y="3305077"/>
              <a:ext cx="1728192" cy="341456"/>
              <a:chOff x="3347864" y="2742478"/>
              <a:chExt cx="1728192" cy="341456"/>
            </a:xfrm>
          </p:grpSpPr>
          <p:cxnSp>
            <p:nvCxnSpPr>
              <p:cNvPr id="53" name="直接连接符 52"/>
              <p:cNvCxnSpPr/>
              <p:nvPr/>
            </p:nvCxnSpPr>
            <p:spPr>
              <a:xfrm rot="10800000" flipV="1">
                <a:off x="5076056" y="2742478"/>
                <a:ext cx="0" cy="14401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3347864" y="2886494"/>
                <a:ext cx="172819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rot="10800000" flipV="1">
                <a:off x="3347864" y="2886494"/>
                <a:ext cx="0" cy="19744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50" name="直接箭头连接符 49"/>
            <p:cNvCxnSpPr/>
            <p:nvPr/>
          </p:nvCxnSpPr>
          <p:spPr>
            <a:xfrm>
              <a:off x="2817806" y="3566149"/>
              <a:ext cx="377316" cy="143561"/>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2421762" y="3268825"/>
              <a:ext cx="792088" cy="369332"/>
            </a:xfrm>
            <a:prstGeom prst="rect">
              <a:avLst/>
            </a:prstGeom>
            <a:noFill/>
          </p:spPr>
          <p:txBody>
            <a:bodyPr wrap="square" rtlCol="0">
              <a:spAutoFit/>
            </a:bodyPr>
            <a:lstStyle/>
            <a:p>
              <a:r>
                <a:rPr lang="en-US" altLang="zh-CN" dirty="0"/>
                <a:t>E.TC</a:t>
              </a:r>
              <a:endParaRPr lang="zh-CN" altLang="en-US" dirty="0"/>
            </a:p>
          </p:txBody>
        </p:sp>
        <p:sp>
          <p:nvSpPr>
            <p:cNvPr id="52" name="椭圆 51"/>
            <p:cNvSpPr/>
            <p:nvPr/>
          </p:nvSpPr>
          <p:spPr>
            <a:xfrm>
              <a:off x="4968044" y="3547813"/>
              <a:ext cx="216024" cy="360041"/>
            </a:xfrm>
            <a:prstGeom prst="ellipse">
              <a:avLst/>
            </a:prstGeom>
            <a:noFill/>
            <a:ln w="19050">
              <a:solidFill>
                <a:srgbClr val="CC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9" name="矩形 58"/>
          <p:cNvSpPr/>
          <p:nvPr/>
        </p:nvSpPr>
        <p:spPr>
          <a:xfrm>
            <a:off x="6508434" y="2516702"/>
            <a:ext cx="2232248" cy="1477328"/>
          </a:xfrm>
          <a:prstGeom prst="rect">
            <a:avLst/>
          </a:prstGeom>
          <a:solidFill>
            <a:srgbClr val="D0EBB3"/>
          </a:solidFill>
        </p:spPr>
        <p:txBody>
          <a:bodyPr wrap="square">
            <a:spAutoFit/>
          </a:bodyPr>
          <a:lstStyle/>
          <a:p>
            <a:r>
              <a:rPr lang="zh-CN" altLang="zh-CN" dirty="0"/>
              <a:t>（</a:t>
            </a:r>
            <a:r>
              <a:rPr lang="en-US" altLang="zh-CN" dirty="0"/>
              <a:t>2</a:t>
            </a:r>
            <a:r>
              <a:rPr lang="zh-CN" altLang="zh-CN" dirty="0"/>
              <a:t>）</a:t>
            </a:r>
            <a:r>
              <a:rPr lang="en-US" altLang="zh-CN" dirty="0"/>
              <a:t>  (j</a:t>
            </a:r>
            <a:r>
              <a:rPr lang="zh-CN" altLang="zh-CN" dirty="0"/>
              <a:t>， ， ，</a:t>
            </a:r>
            <a:r>
              <a:rPr lang="en-US" altLang="zh-CN" dirty="0">
                <a:solidFill>
                  <a:srgbClr val="FF0000"/>
                </a:solidFill>
              </a:rPr>
              <a:t>t</a:t>
            </a:r>
            <a:r>
              <a:rPr lang="en-US" altLang="zh-CN" dirty="0"/>
              <a:t>)</a:t>
            </a:r>
          </a:p>
          <a:p>
            <a:endParaRPr lang="zh-CN" altLang="zh-CN" dirty="0"/>
          </a:p>
          <a:p>
            <a:r>
              <a:rPr lang="zh-CN" altLang="zh-CN" dirty="0"/>
              <a:t>（</a:t>
            </a:r>
            <a:r>
              <a:rPr lang="en-US" altLang="zh-CN" dirty="0"/>
              <a:t>4</a:t>
            </a:r>
            <a:r>
              <a:rPr lang="zh-CN" altLang="zh-CN" dirty="0"/>
              <a:t>）</a:t>
            </a:r>
            <a:r>
              <a:rPr lang="en-US" altLang="zh-CN" dirty="0"/>
              <a:t>  (j</a:t>
            </a:r>
            <a:r>
              <a:rPr lang="zh-CN" altLang="zh-CN" dirty="0"/>
              <a:t>， ， ，</a:t>
            </a:r>
            <a:r>
              <a:rPr lang="en-US" altLang="zh-CN" dirty="0">
                <a:solidFill>
                  <a:srgbClr val="FF0000"/>
                </a:solidFill>
              </a:rPr>
              <a:t>t</a:t>
            </a:r>
            <a:r>
              <a:rPr lang="en-US" altLang="zh-CN" dirty="0"/>
              <a:t>)</a:t>
            </a:r>
            <a:endParaRPr lang="zh-CN" altLang="zh-CN" dirty="0"/>
          </a:p>
          <a:p>
            <a:endParaRPr lang="en-US" altLang="zh-CN" dirty="0"/>
          </a:p>
          <a:p>
            <a:r>
              <a:rPr lang="zh-CN" altLang="zh-CN" dirty="0"/>
              <a:t>（</a:t>
            </a:r>
            <a:r>
              <a:rPr lang="en-US" altLang="zh-CN" dirty="0"/>
              <a:t>6</a:t>
            </a:r>
            <a:r>
              <a:rPr lang="zh-CN" altLang="zh-CN" dirty="0"/>
              <a:t>）</a:t>
            </a:r>
            <a:r>
              <a:rPr lang="en-US" altLang="zh-CN" dirty="0"/>
              <a:t>  (j</a:t>
            </a:r>
            <a:r>
              <a:rPr lang="zh-CN" altLang="zh-CN" dirty="0"/>
              <a:t>， ， ，</a:t>
            </a:r>
            <a:r>
              <a:rPr lang="en-US" altLang="zh-CN" dirty="0">
                <a:solidFill>
                  <a:srgbClr val="FF0000"/>
                </a:solidFill>
              </a:rPr>
              <a:t>t</a:t>
            </a:r>
            <a:r>
              <a:rPr lang="en-US" altLang="zh-CN" dirty="0"/>
              <a:t>)</a:t>
            </a:r>
            <a:endParaRPr lang="zh-CN" altLang="en-US" dirty="0"/>
          </a:p>
        </p:txBody>
      </p:sp>
    </p:spTree>
    <p:extLst>
      <p:ext uri="{BB962C8B-B14F-4D97-AF65-F5344CB8AC3E}">
        <p14:creationId xmlns:p14="http://schemas.microsoft.com/office/powerpoint/2010/main" val="939656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4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59"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504" y="-23630"/>
            <a:ext cx="5616624" cy="699542"/>
          </a:xfrm>
        </p:spPr>
        <p:txBody>
          <a:bodyPr>
            <a:normAutofit/>
          </a:bodyPr>
          <a:lstStyle/>
          <a:p>
            <a:r>
              <a:rPr lang="zh-CN" altLang="en-US" sz="3200" dirty="0"/>
              <a:t>语义函数</a:t>
            </a:r>
            <a:r>
              <a:rPr lang="en-US" altLang="zh-CN" sz="3200" dirty="0"/>
              <a:t>——merge(p1,p2)</a:t>
            </a:r>
            <a:endParaRPr lang="zh-CN" altLang="en-US" sz="3200" dirty="0"/>
          </a:p>
        </p:txBody>
      </p:sp>
      <p:sp>
        <p:nvSpPr>
          <p:cNvPr id="3" name="文本占位符 2"/>
          <p:cNvSpPr>
            <a:spLocks noGrp="1"/>
          </p:cNvSpPr>
          <p:nvPr>
            <p:ph type="body" sz="half" idx="1"/>
          </p:nvPr>
        </p:nvSpPr>
        <p:spPr>
          <a:xfrm>
            <a:off x="251520" y="771550"/>
            <a:ext cx="4735046" cy="720080"/>
          </a:xfrm>
        </p:spPr>
        <p:txBody>
          <a:bodyPr>
            <a:normAutofit/>
          </a:bodyPr>
          <a:lstStyle/>
          <a:p>
            <a:r>
              <a:rPr lang="zh-CN" altLang="en-US" sz="2000" b="1" dirty="0">
                <a:solidFill>
                  <a:srgbClr val="0033CC"/>
                </a:solidFill>
              </a:rPr>
              <a:t>将</a:t>
            </a:r>
            <a:r>
              <a:rPr lang="en-US" altLang="zh-CN" sz="2000" b="1" dirty="0">
                <a:solidFill>
                  <a:srgbClr val="0033CC"/>
                </a:solidFill>
              </a:rPr>
              <a:t>P1,P2</a:t>
            </a:r>
            <a:r>
              <a:rPr lang="zh-CN" altLang="en-US" sz="2000" b="1" dirty="0">
                <a:solidFill>
                  <a:srgbClr val="0033CC"/>
                </a:solidFill>
              </a:rPr>
              <a:t>为链首两个四元式链合并在一起，返回合并后的四元式链首。</a:t>
            </a:r>
          </a:p>
          <a:p>
            <a:endParaRPr lang="zh-CN" altLang="en-US" sz="2000" dirty="0"/>
          </a:p>
        </p:txBody>
      </p:sp>
      <p:sp>
        <p:nvSpPr>
          <p:cNvPr id="4" name="内容占位符 3"/>
          <p:cNvSpPr>
            <a:spLocks noGrp="1"/>
          </p:cNvSpPr>
          <p:nvPr>
            <p:ph sz="half" idx="2"/>
          </p:nvPr>
        </p:nvSpPr>
        <p:spPr>
          <a:xfrm>
            <a:off x="4985694" y="4319502"/>
            <a:ext cx="4038600" cy="654721"/>
          </a:xfrm>
        </p:spPr>
        <p:txBody>
          <a:bodyPr/>
          <a:lstStyle/>
          <a:p>
            <a:endParaRPr lang="zh-CN" altLang="en-US" dirty="0"/>
          </a:p>
        </p:txBody>
      </p:sp>
      <p:sp>
        <p:nvSpPr>
          <p:cNvPr id="5" name="Text Box 2"/>
          <p:cNvSpPr txBox="1">
            <a:spLocks noChangeArrowheads="1"/>
          </p:cNvSpPr>
          <p:nvPr/>
        </p:nvSpPr>
        <p:spPr bwMode="auto">
          <a:xfrm>
            <a:off x="107504" y="1665625"/>
            <a:ext cx="4968551" cy="3250121"/>
          </a:xfrm>
          <a:prstGeom prst="rect">
            <a:avLst/>
          </a:prstGeom>
          <a:solidFill>
            <a:schemeClr val="bg1"/>
          </a:solidFill>
          <a:ln w="28575">
            <a:solidFill>
              <a:srgbClr val="00FF00"/>
            </a:solidFill>
            <a:miter lim="800000"/>
            <a:headEnd type="none" w="sm" len="sm"/>
            <a:tailEnd type="none" w="sm" len="sm"/>
          </a:ln>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95000"/>
              </a:lnSpc>
              <a:spcBef>
                <a:spcPct val="0"/>
              </a:spcBef>
              <a:buFontTx/>
              <a:buNone/>
            </a:pPr>
            <a:r>
              <a:rPr lang="en-US" altLang="zh-CN" sz="1800" dirty="0"/>
              <a:t>merge(P1</a:t>
            </a:r>
            <a:r>
              <a:rPr lang="zh-CN" altLang="en-US" sz="1800" dirty="0"/>
              <a:t>，</a:t>
            </a:r>
            <a:r>
              <a:rPr lang="en-US" altLang="zh-CN" sz="1800" dirty="0"/>
              <a:t>P2)</a:t>
            </a:r>
          </a:p>
          <a:p>
            <a:pPr eaLnBrk="1" hangingPunct="1">
              <a:lnSpc>
                <a:spcPct val="95000"/>
              </a:lnSpc>
              <a:spcBef>
                <a:spcPct val="0"/>
              </a:spcBef>
              <a:buFontTx/>
              <a:buNone/>
            </a:pPr>
            <a:r>
              <a:rPr lang="en-US" altLang="zh-CN" sz="1800" dirty="0"/>
              <a:t>{</a:t>
            </a:r>
          </a:p>
          <a:p>
            <a:pPr eaLnBrk="1" hangingPunct="1">
              <a:lnSpc>
                <a:spcPct val="95000"/>
              </a:lnSpc>
              <a:spcBef>
                <a:spcPct val="0"/>
              </a:spcBef>
              <a:buFontTx/>
              <a:buNone/>
            </a:pPr>
            <a:r>
              <a:rPr lang="en-US" altLang="zh-CN" sz="1800" dirty="0"/>
              <a:t>   if (P2 == 0)  return (P1);</a:t>
            </a:r>
          </a:p>
          <a:p>
            <a:pPr>
              <a:lnSpc>
                <a:spcPct val="95000"/>
              </a:lnSpc>
              <a:spcBef>
                <a:spcPct val="0"/>
              </a:spcBef>
            </a:pPr>
            <a:r>
              <a:rPr lang="en-US" altLang="zh-CN" sz="1800" dirty="0"/>
              <a:t>   else if (P1 == 0)  return (P2);</a:t>
            </a:r>
          </a:p>
          <a:p>
            <a:pPr eaLnBrk="1" hangingPunct="1">
              <a:lnSpc>
                <a:spcPct val="95000"/>
              </a:lnSpc>
              <a:spcBef>
                <a:spcPct val="0"/>
              </a:spcBef>
              <a:buFontTx/>
              <a:buNone/>
            </a:pPr>
            <a:r>
              <a:rPr lang="en-US" altLang="zh-CN" sz="1800" dirty="0"/>
              <a:t>          else  {//</a:t>
            </a:r>
            <a:r>
              <a:rPr lang="zh-CN" altLang="en-US" sz="1800" dirty="0"/>
              <a:t>两个链都不为空，将</a:t>
            </a:r>
            <a:r>
              <a:rPr lang="en-US" altLang="zh-CN" sz="1800" dirty="0"/>
              <a:t>P1</a:t>
            </a:r>
            <a:r>
              <a:rPr lang="zh-CN" altLang="en-US" sz="1800" dirty="0"/>
              <a:t>链在</a:t>
            </a:r>
            <a:r>
              <a:rPr lang="en-US" altLang="zh-CN" sz="1800" dirty="0"/>
              <a:t>P2</a:t>
            </a:r>
            <a:r>
              <a:rPr lang="zh-CN" altLang="en-US" sz="1800" dirty="0"/>
              <a:t>后</a:t>
            </a:r>
            <a:endParaRPr lang="en-US" altLang="zh-CN" sz="1800" dirty="0"/>
          </a:p>
          <a:p>
            <a:pPr eaLnBrk="1" hangingPunct="1">
              <a:lnSpc>
                <a:spcPct val="95000"/>
              </a:lnSpc>
              <a:spcBef>
                <a:spcPct val="0"/>
              </a:spcBef>
              <a:buFontTx/>
              <a:buNone/>
            </a:pPr>
            <a:r>
              <a:rPr lang="en-US" altLang="zh-CN" sz="1800" dirty="0"/>
              <a:t>           P = P2;</a:t>
            </a:r>
          </a:p>
          <a:p>
            <a:pPr eaLnBrk="1" hangingPunct="1">
              <a:lnSpc>
                <a:spcPct val="95000"/>
              </a:lnSpc>
              <a:spcBef>
                <a:spcPct val="0"/>
              </a:spcBef>
              <a:buFontTx/>
              <a:buNone/>
            </a:pPr>
            <a:r>
              <a:rPr lang="en-US" altLang="zh-CN" sz="1800" dirty="0"/>
              <a:t>           while (</a:t>
            </a:r>
            <a:r>
              <a:rPr lang="zh-CN" altLang="en-US" sz="1800" dirty="0"/>
              <a:t>四元式</a:t>
            </a:r>
            <a:r>
              <a:rPr lang="en-US" altLang="zh-CN" sz="1800" dirty="0"/>
              <a:t>P</a:t>
            </a:r>
            <a:r>
              <a:rPr lang="zh-CN" altLang="en-US" sz="1800" dirty="0"/>
              <a:t>的第</a:t>
            </a:r>
            <a:r>
              <a:rPr lang="en-US" altLang="zh-CN" sz="1800" dirty="0"/>
              <a:t>4</a:t>
            </a:r>
            <a:r>
              <a:rPr lang="zh-CN" altLang="en-US" sz="1800" dirty="0"/>
              <a:t>分量内容不为</a:t>
            </a:r>
            <a:r>
              <a:rPr lang="en-US" altLang="zh-CN" sz="1800" dirty="0"/>
              <a:t>0)  do</a:t>
            </a:r>
          </a:p>
          <a:p>
            <a:pPr eaLnBrk="1" hangingPunct="1">
              <a:lnSpc>
                <a:spcPct val="95000"/>
              </a:lnSpc>
              <a:spcBef>
                <a:spcPct val="0"/>
              </a:spcBef>
              <a:buFontTx/>
              <a:buNone/>
            </a:pPr>
            <a:r>
              <a:rPr lang="en-US" altLang="zh-CN" sz="1800" dirty="0"/>
              <a:t>                P = </a:t>
            </a:r>
            <a:r>
              <a:rPr lang="zh-CN" altLang="en-US" sz="1800" dirty="0"/>
              <a:t>四元式</a:t>
            </a:r>
            <a:r>
              <a:rPr lang="en-US" altLang="zh-CN" sz="1800" dirty="0"/>
              <a:t>P</a:t>
            </a:r>
            <a:r>
              <a:rPr lang="zh-CN" altLang="en-US" sz="1800" dirty="0"/>
              <a:t>的第</a:t>
            </a:r>
            <a:r>
              <a:rPr lang="en-US" altLang="zh-CN" sz="1800" dirty="0"/>
              <a:t>4</a:t>
            </a:r>
            <a:r>
              <a:rPr lang="zh-CN" altLang="en-US" sz="1800" dirty="0"/>
              <a:t>分量内容；</a:t>
            </a:r>
          </a:p>
          <a:p>
            <a:pPr eaLnBrk="1" hangingPunct="1">
              <a:lnSpc>
                <a:spcPct val="95000"/>
              </a:lnSpc>
              <a:spcBef>
                <a:spcPct val="0"/>
              </a:spcBef>
              <a:buFontTx/>
              <a:buNone/>
            </a:pPr>
            <a:r>
              <a:rPr lang="zh-CN" altLang="en-US" sz="1800" dirty="0"/>
              <a:t>           把</a:t>
            </a:r>
            <a:r>
              <a:rPr lang="en-US" altLang="zh-CN" sz="1800" dirty="0"/>
              <a:t>P1</a:t>
            </a:r>
            <a:r>
              <a:rPr lang="zh-CN" altLang="en-US" sz="1800" dirty="0"/>
              <a:t>填进四元式</a:t>
            </a:r>
            <a:r>
              <a:rPr lang="en-US" altLang="zh-CN" sz="1800" dirty="0"/>
              <a:t>P</a:t>
            </a:r>
            <a:r>
              <a:rPr lang="zh-CN" altLang="en-US" sz="1800" dirty="0"/>
              <a:t>的第</a:t>
            </a:r>
            <a:r>
              <a:rPr lang="en-US" altLang="zh-CN" sz="1800" dirty="0"/>
              <a:t>4</a:t>
            </a:r>
            <a:r>
              <a:rPr lang="zh-CN" altLang="en-US" sz="1800" dirty="0"/>
              <a:t>分量；</a:t>
            </a:r>
          </a:p>
          <a:p>
            <a:pPr eaLnBrk="1" hangingPunct="1">
              <a:lnSpc>
                <a:spcPct val="95000"/>
              </a:lnSpc>
              <a:spcBef>
                <a:spcPct val="0"/>
              </a:spcBef>
              <a:buFontTx/>
              <a:buNone/>
            </a:pPr>
            <a:r>
              <a:rPr lang="zh-CN" altLang="en-US" sz="1800" dirty="0"/>
              <a:t>           </a:t>
            </a:r>
            <a:r>
              <a:rPr lang="en-US" altLang="zh-CN" sz="1800" dirty="0"/>
              <a:t>return (P2);</a:t>
            </a:r>
          </a:p>
          <a:p>
            <a:pPr eaLnBrk="1" hangingPunct="1">
              <a:lnSpc>
                <a:spcPct val="95000"/>
              </a:lnSpc>
              <a:spcBef>
                <a:spcPct val="0"/>
              </a:spcBef>
              <a:buFontTx/>
              <a:buNone/>
            </a:pPr>
            <a:r>
              <a:rPr lang="en-US" altLang="zh-CN" sz="1800" dirty="0"/>
              <a:t>        }</a:t>
            </a:r>
          </a:p>
          <a:p>
            <a:pPr eaLnBrk="1" hangingPunct="1">
              <a:lnSpc>
                <a:spcPct val="95000"/>
              </a:lnSpc>
              <a:spcBef>
                <a:spcPct val="0"/>
              </a:spcBef>
              <a:buFontTx/>
              <a:buNone/>
            </a:pPr>
            <a:r>
              <a:rPr lang="en-US" altLang="zh-CN" sz="1800" dirty="0"/>
              <a:t>} </a:t>
            </a:r>
          </a:p>
        </p:txBody>
      </p:sp>
      <p:grpSp>
        <p:nvGrpSpPr>
          <p:cNvPr id="46" name="组合 45"/>
          <p:cNvGrpSpPr/>
          <p:nvPr/>
        </p:nvGrpSpPr>
        <p:grpSpPr>
          <a:xfrm>
            <a:off x="5543381" y="1563638"/>
            <a:ext cx="3459518" cy="441340"/>
            <a:chOff x="5543381" y="1563638"/>
            <a:chExt cx="3459518" cy="441340"/>
          </a:xfrm>
        </p:grpSpPr>
        <p:sp>
          <p:nvSpPr>
            <p:cNvPr id="6" name="矩形 5"/>
            <p:cNvSpPr/>
            <p:nvPr/>
          </p:nvSpPr>
          <p:spPr>
            <a:xfrm>
              <a:off x="5543381" y="1628308"/>
              <a:ext cx="684803" cy="369332"/>
            </a:xfrm>
            <a:prstGeom prst="rect">
              <a:avLst/>
            </a:prstGeom>
          </p:spPr>
          <p:txBody>
            <a:bodyPr wrap="none">
              <a:spAutoFit/>
            </a:bodyPr>
            <a:lstStyle/>
            <a:p>
              <a:r>
                <a:rPr lang="en-US" altLang="zh-CN" dirty="0"/>
                <a:t>P1</a:t>
              </a:r>
              <a:r>
                <a:rPr lang="en-US" altLang="zh-CN" dirty="0">
                  <a:sym typeface="Wingdings" panose="05000000000000000000" pitchFamily="2" charset="2"/>
                </a:rPr>
                <a:t></a:t>
              </a:r>
              <a:endParaRPr lang="zh-CN" altLang="zh-CN" dirty="0"/>
            </a:p>
          </p:txBody>
        </p:sp>
        <p:sp>
          <p:nvSpPr>
            <p:cNvPr id="11" name="矩形 10"/>
            <p:cNvSpPr/>
            <p:nvPr/>
          </p:nvSpPr>
          <p:spPr>
            <a:xfrm>
              <a:off x="6110124" y="1626354"/>
              <a:ext cx="932510" cy="3693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……s1</a:t>
              </a:r>
              <a:endParaRPr lang="zh-CN" altLang="zh-CN" dirty="0">
                <a:solidFill>
                  <a:schemeClr val="tx1"/>
                </a:solidFill>
              </a:endParaRPr>
            </a:p>
          </p:txBody>
        </p:sp>
        <p:sp>
          <p:nvSpPr>
            <p:cNvPr id="12" name="矩形 11"/>
            <p:cNvSpPr/>
            <p:nvPr/>
          </p:nvSpPr>
          <p:spPr>
            <a:xfrm>
              <a:off x="6948264" y="1626354"/>
              <a:ext cx="410690" cy="369332"/>
            </a:xfrm>
            <a:prstGeom prst="rect">
              <a:avLst/>
            </a:prstGeom>
          </p:spPr>
          <p:txBody>
            <a:bodyPr wrap="none">
              <a:spAutoFit/>
            </a:bodyPr>
            <a:lstStyle/>
            <a:p>
              <a:r>
                <a:rPr lang="en-US" altLang="zh-CN" dirty="0">
                  <a:sym typeface="Wingdings" panose="05000000000000000000" pitchFamily="2" charset="2"/>
                </a:rPr>
                <a:t></a:t>
              </a:r>
              <a:endParaRPr lang="zh-CN" altLang="zh-CN" dirty="0"/>
            </a:p>
          </p:txBody>
        </p:sp>
        <p:sp>
          <p:nvSpPr>
            <p:cNvPr id="13" name="矩形 12"/>
            <p:cNvSpPr/>
            <p:nvPr/>
          </p:nvSpPr>
          <p:spPr>
            <a:xfrm>
              <a:off x="8115671" y="1626354"/>
              <a:ext cx="887228" cy="3693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zh-CN" altLang="zh-CN" dirty="0">
                <a:solidFill>
                  <a:schemeClr val="tx1"/>
                </a:solidFill>
              </a:endParaRPr>
            </a:p>
          </p:txBody>
        </p:sp>
        <p:sp>
          <p:nvSpPr>
            <p:cNvPr id="17" name="矩形 16"/>
            <p:cNvSpPr/>
            <p:nvPr/>
          </p:nvSpPr>
          <p:spPr>
            <a:xfrm>
              <a:off x="7833718" y="1635646"/>
              <a:ext cx="410690" cy="369332"/>
            </a:xfrm>
            <a:prstGeom prst="rect">
              <a:avLst/>
            </a:prstGeom>
          </p:spPr>
          <p:txBody>
            <a:bodyPr wrap="none">
              <a:spAutoFit/>
            </a:bodyPr>
            <a:lstStyle/>
            <a:p>
              <a:r>
                <a:rPr lang="en-US" altLang="zh-CN" dirty="0">
                  <a:sym typeface="Wingdings" panose="05000000000000000000" pitchFamily="2" charset="2"/>
                </a:rPr>
                <a:t></a:t>
              </a:r>
              <a:endParaRPr lang="zh-CN" altLang="zh-CN" dirty="0"/>
            </a:p>
          </p:txBody>
        </p:sp>
        <p:sp>
          <p:nvSpPr>
            <p:cNvPr id="19" name="矩形 18"/>
            <p:cNvSpPr/>
            <p:nvPr/>
          </p:nvSpPr>
          <p:spPr>
            <a:xfrm>
              <a:off x="7236296" y="1563638"/>
              <a:ext cx="646331" cy="369332"/>
            </a:xfrm>
            <a:prstGeom prst="rect">
              <a:avLst/>
            </a:prstGeom>
          </p:spPr>
          <p:txBody>
            <a:bodyPr wrap="none">
              <a:spAutoFit/>
            </a:bodyPr>
            <a:lstStyle/>
            <a:p>
              <a:pPr lvl="0"/>
              <a:r>
                <a:rPr lang="en-US" altLang="zh-CN" dirty="0">
                  <a:solidFill>
                    <a:prstClr val="black"/>
                  </a:solidFill>
                </a:rPr>
                <a:t>……</a:t>
              </a:r>
              <a:endParaRPr lang="zh-CN" altLang="zh-CN" dirty="0">
                <a:solidFill>
                  <a:prstClr val="black"/>
                </a:solidFill>
              </a:endParaRPr>
            </a:p>
          </p:txBody>
        </p:sp>
      </p:grpSp>
      <p:grpSp>
        <p:nvGrpSpPr>
          <p:cNvPr id="47" name="组合 46"/>
          <p:cNvGrpSpPr/>
          <p:nvPr/>
        </p:nvGrpSpPr>
        <p:grpSpPr>
          <a:xfrm>
            <a:off x="5541699" y="2139702"/>
            <a:ext cx="3461200" cy="441485"/>
            <a:chOff x="5541699" y="2139702"/>
            <a:chExt cx="3461200" cy="441485"/>
          </a:xfrm>
        </p:grpSpPr>
        <p:sp>
          <p:nvSpPr>
            <p:cNvPr id="7" name="矩形 6"/>
            <p:cNvSpPr/>
            <p:nvPr/>
          </p:nvSpPr>
          <p:spPr>
            <a:xfrm>
              <a:off x="5541699" y="2202563"/>
              <a:ext cx="684803" cy="369332"/>
            </a:xfrm>
            <a:prstGeom prst="rect">
              <a:avLst/>
            </a:prstGeom>
          </p:spPr>
          <p:txBody>
            <a:bodyPr wrap="none">
              <a:spAutoFit/>
            </a:bodyPr>
            <a:lstStyle/>
            <a:p>
              <a:r>
                <a:rPr lang="en-US" altLang="zh-CN" dirty="0"/>
                <a:t>P2</a:t>
              </a:r>
              <a:r>
                <a:rPr lang="en-US" altLang="zh-CN" dirty="0">
                  <a:sym typeface="Wingdings" panose="05000000000000000000" pitchFamily="2" charset="2"/>
                </a:rPr>
                <a:t></a:t>
              </a:r>
              <a:endParaRPr lang="zh-CN" altLang="zh-CN" dirty="0"/>
            </a:p>
          </p:txBody>
        </p:sp>
        <p:sp>
          <p:nvSpPr>
            <p:cNvPr id="14" name="矩形 13"/>
            <p:cNvSpPr/>
            <p:nvPr/>
          </p:nvSpPr>
          <p:spPr>
            <a:xfrm>
              <a:off x="6110124" y="2202563"/>
              <a:ext cx="932510" cy="3693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……s2</a:t>
              </a:r>
              <a:endParaRPr lang="zh-CN" altLang="zh-CN" dirty="0">
                <a:solidFill>
                  <a:schemeClr val="tx1"/>
                </a:solidFill>
              </a:endParaRPr>
            </a:p>
          </p:txBody>
        </p:sp>
        <p:sp>
          <p:nvSpPr>
            <p:cNvPr id="15" name="矩形 14"/>
            <p:cNvSpPr/>
            <p:nvPr/>
          </p:nvSpPr>
          <p:spPr>
            <a:xfrm>
              <a:off x="6948264" y="2202563"/>
              <a:ext cx="410690" cy="369332"/>
            </a:xfrm>
            <a:prstGeom prst="rect">
              <a:avLst/>
            </a:prstGeom>
          </p:spPr>
          <p:txBody>
            <a:bodyPr wrap="none">
              <a:spAutoFit/>
            </a:bodyPr>
            <a:lstStyle/>
            <a:p>
              <a:r>
                <a:rPr lang="en-US" altLang="zh-CN" dirty="0">
                  <a:sym typeface="Wingdings" panose="05000000000000000000" pitchFamily="2" charset="2"/>
                </a:rPr>
                <a:t></a:t>
              </a:r>
              <a:endParaRPr lang="zh-CN" altLang="zh-CN" dirty="0"/>
            </a:p>
          </p:txBody>
        </p:sp>
        <p:sp>
          <p:nvSpPr>
            <p:cNvPr id="16" name="矩形 15"/>
            <p:cNvSpPr/>
            <p:nvPr/>
          </p:nvSpPr>
          <p:spPr>
            <a:xfrm>
              <a:off x="8115671" y="2202563"/>
              <a:ext cx="887228" cy="3693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zh-CN" altLang="zh-CN" dirty="0">
                <a:solidFill>
                  <a:schemeClr val="tx1"/>
                </a:solidFill>
              </a:endParaRPr>
            </a:p>
          </p:txBody>
        </p:sp>
        <p:sp>
          <p:nvSpPr>
            <p:cNvPr id="18" name="矩形 17"/>
            <p:cNvSpPr/>
            <p:nvPr/>
          </p:nvSpPr>
          <p:spPr>
            <a:xfrm>
              <a:off x="7833718" y="2211855"/>
              <a:ext cx="410690" cy="369332"/>
            </a:xfrm>
            <a:prstGeom prst="rect">
              <a:avLst/>
            </a:prstGeom>
          </p:spPr>
          <p:txBody>
            <a:bodyPr wrap="none">
              <a:spAutoFit/>
            </a:bodyPr>
            <a:lstStyle/>
            <a:p>
              <a:r>
                <a:rPr lang="en-US" altLang="zh-CN" dirty="0">
                  <a:sym typeface="Wingdings" panose="05000000000000000000" pitchFamily="2" charset="2"/>
                </a:rPr>
                <a:t></a:t>
              </a:r>
              <a:endParaRPr lang="zh-CN" altLang="zh-CN" dirty="0"/>
            </a:p>
          </p:txBody>
        </p:sp>
        <p:sp>
          <p:nvSpPr>
            <p:cNvPr id="20" name="矩形 19"/>
            <p:cNvSpPr/>
            <p:nvPr/>
          </p:nvSpPr>
          <p:spPr>
            <a:xfrm>
              <a:off x="7250046" y="2139702"/>
              <a:ext cx="646331" cy="369332"/>
            </a:xfrm>
            <a:prstGeom prst="rect">
              <a:avLst/>
            </a:prstGeom>
          </p:spPr>
          <p:txBody>
            <a:bodyPr wrap="none">
              <a:spAutoFit/>
            </a:bodyPr>
            <a:lstStyle/>
            <a:p>
              <a:pPr lvl="0"/>
              <a:r>
                <a:rPr lang="en-US" altLang="zh-CN" dirty="0">
                  <a:solidFill>
                    <a:prstClr val="black"/>
                  </a:solidFill>
                </a:rPr>
                <a:t>……</a:t>
              </a:r>
              <a:endParaRPr lang="zh-CN" altLang="zh-CN" dirty="0">
                <a:solidFill>
                  <a:prstClr val="black"/>
                </a:solidFill>
              </a:endParaRPr>
            </a:p>
          </p:txBody>
        </p:sp>
      </p:grpSp>
      <p:grpSp>
        <p:nvGrpSpPr>
          <p:cNvPr id="48" name="组合 47"/>
          <p:cNvGrpSpPr/>
          <p:nvPr/>
        </p:nvGrpSpPr>
        <p:grpSpPr>
          <a:xfrm>
            <a:off x="5547641" y="2842977"/>
            <a:ext cx="3494797" cy="441485"/>
            <a:chOff x="5547641" y="2842977"/>
            <a:chExt cx="3494797" cy="441485"/>
          </a:xfrm>
        </p:grpSpPr>
        <p:sp>
          <p:nvSpPr>
            <p:cNvPr id="21" name="矩形 20"/>
            <p:cNvSpPr/>
            <p:nvPr/>
          </p:nvSpPr>
          <p:spPr>
            <a:xfrm>
              <a:off x="5547641" y="2905838"/>
              <a:ext cx="684803" cy="369332"/>
            </a:xfrm>
            <a:prstGeom prst="rect">
              <a:avLst/>
            </a:prstGeom>
          </p:spPr>
          <p:txBody>
            <a:bodyPr wrap="none">
              <a:spAutoFit/>
            </a:bodyPr>
            <a:lstStyle/>
            <a:p>
              <a:r>
                <a:rPr lang="en-US" altLang="zh-CN" dirty="0"/>
                <a:t>P2</a:t>
              </a:r>
              <a:r>
                <a:rPr lang="en-US" altLang="zh-CN" dirty="0">
                  <a:sym typeface="Wingdings" panose="05000000000000000000" pitchFamily="2" charset="2"/>
                </a:rPr>
                <a:t></a:t>
              </a:r>
              <a:endParaRPr lang="zh-CN" altLang="zh-CN" dirty="0"/>
            </a:p>
          </p:txBody>
        </p:sp>
        <p:sp>
          <p:nvSpPr>
            <p:cNvPr id="22" name="矩形 21"/>
            <p:cNvSpPr/>
            <p:nvPr/>
          </p:nvSpPr>
          <p:spPr>
            <a:xfrm>
              <a:off x="6116066" y="2905838"/>
              <a:ext cx="932510" cy="3693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……s2</a:t>
              </a:r>
              <a:endParaRPr lang="zh-CN" altLang="zh-CN" dirty="0">
                <a:solidFill>
                  <a:schemeClr val="tx1"/>
                </a:solidFill>
              </a:endParaRPr>
            </a:p>
          </p:txBody>
        </p:sp>
        <p:sp>
          <p:nvSpPr>
            <p:cNvPr id="23" name="矩形 22"/>
            <p:cNvSpPr/>
            <p:nvPr/>
          </p:nvSpPr>
          <p:spPr>
            <a:xfrm>
              <a:off x="6954206" y="2905838"/>
              <a:ext cx="410690" cy="369332"/>
            </a:xfrm>
            <a:prstGeom prst="rect">
              <a:avLst/>
            </a:prstGeom>
          </p:spPr>
          <p:txBody>
            <a:bodyPr wrap="none">
              <a:spAutoFit/>
            </a:bodyPr>
            <a:lstStyle/>
            <a:p>
              <a:r>
                <a:rPr lang="en-US" altLang="zh-CN" dirty="0">
                  <a:sym typeface="Wingdings" panose="05000000000000000000" pitchFamily="2" charset="2"/>
                </a:rPr>
                <a:t></a:t>
              </a:r>
              <a:endParaRPr lang="zh-CN" altLang="zh-CN" dirty="0"/>
            </a:p>
          </p:txBody>
        </p:sp>
        <p:sp>
          <p:nvSpPr>
            <p:cNvPr id="24" name="矩形 23"/>
            <p:cNvSpPr/>
            <p:nvPr/>
          </p:nvSpPr>
          <p:spPr>
            <a:xfrm>
              <a:off x="8121612" y="2905838"/>
              <a:ext cx="920826" cy="3693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zh-CN" altLang="zh-CN" dirty="0">
                <a:solidFill>
                  <a:schemeClr val="tx1"/>
                </a:solidFill>
              </a:endParaRPr>
            </a:p>
          </p:txBody>
        </p:sp>
        <p:sp>
          <p:nvSpPr>
            <p:cNvPr id="25" name="矩形 24"/>
            <p:cNvSpPr/>
            <p:nvPr/>
          </p:nvSpPr>
          <p:spPr>
            <a:xfrm>
              <a:off x="7839660" y="2915130"/>
              <a:ext cx="410690" cy="369332"/>
            </a:xfrm>
            <a:prstGeom prst="rect">
              <a:avLst/>
            </a:prstGeom>
          </p:spPr>
          <p:txBody>
            <a:bodyPr wrap="none">
              <a:spAutoFit/>
            </a:bodyPr>
            <a:lstStyle/>
            <a:p>
              <a:r>
                <a:rPr lang="en-US" altLang="zh-CN" dirty="0">
                  <a:sym typeface="Wingdings" panose="05000000000000000000" pitchFamily="2" charset="2"/>
                </a:rPr>
                <a:t></a:t>
              </a:r>
              <a:endParaRPr lang="zh-CN" altLang="zh-CN" dirty="0"/>
            </a:p>
          </p:txBody>
        </p:sp>
        <p:sp>
          <p:nvSpPr>
            <p:cNvPr id="26" name="矩形 25"/>
            <p:cNvSpPr/>
            <p:nvPr/>
          </p:nvSpPr>
          <p:spPr>
            <a:xfrm>
              <a:off x="7255988" y="2842977"/>
              <a:ext cx="646331" cy="369332"/>
            </a:xfrm>
            <a:prstGeom prst="rect">
              <a:avLst/>
            </a:prstGeom>
          </p:spPr>
          <p:txBody>
            <a:bodyPr wrap="none">
              <a:spAutoFit/>
            </a:bodyPr>
            <a:lstStyle/>
            <a:p>
              <a:pPr lvl="0"/>
              <a:r>
                <a:rPr lang="en-US" altLang="zh-CN" dirty="0">
                  <a:solidFill>
                    <a:prstClr val="black"/>
                  </a:solidFill>
                </a:rPr>
                <a:t>……</a:t>
              </a:r>
              <a:endParaRPr lang="zh-CN" altLang="zh-CN" dirty="0">
                <a:solidFill>
                  <a:prstClr val="black"/>
                </a:solidFill>
              </a:endParaRPr>
            </a:p>
          </p:txBody>
        </p:sp>
      </p:grpSp>
      <p:grpSp>
        <p:nvGrpSpPr>
          <p:cNvPr id="49" name="组合 48"/>
          <p:cNvGrpSpPr/>
          <p:nvPr/>
        </p:nvGrpSpPr>
        <p:grpSpPr>
          <a:xfrm>
            <a:off x="6136942" y="3589154"/>
            <a:ext cx="2892775" cy="441340"/>
            <a:chOff x="6136942" y="3589154"/>
            <a:chExt cx="2892775" cy="441340"/>
          </a:xfrm>
        </p:grpSpPr>
        <p:sp>
          <p:nvSpPr>
            <p:cNvPr id="27" name="矩形 26"/>
            <p:cNvSpPr/>
            <p:nvPr/>
          </p:nvSpPr>
          <p:spPr>
            <a:xfrm>
              <a:off x="6136942" y="3651870"/>
              <a:ext cx="932510" cy="3693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……s1</a:t>
              </a:r>
              <a:endParaRPr lang="zh-CN" altLang="zh-CN" dirty="0">
                <a:solidFill>
                  <a:schemeClr val="tx1"/>
                </a:solidFill>
              </a:endParaRPr>
            </a:p>
          </p:txBody>
        </p:sp>
        <p:sp>
          <p:nvSpPr>
            <p:cNvPr id="28" name="矩形 27"/>
            <p:cNvSpPr/>
            <p:nvPr/>
          </p:nvSpPr>
          <p:spPr>
            <a:xfrm>
              <a:off x="6975082" y="3651870"/>
              <a:ext cx="410690" cy="369332"/>
            </a:xfrm>
            <a:prstGeom prst="rect">
              <a:avLst/>
            </a:prstGeom>
          </p:spPr>
          <p:txBody>
            <a:bodyPr wrap="none">
              <a:spAutoFit/>
            </a:bodyPr>
            <a:lstStyle/>
            <a:p>
              <a:r>
                <a:rPr lang="en-US" altLang="zh-CN" dirty="0">
                  <a:sym typeface="Wingdings" panose="05000000000000000000" pitchFamily="2" charset="2"/>
                </a:rPr>
                <a:t></a:t>
              </a:r>
              <a:endParaRPr lang="zh-CN" altLang="zh-CN" dirty="0"/>
            </a:p>
          </p:txBody>
        </p:sp>
        <p:sp>
          <p:nvSpPr>
            <p:cNvPr id="29" name="矩形 28"/>
            <p:cNvSpPr/>
            <p:nvPr/>
          </p:nvSpPr>
          <p:spPr>
            <a:xfrm>
              <a:off x="8142489" y="3651870"/>
              <a:ext cx="887228" cy="3693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zh-CN" altLang="zh-CN" dirty="0">
                <a:solidFill>
                  <a:schemeClr val="tx1"/>
                </a:solidFill>
              </a:endParaRPr>
            </a:p>
          </p:txBody>
        </p:sp>
        <p:sp>
          <p:nvSpPr>
            <p:cNvPr id="30" name="矩形 29"/>
            <p:cNvSpPr/>
            <p:nvPr/>
          </p:nvSpPr>
          <p:spPr>
            <a:xfrm>
              <a:off x="7860536" y="3661162"/>
              <a:ext cx="410690" cy="369332"/>
            </a:xfrm>
            <a:prstGeom prst="rect">
              <a:avLst/>
            </a:prstGeom>
          </p:spPr>
          <p:txBody>
            <a:bodyPr wrap="none">
              <a:spAutoFit/>
            </a:bodyPr>
            <a:lstStyle/>
            <a:p>
              <a:r>
                <a:rPr lang="en-US" altLang="zh-CN" dirty="0">
                  <a:sym typeface="Wingdings" panose="05000000000000000000" pitchFamily="2" charset="2"/>
                </a:rPr>
                <a:t></a:t>
              </a:r>
              <a:endParaRPr lang="zh-CN" altLang="zh-CN" dirty="0"/>
            </a:p>
          </p:txBody>
        </p:sp>
        <p:sp>
          <p:nvSpPr>
            <p:cNvPr id="31" name="矩形 30"/>
            <p:cNvSpPr/>
            <p:nvPr/>
          </p:nvSpPr>
          <p:spPr>
            <a:xfrm>
              <a:off x="7263114" y="3589154"/>
              <a:ext cx="646331" cy="369332"/>
            </a:xfrm>
            <a:prstGeom prst="rect">
              <a:avLst/>
            </a:prstGeom>
          </p:spPr>
          <p:txBody>
            <a:bodyPr wrap="none">
              <a:spAutoFit/>
            </a:bodyPr>
            <a:lstStyle/>
            <a:p>
              <a:pPr lvl="0"/>
              <a:r>
                <a:rPr lang="en-US" altLang="zh-CN" dirty="0">
                  <a:solidFill>
                    <a:prstClr val="black"/>
                  </a:solidFill>
                </a:rPr>
                <a:t>……</a:t>
              </a:r>
              <a:endParaRPr lang="zh-CN" altLang="zh-CN" dirty="0">
                <a:solidFill>
                  <a:prstClr val="black"/>
                </a:solidFill>
              </a:endParaRPr>
            </a:p>
          </p:txBody>
        </p:sp>
      </p:grpSp>
      <p:sp>
        <p:nvSpPr>
          <p:cNvPr id="40" name="矩形 39"/>
          <p:cNvSpPr/>
          <p:nvPr/>
        </p:nvSpPr>
        <p:spPr>
          <a:xfrm>
            <a:off x="8638630" y="2931790"/>
            <a:ext cx="397866" cy="307777"/>
          </a:xfrm>
          <a:prstGeom prst="rect">
            <a:avLst/>
          </a:prstGeom>
          <a:solidFill>
            <a:schemeClr val="bg1"/>
          </a:solidFill>
        </p:spPr>
        <p:txBody>
          <a:bodyPr wrap="none">
            <a:spAutoFit/>
          </a:bodyPr>
          <a:lstStyle/>
          <a:p>
            <a:r>
              <a:rPr lang="en-US" altLang="zh-CN" sz="1400" dirty="0"/>
              <a:t>P1</a:t>
            </a:r>
            <a:endParaRPr lang="zh-CN" altLang="en-US" sz="1400" dirty="0"/>
          </a:p>
        </p:txBody>
      </p:sp>
      <p:grpSp>
        <p:nvGrpSpPr>
          <p:cNvPr id="50" name="组合 49"/>
          <p:cNvGrpSpPr/>
          <p:nvPr/>
        </p:nvGrpSpPr>
        <p:grpSpPr>
          <a:xfrm>
            <a:off x="6136942" y="3253369"/>
            <a:ext cx="2663062" cy="583167"/>
            <a:chOff x="6136942" y="3253369"/>
            <a:chExt cx="2663062" cy="583167"/>
          </a:xfrm>
        </p:grpSpPr>
        <p:cxnSp>
          <p:nvCxnSpPr>
            <p:cNvPr id="36" name="肘形连接符 35"/>
            <p:cNvCxnSpPr>
              <a:endCxn id="27" idx="1"/>
            </p:cNvCxnSpPr>
            <p:nvPr/>
          </p:nvCxnSpPr>
          <p:spPr>
            <a:xfrm rot="10800000" flipV="1">
              <a:off x="6136942" y="3409560"/>
              <a:ext cx="2663062" cy="426976"/>
            </a:xfrm>
            <a:prstGeom prst="bentConnector3">
              <a:avLst>
                <a:gd name="adj1" fmla="val 108584"/>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8800004" y="3253369"/>
              <a:ext cx="0" cy="15619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1" name="矩形 50"/>
          <p:cNvSpPr/>
          <p:nvPr/>
        </p:nvSpPr>
        <p:spPr>
          <a:xfrm>
            <a:off x="5580112" y="3795886"/>
            <a:ext cx="684803" cy="369332"/>
          </a:xfrm>
          <a:prstGeom prst="rect">
            <a:avLst/>
          </a:prstGeom>
        </p:spPr>
        <p:txBody>
          <a:bodyPr wrap="none">
            <a:spAutoFit/>
          </a:bodyPr>
          <a:lstStyle/>
          <a:p>
            <a:r>
              <a:rPr lang="en-US" altLang="zh-CN" dirty="0"/>
              <a:t>P1</a:t>
            </a:r>
            <a:r>
              <a:rPr lang="en-US" altLang="zh-CN" dirty="0">
                <a:sym typeface="Wingdings" panose="05000000000000000000" pitchFamily="2" charset="2"/>
              </a:rPr>
              <a:t></a:t>
            </a:r>
            <a:endParaRPr lang="zh-CN" altLang="zh-CN" dirty="0"/>
          </a:p>
        </p:txBody>
      </p:sp>
    </p:spTree>
    <p:extLst>
      <p:ext uri="{BB962C8B-B14F-4D97-AF65-F5344CB8AC3E}">
        <p14:creationId xmlns:p14="http://schemas.microsoft.com/office/powerpoint/2010/main" val="1474572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51"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3"/>
          <p:cNvSpPr>
            <a:spLocks noGrp="1" noChangeArrowheads="1"/>
          </p:cNvSpPr>
          <p:nvPr>
            <p:ph type="body" sz="half" idx="1"/>
          </p:nvPr>
        </p:nvSpPr>
        <p:spPr>
          <a:xfrm>
            <a:off x="175734" y="619476"/>
            <a:ext cx="8507412" cy="1088178"/>
          </a:xfrm>
        </p:spPr>
        <p:txBody>
          <a:bodyPr>
            <a:normAutofit/>
          </a:bodyPr>
          <a:lstStyle/>
          <a:p>
            <a:pPr>
              <a:lnSpc>
                <a:spcPct val="90000"/>
              </a:lnSpc>
            </a:pPr>
            <a:r>
              <a:rPr lang="zh-CN" altLang="en-US" sz="2000" b="1" dirty="0">
                <a:solidFill>
                  <a:srgbClr val="0033CC"/>
                </a:solidFill>
              </a:rPr>
              <a:t>假出口链上的四元式应转向相同的位置，所以一旦知道转向的真实位置，就应返填，返填是将已知位置填入链上的所有四元式的第四个分量。</a:t>
            </a:r>
          </a:p>
          <a:p>
            <a:pPr>
              <a:lnSpc>
                <a:spcPct val="90000"/>
              </a:lnSpc>
            </a:pPr>
            <a:r>
              <a:rPr lang="en-US" altLang="zh-CN" sz="2000" b="1" dirty="0" err="1">
                <a:solidFill>
                  <a:srgbClr val="0033CC"/>
                </a:solidFill>
              </a:rPr>
              <a:t>backpatch</a:t>
            </a:r>
            <a:r>
              <a:rPr lang="zh-CN" altLang="en-US" sz="2000" b="1" dirty="0">
                <a:solidFill>
                  <a:srgbClr val="0033CC"/>
                </a:solidFill>
              </a:rPr>
              <a:t>函数的功能是：把已知位置</a:t>
            </a:r>
            <a:r>
              <a:rPr lang="en-US" altLang="zh-CN" sz="2000" b="1" dirty="0">
                <a:solidFill>
                  <a:srgbClr val="0033CC"/>
                </a:solidFill>
              </a:rPr>
              <a:t>t</a:t>
            </a:r>
            <a:r>
              <a:rPr lang="zh-CN" altLang="en-US" sz="2000" b="1" dirty="0">
                <a:solidFill>
                  <a:srgbClr val="0033CC"/>
                </a:solidFill>
              </a:rPr>
              <a:t>填入以</a:t>
            </a:r>
            <a:r>
              <a:rPr lang="en-US" altLang="zh-CN" sz="2000" b="1" dirty="0">
                <a:solidFill>
                  <a:srgbClr val="0033CC"/>
                </a:solidFill>
              </a:rPr>
              <a:t>P</a:t>
            </a:r>
            <a:r>
              <a:rPr lang="zh-CN" altLang="en-US" sz="2000" b="1" dirty="0">
                <a:solidFill>
                  <a:srgbClr val="0033CC"/>
                </a:solidFill>
              </a:rPr>
              <a:t>为链首的每个四元式中。</a:t>
            </a:r>
          </a:p>
        </p:txBody>
      </p:sp>
      <p:sp>
        <p:nvSpPr>
          <p:cNvPr id="95235" name="Text Box 2"/>
          <p:cNvSpPr txBox="1">
            <a:spLocks noChangeArrowheads="1"/>
          </p:cNvSpPr>
          <p:nvPr/>
        </p:nvSpPr>
        <p:spPr bwMode="auto">
          <a:xfrm>
            <a:off x="755576" y="1707654"/>
            <a:ext cx="3672408" cy="2585323"/>
          </a:xfrm>
          <a:prstGeom prst="rect">
            <a:avLst/>
          </a:prstGeom>
          <a:solidFill>
            <a:schemeClr val="bg1"/>
          </a:solidFill>
          <a:ln w="28575">
            <a:solidFill>
              <a:srgbClr val="00FF00"/>
            </a:solidFill>
            <a:miter lim="800000"/>
            <a:headEnd type="none" w="sm" len="sm"/>
            <a:tailEnd type="none" w="sm" len="sm"/>
          </a:ln>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0"/>
              </a:spcBef>
            </a:pPr>
            <a:r>
              <a:rPr lang="en-US" altLang="zh-CN" sz="1800" dirty="0" err="1"/>
              <a:t>backpatch</a:t>
            </a:r>
            <a:r>
              <a:rPr lang="en-US" altLang="zh-CN" sz="1800" dirty="0"/>
              <a:t>(P, t)</a:t>
            </a:r>
          </a:p>
          <a:p>
            <a:pPr eaLnBrk="1" hangingPunct="1">
              <a:lnSpc>
                <a:spcPct val="100000"/>
              </a:lnSpc>
              <a:spcBef>
                <a:spcPct val="0"/>
              </a:spcBef>
              <a:buFontTx/>
              <a:buNone/>
            </a:pPr>
            <a:r>
              <a:rPr lang="en-US" altLang="zh-CN" sz="1800" dirty="0"/>
              <a:t>{</a:t>
            </a:r>
          </a:p>
          <a:p>
            <a:pPr eaLnBrk="1" hangingPunct="1">
              <a:lnSpc>
                <a:spcPct val="100000"/>
              </a:lnSpc>
              <a:spcBef>
                <a:spcPct val="0"/>
              </a:spcBef>
              <a:buFontTx/>
              <a:buNone/>
            </a:pPr>
            <a:r>
              <a:rPr lang="en-US" altLang="zh-CN" sz="1800" dirty="0"/>
              <a:t>   Q=P;</a:t>
            </a:r>
          </a:p>
          <a:p>
            <a:pPr eaLnBrk="1" hangingPunct="1">
              <a:lnSpc>
                <a:spcPct val="100000"/>
              </a:lnSpc>
              <a:spcBef>
                <a:spcPct val="0"/>
              </a:spcBef>
              <a:buFontTx/>
              <a:buNone/>
            </a:pPr>
            <a:r>
              <a:rPr lang="en-US" altLang="zh-CN" sz="1800" dirty="0"/>
              <a:t>   while (Q!=0) do {</a:t>
            </a:r>
          </a:p>
          <a:p>
            <a:pPr eaLnBrk="1" hangingPunct="1">
              <a:lnSpc>
                <a:spcPct val="100000"/>
              </a:lnSpc>
              <a:spcBef>
                <a:spcPct val="0"/>
              </a:spcBef>
              <a:buFontTx/>
              <a:buNone/>
            </a:pPr>
            <a:r>
              <a:rPr lang="en-US" altLang="zh-CN" sz="1800" dirty="0"/>
              <a:t>       m = </a:t>
            </a:r>
            <a:r>
              <a:rPr lang="zh-CN" altLang="en-US" sz="1800" dirty="0"/>
              <a:t>四元式</a:t>
            </a:r>
            <a:r>
              <a:rPr lang="en-US" altLang="zh-CN" sz="1800" dirty="0"/>
              <a:t>Q</a:t>
            </a:r>
            <a:r>
              <a:rPr lang="zh-CN" altLang="en-US" sz="1800" dirty="0"/>
              <a:t>的第</a:t>
            </a:r>
            <a:r>
              <a:rPr lang="en-US" altLang="zh-CN" sz="1800" dirty="0"/>
              <a:t>4</a:t>
            </a:r>
            <a:r>
              <a:rPr lang="zh-CN" altLang="en-US" sz="1800" dirty="0"/>
              <a:t>分量内容；</a:t>
            </a:r>
          </a:p>
          <a:p>
            <a:pPr eaLnBrk="1" hangingPunct="1">
              <a:lnSpc>
                <a:spcPct val="100000"/>
              </a:lnSpc>
              <a:spcBef>
                <a:spcPct val="0"/>
              </a:spcBef>
              <a:buFontTx/>
              <a:buNone/>
            </a:pPr>
            <a:r>
              <a:rPr lang="zh-CN" altLang="en-US" sz="1800" dirty="0"/>
              <a:t>       把</a:t>
            </a:r>
            <a:r>
              <a:rPr lang="en-US" altLang="zh-CN" sz="1800" dirty="0"/>
              <a:t>t</a:t>
            </a:r>
            <a:r>
              <a:rPr lang="zh-CN" altLang="en-US" sz="1800" dirty="0"/>
              <a:t>填进四元式</a:t>
            </a:r>
            <a:r>
              <a:rPr lang="en-US" altLang="zh-CN" sz="1800" dirty="0"/>
              <a:t>Q</a:t>
            </a:r>
            <a:r>
              <a:rPr lang="zh-CN" altLang="en-US" sz="1800" dirty="0"/>
              <a:t>的第</a:t>
            </a:r>
            <a:r>
              <a:rPr lang="en-US" altLang="zh-CN" sz="1800" dirty="0"/>
              <a:t>4</a:t>
            </a:r>
            <a:r>
              <a:rPr lang="zh-CN" altLang="en-US" sz="1800" dirty="0"/>
              <a:t>分量；</a:t>
            </a:r>
          </a:p>
          <a:p>
            <a:pPr eaLnBrk="1" hangingPunct="1">
              <a:lnSpc>
                <a:spcPct val="100000"/>
              </a:lnSpc>
              <a:spcBef>
                <a:spcPct val="0"/>
              </a:spcBef>
              <a:buFontTx/>
              <a:buNone/>
            </a:pPr>
            <a:r>
              <a:rPr lang="zh-CN" altLang="en-US" sz="1800" dirty="0"/>
              <a:t>       </a:t>
            </a:r>
            <a:r>
              <a:rPr lang="en-US" altLang="zh-CN" sz="1800" dirty="0"/>
              <a:t>Q = m;</a:t>
            </a:r>
          </a:p>
          <a:p>
            <a:pPr eaLnBrk="1" hangingPunct="1">
              <a:lnSpc>
                <a:spcPct val="100000"/>
              </a:lnSpc>
              <a:spcBef>
                <a:spcPct val="0"/>
              </a:spcBef>
              <a:buFontTx/>
              <a:buNone/>
            </a:pPr>
            <a:r>
              <a:rPr lang="en-US" altLang="zh-CN" sz="1800" dirty="0"/>
              <a:t>     }</a:t>
            </a:r>
          </a:p>
          <a:p>
            <a:pPr eaLnBrk="1" hangingPunct="1">
              <a:lnSpc>
                <a:spcPct val="100000"/>
              </a:lnSpc>
              <a:spcBef>
                <a:spcPct val="0"/>
              </a:spcBef>
              <a:buFontTx/>
              <a:buNone/>
            </a:pPr>
            <a:r>
              <a:rPr lang="en-US" altLang="zh-CN" sz="1800" dirty="0"/>
              <a:t>} </a:t>
            </a:r>
          </a:p>
        </p:txBody>
      </p:sp>
      <p:grpSp>
        <p:nvGrpSpPr>
          <p:cNvPr id="2" name="组合 1"/>
          <p:cNvGrpSpPr/>
          <p:nvPr/>
        </p:nvGrpSpPr>
        <p:grpSpPr>
          <a:xfrm>
            <a:off x="4702505" y="2045775"/>
            <a:ext cx="4405999" cy="450632"/>
            <a:chOff x="4702505" y="2045775"/>
            <a:chExt cx="4405999" cy="450632"/>
          </a:xfrm>
        </p:grpSpPr>
        <p:sp>
          <p:nvSpPr>
            <p:cNvPr id="5" name="矩形 4"/>
            <p:cNvSpPr/>
            <p:nvPr/>
          </p:nvSpPr>
          <p:spPr>
            <a:xfrm>
              <a:off x="4702505" y="2127075"/>
              <a:ext cx="538930" cy="369332"/>
            </a:xfrm>
            <a:prstGeom prst="rect">
              <a:avLst/>
            </a:prstGeom>
          </p:spPr>
          <p:txBody>
            <a:bodyPr wrap="none">
              <a:spAutoFit/>
            </a:bodyPr>
            <a:lstStyle/>
            <a:p>
              <a:r>
                <a:rPr lang="en-US" altLang="zh-CN" dirty="0"/>
                <a:t>P</a:t>
              </a:r>
              <a:r>
                <a:rPr lang="en-US" altLang="zh-CN" dirty="0">
                  <a:sym typeface="Wingdings" panose="05000000000000000000" pitchFamily="2" charset="2"/>
                </a:rPr>
                <a:t></a:t>
              </a:r>
              <a:endParaRPr lang="zh-CN" altLang="zh-CN" dirty="0"/>
            </a:p>
          </p:txBody>
        </p:sp>
        <p:sp>
          <p:nvSpPr>
            <p:cNvPr id="6" name="矩形 5"/>
            <p:cNvSpPr/>
            <p:nvPr/>
          </p:nvSpPr>
          <p:spPr>
            <a:xfrm>
              <a:off x="5123375" y="2127075"/>
              <a:ext cx="932510" cy="3693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……s1</a:t>
              </a:r>
              <a:endParaRPr lang="zh-CN" altLang="zh-CN" dirty="0">
                <a:solidFill>
                  <a:schemeClr val="tx1"/>
                </a:solidFill>
              </a:endParaRPr>
            </a:p>
          </p:txBody>
        </p:sp>
        <p:sp>
          <p:nvSpPr>
            <p:cNvPr id="7" name="矩形 6"/>
            <p:cNvSpPr/>
            <p:nvPr/>
          </p:nvSpPr>
          <p:spPr>
            <a:xfrm>
              <a:off x="5961515" y="2127075"/>
              <a:ext cx="410690" cy="369332"/>
            </a:xfrm>
            <a:prstGeom prst="rect">
              <a:avLst/>
            </a:prstGeom>
          </p:spPr>
          <p:txBody>
            <a:bodyPr wrap="none">
              <a:spAutoFit/>
            </a:bodyPr>
            <a:lstStyle/>
            <a:p>
              <a:r>
                <a:rPr lang="en-US" altLang="zh-CN" dirty="0">
                  <a:sym typeface="Wingdings" panose="05000000000000000000" pitchFamily="2" charset="2"/>
                </a:rPr>
                <a:t></a:t>
              </a:r>
              <a:endParaRPr lang="zh-CN" altLang="zh-CN" dirty="0"/>
            </a:p>
          </p:txBody>
        </p:sp>
        <p:sp>
          <p:nvSpPr>
            <p:cNvPr id="8" name="矩形 7"/>
            <p:cNvSpPr/>
            <p:nvPr/>
          </p:nvSpPr>
          <p:spPr>
            <a:xfrm>
              <a:off x="8257788" y="2108491"/>
              <a:ext cx="850716" cy="3693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a:t>
              </a:r>
              <a:endParaRPr lang="zh-CN" altLang="zh-CN" dirty="0">
                <a:solidFill>
                  <a:schemeClr val="tx1"/>
                </a:solidFill>
              </a:endParaRPr>
            </a:p>
          </p:txBody>
        </p:sp>
        <p:sp>
          <p:nvSpPr>
            <p:cNvPr id="9" name="矩形 8"/>
            <p:cNvSpPr/>
            <p:nvPr/>
          </p:nvSpPr>
          <p:spPr>
            <a:xfrm>
              <a:off x="7975835" y="2117783"/>
              <a:ext cx="410690" cy="369332"/>
            </a:xfrm>
            <a:prstGeom prst="rect">
              <a:avLst/>
            </a:prstGeom>
          </p:spPr>
          <p:txBody>
            <a:bodyPr wrap="none">
              <a:spAutoFit/>
            </a:bodyPr>
            <a:lstStyle/>
            <a:p>
              <a:r>
                <a:rPr lang="en-US" altLang="zh-CN" dirty="0">
                  <a:sym typeface="Wingdings" panose="05000000000000000000" pitchFamily="2" charset="2"/>
                </a:rPr>
                <a:t></a:t>
              </a:r>
              <a:endParaRPr lang="zh-CN" altLang="zh-CN" dirty="0"/>
            </a:p>
          </p:txBody>
        </p:sp>
        <p:sp>
          <p:nvSpPr>
            <p:cNvPr id="10" name="矩形 9"/>
            <p:cNvSpPr/>
            <p:nvPr/>
          </p:nvSpPr>
          <p:spPr>
            <a:xfrm>
              <a:off x="7400620" y="2045775"/>
              <a:ext cx="646331" cy="369332"/>
            </a:xfrm>
            <a:prstGeom prst="rect">
              <a:avLst/>
            </a:prstGeom>
          </p:spPr>
          <p:txBody>
            <a:bodyPr wrap="none">
              <a:spAutoFit/>
            </a:bodyPr>
            <a:lstStyle/>
            <a:p>
              <a:pPr lvl="0"/>
              <a:r>
                <a:rPr lang="en-US" altLang="zh-CN" dirty="0">
                  <a:solidFill>
                    <a:prstClr val="black"/>
                  </a:solidFill>
                </a:rPr>
                <a:t>……</a:t>
              </a:r>
              <a:endParaRPr lang="zh-CN" altLang="zh-CN" dirty="0">
                <a:solidFill>
                  <a:prstClr val="black"/>
                </a:solidFill>
              </a:endParaRPr>
            </a:p>
          </p:txBody>
        </p:sp>
        <p:sp>
          <p:nvSpPr>
            <p:cNvPr id="11" name="矩形 10"/>
            <p:cNvSpPr/>
            <p:nvPr/>
          </p:nvSpPr>
          <p:spPr>
            <a:xfrm>
              <a:off x="6250345" y="2117638"/>
              <a:ext cx="932510" cy="3693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……s2</a:t>
              </a:r>
              <a:endParaRPr lang="zh-CN" altLang="zh-CN" dirty="0">
                <a:solidFill>
                  <a:schemeClr val="tx1"/>
                </a:solidFill>
              </a:endParaRPr>
            </a:p>
          </p:txBody>
        </p:sp>
        <p:sp>
          <p:nvSpPr>
            <p:cNvPr id="12" name="矩形 11"/>
            <p:cNvSpPr/>
            <p:nvPr/>
          </p:nvSpPr>
          <p:spPr>
            <a:xfrm>
              <a:off x="7110847" y="2117638"/>
              <a:ext cx="410690" cy="369332"/>
            </a:xfrm>
            <a:prstGeom prst="rect">
              <a:avLst/>
            </a:prstGeom>
          </p:spPr>
          <p:txBody>
            <a:bodyPr wrap="none">
              <a:spAutoFit/>
            </a:bodyPr>
            <a:lstStyle/>
            <a:p>
              <a:r>
                <a:rPr lang="en-US" altLang="zh-CN" dirty="0">
                  <a:sym typeface="Wingdings" panose="05000000000000000000" pitchFamily="2" charset="2"/>
                </a:rPr>
                <a:t></a:t>
              </a:r>
              <a:endParaRPr lang="zh-CN" altLang="zh-CN" dirty="0"/>
            </a:p>
          </p:txBody>
        </p:sp>
      </p:grpSp>
      <p:sp>
        <p:nvSpPr>
          <p:cNvPr id="14" name="Text Box 2"/>
          <p:cNvSpPr txBox="1">
            <a:spLocks noChangeArrowheads="1"/>
          </p:cNvSpPr>
          <p:nvPr/>
        </p:nvSpPr>
        <p:spPr bwMode="auto">
          <a:xfrm>
            <a:off x="7316192" y="2750606"/>
            <a:ext cx="1751533" cy="1754326"/>
          </a:xfrm>
          <a:prstGeom prst="rect">
            <a:avLst/>
          </a:prstGeom>
          <a:solidFill>
            <a:schemeClr val="bg1"/>
          </a:solidFill>
          <a:ln w="28575">
            <a:solidFill>
              <a:srgbClr val="0000FF"/>
            </a:solidFill>
            <a:miter lim="800000"/>
            <a:headEnd type="none" w="sm" len="sm"/>
            <a:tailEnd type="none" w="sm" len="sm"/>
          </a:ln>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en-US" altLang="zh-CN" sz="1800" dirty="0"/>
              <a:t>P:   (…,…,…,t )</a:t>
            </a:r>
          </a:p>
          <a:p>
            <a:pPr>
              <a:spcBef>
                <a:spcPct val="0"/>
              </a:spcBef>
            </a:pPr>
            <a:r>
              <a:rPr lang="en-US" altLang="zh-CN" sz="1800" dirty="0"/>
              <a:t>s1: (…,…,…,t )</a:t>
            </a:r>
          </a:p>
          <a:p>
            <a:pPr>
              <a:spcBef>
                <a:spcPct val="0"/>
              </a:spcBef>
            </a:pPr>
            <a:r>
              <a:rPr lang="en-US" altLang="zh-CN" sz="1800" dirty="0"/>
              <a:t>s2: (…,…,…,t )</a:t>
            </a:r>
          </a:p>
          <a:p>
            <a:pPr eaLnBrk="1" hangingPunct="1">
              <a:lnSpc>
                <a:spcPct val="100000"/>
              </a:lnSpc>
              <a:spcBef>
                <a:spcPct val="0"/>
              </a:spcBef>
              <a:buFontTx/>
              <a:buNone/>
            </a:pPr>
            <a:r>
              <a:rPr lang="en-US" altLang="zh-CN" sz="1800" dirty="0"/>
              <a:t>……</a:t>
            </a:r>
          </a:p>
          <a:p>
            <a:pPr>
              <a:spcBef>
                <a:spcPct val="0"/>
              </a:spcBef>
            </a:pPr>
            <a:r>
              <a:rPr lang="en-US" altLang="zh-CN" sz="1800" dirty="0"/>
              <a:t> :    (…,…,…, t)</a:t>
            </a:r>
          </a:p>
          <a:p>
            <a:pPr>
              <a:spcBef>
                <a:spcPct val="0"/>
              </a:spcBef>
            </a:pPr>
            <a:r>
              <a:rPr lang="en-US" altLang="zh-CN" sz="1800" dirty="0"/>
              <a:t>x:   (…,…,…, t)</a:t>
            </a:r>
          </a:p>
        </p:txBody>
      </p:sp>
      <p:sp>
        <p:nvSpPr>
          <p:cNvPr id="15" name="Text Box 2"/>
          <p:cNvSpPr txBox="1">
            <a:spLocks noChangeArrowheads="1"/>
          </p:cNvSpPr>
          <p:nvPr/>
        </p:nvSpPr>
        <p:spPr bwMode="auto">
          <a:xfrm>
            <a:off x="4549839" y="2750606"/>
            <a:ext cx="1822361" cy="1754326"/>
          </a:xfrm>
          <a:prstGeom prst="rect">
            <a:avLst/>
          </a:prstGeom>
          <a:solidFill>
            <a:schemeClr val="bg1"/>
          </a:solidFill>
          <a:ln w="28575">
            <a:solidFill>
              <a:srgbClr val="0000FF"/>
            </a:solidFill>
            <a:miter lim="800000"/>
            <a:headEnd type="none" w="sm" len="sm"/>
            <a:tailEnd type="none" w="sm" len="sm"/>
          </a:ln>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en-US" altLang="zh-CN" sz="1800" dirty="0"/>
              <a:t>P:  (…,…,…,s1 )</a:t>
            </a:r>
          </a:p>
          <a:p>
            <a:pPr>
              <a:spcBef>
                <a:spcPct val="0"/>
              </a:spcBef>
            </a:pPr>
            <a:r>
              <a:rPr lang="en-US" altLang="zh-CN" sz="1800" dirty="0"/>
              <a:t>s1:(…,…,…,s2 )</a:t>
            </a:r>
          </a:p>
          <a:p>
            <a:pPr>
              <a:spcBef>
                <a:spcPct val="0"/>
              </a:spcBef>
            </a:pPr>
            <a:r>
              <a:rPr lang="en-US" altLang="zh-CN" sz="1800" dirty="0"/>
              <a:t>s2:(…,…,…,  y)</a:t>
            </a:r>
          </a:p>
          <a:p>
            <a:pPr eaLnBrk="1" hangingPunct="1">
              <a:lnSpc>
                <a:spcPct val="100000"/>
              </a:lnSpc>
              <a:spcBef>
                <a:spcPct val="0"/>
              </a:spcBef>
              <a:buFontTx/>
              <a:buNone/>
            </a:pPr>
            <a:r>
              <a:rPr lang="en-US" altLang="zh-CN" sz="1800" dirty="0"/>
              <a:t>……</a:t>
            </a:r>
          </a:p>
          <a:p>
            <a:pPr>
              <a:spcBef>
                <a:spcPct val="0"/>
              </a:spcBef>
            </a:pPr>
            <a:r>
              <a:rPr lang="en-US" altLang="zh-CN" sz="1800" dirty="0"/>
              <a:t>      :(…,…,…, x)</a:t>
            </a:r>
          </a:p>
          <a:p>
            <a:pPr>
              <a:spcBef>
                <a:spcPct val="0"/>
              </a:spcBef>
            </a:pPr>
            <a:r>
              <a:rPr lang="en-US" altLang="zh-CN" sz="1800" dirty="0"/>
              <a:t>x:(…,…,…,0)</a:t>
            </a:r>
          </a:p>
        </p:txBody>
      </p:sp>
      <p:sp>
        <p:nvSpPr>
          <p:cNvPr id="3" name="右箭头 2"/>
          <p:cNvSpPr/>
          <p:nvPr/>
        </p:nvSpPr>
        <p:spPr>
          <a:xfrm>
            <a:off x="6425646" y="3382422"/>
            <a:ext cx="810650" cy="341456"/>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7" name="标题 1"/>
          <p:cNvSpPr>
            <a:spLocks noGrp="1"/>
          </p:cNvSpPr>
          <p:nvPr>
            <p:ph type="title"/>
          </p:nvPr>
        </p:nvSpPr>
        <p:spPr>
          <a:xfrm>
            <a:off x="107504" y="-23630"/>
            <a:ext cx="5688632" cy="579156"/>
          </a:xfrm>
        </p:spPr>
        <p:txBody>
          <a:bodyPr>
            <a:normAutofit/>
          </a:bodyPr>
          <a:lstStyle/>
          <a:p>
            <a:r>
              <a:rPr lang="zh-CN" altLang="en-US" sz="3200" dirty="0"/>
              <a:t>语义函数</a:t>
            </a:r>
            <a:r>
              <a:rPr lang="en-US" altLang="zh-CN" sz="3200" dirty="0"/>
              <a:t>——</a:t>
            </a:r>
            <a:r>
              <a:rPr lang="en-US" altLang="zh-CN" sz="3200" dirty="0" err="1"/>
              <a:t>backpatch</a:t>
            </a:r>
            <a:r>
              <a:rPr lang="en-US" altLang="zh-CN" sz="3200" dirty="0"/>
              <a:t>(</a:t>
            </a:r>
            <a:r>
              <a:rPr lang="en-US" altLang="zh-CN" sz="3200" dirty="0" err="1"/>
              <a:t>P,t</a:t>
            </a:r>
            <a:r>
              <a:rPr lang="en-US" altLang="zh-CN" sz="3200" dirty="0"/>
              <a:t>)</a:t>
            </a:r>
            <a:endParaRPr lang="zh-CN" altLang="en-US" sz="3200" dirty="0"/>
          </a:p>
        </p:txBody>
      </p:sp>
    </p:spTree>
    <p:extLst>
      <p:ext uri="{BB962C8B-B14F-4D97-AF65-F5344CB8AC3E}">
        <p14:creationId xmlns:p14="http://schemas.microsoft.com/office/powerpoint/2010/main" val="3486226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3"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8"/>
          <p:cNvSpPr>
            <a:spLocks noGrp="1" noChangeArrowheads="1"/>
          </p:cNvSpPr>
          <p:nvPr>
            <p:ph type="title"/>
          </p:nvPr>
        </p:nvSpPr>
        <p:spPr>
          <a:xfrm>
            <a:off x="91874" y="86025"/>
            <a:ext cx="5061892" cy="466725"/>
          </a:xfrm>
        </p:spPr>
        <p:txBody>
          <a:bodyPr>
            <a:normAutofit fontScale="90000"/>
          </a:bodyPr>
          <a:lstStyle/>
          <a:p>
            <a:pPr marL="365125" indent="-365125" algn="l" eaLnBrk="1" hangingPunct="1"/>
            <a:r>
              <a:rPr lang="en-US" altLang="zh-CN" sz="3200" b="1" dirty="0">
                <a:solidFill>
                  <a:srgbClr val="FF0000"/>
                </a:solidFill>
              </a:rPr>
              <a:t>6</a:t>
            </a:r>
            <a:r>
              <a:rPr lang="zh-CN" altLang="en-US" sz="3200" b="1" dirty="0">
                <a:solidFill>
                  <a:srgbClr val="FF0000"/>
                </a:solidFill>
              </a:rPr>
              <a:t>、布尔</a:t>
            </a:r>
            <a:r>
              <a:rPr lang="zh-CN" altLang="en-US" sz="3200" dirty="0">
                <a:solidFill>
                  <a:srgbClr val="FF0000"/>
                </a:solidFill>
              </a:rPr>
              <a:t>运算</a:t>
            </a:r>
            <a:r>
              <a:rPr lang="zh-CN" altLang="en-US" sz="3200" b="1" dirty="0">
                <a:solidFill>
                  <a:srgbClr val="FF0000"/>
                </a:solidFill>
              </a:rPr>
              <a:t>的语义处理</a:t>
            </a:r>
            <a:endParaRPr lang="zh-CN" altLang="zh-CN" sz="3200" b="1" dirty="0">
              <a:solidFill>
                <a:srgbClr val="FF0000"/>
              </a:solidFill>
            </a:endParaRPr>
          </a:p>
        </p:txBody>
      </p:sp>
      <p:sp>
        <p:nvSpPr>
          <p:cNvPr id="96259" name="Rectangle 11"/>
          <p:cNvSpPr>
            <a:spLocks noChangeArrowheads="1"/>
          </p:cNvSpPr>
          <p:nvPr/>
        </p:nvSpPr>
        <p:spPr bwMode="auto">
          <a:xfrm>
            <a:off x="93006" y="843558"/>
            <a:ext cx="4114800" cy="111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0" indent="0"/>
            <a:r>
              <a:rPr lang="en-US" altLang="zh-CN" sz="2000" b="1" dirty="0">
                <a:solidFill>
                  <a:srgbClr val="0033CC"/>
                </a:solidFill>
              </a:rPr>
              <a:t>E</a:t>
            </a:r>
            <a:r>
              <a:rPr lang="en-US" altLang="zh-CN" sz="2000" b="1" baseline="-25000" dirty="0">
                <a:solidFill>
                  <a:srgbClr val="0033CC"/>
                </a:solidFill>
              </a:rPr>
              <a:t>1</a:t>
            </a:r>
            <a:r>
              <a:rPr lang="en-US" altLang="zh-CN" sz="2000" b="1" dirty="0">
                <a:solidFill>
                  <a:srgbClr val="0033CC"/>
                </a:solidFill>
              </a:rPr>
              <a:t> || T </a:t>
            </a:r>
            <a:r>
              <a:rPr lang="zh-CN" altLang="en-US" sz="2000" b="1" dirty="0"/>
              <a:t>：只要</a:t>
            </a:r>
            <a:r>
              <a:rPr lang="en-US" altLang="zh-CN" sz="2000" b="1" dirty="0"/>
              <a:t>E</a:t>
            </a:r>
            <a:r>
              <a:rPr lang="en-US" altLang="zh-CN" sz="2000" b="1" baseline="-25000" dirty="0"/>
              <a:t>1</a:t>
            </a:r>
            <a:r>
              <a:rPr lang="zh-CN" altLang="en-US" sz="2000" b="1" dirty="0"/>
              <a:t>为真，后面的表达式就不必计算，只 有当</a:t>
            </a:r>
            <a:r>
              <a:rPr lang="en-US" altLang="zh-CN" sz="2000" b="1" dirty="0"/>
              <a:t>E</a:t>
            </a:r>
            <a:r>
              <a:rPr lang="en-US" altLang="zh-CN" sz="2000" b="1" baseline="-25000" dirty="0"/>
              <a:t>1</a:t>
            </a:r>
            <a:r>
              <a:rPr lang="zh-CN" altLang="en-US" sz="2000" b="1" dirty="0"/>
              <a:t>为假时才计算</a:t>
            </a:r>
            <a:r>
              <a:rPr lang="en-US" altLang="zh-CN" sz="2000" b="1" dirty="0"/>
              <a:t>T</a:t>
            </a:r>
            <a:r>
              <a:rPr lang="zh-CN" altLang="en-US" sz="2000" b="1" dirty="0"/>
              <a:t>，目标结构如下：</a:t>
            </a:r>
          </a:p>
        </p:txBody>
      </p:sp>
      <p:sp>
        <p:nvSpPr>
          <p:cNvPr id="80909" name="Rectangle 13"/>
          <p:cNvSpPr>
            <a:spLocks noChangeArrowheads="1"/>
          </p:cNvSpPr>
          <p:nvPr/>
        </p:nvSpPr>
        <p:spPr bwMode="auto">
          <a:xfrm>
            <a:off x="4978400" y="947081"/>
            <a:ext cx="41656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marL="374650" indent="-37465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0" indent="0"/>
            <a:r>
              <a:rPr lang="en-US" altLang="zh-CN" sz="2000" b="1" dirty="0">
                <a:solidFill>
                  <a:srgbClr val="0033CC"/>
                </a:solidFill>
              </a:rPr>
              <a:t>E</a:t>
            </a:r>
            <a:r>
              <a:rPr lang="en-US" altLang="zh-CN" sz="2000" b="1" baseline="-25000" dirty="0">
                <a:solidFill>
                  <a:srgbClr val="0033CC"/>
                </a:solidFill>
              </a:rPr>
              <a:t>1</a:t>
            </a:r>
            <a:r>
              <a:rPr lang="en-US" altLang="zh-CN" sz="2000" b="1" dirty="0">
                <a:solidFill>
                  <a:srgbClr val="0033CC"/>
                </a:solidFill>
              </a:rPr>
              <a:t> &amp;&amp; T</a:t>
            </a:r>
            <a:r>
              <a:rPr lang="zh-CN" altLang="en-US" sz="2000" b="1" dirty="0"/>
              <a:t>：只要</a:t>
            </a:r>
            <a:r>
              <a:rPr lang="en-US" altLang="zh-CN" sz="2000" b="1" dirty="0"/>
              <a:t>E</a:t>
            </a:r>
            <a:r>
              <a:rPr lang="en-US" altLang="zh-CN" sz="2000" b="1" baseline="-25000" dirty="0"/>
              <a:t>1</a:t>
            </a:r>
            <a:r>
              <a:rPr lang="zh-CN" altLang="en-US" sz="2000" b="1" dirty="0"/>
              <a:t>为假，后面的表达式就不必计算，只有当</a:t>
            </a:r>
            <a:r>
              <a:rPr lang="en-US" altLang="zh-CN" sz="2000" b="1" baseline="-25000" dirty="0"/>
              <a:t>1</a:t>
            </a:r>
            <a:r>
              <a:rPr lang="zh-CN" altLang="en-US" sz="2000" b="1" dirty="0"/>
              <a:t>为真时才计算</a:t>
            </a:r>
            <a:r>
              <a:rPr lang="en-US" altLang="zh-CN" sz="2000" b="1" dirty="0"/>
              <a:t>T</a:t>
            </a:r>
            <a:r>
              <a:rPr lang="zh-CN" altLang="en-US" sz="2000" b="1" dirty="0"/>
              <a:t>，目标结构如下：</a:t>
            </a:r>
          </a:p>
        </p:txBody>
      </p:sp>
      <p:sp>
        <p:nvSpPr>
          <p:cNvPr id="96262" name="Rectangle 8"/>
          <p:cNvSpPr>
            <a:spLocks noChangeArrowheads="1"/>
          </p:cNvSpPr>
          <p:nvPr/>
        </p:nvSpPr>
        <p:spPr bwMode="auto">
          <a:xfrm>
            <a:off x="0" y="-231153"/>
            <a:ext cx="186013" cy="462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endParaRPr lang="zh-CN" altLang="en-US" sz="2400"/>
          </a:p>
        </p:txBody>
      </p:sp>
      <p:sp>
        <p:nvSpPr>
          <p:cNvPr id="2" name="矩形 1"/>
          <p:cNvSpPr/>
          <p:nvPr/>
        </p:nvSpPr>
        <p:spPr>
          <a:xfrm>
            <a:off x="5628614" y="135672"/>
            <a:ext cx="3263865" cy="70788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kumimoji="1" lang="zh-CN" altLang="en-US" sz="2000" b="1" dirty="0">
                <a:latin typeface="Times New Roman" pitchFamily="18" charset="0"/>
              </a:rPr>
              <a:t>对于布尔表达式</a:t>
            </a:r>
            <a:r>
              <a:rPr kumimoji="1" lang="en-US" altLang="zh-CN" sz="2000" b="1" dirty="0">
                <a:latin typeface="Times New Roman" pitchFamily="18" charset="0"/>
              </a:rPr>
              <a:t>!E</a:t>
            </a:r>
            <a:r>
              <a:rPr kumimoji="1" lang="en-US" altLang="zh-CN" sz="2000" b="1" baseline="-25000" dirty="0">
                <a:latin typeface="Times New Roman" pitchFamily="18" charset="0"/>
              </a:rPr>
              <a:t>1</a:t>
            </a:r>
            <a:r>
              <a:rPr kumimoji="1" lang="zh-CN" altLang="en-US" sz="2000" b="1" dirty="0">
                <a:latin typeface="Times New Roman" pitchFamily="18" charset="0"/>
              </a:rPr>
              <a:t>，则</a:t>
            </a:r>
            <a:r>
              <a:rPr kumimoji="1" lang="en-US" altLang="zh-CN" sz="2000" b="1" dirty="0">
                <a:latin typeface="Times New Roman" pitchFamily="18" charset="0"/>
              </a:rPr>
              <a:t>E</a:t>
            </a:r>
            <a:r>
              <a:rPr kumimoji="1" lang="zh-CN" altLang="en-US" sz="2000" b="1" dirty="0">
                <a:latin typeface="Times New Roman" pitchFamily="18" charset="0"/>
              </a:rPr>
              <a:t>的真假出口正好与</a:t>
            </a:r>
            <a:r>
              <a:rPr kumimoji="1" lang="en-US" altLang="zh-CN" sz="2000" b="1" dirty="0">
                <a:latin typeface="Times New Roman" pitchFamily="18" charset="0"/>
              </a:rPr>
              <a:t>E</a:t>
            </a:r>
            <a:r>
              <a:rPr kumimoji="1" lang="en-US" altLang="zh-CN" sz="2000" b="1" baseline="-25000" dirty="0">
                <a:latin typeface="Times New Roman" pitchFamily="18" charset="0"/>
              </a:rPr>
              <a:t>1</a:t>
            </a:r>
            <a:r>
              <a:rPr kumimoji="1" lang="zh-CN" altLang="en-US" sz="2000" b="1" dirty="0">
                <a:latin typeface="Times New Roman" pitchFamily="18" charset="0"/>
              </a:rPr>
              <a:t>相反</a:t>
            </a:r>
            <a:endParaRPr lang="zh-CN" altLang="en-US" sz="2000" dirty="0"/>
          </a:p>
        </p:txBody>
      </p:sp>
      <p:sp>
        <p:nvSpPr>
          <p:cNvPr id="4" name="Rectangle 6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714891765"/>
              </p:ext>
            </p:extLst>
          </p:nvPr>
        </p:nvGraphicFramePr>
        <p:xfrm>
          <a:off x="93006" y="1923678"/>
          <a:ext cx="3490824" cy="3219822"/>
        </p:xfrm>
        <a:graphic>
          <a:graphicData uri="http://schemas.openxmlformats.org/presentationml/2006/ole">
            <mc:AlternateContent xmlns:mc="http://schemas.openxmlformats.org/markup-compatibility/2006">
              <mc:Choice xmlns:v="urn:schemas-microsoft-com:vml" Requires="v">
                <p:oleObj spid="_x0000_s22536" name="Visio" r:id="rId4" imgW="2064008" imgH="1902528" progId="Visio.Drawing.11">
                  <p:embed/>
                </p:oleObj>
              </mc:Choice>
              <mc:Fallback>
                <p:oleObj name="Visio" r:id="rId4" imgW="2064008" imgH="1902528" progId="Visio.Drawing.11">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006" y="1923678"/>
                        <a:ext cx="3490824" cy="3219822"/>
                      </a:xfrm>
                      <a:prstGeom prst="rect">
                        <a:avLst/>
                      </a:prstGeom>
                      <a:solidFill>
                        <a:schemeClr val="bg1"/>
                      </a:solidFill>
                    </p:spPr>
                  </p:pic>
                </p:oleObj>
              </mc:Fallback>
            </mc:AlternateContent>
          </a:graphicData>
        </a:graphic>
      </p:graphicFrame>
      <p:sp>
        <p:nvSpPr>
          <p:cNvPr id="6" name="Rectangle 6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1354027716"/>
              </p:ext>
            </p:extLst>
          </p:nvPr>
        </p:nvGraphicFramePr>
        <p:xfrm>
          <a:off x="4978400" y="2058032"/>
          <a:ext cx="3321125" cy="3082792"/>
        </p:xfrm>
        <a:graphic>
          <a:graphicData uri="http://schemas.openxmlformats.org/presentationml/2006/ole">
            <mc:AlternateContent xmlns:mc="http://schemas.openxmlformats.org/markup-compatibility/2006">
              <mc:Choice xmlns:v="urn:schemas-microsoft-com:vml" Requires="v">
                <p:oleObj spid="_x0000_s22537" name="Visio" r:id="rId6" imgW="2031640" imgH="1885680" progId="Visio.Drawing.11">
                  <p:embed/>
                </p:oleObj>
              </mc:Choice>
              <mc:Fallback>
                <p:oleObj name="Visio" r:id="rId6" imgW="2031640" imgH="1885680" progId="Visio.Drawing.11">
                  <p:embed/>
                  <p:pic>
                    <p:nvPicPr>
                      <p:cNvPr id="7" name="对象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78400" y="2058032"/>
                        <a:ext cx="3321125" cy="3082792"/>
                      </a:xfrm>
                      <a:prstGeom prst="rect">
                        <a:avLst/>
                      </a:prstGeom>
                      <a:noFill/>
                    </p:spPr>
                  </p:pic>
                </p:oleObj>
              </mc:Fallback>
            </mc:AlternateContent>
          </a:graphicData>
        </a:graphic>
      </p:graphicFrame>
    </p:spTree>
    <p:extLst>
      <p:ext uri="{BB962C8B-B14F-4D97-AF65-F5344CB8AC3E}">
        <p14:creationId xmlns:p14="http://schemas.microsoft.com/office/powerpoint/2010/main" val="1760615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2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80909"/>
                                        </p:tgtEl>
                                        <p:attrNameLst>
                                          <p:attrName>style.visibility</p:attrName>
                                        </p:attrNameLst>
                                      </p:cBhvr>
                                      <p:to>
                                        <p:strVal val="visible"/>
                                      </p:to>
                                    </p:set>
                                    <p:anim calcmode="lin" valueType="num">
                                      <p:cBhvr additive="base">
                                        <p:cTn id="15" dur="500"/>
                                        <p:tgtEl>
                                          <p:spTgt spid="80909"/>
                                        </p:tgtEl>
                                        <p:attrNameLst>
                                          <p:attrName>ppt_y</p:attrName>
                                        </p:attrNameLst>
                                      </p:cBhvr>
                                      <p:tavLst>
                                        <p:tav tm="0">
                                          <p:val>
                                            <p:strVal val="#ppt_y+#ppt_h*1.125000"/>
                                          </p:val>
                                        </p:tav>
                                        <p:tav tm="100000">
                                          <p:val>
                                            <p:strVal val="#ppt_y"/>
                                          </p:val>
                                        </p:tav>
                                      </p:tavLst>
                                    </p:anim>
                                    <p:animEffect transition="in" filter="wipe(up)">
                                      <p:cBhvr>
                                        <p:cTn id="16" dur="500"/>
                                        <p:tgtEl>
                                          <p:spTgt spid="8090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p:bldP spid="80909" grpId="0" autoUpdateAnimBg="0"/>
      <p:bldP spid="2"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8"/>
          <p:cNvSpPr>
            <a:spLocks noGrp="1" noChangeArrowheads="1"/>
          </p:cNvSpPr>
          <p:nvPr>
            <p:ph type="title"/>
          </p:nvPr>
        </p:nvSpPr>
        <p:spPr>
          <a:xfrm>
            <a:off x="91874" y="86025"/>
            <a:ext cx="5061892" cy="466725"/>
          </a:xfrm>
        </p:spPr>
        <p:txBody>
          <a:bodyPr>
            <a:normAutofit fontScale="90000"/>
          </a:bodyPr>
          <a:lstStyle/>
          <a:p>
            <a:pPr marL="365125" indent="-365125" algn="l" eaLnBrk="1" hangingPunct="1"/>
            <a:r>
              <a:rPr lang="en-US" altLang="zh-CN" sz="3200" b="1" dirty="0">
                <a:solidFill>
                  <a:srgbClr val="FF0000"/>
                </a:solidFill>
              </a:rPr>
              <a:t>6</a:t>
            </a:r>
            <a:r>
              <a:rPr lang="zh-CN" altLang="en-US" sz="3200" b="1" dirty="0">
                <a:solidFill>
                  <a:srgbClr val="FF0000"/>
                </a:solidFill>
              </a:rPr>
              <a:t>、布尔</a:t>
            </a:r>
            <a:r>
              <a:rPr lang="zh-CN" altLang="en-US" sz="3200" dirty="0">
                <a:solidFill>
                  <a:srgbClr val="FF0000"/>
                </a:solidFill>
              </a:rPr>
              <a:t>表达式</a:t>
            </a:r>
            <a:r>
              <a:rPr lang="zh-CN" altLang="en-US" sz="3200" b="1" dirty="0">
                <a:solidFill>
                  <a:srgbClr val="FF0000"/>
                </a:solidFill>
              </a:rPr>
              <a:t>的语义处理</a:t>
            </a:r>
            <a:endParaRPr lang="zh-CN" altLang="zh-CN" sz="3200" b="1" dirty="0">
              <a:solidFill>
                <a:srgbClr val="FF0000"/>
              </a:solidFill>
            </a:endParaRPr>
          </a:p>
        </p:txBody>
      </p:sp>
      <p:sp>
        <p:nvSpPr>
          <p:cNvPr id="96259" name="Rectangle 11"/>
          <p:cNvSpPr>
            <a:spLocks noChangeArrowheads="1"/>
          </p:cNvSpPr>
          <p:nvPr/>
        </p:nvSpPr>
        <p:spPr bwMode="auto">
          <a:xfrm>
            <a:off x="457200" y="843558"/>
            <a:ext cx="4114800" cy="111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0" indent="0"/>
            <a:r>
              <a:rPr lang="en-US" altLang="zh-CN" sz="2000" b="1" dirty="0">
                <a:solidFill>
                  <a:srgbClr val="0033CC"/>
                </a:solidFill>
              </a:rPr>
              <a:t>E</a:t>
            </a:r>
            <a:r>
              <a:rPr lang="en-US" altLang="zh-CN" sz="2000" b="1" baseline="-25000" dirty="0">
                <a:solidFill>
                  <a:srgbClr val="0033CC"/>
                </a:solidFill>
              </a:rPr>
              <a:t>1</a:t>
            </a:r>
            <a:r>
              <a:rPr lang="en-US" altLang="zh-CN" sz="2000" b="1" dirty="0">
                <a:solidFill>
                  <a:srgbClr val="0033CC"/>
                </a:solidFill>
              </a:rPr>
              <a:t> || T </a:t>
            </a:r>
            <a:r>
              <a:rPr lang="zh-CN" altLang="en-US" sz="2000" b="1" dirty="0"/>
              <a:t>：只要</a:t>
            </a:r>
            <a:r>
              <a:rPr lang="en-US" altLang="zh-CN" sz="2000" b="1" dirty="0"/>
              <a:t>E</a:t>
            </a:r>
            <a:r>
              <a:rPr lang="en-US" altLang="zh-CN" sz="2000" b="1" baseline="-25000" dirty="0"/>
              <a:t>1</a:t>
            </a:r>
            <a:r>
              <a:rPr lang="zh-CN" altLang="en-US" sz="2000" b="1" dirty="0"/>
              <a:t>为真，后面的表达式就不必计算，只 有当</a:t>
            </a:r>
            <a:r>
              <a:rPr lang="en-US" altLang="zh-CN" sz="2000" b="1" dirty="0"/>
              <a:t>E</a:t>
            </a:r>
            <a:r>
              <a:rPr lang="en-US" altLang="zh-CN" sz="2000" b="1" baseline="-25000" dirty="0"/>
              <a:t>1</a:t>
            </a:r>
            <a:r>
              <a:rPr lang="zh-CN" altLang="en-US" sz="2000" b="1" dirty="0"/>
              <a:t>为假时才计算</a:t>
            </a:r>
            <a:r>
              <a:rPr lang="en-US" altLang="zh-CN" sz="2000" b="1" dirty="0"/>
              <a:t>T</a:t>
            </a:r>
            <a:r>
              <a:rPr lang="zh-CN" altLang="en-US" sz="2000" b="1" dirty="0"/>
              <a:t>，目标结构如下：</a:t>
            </a:r>
          </a:p>
        </p:txBody>
      </p:sp>
      <p:sp>
        <p:nvSpPr>
          <p:cNvPr id="96262" name="Rectangle 8"/>
          <p:cNvSpPr>
            <a:spLocks noChangeArrowheads="1"/>
          </p:cNvSpPr>
          <p:nvPr/>
        </p:nvSpPr>
        <p:spPr bwMode="auto">
          <a:xfrm>
            <a:off x="0" y="-231153"/>
            <a:ext cx="186013" cy="462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endParaRPr lang="zh-CN" altLang="en-US" sz="2400"/>
          </a:p>
        </p:txBody>
      </p:sp>
      <p:sp>
        <p:nvSpPr>
          <p:cNvPr id="4" name="Rectangle 6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381018051"/>
              </p:ext>
            </p:extLst>
          </p:nvPr>
        </p:nvGraphicFramePr>
        <p:xfrm>
          <a:off x="769188" y="1923678"/>
          <a:ext cx="3490824" cy="3219822"/>
        </p:xfrm>
        <a:graphic>
          <a:graphicData uri="http://schemas.openxmlformats.org/presentationml/2006/ole">
            <mc:AlternateContent xmlns:mc="http://schemas.openxmlformats.org/markup-compatibility/2006">
              <mc:Choice xmlns:v="urn:schemas-microsoft-com:vml" Requires="v">
                <p:oleObj spid="_x0000_s23557" name="Visio" r:id="rId4" imgW="2064008" imgH="1902528" progId="Visio.Drawing.11">
                  <p:embed/>
                </p:oleObj>
              </mc:Choice>
              <mc:Fallback>
                <p:oleObj name="Visio" r:id="rId4" imgW="2064008" imgH="1902528" progId="Visio.Drawing.11">
                  <p:embed/>
                  <p:pic>
                    <p:nvPicPr>
                      <p:cNvPr id="5"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188" y="1923678"/>
                        <a:ext cx="3490824" cy="3219822"/>
                      </a:xfrm>
                      <a:prstGeom prst="rect">
                        <a:avLst/>
                      </a:prstGeom>
                      <a:solidFill>
                        <a:schemeClr val="bg1"/>
                      </a:solidFill>
                    </p:spPr>
                  </p:pic>
                </p:oleObj>
              </mc:Fallback>
            </mc:AlternateContent>
          </a:graphicData>
        </a:graphic>
      </p:graphicFrame>
      <p:sp>
        <p:nvSpPr>
          <p:cNvPr id="6" name="Rectangle 6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5059318" y="2139702"/>
            <a:ext cx="2885726" cy="400110"/>
          </a:xfrm>
          <a:prstGeom prst="rect">
            <a:avLst/>
          </a:prstGeom>
          <a:ln/>
        </p:spPr>
        <p:style>
          <a:lnRef idx="1">
            <a:schemeClr val="accent1"/>
          </a:lnRef>
          <a:fillRef idx="2">
            <a:schemeClr val="accent1"/>
          </a:fillRef>
          <a:effectRef idx="1">
            <a:schemeClr val="accent1"/>
          </a:effectRef>
          <a:fontRef idx="minor">
            <a:schemeClr val="dk1"/>
          </a:fontRef>
        </p:style>
        <p:txBody>
          <a:bodyPr wrap="none">
            <a:spAutoFit/>
          </a:bodyPr>
          <a:lstStyle/>
          <a:p>
            <a:r>
              <a:rPr lang="en-US" altLang="zh-CN" sz="2000" dirty="0"/>
              <a:t>&lt;BE&gt;</a:t>
            </a:r>
            <a:r>
              <a:rPr lang="zh-CN" altLang="zh-CN" sz="2000" dirty="0"/>
              <a:t>→</a:t>
            </a:r>
            <a:r>
              <a:rPr lang="en-US" altLang="zh-CN" sz="2000" dirty="0"/>
              <a:t>&lt;BE&gt; || &lt;BT&gt;</a:t>
            </a:r>
            <a:endParaRPr lang="zh-CN" altLang="en-US" sz="2000" dirty="0"/>
          </a:p>
        </p:txBody>
      </p:sp>
      <p:sp>
        <p:nvSpPr>
          <p:cNvPr id="8" name="矩形 7"/>
          <p:cNvSpPr/>
          <p:nvPr/>
        </p:nvSpPr>
        <p:spPr>
          <a:xfrm>
            <a:off x="5076056" y="843558"/>
            <a:ext cx="3203848"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zh-CN" dirty="0"/>
              <a:t>在语法制导翻译</a:t>
            </a:r>
            <a:r>
              <a:rPr lang="zh-CN" altLang="en-US" dirty="0"/>
              <a:t>中</a:t>
            </a:r>
            <a:r>
              <a:rPr lang="zh-CN" altLang="zh-CN" dirty="0"/>
              <a:t>，是在利用某个产生式</a:t>
            </a:r>
            <a:r>
              <a:rPr lang="zh-CN" altLang="en-US" dirty="0"/>
              <a:t>推导或</a:t>
            </a:r>
            <a:r>
              <a:rPr lang="zh-CN" altLang="zh-CN" dirty="0"/>
              <a:t>归约后调用对应这个产生式的语义动作</a:t>
            </a:r>
            <a:endParaRPr lang="zh-CN" altLang="en-US" dirty="0"/>
          </a:p>
        </p:txBody>
      </p:sp>
      <p:sp>
        <p:nvSpPr>
          <p:cNvPr id="9" name="矩形 8"/>
          <p:cNvSpPr/>
          <p:nvPr/>
        </p:nvSpPr>
        <p:spPr>
          <a:xfrm>
            <a:off x="5055132" y="3365579"/>
            <a:ext cx="2884474" cy="707886"/>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altLang="zh-CN" sz="2000" dirty="0">
                <a:latin typeface="+mn-ea"/>
              </a:rPr>
              <a:t>&lt;BE&gt;</a:t>
            </a:r>
            <a:r>
              <a:rPr lang="en-US" altLang="zh-CN" sz="2000" baseline="30000" dirty="0">
                <a:latin typeface="+mn-ea"/>
              </a:rPr>
              <a:t>or</a:t>
            </a:r>
            <a:r>
              <a:rPr lang="en-US" altLang="zh-CN" sz="2000" dirty="0">
                <a:latin typeface="+mn-ea"/>
              </a:rPr>
              <a:t>→&lt;BE&gt;  ||</a:t>
            </a:r>
            <a:endParaRPr lang="zh-CN" altLang="zh-CN" sz="2000" dirty="0">
              <a:latin typeface="+mn-ea"/>
            </a:endParaRPr>
          </a:p>
          <a:p>
            <a:r>
              <a:rPr lang="en-US" altLang="zh-CN" sz="2000" dirty="0">
                <a:latin typeface="+mn-ea"/>
              </a:rPr>
              <a:t>&lt;BE&gt;→&lt;BE&gt;</a:t>
            </a:r>
            <a:r>
              <a:rPr lang="en-US" altLang="zh-CN" sz="2000" baseline="30000" dirty="0">
                <a:latin typeface="+mn-ea"/>
              </a:rPr>
              <a:t>or  </a:t>
            </a:r>
            <a:r>
              <a:rPr lang="en-US" altLang="zh-CN" sz="2000" dirty="0">
                <a:latin typeface="+mn-ea"/>
              </a:rPr>
              <a:t>&lt;BT&gt;</a:t>
            </a:r>
            <a:endParaRPr lang="zh-CN" altLang="zh-CN" sz="2000" dirty="0">
              <a:latin typeface="+mn-ea"/>
            </a:endParaRPr>
          </a:p>
        </p:txBody>
      </p:sp>
      <p:sp>
        <p:nvSpPr>
          <p:cNvPr id="10" name="下箭头 9"/>
          <p:cNvSpPr/>
          <p:nvPr/>
        </p:nvSpPr>
        <p:spPr>
          <a:xfrm>
            <a:off x="6304382" y="2633877"/>
            <a:ext cx="192987" cy="657953"/>
          </a:xfrm>
          <a:prstGeom prst="down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3068887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0"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8"/>
          <p:cNvSpPr>
            <a:spLocks noGrp="1" noChangeArrowheads="1"/>
          </p:cNvSpPr>
          <p:nvPr>
            <p:ph type="title"/>
          </p:nvPr>
        </p:nvSpPr>
        <p:spPr>
          <a:xfrm>
            <a:off x="91874" y="86025"/>
            <a:ext cx="5061892" cy="466725"/>
          </a:xfrm>
        </p:spPr>
        <p:txBody>
          <a:bodyPr>
            <a:normAutofit fontScale="90000"/>
          </a:bodyPr>
          <a:lstStyle/>
          <a:p>
            <a:pPr marL="365125" indent="-365125" algn="l" eaLnBrk="1" hangingPunct="1"/>
            <a:r>
              <a:rPr lang="en-US" altLang="zh-CN" sz="3200" b="1" dirty="0">
                <a:solidFill>
                  <a:srgbClr val="FF0000"/>
                </a:solidFill>
              </a:rPr>
              <a:t>6</a:t>
            </a:r>
            <a:r>
              <a:rPr lang="zh-CN" altLang="en-US" sz="3200" b="1" dirty="0">
                <a:solidFill>
                  <a:srgbClr val="FF0000"/>
                </a:solidFill>
              </a:rPr>
              <a:t>、布尔</a:t>
            </a:r>
            <a:r>
              <a:rPr lang="zh-CN" altLang="en-US" sz="3200" dirty="0">
                <a:solidFill>
                  <a:srgbClr val="FF0000"/>
                </a:solidFill>
              </a:rPr>
              <a:t>表达式</a:t>
            </a:r>
            <a:r>
              <a:rPr lang="zh-CN" altLang="en-US" sz="3200" b="1" dirty="0">
                <a:solidFill>
                  <a:srgbClr val="FF0000"/>
                </a:solidFill>
              </a:rPr>
              <a:t>的语义处理</a:t>
            </a:r>
            <a:endParaRPr lang="zh-CN" altLang="zh-CN" sz="3200" b="1" dirty="0">
              <a:solidFill>
                <a:srgbClr val="FF0000"/>
              </a:solidFill>
            </a:endParaRPr>
          </a:p>
        </p:txBody>
      </p:sp>
      <p:sp>
        <p:nvSpPr>
          <p:cNvPr id="80909" name="Rectangle 13"/>
          <p:cNvSpPr>
            <a:spLocks noChangeArrowheads="1"/>
          </p:cNvSpPr>
          <p:nvPr/>
        </p:nvSpPr>
        <p:spPr bwMode="auto">
          <a:xfrm>
            <a:off x="550416" y="771550"/>
            <a:ext cx="41656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marL="374650" indent="-37465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marL="0" indent="0"/>
            <a:r>
              <a:rPr lang="en-US" altLang="zh-CN" sz="2000" b="1" dirty="0">
                <a:solidFill>
                  <a:srgbClr val="0033CC"/>
                </a:solidFill>
              </a:rPr>
              <a:t>E</a:t>
            </a:r>
            <a:r>
              <a:rPr lang="en-US" altLang="zh-CN" sz="2000" b="1" baseline="-25000" dirty="0">
                <a:solidFill>
                  <a:srgbClr val="0033CC"/>
                </a:solidFill>
              </a:rPr>
              <a:t>1</a:t>
            </a:r>
            <a:r>
              <a:rPr lang="en-US" altLang="zh-CN" sz="2000" b="1" dirty="0">
                <a:solidFill>
                  <a:srgbClr val="0033CC"/>
                </a:solidFill>
              </a:rPr>
              <a:t> &amp;&amp; T</a:t>
            </a:r>
            <a:r>
              <a:rPr lang="zh-CN" altLang="en-US" sz="2000" b="1" dirty="0"/>
              <a:t>：只要</a:t>
            </a:r>
            <a:r>
              <a:rPr lang="en-US" altLang="zh-CN" sz="2000" b="1" dirty="0"/>
              <a:t>E</a:t>
            </a:r>
            <a:r>
              <a:rPr lang="en-US" altLang="zh-CN" sz="2000" b="1" baseline="-25000" dirty="0"/>
              <a:t>1</a:t>
            </a:r>
            <a:r>
              <a:rPr lang="zh-CN" altLang="en-US" sz="2000" b="1" dirty="0"/>
              <a:t>为假，后面的表达式就不必计算，只有当</a:t>
            </a:r>
            <a:r>
              <a:rPr lang="en-US" altLang="zh-CN" sz="2000" b="1" dirty="0"/>
              <a:t>E</a:t>
            </a:r>
            <a:r>
              <a:rPr lang="en-US" altLang="zh-CN" sz="2000" b="1" baseline="-25000" dirty="0"/>
              <a:t>1</a:t>
            </a:r>
            <a:r>
              <a:rPr lang="zh-CN" altLang="en-US" sz="2000" b="1" dirty="0"/>
              <a:t>为真时才计算</a:t>
            </a:r>
            <a:r>
              <a:rPr lang="en-US" altLang="zh-CN" sz="2000" b="1" dirty="0"/>
              <a:t>T</a:t>
            </a:r>
            <a:r>
              <a:rPr lang="zh-CN" altLang="en-US" sz="2000" b="1" dirty="0"/>
              <a:t>，目标结构如下：</a:t>
            </a:r>
          </a:p>
        </p:txBody>
      </p:sp>
      <p:sp>
        <p:nvSpPr>
          <p:cNvPr id="96262" name="Rectangle 8"/>
          <p:cNvSpPr>
            <a:spLocks noChangeArrowheads="1"/>
          </p:cNvSpPr>
          <p:nvPr/>
        </p:nvSpPr>
        <p:spPr bwMode="auto">
          <a:xfrm>
            <a:off x="0" y="-231153"/>
            <a:ext cx="186013" cy="462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endParaRPr lang="zh-CN" altLang="en-US" sz="2400"/>
          </a:p>
        </p:txBody>
      </p:sp>
      <p:sp>
        <p:nvSpPr>
          <p:cNvPr id="4" name="Rectangle 6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4200378618"/>
              </p:ext>
            </p:extLst>
          </p:nvPr>
        </p:nvGraphicFramePr>
        <p:xfrm>
          <a:off x="972653" y="1807027"/>
          <a:ext cx="3321125" cy="3082792"/>
        </p:xfrm>
        <a:graphic>
          <a:graphicData uri="http://schemas.openxmlformats.org/presentationml/2006/ole">
            <mc:AlternateContent xmlns:mc="http://schemas.openxmlformats.org/markup-compatibility/2006">
              <mc:Choice xmlns:v="urn:schemas-microsoft-com:vml" Requires="v">
                <p:oleObj spid="_x0000_s24581" name="Visio" r:id="rId4" imgW="2031640" imgH="1885680" progId="Visio.Drawing.11">
                  <p:embed/>
                </p:oleObj>
              </mc:Choice>
              <mc:Fallback>
                <p:oleObj name="Visio" r:id="rId4" imgW="2031640" imgH="1885680" progId="Visio.Drawing.11">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2653" y="1807027"/>
                        <a:ext cx="3321125" cy="3082792"/>
                      </a:xfrm>
                      <a:prstGeom prst="rect">
                        <a:avLst/>
                      </a:prstGeom>
                      <a:noFill/>
                    </p:spPr>
                  </p:pic>
                </p:oleObj>
              </mc:Fallback>
            </mc:AlternateContent>
          </a:graphicData>
        </a:graphic>
      </p:graphicFrame>
      <p:sp>
        <p:nvSpPr>
          <p:cNvPr id="11" name="矩形 10"/>
          <p:cNvSpPr/>
          <p:nvPr/>
        </p:nvSpPr>
        <p:spPr>
          <a:xfrm>
            <a:off x="5247362" y="2171640"/>
            <a:ext cx="2492990" cy="400110"/>
          </a:xfrm>
          <a:prstGeom prst="rect">
            <a:avLst/>
          </a:prstGeom>
          <a:ln/>
        </p:spPr>
        <p:style>
          <a:lnRef idx="1">
            <a:schemeClr val="accent1"/>
          </a:lnRef>
          <a:fillRef idx="2">
            <a:schemeClr val="accent1"/>
          </a:fillRef>
          <a:effectRef idx="1">
            <a:schemeClr val="accent1"/>
          </a:effectRef>
          <a:fontRef idx="minor">
            <a:schemeClr val="dk1"/>
          </a:fontRef>
        </p:style>
        <p:txBody>
          <a:bodyPr wrap="none">
            <a:spAutoFit/>
          </a:bodyPr>
          <a:lstStyle/>
          <a:p>
            <a:r>
              <a:rPr lang="en-US" altLang="zh-CN" sz="2000" dirty="0">
                <a:latin typeface="+mn-ea"/>
              </a:rPr>
              <a:t>&lt;BT&gt;→&lt;BT&gt; &amp;&amp; &lt;BF&gt;</a:t>
            </a:r>
            <a:endParaRPr lang="zh-CN" altLang="en-US" sz="2000" dirty="0">
              <a:latin typeface="+mn-ea"/>
            </a:endParaRPr>
          </a:p>
        </p:txBody>
      </p:sp>
      <p:sp>
        <p:nvSpPr>
          <p:cNvPr id="12" name="矩形 11"/>
          <p:cNvSpPr/>
          <p:nvPr/>
        </p:nvSpPr>
        <p:spPr>
          <a:xfrm>
            <a:off x="5143910" y="3365579"/>
            <a:ext cx="2884474" cy="707886"/>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altLang="zh-CN" sz="2000" dirty="0">
                <a:latin typeface="+mn-ea"/>
              </a:rPr>
              <a:t>&lt;BT&gt;</a:t>
            </a:r>
            <a:r>
              <a:rPr lang="en-US" altLang="zh-CN" sz="2000" baseline="30000" dirty="0">
                <a:latin typeface="+mn-ea"/>
              </a:rPr>
              <a:t>and</a:t>
            </a:r>
            <a:r>
              <a:rPr lang="en-US" altLang="zh-CN" sz="2000" dirty="0">
                <a:latin typeface="+mn-ea"/>
              </a:rPr>
              <a:t>→&lt;BT&gt;  &amp;&amp;</a:t>
            </a:r>
            <a:endParaRPr lang="zh-CN" altLang="zh-CN" sz="2000" dirty="0">
              <a:latin typeface="+mn-ea"/>
            </a:endParaRPr>
          </a:p>
          <a:p>
            <a:r>
              <a:rPr lang="en-US" altLang="zh-CN" sz="2000" dirty="0">
                <a:latin typeface="+mn-ea"/>
              </a:rPr>
              <a:t>&lt;BT&gt;→&lt;BT&gt;</a:t>
            </a:r>
            <a:r>
              <a:rPr lang="en-US" altLang="zh-CN" sz="2000" baseline="30000" dirty="0">
                <a:latin typeface="+mn-ea"/>
              </a:rPr>
              <a:t>and  </a:t>
            </a:r>
            <a:r>
              <a:rPr lang="en-US" altLang="zh-CN" sz="2000" dirty="0">
                <a:latin typeface="+mn-ea"/>
              </a:rPr>
              <a:t>&lt;BF&gt;</a:t>
            </a:r>
            <a:endParaRPr lang="zh-CN" altLang="zh-CN" sz="2000" dirty="0">
              <a:latin typeface="+mn-ea"/>
            </a:endParaRPr>
          </a:p>
        </p:txBody>
      </p:sp>
      <p:sp>
        <p:nvSpPr>
          <p:cNvPr id="13" name="下箭头 12"/>
          <p:cNvSpPr/>
          <p:nvPr/>
        </p:nvSpPr>
        <p:spPr>
          <a:xfrm>
            <a:off x="6393160" y="2633877"/>
            <a:ext cx="192987" cy="657953"/>
          </a:xfrm>
          <a:prstGeom prst="down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2000"/>
          </a:p>
        </p:txBody>
      </p:sp>
    </p:spTree>
    <p:extLst>
      <p:ext uri="{BB962C8B-B14F-4D97-AF65-F5344CB8AC3E}">
        <p14:creationId xmlns:p14="http://schemas.microsoft.com/office/powerpoint/2010/main" val="3956246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p:cNvSpPr>
            <a:spLocks noGrp="1" noChangeArrowheads="1"/>
          </p:cNvSpPr>
          <p:nvPr>
            <p:ph type="body" sz="half" idx="1"/>
          </p:nvPr>
        </p:nvSpPr>
        <p:spPr>
          <a:xfrm>
            <a:off x="539750" y="267494"/>
            <a:ext cx="8064500" cy="738585"/>
          </a:xfrm>
        </p:spPr>
        <p:txBody>
          <a:bodyPr>
            <a:normAutofit fontScale="85000" lnSpcReduction="10000"/>
          </a:bodyPr>
          <a:lstStyle/>
          <a:p>
            <a:pPr eaLnBrk="1" hangingPunct="1">
              <a:lnSpc>
                <a:spcPct val="120000"/>
              </a:lnSpc>
              <a:spcBef>
                <a:spcPts val="0"/>
              </a:spcBef>
              <a:buFontTx/>
              <a:buNone/>
            </a:pPr>
            <a:r>
              <a:rPr lang="zh-CN" altLang="en-US" sz="2400" b="1" dirty="0">
                <a:solidFill>
                  <a:srgbClr val="0033CC"/>
                </a:solidFill>
              </a:rPr>
              <a:t>因此，翻译布尔表达式时，当读到</a:t>
            </a:r>
            <a:r>
              <a:rPr lang="en-US" altLang="zh-CN" sz="2400" b="1" dirty="0">
                <a:solidFill>
                  <a:srgbClr val="0033CC"/>
                </a:solidFill>
              </a:rPr>
              <a:t>!, &amp;&amp;, ||</a:t>
            </a:r>
            <a:r>
              <a:rPr lang="zh-CN" altLang="en-US" sz="2400" b="1" dirty="0">
                <a:solidFill>
                  <a:srgbClr val="0033CC"/>
                </a:solidFill>
              </a:rPr>
              <a:t>时，要进行归约，因此应</a:t>
            </a:r>
            <a:r>
              <a:rPr lang="zh-CN" altLang="en-US" sz="2400" b="1" dirty="0">
                <a:solidFill>
                  <a:srgbClr val="FF0000"/>
                </a:solidFill>
              </a:rPr>
              <a:t>对文法进行改造</a:t>
            </a:r>
            <a:r>
              <a:rPr lang="zh-CN" altLang="en-US" sz="2400" b="1" dirty="0">
                <a:solidFill>
                  <a:srgbClr val="0033CC"/>
                </a:solidFill>
              </a:rPr>
              <a:t>，改造前后的文法为：</a:t>
            </a:r>
          </a:p>
        </p:txBody>
      </p:sp>
      <p:graphicFrame>
        <p:nvGraphicFramePr>
          <p:cNvPr id="170033" name="Group 49"/>
          <p:cNvGraphicFramePr>
            <a:graphicFrameLocks noGrp="1"/>
          </p:cNvGraphicFramePr>
          <p:nvPr>
            <p:ph sz="quarter" idx="3"/>
            <p:extLst>
              <p:ext uri="{D42A27DB-BD31-4B8C-83A1-F6EECF244321}">
                <p14:modId xmlns:p14="http://schemas.microsoft.com/office/powerpoint/2010/main" val="384609292"/>
              </p:ext>
            </p:extLst>
          </p:nvPr>
        </p:nvGraphicFramePr>
        <p:xfrm>
          <a:off x="539751" y="2950369"/>
          <a:ext cx="8208963" cy="1493589"/>
        </p:xfrm>
        <a:graphic>
          <a:graphicData uri="http://schemas.openxmlformats.org/drawingml/2006/table">
            <a:tbl>
              <a:tblPr/>
              <a:tblGrid>
                <a:gridCol w="4032250">
                  <a:extLst>
                    <a:ext uri="{9D8B030D-6E8A-4147-A177-3AD203B41FA5}">
                      <a16:colId xmlns:a16="http://schemas.microsoft.com/office/drawing/2014/main" val="20000"/>
                    </a:ext>
                  </a:extLst>
                </a:gridCol>
                <a:gridCol w="4176713">
                  <a:extLst>
                    <a:ext uri="{9D8B030D-6E8A-4147-A177-3AD203B41FA5}">
                      <a16:colId xmlns:a16="http://schemas.microsoft.com/office/drawing/2014/main" val="20001"/>
                    </a:ext>
                  </a:extLst>
                </a:gridCol>
              </a:tblGrid>
              <a:tr h="1493589">
                <a:tc>
                  <a:txBody>
                    <a:bodyPr/>
                    <a:lstStyle/>
                    <a:p>
                      <a:pPr marL="342900" marR="0" lvl="0" indent="-25400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1</a:t>
                      </a:r>
                      <a:r>
                        <a:rPr kumimoji="0" lang="zh-CN" altLang="en-US"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&lt;BE&gt;→&lt;BE&gt;</a:t>
                      </a:r>
                      <a:r>
                        <a:rPr kumimoji="0" lang="en-US" altLang="zh-CN" sz="1800" b="0" i="0" u="none" strike="noStrike" kern="1200" cap="none" normalizeH="0" baseline="30000" dirty="0">
                          <a:ln>
                            <a:noFill/>
                          </a:ln>
                          <a:solidFill>
                            <a:srgbClr val="CC00FF"/>
                          </a:solidFill>
                          <a:effectLst/>
                          <a:latin typeface="Times New Roman" pitchFamily="18" charset="0"/>
                          <a:ea typeface="宋体" pitchFamily="2" charset="-122"/>
                          <a:cs typeface="Times New Roman" pitchFamily="18" charset="0"/>
                        </a:rPr>
                        <a:t>or</a:t>
                      </a:r>
                      <a:r>
                        <a:rPr kumimoji="0" lang="en-US" altLang="zh-CN"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&lt;BT&gt;</a:t>
                      </a:r>
                    </a:p>
                    <a:p>
                      <a:pPr marL="342900" marR="0" lvl="0" indent="-25400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2</a:t>
                      </a:r>
                      <a:r>
                        <a:rPr kumimoji="0" lang="zh-CN" altLang="en-US"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&lt;BE&gt;</a:t>
                      </a:r>
                      <a:r>
                        <a:rPr kumimoji="0" lang="en-US" altLang="zh-CN" sz="1800" b="0" i="0" u="none" strike="noStrike" cap="none" normalizeH="0" baseline="30000" dirty="0">
                          <a:ln>
                            <a:noFill/>
                          </a:ln>
                          <a:solidFill>
                            <a:srgbClr val="CC00FF"/>
                          </a:solidFill>
                          <a:effectLst/>
                          <a:latin typeface="Times New Roman" pitchFamily="18" charset="0"/>
                          <a:ea typeface="宋体" pitchFamily="2" charset="-122"/>
                          <a:cs typeface="Times New Roman" pitchFamily="18" charset="0"/>
                        </a:rPr>
                        <a:t>or</a:t>
                      </a:r>
                      <a:r>
                        <a:rPr kumimoji="0" lang="en-US" altLang="zh-CN"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→&lt;BE&gt; ||</a:t>
                      </a:r>
                    </a:p>
                    <a:p>
                      <a:pPr marL="342900" marR="0" lvl="0" indent="-25400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&lt;BE&gt;→&lt;BT&gt;</a:t>
                      </a:r>
                    </a:p>
                    <a:p>
                      <a:pPr marL="342900" marR="0" lvl="0" indent="-25400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4</a:t>
                      </a:r>
                      <a:r>
                        <a:rPr kumimoji="0" lang="zh-CN" altLang="en-US"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&lt;BT&gt;→&lt;BT&gt;</a:t>
                      </a:r>
                      <a:r>
                        <a:rPr kumimoji="0" lang="en-US" altLang="zh-CN" sz="1800" b="0" i="0" u="none" strike="noStrike" kern="1200" cap="none" normalizeH="0" baseline="30000" dirty="0">
                          <a:ln>
                            <a:noFill/>
                          </a:ln>
                          <a:solidFill>
                            <a:srgbClr val="CC00FF"/>
                          </a:solidFill>
                          <a:effectLst/>
                          <a:latin typeface="Times New Roman" pitchFamily="18" charset="0"/>
                          <a:ea typeface="宋体" pitchFamily="2" charset="-122"/>
                          <a:cs typeface="Times New Roman" pitchFamily="18" charset="0"/>
                        </a:rPr>
                        <a:t>and</a:t>
                      </a:r>
                      <a:r>
                        <a:rPr kumimoji="0" lang="en-US" altLang="zh-CN"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&lt;BF&gt;</a:t>
                      </a:r>
                    </a:p>
                    <a:p>
                      <a:pPr marL="342900" marR="0" lvl="0" indent="-25400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5</a:t>
                      </a:r>
                      <a:r>
                        <a:rPr kumimoji="0" lang="zh-CN" altLang="en-US"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&lt;BT&gt;</a:t>
                      </a:r>
                      <a:r>
                        <a:rPr kumimoji="0" lang="en-US" altLang="zh-CN" sz="1800" b="0" i="0" u="none" strike="noStrike" kern="1200" cap="none" normalizeH="0" baseline="30000" dirty="0">
                          <a:ln>
                            <a:noFill/>
                          </a:ln>
                          <a:solidFill>
                            <a:srgbClr val="CC00FF"/>
                          </a:solidFill>
                          <a:effectLst/>
                          <a:latin typeface="Times New Roman" pitchFamily="18" charset="0"/>
                          <a:ea typeface="宋体" pitchFamily="2" charset="-122"/>
                          <a:cs typeface="Times New Roman" pitchFamily="18" charset="0"/>
                        </a:rPr>
                        <a:t>and</a:t>
                      </a:r>
                      <a:r>
                        <a:rPr kumimoji="0" lang="en-US" altLang="zh-CN" sz="1800" b="0" i="0" u="none" strike="noStrike" cap="none" normalizeH="0" baseline="0" dirty="0">
                          <a:ln>
                            <a:noFill/>
                          </a:ln>
                          <a:solidFill>
                            <a:srgbClr val="CC00FF"/>
                          </a:solidFill>
                          <a:effectLst/>
                          <a:latin typeface="Times New Roman" pitchFamily="18" charset="0"/>
                          <a:ea typeface="宋体" pitchFamily="2" charset="-122"/>
                          <a:cs typeface="Times New Roman" pitchFamily="18" charset="0"/>
                        </a:rPr>
                        <a:t>→&lt;BT&gt; &amp;&amp;</a:t>
                      </a:r>
                    </a:p>
                  </a:txBody>
                  <a:tcPr marT="34290" marB="34290" horzOverflow="overflow">
                    <a:lnL w="28575" cap="flat" cmpd="sng" algn="ctr">
                      <a:solidFill>
                        <a:srgbClr val="00FF00"/>
                      </a:solidFill>
                      <a:prstDash val="solid"/>
                      <a:round/>
                      <a:headEnd type="none" w="sm" len="sm"/>
                      <a:tailEnd type="none" w="sm" len="sm"/>
                    </a:lnL>
                    <a:lnR>
                      <a:noFill/>
                    </a:lnR>
                    <a:lnT w="28575" cap="flat" cmpd="sng" algn="ctr">
                      <a:solidFill>
                        <a:srgbClr val="00FF00"/>
                      </a:solidFill>
                      <a:prstDash val="solid"/>
                      <a:round/>
                      <a:headEnd type="none" w="sm" len="sm"/>
                      <a:tailEnd type="none" w="sm" len="sm"/>
                    </a:lnT>
                    <a:lnB w="28575" cap="flat" cmpd="sng" algn="ctr">
                      <a:solidFill>
                        <a:srgbClr val="00FF00"/>
                      </a:solidFill>
                      <a:prstDash val="solid"/>
                      <a:round/>
                      <a:headEnd type="none" w="sm" len="sm"/>
                      <a:tailEnd type="none" w="sm" len="sm"/>
                    </a:lnB>
                    <a:lnTlToBr>
                      <a:noFill/>
                    </a:lnTlToBr>
                    <a:lnBlToTr>
                      <a:noFill/>
                    </a:lnBlToTr>
                    <a:solidFill>
                      <a:schemeClr val="bg1"/>
                    </a:solidFill>
                  </a:tcPr>
                </a:tc>
                <a:tc>
                  <a:txBody>
                    <a:bodyPr/>
                    <a:lstStyle/>
                    <a:p>
                      <a:pPr marL="342900" marR="0" lvl="0" indent="-206375" algn="l" defTabSz="914400" rtl="0" eaLnBrk="1" fontAlgn="base" latinLnBrk="0" hangingPunct="1">
                        <a:lnSpc>
                          <a:spcPct val="100000"/>
                        </a:lnSpc>
                        <a:spcBef>
                          <a:spcPct val="0"/>
                        </a:spcBef>
                        <a:spcAft>
                          <a:spcPct val="0"/>
                        </a:spcAft>
                        <a:buClrTx/>
                        <a:buSzTx/>
                        <a:buFontTx/>
                        <a:buNone/>
                        <a:tabLst/>
                        <a:defRPr/>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&lt;BT&gt;→&lt;BF&gt;</a:t>
                      </a:r>
                    </a:p>
                    <a:p>
                      <a:pPr marL="342900" marR="0" lvl="0" indent="-206375"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&lt;BF&gt;→(&lt;BE&gt;)</a:t>
                      </a:r>
                    </a:p>
                    <a:p>
                      <a:pPr marL="342900" marR="0" lvl="0" indent="-206375"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8</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&lt;BF&gt;→!&lt;BF&gt;</a:t>
                      </a:r>
                    </a:p>
                    <a:p>
                      <a:pPr marL="342900" marR="0" lvl="0" indent="-206375"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9</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&lt;BF&gt;→&lt;AE&gt;</a:t>
                      </a:r>
                      <a:r>
                        <a:rPr kumimoji="0" lang="en-US" altLang="zh-CN" sz="1800" b="0" i="0" u="none" strike="noStrike" cap="none" normalizeH="0" baseline="0" dirty="0" err="1">
                          <a:ln>
                            <a:noFill/>
                          </a:ln>
                          <a:solidFill>
                            <a:schemeClr val="tx1"/>
                          </a:solidFill>
                          <a:effectLst/>
                          <a:latin typeface="Times New Roman" pitchFamily="18" charset="0"/>
                          <a:ea typeface="宋体" pitchFamily="2" charset="-122"/>
                          <a:cs typeface="Times New Roman" pitchFamily="18" charset="0"/>
                        </a:rPr>
                        <a:t>rop</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&lt;AE&gt;</a:t>
                      </a:r>
                    </a:p>
                    <a:p>
                      <a:pPr marL="342900" marR="0" lvl="0" indent="-206375"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&lt;BF&gt;→id</a:t>
                      </a:r>
                    </a:p>
                  </a:txBody>
                  <a:tcPr marT="34290" marB="34290" horzOverflow="overflow">
                    <a:lnL>
                      <a:noFill/>
                    </a:lnL>
                    <a:lnR w="28575" cap="flat" cmpd="sng" algn="ctr">
                      <a:solidFill>
                        <a:srgbClr val="00FF00"/>
                      </a:solidFill>
                      <a:prstDash val="solid"/>
                      <a:round/>
                      <a:headEnd type="none" w="sm" len="sm"/>
                      <a:tailEnd type="none" w="sm" len="sm"/>
                    </a:lnR>
                    <a:lnT w="28575" cap="flat" cmpd="sng" algn="ctr">
                      <a:solidFill>
                        <a:srgbClr val="00FF00"/>
                      </a:solidFill>
                      <a:prstDash val="solid"/>
                      <a:round/>
                      <a:headEnd type="none" w="sm" len="sm"/>
                      <a:tailEnd type="none" w="sm" len="sm"/>
                    </a:lnT>
                    <a:lnB w="28575" cap="flat" cmpd="sng" algn="ctr">
                      <a:solidFill>
                        <a:srgbClr val="00FF00"/>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97290" name="Text Box 12"/>
          <p:cNvSpPr txBox="1">
            <a:spLocks noChangeArrowheads="1"/>
          </p:cNvSpPr>
          <p:nvPr/>
        </p:nvSpPr>
        <p:spPr bwMode="auto">
          <a:xfrm>
            <a:off x="4819650" y="4300538"/>
            <a:ext cx="31146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50000"/>
              </a:spcBef>
              <a:buFontTx/>
              <a:buNone/>
            </a:pPr>
            <a:r>
              <a:rPr lang="zh-CN" altLang="en-US" sz="2400" b="1" dirty="0">
                <a:solidFill>
                  <a:srgbClr val="FF3300"/>
                </a:solidFill>
              </a:rPr>
              <a:t>改造后的文法</a:t>
            </a:r>
            <a:endParaRPr lang="zh-CN" altLang="en-US" sz="2400" dirty="0"/>
          </a:p>
        </p:txBody>
      </p:sp>
      <p:graphicFrame>
        <p:nvGraphicFramePr>
          <p:cNvPr id="170059" name="Group 75"/>
          <p:cNvGraphicFramePr>
            <a:graphicFrameLocks noGrp="1"/>
          </p:cNvGraphicFramePr>
          <p:nvPr>
            <p:ph sz="quarter" idx="2"/>
            <p:extLst>
              <p:ext uri="{D42A27DB-BD31-4B8C-83A1-F6EECF244321}">
                <p14:modId xmlns:p14="http://schemas.microsoft.com/office/powerpoint/2010/main" val="3333335339"/>
              </p:ext>
            </p:extLst>
          </p:nvPr>
        </p:nvGraphicFramePr>
        <p:xfrm>
          <a:off x="539552" y="1168003"/>
          <a:ext cx="8208912" cy="1188245"/>
        </p:xfrm>
        <a:graphic>
          <a:graphicData uri="http://schemas.openxmlformats.org/drawingml/2006/table">
            <a:tbl>
              <a:tblPr/>
              <a:tblGrid>
                <a:gridCol w="4106776">
                  <a:extLst>
                    <a:ext uri="{9D8B030D-6E8A-4147-A177-3AD203B41FA5}">
                      <a16:colId xmlns:a16="http://schemas.microsoft.com/office/drawing/2014/main" val="20000"/>
                    </a:ext>
                  </a:extLst>
                </a:gridCol>
                <a:gridCol w="4102136">
                  <a:extLst>
                    <a:ext uri="{9D8B030D-6E8A-4147-A177-3AD203B41FA5}">
                      <a16:colId xmlns:a16="http://schemas.microsoft.com/office/drawing/2014/main" val="20001"/>
                    </a:ext>
                  </a:extLst>
                </a:gridCol>
              </a:tblGrid>
              <a:tr h="11882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1</a:t>
                      </a: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&lt;BE&gt;→&lt;BE&gt; || &lt;BT&gt;</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2</a:t>
                      </a: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&lt;BE&gt;→&lt;BT&gt;</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3</a:t>
                      </a: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&lt;BT&gt;→&lt;BT&gt; &amp;&amp; &lt;BF&gt;</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4</a:t>
                      </a: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&lt;BT&gt;→&lt;BF&gt;</a:t>
                      </a:r>
                    </a:p>
                  </a:txBody>
                  <a:tcPr marT="34290" marB="34290" horzOverflow="overflow">
                    <a:lnL w="28575" cap="flat" cmpd="sng" algn="ctr">
                      <a:solidFill>
                        <a:srgbClr val="00FF00"/>
                      </a:solidFill>
                      <a:prstDash val="solid"/>
                      <a:round/>
                      <a:headEnd type="none" w="sm" len="sm"/>
                      <a:tailEnd type="none" w="sm" len="sm"/>
                    </a:lnL>
                    <a:lnR>
                      <a:noFill/>
                    </a:lnR>
                    <a:lnT w="28575" cap="flat" cmpd="sng" algn="ctr">
                      <a:solidFill>
                        <a:srgbClr val="00FF00"/>
                      </a:solidFill>
                      <a:prstDash val="solid"/>
                      <a:round/>
                      <a:headEnd type="none" w="sm" len="sm"/>
                      <a:tailEnd type="none" w="sm" len="sm"/>
                    </a:lnT>
                    <a:lnB w="28575" cap="flat" cmpd="sng" algn="ctr">
                      <a:solidFill>
                        <a:srgbClr val="00FF00"/>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5</a:t>
                      </a: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&lt;BF&gt;→! &lt;BF&gt;</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6</a:t>
                      </a: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&lt;BF&gt;→(&lt;BE&gt;)</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7</a:t>
                      </a: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&lt;BF&gt;→&lt;AE&gt; </a:t>
                      </a:r>
                      <a:r>
                        <a:rPr kumimoji="0" lang="en-US" altLang="zh-CN" sz="1800" b="0" i="0" u="none" strike="noStrike" cap="none" normalizeH="0" baseline="0" dirty="0" err="1">
                          <a:ln>
                            <a:noFill/>
                          </a:ln>
                          <a:solidFill>
                            <a:schemeClr val="tx1"/>
                          </a:solidFill>
                          <a:effectLst/>
                          <a:latin typeface="Arial" charset="0"/>
                          <a:ea typeface="宋体" pitchFamily="2" charset="-122"/>
                        </a:rPr>
                        <a:t>rop</a:t>
                      </a:r>
                      <a:r>
                        <a:rPr kumimoji="0" lang="en-US" altLang="zh-CN" sz="1800" b="0" i="0" u="none" strike="noStrike" cap="none" normalizeH="0" baseline="0" dirty="0">
                          <a:ln>
                            <a:noFill/>
                          </a:ln>
                          <a:solidFill>
                            <a:schemeClr val="tx1"/>
                          </a:solidFill>
                          <a:effectLst/>
                          <a:latin typeface="Arial" charset="0"/>
                          <a:ea typeface="宋体" pitchFamily="2" charset="-122"/>
                        </a:rPr>
                        <a:t> &lt;AE&gt;</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8</a:t>
                      </a:r>
                      <a:r>
                        <a:rPr kumimoji="0" lang="zh-CN" altLang="en-US" sz="1800" b="0" i="0" u="none" strike="noStrike" cap="none" normalizeH="0" baseline="0" dirty="0">
                          <a:ln>
                            <a:noFill/>
                          </a:ln>
                          <a:solidFill>
                            <a:schemeClr val="tx1"/>
                          </a:solidFill>
                          <a:effectLst/>
                          <a:latin typeface="Arial" charset="0"/>
                          <a:ea typeface="宋体" pitchFamily="2" charset="-122"/>
                        </a:rPr>
                        <a:t>）</a:t>
                      </a:r>
                      <a:r>
                        <a:rPr kumimoji="0" lang="en-US" altLang="zh-CN" sz="1800" b="0" i="0" u="none" strike="noStrike" cap="none" normalizeH="0" baseline="0" dirty="0">
                          <a:ln>
                            <a:noFill/>
                          </a:ln>
                          <a:solidFill>
                            <a:schemeClr val="tx1"/>
                          </a:solidFill>
                          <a:effectLst/>
                          <a:latin typeface="Arial" charset="0"/>
                          <a:ea typeface="宋体" pitchFamily="2" charset="-122"/>
                        </a:rPr>
                        <a:t>&lt;BF&gt;</a:t>
                      </a:r>
                      <a:r>
                        <a:rPr kumimoji="0" lang="en-US" altLang="zh-CN" sz="1800" b="0" i="0" u="none" strike="noStrike" cap="none" normalizeH="0" baseline="0">
                          <a:ln>
                            <a:noFill/>
                          </a:ln>
                          <a:solidFill>
                            <a:schemeClr val="tx1"/>
                          </a:solidFill>
                          <a:effectLst/>
                          <a:latin typeface="Arial" charset="0"/>
                          <a:ea typeface="宋体" pitchFamily="2" charset="-122"/>
                        </a:rPr>
                        <a:t>→id </a:t>
                      </a: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T="34290" marB="34290" horzOverflow="overflow">
                    <a:lnL>
                      <a:noFill/>
                    </a:lnL>
                    <a:lnR w="28575" cap="flat" cmpd="sng" algn="ctr">
                      <a:solidFill>
                        <a:srgbClr val="00FF00"/>
                      </a:solidFill>
                      <a:prstDash val="solid"/>
                      <a:round/>
                      <a:headEnd type="none" w="sm" len="sm"/>
                      <a:tailEnd type="none" w="sm" len="sm"/>
                    </a:lnR>
                    <a:lnT w="28575" cap="flat" cmpd="sng" algn="ctr">
                      <a:solidFill>
                        <a:srgbClr val="00FF00"/>
                      </a:solidFill>
                      <a:prstDash val="solid"/>
                      <a:round/>
                      <a:headEnd type="none" w="sm" len="sm"/>
                      <a:tailEnd type="none" w="sm" len="sm"/>
                    </a:lnT>
                    <a:lnB w="28575" cap="flat" cmpd="sng" algn="ctr">
                      <a:solidFill>
                        <a:srgbClr val="00FF00"/>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97298" name="Text Box 10"/>
          <p:cNvSpPr txBox="1">
            <a:spLocks noChangeArrowheads="1"/>
          </p:cNvSpPr>
          <p:nvPr/>
        </p:nvSpPr>
        <p:spPr bwMode="auto">
          <a:xfrm>
            <a:off x="5292726" y="2301479"/>
            <a:ext cx="21685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50000"/>
              </a:spcBef>
              <a:buFontTx/>
              <a:buNone/>
            </a:pPr>
            <a:r>
              <a:rPr lang="zh-CN" altLang="en-US" sz="2400" b="1">
                <a:solidFill>
                  <a:srgbClr val="FF3300"/>
                </a:solidFill>
              </a:rPr>
              <a:t>改造前的文法</a:t>
            </a:r>
          </a:p>
        </p:txBody>
      </p:sp>
    </p:spTree>
    <p:extLst>
      <p:ext uri="{BB962C8B-B14F-4D97-AF65-F5344CB8AC3E}">
        <p14:creationId xmlns:p14="http://schemas.microsoft.com/office/powerpoint/2010/main" val="938701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00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72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90"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a:graphicFrameLocks noGrp="1"/>
          </p:cNvGraphicFramePr>
          <p:nvPr>
            <p:extLst>
              <p:ext uri="{D42A27DB-BD31-4B8C-83A1-F6EECF244321}">
                <p14:modId xmlns:p14="http://schemas.microsoft.com/office/powerpoint/2010/main" val="1560126421"/>
              </p:ext>
            </p:extLst>
          </p:nvPr>
        </p:nvGraphicFramePr>
        <p:xfrm>
          <a:off x="250826" y="483518"/>
          <a:ext cx="8893175" cy="2503120"/>
        </p:xfrm>
        <a:graphic>
          <a:graphicData uri="http://schemas.openxmlformats.org/drawingml/2006/table">
            <a:tbl>
              <a:tblPr/>
              <a:tblGrid>
                <a:gridCol w="864790">
                  <a:extLst>
                    <a:ext uri="{9D8B030D-6E8A-4147-A177-3AD203B41FA5}">
                      <a16:colId xmlns:a16="http://schemas.microsoft.com/office/drawing/2014/main" val="20000"/>
                    </a:ext>
                  </a:extLst>
                </a:gridCol>
                <a:gridCol w="2808312">
                  <a:extLst>
                    <a:ext uri="{9D8B030D-6E8A-4147-A177-3AD203B41FA5}">
                      <a16:colId xmlns:a16="http://schemas.microsoft.com/office/drawing/2014/main" val="20001"/>
                    </a:ext>
                  </a:extLst>
                </a:gridCol>
                <a:gridCol w="5220073">
                  <a:extLst>
                    <a:ext uri="{9D8B030D-6E8A-4147-A177-3AD203B41FA5}">
                      <a16:colId xmlns:a16="http://schemas.microsoft.com/office/drawing/2014/main" val="20002"/>
                    </a:ext>
                  </a:extLst>
                </a:gridCol>
              </a:tblGrid>
              <a:tr h="274320">
                <a:tc>
                  <a:txBody>
                    <a:bodyPr/>
                    <a:lstStyle/>
                    <a:p>
                      <a:pPr indent="-20320" algn="ctr">
                        <a:spcAft>
                          <a:spcPts val="0"/>
                        </a:spcAft>
                      </a:pPr>
                      <a:r>
                        <a:rPr lang="zh-CN" sz="1800" kern="100" dirty="0">
                          <a:latin typeface="Times New Roman"/>
                          <a:ea typeface="宋体"/>
                          <a:cs typeface="Times New Roman"/>
                        </a:rPr>
                        <a:t>编号</a:t>
                      </a:r>
                    </a:p>
                  </a:txBody>
                  <a:tcPr marL="68585" marR="68585"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zh-CN" sz="1800" kern="100">
                          <a:latin typeface="Times New Roman"/>
                          <a:ea typeface="宋体"/>
                          <a:cs typeface="Times New Roman"/>
                        </a:rPr>
                        <a:t>产生式</a:t>
                      </a: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zh-CN" sz="1800" kern="100">
                          <a:latin typeface="Times New Roman"/>
                          <a:ea typeface="宋体"/>
                          <a:cs typeface="Times New Roman"/>
                        </a:rPr>
                        <a:t>语义规则</a:t>
                      </a:r>
                    </a:p>
                  </a:txBody>
                  <a:tcPr marL="68585" marR="68585"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1097280">
                <a:tc>
                  <a:txBody>
                    <a:bodyPr/>
                    <a:lstStyle/>
                    <a:p>
                      <a:pPr indent="-20320" algn="just">
                        <a:spcAft>
                          <a:spcPts val="0"/>
                        </a:spcAft>
                      </a:pPr>
                      <a:r>
                        <a:rPr lang="zh-CN" sz="1800" kern="100" dirty="0">
                          <a:latin typeface="Times New Roman"/>
                          <a:ea typeface="宋体"/>
                          <a:cs typeface="Times New Roman"/>
                        </a:rPr>
                        <a:t>（</a:t>
                      </a:r>
                      <a:r>
                        <a:rPr lang="en-US" sz="1800" kern="100" dirty="0">
                          <a:latin typeface="Times New Roman"/>
                          <a:ea typeface="宋体"/>
                          <a:cs typeface="Times New Roman"/>
                        </a:rPr>
                        <a:t>10</a:t>
                      </a:r>
                      <a:r>
                        <a:rPr lang="zh-CN" sz="1800" kern="100" dirty="0">
                          <a:latin typeface="Times New Roman"/>
                          <a:ea typeface="宋体"/>
                          <a:cs typeface="Times New Roman"/>
                        </a:rPr>
                        <a:t>）</a:t>
                      </a: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Aft>
                          <a:spcPts val="0"/>
                        </a:spcAft>
                      </a:pPr>
                      <a:r>
                        <a:rPr lang="en-US" sz="1800" kern="100" dirty="0">
                          <a:latin typeface="Times New Roman"/>
                          <a:ea typeface="宋体"/>
                          <a:cs typeface="Times New Roman"/>
                        </a:rPr>
                        <a:t>&lt;BF&gt;→id</a:t>
                      </a:r>
                      <a:endParaRPr lang="zh-CN" sz="1800" kern="100" dirty="0">
                        <a:latin typeface="Times New Roman"/>
                        <a:ea typeface="宋体"/>
                        <a:cs typeface="Times New Roman"/>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Aft>
                          <a:spcPts val="0"/>
                        </a:spcAft>
                      </a:pPr>
                      <a:endParaRPr lang="zh-CN" sz="1800" kern="100" dirty="0">
                        <a:latin typeface="Times New Roman"/>
                        <a:ea typeface="宋体"/>
                        <a:cs typeface="Times New Roman"/>
                      </a:endParaRPr>
                    </a:p>
                  </a:txBody>
                  <a:tcPr marL="68585" marR="68585"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1131520">
                <a:tc>
                  <a:txBody>
                    <a:bodyPr/>
                    <a:lstStyle/>
                    <a:p>
                      <a:pPr algn="just">
                        <a:spcAft>
                          <a:spcPts val="0"/>
                        </a:spcAft>
                      </a:pPr>
                      <a:r>
                        <a:rPr lang="zh-CN" sz="1800" kern="100" dirty="0">
                          <a:latin typeface="Times New Roman"/>
                          <a:ea typeface="宋体"/>
                          <a:cs typeface="Times New Roman"/>
                        </a:rPr>
                        <a:t>（</a:t>
                      </a:r>
                      <a:r>
                        <a:rPr lang="en-US" sz="1800" kern="100" dirty="0">
                          <a:latin typeface="Times New Roman"/>
                          <a:ea typeface="宋体"/>
                          <a:cs typeface="Times New Roman"/>
                        </a:rPr>
                        <a:t>9</a:t>
                      </a:r>
                      <a:r>
                        <a:rPr lang="zh-CN" sz="1800" kern="100" dirty="0">
                          <a:latin typeface="Times New Roman"/>
                          <a:ea typeface="宋体"/>
                          <a:cs typeface="Times New Roman"/>
                        </a:rPr>
                        <a:t>）</a:t>
                      </a: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Aft>
                          <a:spcPts val="0"/>
                        </a:spcAft>
                      </a:pPr>
                      <a:r>
                        <a:rPr lang="en-US" sz="1800" kern="100" dirty="0">
                          <a:latin typeface="Times New Roman"/>
                          <a:ea typeface="宋体"/>
                          <a:cs typeface="Times New Roman"/>
                        </a:rPr>
                        <a:t>&lt;BF&gt;→&lt;AE&gt;</a:t>
                      </a:r>
                      <a:r>
                        <a:rPr lang="en-US" sz="1800" kern="100" baseline="30000" dirty="0">
                          <a:latin typeface="Times New Roman"/>
                          <a:ea typeface="宋体"/>
                          <a:cs typeface="Times New Roman"/>
                        </a:rPr>
                        <a:t>(1) </a:t>
                      </a:r>
                      <a:r>
                        <a:rPr lang="en-US" sz="1800" kern="100" dirty="0" err="1">
                          <a:latin typeface="Times New Roman"/>
                          <a:ea typeface="宋体"/>
                          <a:cs typeface="Times New Roman"/>
                        </a:rPr>
                        <a:t>rop</a:t>
                      </a:r>
                      <a:r>
                        <a:rPr lang="en-US" sz="1800" kern="100" dirty="0">
                          <a:latin typeface="Times New Roman"/>
                          <a:ea typeface="宋体"/>
                          <a:cs typeface="Times New Roman"/>
                        </a:rPr>
                        <a:t> &lt;AE&gt;</a:t>
                      </a:r>
                      <a:r>
                        <a:rPr lang="en-US" sz="1800" kern="100" baseline="30000" dirty="0">
                          <a:latin typeface="Times New Roman"/>
                          <a:ea typeface="宋体"/>
                          <a:cs typeface="Times New Roman"/>
                        </a:rPr>
                        <a:t>(2)</a:t>
                      </a:r>
                      <a:endParaRPr lang="zh-CN" sz="1800" kern="100" dirty="0">
                        <a:latin typeface="Times New Roman"/>
                        <a:ea typeface="宋体"/>
                        <a:cs typeface="Times New Roman"/>
                      </a:endParaRPr>
                    </a:p>
                    <a:p>
                      <a:pPr algn="just">
                        <a:spcAft>
                          <a:spcPts val="0"/>
                        </a:spcAft>
                      </a:pPr>
                      <a:r>
                        <a:rPr lang="en-US" sz="1800" kern="100" dirty="0">
                          <a:latin typeface="Times New Roman"/>
                          <a:ea typeface="宋体"/>
                          <a:cs typeface="Times New Roman"/>
                        </a:rPr>
                        <a:t>/*&lt;AE&gt;</a:t>
                      </a:r>
                      <a:r>
                        <a:rPr lang="zh-CN" sz="1800" kern="100" dirty="0">
                          <a:latin typeface="Times New Roman"/>
                          <a:ea typeface="宋体"/>
                          <a:cs typeface="Times New Roman"/>
                        </a:rPr>
                        <a:t>是算术表达式</a:t>
                      </a:r>
                      <a:r>
                        <a:rPr lang="en-US" sz="1800" kern="100" dirty="0">
                          <a:latin typeface="Times New Roman"/>
                          <a:ea typeface="宋体"/>
                          <a:cs typeface="Times New Roman"/>
                        </a:rPr>
                        <a:t>*/</a:t>
                      </a:r>
                      <a:endParaRPr lang="zh-CN" sz="1800" kern="100" dirty="0">
                        <a:latin typeface="Times New Roman"/>
                        <a:ea typeface="宋体"/>
                        <a:cs typeface="Times New Roman"/>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Aft>
                          <a:spcPts val="0"/>
                        </a:spcAft>
                      </a:pPr>
                      <a:endParaRPr lang="zh-CN" sz="1800" kern="100" dirty="0">
                        <a:latin typeface="Times New Roman"/>
                        <a:ea typeface="宋体"/>
                        <a:cs typeface="Times New Roman"/>
                      </a:endParaRPr>
                    </a:p>
                  </a:txBody>
                  <a:tcPr marL="68585" marR="68585"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98328" name="Rectangle 5"/>
          <p:cNvSpPr>
            <a:spLocks noGrp="1" noChangeArrowheads="1"/>
          </p:cNvSpPr>
          <p:nvPr>
            <p:ph type="title"/>
          </p:nvPr>
        </p:nvSpPr>
        <p:spPr>
          <a:xfrm>
            <a:off x="-36512" y="-99888"/>
            <a:ext cx="8229600" cy="583406"/>
          </a:xfrm>
        </p:spPr>
        <p:txBody>
          <a:bodyPr/>
          <a:lstStyle/>
          <a:p>
            <a:pPr marL="365125" indent="-365125" algn="l" eaLnBrk="1" hangingPunct="1"/>
            <a:r>
              <a:rPr lang="en-US" altLang="zh-CN" sz="2800" b="1" dirty="0">
                <a:solidFill>
                  <a:srgbClr val="0033CC"/>
                </a:solidFill>
              </a:rPr>
              <a:t> 6. </a:t>
            </a:r>
            <a:r>
              <a:rPr lang="zh-CN" altLang="en-US" sz="2800" b="1" dirty="0">
                <a:solidFill>
                  <a:srgbClr val="0033CC"/>
                </a:solidFill>
              </a:rPr>
              <a:t>总结前面的分析，各产生式的语义动作为：</a:t>
            </a:r>
          </a:p>
        </p:txBody>
      </p:sp>
      <p:sp>
        <p:nvSpPr>
          <p:cNvPr id="87051" name="AutoShape 11"/>
          <p:cNvSpPr>
            <a:spLocks noChangeArrowheads="1"/>
          </p:cNvSpPr>
          <p:nvPr/>
        </p:nvSpPr>
        <p:spPr bwMode="auto">
          <a:xfrm>
            <a:off x="2339752" y="1437085"/>
            <a:ext cx="1739974" cy="400050"/>
          </a:xfrm>
          <a:prstGeom prst="wedgeRoundRectCallout">
            <a:avLst>
              <a:gd name="adj1" fmla="val -72610"/>
              <a:gd name="adj2" fmla="val -31121"/>
              <a:gd name="adj3" fmla="val 16667"/>
            </a:avLst>
          </a:prstGeom>
          <a:solidFill>
            <a:srgbClr val="00CC99"/>
          </a:solidFill>
          <a:ln w="9525">
            <a:solidFill>
              <a:schemeClr val="accent1"/>
            </a:solidFill>
            <a:miter lim="800000"/>
            <a:headEnd/>
            <a:tailEnd/>
          </a:ln>
        </p:spPr>
        <p:txBody>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0"/>
              </a:spcBef>
              <a:buFontTx/>
              <a:buNone/>
            </a:pPr>
            <a:r>
              <a:rPr kumimoji="1" lang="zh-CN" altLang="en-US" sz="1800" b="1" dirty="0">
                <a:solidFill>
                  <a:srgbClr val="CC0000"/>
                </a:solidFill>
                <a:latin typeface="宋体" panose="02010600030101010101" pitchFamily="2" charset="-122"/>
              </a:rPr>
              <a:t>单个的布尔量</a:t>
            </a:r>
          </a:p>
        </p:txBody>
      </p:sp>
      <p:sp>
        <p:nvSpPr>
          <p:cNvPr id="87053" name="AutoShape 13"/>
          <p:cNvSpPr>
            <a:spLocks noChangeArrowheads="1"/>
          </p:cNvSpPr>
          <p:nvPr/>
        </p:nvSpPr>
        <p:spPr bwMode="auto">
          <a:xfrm>
            <a:off x="95249" y="2624356"/>
            <a:ext cx="1236391" cy="400050"/>
          </a:xfrm>
          <a:prstGeom prst="wedgeRoundRectCallout">
            <a:avLst>
              <a:gd name="adj1" fmla="val 122139"/>
              <a:gd name="adj2" fmla="val -154444"/>
              <a:gd name="adj3" fmla="val 16667"/>
            </a:avLst>
          </a:prstGeom>
          <a:solidFill>
            <a:srgbClr val="00CC99"/>
          </a:solidFill>
          <a:ln w="9525">
            <a:solidFill>
              <a:schemeClr val="accent1"/>
            </a:solidFill>
            <a:miter lim="800000"/>
            <a:headEnd/>
            <a:tailEnd/>
          </a:ln>
        </p:spPr>
        <p:txBody>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0"/>
              </a:spcBef>
              <a:buFontTx/>
              <a:buNone/>
            </a:pPr>
            <a:r>
              <a:rPr kumimoji="1" lang="zh-CN" altLang="en-US" sz="1800" b="1">
                <a:solidFill>
                  <a:srgbClr val="CC0000"/>
                </a:solidFill>
                <a:latin typeface="宋体" panose="02010600030101010101" pitchFamily="2" charset="-122"/>
              </a:rPr>
              <a:t>关系运算</a:t>
            </a:r>
          </a:p>
        </p:txBody>
      </p:sp>
      <p:sp>
        <p:nvSpPr>
          <p:cNvPr id="87055" name="AutoShape 15"/>
          <p:cNvSpPr>
            <a:spLocks noChangeArrowheads="1"/>
          </p:cNvSpPr>
          <p:nvPr/>
        </p:nvSpPr>
        <p:spPr bwMode="auto">
          <a:xfrm>
            <a:off x="0" y="3921919"/>
            <a:ext cx="2627784" cy="400050"/>
          </a:xfrm>
          <a:prstGeom prst="wedgeRoundRectCallout">
            <a:avLst>
              <a:gd name="adj1" fmla="val 57704"/>
              <a:gd name="adj2" fmla="val -217626"/>
              <a:gd name="adj3" fmla="val 16667"/>
            </a:avLst>
          </a:prstGeom>
          <a:solidFill>
            <a:srgbClr val="00CC99"/>
          </a:solidFill>
          <a:ln w="9525">
            <a:solidFill>
              <a:schemeClr val="accent1"/>
            </a:solidFill>
            <a:miter lim="800000"/>
            <a:headEnd/>
            <a:tailEnd/>
          </a:ln>
        </p:spPr>
        <p:txBody>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0"/>
              </a:spcBef>
              <a:buFontTx/>
              <a:buNone/>
            </a:pPr>
            <a:r>
              <a:rPr kumimoji="1" lang="zh-CN" altLang="en-US" sz="1800" b="1" dirty="0">
                <a:solidFill>
                  <a:srgbClr val="CC0000"/>
                </a:solidFill>
                <a:latin typeface="宋体" panose="02010600030101010101" pitchFamily="2" charset="-122"/>
              </a:rPr>
              <a:t>带算术运算的关系运算</a:t>
            </a:r>
          </a:p>
        </p:txBody>
      </p:sp>
      <p:sp>
        <p:nvSpPr>
          <p:cNvPr id="10" name="Rectangle 3"/>
          <p:cNvSpPr txBox="1">
            <a:spLocks noChangeArrowheads="1"/>
          </p:cNvSpPr>
          <p:nvPr/>
        </p:nvSpPr>
        <p:spPr>
          <a:xfrm>
            <a:off x="2503410" y="4140063"/>
            <a:ext cx="6604640" cy="1036424"/>
          </a:xfrm>
          <a:prstGeom prst="rect">
            <a:avLst/>
          </a:prstGeom>
          <a:solidFill>
            <a:schemeClr val="accent6">
              <a:lumMod val="20000"/>
              <a:lumOff val="80000"/>
            </a:schemeClr>
          </a:solidFill>
        </p:spPr>
        <p:style>
          <a:lnRef idx="1">
            <a:schemeClr val="accent2"/>
          </a:lnRef>
          <a:fillRef idx="2">
            <a:schemeClr val="accent2"/>
          </a:fillRef>
          <a:effectRef idx="1">
            <a:schemeClr val="accent2"/>
          </a:effectRef>
          <a:fontRef idx="minor">
            <a:schemeClr val="dk1"/>
          </a:fontRef>
        </p:style>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spcBef>
                <a:spcPts val="0"/>
              </a:spcBef>
            </a:pPr>
            <a:r>
              <a:rPr lang="zh-CN" altLang="en-US" sz="2200" b="1" dirty="0">
                <a:solidFill>
                  <a:schemeClr val="accent2"/>
                </a:solidFill>
              </a:rPr>
              <a:t>布尔量</a:t>
            </a:r>
            <a:r>
              <a:rPr lang="en-US" altLang="zh-CN" sz="2200" b="1" dirty="0"/>
              <a:t>A</a:t>
            </a:r>
            <a:r>
              <a:rPr lang="zh-CN" altLang="en-US" sz="2200" b="1" dirty="0">
                <a:solidFill>
                  <a:schemeClr val="accent2"/>
                </a:solidFill>
              </a:rPr>
              <a:t>翻译为两条四元式：</a:t>
            </a:r>
          </a:p>
          <a:p>
            <a:pPr lvl="1">
              <a:spcBef>
                <a:spcPts val="0"/>
              </a:spcBef>
            </a:pPr>
            <a:r>
              <a:rPr lang="en-US" altLang="zh-CN" sz="2000" b="1" dirty="0"/>
              <a:t>(</a:t>
            </a:r>
            <a:r>
              <a:rPr lang="en-US" altLang="zh-CN" sz="2000" b="1" dirty="0" err="1"/>
              <a:t>jnz</a:t>
            </a:r>
            <a:r>
              <a:rPr lang="en-US" altLang="zh-CN" sz="2000" b="1" dirty="0"/>
              <a:t>, </a:t>
            </a:r>
            <a:r>
              <a:rPr lang="en-US" altLang="zh-CN" sz="2000" b="1" dirty="0" err="1"/>
              <a:t>A,_,p</a:t>
            </a:r>
            <a:r>
              <a:rPr lang="en-US" altLang="zh-CN" sz="2000" b="1" dirty="0"/>
              <a:t>): </a:t>
            </a:r>
            <a:r>
              <a:rPr lang="zh-CN" altLang="en-US" sz="2000" b="1" dirty="0"/>
              <a:t>真出口，当</a:t>
            </a:r>
            <a:r>
              <a:rPr lang="en-US" altLang="zh-CN" sz="2000" b="1" dirty="0"/>
              <a:t>A</a:t>
            </a:r>
            <a:r>
              <a:rPr lang="zh-CN" altLang="en-US" sz="2000" b="1" dirty="0"/>
              <a:t>为真时跳转到四元式</a:t>
            </a:r>
            <a:r>
              <a:rPr lang="en-US" altLang="zh-CN" sz="2000" b="1" dirty="0"/>
              <a:t>p</a:t>
            </a:r>
          </a:p>
          <a:p>
            <a:pPr lvl="1">
              <a:spcBef>
                <a:spcPts val="0"/>
              </a:spcBef>
            </a:pPr>
            <a:r>
              <a:rPr lang="en-US" altLang="zh-CN" sz="2000" b="1" dirty="0"/>
              <a:t>(j, _,_,q) : </a:t>
            </a:r>
            <a:r>
              <a:rPr lang="zh-CN" altLang="en-US" sz="2000" b="1" dirty="0"/>
              <a:t>假出口，无条件跳转到四元式</a:t>
            </a:r>
            <a:r>
              <a:rPr lang="en-US" altLang="zh-CN" sz="2000" b="1" dirty="0"/>
              <a:t>q</a:t>
            </a:r>
          </a:p>
        </p:txBody>
      </p:sp>
      <p:sp>
        <p:nvSpPr>
          <p:cNvPr id="2" name="矩形 1"/>
          <p:cNvSpPr/>
          <p:nvPr/>
        </p:nvSpPr>
        <p:spPr>
          <a:xfrm>
            <a:off x="4079617" y="778749"/>
            <a:ext cx="4572000" cy="1144929"/>
          </a:xfrm>
          <a:prstGeom prst="rect">
            <a:avLst/>
          </a:prstGeom>
        </p:spPr>
        <p:txBody>
          <a:bodyPr>
            <a:spAutoFit/>
          </a:bodyPr>
          <a:lstStyle/>
          <a:p>
            <a:pPr algn="just">
              <a:lnSpc>
                <a:spcPct val="95000"/>
              </a:lnSpc>
              <a:spcAft>
                <a:spcPts val="0"/>
              </a:spcAft>
            </a:pPr>
            <a:r>
              <a:rPr lang="en-US" altLang="zh-CN" kern="100" dirty="0">
                <a:latin typeface="Times New Roman"/>
                <a:ea typeface="宋体"/>
                <a:cs typeface="Times New Roman"/>
              </a:rPr>
              <a:t>{  &lt;BF&gt;.TC=NXQ;</a:t>
            </a:r>
            <a:endParaRPr lang="zh-CN" altLang="zh-CN" kern="100" dirty="0">
              <a:latin typeface="Times New Roman"/>
              <a:ea typeface="宋体"/>
              <a:cs typeface="Times New Roman"/>
            </a:endParaRPr>
          </a:p>
          <a:p>
            <a:pPr indent="171450" algn="just">
              <a:lnSpc>
                <a:spcPct val="95000"/>
              </a:lnSpc>
              <a:spcAft>
                <a:spcPts val="0"/>
              </a:spcAft>
            </a:pPr>
            <a:r>
              <a:rPr lang="en-US" altLang="zh-CN" kern="100" dirty="0">
                <a:latin typeface="Times New Roman"/>
                <a:ea typeface="宋体"/>
                <a:cs typeface="Times New Roman"/>
              </a:rPr>
              <a:t> &lt;BF&gt;.FC=NXQ+1;</a:t>
            </a:r>
            <a:endParaRPr lang="zh-CN" altLang="zh-CN" kern="100" dirty="0">
              <a:latin typeface="Times New Roman"/>
              <a:ea typeface="宋体"/>
              <a:cs typeface="Times New Roman"/>
            </a:endParaRPr>
          </a:p>
          <a:p>
            <a:pPr indent="171450" algn="just">
              <a:lnSpc>
                <a:spcPct val="95000"/>
              </a:lnSpc>
              <a:spcAft>
                <a:spcPts val="0"/>
              </a:spcAft>
            </a:pPr>
            <a:r>
              <a:rPr lang="en-US" altLang="zh-CN" kern="100" dirty="0" err="1">
                <a:latin typeface="Times New Roman"/>
                <a:ea typeface="宋体"/>
                <a:cs typeface="Times New Roman"/>
              </a:rPr>
              <a:t>gencode</a:t>
            </a:r>
            <a:r>
              <a:rPr lang="en-US" altLang="zh-CN" kern="100" dirty="0">
                <a:latin typeface="Times New Roman"/>
                <a:ea typeface="宋体"/>
                <a:cs typeface="Times New Roman"/>
              </a:rPr>
              <a:t>(</a:t>
            </a:r>
            <a:r>
              <a:rPr lang="en-US" altLang="zh-CN" kern="100" dirty="0" err="1">
                <a:latin typeface="Times New Roman"/>
                <a:ea typeface="宋体"/>
                <a:cs typeface="Times New Roman"/>
              </a:rPr>
              <a:t>jnz</a:t>
            </a:r>
            <a:r>
              <a:rPr lang="zh-CN" altLang="zh-CN" kern="100" dirty="0">
                <a:latin typeface="Times New Roman"/>
                <a:ea typeface="宋体"/>
                <a:cs typeface="Times New Roman"/>
              </a:rPr>
              <a:t>，</a:t>
            </a:r>
            <a:r>
              <a:rPr lang="en-US" altLang="zh-CN" kern="100" dirty="0">
                <a:latin typeface="Times New Roman"/>
                <a:ea typeface="宋体"/>
                <a:cs typeface="Times New Roman"/>
              </a:rPr>
              <a:t>entry(id).name</a:t>
            </a:r>
            <a:r>
              <a:rPr lang="zh-CN" altLang="zh-CN" kern="100" dirty="0">
                <a:latin typeface="Times New Roman"/>
                <a:ea typeface="宋体"/>
                <a:cs typeface="Times New Roman"/>
              </a:rPr>
              <a:t>，</a:t>
            </a:r>
            <a:r>
              <a:rPr lang="en-US" altLang="zh-CN" kern="100" dirty="0">
                <a:latin typeface="Times New Roman"/>
                <a:ea typeface="宋体"/>
                <a:cs typeface="Times New Roman"/>
              </a:rPr>
              <a:t>_</a:t>
            </a:r>
            <a:r>
              <a:rPr lang="zh-CN" altLang="zh-CN" kern="100" dirty="0">
                <a:latin typeface="Times New Roman"/>
                <a:ea typeface="宋体"/>
                <a:cs typeface="Times New Roman"/>
              </a:rPr>
              <a:t>，</a:t>
            </a:r>
            <a:r>
              <a:rPr lang="en-US" altLang="zh-CN" kern="100" dirty="0">
                <a:latin typeface="Times New Roman"/>
                <a:ea typeface="宋体"/>
                <a:cs typeface="Times New Roman"/>
              </a:rPr>
              <a:t>0);</a:t>
            </a:r>
            <a:endParaRPr lang="zh-CN" altLang="zh-CN" kern="100" dirty="0">
              <a:latin typeface="Times New Roman"/>
              <a:ea typeface="宋体"/>
              <a:cs typeface="Times New Roman"/>
            </a:endParaRPr>
          </a:p>
          <a:p>
            <a:pPr indent="171450" algn="just">
              <a:lnSpc>
                <a:spcPct val="95000"/>
              </a:lnSpc>
              <a:spcAft>
                <a:spcPts val="0"/>
              </a:spcAft>
            </a:pPr>
            <a:r>
              <a:rPr lang="fr-FR" altLang="zh-CN" kern="100" dirty="0">
                <a:latin typeface="Times New Roman"/>
                <a:ea typeface="宋体"/>
                <a:cs typeface="Times New Roman"/>
              </a:rPr>
              <a:t>gencode(j</a:t>
            </a:r>
            <a:r>
              <a:rPr lang="zh-CN" altLang="zh-CN" kern="100" dirty="0">
                <a:latin typeface="Times New Roman"/>
                <a:ea typeface="宋体"/>
                <a:cs typeface="Times New Roman"/>
              </a:rPr>
              <a:t>，</a:t>
            </a:r>
            <a:r>
              <a:rPr lang="fr-FR" altLang="zh-CN" kern="100" dirty="0">
                <a:latin typeface="Times New Roman"/>
                <a:ea typeface="宋体"/>
                <a:cs typeface="Times New Roman"/>
              </a:rPr>
              <a:t>_</a:t>
            </a:r>
            <a:r>
              <a:rPr lang="zh-CN" altLang="zh-CN" kern="100" dirty="0">
                <a:latin typeface="Times New Roman"/>
                <a:ea typeface="宋体"/>
                <a:cs typeface="Times New Roman"/>
              </a:rPr>
              <a:t>，</a:t>
            </a:r>
            <a:r>
              <a:rPr lang="fr-FR" altLang="zh-CN" kern="100" dirty="0">
                <a:latin typeface="Times New Roman"/>
                <a:ea typeface="宋体"/>
                <a:cs typeface="Times New Roman"/>
              </a:rPr>
              <a:t>_</a:t>
            </a:r>
            <a:r>
              <a:rPr lang="zh-CN" altLang="zh-CN" kern="100" dirty="0">
                <a:latin typeface="Times New Roman"/>
                <a:ea typeface="宋体"/>
                <a:cs typeface="Times New Roman"/>
              </a:rPr>
              <a:t>，</a:t>
            </a:r>
            <a:r>
              <a:rPr lang="fr-FR" altLang="zh-CN" kern="100" dirty="0">
                <a:latin typeface="Times New Roman"/>
                <a:ea typeface="宋体"/>
                <a:cs typeface="Times New Roman"/>
              </a:rPr>
              <a:t>0)                                   }</a:t>
            </a:r>
            <a:endParaRPr lang="zh-CN" altLang="zh-CN" kern="100" dirty="0">
              <a:latin typeface="Times New Roman"/>
              <a:ea typeface="宋体"/>
              <a:cs typeface="Times New Roman"/>
            </a:endParaRPr>
          </a:p>
        </p:txBody>
      </p:sp>
      <p:sp>
        <p:nvSpPr>
          <p:cNvPr id="4" name="矩形 3"/>
          <p:cNvSpPr/>
          <p:nvPr/>
        </p:nvSpPr>
        <p:spPr>
          <a:xfrm>
            <a:off x="3902120" y="1848546"/>
            <a:ext cx="5166774" cy="1148391"/>
          </a:xfrm>
          <a:prstGeom prst="rect">
            <a:avLst/>
          </a:prstGeom>
        </p:spPr>
        <p:txBody>
          <a:bodyPr wrap="square">
            <a:spAutoFit/>
          </a:bodyPr>
          <a:lstStyle/>
          <a:p>
            <a:pPr algn="just">
              <a:lnSpc>
                <a:spcPct val="95000"/>
              </a:lnSpc>
              <a:spcAft>
                <a:spcPts val="0"/>
              </a:spcAft>
            </a:pPr>
            <a:r>
              <a:rPr lang="en-US" altLang="zh-CN" kern="100" dirty="0">
                <a:latin typeface="Times New Roman"/>
                <a:ea typeface="宋体"/>
                <a:cs typeface="Times New Roman"/>
              </a:rPr>
              <a:t>{  &lt;BF&gt;.TC=NXQ;</a:t>
            </a:r>
            <a:endParaRPr lang="zh-CN" altLang="zh-CN" kern="100" dirty="0">
              <a:latin typeface="Times New Roman"/>
              <a:ea typeface="宋体"/>
              <a:cs typeface="Times New Roman"/>
            </a:endParaRPr>
          </a:p>
          <a:p>
            <a:pPr indent="171450" algn="just">
              <a:lnSpc>
                <a:spcPct val="95000"/>
              </a:lnSpc>
              <a:spcAft>
                <a:spcPts val="0"/>
              </a:spcAft>
            </a:pPr>
            <a:r>
              <a:rPr lang="en-US" altLang="zh-CN" kern="100" dirty="0">
                <a:latin typeface="Times New Roman"/>
                <a:ea typeface="宋体"/>
                <a:cs typeface="Times New Roman"/>
              </a:rPr>
              <a:t> &lt;BF&gt;.FC=NXQ+1;</a:t>
            </a:r>
            <a:endParaRPr lang="zh-CN" altLang="zh-CN" kern="100" dirty="0">
              <a:latin typeface="Times New Roman"/>
              <a:ea typeface="宋体"/>
              <a:cs typeface="Times New Roman"/>
            </a:endParaRPr>
          </a:p>
          <a:p>
            <a:pPr indent="171450" algn="just">
              <a:lnSpc>
                <a:spcPct val="95000"/>
              </a:lnSpc>
              <a:spcAft>
                <a:spcPts val="0"/>
              </a:spcAft>
            </a:pPr>
            <a:r>
              <a:rPr lang="fr-FR" altLang="zh-CN" kern="100" dirty="0">
                <a:latin typeface="Times New Roman"/>
                <a:ea typeface="宋体"/>
                <a:cs typeface="Times New Roman"/>
              </a:rPr>
              <a:t> gencode(jrop,&lt;AE&gt;</a:t>
            </a:r>
            <a:r>
              <a:rPr lang="fr-FR" altLang="zh-CN" kern="100" baseline="30000" dirty="0">
                <a:latin typeface="Times New Roman"/>
                <a:ea typeface="宋体"/>
                <a:cs typeface="Times New Roman"/>
              </a:rPr>
              <a:t>(1)</a:t>
            </a:r>
            <a:r>
              <a:rPr lang="fr-FR" altLang="zh-CN" kern="100" dirty="0">
                <a:latin typeface="Times New Roman"/>
                <a:ea typeface="宋体"/>
                <a:cs typeface="Times New Roman"/>
              </a:rPr>
              <a:t>.PLACE,&lt;AE&gt;</a:t>
            </a:r>
            <a:r>
              <a:rPr lang="fr-FR" altLang="zh-CN" kern="100" baseline="30000" dirty="0">
                <a:latin typeface="Times New Roman"/>
                <a:ea typeface="宋体"/>
                <a:cs typeface="Times New Roman"/>
              </a:rPr>
              <a:t>(2)</a:t>
            </a:r>
            <a:r>
              <a:rPr lang="fr-FR" altLang="zh-CN" kern="100" dirty="0">
                <a:latin typeface="Times New Roman"/>
                <a:ea typeface="宋体"/>
                <a:cs typeface="Times New Roman"/>
              </a:rPr>
              <a:t>.PLACE,0)</a:t>
            </a:r>
            <a:endParaRPr lang="zh-CN" altLang="zh-CN" kern="100" dirty="0">
              <a:latin typeface="Times New Roman"/>
              <a:ea typeface="宋体"/>
              <a:cs typeface="Times New Roman"/>
            </a:endParaRPr>
          </a:p>
          <a:p>
            <a:pPr indent="171450" algn="just">
              <a:lnSpc>
                <a:spcPct val="95000"/>
              </a:lnSpc>
              <a:spcAft>
                <a:spcPts val="0"/>
              </a:spcAft>
            </a:pPr>
            <a:r>
              <a:rPr lang="fr-FR" altLang="zh-CN" kern="100" dirty="0">
                <a:latin typeface="Times New Roman"/>
                <a:ea typeface="宋体"/>
                <a:cs typeface="Times New Roman"/>
              </a:rPr>
              <a:t> gencode(j</a:t>
            </a:r>
            <a:r>
              <a:rPr lang="zh-CN" altLang="zh-CN" kern="100" dirty="0">
                <a:latin typeface="Times New Roman"/>
                <a:ea typeface="宋体"/>
                <a:cs typeface="Times New Roman"/>
              </a:rPr>
              <a:t>，</a:t>
            </a:r>
            <a:r>
              <a:rPr lang="fr-FR" altLang="zh-CN" kern="100" dirty="0">
                <a:latin typeface="Times New Roman"/>
                <a:ea typeface="宋体"/>
                <a:cs typeface="Times New Roman"/>
              </a:rPr>
              <a:t>_</a:t>
            </a:r>
            <a:r>
              <a:rPr lang="zh-CN" altLang="zh-CN" kern="100" dirty="0">
                <a:latin typeface="Times New Roman"/>
                <a:ea typeface="宋体"/>
                <a:cs typeface="Times New Roman"/>
              </a:rPr>
              <a:t>，</a:t>
            </a:r>
            <a:r>
              <a:rPr lang="fr-FR" altLang="zh-CN" kern="100" dirty="0">
                <a:latin typeface="Times New Roman"/>
                <a:ea typeface="宋体"/>
                <a:cs typeface="Times New Roman"/>
              </a:rPr>
              <a:t>_</a:t>
            </a:r>
            <a:r>
              <a:rPr lang="zh-CN" altLang="zh-CN" kern="100" dirty="0">
                <a:latin typeface="Times New Roman"/>
                <a:ea typeface="宋体"/>
                <a:cs typeface="Times New Roman"/>
              </a:rPr>
              <a:t>，</a:t>
            </a:r>
            <a:r>
              <a:rPr lang="fr-FR" altLang="zh-CN" kern="100" dirty="0">
                <a:latin typeface="Times New Roman"/>
                <a:ea typeface="宋体"/>
                <a:cs typeface="Times New Roman"/>
              </a:rPr>
              <a:t>0)                                             }</a:t>
            </a:r>
            <a:endParaRPr lang="zh-CN" altLang="en-US" dirty="0"/>
          </a:p>
        </p:txBody>
      </p:sp>
      <p:sp>
        <p:nvSpPr>
          <p:cNvPr id="13" name="Rectangle 3"/>
          <p:cNvSpPr txBox="1">
            <a:spLocks noChangeArrowheads="1"/>
          </p:cNvSpPr>
          <p:nvPr/>
        </p:nvSpPr>
        <p:spPr>
          <a:xfrm>
            <a:off x="2472360" y="4189537"/>
            <a:ext cx="6604640" cy="986950"/>
          </a:xfrm>
          <a:prstGeom prst="rect">
            <a:avLst/>
          </a:prstGeom>
          <a:solidFill>
            <a:schemeClr val="accent6">
              <a:lumMod val="20000"/>
              <a:lumOff val="80000"/>
            </a:schemeClr>
          </a:solidFill>
        </p:spPr>
        <p:txBody>
          <a:bodyPr vert="horz">
            <a:normAutofit lnSpcReduction="10000"/>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spcBef>
                <a:spcPts val="0"/>
              </a:spcBef>
            </a:pPr>
            <a:r>
              <a:rPr lang="zh-CN" altLang="en-US" sz="2200" b="1" dirty="0">
                <a:solidFill>
                  <a:schemeClr val="accent2"/>
                </a:solidFill>
              </a:rPr>
              <a:t>关系表达式</a:t>
            </a:r>
            <a:r>
              <a:rPr lang="en-US" altLang="zh-CN" sz="2000" b="1" dirty="0"/>
              <a:t>i1 </a:t>
            </a:r>
            <a:r>
              <a:rPr lang="en-US" altLang="zh-CN" sz="2000" b="1" dirty="0" err="1"/>
              <a:t>rop</a:t>
            </a:r>
            <a:r>
              <a:rPr lang="en-US" altLang="zh-CN" sz="2000" b="1" dirty="0"/>
              <a:t> i2</a:t>
            </a:r>
            <a:r>
              <a:rPr lang="zh-CN" altLang="en-US" sz="2200" b="1" dirty="0">
                <a:solidFill>
                  <a:schemeClr val="accent2"/>
                </a:solidFill>
              </a:rPr>
              <a:t>也翻译为两条四元式：</a:t>
            </a:r>
          </a:p>
          <a:p>
            <a:pPr lvl="1">
              <a:spcBef>
                <a:spcPts val="0"/>
              </a:spcBef>
            </a:pPr>
            <a:r>
              <a:rPr lang="en-US" altLang="zh-CN" sz="2000" b="1" dirty="0"/>
              <a:t>(</a:t>
            </a:r>
            <a:r>
              <a:rPr lang="en-US" altLang="zh-CN" sz="2000" b="1" dirty="0" err="1"/>
              <a:t>jrop</a:t>
            </a:r>
            <a:r>
              <a:rPr lang="en-US" altLang="zh-CN" sz="2000" b="1" dirty="0"/>
              <a:t>, i1, i2, p) : </a:t>
            </a:r>
            <a:r>
              <a:rPr lang="zh-CN" altLang="en-US" sz="2000" b="1" dirty="0"/>
              <a:t>真出口，当关系为真时转</a:t>
            </a:r>
            <a:r>
              <a:rPr lang="en-US" altLang="zh-CN" sz="2000" b="1" dirty="0"/>
              <a:t>p</a:t>
            </a:r>
          </a:p>
          <a:p>
            <a:pPr lvl="1">
              <a:spcBef>
                <a:spcPts val="0"/>
              </a:spcBef>
            </a:pPr>
            <a:r>
              <a:rPr lang="en-US" altLang="zh-CN" sz="2000" b="1" dirty="0"/>
              <a:t>(j, _,_,q) : </a:t>
            </a:r>
            <a:r>
              <a:rPr lang="zh-CN" altLang="en-US" sz="2000" b="1" dirty="0"/>
              <a:t>假出口，无条件跳转到四元式</a:t>
            </a:r>
            <a:r>
              <a:rPr lang="en-US" altLang="zh-CN" sz="2000" b="1" dirty="0"/>
              <a:t>q</a:t>
            </a:r>
          </a:p>
        </p:txBody>
      </p:sp>
    </p:spTree>
    <p:extLst>
      <p:ext uri="{BB962C8B-B14F-4D97-AF65-F5344CB8AC3E}">
        <p14:creationId xmlns:p14="http://schemas.microsoft.com/office/powerpoint/2010/main" val="12697223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7051"/>
                                        </p:tgtEl>
                                        <p:attrNameLst>
                                          <p:attrName>style.visibility</p:attrName>
                                        </p:attrNameLst>
                                      </p:cBhvr>
                                      <p:to>
                                        <p:strVal val="visible"/>
                                      </p:to>
                                    </p:set>
                                  </p:childTnLst>
                                  <p:subTnLst>
                                    <p:set>
                                      <p:cBhvr override="childStyle">
                                        <p:cTn dur="1" fill="hold" display="0" masterRel="nextClick" afterEffect="1"/>
                                        <p:tgtEl>
                                          <p:spTgt spid="87051"/>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8" presetClass="entr" presetSubtype="12" fill="hold" grpId="0" nodeType="clickEffect">
                                  <p:stCondLst>
                                    <p:cond delay="0"/>
                                  </p:stCondLst>
                                  <p:childTnLst>
                                    <p:set>
                                      <p:cBhvr>
                                        <p:cTn id="10" dur="1" fill="hold">
                                          <p:stCondLst>
                                            <p:cond delay="0"/>
                                          </p:stCondLst>
                                        </p:cTn>
                                        <p:tgtEl>
                                          <p:spTgt spid="10">
                                            <p:bg/>
                                          </p:spTgt>
                                        </p:tgtEl>
                                        <p:attrNameLst>
                                          <p:attrName>style.visibility</p:attrName>
                                        </p:attrNameLst>
                                      </p:cBhvr>
                                      <p:to>
                                        <p:strVal val="visible"/>
                                      </p:to>
                                    </p:set>
                                    <p:animEffect transition="in" filter="strips(downLeft)">
                                      <p:cBhvr>
                                        <p:cTn id="11" dur="500"/>
                                        <p:tgtEl>
                                          <p:spTgt spid="10">
                                            <p:bg/>
                                          </p:spTgt>
                                        </p:tgtEl>
                                      </p:cBhvr>
                                    </p:animEffect>
                                  </p:childTnLst>
                                </p:cTn>
                              </p:par>
                              <p:par>
                                <p:cTn id="12" presetID="18" presetClass="entr" presetSubtype="12" fill="hold" grpId="0" nodeType="with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Effect transition="in" filter="strips(downLeft)">
                                      <p:cBhvr>
                                        <p:cTn id="14" dur="500"/>
                                        <p:tgtEl>
                                          <p:spTgt spid="10">
                                            <p:txEl>
                                              <p:pRg st="0" end="0"/>
                                            </p:txEl>
                                          </p:spTgt>
                                        </p:tgtEl>
                                      </p:cBhvr>
                                    </p:animEffect>
                                  </p:childTnLst>
                                </p:cTn>
                              </p:par>
                              <p:par>
                                <p:cTn id="15" presetID="18" presetClass="entr" presetSubtype="12" fill="hold" grpId="0" nodeType="with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strips(downLeft)">
                                      <p:cBhvr>
                                        <p:cTn id="17" dur="500"/>
                                        <p:tgtEl>
                                          <p:spTgt spid="10">
                                            <p:txEl>
                                              <p:pRg st="1" end="1"/>
                                            </p:txEl>
                                          </p:spTgt>
                                        </p:tgtEl>
                                      </p:cBhvr>
                                    </p:animEffect>
                                  </p:childTnLst>
                                </p:cTn>
                              </p:par>
                              <p:par>
                                <p:cTn id="18" presetID="18" presetClass="entr" presetSubtype="12" fill="hold" grpId="0" nodeType="withEffect">
                                  <p:stCondLst>
                                    <p:cond delay="0"/>
                                  </p:stCondLst>
                                  <p:childTnLst>
                                    <p:set>
                                      <p:cBhvr>
                                        <p:cTn id="19" dur="1" fill="hold">
                                          <p:stCondLst>
                                            <p:cond delay="0"/>
                                          </p:stCondLst>
                                        </p:cTn>
                                        <p:tgtEl>
                                          <p:spTgt spid="10">
                                            <p:txEl>
                                              <p:pRg st="2" end="2"/>
                                            </p:txEl>
                                          </p:spTgt>
                                        </p:tgtEl>
                                        <p:attrNameLst>
                                          <p:attrName>style.visibility</p:attrName>
                                        </p:attrNameLst>
                                      </p:cBhvr>
                                      <p:to>
                                        <p:strVal val="visible"/>
                                      </p:to>
                                    </p:set>
                                    <p:animEffect transition="in" filter="strips(downLeft)">
                                      <p:cBhvr>
                                        <p:cTn id="20" dur="500"/>
                                        <p:tgtEl>
                                          <p:spTgt spid="10">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87053"/>
                                        </p:tgtEl>
                                        <p:attrNameLst>
                                          <p:attrName>style.visibility</p:attrName>
                                        </p:attrNameLst>
                                      </p:cBhvr>
                                      <p:to>
                                        <p:strVal val="visible"/>
                                      </p:to>
                                    </p:set>
                                  </p:childTnLst>
                                  <p:subTnLst>
                                    <p:set>
                                      <p:cBhvr override="childStyle">
                                        <p:cTn dur="1" fill="hold" display="0" masterRel="nextClick" afterEffect="1"/>
                                        <p:tgtEl>
                                          <p:spTgt spid="87053"/>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18" presetClass="entr" presetSubtype="12" fill="hold" grpId="0" nodeType="clickEffect">
                                  <p:stCondLst>
                                    <p:cond delay="0"/>
                                  </p:stCondLst>
                                  <p:childTnLst>
                                    <p:set>
                                      <p:cBhvr>
                                        <p:cTn id="32" dur="1" fill="hold">
                                          <p:stCondLst>
                                            <p:cond delay="0"/>
                                          </p:stCondLst>
                                        </p:cTn>
                                        <p:tgtEl>
                                          <p:spTgt spid="13">
                                            <p:bg/>
                                          </p:spTgt>
                                        </p:tgtEl>
                                        <p:attrNameLst>
                                          <p:attrName>style.visibility</p:attrName>
                                        </p:attrNameLst>
                                      </p:cBhvr>
                                      <p:to>
                                        <p:strVal val="visible"/>
                                      </p:to>
                                    </p:set>
                                    <p:animEffect transition="in" filter="strips(downLeft)">
                                      <p:cBhvr>
                                        <p:cTn id="33" dur="500"/>
                                        <p:tgtEl>
                                          <p:spTgt spid="13">
                                            <p:bg/>
                                          </p:spTgt>
                                        </p:tgtEl>
                                      </p:cBhvr>
                                    </p:animEffect>
                                  </p:childTnLst>
                                </p:cTn>
                              </p:par>
                              <p:par>
                                <p:cTn id="34" presetID="18" presetClass="entr" presetSubtype="12" fill="hold" grpId="0" nodeType="withEffect">
                                  <p:stCondLst>
                                    <p:cond delay="0"/>
                                  </p:stCondLst>
                                  <p:childTnLst>
                                    <p:set>
                                      <p:cBhvr>
                                        <p:cTn id="35" dur="1" fill="hold">
                                          <p:stCondLst>
                                            <p:cond delay="0"/>
                                          </p:stCondLst>
                                        </p:cTn>
                                        <p:tgtEl>
                                          <p:spTgt spid="13">
                                            <p:txEl>
                                              <p:pRg st="0" end="0"/>
                                            </p:txEl>
                                          </p:spTgt>
                                        </p:tgtEl>
                                        <p:attrNameLst>
                                          <p:attrName>style.visibility</p:attrName>
                                        </p:attrNameLst>
                                      </p:cBhvr>
                                      <p:to>
                                        <p:strVal val="visible"/>
                                      </p:to>
                                    </p:set>
                                    <p:animEffect transition="in" filter="strips(downLeft)">
                                      <p:cBhvr>
                                        <p:cTn id="36" dur="500"/>
                                        <p:tgtEl>
                                          <p:spTgt spid="13">
                                            <p:txEl>
                                              <p:pRg st="0" end="0"/>
                                            </p:txEl>
                                          </p:spTgt>
                                        </p:tgtEl>
                                      </p:cBhvr>
                                    </p:animEffect>
                                  </p:childTnLst>
                                </p:cTn>
                              </p:par>
                              <p:par>
                                <p:cTn id="37" presetID="18" presetClass="entr" presetSubtype="12" fill="hold" grpId="0" nodeType="withEffect">
                                  <p:stCondLst>
                                    <p:cond delay="0"/>
                                  </p:stCondLst>
                                  <p:childTnLst>
                                    <p:set>
                                      <p:cBhvr>
                                        <p:cTn id="38" dur="1" fill="hold">
                                          <p:stCondLst>
                                            <p:cond delay="0"/>
                                          </p:stCondLst>
                                        </p:cTn>
                                        <p:tgtEl>
                                          <p:spTgt spid="13">
                                            <p:txEl>
                                              <p:pRg st="1" end="1"/>
                                            </p:txEl>
                                          </p:spTgt>
                                        </p:tgtEl>
                                        <p:attrNameLst>
                                          <p:attrName>style.visibility</p:attrName>
                                        </p:attrNameLst>
                                      </p:cBhvr>
                                      <p:to>
                                        <p:strVal val="visible"/>
                                      </p:to>
                                    </p:set>
                                    <p:animEffect transition="in" filter="strips(downLeft)">
                                      <p:cBhvr>
                                        <p:cTn id="39" dur="500"/>
                                        <p:tgtEl>
                                          <p:spTgt spid="13">
                                            <p:txEl>
                                              <p:pRg st="1" end="1"/>
                                            </p:txEl>
                                          </p:spTgt>
                                        </p:tgtEl>
                                      </p:cBhvr>
                                    </p:animEffect>
                                  </p:childTnLst>
                                </p:cTn>
                              </p:par>
                              <p:par>
                                <p:cTn id="40" presetID="18" presetClass="entr" presetSubtype="12" fill="hold" grpId="0" nodeType="withEffect">
                                  <p:stCondLst>
                                    <p:cond delay="0"/>
                                  </p:stCondLst>
                                  <p:childTnLst>
                                    <p:set>
                                      <p:cBhvr>
                                        <p:cTn id="41" dur="1" fill="hold">
                                          <p:stCondLst>
                                            <p:cond delay="0"/>
                                          </p:stCondLst>
                                        </p:cTn>
                                        <p:tgtEl>
                                          <p:spTgt spid="13">
                                            <p:txEl>
                                              <p:pRg st="2" end="2"/>
                                            </p:txEl>
                                          </p:spTgt>
                                        </p:tgtEl>
                                        <p:attrNameLst>
                                          <p:attrName>style.visibility</p:attrName>
                                        </p:attrNameLst>
                                      </p:cBhvr>
                                      <p:to>
                                        <p:strVal val="visible"/>
                                      </p:to>
                                    </p:set>
                                    <p:animEffect transition="in" filter="strips(downLeft)">
                                      <p:cBhvr>
                                        <p:cTn id="42" dur="500"/>
                                        <p:tgtEl>
                                          <p:spTgt spid="1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87055"/>
                                        </p:tgtEl>
                                        <p:attrNameLst>
                                          <p:attrName>style.visibility</p:attrName>
                                        </p:attrNameLst>
                                      </p:cBhvr>
                                      <p:to>
                                        <p:strVal val="visible"/>
                                      </p:to>
                                    </p:set>
                                  </p:childTnLst>
                                  <p:subTnLst>
                                    <p:set>
                                      <p:cBhvr override="childStyle">
                                        <p:cTn dur="1" fill="hold" display="0" masterRel="nextClick" afterEffect="1"/>
                                        <p:tgtEl>
                                          <p:spTgt spid="87055"/>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51" grpId="0" animBg="1" autoUpdateAnimBg="0"/>
      <p:bldP spid="87053" grpId="0" animBg="1" autoUpdateAnimBg="0"/>
      <p:bldP spid="87055" grpId="0" animBg="1" autoUpdateAnimBg="0"/>
      <p:bldP spid="10" grpId="0" build="p" animBg="1"/>
      <p:bldP spid="2" grpId="0"/>
      <p:bldP spid="4" grpId="0"/>
      <p:bldP spid="13" grpId="0" build="p"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a:graphicFrameLocks noGrp="1"/>
          </p:cNvGraphicFramePr>
          <p:nvPr>
            <p:extLst>
              <p:ext uri="{D42A27DB-BD31-4B8C-83A1-F6EECF244321}">
                <p14:modId xmlns:p14="http://schemas.microsoft.com/office/powerpoint/2010/main" val="4045774154"/>
              </p:ext>
            </p:extLst>
          </p:nvPr>
        </p:nvGraphicFramePr>
        <p:xfrm>
          <a:off x="250826" y="573882"/>
          <a:ext cx="8893175" cy="3366020"/>
        </p:xfrm>
        <a:graphic>
          <a:graphicData uri="http://schemas.openxmlformats.org/drawingml/2006/table">
            <a:tbl>
              <a:tblPr/>
              <a:tblGrid>
                <a:gridCol w="864790">
                  <a:extLst>
                    <a:ext uri="{9D8B030D-6E8A-4147-A177-3AD203B41FA5}">
                      <a16:colId xmlns:a16="http://schemas.microsoft.com/office/drawing/2014/main" val="20000"/>
                    </a:ext>
                  </a:extLst>
                </a:gridCol>
                <a:gridCol w="2808312">
                  <a:extLst>
                    <a:ext uri="{9D8B030D-6E8A-4147-A177-3AD203B41FA5}">
                      <a16:colId xmlns:a16="http://schemas.microsoft.com/office/drawing/2014/main" val="20001"/>
                    </a:ext>
                  </a:extLst>
                </a:gridCol>
                <a:gridCol w="5220073">
                  <a:extLst>
                    <a:ext uri="{9D8B030D-6E8A-4147-A177-3AD203B41FA5}">
                      <a16:colId xmlns:a16="http://schemas.microsoft.com/office/drawing/2014/main" val="20002"/>
                    </a:ext>
                  </a:extLst>
                </a:gridCol>
              </a:tblGrid>
              <a:tr h="274320">
                <a:tc>
                  <a:txBody>
                    <a:bodyPr/>
                    <a:lstStyle/>
                    <a:p>
                      <a:pPr indent="-20320" algn="ctr">
                        <a:spcAft>
                          <a:spcPts val="0"/>
                        </a:spcAft>
                      </a:pPr>
                      <a:r>
                        <a:rPr lang="zh-CN" sz="1800" kern="100" dirty="0">
                          <a:latin typeface="Times New Roman"/>
                          <a:ea typeface="宋体"/>
                          <a:cs typeface="Times New Roman"/>
                        </a:rPr>
                        <a:t>编号</a:t>
                      </a:r>
                    </a:p>
                  </a:txBody>
                  <a:tcPr marL="68585" marR="68585"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zh-CN" sz="1800" kern="100" dirty="0">
                          <a:latin typeface="Times New Roman"/>
                          <a:ea typeface="宋体"/>
                          <a:cs typeface="Times New Roman"/>
                        </a:rPr>
                        <a:t>产生式</a:t>
                      </a: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zh-CN" sz="1800" kern="100" dirty="0">
                          <a:latin typeface="Times New Roman"/>
                          <a:ea typeface="宋体"/>
                          <a:cs typeface="Times New Roman"/>
                        </a:rPr>
                        <a:t>语义规则</a:t>
                      </a:r>
                    </a:p>
                  </a:txBody>
                  <a:tcPr marL="68585" marR="68585"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715436">
                <a:tc>
                  <a:txBody>
                    <a:bodyPr/>
                    <a:lstStyle/>
                    <a:p>
                      <a:pPr algn="just">
                        <a:spcAft>
                          <a:spcPts val="0"/>
                        </a:spcAft>
                      </a:pPr>
                      <a:r>
                        <a:rPr lang="zh-CN" sz="1800" kern="100" dirty="0">
                          <a:latin typeface="Times New Roman"/>
                          <a:ea typeface="宋体"/>
                          <a:cs typeface="Times New Roman"/>
                        </a:rPr>
                        <a:t>（</a:t>
                      </a:r>
                      <a:r>
                        <a:rPr lang="fr-FR" sz="1800" kern="100" dirty="0">
                          <a:latin typeface="Times New Roman"/>
                          <a:ea typeface="宋体"/>
                          <a:cs typeface="Times New Roman"/>
                        </a:rPr>
                        <a:t>8</a:t>
                      </a:r>
                      <a:r>
                        <a:rPr lang="zh-CN" sz="1800" kern="100" dirty="0">
                          <a:latin typeface="Times New Roman"/>
                          <a:ea typeface="宋体"/>
                          <a:cs typeface="Times New Roman"/>
                        </a:rPr>
                        <a:t>）</a:t>
                      </a: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Aft>
                          <a:spcPts val="0"/>
                        </a:spcAft>
                      </a:pPr>
                      <a:r>
                        <a:rPr lang="en-US" sz="1800" kern="100" dirty="0">
                          <a:latin typeface="Times New Roman"/>
                          <a:ea typeface="宋体"/>
                          <a:cs typeface="Times New Roman"/>
                        </a:rPr>
                        <a:t>&lt;BF&gt;→</a:t>
                      </a:r>
                      <a:r>
                        <a:rPr lang="en-US" altLang="zh-CN" sz="1800" kern="100" dirty="0">
                          <a:latin typeface="Times New Roman"/>
                          <a:ea typeface="宋体"/>
                          <a:cs typeface="Times New Roman"/>
                        </a:rPr>
                        <a:t>!</a:t>
                      </a:r>
                      <a:r>
                        <a:rPr lang="en-US" sz="1800" kern="100" dirty="0">
                          <a:latin typeface="Times New Roman"/>
                          <a:ea typeface="宋体"/>
                          <a:cs typeface="Times New Roman"/>
                        </a:rPr>
                        <a:t> &lt;BF&gt;</a:t>
                      </a:r>
                      <a:r>
                        <a:rPr lang="en-US" sz="1800" kern="100" baseline="30000" dirty="0">
                          <a:latin typeface="Times New Roman"/>
                          <a:ea typeface="宋体"/>
                          <a:cs typeface="Times New Roman"/>
                        </a:rPr>
                        <a:t>(1)</a:t>
                      </a:r>
                      <a:endParaRPr lang="zh-CN" sz="1800" kern="100" dirty="0">
                        <a:latin typeface="Times New Roman"/>
                        <a:ea typeface="宋体"/>
                        <a:cs typeface="Times New Roman"/>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Aft>
                          <a:spcPts val="0"/>
                        </a:spcAft>
                      </a:pPr>
                      <a:endParaRPr lang="zh-CN" sz="1800" kern="100" dirty="0">
                        <a:latin typeface="Times New Roman"/>
                        <a:ea typeface="宋体"/>
                        <a:cs typeface="Times New Roman"/>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792088">
                <a:tc>
                  <a:txBody>
                    <a:bodyPr/>
                    <a:lstStyle/>
                    <a:p>
                      <a:pPr algn="ctr">
                        <a:spcAft>
                          <a:spcPts val="0"/>
                        </a:spcAft>
                      </a:pPr>
                      <a:r>
                        <a:rPr lang="zh-CN" sz="1700" kern="100" dirty="0">
                          <a:latin typeface="Times New Roman"/>
                          <a:ea typeface="宋体"/>
                          <a:cs typeface="Times New Roman"/>
                        </a:rPr>
                        <a:t>（</a:t>
                      </a:r>
                      <a:r>
                        <a:rPr lang="fr-FR" sz="1700" kern="100" dirty="0">
                          <a:latin typeface="Times New Roman"/>
                          <a:ea typeface="宋体"/>
                          <a:cs typeface="Times New Roman"/>
                        </a:rPr>
                        <a:t>7</a:t>
                      </a:r>
                      <a:r>
                        <a:rPr lang="zh-CN" sz="17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Aft>
                          <a:spcPts val="0"/>
                        </a:spcAft>
                      </a:pPr>
                      <a:r>
                        <a:rPr lang="en-US" sz="1700" kern="100">
                          <a:latin typeface="Times New Roman"/>
                          <a:ea typeface="宋体"/>
                          <a:cs typeface="Times New Roman"/>
                        </a:rPr>
                        <a:t>&lt;BF&gt;→(&lt;BE&gt;)</a:t>
                      </a:r>
                      <a:endParaRPr lang="zh-CN" sz="17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Aft>
                          <a:spcPts val="0"/>
                        </a:spcAft>
                      </a:pPr>
                      <a:endParaRPr lang="zh-CN" sz="17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792088">
                <a:tc>
                  <a:txBody>
                    <a:bodyPr/>
                    <a:lstStyle/>
                    <a:p>
                      <a:pPr algn="just">
                        <a:spcAft>
                          <a:spcPts val="0"/>
                        </a:spcAf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6</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lang="zh-CN" sz="1800" kern="100" dirty="0">
                        <a:latin typeface="Times New Roman"/>
                        <a:ea typeface="宋体"/>
                        <a:cs typeface="Times New Roman"/>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Aft>
                          <a:spcPts val="0"/>
                        </a:spcAf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&lt;BT&gt;→&lt;BF&gt;</a:t>
                      </a:r>
                      <a:endParaRPr lang="zh-CN" sz="1800" kern="100" dirty="0">
                        <a:latin typeface="Times New Roman"/>
                        <a:ea typeface="宋体"/>
                        <a:cs typeface="Times New Roman"/>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Aft>
                          <a:spcPts val="0"/>
                        </a:spcAft>
                      </a:pPr>
                      <a:endParaRPr lang="zh-CN" altLang="zh-CN" sz="1800" kern="100" dirty="0">
                        <a:latin typeface="Times New Roman"/>
                        <a:ea typeface="宋体"/>
                        <a:cs typeface="Times New Roman"/>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792088">
                <a:tc>
                  <a:txBody>
                    <a:bodyPr/>
                    <a:lstStyle/>
                    <a:p>
                      <a:pPr algn="just">
                        <a:spcAft>
                          <a:spcPts val="0"/>
                        </a:spcAft>
                      </a:pP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a:t>
                      </a:r>
                      <a:r>
                        <a:rPr kumimoji="0" lang="zh-CN" altLang="en-US"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lang="zh-CN" sz="1800" kern="100" dirty="0">
                        <a:latin typeface="Times New Roman"/>
                        <a:ea typeface="宋体"/>
                        <a:cs typeface="Times New Roman"/>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&lt;BE&gt;→&lt;BT&gt;</a:t>
                      </a: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Aft>
                          <a:spcPts val="0"/>
                        </a:spcAft>
                      </a:pPr>
                      <a:endParaRPr lang="zh-CN" altLang="zh-CN" sz="1800" kern="100" dirty="0">
                        <a:latin typeface="Times New Roman"/>
                        <a:ea typeface="宋体"/>
                        <a:cs typeface="Times New Roman"/>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98328" name="Rectangle 5"/>
          <p:cNvSpPr>
            <a:spLocks noGrp="1" noChangeArrowheads="1"/>
          </p:cNvSpPr>
          <p:nvPr>
            <p:ph type="title"/>
          </p:nvPr>
        </p:nvSpPr>
        <p:spPr>
          <a:xfrm>
            <a:off x="0" y="1"/>
            <a:ext cx="8229600" cy="583406"/>
          </a:xfrm>
        </p:spPr>
        <p:txBody>
          <a:bodyPr/>
          <a:lstStyle/>
          <a:p>
            <a:pPr marL="365125" indent="-365125" algn="l" eaLnBrk="1" hangingPunct="1"/>
            <a:r>
              <a:rPr lang="en-US" altLang="zh-CN" sz="2800" b="1" dirty="0">
                <a:solidFill>
                  <a:srgbClr val="0033CC"/>
                </a:solidFill>
              </a:rPr>
              <a:t> 6. </a:t>
            </a:r>
            <a:r>
              <a:rPr lang="zh-CN" altLang="en-US" sz="2800" b="1" dirty="0">
                <a:solidFill>
                  <a:srgbClr val="0033CC"/>
                </a:solidFill>
              </a:rPr>
              <a:t>总结前面的分析，各产生式的语义动作为：</a:t>
            </a:r>
          </a:p>
        </p:txBody>
      </p:sp>
      <p:sp>
        <p:nvSpPr>
          <p:cNvPr id="87054" name="AutoShape 14"/>
          <p:cNvSpPr>
            <a:spLocks noChangeArrowheads="1"/>
          </p:cNvSpPr>
          <p:nvPr/>
        </p:nvSpPr>
        <p:spPr bwMode="auto">
          <a:xfrm>
            <a:off x="0" y="1491630"/>
            <a:ext cx="1561628" cy="400050"/>
          </a:xfrm>
          <a:prstGeom prst="wedgeRoundRectCallout">
            <a:avLst>
              <a:gd name="adj1" fmla="val 77532"/>
              <a:gd name="adj2" fmla="val -93249"/>
              <a:gd name="adj3" fmla="val 16667"/>
            </a:avLst>
          </a:prstGeom>
          <a:solidFill>
            <a:srgbClr val="00CC99"/>
          </a:solidFill>
          <a:ln w="9525">
            <a:solidFill>
              <a:schemeClr val="accent1"/>
            </a:solidFill>
            <a:miter lim="800000"/>
            <a:headEnd/>
            <a:tailEnd/>
          </a:ln>
        </p:spPr>
        <p:txBody>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0"/>
              </a:spcBef>
              <a:buFontTx/>
              <a:buNone/>
            </a:pPr>
            <a:r>
              <a:rPr kumimoji="1" lang="en-US" altLang="zh-CN" sz="1800" b="1" dirty="0">
                <a:solidFill>
                  <a:srgbClr val="CC0000"/>
                </a:solidFill>
                <a:latin typeface="宋体" panose="02010600030101010101" pitchFamily="2" charset="-122"/>
              </a:rPr>
              <a:t>Not</a:t>
            </a:r>
            <a:r>
              <a:rPr kumimoji="1" lang="zh-CN" altLang="en-US" sz="1800" b="1" dirty="0">
                <a:solidFill>
                  <a:srgbClr val="CC0000"/>
                </a:solidFill>
                <a:latin typeface="宋体" panose="02010600030101010101" pitchFamily="2" charset="-122"/>
              </a:rPr>
              <a:t>布尔运算</a:t>
            </a:r>
          </a:p>
        </p:txBody>
      </p:sp>
      <p:sp>
        <p:nvSpPr>
          <p:cNvPr id="2" name="矩形 1"/>
          <p:cNvSpPr/>
          <p:nvPr/>
        </p:nvSpPr>
        <p:spPr>
          <a:xfrm>
            <a:off x="3923928" y="917307"/>
            <a:ext cx="4572000" cy="646331"/>
          </a:xfrm>
          <a:prstGeom prst="rect">
            <a:avLst/>
          </a:prstGeom>
        </p:spPr>
        <p:txBody>
          <a:bodyPr>
            <a:spAutoFit/>
          </a:bodyPr>
          <a:lstStyle/>
          <a:p>
            <a:pPr algn="just">
              <a:spcAft>
                <a:spcPts val="0"/>
              </a:spcAft>
            </a:pPr>
            <a:r>
              <a:rPr lang="en-US" altLang="zh-CN" kern="100" dirty="0">
                <a:latin typeface="Times New Roman"/>
                <a:ea typeface="宋体"/>
                <a:cs typeface="Times New Roman"/>
              </a:rPr>
              <a:t>{  &lt;BF&gt;.TC=&lt;BF&gt;</a:t>
            </a:r>
            <a:r>
              <a:rPr lang="en-US" altLang="zh-CN" kern="100" baseline="30000" dirty="0">
                <a:latin typeface="Times New Roman"/>
                <a:ea typeface="宋体"/>
                <a:cs typeface="Times New Roman"/>
              </a:rPr>
              <a:t>(1)</a:t>
            </a:r>
            <a:r>
              <a:rPr lang="en-US" altLang="zh-CN" kern="100" dirty="0">
                <a:latin typeface="Times New Roman"/>
                <a:ea typeface="宋体"/>
                <a:cs typeface="Times New Roman"/>
              </a:rPr>
              <a:t>.FC;</a:t>
            </a:r>
            <a:endParaRPr lang="zh-CN" altLang="zh-CN" kern="100" dirty="0">
              <a:latin typeface="Times New Roman"/>
              <a:ea typeface="宋体"/>
              <a:cs typeface="Times New Roman"/>
            </a:endParaRPr>
          </a:p>
          <a:p>
            <a:pPr indent="171450" algn="just">
              <a:spcAft>
                <a:spcPts val="0"/>
              </a:spcAft>
            </a:pPr>
            <a:r>
              <a:rPr lang="en-US" altLang="zh-CN" kern="100" dirty="0">
                <a:latin typeface="Times New Roman"/>
                <a:ea typeface="宋体"/>
                <a:cs typeface="Times New Roman"/>
              </a:rPr>
              <a:t> &lt;BF&gt;.FC=&lt;BF&gt;</a:t>
            </a:r>
            <a:r>
              <a:rPr lang="en-US" altLang="zh-CN" kern="100" baseline="30000" dirty="0">
                <a:latin typeface="Times New Roman"/>
                <a:ea typeface="宋体"/>
                <a:cs typeface="Times New Roman"/>
              </a:rPr>
              <a:t>(1)</a:t>
            </a:r>
            <a:r>
              <a:rPr lang="en-US" altLang="zh-CN" kern="100" dirty="0">
                <a:latin typeface="Times New Roman"/>
                <a:ea typeface="宋体"/>
                <a:cs typeface="Times New Roman"/>
              </a:rPr>
              <a:t>.TC   }</a:t>
            </a:r>
            <a:endParaRPr lang="zh-CN" altLang="zh-CN" kern="100" dirty="0">
              <a:latin typeface="Times New Roman"/>
              <a:ea typeface="宋体"/>
              <a:cs typeface="Times New Roman"/>
            </a:endParaRPr>
          </a:p>
        </p:txBody>
      </p:sp>
      <p:sp>
        <p:nvSpPr>
          <p:cNvPr id="3" name="矩形 2"/>
          <p:cNvSpPr/>
          <p:nvPr/>
        </p:nvSpPr>
        <p:spPr>
          <a:xfrm>
            <a:off x="3923928" y="1637387"/>
            <a:ext cx="4572000" cy="646331"/>
          </a:xfrm>
          <a:prstGeom prst="rect">
            <a:avLst/>
          </a:prstGeom>
        </p:spPr>
        <p:txBody>
          <a:bodyPr>
            <a:spAutoFit/>
          </a:bodyPr>
          <a:lstStyle/>
          <a:p>
            <a:pPr algn="just">
              <a:spcAft>
                <a:spcPts val="0"/>
              </a:spcAft>
            </a:pPr>
            <a:r>
              <a:rPr lang="en-US" altLang="zh-CN" kern="100" dirty="0">
                <a:latin typeface="Times New Roman"/>
                <a:ea typeface="宋体"/>
                <a:cs typeface="Times New Roman"/>
              </a:rPr>
              <a:t>{  &lt;BF&gt;.TC=&lt;BE&gt;.TC;</a:t>
            </a:r>
            <a:endParaRPr lang="zh-CN" altLang="zh-CN" kern="100" dirty="0">
              <a:latin typeface="Times New Roman"/>
              <a:ea typeface="宋体"/>
              <a:cs typeface="Times New Roman"/>
            </a:endParaRPr>
          </a:p>
          <a:p>
            <a:pPr indent="171450" algn="just">
              <a:spcAft>
                <a:spcPts val="0"/>
              </a:spcAft>
            </a:pPr>
            <a:r>
              <a:rPr lang="en-US" altLang="zh-CN" kern="100" dirty="0">
                <a:latin typeface="Times New Roman"/>
                <a:ea typeface="宋体"/>
                <a:cs typeface="Times New Roman"/>
              </a:rPr>
              <a:t> &lt;BF&gt;.FC=&lt;BE&gt;.FC      }</a:t>
            </a:r>
            <a:endParaRPr lang="zh-CN" altLang="zh-CN" kern="100" dirty="0">
              <a:latin typeface="Times New Roman"/>
              <a:ea typeface="宋体"/>
              <a:cs typeface="Times New Roman"/>
            </a:endParaRPr>
          </a:p>
        </p:txBody>
      </p:sp>
      <p:sp>
        <p:nvSpPr>
          <p:cNvPr id="4" name="矩形 3"/>
          <p:cNvSpPr/>
          <p:nvPr/>
        </p:nvSpPr>
        <p:spPr>
          <a:xfrm>
            <a:off x="3923928" y="2429475"/>
            <a:ext cx="4572000" cy="646331"/>
          </a:xfrm>
          <a:prstGeom prst="rect">
            <a:avLst/>
          </a:prstGeom>
        </p:spPr>
        <p:txBody>
          <a:bodyPr>
            <a:spAutoFit/>
          </a:bodyPr>
          <a:lstStyle/>
          <a:p>
            <a:pPr algn="just">
              <a:spcAft>
                <a:spcPts val="0"/>
              </a:spcAft>
            </a:pPr>
            <a:r>
              <a:rPr lang="en-US" altLang="zh-CN" kern="100" dirty="0">
                <a:latin typeface="Times New Roman"/>
                <a:ea typeface="宋体"/>
                <a:cs typeface="Times New Roman"/>
              </a:rPr>
              <a:t>{  &lt;BT&gt;.TC=&lt;BF&gt;.TC;</a:t>
            </a:r>
            <a:endParaRPr lang="zh-CN" altLang="zh-CN" kern="100" dirty="0">
              <a:latin typeface="Times New Roman"/>
              <a:ea typeface="宋体"/>
              <a:cs typeface="Times New Roman"/>
            </a:endParaRPr>
          </a:p>
          <a:p>
            <a:pPr indent="171450" algn="just">
              <a:spcAft>
                <a:spcPts val="0"/>
              </a:spcAft>
            </a:pPr>
            <a:r>
              <a:rPr lang="en-US" altLang="zh-CN" kern="100" dirty="0">
                <a:latin typeface="Times New Roman"/>
                <a:ea typeface="宋体"/>
                <a:cs typeface="Times New Roman"/>
              </a:rPr>
              <a:t> &lt;BT&gt;.FC=&lt;BF&gt;.FC      }</a:t>
            </a:r>
            <a:endParaRPr lang="zh-CN" altLang="zh-CN" kern="100" dirty="0">
              <a:latin typeface="Times New Roman"/>
              <a:ea typeface="宋体"/>
              <a:cs typeface="Times New Roman"/>
            </a:endParaRPr>
          </a:p>
        </p:txBody>
      </p:sp>
      <p:sp>
        <p:nvSpPr>
          <p:cNvPr id="5" name="矩形 4"/>
          <p:cNvSpPr/>
          <p:nvPr/>
        </p:nvSpPr>
        <p:spPr>
          <a:xfrm>
            <a:off x="3923928" y="3219822"/>
            <a:ext cx="4572000" cy="646331"/>
          </a:xfrm>
          <a:prstGeom prst="rect">
            <a:avLst/>
          </a:prstGeom>
        </p:spPr>
        <p:txBody>
          <a:bodyPr>
            <a:spAutoFit/>
          </a:bodyPr>
          <a:lstStyle/>
          <a:p>
            <a:pPr algn="just">
              <a:spcAft>
                <a:spcPts val="0"/>
              </a:spcAft>
            </a:pPr>
            <a:r>
              <a:rPr lang="en-US" altLang="zh-CN" kern="100" dirty="0">
                <a:latin typeface="Times New Roman"/>
                <a:ea typeface="宋体"/>
                <a:cs typeface="Times New Roman"/>
              </a:rPr>
              <a:t>{  &lt;BE&gt;.TC=&lt;BT&gt;.TC;</a:t>
            </a:r>
            <a:endParaRPr lang="zh-CN" altLang="zh-CN" kern="100" dirty="0">
              <a:latin typeface="Times New Roman"/>
              <a:ea typeface="宋体"/>
              <a:cs typeface="Times New Roman"/>
            </a:endParaRPr>
          </a:p>
          <a:p>
            <a:pPr indent="171450" algn="just">
              <a:spcAft>
                <a:spcPts val="0"/>
              </a:spcAft>
            </a:pPr>
            <a:r>
              <a:rPr lang="en-US" altLang="zh-CN" kern="100" dirty="0">
                <a:latin typeface="Times New Roman"/>
                <a:ea typeface="宋体"/>
                <a:cs typeface="Times New Roman"/>
              </a:rPr>
              <a:t> &lt;BE&gt;.FC=&lt;BT&gt;.FC      }</a:t>
            </a:r>
            <a:endParaRPr lang="zh-CN" altLang="zh-CN" kern="100" dirty="0">
              <a:latin typeface="Times New Roman"/>
              <a:ea typeface="宋体"/>
              <a:cs typeface="Times New Roman"/>
            </a:endParaRPr>
          </a:p>
        </p:txBody>
      </p:sp>
      <p:sp>
        <p:nvSpPr>
          <p:cNvPr id="13" name="AutoShape 8"/>
          <p:cNvSpPr>
            <a:spLocks noChangeArrowheads="1"/>
          </p:cNvSpPr>
          <p:nvPr/>
        </p:nvSpPr>
        <p:spPr bwMode="auto">
          <a:xfrm>
            <a:off x="4716016" y="4207396"/>
            <a:ext cx="4212084" cy="936104"/>
          </a:xfrm>
          <a:prstGeom prst="wedgeRoundRectCallout">
            <a:avLst>
              <a:gd name="adj1" fmla="val -77762"/>
              <a:gd name="adj2" fmla="val -74823"/>
              <a:gd name="adj3" fmla="val 16667"/>
            </a:avLst>
          </a:prstGeom>
          <a:solidFill>
            <a:srgbClr val="00CC99"/>
          </a:solidFill>
          <a:ln w="9525">
            <a:solidFill>
              <a:schemeClr val="accent1"/>
            </a:solidFill>
            <a:miter lim="800000"/>
            <a:headEnd/>
            <a:tailEnd/>
          </a:ln>
        </p:spPr>
        <p:txBody>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kumimoji="1" lang="zh-CN" altLang="en-US" sz="1800" b="1" dirty="0">
                <a:solidFill>
                  <a:srgbClr val="CC0000"/>
                </a:solidFill>
                <a:latin typeface="Times New Roman" pitchFamily="18" charset="0"/>
              </a:rPr>
              <a:t>产生式</a:t>
            </a:r>
            <a:r>
              <a:rPr kumimoji="1" lang="en-US" altLang="zh-CN" sz="1800" b="1" dirty="0">
                <a:solidFill>
                  <a:srgbClr val="CC0000"/>
                </a:solidFill>
                <a:latin typeface="Times New Roman" pitchFamily="18" charset="0"/>
              </a:rPr>
              <a:t>6: &lt;BT&gt;</a:t>
            </a:r>
            <a:r>
              <a:rPr kumimoji="1" lang="en-US" altLang="zh-CN" sz="1800" b="1" dirty="0">
                <a:solidFill>
                  <a:srgbClr val="CC0000"/>
                </a:solidFill>
                <a:latin typeface="Times New Roman" pitchFamily="18" charset="0"/>
                <a:cs typeface="Times New Roman" pitchFamily="18" charset="0"/>
              </a:rPr>
              <a:t>→&lt;BF&gt;</a:t>
            </a:r>
            <a:r>
              <a:rPr kumimoji="1" lang="zh-CN" altLang="en-US" sz="1800" b="1" dirty="0">
                <a:solidFill>
                  <a:srgbClr val="CC0000"/>
                </a:solidFill>
                <a:latin typeface="Times New Roman" pitchFamily="18" charset="0"/>
              </a:rPr>
              <a:t>，</a:t>
            </a:r>
            <a:r>
              <a:rPr kumimoji="1" lang="en-US" altLang="zh-CN" sz="1800" b="1" dirty="0">
                <a:solidFill>
                  <a:srgbClr val="CC0000"/>
                </a:solidFill>
                <a:latin typeface="Times New Roman" pitchFamily="18" charset="0"/>
              </a:rPr>
              <a:t>3: </a:t>
            </a:r>
            <a:r>
              <a:rPr kumimoji="1" lang="en-US" altLang="zh-CN" sz="1800" b="1" dirty="0">
                <a:solidFill>
                  <a:srgbClr val="CC0000"/>
                </a:solidFill>
              </a:rPr>
              <a:t>&lt;</a:t>
            </a:r>
            <a:r>
              <a:rPr kumimoji="1" lang="en-US" altLang="zh-CN" sz="1800" b="1" dirty="0">
                <a:solidFill>
                  <a:srgbClr val="CC0000"/>
                </a:solidFill>
                <a:latin typeface="Times New Roman" pitchFamily="18" charset="0"/>
              </a:rPr>
              <a:t>BE&gt;→&lt;BT&gt;</a:t>
            </a:r>
            <a:r>
              <a:rPr kumimoji="1" lang="zh-CN" altLang="en-US" sz="1800" b="1" dirty="0">
                <a:solidFill>
                  <a:srgbClr val="CC0000"/>
                </a:solidFill>
                <a:latin typeface="Times New Roman" pitchFamily="18" charset="0"/>
              </a:rPr>
              <a:t>的翻译，都是将右边的真假出口直接赋值到左部的语义变量</a:t>
            </a:r>
          </a:p>
        </p:txBody>
      </p:sp>
    </p:spTree>
    <p:extLst>
      <p:ext uri="{BB962C8B-B14F-4D97-AF65-F5344CB8AC3E}">
        <p14:creationId xmlns:p14="http://schemas.microsoft.com/office/powerpoint/2010/main" val="735169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7054"/>
                                        </p:tgtEl>
                                        <p:attrNameLst>
                                          <p:attrName>style.visibility</p:attrName>
                                        </p:attrNameLst>
                                      </p:cBhvr>
                                      <p:to>
                                        <p:strVal val="visible"/>
                                      </p:to>
                                    </p:set>
                                  </p:childTnLst>
                                  <p:subTnLst>
                                    <p:set>
                                      <p:cBhvr override="childStyle">
                                        <p:cTn dur="1" fill="hold" display="0" masterRel="nextClick" afterEffect="1"/>
                                        <p:tgtEl>
                                          <p:spTgt spid="8705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54" grpId="0" animBg="1" autoUpdateAnimBg="0"/>
      <p:bldP spid="2" grpId="0"/>
      <p:bldP spid="3" grpId="0"/>
      <p:bldP spid="4" grpId="0"/>
      <p:bldP spid="5" grpId="0"/>
      <p:bldP spid="13" grpId="0" animBg="1"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p:cNvGraphicFramePr>
            <a:graphicFrameLocks noGrp="1"/>
          </p:cNvGraphicFramePr>
          <p:nvPr>
            <p:extLst>
              <p:ext uri="{D42A27DB-BD31-4B8C-83A1-F6EECF244321}">
                <p14:modId xmlns:p14="http://schemas.microsoft.com/office/powerpoint/2010/main" val="1747198975"/>
              </p:ext>
            </p:extLst>
          </p:nvPr>
        </p:nvGraphicFramePr>
        <p:xfrm>
          <a:off x="3779911" y="1166410"/>
          <a:ext cx="5136939" cy="3220880"/>
        </p:xfrm>
        <a:graphic>
          <a:graphicData uri="http://schemas.openxmlformats.org/drawingml/2006/table">
            <a:tbl>
              <a:tblPr/>
              <a:tblGrid>
                <a:gridCol w="5136939">
                  <a:extLst>
                    <a:ext uri="{9D8B030D-6E8A-4147-A177-3AD203B41FA5}">
                      <a16:colId xmlns:a16="http://schemas.microsoft.com/office/drawing/2014/main" val="20000"/>
                    </a:ext>
                  </a:extLst>
                </a:gridCol>
              </a:tblGrid>
              <a:tr h="752165">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en-US" sz="1700" kern="100" dirty="0">
                          <a:latin typeface="Times New Roman"/>
                          <a:ea typeface="宋体"/>
                          <a:cs typeface="Times New Roman"/>
                        </a:rPr>
                        <a:t>（</a:t>
                      </a:r>
                      <a:r>
                        <a:rPr lang="en-US" altLang="zh-CN" sz="1700" kern="100" dirty="0">
                          <a:latin typeface="Times New Roman"/>
                          <a:ea typeface="宋体"/>
                          <a:cs typeface="Times New Roman"/>
                        </a:rPr>
                        <a:t>5</a:t>
                      </a:r>
                      <a:r>
                        <a:rPr lang="zh-CN" altLang="en-US" sz="1700" kern="100" dirty="0">
                          <a:latin typeface="Times New Roman"/>
                          <a:ea typeface="宋体"/>
                          <a:cs typeface="Times New Roman"/>
                        </a:rPr>
                        <a:t>）</a:t>
                      </a:r>
                      <a:r>
                        <a:rPr lang="en-US" altLang="zh-CN" sz="1700" kern="100" dirty="0">
                          <a:latin typeface="Times New Roman"/>
                          <a:ea typeface="宋体"/>
                          <a:cs typeface="Times New Roman"/>
                        </a:rPr>
                        <a:t>&lt;BT&gt;</a:t>
                      </a:r>
                      <a:r>
                        <a:rPr lang="en-US" altLang="zh-CN" sz="1700" kern="100" baseline="30000" dirty="0">
                          <a:latin typeface="Times New Roman"/>
                          <a:ea typeface="宋体"/>
                          <a:cs typeface="Times New Roman"/>
                        </a:rPr>
                        <a:t>and</a:t>
                      </a:r>
                      <a:r>
                        <a:rPr lang="en-US" altLang="zh-CN" sz="1700" kern="100" dirty="0">
                          <a:latin typeface="Times New Roman"/>
                          <a:ea typeface="宋体"/>
                          <a:cs typeface="Times New Roman"/>
                        </a:rPr>
                        <a:t>→&lt;BT&gt; &amp;&amp;</a:t>
                      </a:r>
                      <a:endParaRPr lang="zh-CN" altLang="zh-CN" sz="17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822905">
                <a:tc>
                  <a:txBody>
                    <a:bodyPr/>
                    <a:lstStyle/>
                    <a:p>
                      <a:pPr algn="just">
                        <a:spcAft>
                          <a:spcPts val="0"/>
                        </a:spcAft>
                      </a:pPr>
                      <a:endParaRPr lang="zh-CN" sz="17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822905">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en-US" sz="1700" kern="100" dirty="0">
                          <a:latin typeface="Times New Roman"/>
                          <a:ea typeface="宋体"/>
                          <a:cs typeface="Times New Roman"/>
                        </a:rPr>
                        <a:t>（</a:t>
                      </a:r>
                      <a:r>
                        <a:rPr lang="en-US" altLang="zh-CN" sz="1700" kern="100" dirty="0">
                          <a:latin typeface="Times New Roman"/>
                          <a:ea typeface="宋体"/>
                          <a:cs typeface="Times New Roman"/>
                        </a:rPr>
                        <a:t>4</a:t>
                      </a:r>
                      <a:r>
                        <a:rPr lang="zh-CN" altLang="en-US" sz="1700" kern="100" dirty="0">
                          <a:latin typeface="Times New Roman"/>
                          <a:ea typeface="宋体"/>
                          <a:cs typeface="Times New Roman"/>
                        </a:rPr>
                        <a:t>）</a:t>
                      </a:r>
                      <a:r>
                        <a:rPr lang="en-US" altLang="zh-CN" sz="1700" kern="100" dirty="0">
                          <a:latin typeface="Times New Roman"/>
                          <a:ea typeface="宋体"/>
                          <a:cs typeface="Times New Roman"/>
                        </a:rPr>
                        <a:t>&lt;BT&gt;→&lt;BT&gt;</a:t>
                      </a:r>
                      <a:r>
                        <a:rPr lang="en-US" altLang="zh-CN" sz="1700" kern="100" baseline="30000" dirty="0">
                          <a:latin typeface="Times New Roman"/>
                          <a:ea typeface="宋体"/>
                          <a:cs typeface="Times New Roman"/>
                        </a:rPr>
                        <a:t>and  </a:t>
                      </a:r>
                      <a:r>
                        <a:rPr lang="en-US" altLang="zh-CN" sz="1700" kern="100" dirty="0">
                          <a:latin typeface="Times New Roman"/>
                          <a:ea typeface="宋体"/>
                          <a:cs typeface="Times New Roman"/>
                        </a:rPr>
                        <a:t>&lt;BF&gt;</a:t>
                      </a:r>
                      <a:endParaRPr lang="zh-CN" altLang="zh-CN" sz="17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822905">
                <a:tc>
                  <a:txBody>
                    <a:bodyPr/>
                    <a:lstStyle/>
                    <a:p>
                      <a:pPr algn="just">
                        <a:spcAft>
                          <a:spcPts val="0"/>
                        </a:spcAft>
                      </a:pPr>
                      <a:endParaRPr lang="zh-CN" sz="17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99356" name="Rectangle 5"/>
          <p:cNvSpPr>
            <a:spLocks noGrp="1" noChangeArrowheads="1"/>
          </p:cNvSpPr>
          <p:nvPr>
            <p:ph type="title"/>
          </p:nvPr>
        </p:nvSpPr>
        <p:spPr/>
        <p:txBody>
          <a:bodyPr>
            <a:normAutofit fontScale="90000"/>
          </a:bodyPr>
          <a:lstStyle/>
          <a:p>
            <a:r>
              <a:rPr lang="en-US" altLang="zh-CN" dirty="0">
                <a:solidFill>
                  <a:srgbClr val="0033CC"/>
                </a:solidFill>
              </a:rPr>
              <a:t>6. </a:t>
            </a:r>
            <a:r>
              <a:rPr lang="zh-CN" altLang="en-US" dirty="0">
                <a:solidFill>
                  <a:srgbClr val="0033CC"/>
                </a:solidFill>
              </a:rPr>
              <a:t>总结前面的分析，各产生式的语义动作为：</a:t>
            </a:r>
            <a:endParaRPr lang="zh-CN" altLang="zh-CN" dirty="0"/>
          </a:p>
        </p:txBody>
      </p:sp>
      <p:sp>
        <p:nvSpPr>
          <p:cNvPr id="89097" name="AutoShape 9"/>
          <p:cNvSpPr>
            <a:spLocks noChangeArrowheads="1"/>
          </p:cNvSpPr>
          <p:nvPr/>
        </p:nvSpPr>
        <p:spPr bwMode="auto">
          <a:xfrm>
            <a:off x="4644008" y="4743450"/>
            <a:ext cx="2713112" cy="400050"/>
          </a:xfrm>
          <a:prstGeom prst="wedgeRoundRectCallout">
            <a:avLst>
              <a:gd name="adj1" fmla="val -90162"/>
              <a:gd name="adj2" fmla="val -132853"/>
              <a:gd name="adj3" fmla="val 16667"/>
            </a:avLst>
          </a:prstGeom>
          <a:solidFill>
            <a:srgbClr val="00CC99"/>
          </a:solidFill>
          <a:ln w="9525">
            <a:solidFill>
              <a:schemeClr val="accent1"/>
            </a:solidFill>
            <a:miter lim="800000"/>
            <a:headEnd/>
            <a:tailEnd/>
          </a:ln>
        </p:spPr>
        <p:txBody>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0"/>
              </a:spcBef>
              <a:buFontTx/>
              <a:buNone/>
            </a:pPr>
            <a:r>
              <a:rPr kumimoji="1" lang="en-US" altLang="zh-CN" sz="1800" b="1" dirty="0">
                <a:solidFill>
                  <a:srgbClr val="CC0000"/>
                </a:solidFill>
                <a:latin typeface="Times New Roman" pitchFamily="18" charset="0"/>
              </a:rPr>
              <a:t>(5)(4)</a:t>
            </a:r>
            <a:r>
              <a:rPr kumimoji="1" lang="zh-CN" altLang="en-US" sz="1800" b="1" dirty="0">
                <a:solidFill>
                  <a:srgbClr val="CC0000"/>
                </a:solidFill>
                <a:latin typeface="Times New Roman" pitchFamily="18" charset="0"/>
              </a:rPr>
              <a:t>构成</a:t>
            </a:r>
            <a:r>
              <a:rPr kumimoji="1" lang="en-US" altLang="zh-CN" sz="1800" b="1" dirty="0">
                <a:solidFill>
                  <a:srgbClr val="CC0000"/>
                </a:solidFill>
                <a:latin typeface="Times New Roman" pitchFamily="18" charset="0"/>
              </a:rPr>
              <a:t>and</a:t>
            </a:r>
            <a:r>
              <a:rPr kumimoji="1" lang="zh-CN" altLang="en-US" sz="1800" b="1" dirty="0">
                <a:solidFill>
                  <a:srgbClr val="CC0000"/>
                </a:solidFill>
                <a:latin typeface="Times New Roman" pitchFamily="18" charset="0"/>
              </a:rPr>
              <a:t>逻辑运算</a:t>
            </a:r>
          </a:p>
        </p:txBody>
      </p:sp>
      <p:sp>
        <p:nvSpPr>
          <p:cNvPr id="2" name="矩形 1"/>
          <p:cNvSpPr/>
          <p:nvPr/>
        </p:nvSpPr>
        <p:spPr>
          <a:xfrm>
            <a:off x="4338173" y="1995686"/>
            <a:ext cx="4572000" cy="646331"/>
          </a:xfrm>
          <a:prstGeom prst="rect">
            <a:avLst/>
          </a:prstGeom>
        </p:spPr>
        <p:txBody>
          <a:bodyPr>
            <a:spAutoFit/>
          </a:bodyPr>
          <a:lstStyle/>
          <a:p>
            <a:pPr algn="just">
              <a:spcAft>
                <a:spcPts val="0"/>
              </a:spcAft>
            </a:pPr>
            <a:r>
              <a:rPr lang="en-US" altLang="zh-CN" kern="100" dirty="0">
                <a:latin typeface="Times New Roman"/>
                <a:ea typeface="宋体"/>
                <a:cs typeface="Times New Roman"/>
              </a:rPr>
              <a:t>{  </a:t>
            </a:r>
            <a:r>
              <a:rPr lang="en-US" altLang="zh-CN" kern="100" dirty="0" err="1">
                <a:latin typeface="Times New Roman"/>
                <a:ea typeface="宋体"/>
                <a:cs typeface="Times New Roman"/>
              </a:rPr>
              <a:t>backpatch</a:t>
            </a:r>
            <a:r>
              <a:rPr lang="en-US" altLang="zh-CN" kern="100" dirty="0">
                <a:latin typeface="Times New Roman"/>
                <a:ea typeface="宋体"/>
                <a:cs typeface="Times New Roman"/>
              </a:rPr>
              <a:t>(&lt;BT&gt;.TC</a:t>
            </a:r>
            <a:r>
              <a:rPr lang="zh-CN" altLang="zh-CN" kern="100" dirty="0">
                <a:latin typeface="Times New Roman"/>
                <a:ea typeface="宋体"/>
                <a:cs typeface="Times New Roman"/>
              </a:rPr>
              <a:t>，</a:t>
            </a:r>
            <a:r>
              <a:rPr lang="en-US" altLang="zh-CN" kern="100" dirty="0">
                <a:latin typeface="Times New Roman"/>
                <a:ea typeface="宋体"/>
                <a:cs typeface="Times New Roman"/>
              </a:rPr>
              <a:t>NXQ);</a:t>
            </a:r>
            <a:endParaRPr lang="zh-CN" altLang="zh-CN" kern="100" dirty="0">
              <a:latin typeface="Times New Roman"/>
              <a:ea typeface="宋体"/>
              <a:cs typeface="Times New Roman"/>
            </a:endParaRPr>
          </a:p>
          <a:p>
            <a:pPr indent="171450" algn="just">
              <a:spcAft>
                <a:spcPts val="0"/>
              </a:spcAft>
            </a:pPr>
            <a:r>
              <a:rPr lang="en-US" altLang="zh-CN" kern="100" dirty="0">
                <a:latin typeface="Times New Roman"/>
                <a:ea typeface="宋体"/>
                <a:cs typeface="Times New Roman"/>
              </a:rPr>
              <a:t>&lt;BT&gt;</a:t>
            </a:r>
            <a:r>
              <a:rPr lang="en-US" altLang="zh-CN" kern="100" baseline="30000" dirty="0" err="1">
                <a:latin typeface="Times New Roman"/>
                <a:ea typeface="宋体"/>
                <a:cs typeface="Times New Roman"/>
              </a:rPr>
              <a:t>and</a:t>
            </a:r>
            <a:r>
              <a:rPr lang="en-US" altLang="zh-CN" kern="100" dirty="0" err="1">
                <a:latin typeface="Times New Roman"/>
                <a:ea typeface="宋体"/>
                <a:cs typeface="Times New Roman"/>
              </a:rPr>
              <a:t>.FC</a:t>
            </a:r>
            <a:r>
              <a:rPr lang="en-US" altLang="zh-CN" kern="100" dirty="0">
                <a:latin typeface="Times New Roman"/>
                <a:ea typeface="宋体"/>
                <a:cs typeface="Times New Roman"/>
              </a:rPr>
              <a:t>=&lt;BT&gt;.FC                }</a:t>
            </a:r>
            <a:endParaRPr lang="zh-CN" altLang="zh-CN" kern="100" dirty="0">
              <a:latin typeface="Times New Roman"/>
              <a:ea typeface="宋体"/>
              <a:cs typeface="Times New Roman"/>
            </a:endParaRPr>
          </a:p>
        </p:txBody>
      </p:sp>
      <p:sp>
        <p:nvSpPr>
          <p:cNvPr id="3" name="矩形 2"/>
          <p:cNvSpPr/>
          <p:nvPr/>
        </p:nvSpPr>
        <p:spPr>
          <a:xfrm>
            <a:off x="4283968" y="3651870"/>
            <a:ext cx="4572000" cy="646331"/>
          </a:xfrm>
          <a:prstGeom prst="rect">
            <a:avLst/>
          </a:prstGeom>
        </p:spPr>
        <p:txBody>
          <a:bodyPr>
            <a:spAutoFit/>
          </a:bodyPr>
          <a:lstStyle/>
          <a:p>
            <a:pPr algn="just">
              <a:spcAft>
                <a:spcPts val="0"/>
              </a:spcAft>
            </a:pPr>
            <a:r>
              <a:rPr lang="en-US" altLang="zh-CN" kern="100" dirty="0">
                <a:latin typeface="Times New Roman"/>
                <a:ea typeface="宋体"/>
                <a:cs typeface="Times New Roman"/>
              </a:rPr>
              <a:t>{  &lt;BT&gt;.TC=&lt;BF&gt;.TC;</a:t>
            </a:r>
            <a:endParaRPr lang="zh-CN" altLang="zh-CN" kern="100" dirty="0">
              <a:latin typeface="Times New Roman"/>
              <a:ea typeface="宋体"/>
              <a:cs typeface="Times New Roman"/>
            </a:endParaRPr>
          </a:p>
          <a:p>
            <a:pPr indent="171450" algn="just">
              <a:spcAft>
                <a:spcPts val="0"/>
              </a:spcAft>
            </a:pPr>
            <a:r>
              <a:rPr lang="en-US" altLang="zh-CN" kern="100" dirty="0">
                <a:latin typeface="Times New Roman"/>
                <a:ea typeface="宋体"/>
                <a:cs typeface="Times New Roman"/>
              </a:rPr>
              <a:t>&lt;BT&gt;.FC=merge(&lt;BT&gt;</a:t>
            </a:r>
            <a:r>
              <a:rPr lang="en-US" altLang="zh-CN" kern="100" baseline="30000" dirty="0" err="1">
                <a:latin typeface="Times New Roman"/>
                <a:ea typeface="宋体"/>
                <a:cs typeface="Times New Roman"/>
              </a:rPr>
              <a:t>and</a:t>
            </a:r>
            <a:r>
              <a:rPr lang="en-US" altLang="zh-CN" kern="100" dirty="0" err="1">
                <a:latin typeface="Times New Roman"/>
                <a:ea typeface="宋体"/>
                <a:cs typeface="Times New Roman"/>
              </a:rPr>
              <a:t>.FC</a:t>
            </a:r>
            <a:r>
              <a:rPr lang="zh-CN" altLang="zh-CN" kern="100" dirty="0">
                <a:latin typeface="Times New Roman"/>
                <a:ea typeface="宋体"/>
                <a:cs typeface="Times New Roman"/>
              </a:rPr>
              <a:t>，</a:t>
            </a:r>
            <a:r>
              <a:rPr lang="en-US" altLang="zh-CN" kern="100" dirty="0">
                <a:latin typeface="Times New Roman"/>
                <a:ea typeface="宋体"/>
                <a:cs typeface="Times New Roman"/>
              </a:rPr>
              <a:t>&lt;BF&gt;.FC) }</a:t>
            </a:r>
            <a:endParaRPr lang="zh-CN" altLang="zh-CN" kern="100" dirty="0">
              <a:latin typeface="Times New Roman"/>
              <a:ea typeface="宋体"/>
              <a:cs typeface="Times New Roman"/>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030153594"/>
              </p:ext>
            </p:extLst>
          </p:nvPr>
        </p:nvGraphicFramePr>
        <p:xfrm>
          <a:off x="179512" y="1332747"/>
          <a:ext cx="3321050" cy="3082925"/>
        </p:xfrm>
        <a:graphic>
          <a:graphicData uri="http://schemas.openxmlformats.org/presentationml/2006/ole">
            <mc:AlternateContent xmlns:mc="http://schemas.openxmlformats.org/markup-compatibility/2006">
              <mc:Choice xmlns:v="urn:schemas-microsoft-com:vml" Requires="v">
                <p:oleObj spid="_x0000_s25605" name="Visio" r:id="rId4" imgW="2031640" imgH="1885680" progId="Visio.Drawing.11">
                  <p:embed/>
                </p:oleObj>
              </mc:Choice>
              <mc:Fallback>
                <p:oleObj name="Visio" r:id="rId4" imgW="2031640" imgH="1885680" progId="Visio.Drawing.11">
                  <p:embed/>
                  <p:pic>
                    <p:nvPicPr>
                      <p:cNvPr id="6" name="对象 5"/>
                      <p:cNvPicPr>
                        <a:picLocks noChangeAspect="1" noChangeArrowheads="1"/>
                      </p:cNvPicPr>
                      <p:nvPr/>
                    </p:nvPicPr>
                    <p:blipFill>
                      <a:blip r:embed="rId5"/>
                      <a:srcRect/>
                      <a:stretch>
                        <a:fillRect/>
                      </a:stretch>
                    </p:blipFill>
                    <p:spPr bwMode="auto">
                      <a:xfrm>
                        <a:off x="179512" y="1332747"/>
                        <a:ext cx="3321050" cy="3082925"/>
                      </a:xfrm>
                      <a:prstGeom prst="rect">
                        <a:avLst/>
                      </a:prstGeom>
                      <a:solidFill>
                        <a:schemeClr val="bg1"/>
                      </a:solidFill>
                      <a:ln>
                        <a:noFill/>
                      </a:ln>
                    </p:spPr>
                  </p:pic>
                </p:oleObj>
              </mc:Fallback>
            </mc:AlternateContent>
          </a:graphicData>
        </a:graphic>
      </p:graphicFrame>
    </p:spTree>
    <p:extLst>
      <p:ext uri="{BB962C8B-B14F-4D97-AF65-F5344CB8AC3E}">
        <p14:creationId xmlns:p14="http://schemas.microsoft.com/office/powerpoint/2010/main" val="25326534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9097"/>
                                        </p:tgtEl>
                                        <p:attrNameLst>
                                          <p:attrName>style.visibility</p:attrName>
                                        </p:attrNameLst>
                                      </p:cBhvr>
                                      <p:to>
                                        <p:strVal val="visible"/>
                                      </p:to>
                                    </p:set>
                                  </p:childTnLst>
                                  <p:subTnLst>
                                    <p:set>
                                      <p:cBhvr override="childStyle">
                                        <p:cTn dur="1" fill="hold" display="0" masterRel="nextClick" afterEffect="1"/>
                                        <p:tgtEl>
                                          <p:spTgt spid="89097"/>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7" grpId="0" animBg="1" autoUpdateAnimBg="0"/>
      <p:bldP spid="2" grpId="0"/>
      <p:bldP spid="3"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p:cNvGraphicFramePr>
            <a:graphicFrameLocks noGrp="1"/>
          </p:cNvGraphicFramePr>
          <p:nvPr>
            <p:extLst>
              <p:ext uri="{D42A27DB-BD31-4B8C-83A1-F6EECF244321}">
                <p14:modId xmlns:p14="http://schemas.microsoft.com/office/powerpoint/2010/main" val="3809850647"/>
              </p:ext>
            </p:extLst>
          </p:nvPr>
        </p:nvGraphicFramePr>
        <p:xfrm>
          <a:off x="3635896" y="1076124"/>
          <a:ext cx="5491300" cy="3419818"/>
        </p:xfrm>
        <a:graphic>
          <a:graphicData uri="http://schemas.openxmlformats.org/drawingml/2006/table">
            <a:tbl>
              <a:tblPr/>
              <a:tblGrid>
                <a:gridCol w="5491300">
                  <a:extLst>
                    <a:ext uri="{9D8B030D-6E8A-4147-A177-3AD203B41FA5}">
                      <a16:colId xmlns:a16="http://schemas.microsoft.com/office/drawing/2014/main" val="20000"/>
                    </a:ext>
                  </a:extLst>
                </a:gridCol>
              </a:tblGrid>
              <a:tr h="274302">
                <a:tc>
                  <a:txBody>
                    <a:bodyPr/>
                    <a:lstStyle/>
                    <a:p>
                      <a:pPr algn="ctr">
                        <a:spcAft>
                          <a:spcPts val="0"/>
                        </a:spcAft>
                      </a:pPr>
                      <a:r>
                        <a:rPr lang="zh-CN" sz="1700" kern="100" dirty="0">
                          <a:latin typeface="Times New Roman"/>
                          <a:ea typeface="宋体"/>
                          <a:cs typeface="Times New Roman"/>
                        </a:rPr>
                        <a:t>语义规则</a:t>
                      </a: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676801">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en-US" sz="1700" kern="100" dirty="0">
                          <a:latin typeface="Times New Roman"/>
                          <a:ea typeface="宋体"/>
                          <a:cs typeface="Times New Roman"/>
                        </a:rPr>
                        <a:t>（</a:t>
                      </a:r>
                      <a:r>
                        <a:rPr lang="en-US" altLang="zh-CN" sz="1700" kern="100" dirty="0">
                          <a:latin typeface="Times New Roman"/>
                          <a:ea typeface="宋体"/>
                          <a:cs typeface="Times New Roman"/>
                        </a:rPr>
                        <a:t>2</a:t>
                      </a:r>
                      <a:r>
                        <a:rPr lang="zh-CN" altLang="en-US" sz="1700" kern="100" dirty="0">
                          <a:latin typeface="Times New Roman"/>
                          <a:ea typeface="宋体"/>
                          <a:cs typeface="Times New Roman"/>
                        </a:rPr>
                        <a:t>）</a:t>
                      </a:r>
                      <a:r>
                        <a:rPr lang="en-US" altLang="zh-CN" sz="1700" kern="100" dirty="0">
                          <a:latin typeface="Times New Roman"/>
                          <a:ea typeface="宋体"/>
                          <a:cs typeface="Times New Roman"/>
                        </a:rPr>
                        <a:t>&lt;BE&gt;</a:t>
                      </a:r>
                      <a:r>
                        <a:rPr lang="en-US" altLang="zh-CN" sz="1700" kern="100" baseline="30000" dirty="0">
                          <a:latin typeface="Times New Roman"/>
                          <a:ea typeface="宋体"/>
                          <a:cs typeface="Times New Roman"/>
                        </a:rPr>
                        <a:t>or</a:t>
                      </a:r>
                      <a:r>
                        <a:rPr lang="en-US" altLang="zh-CN" sz="1700" kern="100" dirty="0">
                          <a:latin typeface="Times New Roman"/>
                          <a:ea typeface="宋体"/>
                          <a:cs typeface="Times New Roman"/>
                        </a:rPr>
                        <a:t>→&lt;BE&gt; ||</a:t>
                      </a:r>
                      <a:endParaRPr lang="zh-CN" altLang="zh-CN" sz="17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822905">
                <a:tc>
                  <a:txBody>
                    <a:bodyPr/>
                    <a:lstStyle/>
                    <a:p>
                      <a:pPr algn="just">
                        <a:spcAft>
                          <a:spcPts val="0"/>
                        </a:spcAft>
                      </a:pPr>
                      <a:endParaRPr lang="zh-CN" sz="17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822905">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en-US" sz="1700" kern="100" dirty="0">
                          <a:latin typeface="Times New Roman"/>
                          <a:ea typeface="宋体"/>
                          <a:cs typeface="Times New Roman"/>
                        </a:rPr>
                        <a:t>（</a:t>
                      </a:r>
                      <a:r>
                        <a:rPr lang="en-US" altLang="zh-CN" sz="1700" kern="100" dirty="0">
                          <a:latin typeface="Times New Roman"/>
                          <a:ea typeface="宋体"/>
                          <a:cs typeface="Times New Roman"/>
                        </a:rPr>
                        <a:t>1</a:t>
                      </a:r>
                      <a:r>
                        <a:rPr lang="zh-CN" altLang="en-US" sz="1700" kern="100" dirty="0">
                          <a:latin typeface="Times New Roman"/>
                          <a:ea typeface="宋体"/>
                          <a:cs typeface="Times New Roman"/>
                        </a:rPr>
                        <a:t>）</a:t>
                      </a:r>
                      <a:r>
                        <a:rPr lang="en-US" altLang="zh-CN" sz="1700" kern="100" dirty="0">
                          <a:latin typeface="Times New Roman"/>
                          <a:ea typeface="宋体"/>
                          <a:cs typeface="Times New Roman"/>
                        </a:rPr>
                        <a:t>&lt;BE&gt;→&lt;BE&gt;</a:t>
                      </a:r>
                      <a:r>
                        <a:rPr lang="en-US" altLang="zh-CN" sz="1700" kern="100" baseline="30000" dirty="0">
                          <a:latin typeface="Times New Roman"/>
                          <a:ea typeface="宋体"/>
                          <a:cs typeface="Times New Roman"/>
                        </a:rPr>
                        <a:t>or  </a:t>
                      </a:r>
                      <a:r>
                        <a:rPr lang="en-US" altLang="zh-CN" sz="1700" kern="100" dirty="0">
                          <a:latin typeface="Times New Roman"/>
                          <a:ea typeface="宋体"/>
                          <a:cs typeface="Times New Roman"/>
                        </a:rPr>
                        <a:t>&lt;BT&gt;</a:t>
                      </a:r>
                      <a:endParaRPr lang="zh-CN" altLang="zh-CN" sz="17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822905">
                <a:tc>
                  <a:txBody>
                    <a:bodyPr/>
                    <a:lstStyle/>
                    <a:p>
                      <a:pPr algn="just">
                        <a:spcAft>
                          <a:spcPts val="0"/>
                        </a:spcAft>
                      </a:pPr>
                      <a:endParaRPr lang="zh-CN" sz="17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chemeClr val="accent1">
                        <a:lumMod val="20000"/>
                        <a:lumOff val="80000"/>
                      </a:schemeClr>
                    </a:solidFill>
                  </a:tcPr>
                </a:tc>
                <a:extLst>
                  <a:ext uri="{0D108BD9-81ED-4DB2-BD59-A6C34878D82A}">
                    <a16:rowId xmlns:a16="http://schemas.microsoft.com/office/drawing/2014/main" val="10004"/>
                  </a:ext>
                </a:extLst>
              </a:tr>
            </a:tbl>
          </a:graphicData>
        </a:graphic>
      </p:graphicFrame>
      <p:sp>
        <p:nvSpPr>
          <p:cNvPr id="99356" name="Rectangle 5"/>
          <p:cNvSpPr>
            <a:spLocks noGrp="1" noChangeArrowheads="1"/>
          </p:cNvSpPr>
          <p:nvPr>
            <p:ph type="title"/>
          </p:nvPr>
        </p:nvSpPr>
        <p:spPr/>
        <p:txBody>
          <a:bodyPr>
            <a:normAutofit fontScale="90000"/>
          </a:bodyPr>
          <a:lstStyle/>
          <a:p>
            <a:r>
              <a:rPr lang="en-US" altLang="zh-CN" dirty="0">
                <a:solidFill>
                  <a:srgbClr val="0033CC"/>
                </a:solidFill>
              </a:rPr>
              <a:t>6. </a:t>
            </a:r>
            <a:r>
              <a:rPr lang="zh-CN" altLang="en-US" dirty="0">
                <a:solidFill>
                  <a:srgbClr val="0033CC"/>
                </a:solidFill>
              </a:rPr>
              <a:t>总结前面的分析，各产生式的语义动作为：</a:t>
            </a:r>
            <a:endParaRPr lang="zh-CN" altLang="zh-CN" dirty="0"/>
          </a:p>
        </p:txBody>
      </p:sp>
      <p:sp>
        <p:nvSpPr>
          <p:cNvPr id="89098" name="AutoShape 10"/>
          <p:cNvSpPr>
            <a:spLocks noChangeArrowheads="1"/>
          </p:cNvSpPr>
          <p:nvPr/>
        </p:nvSpPr>
        <p:spPr bwMode="auto">
          <a:xfrm>
            <a:off x="5621996" y="4743450"/>
            <a:ext cx="3505200" cy="400050"/>
          </a:xfrm>
          <a:prstGeom prst="wedgeRoundRectCallout">
            <a:avLst>
              <a:gd name="adj1" fmla="val 25963"/>
              <a:gd name="adj2" fmla="val -178807"/>
              <a:gd name="adj3" fmla="val 16667"/>
            </a:avLst>
          </a:prstGeom>
          <a:solidFill>
            <a:srgbClr val="00CC99"/>
          </a:solidFill>
          <a:ln w="9525">
            <a:solidFill>
              <a:schemeClr val="accent1"/>
            </a:solidFill>
            <a:miter lim="800000"/>
            <a:headEnd/>
            <a:tailEnd/>
          </a:ln>
        </p:spPr>
        <p:txBody>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eaLnBrk="1" hangingPunct="1">
              <a:lnSpc>
                <a:spcPct val="100000"/>
              </a:lnSpc>
              <a:spcBef>
                <a:spcPct val="0"/>
              </a:spcBef>
              <a:buFontTx/>
              <a:buNone/>
            </a:pPr>
            <a:r>
              <a:rPr kumimoji="1" lang="en-US" altLang="zh-CN" sz="1800" b="1">
                <a:solidFill>
                  <a:srgbClr val="CC0000"/>
                </a:solidFill>
                <a:latin typeface="Times New Roman" pitchFamily="18" charset="0"/>
              </a:rPr>
              <a:t>(2)(1)</a:t>
            </a:r>
            <a:r>
              <a:rPr kumimoji="1" lang="zh-CN" altLang="en-US" sz="1800" b="1">
                <a:solidFill>
                  <a:srgbClr val="CC0000"/>
                </a:solidFill>
                <a:latin typeface="Times New Roman" pitchFamily="18" charset="0"/>
              </a:rPr>
              <a:t>构成</a:t>
            </a:r>
            <a:r>
              <a:rPr kumimoji="1" lang="en-US" altLang="zh-CN" sz="1800" b="1">
                <a:solidFill>
                  <a:srgbClr val="CC0000"/>
                </a:solidFill>
                <a:latin typeface="Times New Roman" pitchFamily="18" charset="0"/>
              </a:rPr>
              <a:t>or</a:t>
            </a:r>
            <a:r>
              <a:rPr kumimoji="1" lang="zh-CN" altLang="en-US" sz="1800" b="1">
                <a:solidFill>
                  <a:srgbClr val="CC0000"/>
                </a:solidFill>
                <a:latin typeface="Times New Roman" pitchFamily="18" charset="0"/>
              </a:rPr>
              <a:t>逻辑运算</a:t>
            </a:r>
          </a:p>
        </p:txBody>
      </p:sp>
      <p:sp>
        <p:nvSpPr>
          <p:cNvPr id="4" name="矩形 3"/>
          <p:cNvSpPr/>
          <p:nvPr/>
        </p:nvSpPr>
        <p:spPr>
          <a:xfrm>
            <a:off x="3816424" y="2139701"/>
            <a:ext cx="4572000" cy="646331"/>
          </a:xfrm>
          <a:prstGeom prst="rect">
            <a:avLst/>
          </a:prstGeom>
        </p:spPr>
        <p:txBody>
          <a:bodyPr>
            <a:spAutoFit/>
          </a:bodyPr>
          <a:lstStyle/>
          <a:p>
            <a:pPr algn="just">
              <a:spcAft>
                <a:spcPts val="0"/>
              </a:spcAft>
            </a:pPr>
            <a:r>
              <a:rPr lang="en-US" altLang="zh-CN" kern="100" dirty="0">
                <a:latin typeface="Times New Roman"/>
                <a:ea typeface="宋体"/>
                <a:cs typeface="Times New Roman"/>
              </a:rPr>
              <a:t>{  </a:t>
            </a:r>
            <a:r>
              <a:rPr lang="en-US" altLang="zh-CN" kern="100" dirty="0" err="1">
                <a:latin typeface="Times New Roman"/>
                <a:ea typeface="宋体"/>
                <a:cs typeface="Times New Roman"/>
              </a:rPr>
              <a:t>backpatch</a:t>
            </a:r>
            <a:r>
              <a:rPr lang="en-US" altLang="zh-CN" kern="100" dirty="0">
                <a:latin typeface="Times New Roman"/>
                <a:ea typeface="宋体"/>
                <a:cs typeface="Times New Roman"/>
              </a:rPr>
              <a:t>(&lt;BE&gt;.FC</a:t>
            </a:r>
            <a:r>
              <a:rPr lang="zh-CN" altLang="zh-CN" kern="100" dirty="0">
                <a:latin typeface="Times New Roman"/>
                <a:ea typeface="宋体"/>
                <a:cs typeface="Times New Roman"/>
              </a:rPr>
              <a:t>，</a:t>
            </a:r>
            <a:r>
              <a:rPr lang="en-US" altLang="zh-CN" kern="100" dirty="0">
                <a:latin typeface="Times New Roman"/>
                <a:ea typeface="宋体"/>
                <a:cs typeface="Times New Roman"/>
              </a:rPr>
              <a:t>NXQ);</a:t>
            </a:r>
            <a:endParaRPr lang="zh-CN" altLang="zh-CN" kern="100" dirty="0">
              <a:latin typeface="Times New Roman"/>
              <a:ea typeface="宋体"/>
              <a:cs typeface="Times New Roman"/>
            </a:endParaRPr>
          </a:p>
          <a:p>
            <a:pPr indent="171450" algn="just">
              <a:spcAft>
                <a:spcPts val="0"/>
              </a:spcAft>
            </a:pPr>
            <a:r>
              <a:rPr lang="en-US" altLang="zh-CN" kern="100" dirty="0">
                <a:latin typeface="Times New Roman"/>
                <a:ea typeface="宋体"/>
                <a:cs typeface="Times New Roman"/>
              </a:rPr>
              <a:t>&lt;BE&gt;</a:t>
            </a:r>
            <a:r>
              <a:rPr lang="en-US" altLang="zh-CN" kern="100" baseline="30000" dirty="0">
                <a:latin typeface="Times New Roman"/>
                <a:ea typeface="宋体"/>
                <a:cs typeface="Times New Roman"/>
              </a:rPr>
              <a:t>or</a:t>
            </a:r>
            <a:r>
              <a:rPr lang="en-US" altLang="zh-CN" kern="100" dirty="0">
                <a:latin typeface="Times New Roman"/>
                <a:ea typeface="宋体"/>
                <a:cs typeface="Times New Roman"/>
              </a:rPr>
              <a:t>.TC=&lt;BE&gt;.TC              }</a:t>
            </a:r>
            <a:endParaRPr lang="zh-CN" altLang="zh-CN" kern="100" dirty="0">
              <a:latin typeface="Times New Roman"/>
              <a:ea typeface="宋体"/>
              <a:cs typeface="Times New Roman"/>
            </a:endParaRPr>
          </a:p>
        </p:txBody>
      </p:sp>
      <p:sp>
        <p:nvSpPr>
          <p:cNvPr id="5" name="矩形 4"/>
          <p:cNvSpPr/>
          <p:nvPr/>
        </p:nvSpPr>
        <p:spPr>
          <a:xfrm>
            <a:off x="3805064" y="3725618"/>
            <a:ext cx="4572000" cy="646331"/>
          </a:xfrm>
          <a:prstGeom prst="rect">
            <a:avLst/>
          </a:prstGeom>
        </p:spPr>
        <p:txBody>
          <a:bodyPr>
            <a:spAutoFit/>
          </a:bodyPr>
          <a:lstStyle/>
          <a:p>
            <a:pPr algn="just">
              <a:spcAft>
                <a:spcPts val="0"/>
              </a:spcAft>
            </a:pPr>
            <a:r>
              <a:rPr lang="en-US" altLang="zh-CN" kern="100" dirty="0">
                <a:latin typeface="Times New Roman"/>
                <a:ea typeface="宋体"/>
                <a:cs typeface="Times New Roman"/>
              </a:rPr>
              <a:t>{  &lt;BE&gt;.FC=&lt;BT&gt;.FC;</a:t>
            </a:r>
            <a:endParaRPr lang="zh-CN" altLang="zh-CN" kern="100" dirty="0">
              <a:latin typeface="Times New Roman"/>
              <a:ea typeface="宋体"/>
              <a:cs typeface="Times New Roman"/>
            </a:endParaRPr>
          </a:p>
          <a:p>
            <a:pPr indent="171450" algn="just">
              <a:spcAft>
                <a:spcPts val="0"/>
              </a:spcAft>
            </a:pPr>
            <a:r>
              <a:rPr lang="en-US" altLang="zh-CN" kern="100" dirty="0">
                <a:latin typeface="Times New Roman"/>
                <a:ea typeface="宋体"/>
                <a:cs typeface="Times New Roman"/>
              </a:rPr>
              <a:t>&lt;BE&gt;.TC=merge(&lt;BE&gt;</a:t>
            </a:r>
            <a:r>
              <a:rPr lang="en-US" altLang="zh-CN" kern="100" baseline="30000" dirty="0">
                <a:latin typeface="Times New Roman"/>
                <a:ea typeface="宋体"/>
                <a:cs typeface="Times New Roman"/>
              </a:rPr>
              <a:t>or</a:t>
            </a:r>
            <a:r>
              <a:rPr lang="en-US" altLang="zh-CN" kern="100" dirty="0">
                <a:latin typeface="Times New Roman"/>
                <a:ea typeface="宋体"/>
                <a:cs typeface="Times New Roman"/>
              </a:rPr>
              <a:t>.TC</a:t>
            </a:r>
            <a:r>
              <a:rPr lang="zh-CN" altLang="zh-CN" kern="100" dirty="0">
                <a:latin typeface="Times New Roman"/>
                <a:ea typeface="宋体"/>
                <a:cs typeface="Times New Roman"/>
              </a:rPr>
              <a:t>，</a:t>
            </a:r>
            <a:r>
              <a:rPr lang="en-US" altLang="zh-CN" kern="100" dirty="0">
                <a:latin typeface="Times New Roman"/>
                <a:ea typeface="宋体"/>
                <a:cs typeface="Times New Roman"/>
              </a:rPr>
              <a:t>&lt;BT&gt;.TC)  }</a:t>
            </a:r>
            <a:endParaRPr lang="zh-CN" altLang="zh-CN" kern="100" dirty="0">
              <a:latin typeface="Times New Roman"/>
              <a:ea typeface="宋体"/>
              <a:cs typeface="Times New Roman"/>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926903568"/>
              </p:ext>
            </p:extLst>
          </p:nvPr>
        </p:nvGraphicFramePr>
        <p:xfrm>
          <a:off x="315739" y="1107408"/>
          <a:ext cx="3489325" cy="3219450"/>
        </p:xfrm>
        <a:graphic>
          <a:graphicData uri="http://schemas.openxmlformats.org/presentationml/2006/ole">
            <mc:AlternateContent xmlns:mc="http://schemas.openxmlformats.org/markup-compatibility/2006">
              <mc:Choice xmlns:v="urn:schemas-microsoft-com:vml" Requires="v">
                <p:oleObj spid="_x0000_s26629" name="Visio" r:id="rId4" imgW="2064008" imgH="1902528" progId="Visio.Drawing.11">
                  <p:embed/>
                </p:oleObj>
              </mc:Choice>
              <mc:Fallback>
                <p:oleObj name="Visio" r:id="rId4" imgW="2064008" imgH="1902528" progId="Visio.Drawing.11">
                  <p:embed/>
                  <p:pic>
                    <p:nvPicPr>
                      <p:cNvPr id="6" name="对象 5"/>
                      <p:cNvPicPr>
                        <a:picLocks noChangeAspect="1" noChangeArrowheads="1"/>
                      </p:cNvPicPr>
                      <p:nvPr/>
                    </p:nvPicPr>
                    <p:blipFill>
                      <a:blip r:embed="rId5"/>
                      <a:srcRect/>
                      <a:stretch>
                        <a:fillRect/>
                      </a:stretch>
                    </p:blipFill>
                    <p:spPr bwMode="auto">
                      <a:xfrm>
                        <a:off x="315739" y="1107408"/>
                        <a:ext cx="3489325" cy="32194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994107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9098"/>
                                        </p:tgtEl>
                                        <p:attrNameLst>
                                          <p:attrName>style.visibility</p:attrName>
                                        </p:attrNameLst>
                                      </p:cBhvr>
                                      <p:to>
                                        <p:strVal val="visible"/>
                                      </p:to>
                                    </p:set>
                                  </p:childTnLst>
                                  <p:subTnLst>
                                    <p:set>
                                      <p:cBhvr override="childStyle">
                                        <p:cTn dur="1" fill="hold" display="0" masterRel="nextClick" afterEffect="1"/>
                                        <p:tgtEl>
                                          <p:spTgt spid="89098"/>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8" grpId="0" animBg="1" autoUpdateAnimBg="0"/>
      <p:bldP spid="4" grpId="0"/>
      <p:bldP spid="5"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468313" y="357188"/>
            <a:ext cx="8229600" cy="583406"/>
          </a:xfrm>
        </p:spPr>
        <p:txBody>
          <a:bodyPr>
            <a:normAutofit fontScale="90000"/>
          </a:bodyPr>
          <a:lstStyle/>
          <a:p>
            <a:pPr eaLnBrk="1" hangingPunct="1"/>
            <a:r>
              <a:rPr kumimoji="1" lang="zh-CN" altLang="en-US" sz="4800" b="1">
                <a:solidFill>
                  <a:srgbClr val="CC0099"/>
                </a:solidFill>
                <a:latin typeface="Times New Roman" pitchFamily="18" charset="0"/>
                <a:ea typeface="隶书" pitchFamily="49" charset="-122"/>
              </a:rPr>
              <a:t>控制语句的翻译</a:t>
            </a:r>
          </a:p>
        </p:txBody>
      </p:sp>
      <p:sp>
        <p:nvSpPr>
          <p:cNvPr id="100355" name="Rectangle 3"/>
          <p:cNvSpPr>
            <a:spLocks noGrp="1" noChangeArrowheads="1"/>
          </p:cNvSpPr>
          <p:nvPr>
            <p:ph type="body" idx="1"/>
          </p:nvPr>
        </p:nvSpPr>
        <p:spPr>
          <a:xfrm>
            <a:off x="1619251" y="1437085"/>
            <a:ext cx="3888853" cy="2451497"/>
          </a:xfrm>
        </p:spPr>
        <p:txBody>
          <a:bodyPr/>
          <a:lstStyle/>
          <a:p>
            <a:pPr eaLnBrk="1" hangingPunct="1"/>
            <a:r>
              <a:rPr lang="zh-CN" altLang="en-US" dirty="0"/>
              <a:t>控制语句包括：</a:t>
            </a:r>
          </a:p>
          <a:p>
            <a:pPr lvl="1" eaLnBrk="1" hangingPunct="1"/>
            <a:r>
              <a:rPr lang="en-US" altLang="zh-CN" dirty="0"/>
              <a:t>if </a:t>
            </a:r>
            <a:r>
              <a:rPr lang="zh-CN" altLang="en-US" dirty="0"/>
              <a:t>语句</a:t>
            </a:r>
          </a:p>
          <a:p>
            <a:pPr lvl="1" eaLnBrk="1" hangingPunct="1"/>
            <a:r>
              <a:rPr lang="en-US" altLang="zh-CN" dirty="0"/>
              <a:t>while </a:t>
            </a:r>
            <a:r>
              <a:rPr lang="zh-CN" altLang="en-US" dirty="0"/>
              <a:t>语句</a:t>
            </a:r>
          </a:p>
          <a:p>
            <a:pPr lvl="1" eaLnBrk="1" hangingPunct="1"/>
            <a:r>
              <a:rPr lang="en-US" altLang="zh-CN" dirty="0" err="1"/>
              <a:t>dowhile</a:t>
            </a:r>
            <a:r>
              <a:rPr lang="zh-CN" altLang="en-US" dirty="0"/>
              <a:t>语句</a:t>
            </a:r>
          </a:p>
          <a:p>
            <a:pPr lvl="1" eaLnBrk="1" hangingPunct="1"/>
            <a:r>
              <a:rPr lang="en-US" altLang="zh-CN" dirty="0"/>
              <a:t>for </a:t>
            </a:r>
            <a:r>
              <a:rPr lang="zh-CN" altLang="en-US" dirty="0"/>
              <a:t>语句</a:t>
            </a:r>
            <a:endParaRPr lang="en-US" altLang="zh-CN" dirty="0"/>
          </a:p>
        </p:txBody>
      </p:sp>
    </p:spTree>
    <p:extLst>
      <p:ext uri="{BB962C8B-B14F-4D97-AF65-F5344CB8AC3E}">
        <p14:creationId xmlns:p14="http://schemas.microsoft.com/office/powerpoint/2010/main" val="214889580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041258"/>
            <a:ext cx="7332457" cy="1446550"/>
          </a:xfrm>
          <a:prstGeom prst="rect">
            <a:avLst/>
          </a:prstGeom>
        </p:spPr>
        <p:txBody>
          <a:bodyPr wrap="non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、常见语句的语法制导翻译</a:t>
            </a:r>
            <a:endParaRPr lang="en-US" altLang="zh-CN" sz="4400" b="1" dirty="0">
              <a:solidFill>
                <a:srgbClr val="CC0099"/>
              </a:solidFill>
              <a:ea typeface="隶书" pitchFamily="49" charset="-122"/>
            </a:endParaRPr>
          </a:p>
          <a:p>
            <a:r>
              <a:rPr lang="en-US" altLang="zh-CN" sz="4400" b="1" dirty="0">
                <a:solidFill>
                  <a:srgbClr val="CC0099"/>
                </a:solidFill>
                <a:ea typeface="隶书" pitchFamily="49" charset="-122"/>
              </a:rPr>
              <a:t>    </a:t>
            </a:r>
            <a:r>
              <a:rPr lang="en-US" altLang="zh-CN" sz="3600" b="1" dirty="0">
                <a:solidFill>
                  <a:srgbClr val="CC0099"/>
                </a:solidFill>
                <a:ea typeface="隶书" pitchFamily="49" charset="-122"/>
              </a:rPr>
              <a:t>——if</a:t>
            </a:r>
            <a:r>
              <a:rPr lang="zh-CN" altLang="en-US" sz="3600" b="1" dirty="0">
                <a:solidFill>
                  <a:srgbClr val="CC0099"/>
                </a:solidFill>
                <a:ea typeface="隶书" pitchFamily="49" charset="-122"/>
              </a:rPr>
              <a:t>语句的翻译</a:t>
            </a:r>
            <a:endParaRPr lang="zh-CN" altLang="en-US" sz="4400" b="1" dirty="0">
              <a:solidFill>
                <a:srgbClr val="CC0099"/>
              </a:solidFill>
              <a:ea typeface="隶书" pitchFamily="49" charset="-122"/>
            </a:endParaRPr>
          </a:p>
        </p:txBody>
      </p:sp>
    </p:spTree>
    <p:extLst>
      <p:ext uri="{BB962C8B-B14F-4D97-AF65-F5344CB8AC3E}">
        <p14:creationId xmlns:p14="http://schemas.microsoft.com/office/powerpoint/2010/main" val="31764871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77498" y="51470"/>
            <a:ext cx="4225900" cy="857250"/>
          </a:xfrm>
        </p:spPr>
        <p:txBody>
          <a:bodyPr>
            <a:normAutofit/>
          </a:bodyPr>
          <a:lstStyle/>
          <a:p>
            <a:pPr eaLnBrk="1" hangingPunct="1"/>
            <a:r>
              <a:rPr lang="en-US" altLang="zh-CN" b="1" dirty="0"/>
              <a:t>IF</a:t>
            </a:r>
            <a:r>
              <a:rPr lang="zh-CN" altLang="en-US" b="1" dirty="0"/>
              <a:t>语句的翻译</a:t>
            </a:r>
          </a:p>
        </p:txBody>
      </p:sp>
      <p:sp>
        <p:nvSpPr>
          <p:cNvPr id="92163" name="Rectangle 3"/>
          <p:cNvSpPr>
            <a:spLocks noGrp="1" noChangeArrowheads="1"/>
          </p:cNvSpPr>
          <p:nvPr>
            <p:ph type="body" sz="half" idx="1"/>
          </p:nvPr>
        </p:nvSpPr>
        <p:spPr>
          <a:xfrm>
            <a:off x="539552" y="843558"/>
            <a:ext cx="3456384" cy="603647"/>
          </a:xfrm>
        </p:spPr>
        <p:txBody>
          <a:bodyPr>
            <a:normAutofit/>
          </a:bodyPr>
          <a:lstStyle/>
          <a:p>
            <a:pPr eaLnBrk="1" hangingPunct="1">
              <a:buFontTx/>
              <a:buNone/>
            </a:pPr>
            <a:r>
              <a:rPr lang="en-US" altLang="zh-CN" b="1" dirty="0">
                <a:solidFill>
                  <a:srgbClr val="0033CC"/>
                </a:solidFill>
              </a:rPr>
              <a:t>1. IF</a:t>
            </a:r>
            <a:r>
              <a:rPr lang="zh-CN" altLang="en-US" b="1" dirty="0">
                <a:solidFill>
                  <a:srgbClr val="0033CC"/>
                </a:solidFill>
              </a:rPr>
              <a:t>语句的文法</a:t>
            </a:r>
            <a:endParaRPr lang="en-US" altLang="zh-CN" sz="1600" b="1" dirty="0">
              <a:solidFill>
                <a:srgbClr val="0033CC"/>
              </a:solidFill>
            </a:endParaRPr>
          </a:p>
        </p:txBody>
      </p:sp>
      <p:sp>
        <p:nvSpPr>
          <p:cNvPr id="92166" name="Rectangle 6"/>
          <p:cNvSpPr>
            <a:spLocks noChangeArrowheads="1"/>
          </p:cNvSpPr>
          <p:nvPr/>
        </p:nvSpPr>
        <p:spPr bwMode="auto">
          <a:xfrm>
            <a:off x="755652" y="4083918"/>
            <a:ext cx="6048598" cy="871008"/>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marL="374650" indent="-37465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90000"/>
              </a:lnSpc>
              <a:spcBef>
                <a:spcPct val="50000"/>
              </a:spcBef>
            </a:pPr>
            <a:r>
              <a:rPr lang="zh-CN" altLang="en-US" sz="2200" b="1" dirty="0">
                <a:solidFill>
                  <a:srgbClr val="0033CC"/>
                </a:solidFill>
              </a:rPr>
              <a:t>产生式</a:t>
            </a:r>
            <a:r>
              <a:rPr lang="en-US" altLang="zh-CN" sz="2200" b="1" dirty="0">
                <a:solidFill>
                  <a:srgbClr val="0033CC"/>
                </a:solidFill>
              </a:rPr>
              <a:t>(1),(2)</a:t>
            </a:r>
            <a:r>
              <a:rPr lang="zh-CN" altLang="en-US" sz="2200" b="1" dirty="0">
                <a:solidFill>
                  <a:srgbClr val="0033CC"/>
                </a:solidFill>
              </a:rPr>
              <a:t>生成无</a:t>
            </a:r>
            <a:r>
              <a:rPr lang="en-US" altLang="zh-CN" sz="2200" b="1" dirty="0">
                <a:solidFill>
                  <a:srgbClr val="0033CC"/>
                </a:solidFill>
              </a:rPr>
              <a:t>else </a:t>
            </a:r>
            <a:r>
              <a:rPr lang="zh-CN" altLang="en-US" sz="2200" b="1" dirty="0">
                <a:solidFill>
                  <a:srgbClr val="0033CC"/>
                </a:solidFill>
              </a:rPr>
              <a:t>的</a:t>
            </a:r>
            <a:r>
              <a:rPr lang="en-US" altLang="zh-CN" sz="2200" b="1" dirty="0">
                <a:solidFill>
                  <a:srgbClr val="0033CC"/>
                </a:solidFill>
              </a:rPr>
              <a:t>IF</a:t>
            </a:r>
            <a:r>
              <a:rPr lang="zh-CN" altLang="en-US" sz="2200" b="1" dirty="0">
                <a:solidFill>
                  <a:srgbClr val="0033CC"/>
                </a:solidFill>
              </a:rPr>
              <a:t>语句结构</a:t>
            </a:r>
          </a:p>
          <a:p>
            <a:pPr eaLnBrk="1" hangingPunct="1">
              <a:lnSpc>
                <a:spcPct val="90000"/>
              </a:lnSpc>
              <a:spcBef>
                <a:spcPct val="50000"/>
              </a:spcBef>
            </a:pPr>
            <a:r>
              <a:rPr lang="zh-CN" altLang="en-US" sz="2200" b="1" dirty="0">
                <a:solidFill>
                  <a:srgbClr val="0033CC"/>
                </a:solidFill>
              </a:rPr>
              <a:t>产生式</a:t>
            </a:r>
            <a:r>
              <a:rPr lang="en-US" altLang="zh-CN" sz="2200" b="1" dirty="0">
                <a:solidFill>
                  <a:srgbClr val="0033CC"/>
                </a:solidFill>
              </a:rPr>
              <a:t>(2),(3),(4)</a:t>
            </a:r>
            <a:r>
              <a:rPr lang="zh-CN" altLang="en-US" sz="2200" b="1" dirty="0">
                <a:solidFill>
                  <a:srgbClr val="0033CC"/>
                </a:solidFill>
              </a:rPr>
              <a:t>生成</a:t>
            </a:r>
            <a:r>
              <a:rPr lang="en-US" altLang="zh-CN" sz="2200" b="1" dirty="0">
                <a:solidFill>
                  <a:srgbClr val="0033CC"/>
                </a:solidFill>
              </a:rPr>
              <a:t>if – else </a:t>
            </a:r>
            <a:r>
              <a:rPr lang="zh-CN" altLang="en-US" sz="2200" b="1" dirty="0">
                <a:solidFill>
                  <a:srgbClr val="0033CC"/>
                </a:solidFill>
              </a:rPr>
              <a:t>的语句结构</a:t>
            </a:r>
          </a:p>
        </p:txBody>
      </p:sp>
      <p:sp>
        <p:nvSpPr>
          <p:cNvPr id="101381" name="Text Box 2"/>
          <p:cNvSpPr txBox="1">
            <a:spLocks noChangeArrowheads="1"/>
          </p:cNvSpPr>
          <p:nvPr/>
        </p:nvSpPr>
        <p:spPr bwMode="auto">
          <a:xfrm>
            <a:off x="3563889" y="2331631"/>
            <a:ext cx="3240360" cy="1446550"/>
          </a:xfrm>
          <a:prstGeom prst="rect">
            <a:avLst/>
          </a:prstGeom>
          <a:solidFill>
            <a:schemeClr val="bg1"/>
          </a:solidFill>
          <a:ln w="28575">
            <a:solidFill>
              <a:srgbClr val="00FF00"/>
            </a:solidFill>
            <a:miter lim="800000"/>
            <a:headEnd type="none" w="sm" len="sm"/>
            <a:tailEnd type="none" w="sm" len="sm"/>
          </a:ln>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zh-CN" altLang="zh-CN" sz="2200" dirty="0"/>
              <a:t>（</a:t>
            </a:r>
            <a:r>
              <a:rPr lang="en-US" altLang="zh-CN" sz="2200" dirty="0"/>
              <a:t>1</a:t>
            </a:r>
            <a:r>
              <a:rPr lang="zh-CN" altLang="zh-CN" sz="2200" dirty="0"/>
              <a:t>）</a:t>
            </a:r>
            <a:r>
              <a:rPr lang="en-US" altLang="zh-CN" sz="2200" dirty="0"/>
              <a:t>S→C S</a:t>
            </a:r>
            <a:r>
              <a:rPr lang="en-US" altLang="zh-CN" sz="2200" baseline="30000" dirty="0"/>
              <a:t>(1)</a:t>
            </a:r>
            <a:endParaRPr lang="zh-CN" altLang="zh-CN" sz="2200" dirty="0"/>
          </a:p>
          <a:p>
            <a:pPr eaLnBrk="1" hangingPunct="1">
              <a:lnSpc>
                <a:spcPct val="100000"/>
              </a:lnSpc>
              <a:spcBef>
                <a:spcPct val="0"/>
              </a:spcBef>
              <a:buFontTx/>
              <a:buNone/>
            </a:pPr>
            <a:r>
              <a:rPr lang="zh-CN" altLang="zh-CN" sz="2200" dirty="0"/>
              <a:t>（</a:t>
            </a:r>
            <a:r>
              <a:rPr lang="en-US" altLang="zh-CN" sz="2200" dirty="0"/>
              <a:t>2</a:t>
            </a:r>
            <a:r>
              <a:rPr lang="zh-CN" altLang="zh-CN" sz="2200" dirty="0"/>
              <a:t>）</a:t>
            </a:r>
            <a:r>
              <a:rPr lang="en-US" altLang="zh-CN" sz="2200" dirty="0" err="1"/>
              <a:t>C→if</a:t>
            </a:r>
            <a:r>
              <a:rPr lang="en-US" altLang="zh-CN" sz="2200" dirty="0"/>
              <a:t> (E)</a:t>
            </a:r>
            <a:endParaRPr lang="zh-CN" altLang="zh-CN" sz="2200" dirty="0"/>
          </a:p>
          <a:p>
            <a:pPr eaLnBrk="1" hangingPunct="1">
              <a:lnSpc>
                <a:spcPct val="100000"/>
              </a:lnSpc>
              <a:spcBef>
                <a:spcPct val="0"/>
              </a:spcBef>
              <a:buFontTx/>
              <a:buNone/>
            </a:pPr>
            <a:r>
              <a:rPr lang="zh-CN" altLang="zh-CN" sz="2200" dirty="0"/>
              <a:t>（</a:t>
            </a:r>
            <a:r>
              <a:rPr lang="en-US" altLang="zh-CN" sz="2200" dirty="0"/>
              <a:t>3</a:t>
            </a:r>
            <a:r>
              <a:rPr lang="zh-CN" altLang="zh-CN" sz="2200" dirty="0"/>
              <a:t>）</a:t>
            </a:r>
            <a:r>
              <a:rPr lang="en-US" altLang="zh-CN" sz="2200" dirty="0"/>
              <a:t>S→T S</a:t>
            </a:r>
            <a:r>
              <a:rPr lang="en-US" altLang="zh-CN" sz="2200" baseline="30000" dirty="0"/>
              <a:t>(2)</a:t>
            </a:r>
            <a:endParaRPr lang="zh-CN" altLang="zh-CN" sz="2200" dirty="0"/>
          </a:p>
          <a:p>
            <a:pPr eaLnBrk="1" hangingPunct="1">
              <a:lnSpc>
                <a:spcPct val="100000"/>
              </a:lnSpc>
              <a:spcBef>
                <a:spcPct val="0"/>
              </a:spcBef>
              <a:buFontTx/>
              <a:buNone/>
            </a:pPr>
            <a:r>
              <a:rPr lang="zh-CN" altLang="zh-CN" sz="2200" dirty="0"/>
              <a:t>（</a:t>
            </a:r>
            <a:r>
              <a:rPr lang="en-US" altLang="zh-CN" sz="2200" dirty="0"/>
              <a:t>4</a:t>
            </a:r>
            <a:r>
              <a:rPr lang="zh-CN" altLang="zh-CN" sz="2200" dirty="0"/>
              <a:t>）</a:t>
            </a:r>
            <a:r>
              <a:rPr lang="en-US" altLang="zh-CN" sz="2200" dirty="0"/>
              <a:t>T→C S</a:t>
            </a:r>
            <a:r>
              <a:rPr lang="en-US" altLang="zh-CN" sz="2200" baseline="30000" dirty="0"/>
              <a:t>(1)</a:t>
            </a:r>
            <a:r>
              <a:rPr lang="en-US" altLang="zh-CN" sz="2200" dirty="0"/>
              <a:t> else</a:t>
            </a:r>
          </a:p>
        </p:txBody>
      </p:sp>
      <p:sp>
        <p:nvSpPr>
          <p:cNvPr id="2" name="矩形 1"/>
          <p:cNvSpPr/>
          <p:nvPr/>
        </p:nvSpPr>
        <p:spPr>
          <a:xfrm>
            <a:off x="1010460" y="1432396"/>
            <a:ext cx="6585875" cy="707886"/>
          </a:xfrm>
          <a:prstGeom prst="rect">
            <a:avLst/>
          </a:prstGeom>
        </p:spPr>
        <p:txBody>
          <a:bodyPr wrap="square">
            <a:spAutoFit/>
          </a:bodyPr>
          <a:lstStyle/>
          <a:p>
            <a:r>
              <a:rPr lang="en-US" altLang="zh-CN" sz="2000" dirty="0"/>
              <a:t>&lt;if</a:t>
            </a:r>
            <a:r>
              <a:rPr lang="zh-CN" altLang="zh-CN" sz="2000" dirty="0"/>
              <a:t>语句</a:t>
            </a:r>
            <a:r>
              <a:rPr lang="en-US" altLang="zh-CN" sz="2000" dirty="0"/>
              <a:t>&gt;</a:t>
            </a:r>
            <a:r>
              <a:rPr lang="zh-CN" altLang="zh-CN" sz="2000" dirty="0"/>
              <a:t>→</a:t>
            </a:r>
            <a:r>
              <a:rPr lang="en-US" altLang="zh-CN" sz="2000" dirty="0"/>
              <a:t>if (&lt;</a:t>
            </a:r>
            <a:r>
              <a:rPr lang="zh-CN" altLang="zh-CN" sz="2000" dirty="0"/>
              <a:t>表达式</a:t>
            </a:r>
            <a:r>
              <a:rPr lang="en-US" altLang="zh-CN" sz="2000" dirty="0"/>
              <a:t>&gt;)&lt;</a:t>
            </a:r>
            <a:r>
              <a:rPr lang="zh-CN" altLang="zh-CN" sz="2000" dirty="0"/>
              <a:t>语句</a:t>
            </a:r>
            <a:r>
              <a:rPr lang="en-US" altLang="zh-CN" sz="2000" dirty="0"/>
              <a:t>&gt;</a:t>
            </a:r>
            <a:r>
              <a:rPr lang="en-US" altLang="zh-CN" sz="2000" baseline="30000" dirty="0"/>
              <a:t>(1)</a:t>
            </a:r>
            <a:endParaRPr lang="zh-CN" altLang="zh-CN" sz="2000" dirty="0"/>
          </a:p>
          <a:p>
            <a:r>
              <a:rPr lang="en-US" altLang="zh-CN" sz="2000" dirty="0"/>
              <a:t>&lt;if</a:t>
            </a:r>
            <a:r>
              <a:rPr lang="zh-CN" altLang="zh-CN" sz="2000" dirty="0"/>
              <a:t>语句</a:t>
            </a:r>
            <a:r>
              <a:rPr lang="en-US" altLang="zh-CN" sz="2000" dirty="0"/>
              <a:t>&gt;</a:t>
            </a:r>
            <a:r>
              <a:rPr lang="zh-CN" altLang="zh-CN" sz="2000" dirty="0"/>
              <a:t>→</a:t>
            </a:r>
            <a:r>
              <a:rPr lang="en-US" altLang="zh-CN" sz="2000" dirty="0"/>
              <a:t>if (&lt;</a:t>
            </a:r>
            <a:r>
              <a:rPr lang="zh-CN" altLang="zh-CN" sz="2000" dirty="0"/>
              <a:t>表达式</a:t>
            </a:r>
            <a:r>
              <a:rPr lang="en-US" altLang="zh-CN" sz="2000" dirty="0"/>
              <a:t>&gt;) &lt;</a:t>
            </a:r>
            <a:r>
              <a:rPr lang="zh-CN" altLang="zh-CN" sz="2000" dirty="0"/>
              <a:t>语句</a:t>
            </a:r>
            <a:r>
              <a:rPr lang="en-US" altLang="zh-CN" sz="2000" dirty="0"/>
              <a:t>&gt;</a:t>
            </a:r>
            <a:r>
              <a:rPr lang="en-US" altLang="zh-CN" sz="2000" baseline="30000" dirty="0"/>
              <a:t>(1)</a:t>
            </a:r>
            <a:r>
              <a:rPr lang="en-US" altLang="zh-CN" sz="2000" dirty="0"/>
              <a:t> else &lt;</a:t>
            </a:r>
            <a:r>
              <a:rPr lang="zh-CN" altLang="zh-CN" sz="2000" dirty="0"/>
              <a:t>语句</a:t>
            </a:r>
            <a:r>
              <a:rPr lang="en-US" altLang="zh-CN" sz="2000" dirty="0"/>
              <a:t>&gt;</a:t>
            </a:r>
            <a:r>
              <a:rPr lang="en-US" altLang="zh-CN" sz="2000" baseline="30000" dirty="0"/>
              <a:t>(2)</a:t>
            </a:r>
            <a:endParaRPr lang="zh-CN" altLang="zh-CN" sz="2000" dirty="0"/>
          </a:p>
        </p:txBody>
      </p:sp>
      <p:sp>
        <p:nvSpPr>
          <p:cNvPr id="3" name="矩形 2"/>
          <p:cNvSpPr/>
          <p:nvPr/>
        </p:nvSpPr>
        <p:spPr>
          <a:xfrm>
            <a:off x="6985060" y="2321504"/>
            <a:ext cx="1779654" cy="400110"/>
          </a:xfrm>
          <a:prstGeom prst="rect">
            <a:avLst/>
          </a:prstGeom>
        </p:spPr>
        <p:txBody>
          <a:bodyPr wrap="none">
            <a:spAutoFit/>
          </a:bodyPr>
          <a:lstStyle/>
          <a:p>
            <a:r>
              <a:rPr lang="en-US" altLang="zh-CN" sz="2000" b="1" dirty="0">
                <a:solidFill>
                  <a:srgbClr val="0033CC"/>
                </a:solidFill>
              </a:rPr>
              <a:t>(S</a:t>
            </a:r>
            <a:r>
              <a:rPr lang="zh-CN" altLang="en-US" sz="2000" b="1" dirty="0">
                <a:solidFill>
                  <a:srgbClr val="0033CC"/>
                </a:solidFill>
              </a:rPr>
              <a:t>是开始符号</a:t>
            </a:r>
            <a:r>
              <a:rPr lang="en-US" altLang="zh-CN" sz="2000" b="1" dirty="0">
                <a:solidFill>
                  <a:srgbClr val="0033CC"/>
                </a:solidFill>
              </a:rPr>
              <a:t>)</a:t>
            </a:r>
            <a:endParaRPr lang="en-US" altLang="zh-CN" sz="1400" b="1" dirty="0">
              <a:solidFill>
                <a:srgbClr val="0033CC"/>
              </a:solidFill>
            </a:endParaRPr>
          </a:p>
        </p:txBody>
      </p:sp>
      <p:sp>
        <p:nvSpPr>
          <p:cNvPr id="8" name="矩形 7"/>
          <p:cNvSpPr/>
          <p:nvPr/>
        </p:nvSpPr>
        <p:spPr>
          <a:xfrm>
            <a:off x="6008982" y="109974"/>
            <a:ext cx="2887329" cy="461665"/>
          </a:xfrm>
          <a:prstGeom prst="rect">
            <a:avLst/>
          </a:prstGeom>
        </p:spPr>
        <p:txBody>
          <a:bodyPr wrap="none">
            <a:spAutoFit/>
          </a:bodyPr>
          <a:lstStyle/>
          <a:p>
            <a:r>
              <a:rPr lang="en-US" altLang="zh-CN" sz="2400" dirty="0"/>
              <a:t>if (E)  S</a:t>
            </a:r>
            <a:r>
              <a:rPr lang="en-US" altLang="zh-CN" sz="2400" baseline="30000" dirty="0"/>
              <a:t>(1)</a:t>
            </a:r>
            <a:r>
              <a:rPr lang="en-US" altLang="zh-CN" sz="2400" dirty="0"/>
              <a:t>  else  S</a:t>
            </a:r>
            <a:r>
              <a:rPr lang="en-US" altLang="zh-CN" sz="2400" baseline="30000" dirty="0"/>
              <a:t>(2)</a:t>
            </a:r>
            <a:endParaRPr lang="zh-CN" altLang="en-US" sz="2400" baseline="30000" dirty="0"/>
          </a:p>
        </p:txBody>
      </p:sp>
      <p:sp>
        <p:nvSpPr>
          <p:cNvPr id="9" name="矩形 8"/>
          <p:cNvSpPr/>
          <p:nvPr/>
        </p:nvSpPr>
        <p:spPr>
          <a:xfrm>
            <a:off x="6008981" y="571639"/>
            <a:ext cx="1476686" cy="461665"/>
          </a:xfrm>
          <a:prstGeom prst="rect">
            <a:avLst/>
          </a:prstGeom>
        </p:spPr>
        <p:txBody>
          <a:bodyPr wrap="none">
            <a:spAutoFit/>
          </a:bodyPr>
          <a:lstStyle/>
          <a:p>
            <a:r>
              <a:rPr lang="en-US" altLang="zh-CN" sz="2400" dirty="0"/>
              <a:t>if (E)  S</a:t>
            </a:r>
            <a:r>
              <a:rPr lang="en-US" altLang="zh-CN" sz="2400" baseline="30000" dirty="0"/>
              <a:t>(1)</a:t>
            </a:r>
            <a:endParaRPr lang="zh-CN" altLang="en-US" sz="2400" baseline="30000" dirty="0"/>
          </a:p>
        </p:txBody>
      </p:sp>
    </p:spTree>
    <p:extLst>
      <p:ext uri="{BB962C8B-B14F-4D97-AF65-F5344CB8AC3E}">
        <p14:creationId xmlns:p14="http://schemas.microsoft.com/office/powerpoint/2010/main" val="2297253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138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2166"/>
                                        </p:tgtEl>
                                        <p:attrNameLst>
                                          <p:attrName>style.visibility</p:attrName>
                                        </p:attrNameLst>
                                      </p:cBhvr>
                                      <p:to>
                                        <p:strVal val="visible"/>
                                      </p:to>
                                    </p:set>
                                    <p:anim calcmode="lin" valueType="num">
                                      <p:cBhvr additive="base">
                                        <p:cTn id="19" dur="500" fill="hold"/>
                                        <p:tgtEl>
                                          <p:spTgt spid="92166"/>
                                        </p:tgtEl>
                                        <p:attrNameLst>
                                          <p:attrName>ppt_x</p:attrName>
                                        </p:attrNameLst>
                                      </p:cBhvr>
                                      <p:tavLst>
                                        <p:tav tm="0">
                                          <p:val>
                                            <p:strVal val="#ppt_x"/>
                                          </p:val>
                                        </p:tav>
                                        <p:tav tm="100000">
                                          <p:val>
                                            <p:strVal val="#ppt_x"/>
                                          </p:val>
                                        </p:tav>
                                      </p:tavLst>
                                    </p:anim>
                                    <p:anim calcmode="lin" valueType="num">
                                      <p:cBhvr additive="base">
                                        <p:cTn id="20" dur="500" fill="hold"/>
                                        <p:tgtEl>
                                          <p:spTgt spid="921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build="p"/>
      <p:bldP spid="92166" grpId="0" animBg="1" autoUpdateAnimBg="0"/>
      <p:bldP spid="101381" grpId="0" animBg="1"/>
      <p:bldP spid="2" grpId="0"/>
      <p:bldP spid="3"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a:spLocks noGrp="1" noChangeArrowheads="1"/>
          </p:cNvSpPr>
          <p:nvPr>
            <p:ph type="body" sz="half" idx="1"/>
          </p:nvPr>
        </p:nvSpPr>
        <p:spPr>
          <a:xfrm>
            <a:off x="0" y="54987"/>
            <a:ext cx="5742711" cy="594122"/>
          </a:xfrm>
        </p:spPr>
        <p:txBody>
          <a:bodyPr/>
          <a:lstStyle/>
          <a:p>
            <a:pPr eaLnBrk="1" hangingPunct="1">
              <a:lnSpc>
                <a:spcPct val="90000"/>
              </a:lnSpc>
            </a:pPr>
            <a:r>
              <a:rPr lang="en-US" altLang="zh-CN" sz="2800" b="1" dirty="0">
                <a:solidFill>
                  <a:srgbClr val="0033CC"/>
                </a:solidFill>
              </a:rPr>
              <a:t>2. IF</a:t>
            </a:r>
            <a:r>
              <a:rPr lang="zh-CN" altLang="en-US" sz="2800" b="1" dirty="0">
                <a:solidFill>
                  <a:srgbClr val="0033CC"/>
                </a:solidFill>
              </a:rPr>
              <a:t>语句的目标结构及其翻译</a:t>
            </a:r>
          </a:p>
        </p:txBody>
      </p:sp>
      <p:sp>
        <p:nvSpPr>
          <p:cNvPr id="102403" name="Rectangle 4"/>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sp>
        <p:nvSpPr>
          <p:cNvPr id="2" name="Rectangle 7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7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298567779"/>
              </p:ext>
            </p:extLst>
          </p:nvPr>
        </p:nvGraphicFramePr>
        <p:xfrm>
          <a:off x="-316000" y="767065"/>
          <a:ext cx="4342272" cy="4160351"/>
        </p:xfrm>
        <a:graphic>
          <a:graphicData uri="http://schemas.openxmlformats.org/presentationml/2006/ole">
            <mc:AlternateContent xmlns:mc="http://schemas.openxmlformats.org/markup-compatibility/2006">
              <mc:Choice xmlns:v="urn:schemas-microsoft-com:vml" Requires="v">
                <p:oleObj spid="_x0000_s27653" name="Visio" r:id="rId4" imgW="2527520" imgH="2088072" progId="Visio.Drawing.11">
                  <p:embed/>
                </p:oleObj>
              </mc:Choice>
              <mc:Fallback>
                <p:oleObj name="Visio" r:id="rId4" imgW="2527520" imgH="2088072" progId="Visio.Drawing.11">
                  <p:embed/>
                  <p:pic>
                    <p:nvPicPr>
                      <p:cNvPr id="5" name="对象 4"/>
                      <p:cNvPicPr>
                        <a:picLocks noChangeAspect="1" noChangeArrowheads="1"/>
                      </p:cNvPicPr>
                      <p:nvPr/>
                    </p:nvPicPr>
                    <p:blipFill>
                      <a:blip r:embed="rId5"/>
                      <a:srcRect/>
                      <a:stretch>
                        <a:fillRect/>
                      </a:stretch>
                    </p:blipFill>
                    <p:spPr bwMode="auto">
                      <a:xfrm>
                        <a:off x="-316000" y="767065"/>
                        <a:ext cx="4342272" cy="4160351"/>
                      </a:xfrm>
                      <a:prstGeom prst="rect">
                        <a:avLst/>
                      </a:prstGeom>
                      <a:solidFill>
                        <a:schemeClr val="bg1"/>
                      </a:solidFill>
                    </p:spPr>
                  </p:pic>
                </p:oleObj>
              </mc:Fallback>
            </mc:AlternateContent>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2667011100"/>
              </p:ext>
            </p:extLst>
          </p:nvPr>
        </p:nvGraphicFramePr>
        <p:xfrm>
          <a:off x="3779912" y="571639"/>
          <a:ext cx="5148065" cy="4016335"/>
        </p:xfrm>
        <a:graphic>
          <a:graphicData uri="http://schemas.openxmlformats.org/drawingml/2006/table">
            <a:tbl>
              <a:tblPr/>
              <a:tblGrid>
                <a:gridCol w="5148065">
                  <a:extLst>
                    <a:ext uri="{9D8B030D-6E8A-4147-A177-3AD203B41FA5}">
                      <a16:colId xmlns:a16="http://schemas.microsoft.com/office/drawing/2014/main" val="20000"/>
                    </a:ext>
                  </a:extLst>
                </a:gridCol>
              </a:tblGrid>
              <a:tr h="34987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en-US" sz="1800" kern="100" dirty="0">
                          <a:latin typeface="Times New Roman"/>
                          <a:ea typeface="宋体"/>
                          <a:cs typeface="Times New Roman"/>
                        </a:rPr>
                        <a:t>（</a:t>
                      </a:r>
                      <a:r>
                        <a:rPr lang="en-US" altLang="zh-CN" sz="1800" kern="100" dirty="0">
                          <a:latin typeface="Times New Roman"/>
                          <a:ea typeface="宋体"/>
                          <a:cs typeface="Times New Roman"/>
                        </a:rPr>
                        <a:t>2</a:t>
                      </a:r>
                      <a:r>
                        <a:rPr lang="zh-CN" altLang="en-US" sz="1800" kern="100" dirty="0">
                          <a:latin typeface="Times New Roman"/>
                          <a:ea typeface="宋体"/>
                          <a:cs typeface="Times New Roman"/>
                        </a:rPr>
                        <a:t>）</a:t>
                      </a:r>
                      <a:r>
                        <a:rPr lang="en-US" altLang="zh-CN" sz="1800" kern="100" dirty="0" err="1">
                          <a:latin typeface="Times New Roman"/>
                          <a:ea typeface="宋体"/>
                          <a:cs typeface="Times New Roman"/>
                        </a:rPr>
                        <a:t>C→if</a:t>
                      </a:r>
                      <a:r>
                        <a:rPr lang="en-US" altLang="zh-CN" sz="1800" kern="100" dirty="0">
                          <a:latin typeface="Times New Roman"/>
                          <a:ea typeface="宋体"/>
                          <a:cs typeface="Times New Roman"/>
                        </a:rPr>
                        <a:t> (E)</a:t>
                      </a:r>
                      <a:endParaRPr lang="zh-CN" altLang="zh-CN" sz="18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42129">
                <a:tc>
                  <a:txBody>
                    <a:bodyPr/>
                    <a:lstStyle/>
                    <a:p>
                      <a:pPr algn="just">
                        <a:spcAft>
                          <a:spcPts val="0"/>
                        </a:spcAft>
                      </a:pPr>
                      <a:endParaRPr lang="zh-CN" sz="18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576064">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en-US" sz="1800" kern="100" dirty="0">
                          <a:latin typeface="Times New Roman"/>
                          <a:ea typeface="宋体"/>
                          <a:cs typeface="Times New Roman"/>
                        </a:rPr>
                        <a:t>（</a:t>
                      </a:r>
                      <a:r>
                        <a:rPr lang="en-US" altLang="zh-CN" sz="1800" kern="100" dirty="0">
                          <a:latin typeface="Times New Roman"/>
                          <a:ea typeface="宋体"/>
                          <a:cs typeface="Times New Roman"/>
                        </a:rPr>
                        <a:t>3</a:t>
                      </a:r>
                      <a:r>
                        <a:rPr lang="zh-CN" altLang="en-US" sz="1800" kern="100" dirty="0">
                          <a:latin typeface="Times New Roman"/>
                          <a:ea typeface="宋体"/>
                          <a:cs typeface="Times New Roman"/>
                        </a:rPr>
                        <a:t>）</a:t>
                      </a:r>
                      <a:r>
                        <a:rPr lang="fr-FR" altLang="zh-CN" sz="1800" kern="100" dirty="0">
                          <a:latin typeface="Times New Roman"/>
                          <a:ea typeface="宋体"/>
                          <a:cs typeface="Times New Roman"/>
                        </a:rPr>
                        <a:t>S</a:t>
                      </a:r>
                      <a:r>
                        <a:rPr lang="en-US" altLang="zh-CN" sz="1800" kern="100" dirty="0">
                          <a:latin typeface="Times New Roman"/>
                          <a:ea typeface="宋体"/>
                          <a:cs typeface="Times New Roman"/>
                        </a:rPr>
                        <a:t>→</a:t>
                      </a:r>
                      <a:r>
                        <a:rPr lang="fr-FR" altLang="zh-CN" sz="1800" kern="100" dirty="0">
                          <a:latin typeface="Times New Roman"/>
                          <a:ea typeface="宋体"/>
                          <a:cs typeface="Times New Roman"/>
                        </a:rPr>
                        <a:t>T S</a:t>
                      </a:r>
                      <a:r>
                        <a:rPr lang="fr-FR" altLang="zh-CN" sz="1800" kern="100" baseline="30000" dirty="0">
                          <a:latin typeface="Times New Roman"/>
                          <a:ea typeface="宋体"/>
                          <a:cs typeface="Times New Roman"/>
                        </a:rPr>
                        <a:t>(2)</a:t>
                      </a:r>
                      <a:endParaRPr lang="zh-CN" altLang="zh-CN" sz="18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76064">
                <a:tc>
                  <a:txBody>
                    <a:bodyPr/>
                    <a:lstStyle/>
                    <a:p>
                      <a:pPr indent="171450" algn="just">
                        <a:spcAft>
                          <a:spcPts val="0"/>
                        </a:spcAft>
                      </a:pPr>
                      <a:endParaRPr lang="zh-CN" sz="18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r h="576064">
                <a:tc>
                  <a:txBody>
                    <a:bodyPr/>
                    <a:lstStyle/>
                    <a:p>
                      <a:pPr marL="0" marR="0" indent="171450" algn="just" defTabSz="914400" rtl="0" eaLnBrk="1" fontAlgn="auto" latinLnBrk="0" hangingPunct="1">
                        <a:lnSpc>
                          <a:spcPct val="100000"/>
                        </a:lnSpc>
                        <a:spcBef>
                          <a:spcPts val="0"/>
                        </a:spcBef>
                        <a:spcAft>
                          <a:spcPts val="0"/>
                        </a:spcAft>
                        <a:buClrTx/>
                        <a:buSzTx/>
                        <a:buFontTx/>
                        <a:buNone/>
                        <a:tabLst/>
                        <a:defRPr/>
                      </a:pPr>
                      <a:r>
                        <a:rPr lang="zh-CN" altLang="en-US" sz="1800" kern="100" dirty="0">
                          <a:latin typeface="Times New Roman"/>
                          <a:ea typeface="宋体"/>
                          <a:cs typeface="Times New Roman"/>
                        </a:rPr>
                        <a:t>（</a:t>
                      </a:r>
                      <a:r>
                        <a:rPr lang="en-US" altLang="zh-CN" sz="1800" kern="100" dirty="0">
                          <a:latin typeface="Times New Roman"/>
                          <a:ea typeface="宋体"/>
                          <a:cs typeface="Times New Roman"/>
                        </a:rPr>
                        <a:t>4</a:t>
                      </a:r>
                      <a:r>
                        <a:rPr lang="zh-CN" altLang="en-US" sz="1800" kern="100" dirty="0">
                          <a:latin typeface="Times New Roman"/>
                          <a:ea typeface="宋体"/>
                          <a:cs typeface="Times New Roman"/>
                        </a:rPr>
                        <a:t>）</a:t>
                      </a:r>
                      <a:r>
                        <a:rPr lang="en-US" altLang="zh-CN" sz="1800" kern="100" dirty="0">
                          <a:latin typeface="Times New Roman"/>
                          <a:ea typeface="宋体"/>
                          <a:cs typeface="Times New Roman"/>
                        </a:rPr>
                        <a:t>T→C</a:t>
                      </a:r>
                      <a:r>
                        <a:rPr lang="fr-FR" altLang="zh-CN" sz="1800" kern="100" dirty="0">
                          <a:latin typeface="Times New Roman"/>
                          <a:ea typeface="+mn-ea"/>
                          <a:cs typeface="Times New Roman"/>
                        </a:rPr>
                        <a:t> </a:t>
                      </a:r>
                      <a:r>
                        <a:rPr lang="en-US" altLang="zh-CN" sz="1800" kern="100" dirty="0">
                          <a:latin typeface="Times New Roman"/>
                          <a:ea typeface="宋体"/>
                          <a:cs typeface="Times New Roman"/>
                        </a:rPr>
                        <a:t>S</a:t>
                      </a:r>
                      <a:r>
                        <a:rPr lang="en-US" altLang="zh-CN" sz="1800" kern="100" baseline="30000" dirty="0">
                          <a:latin typeface="Times New Roman"/>
                          <a:ea typeface="宋体"/>
                          <a:cs typeface="Times New Roman"/>
                        </a:rPr>
                        <a:t>(1)</a:t>
                      </a:r>
                      <a:r>
                        <a:rPr lang="en-US" altLang="zh-CN" sz="1800" kern="100" dirty="0">
                          <a:latin typeface="Times New Roman"/>
                          <a:ea typeface="宋体"/>
                          <a:cs typeface="Times New Roman"/>
                        </a:rPr>
                        <a:t> else</a:t>
                      </a:r>
                      <a:endParaRPr lang="zh-CN" altLang="zh-CN" sz="18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1296144">
                <a:tc>
                  <a:txBody>
                    <a:bodyPr/>
                    <a:lstStyle/>
                    <a:p>
                      <a:pPr indent="171450" algn="just">
                        <a:spcAft>
                          <a:spcPts val="0"/>
                        </a:spcAft>
                      </a:pPr>
                      <a:endParaRPr lang="zh-CN" sz="18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5"/>
                  </a:ext>
                </a:extLst>
              </a:tr>
            </a:tbl>
          </a:graphicData>
        </a:graphic>
      </p:graphicFrame>
      <p:sp>
        <p:nvSpPr>
          <p:cNvPr id="9" name="矩形 8"/>
          <p:cNvSpPr/>
          <p:nvPr/>
        </p:nvSpPr>
        <p:spPr>
          <a:xfrm>
            <a:off x="4032774" y="917307"/>
            <a:ext cx="3419872" cy="646331"/>
          </a:xfrm>
          <a:prstGeom prst="rect">
            <a:avLst/>
          </a:prstGeom>
        </p:spPr>
        <p:txBody>
          <a:bodyPr wrap="square">
            <a:spAutoFit/>
          </a:bodyPr>
          <a:lstStyle/>
          <a:p>
            <a:pPr algn="just">
              <a:spcAft>
                <a:spcPts val="0"/>
              </a:spcAft>
            </a:pPr>
            <a:r>
              <a:rPr lang="en-US" altLang="zh-CN" kern="100" dirty="0">
                <a:latin typeface="Times New Roman"/>
                <a:ea typeface="宋体"/>
                <a:cs typeface="Times New Roman"/>
              </a:rPr>
              <a:t>{  </a:t>
            </a:r>
            <a:r>
              <a:rPr lang="en-US" altLang="zh-CN" kern="100" dirty="0" err="1">
                <a:latin typeface="Times New Roman"/>
                <a:ea typeface="宋体"/>
                <a:cs typeface="Times New Roman"/>
              </a:rPr>
              <a:t>backpatch</a:t>
            </a:r>
            <a:r>
              <a:rPr lang="en-US" altLang="zh-CN" kern="100" dirty="0">
                <a:latin typeface="Times New Roman"/>
                <a:ea typeface="宋体"/>
                <a:cs typeface="Times New Roman"/>
              </a:rPr>
              <a:t>(E.TC</a:t>
            </a:r>
            <a:r>
              <a:rPr lang="zh-CN" altLang="zh-CN" kern="100" dirty="0">
                <a:latin typeface="Times New Roman"/>
                <a:ea typeface="宋体"/>
                <a:cs typeface="Times New Roman"/>
              </a:rPr>
              <a:t>，</a:t>
            </a:r>
            <a:r>
              <a:rPr lang="en-US" altLang="zh-CN" kern="100" dirty="0">
                <a:latin typeface="Times New Roman"/>
                <a:ea typeface="宋体"/>
                <a:cs typeface="Times New Roman"/>
              </a:rPr>
              <a:t>NXQ);</a:t>
            </a:r>
            <a:endParaRPr lang="zh-CN" altLang="zh-CN" kern="100" dirty="0">
              <a:latin typeface="Times New Roman"/>
              <a:ea typeface="宋体"/>
              <a:cs typeface="Times New Roman"/>
            </a:endParaRPr>
          </a:p>
          <a:p>
            <a:pPr indent="171450" algn="just">
              <a:spcAft>
                <a:spcPts val="0"/>
              </a:spcAft>
            </a:pPr>
            <a:r>
              <a:rPr lang="fr-FR" altLang="zh-CN" kern="100" dirty="0">
                <a:latin typeface="Times New Roman"/>
                <a:ea typeface="宋体"/>
                <a:cs typeface="Times New Roman"/>
              </a:rPr>
              <a:t> C.CHAIN=E.FC          }</a:t>
            </a:r>
            <a:endParaRPr lang="zh-CN" altLang="zh-CN" kern="100" dirty="0">
              <a:latin typeface="Times New Roman"/>
              <a:ea typeface="宋体"/>
              <a:cs typeface="Times New Roman"/>
            </a:endParaRPr>
          </a:p>
        </p:txBody>
      </p:sp>
      <p:sp>
        <p:nvSpPr>
          <p:cNvPr id="6" name="矩形 5"/>
          <p:cNvSpPr/>
          <p:nvPr/>
        </p:nvSpPr>
        <p:spPr>
          <a:xfrm>
            <a:off x="4032774" y="3291830"/>
            <a:ext cx="4572000" cy="1200329"/>
          </a:xfrm>
          <a:prstGeom prst="rect">
            <a:avLst/>
          </a:prstGeom>
        </p:spPr>
        <p:txBody>
          <a:bodyPr>
            <a:spAutoFit/>
          </a:bodyPr>
          <a:lstStyle/>
          <a:p>
            <a:pPr algn="just">
              <a:spcAft>
                <a:spcPts val="0"/>
              </a:spcAft>
            </a:pPr>
            <a:r>
              <a:rPr lang="fr-FR" altLang="zh-CN" kern="100" dirty="0">
                <a:latin typeface="Times New Roman"/>
                <a:ea typeface="宋体"/>
                <a:cs typeface="Times New Roman"/>
              </a:rPr>
              <a:t>{  q=NXQ;</a:t>
            </a:r>
            <a:endParaRPr lang="zh-CN" altLang="zh-CN" kern="100" dirty="0">
              <a:latin typeface="Times New Roman"/>
              <a:ea typeface="宋体"/>
              <a:cs typeface="Times New Roman"/>
            </a:endParaRPr>
          </a:p>
          <a:p>
            <a:pPr indent="171450" algn="just">
              <a:spcAft>
                <a:spcPts val="0"/>
              </a:spcAft>
            </a:pPr>
            <a:r>
              <a:rPr lang="fr-FR" altLang="zh-CN" kern="100" dirty="0">
                <a:latin typeface="Times New Roman"/>
                <a:ea typeface="宋体"/>
                <a:cs typeface="Times New Roman"/>
              </a:rPr>
              <a:t>gencode(j</a:t>
            </a:r>
            <a:r>
              <a:rPr lang="zh-CN" altLang="zh-CN" kern="100" dirty="0">
                <a:latin typeface="Times New Roman"/>
                <a:ea typeface="宋体"/>
                <a:cs typeface="Times New Roman"/>
              </a:rPr>
              <a:t>， ， ，</a:t>
            </a:r>
            <a:r>
              <a:rPr lang="fr-FR" altLang="zh-CN" kern="100" dirty="0">
                <a:latin typeface="Times New Roman"/>
                <a:ea typeface="宋体"/>
                <a:cs typeface="Times New Roman"/>
              </a:rPr>
              <a:t>0);</a:t>
            </a:r>
            <a:endParaRPr lang="zh-CN" altLang="zh-CN" kern="100" dirty="0">
              <a:latin typeface="Times New Roman"/>
              <a:ea typeface="宋体"/>
              <a:cs typeface="Times New Roman"/>
            </a:endParaRPr>
          </a:p>
          <a:p>
            <a:pPr indent="171450" algn="just">
              <a:spcAft>
                <a:spcPts val="0"/>
              </a:spcAft>
            </a:pPr>
            <a:r>
              <a:rPr lang="fr-FR" altLang="zh-CN" kern="100" dirty="0">
                <a:latin typeface="Times New Roman"/>
                <a:ea typeface="宋体"/>
                <a:cs typeface="Times New Roman"/>
              </a:rPr>
              <a:t>T·CHAIN=merge(S</a:t>
            </a:r>
            <a:r>
              <a:rPr lang="fr-FR" altLang="zh-CN" kern="100" baseline="30000" dirty="0">
                <a:latin typeface="Times New Roman"/>
                <a:ea typeface="宋体"/>
                <a:cs typeface="Times New Roman"/>
              </a:rPr>
              <a:t>(1)</a:t>
            </a:r>
            <a:r>
              <a:rPr lang="fr-FR" altLang="zh-CN" kern="100" dirty="0">
                <a:latin typeface="Times New Roman"/>
                <a:ea typeface="宋体"/>
                <a:cs typeface="Times New Roman"/>
              </a:rPr>
              <a:t> .CHAIN</a:t>
            </a:r>
            <a:r>
              <a:rPr lang="zh-CN" altLang="zh-CN" kern="100" dirty="0">
                <a:latin typeface="Times New Roman"/>
                <a:ea typeface="宋体"/>
                <a:cs typeface="Times New Roman"/>
              </a:rPr>
              <a:t>，</a:t>
            </a:r>
            <a:r>
              <a:rPr lang="fr-FR" altLang="zh-CN" kern="100" dirty="0">
                <a:latin typeface="Times New Roman"/>
                <a:ea typeface="宋体"/>
                <a:cs typeface="Times New Roman"/>
              </a:rPr>
              <a:t>q) ;</a:t>
            </a:r>
          </a:p>
          <a:p>
            <a:pPr indent="171450" algn="just"/>
            <a:r>
              <a:rPr lang="en-US" altLang="zh-CN" kern="100" dirty="0" err="1">
                <a:latin typeface="Times New Roman"/>
                <a:ea typeface="宋体"/>
                <a:cs typeface="Times New Roman"/>
              </a:rPr>
              <a:t>backpatch</a:t>
            </a:r>
            <a:r>
              <a:rPr lang="en-US" altLang="zh-CN" kern="100" dirty="0">
                <a:latin typeface="Times New Roman"/>
                <a:ea typeface="宋体"/>
                <a:cs typeface="Times New Roman"/>
              </a:rPr>
              <a:t>(C.CHAIN</a:t>
            </a:r>
            <a:r>
              <a:rPr lang="zh-CN" altLang="zh-CN" kern="100" dirty="0">
                <a:latin typeface="Times New Roman"/>
                <a:ea typeface="宋体"/>
                <a:cs typeface="Times New Roman"/>
              </a:rPr>
              <a:t>，</a:t>
            </a:r>
            <a:r>
              <a:rPr lang="en-US" altLang="zh-CN" kern="100" dirty="0">
                <a:latin typeface="Times New Roman"/>
                <a:ea typeface="宋体"/>
                <a:cs typeface="Times New Roman"/>
              </a:rPr>
              <a:t>NXQ);              </a:t>
            </a:r>
            <a:r>
              <a:rPr lang="fr-FR" altLang="zh-CN" kern="100" dirty="0">
                <a:latin typeface="Times New Roman"/>
                <a:ea typeface="宋体"/>
                <a:cs typeface="Times New Roman"/>
              </a:rPr>
              <a:t> }</a:t>
            </a:r>
            <a:endParaRPr lang="zh-CN" altLang="zh-CN" kern="100" dirty="0">
              <a:latin typeface="Times New Roman"/>
              <a:ea typeface="宋体"/>
              <a:cs typeface="Times New Roman"/>
            </a:endParaRPr>
          </a:p>
        </p:txBody>
      </p:sp>
      <p:sp>
        <p:nvSpPr>
          <p:cNvPr id="12" name="矩形 11"/>
          <p:cNvSpPr/>
          <p:nvPr/>
        </p:nvSpPr>
        <p:spPr>
          <a:xfrm>
            <a:off x="6008982" y="51470"/>
            <a:ext cx="2887329" cy="461665"/>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r>
              <a:rPr lang="en-US" altLang="zh-CN" sz="2400" dirty="0"/>
              <a:t>if (E)  S</a:t>
            </a:r>
            <a:r>
              <a:rPr lang="en-US" altLang="zh-CN" sz="2400" baseline="30000" dirty="0"/>
              <a:t>(1)</a:t>
            </a:r>
            <a:r>
              <a:rPr lang="en-US" altLang="zh-CN" sz="2400" dirty="0"/>
              <a:t>  else  S</a:t>
            </a:r>
            <a:r>
              <a:rPr lang="en-US" altLang="zh-CN" sz="2400" baseline="30000" dirty="0"/>
              <a:t>(2)</a:t>
            </a:r>
            <a:endParaRPr lang="zh-CN" altLang="en-US" sz="2400" baseline="30000" dirty="0"/>
          </a:p>
        </p:txBody>
      </p:sp>
      <p:sp>
        <p:nvSpPr>
          <p:cNvPr id="7" name="矩形 6"/>
          <p:cNvSpPr/>
          <p:nvPr/>
        </p:nvSpPr>
        <p:spPr>
          <a:xfrm>
            <a:off x="4026272" y="2274426"/>
            <a:ext cx="4650184" cy="369332"/>
          </a:xfrm>
          <a:prstGeom prst="rect">
            <a:avLst/>
          </a:prstGeom>
        </p:spPr>
        <p:txBody>
          <a:bodyPr wrap="none">
            <a:spAutoFit/>
          </a:bodyPr>
          <a:lstStyle/>
          <a:p>
            <a:pPr algn="just">
              <a:spcAft>
                <a:spcPts val="0"/>
              </a:spcAft>
            </a:pPr>
            <a:r>
              <a:rPr lang="fr-FR" altLang="zh-CN" kern="100" dirty="0">
                <a:latin typeface="Times New Roman"/>
                <a:ea typeface="宋体"/>
                <a:cs typeface="Times New Roman"/>
              </a:rPr>
              <a:t>{  S.CHAIN=merge(T.CHAIN</a:t>
            </a:r>
            <a:r>
              <a:rPr lang="zh-CN" altLang="zh-CN" kern="100" dirty="0">
                <a:latin typeface="Times New Roman"/>
                <a:ea typeface="宋体"/>
                <a:cs typeface="Times New Roman"/>
              </a:rPr>
              <a:t>，</a:t>
            </a:r>
            <a:r>
              <a:rPr lang="fr-FR" altLang="zh-CN" kern="100" dirty="0">
                <a:latin typeface="Times New Roman"/>
                <a:ea typeface="宋体"/>
                <a:cs typeface="Times New Roman"/>
              </a:rPr>
              <a:t>S</a:t>
            </a:r>
            <a:r>
              <a:rPr lang="fr-FR" altLang="zh-CN" kern="100" baseline="30000" dirty="0">
                <a:latin typeface="Times New Roman"/>
                <a:ea typeface="宋体"/>
                <a:cs typeface="Times New Roman"/>
              </a:rPr>
              <a:t>(2)</a:t>
            </a:r>
            <a:r>
              <a:rPr lang="fr-FR" altLang="zh-CN" kern="100" dirty="0">
                <a:latin typeface="Times New Roman"/>
                <a:ea typeface="宋体"/>
                <a:cs typeface="Times New Roman"/>
              </a:rPr>
              <a:t>.CHAIN)  }</a:t>
            </a:r>
            <a:endParaRPr lang="zh-CN" altLang="zh-CN" kern="100" dirty="0">
              <a:latin typeface="Times New Roman"/>
              <a:ea typeface="宋体"/>
              <a:cs typeface="Times New Roman"/>
            </a:endParaRPr>
          </a:p>
        </p:txBody>
      </p:sp>
    </p:spTree>
    <p:extLst>
      <p:ext uri="{BB962C8B-B14F-4D97-AF65-F5344CB8AC3E}">
        <p14:creationId xmlns:p14="http://schemas.microsoft.com/office/powerpoint/2010/main" val="2640472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12" grpId="0" animBg="1"/>
      <p:bldP spid="7"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a:spLocks noGrp="1" noChangeArrowheads="1"/>
          </p:cNvSpPr>
          <p:nvPr>
            <p:ph type="body" sz="half" idx="1"/>
          </p:nvPr>
        </p:nvSpPr>
        <p:spPr>
          <a:xfrm>
            <a:off x="928689" y="214313"/>
            <a:ext cx="7705725" cy="594122"/>
          </a:xfrm>
        </p:spPr>
        <p:txBody>
          <a:bodyPr/>
          <a:lstStyle/>
          <a:p>
            <a:pPr eaLnBrk="1" hangingPunct="1">
              <a:lnSpc>
                <a:spcPct val="90000"/>
              </a:lnSpc>
            </a:pPr>
            <a:r>
              <a:rPr lang="en-US" altLang="zh-CN" sz="2800" b="1">
                <a:solidFill>
                  <a:srgbClr val="0033CC"/>
                </a:solidFill>
              </a:rPr>
              <a:t>2. IF</a:t>
            </a:r>
            <a:r>
              <a:rPr lang="zh-CN" altLang="en-US" sz="2800" b="1">
                <a:solidFill>
                  <a:srgbClr val="0033CC"/>
                </a:solidFill>
              </a:rPr>
              <a:t>语句的目标结构及其翻译</a:t>
            </a:r>
          </a:p>
        </p:txBody>
      </p:sp>
      <p:sp>
        <p:nvSpPr>
          <p:cNvPr id="102403" name="Rectangle 4"/>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sp>
        <p:nvSpPr>
          <p:cNvPr id="2" name="Rectangle 7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1139703758"/>
              </p:ext>
            </p:extLst>
          </p:nvPr>
        </p:nvGraphicFramePr>
        <p:xfrm>
          <a:off x="-36512" y="699542"/>
          <a:ext cx="4464496" cy="3240360"/>
        </p:xfrm>
        <a:graphic>
          <a:graphicData uri="http://schemas.openxmlformats.org/presentationml/2006/ole">
            <mc:AlternateContent xmlns:mc="http://schemas.openxmlformats.org/markup-compatibility/2006">
              <mc:Choice xmlns:v="urn:schemas-microsoft-com:vml" Requires="v">
                <p:oleObj spid="_x0000_s28677" name="Visio" r:id="rId4" imgW="2361795" imgH="1715904" progId="Visio.Drawing.11">
                  <p:embed/>
                </p:oleObj>
              </mc:Choice>
              <mc:Fallback>
                <p:oleObj name="Visio" r:id="rId4" imgW="2361795" imgH="1715904" progId="Visio.Drawing.11">
                  <p:embed/>
                  <p:pic>
                    <p:nvPicPr>
                      <p:cNvPr id="3"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12" y="699542"/>
                        <a:ext cx="4464496" cy="3240360"/>
                      </a:xfrm>
                      <a:prstGeom prst="rect">
                        <a:avLst/>
                      </a:prstGeom>
                      <a:noFill/>
                    </p:spPr>
                  </p:pic>
                </p:oleObj>
              </mc:Fallback>
            </mc:AlternateContent>
          </a:graphicData>
        </a:graphic>
      </p:graphicFrame>
      <p:sp>
        <p:nvSpPr>
          <p:cNvPr id="4" name="Rectangle 7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表格 5"/>
          <p:cNvGraphicFramePr>
            <a:graphicFrameLocks noGrp="1"/>
          </p:cNvGraphicFramePr>
          <p:nvPr>
            <p:extLst>
              <p:ext uri="{D42A27DB-BD31-4B8C-83A1-F6EECF244321}">
                <p14:modId xmlns:p14="http://schemas.microsoft.com/office/powerpoint/2010/main" val="3538669132"/>
              </p:ext>
            </p:extLst>
          </p:nvPr>
        </p:nvGraphicFramePr>
        <p:xfrm>
          <a:off x="3815080" y="2550957"/>
          <a:ext cx="5148065" cy="2078062"/>
        </p:xfrm>
        <a:graphic>
          <a:graphicData uri="http://schemas.openxmlformats.org/drawingml/2006/table">
            <a:tbl>
              <a:tblPr/>
              <a:tblGrid>
                <a:gridCol w="5148065">
                  <a:extLst>
                    <a:ext uri="{9D8B030D-6E8A-4147-A177-3AD203B41FA5}">
                      <a16:colId xmlns:a16="http://schemas.microsoft.com/office/drawing/2014/main" val="20000"/>
                    </a:ext>
                  </a:extLst>
                </a:gridCol>
              </a:tblGrid>
              <a:tr h="34987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en-US" sz="1800" kern="100" dirty="0">
                          <a:latin typeface="Times New Roman"/>
                          <a:ea typeface="宋体"/>
                          <a:cs typeface="Times New Roman"/>
                        </a:rPr>
                        <a:t>（</a:t>
                      </a:r>
                      <a:r>
                        <a:rPr lang="en-US" altLang="zh-CN" sz="1800" kern="100" dirty="0">
                          <a:latin typeface="Times New Roman"/>
                          <a:ea typeface="宋体"/>
                          <a:cs typeface="Times New Roman"/>
                        </a:rPr>
                        <a:t>1</a:t>
                      </a:r>
                      <a:r>
                        <a:rPr lang="zh-CN" altLang="en-US" sz="1800" kern="100" dirty="0">
                          <a:latin typeface="Times New Roman"/>
                          <a:ea typeface="宋体"/>
                          <a:cs typeface="Times New Roman"/>
                        </a:rPr>
                        <a:t>）</a:t>
                      </a:r>
                      <a:r>
                        <a:rPr lang="fr-FR" altLang="zh-CN" sz="1800" kern="100" dirty="0">
                          <a:latin typeface="Times New Roman"/>
                          <a:ea typeface="宋体"/>
                          <a:cs typeface="Times New Roman"/>
                        </a:rPr>
                        <a:t>S</a:t>
                      </a:r>
                      <a:r>
                        <a:rPr lang="en-US" altLang="zh-CN" sz="1800" kern="100" dirty="0">
                          <a:latin typeface="Times New Roman"/>
                          <a:ea typeface="宋体"/>
                          <a:cs typeface="Times New Roman"/>
                        </a:rPr>
                        <a:t>→</a:t>
                      </a:r>
                      <a:r>
                        <a:rPr lang="fr-FR" altLang="zh-CN" sz="1800" kern="100" dirty="0">
                          <a:latin typeface="Times New Roman"/>
                          <a:ea typeface="宋体"/>
                          <a:cs typeface="Times New Roman"/>
                        </a:rPr>
                        <a:t>C S</a:t>
                      </a:r>
                      <a:r>
                        <a:rPr lang="fr-FR" altLang="zh-CN" sz="1800" kern="100" baseline="30000" dirty="0">
                          <a:latin typeface="Times New Roman"/>
                          <a:ea typeface="宋体"/>
                          <a:cs typeface="Times New Roman"/>
                        </a:rPr>
                        <a:t>(1)</a:t>
                      </a:r>
                      <a:endParaRPr lang="zh-CN" altLang="zh-CN" sz="18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76064">
                <a:tc>
                  <a:txBody>
                    <a:bodyPr/>
                    <a:lstStyle/>
                    <a:p>
                      <a:pPr algn="just">
                        <a:spcAft>
                          <a:spcPts val="0"/>
                        </a:spcAft>
                      </a:pPr>
                      <a:endParaRPr lang="zh-CN" sz="18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576064">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en-US" sz="1800" kern="100" dirty="0">
                          <a:latin typeface="Times New Roman"/>
                          <a:ea typeface="宋体"/>
                          <a:cs typeface="Times New Roman"/>
                        </a:rPr>
                        <a:t>（</a:t>
                      </a:r>
                      <a:r>
                        <a:rPr lang="en-US" altLang="zh-CN" sz="1800" kern="100" dirty="0">
                          <a:latin typeface="Times New Roman"/>
                          <a:ea typeface="宋体"/>
                          <a:cs typeface="Times New Roman"/>
                        </a:rPr>
                        <a:t>2</a:t>
                      </a:r>
                      <a:r>
                        <a:rPr lang="zh-CN" altLang="en-US" sz="1800" kern="100" dirty="0">
                          <a:latin typeface="Times New Roman"/>
                          <a:ea typeface="宋体"/>
                          <a:cs typeface="Times New Roman"/>
                        </a:rPr>
                        <a:t>）</a:t>
                      </a:r>
                      <a:r>
                        <a:rPr lang="en-US" altLang="zh-CN" sz="1800" kern="100" dirty="0" err="1">
                          <a:latin typeface="Times New Roman"/>
                          <a:ea typeface="宋体"/>
                          <a:cs typeface="Times New Roman"/>
                        </a:rPr>
                        <a:t>C→if</a:t>
                      </a:r>
                      <a:r>
                        <a:rPr lang="en-US" altLang="zh-CN" sz="1800" kern="100" dirty="0">
                          <a:latin typeface="Times New Roman"/>
                          <a:ea typeface="宋体"/>
                          <a:cs typeface="Times New Roman"/>
                        </a:rPr>
                        <a:t> (E)</a:t>
                      </a:r>
                      <a:endParaRPr lang="zh-CN" sz="18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76064">
                <a:tc>
                  <a:txBody>
                    <a:bodyPr/>
                    <a:lstStyle/>
                    <a:p>
                      <a:pPr indent="171450" algn="just">
                        <a:spcAft>
                          <a:spcPts val="0"/>
                        </a:spcAft>
                      </a:pPr>
                      <a:endParaRPr lang="zh-CN" sz="18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7" name="矩形 6"/>
          <p:cNvSpPr/>
          <p:nvPr/>
        </p:nvSpPr>
        <p:spPr>
          <a:xfrm>
            <a:off x="4067944" y="4013651"/>
            <a:ext cx="3419872" cy="646331"/>
          </a:xfrm>
          <a:prstGeom prst="rect">
            <a:avLst/>
          </a:prstGeom>
        </p:spPr>
        <p:txBody>
          <a:bodyPr wrap="square">
            <a:spAutoFit/>
          </a:bodyPr>
          <a:lstStyle/>
          <a:p>
            <a:pPr algn="just">
              <a:spcAft>
                <a:spcPts val="0"/>
              </a:spcAft>
            </a:pPr>
            <a:r>
              <a:rPr lang="en-US" altLang="zh-CN" kern="100" dirty="0">
                <a:latin typeface="Times New Roman"/>
                <a:ea typeface="宋体"/>
                <a:cs typeface="Times New Roman"/>
              </a:rPr>
              <a:t>{  </a:t>
            </a:r>
            <a:r>
              <a:rPr lang="en-US" altLang="zh-CN" kern="100" dirty="0" err="1">
                <a:latin typeface="Times New Roman"/>
                <a:ea typeface="宋体"/>
                <a:cs typeface="Times New Roman"/>
              </a:rPr>
              <a:t>backpatch</a:t>
            </a:r>
            <a:r>
              <a:rPr lang="en-US" altLang="zh-CN" kern="100" dirty="0">
                <a:latin typeface="Times New Roman"/>
                <a:ea typeface="宋体"/>
                <a:cs typeface="Times New Roman"/>
              </a:rPr>
              <a:t>(E.TC</a:t>
            </a:r>
            <a:r>
              <a:rPr lang="zh-CN" altLang="zh-CN" kern="100" dirty="0">
                <a:latin typeface="Times New Roman"/>
                <a:ea typeface="宋体"/>
                <a:cs typeface="Times New Roman"/>
              </a:rPr>
              <a:t>，</a:t>
            </a:r>
            <a:r>
              <a:rPr lang="en-US" altLang="zh-CN" kern="100" dirty="0">
                <a:latin typeface="Times New Roman"/>
                <a:ea typeface="宋体"/>
                <a:cs typeface="Times New Roman"/>
              </a:rPr>
              <a:t>NXQ);</a:t>
            </a:r>
            <a:endParaRPr lang="zh-CN" altLang="zh-CN" kern="100" dirty="0">
              <a:latin typeface="Times New Roman"/>
              <a:ea typeface="宋体"/>
              <a:cs typeface="Times New Roman"/>
            </a:endParaRPr>
          </a:p>
          <a:p>
            <a:pPr indent="171450" algn="just">
              <a:spcAft>
                <a:spcPts val="0"/>
              </a:spcAft>
            </a:pPr>
            <a:r>
              <a:rPr lang="fr-FR" altLang="zh-CN" kern="100" dirty="0">
                <a:latin typeface="Times New Roman"/>
                <a:ea typeface="宋体"/>
                <a:cs typeface="Times New Roman"/>
              </a:rPr>
              <a:t> C.CHAIN=E.FC          }</a:t>
            </a:r>
            <a:endParaRPr lang="zh-CN" altLang="zh-CN" kern="100" dirty="0">
              <a:latin typeface="Times New Roman"/>
              <a:ea typeface="宋体"/>
              <a:cs typeface="Times New Roman"/>
            </a:endParaRPr>
          </a:p>
        </p:txBody>
      </p:sp>
      <p:sp>
        <p:nvSpPr>
          <p:cNvPr id="8" name="矩形 7"/>
          <p:cNvSpPr/>
          <p:nvPr/>
        </p:nvSpPr>
        <p:spPr>
          <a:xfrm>
            <a:off x="4067944" y="2990345"/>
            <a:ext cx="4572000" cy="369332"/>
          </a:xfrm>
          <a:prstGeom prst="rect">
            <a:avLst/>
          </a:prstGeom>
        </p:spPr>
        <p:txBody>
          <a:bodyPr>
            <a:spAutoFit/>
          </a:bodyPr>
          <a:lstStyle/>
          <a:p>
            <a:pPr algn="just">
              <a:spcAft>
                <a:spcPts val="0"/>
              </a:spcAft>
            </a:pPr>
            <a:r>
              <a:rPr lang="fr-FR" altLang="zh-CN" kern="100" dirty="0">
                <a:latin typeface="Times New Roman"/>
                <a:ea typeface="宋体"/>
                <a:cs typeface="Times New Roman"/>
              </a:rPr>
              <a:t>{S.CHAIN =merge(C.CHAIN</a:t>
            </a:r>
            <a:r>
              <a:rPr lang="zh-CN" altLang="zh-CN" kern="100" dirty="0">
                <a:latin typeface="Times New Roman"/>
                <a:ea typeface="宋体"/>
                <a:cs typeface="Times New Roman"/>
              </a:rPr>
              <a:t>，</a:t>
            </a:r>
            <a:r>
              <a:rPr lang="fr-FR" altLang="zh-CN" kern="100" dirty="0">
                <a:latin typeface="Times New Roman"/>
                <a:ea typeface="宋体"/>
                <a:cs typeface="Times New Roman"/>
              </a:rPr>
              <a:t>S</a:t>
            </a:r>
            <a:r>
              <a:rPr lang="fr-FR" altLang="zh-CN" kern="100" baseline="30000" dirty="0">
                <a:latin typeface="Times New Roman"/>
                <a:ea typeface="宋体"/>
                <a:cs typeface="Times New Roman"/>
              </a:rPr>
              <a:t>(1)</a:t>
            </a:r>
            <a:r>
              <a:rPr lang="fr-FR" altLang="zh-CN" kern="100" dirty="0">
                <a:latin typeface="Times New Roman"/>
                <a:ea typeface="宋体"/>
                <a:cs typeface="Times New Roman"/>
              </a:rPr>
              <a:t>.CHAIN)  }</a:t>
            </a:r>
            <a:endParaRPr lang="zh-CN" altLang="zh-CN" kern="100" dirty="0">
              <a:latin typeface="Times New Roman"/>
              <a:ea typeface="宋体"/>
              <a:cs typeface="Times New Roman"/>
            </a:endParaRPr>
          </a:p>
        </p:txBody>
      </p:sp>
      <p:sp>
        <p:nvSpPr>
          <p:cNvPr id="9" name="TextBox 8"/>
          <p:cNvSpPr txBox="1"/>
          <p:nvPr/>
        </p:nvSpPr>
        <p:spPr>
          <a:xfrm>
            <a:off x="7487816" y="767362"/>
            <a:ext cx="1332656"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altLang="zh-CN" sz="2400" dirty="0"/>
              <a:t>If (E) S</a:t>
            </a:r>
            <a:r>
              <a:rPr lang="en-US" altLang="zh-CN" sz="2400" baseline="30000" dirty="0"/>
              <a:t>(1)</a:t>
            </a:r>
            <a:endParaRPr lang="zh-CN" altLang="en-US" sz="2400" baseline="30000" dirty="0"/>
          </a:p>
        </p:txBody>
      </p:sp>
    </p:spTree>
    <p:extLst>
      <p:ext uri="{BB962C8B-B14F-4D97-AF65-F5344CB8AC3E}">
        <p14:creationId xmlns:p14="http://schemas.microsoft.com/office/powerpoint/2010/main" val="117083397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extLst>
              <p:ext uri="{D42A27DB-BD31-4B8C-83A1-F6EECF244321}">
                <p14:modId xmlns:p14="http://schemas.microsoft.com/office/powerpoint/2010/main" val="1678051869"/>
              </p:ext>
            </p:extLst>
          </p:nvPr>
        </p:nvGraphicFramePr>
        <p:xfrm>
          <a:off x="392113" y="735806"/>
          <a:ext cx="8215312" cy="2663776"/>
        </p:xfrm>
        <a:graphic>
          <a:graphicData uri="http://schemas.openxmlformats.org/drawingml/2006/table">
            <a:tbl>
              <a:tblPr/>
              <a:tblGrid>
                <a:gridCol w="785812">
                  <a:extLst>
                    <a:ext uri="{9D8B030D-6E8A-4147-A177-3AD203B41FA5}">
                      <a16:colId xmlns:a16="http://schemas.microsoft.com/office/drawing/2014/main" val="20000"/>
                    </a:ext>
                  </a:extLst>
                </a:gridCol>
                <a:gridCol w="1643062">
                  <a:extLst>
                    <a:ext uri="{9D8B030D-6E8A-4147-A177-3AD203B41FA5}">
                      <a16:colId xmlns:a16="http://schemas.microsoft.com/office/drawing/2014/main" val="20001"/>
                    </a:ext>
                  </a:extLst>
                </a:gridCol>
                <a:gridCol w="5786438">
                  <a:extLst>
                    <a:ext uri="{9D8B030D-6E8A-4147-A177-3AD203B41FA5}">
                      <a16:colId xmlns:a16="http://schemas.microsoft.com/office/drawing/2014/main" val="20002"/>
                    </a:ext>
                  </a:extLst>
                </a:gridCol>
              </a:tblGrid>
              <a:tr h="261938">
                <a:tc>
                  <a:txBody>
                    <a:bodyPr/>
                    <a:lstStyle/>
                    <a:p>
                      <a:pPr algn="l">
                        <a:spcAft>
                          <a:spcPts val="0"/>
                        </a:spcAft>
                      </a:pPr>
                      <a:r>
                        <a:rPr lang="zh-CN" sz="1500" kern="100" dirty="0">
                          <a:latin typeface="Times New Roman"/>
                          <a:ea typeface="宋体"/>
                          <a:cs typeface="Times New Roman"/>
                        </a:rPr>
                        <a:t>编号</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500" kern="100">
                          <a:latin typeface="Times New Roman"/>
                          <a:ea typeface="宋体"/>
                          <a:cs typeface="Times New Roman"/>
                        </a:rPr>
                        <a:t>产生式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500" kern="100">
                          <a:latin typeface="Times New Roman"/>
                          <a:ea typeface="宋体"/>
                          <a:cs typeface="Times New Roman"/>
                        </a:rPr>
                        <a:t>语义规则</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9870">
                <a:tc>
                  <a:txBody>
                    <a:bodyPr/>
                    <a:lstStyle/>
                    <a:p>
                      <a:pPr algn="l">
                        <a:spcAft>
                          <a:spcPts val="0"/>
                        </a:spcAft>
                      </a:pPr>
                      <a:r>
                        <a:rPr lang="zh-CN" sz="1500" kern="100" dirty="0">
                          <a:latin typeface="Times New Roman"/>
                          <a:ea typeface="宋体"/>
                          <a:cs typeface="Times New Roman"/>
                        </a:rPr>
                        <a:t>（</a:t>
                      </a:r>
                      <a:r>
                        <a:rPr lang="fr-FR" sz="1500" kern="100" dirty="0">
                          <a:latin typeface="Times New Roman"/>
                          <a:ea typeface="宋体"/>
                          <a:cs typeface="Times New Roman"/>
                        </a:rPr>
                        <a:t>1</a:t>
                      </a:r>
                      <a:r>
                        <a:rPr lang="zh-CN" sz="15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fr-FR" sz="1500" kern="100">
                          <a:latin typeface="Times New Roman"/>
                          <a:ea typeface="宋体"/>
                          <a:cs typeface="Times New Roman"/>
                        </a:rPr>
                        <a:t>S</a:t>
                      </a:r>
                      <a:r>
                        <a:rPr lang="en-US" sz="1500" kern="100">
                          <a:latin typeface="Times New Roman"/>
                          <a:ea typeface="宋体"/>
                          <a:cs typeface="Times New Roman"/>
                        </a:rPr>
                        <a:t>→</a:t>
                      </a:r>
                      <a:r>
                        <a:rPr lang="fr-FR" sz="1500" kern="100">
                          <a:latin typeface="Times New Roman"/>
                          <a:ea typeface="宋体"/>
                          <a:cs typeface="Times New Roman"/>
                        </a:rPr>
                        <a:t>C S</a:t>
                      </a:r>
                      <a:r>
                        <a:rPr lang="fr-FR" sz="1500" kern="100" baseline="30000">
                          <a:latin typeface="Times New Roman"/>
                          <a:ea typeface="宋体"/>
                          <a:cs typeface="Times New Roman"/>
                        </a:rPr>
                        <a:t>(1)</a:t>
                      </a:r>
                      <a:endParaRPr lang="zh-CN" sz="15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fr-FR" sz="1500" kern="100" dirty="0">
                          <a:latin typeface="Times New Roman"/>
                          <a:ea typeface="宋体"/>
                          <a:cs typeface="Times New Roman"/>
                        </a:rPr>
                        <a:t>{  S.CHAIN =merge(C.CHAIN</a:t>
                      </a:r>
                      <a:r>
                        <a:rPr lang="zh-CN" sz="1500" kern="100" dirty="0">
                          <a:latin typeface="Times New Roman"/>
                          <a:ea typeface="宋体"/>
                          <a:cs typeface="Times New Roman"/>
                        </a:rPr>
                        <a:t>，</a:t>
                      </a:r>
                      <a:r>
                        <a:rPr lang="fr-FR" sz="1500" kern="100" dirty="0">
                          <a:latin typeface="Times New Roman"/>
                          <a:ea typeface="宋体"/>
                          <a:cs typeface="Times New Roman"/>
                        </a:rPr>
                        <a:t>S</a:t>
                      </a:r>
                      <a:r>
                        <a:rPr lang="fr-FR" sz="1500" kern="100" baseline="30000" dirty="0">
                          <a:latin typeface="Times New Roman"/>
                          <a:ea typeface="宋体"/>
                          <a:cs typeface="Times New Roman"/>
                        </a:rPr>
                        <a:t>(1)</a:t>
                      </a:r>
                      <a:r>
                        <a:rPr lang="fr-FR" sz="1500" kern="100" dirty="0">
                          <a:latin typeface="Times New Roman"/>
                          <a:ea typeface="宋体"/>
                          <a:cs typeface="Times New Roman"/>
                        </a:rPr>
                        <a:t>.CHAIN)  }</a:t>
                      </a:r>
                      <a:endParaRPr lang="zh-CN" sz="15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6064">
                <a:tc>
                  <a:txBody>
                    <a:bodyPr/>
                    <a:lstStyle/>
                    <a:p>
                      <a:pPr algn="l">
                        <a:spcAft>
                          <a:spcPts val="0"/>
                        </a:spcAft>
                      </a:pPr>
                      <a:r>
                        <a:rPr lang="zh-CN" sz="1500" kern="100" dirty="0">
                          <a:latin typeface="Times New Roman"/>
                          <a:ea typeface="宋体"/>
                          <a:cs typeface="Times New Roman"/>
                        </a:rPr>
                        <a:t>（</a:t>
                      </a:r>
                      <a:r>
                        <a:rPr lang="fr-FR" sz="1500" kern="100" dirty="0">
                          <a:latin typeface="Times New Roman"/>
                          <a:ea typeface="宋体"/>
                          <a:cs typeface="Times New Roman"/>
                        </a:rPr>
                        <a:t>2</a:t>
                      </a:r>
                      <a:r>
                        <a:rPr lang="zh-CN" sz="15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500" kern="100" dirty="0" err="1">
                          <a:latin typeface="Times New Roman"/>
                          <a:ea typeface="宋体"/>
                          <a:cs typeface="Times New Roman"/>
                        </a:rPr>
                        <a:t>C→if</a:t>
                      </a:r>
                      <a:r>
                        <a:rPr lang="en-US" sz="1500" kern="100" dirty="0">
                          <a:latin typeface="Times New Roman"/>
                          <a:ea typeface="宋体"/>
                          <a:cs typeface="Times New Roman"/>
                        </a:rPr>
                        <a:t> (</a:t>
                      </a:r>
                      <a:r>
                        <a:rPr lang="en-US" altLang="zh-CN" sz="1600" kern="100" dirty="0">
                          <a:latin typeface="Times New Roman"/>
                          <a:ea typeface="宋体"/>
                          <a:cs typeface="Times New Roman"/>
                        </a:rPr>
                        <a:t>E)</a:t>
                      </a:r>
                      <a:r>
                        <a:rPr lang="en-US" sz="1500" kern="100" dirty="0">
                          <a:latin typeface="Times New Roman"/>
                          <a:ea typeface="宋体"/>
                          <a:cs typeface="Times New Roman"/>
                        </a:rPr>
                        <a:t> </a:t>
                      </a:r>
                      <a:endParaRPr lang="zh-CN" sz="15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500" kern="100" dirty="0">
                          <a:latin typeface="Times New Roman"/>
                          <a:ea typeface="宋体"/>
                          <a:cs typeface="Times New Roman"/>
                        </a:rPr>
                        <a:t>{  </a:t>
                      </a:r>
                      <a:r>
                        <a:rPr lang="en-US" sz="1500" kern="100" dirty="0" err="1">
                          <a:latin typeface="Times New Roman"/>
                          <a:ea typeface="宋体"/>
                          <a:cs typeface="Times New Roman"/>
                        </a:rPr>
                        <a:t>backpatch</a:t>
                      </a:r>
                      <a:r>
                        <a:rPr lang="en-US" sz="1500" kern="100" dirty="0">
                          <a:latin typeface="Times New Roman"/>
                          <a:ea typeface="宋体"/>
                          <a:cs typeface="Times New Roman"/>
                        </a:rPr>
                        <a:t>(E.TC</a:t>
                      </a:r>
                      <a:r>
                        <a:rPr lang="zh-CN" sz="1500" kern="100" dirty="0">
                          <a:latin typeface="Times New Roman"/>
                          <a:ea typeface="宋体"/>
                          <a:cs typeface="Times New Roman"/>
                        </a:rPr>
                        <a:t>，</a:t>
                      </a:r>
                      <a:r>
                        <a:rPr lang="en-US" sz="1500" kern="100" dirty="0">
                          <a:latin typeface="Times New Roman"/>
                          <a:ea typeface="宋体"/>
                          <a:cs typeface="Times New Roman"/>
                        </a:rPr>
                        <a:t>NXQ);</a:t>
                      </a:r>
                      <a:endParaRPr lang="zh-CN" sz="1500" kern="100" dirty="0">
                        <a:latin typeface="Times New Roman"/>
                        <a:ea typeface="宋体"/>
                        <a:cs typeface="Times New Roman"/>
                      </a:endParaRPr>
                    </a:p>
                    <a:p>
                      <a:pPr indent="171450" algn="just">
                        <a:spcAft>
                          <a:spcPts val="0"/>
                        </a:spcAft>
                      </a:pPr>
                      <a:r>
                        <a:rPr lang="fr-FR" sz="1500" kern="100" dirty="0">
                          <a:latin typeface="Times New Roman"/>
                          <a:ea typeface="宋体"/>
                          <a:cs typeface="Times New Roman"/>
                        </a:rPr>
                        <a:t>C.CHAIN=E.FC          }</a:t>
                      </a:r>
                      <a:endParaRPr lang="zh-CN" sz="15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8153">
                <a:tc>
                  <a:txBody>
                    <a:bodyPr/>
                    <a:lstStyle/>
                    <a:p>
                      <a:pPr algn="l">
                        <a:spcAft>
                          <a:spcPts val="0"/>
                        </a:spcAft>
                      </a:pPr>
                      <a:r>
                        <a:rPr lang="zh-CN" sz="1500" kern="100">
                          <a:latin typeface="Times New Roman"/>
                          <a:ea typeface="宋体"/>
                          <a:cs typeface="Times New Roman"/>
                        </a:rPr>
                        <a:t>（</a:t>
                      </a:r>
                      <a:r>
                        <a:rPr lang="fr-FR" sz="1500" kern="100">
                          <a:latin typeface="Times New Roman"/>
                          <a:ea typeface="宋体"/>
                          <a:cs typeface="Times New Roman"/>
                        </a:rPr>
                        <a:t>3</a:t>
                      </a:r>
                      <a:r>
                        <a:rPr lang="zh-CN" sz="1500" kern="10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fr-FR" sz="1500" kern="100" dirty="0">
                          <a:latin typeface="Times New Roman"/>
                          <a:ea typeface="宋体"/>
                          <a:cs typeface="Times New Roman"/>
                        </a:rPr>
                        <a:t>S</a:t>
                      </a:r>
                      <a:r>
                        <a:rPr lang="en-US" sz="1500" kern="100" dirty="0">
                          <a:latin typeface="Times New Roman"/>
                          <a:ea typeface="宋体"/>
                          <a:cs typeface="Times New Roman"/>
                        </a:rPr>
                        <a:t>→</a:t>
                      </a:r>
                      <a:r>
                        <a:rPr lang="fr-FR" sz="1500" kern="100" dirty="0">
                          <a:latin typeface="Times New Roman"/>
                          <a:ea typeface="宋体"/>
                          <a:cs typeface="Times New Roman"/>
                        </a:rPr>
                        <a:t>T S</a:t>
                      </a:r>
                      <a:r>
                        <a:rPr lang="fr-FR" sz="1500" kern="100" baseline="30000" dirty="0">
                          <a:latin typeface="Times New Roman"/>
                          <a:ea typeface="宋体"/>
                          <a:cs typeface="Times New Roman"/>
                        </a:rPr>
                        <a:t>(2)</a:t>
                      </a:r>
                      <a:endParaRPr lang="zh-CN" sz="15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fr-FR" sz="1500" kern="100" dirty="0">
                          <a:latin typeface="Times New Roman"/>
                          <a:ea typeface="宋体"/>
                          <a:cs typeface="Times New Roman"/>
                        </a:rPr>
                        <a:t>{  S.CHAIN=merge(T.CHAIN</a:t>
                      </a:r>
                      <a:r>
                        <a:rPr lang="zh-CN" sz="1500" kern="100" dirty="0">
                          <a:latin typeface="Times New Roman"/>
                          <a:ea typeface="宋体"/>
                          <a:cs typeface="Times New Roman"/>
                        </a:rPr>
                        <a:t>，</a:t>
                      </a:r>
                      <a:r>
                        <a:rPr lang="fr-FR" sz="1500" kern="100" dirty="0">
                          <a:latin typeface="Times New Roman"/>
                          <a:ea typeface="宋体"/>
                          <a:cs typeface="Times New Roman"/>
                        </a:rPr>
                        <a:t>S</a:t>
                      </a:r>
                      <a:r>
                        <a:rPr lang="fr-FR" sz="1500" kern="100" baseline="30000" dirty="0">
                          <a:latin typeface="Times New Roman"/>
                          <a:ea typeface="宋体"/>
                          <a:cs typeface="Times New Roman"/>
                        </a:rPr>
                        <a:t>(2)</a:t>
                      </a:r>
                      <a:r>
                        <a:rPr lang="fr-FR" sz="1500" kern="100" dirty="0">
                          <a:latin typeface="Times New Roman"/>
                          <a:ea typeface="宋体"/>
                          <a:cs typeface="Times New Roman"/>
                        </a:rPr>
                        <a:t>.CHAIN)  }</a:t>
                      </a:r>
                      <a:endParaRPr lang="zh-CN" sz="15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47751">
                <a:tc>
                  <a:txBody>
                    <a:bodyPr/>
                    <a:lstStyle/>
                    <a:p>
                      <a:pPr algn="l">
                        <a:spcAft>
                          <a:spcPts val="0"/>
                        </a:spcAft>
                      </a:pPr>
                      <a:r>
                        <a:rPr lang="zh-CN" sz="1500" kern="100" dirty="0">
                          <a:latin typeface="Times New Roman"/>
                          <a:ea typeface="宋体"/>
                          <a:cs typeface="Times New Roman"/>
                        </a:rPr>
                        <a:t>（</a:t>
                      </a:r>
                      <a:r>
                        <a:rPr lang="fr-FR" sz="1500" kern="100" dirty="0">
                          <a:latin typeface="Times New Roman"/>
                          <a:ea typeface="宋体"/>
                          <a:cs typeface="Times New Roman"/>
                        </a:rPr>
                        <a:t>4</a:t>
                      </a:r>
                      <a:r>
                        <a:rPr lang="zh-CN" sz="15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500" kern="100" dirty="0">
                          <a:latin typeface="Times New Roman"/>
                          <a:ea typeface="宋体"/>
                          <a:cs typeface="Times New Roman"/>
                        </a:rPr>
                        <a:t>T→C</a:t>
                      </a:r>
                      <a:r>
                        <a:rPr lang="fr-FR" altLang="zh-CN" sz="1500" kern="100" dirty="0">
                          <a:latin typeface="Times New Roman"/>
                          <a:ea typeface="+mn-ea"/>
                          <a:cs typeface="Times New Roman"/>
                        </a:rPr>
                        <a:t> </a:t>
                      </a:r>
                      <a:r>
                        <a:rPr lang="en-US" sz="1500" kern="100" dirty="0">
                          <a:latin typeface="Times New Roman"/>
                          <a:ea typeface="宋体"/>
                          <a:cs typeface="Times New Roman"/>
                        </a:rPr>
                        <a:t>S</a:t>
                      </a:r>
                      <a:r>
                        <a:rPr lang="en-US" sz="1500" kern="100" baseline="30000" dirty="0">
                          <a:latin typeface="Times New Roman"/>
                          <a:ea typeface="宋体"/>
                          <a:cs typeface="Times New Roman"/>
                        </a:rPr>
                        <a:t>(1)</a:t>
                      </a:r>
                      <a:r>
                        <a:rPr lang="en-US" sz="1500" kern="100" dirty="0">
                          <a:latin typeface="Times New Roman"/>
                          <a:ea typeface="宋体"/>
                          <a:cs typeface="Times New Roman"/>
                        </a:rPr>
                        <a:t> else</a:t>
                      </a:r>
                      <a:endParaRPr lang="zh-CN" sz="15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fr-FR" sz="1500" kern="100" dirty="0">
                          <a:latin typeface="Times New Roman"/>
                          <a:ea typeface="宋体"/>
                          <a:cs typeface="Times New Roman"/>
                        </a:rPr>
                        <a:t>{  q=NXQ;</a:t>
                      </a:r>
                      <a:endParaRPr lang="zh-CN" sz="1500" kern="100" dirty="0">
                        <a:latin typeface="Times New Roman"/>
                        <a:ea typeface="宋体"/>
                        <a:cs typeface="Times New Roman"/>
                      </a:endParaRPr>
                    </a:p>
                    <a:p>
                      <a:pPr indent="171450" algn="just">
                        <a:spcAft>
                          <a:spcPts val="0"/>
                        </a:spcAft>
                      </a:pPr>
                      <a:r>
                        <a:rPr lang="fr-FR" sz="1500" kern="100" dirty="0">
                          <a:latin typeface="Times New Roman"/>
                          <a:ea typeface="宋体"/>
                          <a:cs typeface="Times New Roman"/>
                        </a:rPr>
                        <a:t>gencode(j</a:t>
                      </a:r>
                      <a:r>
                        <a:rPr lang="zh-CN" sz="1500" kern="100" dirty="0">
                          <a:latin typeface="Times New Roman"/>
                          <a:ea typeface="宋体"/>
                          <a:cs typeface="Times New Roman"/>
                        </a:rPr>
                        <a:t>， ， ，</a:t>
                      </a:r>
                      <a:r>
                        <a:rPr lang="fr-FR" sz="1500" kern="100" dirty="0">
                          <a:latin typeface="Times New Roman"/>
                          <a:ea typeface="宋体"/>
                          <a:cs typeface="Times New Roman"/>
                        </a:rPr>
                        <a:t>0);</a:t>
                      </a:r>
                      <a:endParaRPr lang="zh-CN" sz="1500" kern="100" dirty="0">
                        <a:latin typeface="Times New Roman"/>
                        <a:ea typeface="宋体"/>
                        <a:cs typeface="Times New Roman"/>
                      </a:endParaRPr>
                    </a:p>
                    <a:p>
                      <a:pPr indent="171450" algn="just">
                        <a:spcAft>
                          <a:spcPts val="0"/>
                        </a:spcAft>
                      </a:pPr>
                      <a:r>
                        <a:rPr lang="en-US" sz="1500" kern="100" dirty="0" err="1">
                          <a:latin typeface="Times New Roman"/>
                          <a:ea typeface="宋体"/>
                          <a:cs typeface="Times New Roman"/>
                        </a:rPr>
                        <a:t>backpatch</a:t>
                      </a:r>
                      <a:r>
                        <a:rPr lang="en-US" sz="1500" kern="100" dirty="0">
                          <a:latin typeface="Times New Roman"/>
                          <a:ea typeface="宋体"/>
                          <a:cs typeface="Times New Roman"/>
                        </a:rPr>
                        <a:t>(C.CHAIN</a:t>
                      </a:r>
                      <a:r>
                        <a:rPr lang="zh-CN" sz="1500" kern="100" dirty="0">
                          <a:latin typeface="Times New Roman"/>
                          <a:ea typeface="宋体"/>
                          <a:cs typeface="Times New Roman"/>
                        </a:rPr>
                        <a:t>，</a:t>
                      </a:r>
                      <a:r>
                        <a:rPr lang="en-US" sz="1500" kern="100" dirty="0">
                          <a:latin typeface="Times New Roman"/>
                          <a:ea typeface="宋体"/>
                          <a:cs typeface="Times New Roman"/>
                        </a:rPr>
                        <a:t>NXQ);</a:t>
                      </a:r>
                      <a:endParaRPr lang="zh-CN" sz="1500" kern="100" dirty="0">
                        <a:latin typeface="Times New Roman"/>
                        <a:ea typeface="宋体"/>
                        <a:cs typeface="Times New Roman"/>
                      </a:endParaRPr>
                    </a:p>
                    <a:p>
                      <a:pPr indent="171450" algn="just">
                        <a:spcAft>
                          <a:spcPts val="0"/>
                        </a:spcAft>
                      </a:pPr>
                      <a:r>
                        <a:rPr lang="fr-FR" sz="1500" kern="100" dirty="0">
                          <a:latin typeface="Times New Roman"/>
                          <a:ea typeface="宋体"/>
                          <a:cs typeface="Times New Roman"/>
                        </a:rPr>
                        <a:t>T·CHAIN=merge(S</a:t>
                      </a:r>
                      <a:r>
                        <a:rPr lang="fr-FR" sz="1500" kern="100" baseline="30000" dirty="0">
                          <a:latin typeface="Times New Roman"/>
                          <a:ea typeface="宋体"/>
                          <a:cs typeface="Times New Roman"/>
                        </a:rPr>
                        <a:t>(1)</a:t>
                      </a:r>
                      <a:r>
                        <a:rPr lang="fr-FR" sz="1500" kern="100" dirty="0">
                          <a:latin typeface="Times New Roman"/>
                          <a:ea typeface="宋体"/>
                          <a:cs typeface="Times New Roman"/>
                        </a:rPr>
                        <a:t> .CHAIN</a:t>
                      </a:r>
                      <a:r>
                        <a:rPr lang="zh-CN" sz="1500" kern="100" dirty="0">
                          <a:latin typeface="Times New Roman"/>
                          <a:ea typeface="宋体"/>
                          <a:cs typeface="Times New Roman"/>
                        </a:rPr>
                        <a:t>，</a:t>
                      </a:r>
                      <a:r>
                        <a:rPr lang="fr-FR" sz="1500" kern="100" dirty="0">
                          <a:latin typeface="Times New Roman"/>
                          <a:ea typeface="宋体"/>
                          <a:cs typeface="Times New Roman"/>
                        </a:rPr>
                        <a:t>q)  }</a:t>
                      </a:r>
                      <a:endParaRPr lang="zh-CN" sz="15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矩形 2"/>
          <p:cNvSpPr/>
          <p:nvPr/>
        </p:nvSpPr>
        <p:spPr>
          <a:xfrm>
            <a:off x="250825" y="3651870"/>
            <a:ext cx="8497888" cy="1200329"/>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indent="266700" algn="just">
              <a:spcBef>
                <a:spcPts val="600"/>
              </a:spcBef>
              <a:spcAft>
                <a:spcPts val="0"/>
              </a:spcAft>
              <a:defRPr/>
            </a:pPr>
            <a:r>
              <a:rPr lang="fr-FR" altLang="zh-CN" kern="100" dirty="0">
                <a:latin typeface="Times New Roman" panose="02020603050405020304" pitchFamily="18" charset="0"/>
              </a:rPr>
              <a:t>(1)</a:t>
            </a:r>
            <a:r>
              <a:rPr lang="zh-CN" altLang="zh-CN" kern="100" dirty="0">
                <a:latin typeface="Times New Roman" panose="02020603050405020304" pitchFamily="18" charset="0"/>
              </a:rPr>
              <a:t>、</a:t>
            </a:r>
            <a:r>
              <a:rPr lang="fr-FR" altLang="zh-CN" kern="100" dirty="0">
                <a:latin typeface="Times New Roman" panose="02020603050405020304" pitchFamily="18" charset="0"/>
              </a:rPr>
              <a:t>(3)</a:t>
            </a:r>
            <a:r>
              <a:rPr lang="zh-CN" altLang="zh-CN" kern="100" dirty="0">
                <a:latin typeface="Times New Roman" panose="02020603050405020304" pitchFamily="18" charset="0"/>
              </a:rPr>
              <a:t>两个产生式的语义动作中，并未立刻回填</a:t>
            </a:r>
            <a:r>
              <a:rPr lang="fr-FR" altLang="zh-CN" kern="100" dirty="0">
                <a:latin typeface="Times New Roman" panose="02020603050405020304" pitchFamily="18" charset="0"/>
              </a:rPr>
              <a:t>T</a:t>
            </a:r>
            <a:r>
              <a:rPr lang="zh-CN" altLang="zh-CN" kern="100" dirty="0">
                <a:latin typeface="Times New Roman" panose="02020603050405020304" pitchFamily="18" charset="0"/>
              </a:rPr>
              <a:t>或</a:t>
            </a:r>
            <a:r>
              <a:rPr lang="fr-FR" altLang="zh-CN" kern="100" dirty="0">
                <a:latin typeface="Times New Roman" panose="02020603050405020304" pitchFamily="18" charset="0"/>
              </a:rPr>
              <a:t>C</a:t>
            </a:r>
            <a:r>
              <a:rPr lang="zh-CN" altLang="zh-CN" kern="100" dirty="0">
                <a:latin typeface="Times New Roman" panose="02020603050405020304" pitchFamily="18" charset="0"/>
              </a:rPr>
              <a:t>的</a:t>
            </a:r>
            <a:r>
              <a:rPr lang="fr-FR" altLang="zh-CN" kern="100" dirty="0">
                <a:latin typeface="Times New Roman" panose="02020603050405020304" pitchFamily="18" charset="0"/>
              </a:rPr>
              <a:t>CHAIN</a:t>
            </a:r>
            <a:r>
              <a:rPr lang="zh-CN" altLang="zh-CN" kern="100" dirty="0">
                <a:latin typeface="Times New Roman" panose="02020603050405020304" pitchFamily="18" charset="0"/>
              </a:rPr>
              <a:t>，这是考虑到了语句可能嵌套的情况，转移目标暂且不能确定。因此，最后建立总的</a:t>
            </a:r>
            <a:r>
              <a:rPr lang="fr-FR" altLang="zh-CN" kern="100" dirty="0">
                <a:latin typeface="Times New Roman" panose="02020603050405020304" pitchFamily="18" charset="0"/>
              </a:rPr>
              <a:t>S.CHAIN</a:t>
            </a:r>
            <a:r>
              <a:rPr lang="zh-CN" altLang="zh-CN" kern="100" dirty="0">
                <a:latin typeface="Times New Roman" panose="02020603050405020304" pitchFamily="18" charset="0"/>
              </a:rPr>
              <a:t>，它是该语句对外的接口，是假出口的链表头，留待转移目标确定后（如遇到</a:t>
            </a:r>
            <a:r>
              <a:rPr lang="fr-FR" altLang="zh-CN" kern="100" dirty="0">
                <a:latin typeface="Times New Roman" panose="02020603050405020304" pitchFamily="18" charset="0"/>
              </a:rPr>
              <a:t>“;”</a:t>
            </a:r>
            <a:r>
              <a:rPr lang="zh-CN" altLang="zh-CN" kern="100" dirty="0">
                <a:latin typeface="Times New Roman" panose="02020603050405020304" pitchFamily="18" charset="0"/>
              </a:rPr>
              <a:t>），再回填。</a:t>
            </a:r>
          </a:p>
        </p:txBody>
      </p:sp>
    </p:spTree>
    <p:extLst>
      <p:ext uri="{BB962C8B-B14F-4D97-AF65-F5344CB8AC3E}">
        <p14:creationId xmlns:p14="http://schemas.microsoft.com/office/powerpoint/2010/main" val="339324832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8"/>
          <p:cNvSpPr>
            <a:spLocks noGrp="1" noChangeArrowheads="1"/>
          </p:cNvSpPr>
          <p:nvPr>
            <p:ph type="title"/>
          </p:nvPr>
        </p:nvSpPr>
        <p:spPr>
          <a:xfrm>
            <a:off x="395288" y="0"/>
            <a:ext cx="8229600" cy="367904"/>
          </a:xfrm>
        </p:spPr>
        <p:txBody>
          <a:bodyPr>
            <a:normAutofit fontScale="90000"/>
          </a:bodyPr>
          <a:lstStyle/>
          <a:p>
            <a:pPr eaLnBrk="1" hangingPunct="1"/>
            <a:r>
              <a:rPr lang="zh-CN" altLang="en-US" sz="3600" b="1">
                <a:solidFill>
                  <a:srgbClr val="0033CC"/>
                </a:solidFill>
              </a:rPr>
              <a:t>例：将下面的</a:t>
            </a:r>
            <a:r>
              <a:rPr lang="en-US" altLang="zh-CN" sz="3600" b="1">
                <a:solidFill>
                  <a:srgbClr val="0033CC"/>
                </a:solidFill>
              </a:rPr>
              <a:t>IF</a:t>
            </a:r>
            <a:r>
              <a:rPr lang="zh-CN" altLang="en-US" sz="3600" b="1">
                <a:solidFill>
                  <a:srgbClr val="0033CC"/>
                </a:solidFill>
              </a:rPr>
              <a:t>语句翻译为四元式序列</a:t>
            </a:r>
            <a:endParaRPr lang="zh-CN" altLang="en-US" sz="3600" b="1"/>
          </a:p>
        </p:txBody>
      </p:sp>
      <p:sp>
        <p:nvSpPr>
          <p:cNvPr id="104451" name="Rectangle 13"/>
          <p:cNvSpPr>
            <a:spLocks noChangeArrowheads="1"/>
          </p:cNvSpPr>
          <p:nvPr/>
        </p:nvSpPr>
        <p:spPr bwMode="auto">
          <a:xfrm>
            <a:off x="244103" y="464344"/>
            <a:ext cx="2743722" cy="1323439"/>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en-US" altLang="zh-CN" sz="2000" dirty="0"/>
              <a:t>if  (A &amp;&amp; B &amp;&amp; (C&gt;D) )</a:t>
            </a:r>
            <a:endParaRPr lang="zh-CN" altLang="zh-CN" sz="2000" dirty="0"/>
          </a:p>
          <a:p>
            <a:pPr eaLnBrk="1" hangingPunct="1">
              <a:lnSpc>
                <a:spcPct val="100000"/>
              </a:lnSpc>
              <a:spcBef>
                <a:spcPct val="0"/>
              </a:spcBef>
              <a:buFontTx/>
              <a:buNone/>
            </a:pPr>
            <a:r>
              <a:rPr lang="en-US" altLang="zh-CN" sz="2000" dirty="0"/>
              <a:t>     if  (A&lt;B)  F=1; </a:t>
            </a:r>
            <a:endParaRPr lang="zh-CN" altLang="zh-CN" sz="2000" dirty="0"/>
          </a:p>
          <a:p>
            <a:pPr eaLnBrk="1" hangingPunct="1">
              <a:lnSpc>
                <a:spcPct val="100000"/>
              </a:lnSpc>
              <a:spcBef>
                <a:spcPct val="0"/>
              </a:spcBef>
              <a:buFontTx/>
              <a:buNone/>
            </a:pPr>
            <a:r>
              <a:rPr lang="en-US" altLang="zh-CN" sz="2000" dirty="0"/>
              <a:t>     else F=0;</a:t>
            </a:r>
            <a:endParaRPr lang="zh-CN" altLang="zh-CN" sz="2000" dirty="0"/>
          </a:p>
          <a:p>
            <a:pPr eaLnBrk="1" hangingPunct="1">
              <a:lnSpc>
                <a:spcPct val="100000"/>
              </a:lnSpc>
              <a:spcBef>
                <a:spcPct val="0"/>
              </a:spcBef>
              <a:buFontTx/>
              <a:buNone/>
            </a:pPr>
            <a:r>
              <a:rPr lang="en-US" altLang="zh-CN" sz="2000" dirty="0"/>
              <a:t>else G=G+1</a:t>
            </a:r>
            <a:r>
              <a:rPr lang="zh-CN" altLang="zh-CN" sz="2000" dirty="0"/>
              <a:t>；</a:t>
            </a:r>
          </a:p>
        </p:txBody>
      </p:sp>
      <p:sp>
        <p:nvSpPr>
          <p:cNvPr id="2" name="矩形 1"/>
          <p:cNvSpPr/>
          <p:nvPr/>
        </p:nvSpPr>
        <p:spPr>
          <a:xfrm>
            <a:off x="202365" y="1888462"/>
            <a:ext cx="2641443" cy="646331"/>
          </a:xfrm>
          <a:prstGeom prst="rect">
            <a:avLst/>
          </a:prstGeom>
        </p:spPr>
        <p:txBody>
          <a:bodyPr wrap="square">
            <a:spAutoFit/>
          </a:bodyPr>
          <a:lstStyle/>
          <a:p>
            <a:r>
              <a:rPr lang="zh-CN" altLang="zh-CN" dirty="0"/>
              <a:t>（</a:t>
            </a:r>
            <a:r>
              <a:rPr lang="en-US" altLang="zh-CN" dirty="0"/>
              <a:t>1</a:t>
            </a:r>
            <a:r>
              <a:rPr lang="zh-CN" altLang="zh-CN" dirty="0"/>
              <a:t>）</a:t>
            </a:r>
            <a:r>
              <a:rPr lang="en-US" altLang="zh-CN" dirty="0"/>
              <a:t>  (</a:t>
            </a:r>
            <a:r>
              <a:rPr lang="en-US" altLang="zh-CN" dirty="0" err="1"/>
              <a:t>jnz</a:t>
            </a:r>
            <a:r>
              <a:rPr lang="zh-CN" altLang="zh-CN" dirty="0"/>
              <a:t>，</a:t>
            </a:r>
            <a:r>
              <a:rPr lang="en-US" altLang="zh-CN" dirty="0"/>
              <a:t>A</a:t>
            </a:r>
            <a:r>
              <a:rPr lang="zh-CN" altLang="zh-CN" dirty="0"/>
              <a:t>， ，</a:t>
            </a:r>
            <a:r>
              <a:rPr lang="en-US" altLang="zh-CN" dirty="0"/>
              <a:t>0 )</a:t>
            </a:r>
            <a:endParaRPr lang="zh-CN" altLang="zh-CN" dirty="0"/>
          </a:p>
          <a:p>
            <a:r>
              <a:rPr lang="zh-CN" altLang="zh-CN" dirty="0"/>
              <a:t>（</a:t>
            </a:r>
            <a:r>
              <a:rPr lang="en-US" altLang="zh-CN" dirty="0"/>
              <a:t>2</a:t>
            </a:r>
            <a:r>
              <a:rPr lang="zh-CN" altLang="zh-CN" dirty="0"/>
              <a:t>）</a:t>
            </a:r>
            <a:r>
              <a:rPr lang="en-US" altLang="zh-CN" dirty="0"/>
              <a:t>  (j</a:t>
            </a:r>
            <a:r>
              <a:rPr lang="zh-CN" altLang="zh-CN" dirty="0"/>
              <a:t>， ， ，</a:t>
            </a:r>
            <a:r>
              <a:rPr lang="en-US" altLang="zh-CN" dirty="0"/>
              <a:t>  0    )</a:t>
            </a:r>
            <a:endParaRPr lang="zh-CN" altLang="zh-CN" dirty="0"/>
          </a:p>
        </p:txBody>
      </p:sp>
      <p:sp>
        <p:nvSpPr>
          <p:cNvPr id="3" name="矩形 2"/>
          <p:cNvSpPr/>
          <p:nvPr/>
        </p:nvSpPr>
        <p:spPr>
          <a:xfrm>
            <a:off x="216024" y="2499742"/>
            <a:ext cx="2771801" cy="646331"/>
          </a:xfrm>
          <a:prstGeom prst="rect">
            <a:avLst/>
          </a:prstGeom>
        </p:spPr>
        <p:txBody>
          <a:bodyPr wrap="square">
            <a:spAutoFit/>
          </a:bodyPr>
          <a:lstStyle/>
          <a:p>
            <a:r>
              <a:rPr lang="zh-CN" altLang="zh-CN" dirty="0"/>
              <a:t>（</a:t>
            </a:r>
            <a:r>
              <a:rPr lang="en-US" altLang="zh-CN" dirty="0"/>
              <a:t>3</a:t>
            </a:r>
            <a:r>
              <a:rPr lang="zh-CN" altLang="zh-CN" dirty="0"/>
              <a:t>）</a:t>
            </a:r>
            <a:r>
              <a:rPr lang="en-US" altLang="zh-CN" dirty="0"/>
              <a:t>  (</a:t>
            </a:r>
            <a:r>
              <a:rPr lang="en-US" altLang="zh-CN" dirty="0" err="1"/>
              <a:t>jnz</a:t>
            </a:r>
            <a:r>
              <a:rPr lang="zh-CN" altLang="zh-CN" dirty="0"/>
              <a:t>，</a:t>
            </a:r>
            <a:r>
              <a:rPr lang="en-US" altLang="zh-CN" dirty="0"/>
              <a:t>B</a:t>
            </a:r>
            <a:r>
              <a:rPr lang="zh-CN" altLang="zh-CN" dirty="0"/>
              <a:t>， ，</a:t>
            </a:r>
            <a:r>
              <a:rPr lang="en-US" altLang="zh-CN" dirty="0"/>
              <a:t>0  )</a:t>
            </a:r>
            <a:endParaRPr lang="zh-CN" altLang="zh-CN" dirty="0"/>
          </a:p>
          <a:p>
            <a:r>
              <a:rPr lang="zh-CN" altLang="zh-CN" dirty="0"/>
              <a:t>（</a:t>
            </a:r>
            <a:r>
              <a:rPr lang="en-US" altLang="zh-CN" dirty="0"/>
              <a:t>4</a:t>
            </a:r>
            <a:r>
              <a:rPr lang="zh-CN" altLang="zh-CN" dirty="0"/>
              <a:t>）</a:t>
            </a:r>
            <a:r>
              <a:rPr lang="en-US" altLang="zh-CN" dirty="0"/>
              <a:t>  (j</a:t>
            </a:r>
            <a:r>
              <a:rPr lang="zh-CN" altLang="zh-CN" dirty="0"/>
              <a:t>， ， ，</a:t>
            </a:r>
            <a:r>
              <a:rPr lang="en-US" altLang="zh-CN" dirty="0"/>
              <a:t> 0     )</a:t>
            </a:r>
            <a:endParaRPr lang="zh-CN" altLang="zh-CN" dirty="0"/>
          </a:p>
        </p:txBody>
      </p:sp>
      <p:sp>
        <p:nvSpPr>
          <p:cNvPr id="4" name="矩形 3"/>
          <p:cNvSpPr/>
          <p:nvPr/>
        </p:nvSpPr>
        <p:spPr>
          <a:xfrm>
            <a:off x="204742" y="3075806"/>
            <a:ext cx="2567058" cy="646331"/>
          </a:xfrm>
          <a:prstGeom prst="rect">
            <a:avLst/>
          </a:prstGeom>
        </p:spPr>
        <p:txBody>
          <a:bodyPr wrap="square">
            <a:spAutoFit/>
          </a:bodyPr>
          <a:lstStyle/>
          <a:p>
            <a:r>
              <a:rPr lang="zh-CN" altLang="zh-CN" dirty="0"/>
              <a:t>（</a:t>
            </a:r>
            <a:r>
              <a:rPr lang="en-US" altLang="zh-CN" dirty="0"/>
              <a:t>5</a:t>
            </a:r>
            <a:r>
              <a:rPr lang="zh-CN" altLang="zh-CN" dirty="0"/>
              <a:t>）</a:t>
            </a:r>
            <a:r>
              <a:rPr lang="en-US" altLang="zh-CN" dirty="0"/>
              <a:t>  (j&gt;</a:t>
            </a:r>
            <a:r>
              <a:rPr lang="zh-CN" altLang="zh-CN" dirty="0"/>
              <a:t>，</a:t>
            </a:r>
            <a:r>
              <a:rPr lang="en-US" altLang="zh-CN" dirty="0"/>
              <a:t>C</a:t>
            </a:r>
            <a:r>
              <a:rPr lang="zh-CN" altLang="zh-CN" dirty="0"/>
              <a:t>，</a:t>
            </a:r>
            <a:r>
              <a:rPr lang="en-US" altLang="zh-CN" dirty="0"/>
              <a:t>D</a:t>
            </a:r>
            <a:r>
              <a:rPr lang="zh-CN" altLang="zh-CN" dirty="0"/>
              <a:t>，</a:t>
            </a:r>
            <a:r>
              <a:rPr lang="en-US" altLang="zh-CN" dirty="0"/>
              <a:t>0 )</a:t>
            </a:r>
            <a:endParaRPr lang="zh-CN" altLang="zh-CN" dirty="0"/>
          </a:p>
          <a:p>
            <a:r>
              <a:rPr lang="zh-CN" altLang="zh-CN" dirty="0"/>
              <a:t>（</a:t>
            </a:r>
            <a:r>
              <a:rPr lang="en-US" altLang="zh-CN" dirty="0"/>
              <a:t>6</a:t>
            </a:r>
            <a:r>
              <a:rPr lang="zh-CN" altLang="zh-CN" dirty="0"/>
              <a:t>）</a:t>
            </a:r>
            <a:r>
              <a:rPr lang="en-US" altLang="zh-CN" dirty="0"/>
              <a:t>  (j</a:t>
            </a:r>
            <a:r>
              <a:rPr lang="zh-CN" altLang="zh-CN" dirty="0"/>
              <a:t>， ， ，</a:t>
            </a:r>
            <a:r>
              <a:rPr lang="en-US" altLang="zh-CN" dirty="0"/>
              <a:t>0      )</a:t>
            </a:r>
            <a:endParaRPr lang="zh-CN" altLang="zh-CN" dirty="0"/>
          </a:p>
        </p:txBody>
      </p:sp>
      <p:sp>
        <p:nvSpPr>
          <p:cNvPr id="5" name="TextBox 4"/>
          <p:cNvSpPr txBox="1"/>
          <p:nvPr/>
        </p:nvSpPr>
        <p:spPr>
          <a:xfrm>
            <a:off x="2267744" y="1914386"/>
            <a:ext cx="288032" cy="369332"/>
          </a:xfrm>
          <a:prstGeom prst="rect">
            <a:avLst/>
          </a:prstGeom>
          <a:solidFill>
            <a:schemeClr val="bg1"/>
          </a:solidFill>
        </p:spPr>
        <p:txBody>
          <a:bodyPr wrap="square" rtlCol="0">
            <a:spAutoFit/>
          </a:bodyPr>
          <a:lstStyle/>
          <a:p>
            <a:r>
              <a:rPr lang="en-US" altLang="zh-CN" dirty="0">
                <a:solidFill>
                  <a:srgbClr val="FF0000"/>
                </a:solidFill>
              </a:rPr>
              <a:t>3</a:t>
            </a:r>
            <a:endParaRPr lang="zh-CN" altLang="en-US" dirty="0">
              <a:solidFill>
                <a:srgbClr val="FF0000"/>
              </a:solidFill>
            </a:endParaRPr>
          </a:p>
        </p:txBody>
      </p:sp>
      <p:sp>
        <p:nvSpPr>
          <p:cNvPr id="10" name="TextBox 9"/>
          <p:cNvSpPr txBox="1"/>
          <p:nvPr/>
        </p:nvSpPr>
        <p:spPr>
          <a:xfrm>
            <a:off x="2339752" y="2490450"/>
            <a:ext cx="288032" cy="369332"/>
          </a:xfrm>
          <a:prstGeom prst="rect">
            <a:avLst/>
          </a:prstGeom>
          <a:solidFill>
            <a:schemeClr val="bg1"/>
          </a:solidFill>
        </p:spPr>
        <p:txBody>
          <a:bodyPr wrap="square" rtlCol="0">
            <a:spAutoFit/>
          </a:bodyPr>
          <a:lstStyle/>
          <a:p>
            <a:r>
              <a:rPr lang="en-US" altLang="zh-CN" dirty="0">
                <a:solidFill>
                  <a:srgbClr val="FF0000"/>
                </a:solidFill>
              </a:rPr>
              <a:t>5</a:t>
            </a:r>
            <a:endParaRPr lang="zh-CN" altLang="en-US" dirty="0">
              <a:solidFill>
                <a:srgbClr val="FF0000"/>
              </a:solidFill>
            </a:endParaRPr>
          </a:p>
        </p:txBody>
      </p:sp>
      <p:sp>
        <p:nvSpPr>
          <p:cNvPr id="11" name="TextBox 10"/>
          <p:cNvSpPr txBox="1"/>
          <p:nvPr/>
        </p:nvSpPr>
        <p:spPr>
          <a:xfrm>
            <a:off x="2123728" y="2787774"/>
            <a:ext cx="288032" cy="369332"/>
          </a:xfrm>
          <a:prstGeom prst="rect">
            <a:avLst/>
          </a:prstGeom>
          <a:solidFill>
            <a:schemeClr val="bg1"/>
          </a:solidFill>
        </p:spPr>
        <p:txBody>
          <a:bodyPr wrap="square" rtlCol="0">
            <a:spAutoFit/>
          </a:bodyPr>
          <a:lstStyle/>
          <a:p>
            <a:r>
              <a:rPr lang="en-US" altLang="zh-CN" dirty="0">
                <a:solidFill>
                  <a:srgbClr val="FF0000"/>
                </a:solidFill>
              </a:rPr>
              <a:t>2</a:t>
            </a:r>
            <a:endParaRPr lang="zh-CN" altLang="en-US" dirty="0">
              <a:solidFill>
                <a:srgbClr val="FF0000"/>
              </a:solidFill>
            </a:endParaRPr>
          </a:p>
        </p:txBody>
      </p:sp>
      <p:sp>
        <p:nvSpPr>
          <p:cNvPr id="12" name="TextBox 11"/>
          <p:cNvSpPr txBox="1"/>
          <p:nvPr/>
        </p:nvSpPr>
        <p:spPr>
          <a:xfrm>
            <a:off x="2316944" y="3075806"/>
            <a:ext cx="288032" cy="369332"/>
          </a:xfrm>
          <a:prstGeom prst="rect">
            <a:avLst/>
          </a:prstGeom>
          <a:solidFill>
            <a:schemeClr val="bg1"/>
          </a:solidFill>
        </p:spPr>
        <p:txBody>
          <a:bodyPr wrap="square" rtlCol="0">
            <a:spAutoFit/>
          </a:bodyPr>
          <a:lstStyle/>
          <a:p>
            <a:r>
              <a:rPr lang="en-US" altLang="zh-CN" dirty="0">
                <a:solidFill>
                  <a:srgbClr val="FF0000"/>
                </a:solidFill>
              </a:rPr>
              <a:t>7</a:t>
            </a:r>
            <a:endParaRPr lang="zh-CN" altLang="en-US" dirty="0">
              <a:solidFill>
                <a:srgbClr val="FF0000"/>
              </a:solidFill>
            </a:endParaRPr>
          </a:p>
        </p:txBody>
      </p:sp>
      <p:sp>
        <p:nvSpPr>
          <p:cNvPr id="13" name="TextBox 12"/>
          <p:cNvSpPr txBox="1"/>
          <p:nvPr/>
        </p:nvSpPr>
        <p:spPr>
          <a:xfrm>
            <a:off x="1979712" y="3354546"/>
            <a:ext cx="288032" cy="369332"/>
          </a:xfrm>
          <a:prstGeom prst="rect">
            <a:avLst/>
          </a:prstGeom>
          <a:solidFill>
            <a:schemeClr val="bg1"/>
          </a:solidFill>
        </p:spPr>
        <p:txBody>
          <a:bodyPr wrap="square" rtlCol="0">
            <a:spAutoFit/>
          </a:bodyPr>
          <a:lstStyle/>
          <a:p>
            <a:r>
              <a:rPr lang="en-US" altLang="zh-CN" dirty="0">
                <a:solidFill>
                  <a:srgbClr val="FF0000"/>
                </a:solidFill>
              </a:rPr>
              <a:t>4</a:t>
            </a:r>
            <a:endParaRPr lang="zh-CN" altLang="en-US" dirty="0">
              <a:solidFill>
                <a:srgbClr val="FF0000"/>
              </a:solidFill>
            </a:endParaRPr>
          </a:p>
        </p:txBody>
      </p:sp>
      <p:sp>
        <p:nvSpPr>
          <p:cNvPr id="6" name="矩形 5"/>
          <p:cNvSpPr/>
          <p:nvPr/>
        </p:nvSpPr>
        <p:spPr>
          <a:xfrm>
            <a:off x="179512" y="3651870"/>
            <a:ext cx="2664296" cy="646331"/>
          </a:xfrm>
          <a:prstGeom prst="rect">
            <a:avLst/>
          </a:prstGeom>
        </p:spPr>
        <p:txBody>
          <a:bodyPr wrap="square">
            <a:spAutoFit/>
          </a:bodyPr>
          <a:lstStyle/>
          <a:p>
            <a:pPr>
              <a:spcBef>
                <a:spcPct val="0"/>
              </a:spcBef>
            </a:pPr>
            <a:r>
              <a:rPr lang="zh-CN" altLang="zh-CN" dirty="0"/>
              <a:t>（</a:t>
            </a:r>
            <a:r>
              <a:rPr lang="en-US" altLang="zh-CN" dirty="0"/>
              <a:t>7</a:t>
            </a:r>
            <a:r>
              <a:rPr lang="zh-CN" altLang="zh-CN" dirty="0"/>
              <a:t>）</a:t>
            </a:r>
            <a:r>
              <a:rPr lang="en-US" altLang="zh-CN" dirty="0"/>
              <a:t>  (j&lt;</a:t>
            </a:r>
            <a:r>
              <a:rPr lang="zh-CN" altLang="en-US" dirty="0"/>
              <a:t>，</a:t>
            </a:r>
            <a:r>
              <a:rPr lang="en-US" altLang="zh-CN" dirty="0"/>
              <a:t>A</a:t>
            </a:r>
            <a:r>
              <a:rPr lang="zh-CN" altLang="en-US" dirty="0"/>
              <a:t>，</a:t>
            </a:r>
            <a:r>
              <a:rPr lang="en-US" altLang="zh-CN" dirty="0"/>
              <a:t>B</a:t>
            </a:r>
            <a:r>
              <a:rPr lang="zh-CN" altLang="en-US" dirty="0"/>
              <a:t>，</a:t>
            </a:r>
            <a:r>
              <a:rPr lang="en-US" altLang="zh-CN" dirty="0"/>
              <a:t>0  )   </a:t>
            </a:r>
            <a:endParaRPr lang="zh-CN" altLang="zh-CN" dirty="0"/>
          </a:p>
          <a:p>
            <a:pPr>
              <a:spcBef>
                <a:spcPct val="0"/>
              </a:spcBef>
            </a:pPr>
            <a:r>
              <a:rPr lang="zh-CN" altLang="zh-CN" dirty="0"/>
              <a:t>（</a:t>
            </a:r>
            <a:r>
              <a:rPr lang="en-US" altLang="zh-CN" dirty="0"/>
              <a:t>8</a:t>
            </a:r>
            <a:r>
              <a:rPr lang="zh-CN" altLang="zh-CN" dirty="0"/>
              <a:t>）</a:t>
            </a:r>
            <a:r>
              <a:rPr lang="en-US" altLang="zh-CN" dirty="0"/>
              <a:t>  (j</a:t>
            </a:r>
            <a:r>
              <a:rPr lang="zh-CN" altLang="en-US" dirty="0"/>
              <a:t>，</a:t>
            </a:r>
            <a:r>
              <a:rPr lang="en-US" altLang="zh-CN" dirty="0"/>
              <a:t>  </a:t>
            </a:r>
            <a:r>
              <a:rPr lang="zh-CN" altLang="en-US" dirty="0"/>
              <a:t>，</a:t>
            </a:r>
            <a:r>
              <a:rPr lang="en-US" altLang="zh-CN" dirty="0"/>
              <a:t>  </a:t>
            </a:r>
            <a:r>
              <a:rPr lang="zh-CN" altLang="en-US" dirty="0"/>
              <a:t>， </a:t>
            </a:r>
            <a:r>
              <a:rPr lang="en-US" altLang="zh-CN" dirty="0"/>
              <a:t>0    )</a:t>
            </a:r>
            <a:endParaRPr lang="zh-CN" altLang="zh-CN" dirty="0"/>
          </a:p>
        </p:txBody>
      </p:sp>
      <p:sp>
        <p:nvSpPr>
          <p:cNvPr id="15" name="TextBox 14"/>
          <p:cNvSpPr txBox="1"/>
          <p:nvPr/>
        </p:nvSpPr>
        <p:spPr>
          <a:xfrm>
            <a:off x="2195736" y="3661009"/>
            <a:ext cx="288032" cy="369332"/>
          </a:xfrm>
          <a:prstGeom prst="rect">
            <a:avLst/>
          </a:prstGeom>
          <a:solidFill>
            <a:schemeClr val="bg1"/>
          </a:solidFill>
        </p:spPr>
        <p:txBody>
          <a:bodyPr wrap="square" rtlCol="0">
            <a:spAutoFit/>
          </a:bodyPr>
          <a:lstStyle/>
          <a:p>
            <a:r>
              <a:rPr lang="en-US" altLang="zh-CN" dirty="0">
                <a:solidFill>
                  <a:srgbClr val="FF0000"/>
                </a:solidFill>
              </a:rPr>
              <a:t>9</a:t>
            </a:r>
            <a:endParaRPr lang="zh-CN" altLang="en-US" dirty="0">
              <a:solidFill>
                <a:srgbClr val="FF0000"/>
              </a:solidFill>
            </a:endParaRPr>
          </a:p>
        </p:txBody>
      </p:sp>
      <p:sp>
        <p:nvSpPr>
          <p:cNvPr id="16" name="TextBox 15"/>
          <p:cNvSpPr txBox="1"/>
          <p:nvPr/>
        </p:nvSpPr>
        <p:spPr>
          <a:xfrm>
            <a:off x="2051720" y="3939902"/>
            <a:ext cx="576064" cy="369332"/>
          </a:xfrm>
          <a:prstGeom prst="rect">
            <a:avLst/>
          </a:prstGeom>
          <a:solidFill>
            <a:schemeClr val="bg1"/>
          </a:solidFill>
        </p:spPr>
        <p:txBody>
          <a:bodyPr wrap="square" rtlCol="0">
            <a:spAutoFit/>
          </a:bodyPr>
          <a:lstStyle/>
          <a:p>
            <a:r>
              <a:rPr lang="en-US" altLang="zh-CN" dirty="0">
                <a:solidFill>
                  <a:srgbClr val="FF0000"/>
                </a:solidFill>
              </a:rPr>
              <a:t>11</a:t>
            </a:r>
            <a:endParaRPr lang="zh-CN" altLang="en-US" dirty="0">
              <a:solidFill>
                <a:srgbClr val="FF0000"/>
              </a:solidFill>
            </a:endParaRPr>
          </a:p>
        </p:txBody>
      </p:sp>
      <p:sp>
        <p:nvSpPr>
          <p:cNvPr id="7" name="矩形 6"/>
          <p:cNvSpPr/>
          <p:nvPr/>
        </p:nvSpPr>
        <p:spPr>
          <a:xfrm>
            <a:off x="179512" y="4227934"/>
            <a:ext cx="2603598" cy="369332"/>
          </a:xfrm>
          <a:prstGeom prst="rect">
            <a:avLst/>
          </a:prstGeom>
        </p:spPr>
        <p:txBody>
          <a:bodyPr wrap="none">
            <a:spAutoFit/>
          </a:bodyPr>
          <a:lstStyle/>
          <a:p>
            <a:pPr>
              <a:spcBef>
                <a:spcPct val="0"/>
              </a:spcBef>
            </a:pPr>
            <a:r>
              <a:rPr lang="zh-CN" altLang="zh-CN" dirty="0"/>
              <a:t>（</a:t>
            </a:r>
            <a:r>
              <a:rPr lang="en-US" altLang="zh-CN" dirty="0"/>
              <a:t>9</a:t>
            </a:r>
            <a:r>
              <a:rPr lang="zh-CN" altLang="zh-CN" dirty="0"/>
              <a:t>）</a:t>
            </a:r>
            <a:r>
              <a:rPr lang="en-US" altLang="zh-CN" dirty="0"/>
              <a:t>  (=</a:t>
            </a:r>
            <a:r>
              <a:rPr lang="zh-CN" altLang="en-US" dirty="0"/>
              <a:t>，</a:t>
            </a:r>
            <a:r>
              <a:rPr lang="en-US" altLang="zh-CN" dirty="0"/>
              <a:t>1</a:t>
            </a:r>
            <a:r>
              <a:rPr lang="zh-CN" altLang="en-US" dirty="0"/>
              <a:t>，</a:t>
            </a:r>
            <a:r>
              <a:rPr lang="en-US" altLang="zh-CN" dirty="0"/>
              <a:t>  </a:t>
            </a:r>
            <a:r>
              <a:rPr lang="zh-CN" altLang="en-US" dirty="0"/>
              <a:t>，</a:t>
            </a:r>
            <a:r>
              <a:rPr lang="en-US" altLang="zh-CN" dirty="0"/>
              <a:t>F)   </a:t>
            </a:r>
            <a:endParaRPr lang="zh-CN" altLang="zh-CN" dirty="0"/>
          </a:p>
        </p:txBody>
      </p:sp>
      <p:sp>
        <p:nvSpPr>
          <p:cNvPr id="8" name="矩形 7"/>
          <p:cNvSpPr/>
          <p:nvPr/>
        </p:nvSpPr>
        <p:spPr>
          <a:xfrm>
            <a:off x="41946" y="4515966"/>
            <a:ext cx="2729854" cy="369332"/>
          </a:xfrm>
          <a:prstGeom prst="rect">
            <a:avLst/>
          </a:prstGeom>
          <a:solidFill>
            <a:schemeClr val="bg1"/>
          </a:solidFill>
        </p:spPr>
        <p:txBody>
          <a:bodyPr wrap="square">
            <a:spAutoFit/>
          </a:bodyPr>
          <a:lstStyle/>
          <a:p>
            <a:r>
              <a:rPr lang="zh-CN" altLang="zh-CN" dirty="0"/>
              <a:t>（</a:t>
            </a:r>
            <a:r>
              <a:rPr lang="en-US" altLang="zh-CN" dirty="0"/>
              <a:t>10</a:t>
            </a:r>
            <a:r>
              <a:rPr lang="zh-CN" altLang="zh-CN" dirty="0"/>
              <a:t>）</a:t>
            </a:r>
            <a:r>
              <a:rPr lang="en-US" altLang="zh-CN" dirty="0"/>
              <a:t>  (j</a:t>
            </a:r>
            <a:r>
              <a:rPr lang="zh-CN" altLang="zh-CN" dirty="0"/>
              <a:t>， ， ，</a:t>
            </a:r>
            <a:r>
              <a:rPr lang="en-US" altLang="zh-CN" dirty="0"/>
              <a:t> 0    )</a:t>
            </a:r>
            <a:endParaRPr lang="zh-CN" altLang="zh-CN" dirty="0"/>
          </a:p>
        </p:txBody>
      </p:sp>
      <p:sp>
        <p:nvSpPr>
          <p:cNvPr id="9" name="矩形 8"/>
          <p:cNvSpPr/>
          <p:nvPr/>
        </p:nvSpPr>
        <p:spPr>
          <a:xfrm>
            <a:off x="2912072" y="3304477"/>
            <a:ext cx="2823209" cy="369332"/>
          </a:xfrm>
          <a:prstGeom prst="rect">
            <a:avLst/>
          </a:prstGeom>
        </p:spPr>
        <p:txBody>
          <a:bodyPr wrap="none">
            <a:spAutoFit/>
          </a:bodyPr>
          <a:lstStyle/>
          <a:p>
            <a:pPr>
              <a:spcBef>
                <a:spcPct val="0"/>
              </a:spcBef>
            </a:pPr>
            <a:r>
              <a:rPr lang="zh-CN" altLang="zh-CN" dirty="0"/>
              <a:t>（</a:t>
            </a:r>
            <a:r>
              <a:rPr lang="en-US" altLang="zh-CN" dirty="0"/>
              <a:t>11</a:t>
            </a:r>
            <a:r>
              <a:rPr lang="zh-CN" altLang="zh-CN" dirty="0"/>
              <a:t>）</a:t>
            </a:r>
            <a:r>
              <a:rPr lang="en-US" altLang="zh-CN" dirty="0"/>
              <a:t>  </a:t>
            </a:r>
            <a:r>
              <a:rPr lang="fr-FR" altLang="zh-CN" dirty="0"/>
              <a:t>(=</a:t>
            </a:r>
            <a:r>
              <a:rPr lang="zh-CN" altLang="en-US" dirty="0"/>
              <a:t>，</a:t>
            </a:r>
            <a:r>
              <a:rPr lang="fr-FR" altLang="zh-CN" dirty="0"/>
              <a:t>0</a:t>
            </a:r>
            <a:r>
              <a:rPr lang="zh-CN" altLang="en-US" dirty="0"/>
              <a:t>，</a:t>
            </a:r>
            <a:r>
              <a:rPr lang="fr-FR" altLang="zh-CN" dirty="0"/>
              <a:t>  </a:t>
            </a:r>
            <a:r>
              <a:rPr lang="zh-CN" altLang="en-US" dirty="0"/>
              <a:t>，</a:t>
            </a:r>
            <a:r>
              <a:rPr lang="fr-FR" altLang="zh-CN" dirty="0"/>
              <a:t>F  )  </a:t>
            </a:r>
            <a:endParaRPr lang="zh-CN" altLang="zh-CN" dirty="0"/>
          </a:p>
        </p:txBody>
      </p:sp>
      <p:sp>
        <p:nvSpPr>
          <p:cNvPr id="20" name="矩形 19"/>
          <p:cNvSpPr/>
          <p:nvPr/>
        </p:nvSpPr>
        <p:spPr>
          <a:xfrm>
            <a:off x="2912072" y="3655490"/>
            <a:ext cx="2735044" cy="369332"/>
          </a:xfrm>
          <a:prstGeom prst="rect">
            <a:avLst/>
          </a:prstGeom>
          <a:noFill/>
        </p:spPr>
        <p:txBody>
          <a:bodyPr wrap="none">
            <a:spAutoFit/>
          </a:bodyPr>
          <a:lstStyle/>
          <a:p>
            <a:r>
              <a:rPr lang="zh-CN" altLang="zh-CN" dirty="0"/>
              <a:t>（</a:t>
            </a:r>
            <a:r>
              <a:rPr lang="en-US" altLang="zh-CN" dirty="0"/>
              <a:t>12</a:t>
            </a:r>
            <a:r>
              <a:rPr lang="zh-CN" altLang="zh-CN" dirty="0"/>
              <a:t>）</a:t>
            </a:r>
            <a:r>
              <a:rPr lang="en-US" altLang="zh-CN" dirty="0"/>
              <a:t>  (j</a:t>
            </a:r>
            <a:r>
              <a:rPr lang="zh-CN" altLang="zh-CN" dirty="0"/>
              <a:t>， ， ，</a:t>
            </a:r>
            <a:r>
              <a:rPr lang="en-US" altLang="zh-CN" dirty="0"/>
              <a:t> 0     )</a:t>
            </a:r>
            <a:endParaRPr lang="zh-CN" altLang="zh-CN" dirty="0"/>
          </a:p>
        </p:txBody>
      </p:sp>
      <p:sp>
        <p:nvSpPr>
          <p:cNvPr id="21" name="TextBox 20"/>
          <p:cNvSpPr txBox="1"/>
          <p:nvPr/>
        </p:nvSpPr>
        <p:spPr>
          <a:xfrm>
            <a:off x="2051720" y="3363838"/>
            <a:ext cx="576064" cy="369332"/>
          </a:xfrm>
          <a:prstGeom prst="rect">
            <a:avLst/>
          </a:prstGeom>
          <a:solidFill>
            <a:schemeClr val="bg1"/>
          </a:solidFill>
        </p:spPr>
        <p:txBody>
          <a:bodyPr wrap="square" rtlCol="0">
            <a:spAutoFit/>
          </a:bodyPr>
          <a:lstStyle/>
          <a:p>
            <a:r>
              <a:rPr lang="en-US" altLang="zh-CN" dirty="0">
                <a:solidFill>
                  <a:srgbClr val="FF0000"/>
                </a:solidFill>
              </a:rPr>
              <a:t>13</a:t>
            </a:r>
            <a:endParaRPr lang="zh-CN" altLang="en-US" dirty="0">
              <a:solidFill>
                <a:srgbClr val="FF0000"/>
              </a:solidFill>
            </a:endParaRPr>
          </a:p>
        </p:txBody>
      </p:sp>
      <p:sp>
        <p:nvSpPr>
          <p:cNvPr id="22" name="TextBox 21"/>
          <p:cNvSpPr txBox="1"/>
          <p:nvPr/>
        </p:nvSpPr>
        <p:spPr>
          <a:xfrm>
            <a:off x="2123728" y="2787774"/>
            <a:ext cx="576064" cy="327782"/>
          </a:xfrm>
          <a:prstGeom prst="rect">
            <a:avLst/>
          </a:prstGeom>
          <a:solidFill>
            <a:schemeClr val="bg1"/>
          </a:solidFill>
        </p:spPr>
        <p:txBody>
          <a:bodyPr wrap="square" rtlCol="0">
            <a:spAutoFit/>
          </a:bodyPr>
          <a:lstStyle/>
          <a:p>
            <a:pPr>
              <a:lnSpc>
                <a:spcPct val="80000"/>
              </a:lnSpc>
            </a:pPr>
            <a:r>
              <a:rPr lang="en-US" altLang="zh-CN" dirty="0">
                <a:solidFill>
                  <a:srgbClr val="FF0000"/>
                </a:solidFill>
              </a:rPr>
              <a:t>13</a:t>
            </a:r>
            <a:endParaRPr lang="zh-CN" altLang="en-US" dirty="0">
              <a:solidFill>
                <a:srgbClr val="FF0000"/>
              </a:solidFill>
            </a:endParaRPr>
          </a:p>
        </p:txBody>
      </p:sp>
      <p:sp>
        <p:nvSpPr>
          <p:cNvPr id="23" name="TextBox 22"/>
          <p:cNvSpPr txBox="1"/>
          <p:nvPr/>
        </p:nvSpPr>
        <p:spPr>
          <a:xfrm>
            <a:off x="2053006" y="2139702"/>
            <a:ext cx="576064" cy="369332"/>
          </a:xfrm>
          <a:prstGeom prst="rect">
            <a:avLst/>
          </a:prstGeom>
          <a:solidFill>
            <a:schemeClr val="bg1"/>
          </a:solidFill>
        </p:spPr>
        <p:txBody>
          <a:bodyPr wrap="square" rtlCol="0">
            <a:spAutoFit/>
          </a:bodyPr>
          <a:lstStyle/>
          <a:p>
            <a:r>
              <a:rPr lang="en-US" altLang="zh-CN" dirty="0">
                <a:solidFill>
                  <a:srgbClr val="FF0000"/>
                </a:solidFill>
              </a:rPr>
              <a:t>13</a:t>
            </a:r>
            <a:endParaRPr lang="zh-CN" altLang="en-US" dirty="0">
              <a:solidFill>
                <a:srgbClr val="FF0000"/>
              </a:solidFill>
            </a:endParaRPr>
          </a:p>
        </p:txBody>
      </p:sp>
      <p:sp>
        <p:nvSpPr>
          <p:cNvPr id="14" name="矩形 13"/>
          <p:cNvSpPr/>
          <p:nvPr/>
        </p:nvSpPr>
        <p:spPr>
          <a:xfrm>
            <a:off x="2912072" y="3958193"/>
            <a:ext cx="2967225" cy="646331"/>
          </a:xfrm>
          <a:prstGeom prst="rect">
            <a:avLst/>
          </a:prstGeom>
        </p:spPr>
        <p:txBody>
          <a:bodyPr wrap="square">
            <a:spAutoFit/>
          </a:bodyPr>
          <a:lstStyle/>
          <a:p>
            <a:pPr>
              <a:spcBef>
                <a:spcPct val="0"/>
              </a:spcBef>
            </a:pPr>
            <a:r>
              <a:rPr lang="zh-CN" altLang="zh-CN" dirty="0"/>
              <a:t>（</a:t>
            </a:r>
            <a:r>
              <a:rPr lang="en-US" altLang="zh-CN" dirty="0"/>
              <a:t>13</a:t>
            </a:r>
            <a:r>
              <a:rPr lang="zh-CN" altLang="zh-CN" dirty="0"/>
              <a:t>）</a:t>
            </a:r>
            <a:r>
              <a:rPr lang="en-US" altLang="zh-CN" dirty="0"/>
              <a:t>  (+</a:t>
            </a:r>
            <a:r>
              <a:rPr lang="zh-CN" altLang="en-US" dirty="0"/>
              <a:t>，</a:t>
            </a:r>
            <a:r>
              <a:rPr lang="en-US" altLang="zh-CN" dirty="0"/>
              <a:t>G</a:t>
            </a:r>
            <a:r>
              <a:rPr lang="zh-CN" altLang="en-US" dirty="0"/>
              <a:t>，</a:t>
            </a:r>
            <a:r>
              <a:rPr lang="en-US" altLang="zh-CN" dirty="0"/>
              <a:t>1</a:t>
            </a:r>
            <a:r>
              <a:rPr lang="zh-CN" altLang="en-US" dirty="0"/>
              <a:t>，</a:t>
            </a:r>
            <a:r>
              <a:rPr lang="en-US" altLang="zh-CN" dirty="0"/>
              <a:t>T)  </a:t>
            </a:r>
            <a:endParaRPr lang="zh-CN" altLang="zh-CN" dirty="0"/>
          </a:p>
          <a:p>
            <a:pPr>
              <a:spcBef>
                <a:spcPct val="0"/>
              </a:spcBef>
            </a:pPr>
            <a:r>
              <a:rPr lang="zh-CN" altLang="zh-CN" dirty="0"/>
              <a:t>（</a:t>
            </a:r>
            <a:r>
              <a:rPr lang="en-US" altLang="zh-CN" dirty="0"/>
              <a:t>14</a:t>
            </a:r>
            <a:r>
              <a:rPr lang="zh-CN" altLang="zh-CN" dirty="0"/>
              <a:t>）</a:t>
            </a:r>
            <a:r>
              <a:rPr lang="en-US" altLang="zh-CN" dirty="0"/>
              <a:t>  (=</a:t>
            </a:r>
            <a:r>
              <a:rPr lang="zh-CN" altLang="en-US" dirty="0"/>
              <a:t>，</a:t>
            </a:r>
            <a:r>
              <a:rPr lang="en-US" altLang="zh-CN" dirty="0"/>
              <a:t>T</a:t>
            </a:r>
            <a:r>
              <a:rPr lang="zh-CN" altLang="en-US" dirty="0"/>
              <a:t>，</a:t>
            </a:r>
            <a:r>
              <a:rPr lang="en-US" altLang="zh-CN" dirty="0"/>
              <a:t>  </a:t>
            </a:r>
            <a:r>
              <a:rPr lang="zh-CN" altLang="en-US" dirty="0"/>
              <a:t>，</a:t>
            </a:r>
            <a:r>
              <a:rPr lang="en-US" altLang="zh-CN" dirty="0"/>
              <a:t>G)</a:t>
            </a:r>
            <a:endParaRPr lang="zh-CN" altLang="zh-CN" dirty="0"/>
          </a:p>
        </p:txBody>
      </p:sp>
      <p:sp>
        <p:nvSpPr>
          <p:cNvPr id="17" name="矩形 16"/>
          <p:cNvSpPr/>
          <p:nvPr/>
        </p:nvSpPr>
        <p:spPr>
          <a:xfrm>
            <a:off x="2912072" y="4578682"/>
            <a:ext cx="1601721" cy="369332"/>
          </a:xfrm>
          <a:prstGeom prst="rect">
            <a:avLst/>
          </a:prstGeom>
        </p:spPr>
        <p:txBody>
          <a:bodyPr wrap="none">
            <a:spAutoFit/>
          </a:bodyPr>
          <a:lstStyle/>
          <a:p>
            <a:pPr>
              <a:spcBef>
                <a:spcPct val="0"/>
              </a:spcBef>
            </a:pPr>
            <a:r>
              <a:rPr lang="zh-CN" altLang="zh-CN" dirty="0"/>
              <a:t>（</a:t>
            </a:r>
            <a:r>
              <a:rPr lang="en-US" altLang="zh-CN" dirty="0"/>
              <a:t>15</a:t>
            </a:r>
            <a:r>
              <a:rPr lang="zh-CN" altLang="zh-CN" dirty="0"/>
              <a:t>）</a:t>
            </a:r>
            <a:r>
              <a:rPr lang="fr-FR" altLang="zh-CN" dirty="0"/>
              <a:t>         </a:t>
            </a:r>
            <a:endParaRPr lang="zh-CN" altLang="zh-CN" dirty="0"/>
          </a:p>
        </p:txBody>
      </p:sp>
      <p:sp>
        <p:nvSpPr>
          <p:cNvPr id="28" name="TextBox 27"/>
          <p:cNvSpPr txBox="1"/>
          <p:nvPr/>
        </p:nvSpPr>
        <p:spPr>
          <a:xfrm>
            <a:off x="1979712" y="4524561"/>
            <a:ext cx="576064" cy="369332"/>
          </a:xfrm>
          <a:prstGeom prst="rect">
            <a:avLst/>
          </a:prstGeom>
          <a:solidFill>
            <a:schemeClr val="bg1"/>
          </a:solidFill>
        </p:spPr>
        <p:txBody>
          <a:bodyPr wrap="square" rtlCol="0">
            <a:spAutoFit/>
          </a:bodyPr>
          <a:lstStyle/>
          <a:p>
            <a:r>
              <a:rPr lang="en-US" altLang="zh-CN" dirty="0">
                <a:solidFill>
                  <a:srgbClr val="FF0000"/>
                </a:solidFill>
              </a:rPr>
              <a:t>15</a:t>
            </a:r>
            <a:endParaRPr lang="zh-CN" altLang="en-US" dirty="0">
              <a:solidFill>
                <a:srgbClr val="FF0000"/>
              </a:solidFill>
            </a:endParaRPr>
          </a:p>
        </p:txBody>
      </p:sp>
      <p:sp>
        <p:nvSpPr>
          <p:cNvPr id="18" name="矩形 17"/>
          <p:cNvSpPr/>
          <p:nvPr/>
        </p:nvSpPr>
        <p:spPr>
          <a:xfrm>
            <a:off x="539552" y="519522"/>
            <a:ext cx="2341546" cy="3240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539552" y="843558"/>
            <a:ext cx="2089518" cy="531676"/>
          </a:xfrm>
          <a:prstGeom prst="rect">
            <a:avLst/>
          </a:prstGeom>
          <a:noFill/>
          <a:ln w="28575">
            <a:solidFill>
              <a:srgbClr val="CC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1" name="表格 30"/>
          <p:cNvGraphicFramePr>
            <a:graphicFrameLocks noGrp="1"/>
          </p:cNvGraphicFramePr>
          <p:nvPr>
            <p:extLst>
              <p:ext uri="{D42A27DB-BD31-4B8C-83A1-F6EECF244321}">
                <p14:modId xmlns:p14="http://schemas.microsoft.com/office/powerpoint/2010/main" val="2607885857"/>
              </p:ext>
            </p:extLst>
          </p:nvPr>
        </p:nvGraphicFramePr>
        <p:xfrm>
          <a:off x="3275856" y="493330"/>
          <a:ext cx="5832648" cy="2663776"/>
        </p:xfrm>
        <a:graphic>
          <a:graphicData uri="http://schemas.openxmlformats.org/drawingml/2006/table">
            <a:tbl>
              <a:tblPr/>
              <a:tblGrid>
                <a:gridCol w="583452">
                  <a:extLst>
                    <a:ext uri="{9D8B030D-6E8A-4147-A177-3AD203B41FA5}">
                      <a16:colId xmlns:a16="http://schemas.microsoft.com/office/drawing/2014/main" val="20000"/>
                    </a:ext>
                  </a:extLst>
                </a:gridCol>
                <a:gridCol w="1288756">
                  <a:extLst>
                    <a:ext uri="{9D8B030D-6E8A-4147-A177-3AD203B41FA5}">
                      <a16:colId xmlns:a16="http://schemas.microsoft.com/office/drawing/2014/main" val="20001"/>
                    </a:ext>
                  </a:extLst>
                </a:gridCol>
                <a:gridCol w="3960440">
                  <a:extLst>
                    <a:ext uri="{9D8B030D-6E8A-4147-A177-3AD203B41FA5}">
                      <a16:colId xmlns:a16="http://schemas.microsoft.com/office/drawing/2014/main" val="20002"/>
                    </a:ext>
                  </a:extLst>
                </a:gridCol>
              </a:tblGrid>
              <a:tr h="261938">
                <a:tc>
                  <a:txBody>
                    <a:bodyPr/>
                    <a:lstStyle/>
                    <a:p>
                      <a:pPr algn="l">
                        <a:spcAft>
                          <a:spcPts val="0"/>
                        </a:spcAft>
                      </a:pPr>
                      <a:r>
                        <a:rPr lang="zh-CN" sz="1500" kern="100" dirty="0">
                          <a:latin typeface="Times New Roman"/>
                          <a:ea typeface="宋体"/>
                          <a:cs typeface="Times New Roman"/>
                        </a:rPr>
                        <a:t>编号</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zh-CN" sz="1500" kern="100">
                          <a:latin typeface="Times New Roman"/>
                          <a:ea typeface="宋体"/>
                          <a:cs typeface="Times New Roman"/>
                        </a:rPr>
                        <a:t>产生式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ctr">
                        <a:spcAft>
                          <a:spcPts val="0"/>
                        </a:spcAft>
                      </a:pPr>
                      <a:r>
                        <a:rPr lang="zh-CN" sz="1500" kern="100">
                          <a:latin typeface="Times New Roman"/>
                          <a:ea typeface="宋体"/>
                          <a:cs typeface="Times New Roman"/>
                        </a:rPr>
                        <a:t>语义规则</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extLst>
                  <a:ext uri="{0D108BD9-81ED-4DB2-BD59-A6C34878D82A}">
                    <a16:rowId xmlns:a16="http://schemas.microsoft.com/office/drawing/2014/main" val="10000"/>
                  </a:ext>
                </a:extLst>
              </a:tr>
              <a:tr h="349870">
                <a:tc>
                  <a:txBody>
                    <a:bodyPr/>
                    <a:lstStyle/>
                    <a:p>
                      <a:pPr algn="l">
                        <a:spcAft>
                          <a:spcPts val="0"/>
                        </a:spcAft>
                      </a:pPr>
                      <a:r>
                        <a:rPr lang="zh-CN" sz="1500" kern="100" dirty="0">
                          <a:latin typeface="Times New Roman"/>
                          <a:ea typeface="宋体"/>
                          <a:cs typeface="Times New Roman"/>
                        </a:rPr>
                        <a:t>（</a:t>
                      </a:r>
                      <a:r>
                        <a:rPr lang="fr-FR" sz="1500" kern="100" dirty="0">
                          <a:latin typeface="Times New Roman"/>
                          <a:ea typeface="宋体"/>
                          <a:cs typeface="Times New Roman"/>
                        </a:rPr>
                        <a:t>1</a:t>
                      </a:r>
                      <a:r>
                        <a:rPr lang="zh-CN" sz="15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fr-FR" sz="1500" kern="100">
                          <a:latin typeface="Times New Roman"/>
                          <a:ea typeface="宋体"/>
                          <a:cs typeface="Times New Roman"/>
                        </a:rPr>
                        <a:t>S</a:t>
                      </a:r>
                      <a:r>
                        <a:rPr lang="en-US" sz="1500" kern="100">
                          <a:latin typeface="Times New Roman"/>
                          <a:ea typeface="宋体"/>
                          <a:cs typeface="Times New Roman"/>
                        </a:rPr>
                        <a:t>→</a:t>
                      </a:r>
                      <a:r>
                        <a:rPr lang="fr-FR" sz="1500" kern="100">
                          <a:latin typeface="Times New Roman"/>
                          <a:ea typeface="宋体"/>
                          <a:cs typeface="Times New Roman"/>
                        </a:rPr>
                        <a:t>C S</a:t>
                      </a:r>
                      <a:r>
                        <a:rPr lang="fr-FR" sz="1500" kern="100" baseline="30000">
                          <a:latin typeface="Times New Roman"/>
                          <a:ea typeface="宋体"/>
                          <a:cs typeface="Times New Roman"/>
                        </a:rPr>
                        <a:t>(1)</a:t>
                      </a:r>
                      <a:endParaRPr lang="zh-CN" sz="15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fr-FR" sz="1500" kern="100" dirty="0">
                          <a:latin typeface="Times New Roman"/>
                          <a:ea typeface="宋体"/>
                          <a:cs typeface="Times New Roman"/>
                        </a:rPr>
                        <a:t>{  S.CHAIN =merge(C.CHAIN</a:t>
                      </a:r>
                      <a:r>
                        <a:rPr lang="zh-CN" sz="1500" kern="100" dirty="0">
                          <a:latin typeface="Times New Roman"/>
                          <a:ea typeface="宋体"/>
                          <a:cs typeface="Times New Roman"/>
                        </a:rPr>
                        <a:t>，</a:t>
                      </a:r>
                      <a:r>
                        <a:rPr lang="fr-FR" sz="1500" kern="100" dirty="0">
                          <a:latin typeface="Times New Roman"/>
                          <a:ea typeface="宋体"/>
                          <a:cs typeface="Times New Roman"/>
                        </a:rPr>
                        <a:t>S</a:t>
                      </a:r>
                      <a:r>
                        <a:rPr lang="fr-FR" sz="1500" kern="100" baseline="30000" dirty="0">
                          <a:latin typeface="Times New Roman"/>
                          <a:ea typeface="宋体"/>
                          <a:cs typeface="Times New Roman"/>
                        </a:rPr>
                        <a:t>(1)</a:t>
                      </a:r>
                      <a:r>
                        <a:rPr lang="fr-FR" sz="1500" kern="100" dirty="0">
                          <a:latin typeface="Times New Roman"/>
                          <a:ea typeface="宋体"/>
                          <a:cs typeface="Times New Roman"/>
                        </a:rPr>
                        <a:t>.CHAIN)  }</a:t>
                      </a:r>
                      <a:endParaRPr lang="zh-CN" sz="15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extLst>
                  <a:ext uri="{0D108BD9-81ED-4DB2-BD59-A6C34878D82A}">
                    <a16:rowId xmlns:a16="http://schemas.microsoft.com/office/drawing/2014/main" val="10001"/>
                  </a:ext>
                </a:extLst>
              </a:tr>
              <a:tr h="576064">
                <a:tc>
                  <a:txBody>
                    <a:bodyPr/>
                    <a:lstStyle/>
                    <a:p>
                      <a:pPr algn="l">
                        <a:spcAft>
                          <a:spcPts val="0"/>
                        </a:spcAft>
                      </a:pPr>
                      <a:r>
                        <a:rPr lang="zh-CN" sz="1500" kern="100" dirty="0">
                          <a:latin typeface="Times New Roman"/>
                          <a:ea typeface="宋体"/>
                          <a:cs typeface="Times New Roman"/>
                        </a:rPr>
                        <a:t>（</a:t>
                      </a:r>
                      <a:r>
                        <a:rPr lang="fr-FR" sz="1500" kern="100" dirty="0">
                          <a:latin typeface="Times New Roman"/>
                          <a:ea typeface="宋体"/>
                          <a:cs typeface="Times New Roman"/>
                        </a:rPr>
                        <a:t>2</a:t>
                      </a:r>
                      <a:r>
                        <a:rPr lang="zh-CN" sz="15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en-US" sz="1500" kern="100" dirty="0" err="1">
                          <a:latin typeface="Times New Roman"/>
                          <a:ea typeface="宋体"/>
                          <a:cs typeface="Times New Roman"/>
                        </a:rPr>
                        <a:t>C→if</a:t>
                      </a:r>
                      <a:r>
                        <a:rPr lang="en-US" sz="1500" kern="100" dirty="0">
                          <a:latin typeface="Times New Roman"/>
                          <a:ea typeface="宋体"/>
                          <a:cs typeface="Times New Roman"/>
                        </a:rPr>
                        <a:t> </a:t>
                      </a:r>
                      <a:r>
                        <a:rPr lang="en-US" altLang="zh-CN" sz="1600" kern="100" dirty="0">
                          <a:latin typeface="Times New Roman"/>
                          <a:ea typeface="宋体"/>
                          <a:cs typeface="Times New Roman"/>
                        </a:rPr>
                        <a:t>(E)</a:t>
                      </a:r>
                      <a:r>
                        <a:rPr lang="en-US" sz="1500" kern="100" dirty="0">
                          <a:latin typeface="Times New Roman"/>
                          <a:ea typeface="宋体"/>
                          <a:cs typeface="Times New Roman"/>
                        </a:rPr>
                        <a:t> </a:t>
                      </a:r>
                      <a:endParaRPr lang="zh-CN" sz="15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en-US" sz="1500" kern="100" dirty="0">
                          <a:latin typeface="Times New Roman"/>
                          <a:ea typeface="宋体"/>
                          <a:cs typeface="Times New Roman"/>
                        </a:rPr>
                        <a:t>{  </a:t>
                      </a:r>
                      <a:r>
                        <a:rPr lang="en-US" sz="1500" kern="100" dirty="0" err="1">
                          <a:latin typeface="Times New Roman"/>
                          <a:ea typeface="宋体"/>
                          <a:cs typeface="Times New Roman"/>
                        </a:rPr>
                        <a:t>backpatch</a:t>
                      </a:r>
                      <a:r>
                        <a:rPr lang="en-US" sz="1500" kern="100" dirty="0">
                          <a:latin typeface="Times New Roman"/>
                          <a:ea typeface="宋体"/>
                          <a:cs typeface="Times New Roman"/>
                        </a:rPr>
                        <a:t>(E.TC</a:t>
                      </a:r>
                      <a:r>
                        <a:rPr lang="zh-CN" sz="1500" kern="100" dirty="0">
                          <a:latin typeface="Times New Roman"/>
                          <a:ea typeface="宋体"/>
                          <a:cs typeface="Times New Roman"/>
                        </a:rPr>
                        <a:t>，</a:t>
                      </a:r>
                      <a:r>
                        <a:rPr lang="en-US" sz="1500" kern="100" dirty="0">
                          <a:latin typeface="Times New Roman"/>
                          <a:ea typeface="宋体"/>
                          <a:cs typeface="Times New Roman"/>
                        </a:rPr>
                        <a:t>NXQ);</a:t>
                      </a:r>
                      <a:endParaRPr lang="zh-CN" sz="1500" kern="100" dirty="0">
                        <a:latin typeface="Times New Roman"/>
                        <a:ea typeface="宋体"/>
                        <a:cs typeface="Times New Roman"/>
                      </a:endParaRPr>
                    </a:p>
                    <a:p>
                      <a:pPr indent="171450" algn="just">
                        <a:spcAft>
                          <a:spcPts val="0"/>
                        </a:spcAft>
                      </a:pPr>
                      <a:r>
                        <a:rPr lang="fr-FR" sz="1500" kern="100" dirty="0">
                          <a:latin typeface="Times New Roman"/>
                          <a:ea typeface="宋体"/>
                          <a:cs typeface="Times New Roman"/>
                        </a:rPr>
                        <a:t>C.CHAIN=E.FC          }</a:t>
                      </a:r>
                      <a:endParaRPr lang="zh-CN" sz="15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extLst>
                  <a:ext uri="{0D108BD9-81ED-4DB2-BD59-A6C34878D82A}">
                    <a16:rowId xmlns:a16="http://schemas.microsoft.com/office/drawing/2014/main" val="10002"/>
                  </a:ext>
                </a:extLst>
              </a:tr>
              <a:tr h="428153">
                <a:tc>
                  <a:txBody>
                    <a:bodyPr/>
                    <a:lstStyle/>
                    <a:p>
                      <a:pPr algn="l">
                        <a:spcAft>
                          <a:spcPts val="0"/>
                        </a:spcAft>
                      </a:pPr>
                      <a:r>
                        <a:rPr lang="zh-CN" sz="1500" kern="100">
                          <a:latin typeface="Times New Roman"/>
                          <a:ea typeface="宋体"/>
                          <a:cs typeface="Times New Roman"/>
                        </a:rPr>
                        <a:t>（</a:t>
                      </a:r>
                      <a:r>
                        <a:rPr lang="fr-FR" sz="1500" kern="100">
                          <a:latin typeface="Times New Roman"/>
                          <a:ea typeface="宋体"/>
                          <a:cs typeface="Times New Roman"/>
                        </a:rPr>
                        <a:t>3</a:t>
                      </a:r>
                      <a:r>
                        <a:rPr lang="zh-CN" sz="1500" kern="10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fr-FR" sz="1500" kern="100" dirty="0">
                          <a:latin typeface="Times New Roman"/>
                          <a:ea typeface="宋体"/>
                          <a:cs typeface="Times New Roman"/>
                        </a:rPr>
                        <a:t>S</a:t>
                      </a:r>
                      <a:r>
                        <a:rPr lang="en-US" sz="1500" kern="100" dirty="0">
                          <a:latin typeface="Times New Roman"/>
                          <a:ea typeface="宋体"/>
                          <a:cs typeface="Times New Roman"/>
                        </a:rPr>
                        <a:t>→</a:t>
                      </a:r>
                      <a:r>
                        <a:rPr lang="fr-FR" sz="1500" kern="100" dirty="0">
                          <a:latin typeface="Times New Roman"/>
                          <a:ea typeface="宋体"/>
                          <a:cs typeface="Times New Roman"/>
                        </a:rPr>
                        <a:t>T S</a:t>
                      </a:r>
                      <a:r>
                        <a:rPr lang="fr-FR" sz="1500" kern="100" baseline="30000" dirty="0">
                          <a:latin typeface="Times New Roman"/>
                          <a:ea typeface="宋体"/>
                          <a:cs typeface="Times New Roman"/>
                        </a:rPr>
                        <a:t>(2)</a:t>
                      </a:r>
                      <a:endParaRPr lang="zh-CN" sz="15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fr-FR" sz="1500" kern="100" dirty="0">
                          <a:latin typeface="Times New Roman"/>
                          <a:ea typeface="宋体"/>
                          <a:cs typeface="Times New Roman"/>
                        </a:rPr>
                        <a:t>{  S.CHAIN=merge(T.CHAIN</a:t>
                      </a:r>
                      <a:r>
                        <a:rPr lang="zh-CN" sz="1500" kern="100" dirty="0">
                          <a:latin typeface="Times New Roman"/>
                          <a:ea typeface="宋体"/>
                          <a:cs typeface="Times New Roman"/>
                        </a:rPr>
                        <a:t>，</a:t>
                      </a:r>
                      <a:r>
                        <a:rPr lang="fr-FR" sz="1500" kern="100" dirty="0">
                          <a:latin typeface="Times New Roman"/>
                          <a:ea typeface="宋体"/>
                          <a:cs typeface="Times New Roman"/>
                        </a:rPr>
                        <a:t>S</a:t>
                      </a:r>
                      <a:r>
                        <a:rPr lang="fr-FR" sz="1500" kern="100" baseline="30000" dirty="0">
                          <a:latin typeface="Times New Roman"/>
                          <a:ea typeface="宋体"/>
                          <a:cs typeface="Times New Roman"/>
                        </a:rPr>
                        <a:t>(2)</a:t>
                      </a:r>
                      <a:r>
                        <a:rPr lang="fr-FR" sz="1500" kern="100" dirty="0">
                          <a:latin typeface="Times New Roman"/>
                          <a:ea typeface="宋体"/>
                          <a:cs typeface="Times New Roman"/>
                        </a:rPr>
                        <a:t>.CHAIN)  }</a:t>
                      </a:r>
                      <a:endParaRPr lang="zh-CN" sz="15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extLst>
                  <a:ext uri="{0D108BD9-81ED-4DB2-BD59-A6C34878D82A}">
                    <a16:rowId xmlns:a16="http://schemas.microsoft.com/office/drawing/2014/main" val="10003"/>
                  </a:ext>
                </a:extLst>
              </a:tr>
              <a:tr h="1047751">
                <a:tc>
                  <a:txBody>
                    <a:bodyPr/>
                    <a:lstStyle/>
                    <a:p>
                      <a:pPr algn="l">
                        <a:spcAft>
                          <a:spcPts val="0"/>
                        </a:spcAft>
                      </a:pPr>
                      <a:r>
                        <a:rPr lang="zh-CN" sz="1500" kern="100" dirty="0">
                          <a:latin typeface="Times New Roman"/>
                          <a:ea typeface="宋体"/>
                          <a:cs typeface="Times New Roman"/>
                        </a:rPr>
                        <a:t>（</a:t>
                      </a:r>
                      <a:r>
                        <a:rPr lang="fr-FR" sz="1500" kern="100" dirty="0">
                          <a:latin typeface="Times New Roman"/>
                          <a:ea typeface="宋体"/>
                          <a:cs typeface="Times New Roman"/>
                        </a:rPr>
                        <a:t>4</a:t>
                      </a:r>
                      <a:r>
                        <a:rPr lang="zh-CN" sz="15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en-US" sz="1500" kern="100" dirty="0">
                          <a:latin typeface="Times New Roman"/>
                          <a:ea typeface="宋体"/>
                          <a:cs typeface="Times New Roman"/>
                        </a:rPr>
                        <a:t>T→C</a:t>
                      </a:r>
                      <a:r>
                        <a:rPr lang="fr-FR" altLang="zh-CN" sz="1500" kern="100" dirty="0">
                          <a:latin typeface="Times New Roman"/>
                          <a:ea typeface="+mn-ea"/>
                          <a:cs typeface="Times New Roman"/>
                        </a:rPr>
                        <a:t> </a:t>
                      </a:r>
                      <a:r>
                        <a:rPr lang="en-US" sz="1500" kern="100" dirty="0">
                          <a:latin typeface="Times New Roman"/>
                          <a:ea typeface="宋体"/>
                          <a:cs typeface="Times New Roman"/>
                        </a:rPr>
                        <a:t>S</a:t>
                      </a:r>
                      <a:r>
                        <a:rPr lang="en-US" sz="1500" kern="100" baseline="30000" dirty="0">
                          <a:latin typeface="Times New Roman"/>
                          <a:ea typeface="宋体"/>
                          <a:cs typeface="Times New Roman"/>
                        </a:rPr>
                        <a:t>(1)</a:t>
                      </a:r>
                      <a:r>
                        <a:rPr lang="en-US" sz="1500" kern="100" dirty="0">
                          <a:latin typeface="Times New Roman"/>
                          <a:ea typeface="宋体"/>
                          <a:cs typeface="Times New Roman"/>
                        </a:rPr>
                        <a:t> else</a:t>
                      </a:r>
                      <a:endParaRPr lang="zh-CN" sz="15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fr-FR" sz="1500" kern="100" dirty="0">
                          <a:latin typeface="Times New Roman"/>
                          <a:ea typeface="宋体"/>
                          <a:cs typeface="Times New Roman"/>
                        </a:rPr>
                        <a:t>{  q=NXQ;</a:t>
                      </a:r>
                      <a:endParaRPr lang="zh-CN" sz="1500" kern="100" dirty="0">
                        <a:latin typeface="Times New Roman"/>
                        <a:ea typeface="宋体"/>
                        <a:cs typeface="Times New Roman"/>
                      </a:endParaRPr>
                    </a:p>
                    <a:p>
                      <a:pPr indent="171450" algn="just">
                        <a:spcAft>
                          <a:spcPts val="0"/>
                        </a:spcAft>
                      </a:pPr>
                      <a:r>
                        <a:rPr lang="fr-FR" sz="1500" kern="100" dirty="0">
                          <a:latin typeface="Times New Roman"/>
                          <a:ea typeface="宋体"/>
                          <a:cs typeface="Times New Roman"/>
                        </a:rPr>
                        <a:t>gencode(j</a:t>
                      </a:r>
                      <a:r>
                        <a:rPr lang="zh-CN" sz="1500" kern="100" dirty="0">
                          <a:latin typeface="Times New Roman"/>
                          <a:ea typeface="宋体"/>
                          <a:cs typeface="Times New Roman"/>
                        </a:rPr>
                        <a:t>， ， ，</a:t>
                      </a:r>
                      <a:r>
                        <a:rPr lang="fr-FR" sz="1500" kern="100" dirty="0">
                          <a:latin typeface="Times New Roman"/>
                          <a:ea typeface="宋体"/>
                          <a:cs typeface="Times New Roman"/>
                        </a:rPr>
                        <a:t>0);</a:t>
                      </a:r>
                      <a:endParaRPr lang="zh-CN" sz="1500" kern="100" dirty="0">
                        <a:latin typeface="Times New Roman"/>
                        <a:ea typeface="宋体"/>
                        <a:cs typeface="Times New Roman"/>
                      </a:endParaRPr>
                    </a:p>
                    <a:p>
                      <a:pPr indent="171450" algn="just">
                        <a:spcAft>
                          <a:spcPts val="0"/>
                        </a:spcAft>
                      </a:pPr>
                      <a:r>
                        <a:rPr lang="en-US" sz="1500" kern="100" dirty="0" err="1">
                          <a:latin typeface="Times New Roman"/>
                          <a:ea typeface="宋体"/>
                          <a:cs typeface="Times New Roman"/>
                        </a:rPr>
                        <a:t>backpatch</a:t>
                      </a:r>
                      <a:r>
                        <a:rPr lang="en-US" sz="1500" kern="100" dirty="0">
                          <a:latin typeface="Times New Roman"/>
                          <a:ea typeface="宋体"/>
                          <a:cs typeface="Times New Roman"/>
                        </a:rPr>
                        <a:t>(C.CHAIN</a:t>
                      </a:r>
                      <a:r>
                        <a:rPr lang="zh-CN" sz="1500" kern="100" dirty="0">
                          <a:latin typeface="Times New Roman"/>
                          <a:ea typeface="宋体"/>
                          <a:cs typeface="Times New Roman"/>
                        </a:rPr>
                        <a:t>，</a:t>
                      </a:r>
                      <a:r>
                        <a:rPr lang="en-US" sz="1500" kern="100" dirty="0">
                          <a:latin typeface="Times New Roman"/>
                          <a:ea typeface="宋体"/>
                          <a:cs typeface="Times New Roman"/>
                        </a:rPr>
                        <a:t>NXQ);</a:t>
                      </a:r>
                      <a:endParaRPr lang="zh-CN" sz="1500" kern="100" dirty="0">
                        <a:latin typeface="Times New Roman"/>
                        <a:ea typeface="宋体"/>
                        <a:cs typeface="Times New Roman"/>
                      </a:endParaRPr>
                    </a:p>
                    <a:p>
                      <a:pPr indent="171450" algn="just">
                        <a:spcAft>
                          <a:spcPts val="0"/>
                        </a:spcAft>
                      </a:pPr>
                      <a:r>
                        <a:rPr lang="fr-FR" sz="1500" kern="100" dirty="0">
                          <a:latin typeface="Times New Roman"/>
                          <a:ea typeface="宋体"/>
                          <a:cs typeface="Times New Roman"/>
                        </a:rPr>
                        <a:t>T·CHAIN=merge(S</a:t>
                      </a:r>
                      <a:r>
                        <a:rPr lang="fr-FR" sz="1500" kern="100" baseline="30000" dirty="0">
                          <a:latin typeface="Times New Roman"/>
                          <a:ea typeface="宋体"/>
                          <a:cs typeface="Times New Roman"/>
                        </a:rPr>
                        <a:t>(1)</a:t>
                      </a:r>
                      <a:r>
                        <a:rPr lang="fr-FR" sz="1500" kern="100" dirty="0">
                          <a:latin typeface="Times New Roman"/>
                          <a:ea typeface="宋体"/>
                          <a:cs typeface="Times New Roman"/>
                        </a:rPr>
                        <a:t> .CHAIN</a:t>
                      </a:r>
                      <a:r>
                        <a:rPr lang="zh-CN" sz="1500" kern="100" dirty="0">
                          <a:latin typeface="Times New Roman"/>
                          <a:ea typeface="宋体"/>
                          <a:cs typeface="Times New Roman"/>
                        </a:rPr>
                        <a:t>，</a:t>
                      </a:r>
                      <a:r>
                        <a:rPr lang="fr-FR" sz="1500" kern="100" dirty="0">
                          <a:latin typeface="Times New Roman"/>
                          <a:ea typeface="宋体"/>
                          <a:cs typeface="Times New Roman"/>
                        </a:rPr>
                        <a:t>q)  }</a:t>
                      </a:r>
                      <a:endParaRPr lang="zh-CN" sz="15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extLst>
                  <a:ext uri="{0D108BD9-81ED-4DB2-BD59-A6C34878D82A}">
                    <a16:rowId xmlns:a16="http://schemas.microsoft.com/office/drawing/2014/main" val="10004"/>
                  </a:ext>
                </a:extLst>
              </a:tr>
            </a:tbl>
          </a:graphicData>
        </a:graphic>
      </p:graphicFrame>
      <p:sp>
        <p:nvSpPr>
          <p:cNvPr id="32" name="TextBox 31"/>
          <p:cNvSpPr txBox="1"/>
          <p:nvPr/>
        </p:nvSpPr>
        <p:spPr>
          <a:xfrm>
            <a:off x="4860032" y="3655490"/>
            <a:ext cx="576064" cy="369332"/>
          </a:xfrm>
          <a:prstGeom prst="rect">
            <a:avLst/>
          </a:prstGeom>
          <a:solidFill>
            <a:schemeClr val="bg1"/>
          </a:solidFill>
        </p:spPr>
        <p:txBody>
          <a:bodyPr wrap="square" rtlCol="0">
            <a:spAutoFit/>
          </a:bodyPr>
          <a:lstStyle/>
          <a:p>
            <a:r>
              <a:rPr lang="en-US" altLang="zh-CN" dirty="0">
                <a:solidFill>
                  <a:srgbClr val="FF0000"/>
                </a:solidFill>
              </a:rPr>
              <a:t>10</a:t>
            </a:r>
            <a:endParaRPr lang="zh-CN" altLang="en-US" dirty="0">
              <a:solidFill>
                <a:srgbClr val="FF0000"/>
              </a:solidFill>
            </a:endParaRPr>
          </a:p>
        </p:txBody>
      </p:sp>
      <p:sp>
        <p:nvSpPr>
          <p:cNvPr id="27" name="TextBox 26"/>
          <p:cNvSpPr txBox="1"/>
          <p:nvPr/>
        </p:nvSpPr>
        <p:spPr>
          <a:xfrm>
            <a:off x="4860032" y="3651870"/>
            <a:ext cx="576064" cy="369332"/>
          </a:xfrm>
          <a:prstGeom prst="rect">
            <a:avLst/>
          </a:prstGeom>
          <a:solidFill>
            <a:schemeClr val="bg1"/>
          </a:solidFill>
        </p:spPr>
        <p:txBody>
          <a:bodyPr wrap="square" rtlCol="0">
            <a:spAutoFit/>
          </a:bodyPr>
          <a:lstStyle/>
          <a:p>
            <a:r>
              <a:rPr lang="en-US" altLang="zh-CN" dirty="0">
                <a:solidFill>
                  <a:srgbClr val="FF0000"/>
                </a:solidFill>
              </a:rPr>
              <a:t>15</a:t>
            </a:r>
            <a:endParaRPr lang="zh-CN" altLang="en-US" dirty="0">
              <a:solidFill>
                <a:srgbClr val="FF0000"/>
              </a:solidFill>
            </a:endParaRPr>
          </a:p>
        </p:txBody>
      </p:sp>
      <p:sp>
        <p:nvSpPr>
          <p:cNvPr id="33" name="矩形 32"/>
          <p:cNvSpPr/>
          <p:nvPr/>
        </p:nvSpPr>
        <p:spPr>
          <a:xfrm>
            <a:off x="5652120" y="3354546"/>
            <a:ext cx="3491169" cy="1788955"/>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9" name="矩形 18"/>
          <p:cNvSpPr/>
          <p:nvPr/>
        </p:nvSpPr>
        <p:spPr>
          <a:xfrm>
            <a:off x="5682020" y="3437518"/>
            <a:ext cx="1039067" cy="369332"/>
          </a:xfrm>
          <a:prstGeom prst="rect">
            <a:avLst/>
          </a:prstGeom>
        </p:spPr>
        <p:txBody>
          <a:bodyPr wrap="none">
            <a:spAutoFit/>
          </a:bodyPr>
          <a:lstStyle/>
          <a:p>
            <a:r>
              <a:rPr lang="fr-FR" altLang="zh-CN" kern="100" dirty="0">
                <a:latin typeface="Times New Roman"/>
                <a:ea typeface="宋体"/>
                <a:cs typeface="Times New Roman"/>
              </a:rPr>
              <a:t>E.TC = 5</a:t>
            </a:r>
            <a:endParaRPr lang="zh-CN" altLang="en-US" dirty="0"/>
          </a:p>
        </p:txBody>
      </p:sp>
      <p:sp>
        <p:nvSpPr>
          <p:cNvPr id="35" name="矩形 34"/>
          <p:cNvSpPr/>
          <p:nvPr/>
        </p:nvSpPr>
        <p:spPr>
          <a:xfrm>
            <a:off x="6750987" y="3437518"/>
            <a:ext cx="1026243" cy="369332"/>
          </a:xfrm>
          <a:prstGeom prst="rect">
            <a:avLst/>
          </a:prstGeom>
        </p:spPr>
        <p:txBody>
          <a:bodyPr wrap="none">
            <a:spAutoFit/>
          </a:bodyPr>
          <a:lstStyle/>
          <a:p>
            <a:r>
              <a:rPr lang="fr-FR" altLang="zh-CN" kern="100" dirty="0">
                <a:latin typeface="Times New Roman"/>
                <a:ea typeface="宋体"/>
                <a:cs typeface="Times New Roman"/>
              </a:rPr>
              <a:t>E.FC = 6</a:t>
            </a:r>
            <a:endParaRPr lang="zh-CN" altLang="en-US" dirty="0"/>
          </a:p>
        </p:txBody>
      </p:sp>
      <p:sp>
        <p:nvSpPr>
          <p:cNvPr id="36" name="矩形 35"/>
          <p:cNvSpPr/>
          <p:nvPr/>
        </p:nvSpPr>
        <p:spPr>
          <a:xfrm>
            <a:off x="5652120" y="3786594"/>
            <a:ext cx="1154483" cy="369332"/>
          </a:xfrm>
          <a:prstGeom prst="rect">
            <a:avLst/>
          </a:prstGeom>
        </p:spPr>
        <p:txBody>
          <a:bodyPr wrap="none">
            <a:spAutoFit/>
          </a:bodyPr>
          <a:lstStyle/>
          <a:p>
            <a:r>
              <a:rPr lang="fr-FR" altLang="zh-CN" kern="100" dirty="0">
                <a:latin typeface="Times New Roman"/>
                <a:ea typeface="宋体"/>
                <a:cs typeface="Times New Roman"/>
              </a:rPr>
              <a:t>E1.TC = 7</a:t>
            </a:r>
            <a:endParaRPr lang="zh-CN" altLang="en-US" dirty="0"/>
          </a:p>
        </p:txBody>
      </p:sp>
      <p:sp>
        <p:nvSpPr>
          <p:cNvPr id="37" name="矩形 36"/>
          <p:cNvSpPr/>
          <p:nvPr/>
        </p:nvSpPr>
        <p:spPr>
          <a:xfrm>
            <a:off x="6780887" y="3786594"/>
            <a:ext cx="1141659" cy="369332"/>
          </a:xfrm>
          <a:prstGeom prst="rect">
            <a:avLst/>
          </a:prstGeom>
        </p:spPr>
        <p:txBody>
          <a:bodyPr wrap="none">
            <a:spAutoFit/>
          </a:bodyPr>
          <a:lstStyle/>
          <a:p>
            <a:r>
              <a:rPr lang="fr-FR" altLang="zh-CN" kern="100" dirty="0">
                <a:latin typeface="Times New Roman"/>
                <a:ea typeface="宋体"/>
                <a:cs typeface="Times New Roman"/>
              </a:rPr>
              <a:t>E1.FC = 8</a:t>
            </a:r>
            <a:endParaRPr lang="zh-CN" altLang="en-US" dirty="0"/>
          </a:p>
        </p:txBody>
      </p:sp>
      <p:sp>
        <p:nvSpPr>
          <p:cNvPr id="25" name="矩形 24"/>
          <p:cNvSpPr/>
          <p:nvPr/>
        </p:nvSpPr>
        <p:spPr>
          <a:xfrm>
            <a:off x="7687091" y="3437518"/>
            <a:ext cx="1372492" cy="369332"/>
          </a:xfrm>
          <a:prstGeom prst="rect">
            <a:avLst/>
          </a:prstGeom>
        </p:spPr>
        <p:txBody>
          <a:bodyPr wrap="none">
            <a:spAutoFit/>
          </a:bodyPr>
          <a:lstStyle/>
          <a:p>
            <a:r>
              <a:rPr lang="fr-FR" altLang="zh-CN" kern="100" dirty="0">
                <a:latin typeface="Times New Roman"/>
                <a:ea typeface="宋体"/>
                <a:cs typeface="Times New Roman"/>
              </a:rPr>
              <a:t>C.CHAIN</a:t>
            </a:r>
            <a:r>
              <a:rPr lang="en-US" altLang="zh-CN" kern="100" dirty="0">
                <a:latin typeface="Times New Roman"/>
                <a:ea typeface="宋体"/>
                <a:cs typeface="Times New Roman"/>
              </a:rPr>
              <a:t>=6</a:t>
            </a:r>
            <a:endParaRPr lang="zh-CN" altLang="en-US" dirty="0"/>
          </a:p>
        </p:txBody>
      </p:sp>
      <p:sp>
        <p:nvSpPr>
          <p:cNvPr id="39" name="矩形 38"/>
          <p:cNvSpPr/>
          <p:nvPr/>
        </p:nvSpPr>
        <p:spPr>
          <a:xfrm>
            <a:off x="7777230" y="3786594"/>
            <a:ext cx="1487908" cy="369332"/>
          </a:xfrm>
          <a:prstGeom prst="rect">
            <a:avLst/>
          </a:prstGeom>
        </p:spPr>
        <p:txBody>
          <a:bodyPr wrap="none">
            <a:spAutoFit/>
          </a:bodyPr>
          <a:lstStyle/>
          <a:p>
            <a:r>
              <a:rPr lang="fr-FR" altLang="zh-CN" kern="100" dirty="0">
                <a:latin typeface="Times New Roman"/>
                <a:ea typeface="宋体"/>
                <a:cs typeface="Times New Roman"/>
              </a:rPr>
              <a:t>C1.CHAIN</a:t>
            </a:r>
            <a:r>
              <a:rPr lang="en-US" altLang="zh-CN" kern="100" dirty="0">
                <a:latin typeface="Times New Roman"/>
                <a:ea typeface="宋体"/>
                <a:cs typeface="Times New Roman"/>
              </a:rPr>
              <a:t>=8</a:t>
            </a:r>
            <a:endParaRPr lang="zh-CN" altLang="en-US" dirty="0"/>
          </a:p>
        </p:txBody>
      </p:sp>
      <p:sp>
        <p:nvSpPr>
          <p:cNvPr id="40" name="矩形 39"/>
          <p:cNvSpPr/>
          <p:nvPr/>
        </p:nvSpPr>
        <p:spPr>
          <a:xfrm>
            <a:off x="5654280" y="4085590"/>
            <a:ext cx="833883" cy="369332"/>
          </a:xfrm>
          <a:prstGeom prst="rect">
            <a:avLst/>
          </a:prstGeom>
        </p:spPr>
        <p:txBody>
          <a:bodyPr wrap="none">
            <a:spAutoFit/>
          </a:bodyPr>
          <a:lstStyle/>
          <a:p>
            <a:r>
              <a:rPr lang="en-US" altLang="zh-CN" kern="100" dirty="0">
                <a:latin typeface="Times New Roman"/>
                <a:ea typeface="宋体"/>
                <a:cs typeface="Times New Roman"/>
              </a:rPr>
              <a:t>q1</a:t>
            </a:r>
            <a:r>
              <a:rPr lang="fr-FR" altLang="zh-CN" kern="100" dirty="0">
                <a:latin typeface="Times New Roman"/>
                <a:ea typeface="宋体"/>
                <a:cs typeface="Times New Roman"/>
              </a:rPr>
              <a:t> </a:t>
            </a:r>
            <a:r>
              <a:rPr lang="en-US" altLang="zh-CN" kern="100" dirty="0">
                <a:latin typeface="Times New Roman"/>
                <a:ea typeface="宋体"/>
                <a:cs typeface="Times New Roman"/>
              </a:rPr>
              <a:t>=10</a:t>
            </a:r>
            <a:endParaRPr lang="zh-CN" altLang="en-US" dirty="0"/>
          </a:p>
        </p:txBody>
      </p:sp>
      <p:sp>
        <p:nvSpPr>
          <p:cNvPr id="41" name="矩形 40"/>
          <p:cNvSpPr/>
          <p:nvPr/>
        </p:nvSpPr>
        <p:spPr>
          <a:xfrm>
            <a:off x="7469083" y="4085590"/>
            <a:ext cx="1590500" cy="369332"/>
          </a:xfrm>
          <a:prstGeom prst="rect">
            <a:avLst/>
          </a:prstGeom>
        </p:spPr>
        <p:txBody>
          <a:bodyPr wrap="none">
            <a:spAutoFit/>
          </a:bodyPr>
          <a:lstStyle/>
          <a:p>
            <a:r>
              <a:rPr lang="en-US" altLang="zh-CN" kern="100" dirty="0">
                <a:latin typeface="Times New Roman"/>
                <a:ea typeface="宋体"/>
                <a:cs typeface="Times New Roman"/>
              </a:rPr>
              <a:t>T1</a:t>
            </a:r>
            <a:r>
              <a:rPr lang="fr-FR" altLang="zh-CN" kern="100" dirty="0">
                <a:latin typeface="Times New Roman"/>
                <a:ea typeface="宋体"/>
                <a:cs typeface="Times New Roman"/>
              </a:rPr>
              <a:t>.CHAIN</a:t>
            </a:r>
            <a:r>
              <a:rPr lang="en-US" altLang="zh-CN" kern="100" dirty="0">
                <a:latin typeface="Times New Roman"/>
                <a:ea typeface="宋体"/>
                <a:cs typeface="Times New Roman"/>
              </a:rPr>
              <a:t>=10</a:t>
            </a:r>
            <a:endParaRPr lang="zh-CN" altLang="en-US" dirty="0"/>
          </a:p>
        </p:txBody>
      </p:sp>
      <p:sp>
        <p:nvSpPr>
          <p:cNvPr id="42" name="矩形 41"/>
          <p:cNvSpPr/>
          <p:nvPr/>
        </p:nvSpPr>
        <p:spPr>
          <a:xfrm>
            <a:off x="7507450" y="4371950"/>
            <a:ext cx="718466" cy="369332"/>
          </a:xfrm>
          <a:prstGeom prst="rect">
            <a:avLst/>
          </a:prstGeom>
        </p:spPr>
        <p:txBody>
          <a:bodyPr wrap="none">
            <a:spAutoFit/>
          </a:bodyPr>
          <a:lstStyle/>
          <a:p>
            <a:r>
              <a:rPr lang="en-US" altLang="zh-CN" kern="100" dirty="0">
                <a:latin typeface="Times New Roman"/>
                <a:ea typeface="宋体"/>
                <a:cs typeface="Times New Roman"/>
              </a:rPr>
              <a:t>q =12</a:t>
            </a:r>
            <a:endParaRPr lang="zh-CN" altLang="en-US" dirty="0"/>
          </a:p>
        </p:txBody>
      </p:sp>
      <p:sp>
        <p:nvSpPr>
          <p:cNvPr id="43" name="矩形 42"/>
          <p:cNvSpPr/>
          <p:nvPr/>
        </p:nvSpPr>
        <p:spPr>
          <a:xfrm>
            <a:off x="5652120" y="4371950"/>
            <a:ext cx="1577676" cy="369332"/>
          </a:xfrm>
          <a:prstGeom prst="rect">
            <a:avLst/>
          </a:prstGeom>
        </p:spPr>
        <p:txBody>
          <a:bodyPr wrap="none">
            <a:spAutoFit/>
          </a:bodyPr>
          <a:lstStyle/>
          <a:p>
            <a:r>
              <a:rPr lang="en-US" altLang="zh-CN" kern="100" dirty="0">
                <a:latin typeface="Times New Roman"/>
                <a:ea typeface="宋体"/>
                <a:cs typeface="Times New Roman"/>
              </a:rPr>
              <a:t>S1</a:t>
            </a:r>
            <a:r>
              <a:rPr lang="fr-FR" altLang="zh-CN" kern="100" dirty="0">
                <a:latin typeface="Times New Roman"/>
                <a:ea typeface="宋体"/>
                <a:cs typeface="Times New Roman"/>
              </a:rPr>
              <a:t>.CHAIN</a:t>
            </a:r>
            <a:r>
              <a:rPr lang="en-US" altLang="zh-CN" kern="100" dirty="0">
                <a:latin typeface="Times New Roman"/>
                <a:ea typeface="宋体"/>
                <a:cs typeface="Times New Roman"/>
              </a:rPr>
              <a:t>=10</a:t>
            </a:r>
            <a:endParaRPr lang="zh-CN" altLang="en-US" dirty="0"/>
          </a:p>
        </p:txBody>
      </p:sp>
      <p:sp>
        <p:nvSpPr>
          <p:cNvPr id="44" name="矩形 43"/>
          <p:cNvSpPr/>
          <p:nvPr/>
        </p:nvSpPr>
        <p:spPr>
          <a:xfrm>
            <a:off x="5679813" y="4720191"/>
            <a:ext cx="1457963" cy="369332"/>
          </a:xfrm>
          <a:prstGeom prst="rect">
            <a:avLst/>
          </a:prstGeom>
        </p:spPr>
        <p:txBody>
          <a:bodyPr wrap="none">
            <a:spAutoFit/>
          </a:bodyPr>
          <a:lstStyle/>
          <a:p>
            <a:r>
              <a:rPr lang="en-US" altLang="zh-CN" kern="100" dirty="0">
                <a:latin typeface="Times New Roman"/>
                <a:ea typeface="宋体"/>
                <a:cs typeface="Times New Roman"/>
              </a:rPr>
              <a:t>T</a:t>
            </a:r>
            <a:r>
              <a:rPr lang="fr-FR" altLang="zh-CN" kern="100" dirty="0">
                <a:latin typeface="Times New Roman"/>
                <a:ea typeface="宋体"/>
                <a:cs typeface="Times New Roman"/>
              </a:rPr>
              <a:t>.CHAIN</a:t>
            </a:r>
            <a:r>
              <a:rPr lang="en-US" altLang="zh-CN" kern="100" dirty="0">
                <a:latin typeface="Times New Roman"/>
                <a:ea typeface="宋体"/>
                <a:cs typeface="Times New Roman"/>
              </a:rPr>
              <a:t>=12</a:t>
            </a:r>
            <a:endParaRPr lang="zh-CN" altLang="en-US" dirty="0"/>
          </a:p>
        </p:txBody>
      </p:sp>
      <p:sp>
        <p:nvSpPr>
          <p:cNvPr id="45" name="矩形 44"/>
          <p:cNvSpPr/>
          <p:nvPr/>
        </p:nvSpPr>
        <p:spPr>
          <a:xfrm>
            <a:off x="7405333" y="4720191"/>
            <a:ext cx="1462260" cy="369332"/>
          </a:xfrm>
          <a:prstGeom prst="rect">
            <a:avLst/>
          </a:prstGeom>
        </p:spPr>
        <p:txBody>
          <a:bodyPr wrap="none">
            <a:spAutoFit/>
          </a:bodyPr>
          <a:lstStyle/>
          <a:p>
            <a:r>
              <a:rPr lang="en-US" altLang="zh-CN" kern="100" dirty="0">
                <a:latin typeface="Times New Roman"/>
                <a:ea typeface="宋体"/>
                <a:cs typeface="Times New Roman"/>
              </a:rPr>
              <a:t>S</a:t>
            </a:r>
            <a:r>
              <a:rPr lang="fr-FR" altLang="zh-CN" kern="100" dirty="0">
                <a:latin typeface="Times New Roman"/>
                <a:ea typeface="宋体"/>
                <a:cs typeface="Times New Roman"/>
              </a:rPr>
              <a:t>.CHAIN</a:t>
            </a:r>
            <a:r>
              <a:rPr lang="en-US" altLang="zh-CN" kern="100" dirty="0">
                <a:latin typeface="Times New Roman"/>
                <a:ea typeface="宋体"/>
                <a:cs typeface="Times New Roman"/>
              </a:rPr>
              <a:t>=12</a:t>
            </a:r>
            <a:endParaRPr lang="zh-CN" altLang="en-US" dirty="0"/>
          </a:p>
        </p:txBody>
      </p:sp>
    </p:spTree>
    <p:extLst>
      <p:ext uri="{BB962C8B-B14F-4D97-AF65-F5344CB8AC3E}">
        <p14:creationId xmlns:p14="http://schemas.microsoft.com/office/powerpoint/2010/main" val="1943047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21"/>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3"/>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4"/>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32"/>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7"/>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45"/>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27"/>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animBg="1"/>
      <p:bldP spid="10" grpId="0" animBg="1"/>
      <p:bldP spid="11" grpId="0" animBg="1"/>
      <p:bldP spid="12" grpId="0" animBg="1"/>
      <p:bldP spid="13" grpId="0" animBg="1"/>
      <p:bldP spid="6" grpId="0"/>
      <p:bldP spid="15" grpId="0" animBg="1"/>
      <p:bldP spid="16" grpId="0" animBg="1"/>
      <p:bldP spid="7" grpId="0"/>
      <p:bldP spid="8" grpId="0" animBg="1"/>
      <p:bldP spid="9" grpId="0"/>
      <p:bldP spid="20" grpId="0"/>
      <p:bldP spid="21" grpId="0" animBg="1"/>
      <p:bldP spid="22" grpId="0" animBg="1"/>
      <p:bldP spid="23" grpId="0" animBg="1"/>
      <p:bldP spid="14" grpId="0"/>
      <p:bldP spid="17" grpId="0"/>
      <p:bldP spid="28" grpId="0" animBg="1"/>
      <p:bldP spid="18" grpId="0" animBg="1"/>
      <p:bldP spid="30" grpId="0" animBg="1"/>
      <p:bldP spid="32" grpId="0" animBg="1"/>
      <p:bldP spid="27" grpId="0" animBg="1"/>
      <p:bldP spid="19" grpId="0"/>
      <p:bldP spid="35" grpId="0"/>
      <p:bldP spid="36" grpId="0"/>
      <p:bldP spid="37" grpId="0"/>
      <p:bldP spid="25" grpId="0"/>
      <p:bldP spid="39" grpId="0"/>
      <p:bldP spid="40" grpId="0"/>
      <p:bldP spid="41" grpId="0"/>
      <p:bldP spid="42" grpId="0"/>
      <p:bldP spid="43" grpId="0"/>
      <p:bldP spid="44" grpId="0"/>
      <p:bldP spid="45"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8"/>
          <p:cNvSpPr>
            <a:spLocks noGrp="1" noChangeArrowheads="1"/>
          </p:cNvSpPr>
          <p:nvPr>
            <p:ph type="title"/>
          </p:nvPr>
        </p:nvSpPr>
        <p:spPr>
          <a:xfrm>
            <a:off x="395288" y="0"/>
            <a:ext cx="8229600" cy="367904"/>
          </a:xfrm>
        </p:spPr>
        <p:txBody>
          <a:bodyPr>
            <a:normAutofit fontScale="90000"/>
          </a:bodyPr>
          <a:lstStyle/>
          <a:p>
            <a:pPr eaLnBrk="1" hangingPunct="1"/>
            <a:r>
              <a:rPr lang="zh-CN" altLang="en-US" sz="3600" b="1">
                <a:solidFill>
                  <a:srgbClr val="0033CC"/>
                </a:solidFill>
              </a:rPr>
              <a:t>例：将下面的</a:t>
            </a:r>
            <a:r>
              <a:rPr lang="en-US" altLang="zh-CN" sz="3600" b="1">
                <a:solidFill>
                  <a:srgbClr val="0033CC"/>
                </a:solidFill>
              </a:rPr>
              <a:t>IF</a:t>
            </a:r>
            <a:r>
              <a:rPr lang="zh-CN" altLang="en-US" sz="3600" b="1">
                <a:solidFill>
                  <a:srgbClr val="0033CC"/>
                </a:solidFill>
              </a:rPr>
              <a:t>语句翻译为四元式序列</a:t>
            </a:r>
            <a:endParaRPr lang="zh-CN" altLang="en-US" sz="3600" b="1"/>
          </a:p>
        </p:txBody>
      </p:sp>
      <p:sp>
        <p:nvSpPr>
          <p:cNvPr id="104451" name="Rectangle 13"/>
          <p:cNvSpPr>
            <a:spLocks noChangeArrowheads="1"/>
          </p:cNvSpPr>
          <p:nvPr/>
        </p:nvSpPr>
        <p:spPr bwMode="auto">
          <a:xfrm>
            <a:off x="244103" y="713514"/>
            <a:ext cx="2743722" cy="1323439"/>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en-US" altLang="zh-CN" sz="2000" dirty="0"/>
              <a:t>if  (A &amp;&amp; B &amp;&amp; (C&gt;D) )</a:t>
            </a:r>
            <a:endParaRPr lang="zh-CN" altLang="zh-CN" sz="2000" dirty="0"/>
          </a:p>
          <a:p>
            <a:pPr eaLnBrk="1" hangingPunct="1">
              <a:lnSpc>
                <a:spcPct val="100000"/>
              </a:lnSpc>
              <a:spcBef>
                <a:spcPct val="0"/>
              </a:spcBef>
              <a:buFontTx/>
              <a:buNone/>
            </a:pPr>
            <a:r>
              <a:rPr lang="en-US" altLang="zh-CN" sz="2000" dirty="0"/>
              <a:t>     if  (A&lt;B)  F=1; </a:t>
            </a:r>
            <a:endParaRPr lang="zh-CN" altLang="zh-CN" sz="2000" dirty="0"/>
          </a:p>
          <a:p>
            <a:pPr eaLnBrk="1" hangingPunct="1">
              <a:lnSpc>
                <a:spcPct val="100000"/>
              </a:lnSpc>
              <a:spcBef>
                <a:spcPct val="0"/>
              </a:spcBef>
              <a:buFontTx/>
              <a:buNone/>
            </a:pPr>
            <a:r>
              <a:rPr lang="en-US" altLang="zh-CN" sz="2000" dirty="0"/>
              <a:t>     else F=0;</a:t>
            </a:r>
            <a:endParaRPr lang="zh-CN" altLang="zh-CN" sz="2000" dirty="0"/>
          </a:p>
          <a:p>
            <a:pPr eaLnBrk="1" hangingPunct="1">
              <a:lnSpc>
                <a:spcPct val="100000"/>
              </a:lnSpc>
              <a:spcBef>
                <a:spcPct val="0"/>
              </a:spcBef>
              <a:buFontTx/>
              <a:buNone/>
            </a:pPr>
            <a:r>
              <a:rPr lang="en-US" altLang="zh-CN" sz="2000" dirty="0"/>
              <a:t>else G=G+1</a:t>
            </a:r>
            <a:r>
              <a:rPr lang="zh-CN" altLang="zh-CN" sz="2000" dirty="0"/>
              <a:t>；</a:t>
            </a:r>
          </a:p>
        </p:txBody>
      </p:sp>
      <p:sp>
        <p:nvSpPr>
          <p:cNvPr id="95247" name="Text Box 15"/>
          <p:cNvSpPr txBox="1">
            <a:spLocks noChangeArrowheads="1"/>
          </p:cNvSpPr>
          <p:nvPr/>
        </p:nvSpPr>
        <p:spPr bwMode="auto">
          <a:xfrm>
            <a:off x="6948264" y="411135"/>
            <a:ext cx="2058765" cy="4708981"/>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r>
              <a:rPr lang="zh-CN" altLang="zh-CN" sz="2000" dirty="0"/>
              <a:t>（</a:t>
            </a:r>
            <a:r>
              <a:rPr lang="en-US" altLang="zh-CN" sz="2000" dirty="0"/>
              <a:t>1</a:t>
            </a:r>
            <a:r>
              <a:rPr lang="zh-CN" altLang="zh-CN" sz="2000" dirty="0"/>
              <a:t>）</a:t>
            </a:r>
            <a:r>
              <a:rPr lang="en-US" altLang="zh-CN" sz="2000" dirty="0"/>
              <a:t>(</a:t>
            </a:r>
            <a:r>
              <a:rPr lang="en-US" altLang="zh-CN" sz="2000" dirty="0" err="1"/>
              <a:t>jnz,A</a:t>
            </a:r>
            <a:r>
              <a:rPr lang="en-US" altLang="zh-CN" sz="2000" dirty="0"/>
              <a:t>,  ,3)  </a:t>
            </a:r>
            <a:endParaRPr lang="zh-CN" altLang="zh-CN" sz="2000" dirty="0"/>
          </a:p>
          <a:p>
            <a:pPr eaLnBrk="1" hangingPunct="1">
              <a:lnSpc>
                <a:spcPct val="100000"/>
              </a:lnSpc>
              <a:spcBef>
                <a:spcPct val="0"/>
              </a:spcBef>
              <a:buFontTx/>
              <a:buNone/>
            </a:pPr>
            <a:r>
              <a:rPr lang="zh-CN" altLang="zh-CN" sz="2000" dirty="0"/>
              <a:t>（</a:t>
            </a:r>
            <a:r>
              <a:rPr lang="en-US" altLang="zh-CN" sz="2000" dirty="0"/>
              <a:t>2</a:t>
            </a:r>
            <a:r>
              <a:rPr lang="zh-CN" altLang="zh-CN" sz="2000" dirty="0"/>
              <a:t>）</a:t>
            </a:r>
            <a:r>
              <a:rPr lang="en-US" altLang="zh-CN" sz="2000" dirty="0"/>
              <a:t>(j,  ,  ,13)</a:t>
            </a:r>
            <a:endParaRPr lang="zh-CN" altLang="zh-CN" sz="2000" dirty="0"/>
          </a:p>
          <a:p>
            <a:pPr eaLnBrk="1" hangingPunct="1">
              <a:lnSpc>
                <a:spcPct val="100000"/>
              </a:lnSpc>
              <a:spcBef>
                <a:spcPct val="0"/>
              </a:spcBef>
              <a:buFontTx/>
              <a:buNone/>
            </a:pPr>
            <a:r>
              <a:rPr lang="zh-CN" altLang="zh-CN" sz="2000" dirty="0"/>
              <a:t>（</a:t>
            </a:r>
            <a:r>
              <a:rPr lang="en-US" altLang="zh-CN" sz="2000" dirty="0"/>
              <a:t>3</a:t>
            </a:r>
            <a:r>
              <a:rPr lang="zh-CN" altLang="zh-CN" sz="2000" dirty="0"/>
              <a:t>）</a:t>
            </a:r>
            <a:r>
              <a:rPr lang="en-US" altLang="zh-CN" sz="2000" dirty="0"/>
              <a:t>(</a:t>
            </a:r>
            <a:r>
              <a:rPr lang="en-US" altLang="zh-CN" sz="2000" dirty="0" err="1"/>
              <a:t>jnz,B</a:t>
            </a:r>
            <a:r>
              <a:rPr lang="en-US" altLang="zh-CN" sz="2000" dirty="0"/>
              <a:t>,  ,5)  </a:t>
            </a:r>
            <a:endParaRPr lang="zh-CN" altLang="zh-CN" sz="2000" dirty="0"/>
          </a:p>
          <a:p>
            <a:pPr eaLnBrk="1" hangingPunct="1">
              <a:lnSpc>
                <a:spcPct val="100000"/>
              </a:lnSpc>
              <a:spcBef>
                <a:spcPct val="0"/>
              </a:spcBef>
              <a:buFontTx/>
              <a:buNone/>
            </a:pPr>
            <a:r>
              <a:rPr lang="zh-CN" altLang="zh-CN" sz="2000" dirty="0"/>
              <a:t>（</a:t>
            </a:r>
            <a:r>
              <a:rPr lang="en-US" altLang="zh-CN" sz="2000" dirty="0"/>
              <a:t>4</a:t>
            </a:r>
            <a:r>
              <a:rPr lang="zh-CN" altLang="zh-CN" sz="2000" dirty="0"/>
              <a:t>）</a:t>
            </a:r>
            <a:r>
              <a:rPr lang="en-US" altLang="zh-CN" sz="2000" dirty="0"/>
              <a:t>(j,  ,  ,13)</a:t>
            </a:r>
            <a:endParaRPr lang="zh-CN" altLang="zh-CN" sz="2000" dirty="0"/>
          </a:p>
          <a:p>
            <a:pPr eaLnBrk="1" hangingPunct="1">
              <a:lnSpc>
                <a:spcPct val="100000"/>
              </a:lnSpc>
              <a:spcBef>
                <a:spcPct val="0"/>
              </a:spcBef>
              <a:buFontTx/>
              <a:buNone/>
            </a:pPr>
            <a:r>
              <a:rPr lang="zh-CN" altLang="zh-CN" sz="2000" dirty="0"/>
              <a:t>（</a:t>
            </a:r>
            <a:r>
              <a:rPr lang="en-US" altLang="zh-CN" sz="2000" dirty="0"/>
              <a:t>5</a:t>
            </a:r>
            <a:r>
              <a:rPr lang="zh-CN" altLang="zh-CN" sz="2000" dirty="0"/>
              <a:t>）</a:t>
            </a:r>
            <a:r>
              <a:rPr lang="en-US" altLang="zh-CN" sz="2000" dirty="0"/>
              <a:t>(j&gt;,C,D,7)  </a:t>
            </a:r>
            <a:endParaRPr lang="zh-CN" altLang="zh-CN" sz="2000" dirty="0"/>
          </a:p>
          <a:p>
            <a:pPr eaLnBrk="1" hangingPunct="1">
              <a:lnSpc>
                <a:spcPct val="100000"/>
              </a:lnSpc>
              <a:spcBef>
                <a:spcPct val="0"/>
              </a:spcBef>
              <a:buFontTx/>
              <a:buNone/>
            </a:pPr>
            <a:r>
              <a:rPr lang="zh-CN" altLang="zh-CN" sz="2000" dirty="0"/>
              <a:t>（</a:t>
            </a:r>
            <a:r>
              <a:rPr lang="en-US" altLang="zh-CN" sz="2000" dirty="0"/>
              <a:t>6</a:t>
            </a:r>
            <a:r>
              <a:rPr lang="zh-CN" altLang="zh-CN" sz="2000" dirty="0"/>
              <a:t>）</a:t>
            </a:r>
            <a:r>
              <a:rPr lang="en-US" altLang="zh-CN" sz="2000" dirty="0"/>
              <a:t>(j,  ,  ,13) </a:t>
            </a:r>
            <a:endParaRPr lang="zh-CN" altLang="zh-CN" sz="2000" dirty="0"/>
          </a:p>
          <a:p>
            <a:pPr eaLnBrk="1" hangingPunct="1">
              <a:lnSpc>
                <a:spcPct val="100000"/>
              </a:lnSpc>
              <a:spcBef>
                <a:spcPct val="0"/>
              </a:spcBef>
              <a:buFontTx/>
              <a:buNone/>
            </a:pPr>
            <a:r>
              <a:rPr lang="zh-CN" altLang="zh-CN" sz="2000" dirty="0"/>
              <a:t>（</a:t>
            </a:r>
            <a:r>
              <a:rPr lang="en-US" altLang="zh-CN" sz="2000" dirty="0"/>
              <a:t>7</a:t>
            </a:r>
            <a:r>
              <a:rPr lang="zh-CN" altLang="zh-CN" sz="2000" dirty="0"/>
              <a:t>）</a:t>
            </a:r>
            <a:r>
              <a:rPr lang="en-US" altLang="zh-CN" sz="2000" dirty="0"/>
              <a:t>(j&lt;,A,B,9)   </a:t>
            </a:r>
            <a:endParaRPr lang="zh-CN" altLang="zh-CN" sz="2000" dirty="0"/>
          </a:p>
          <a:p>
            <a:pPr eaLnBrk="1" hangingPunct="1">
              <a:lnSpc>
                <a:spcPct val="100000"/>
              </a:lnSpc>
              <a:spcBef>
                <a:spcPct val="0"/>
              </a:spcBef>
              <a:buFontTx/>
              <a:buNone/>
            </a:pPr>
            <a:r>
              <a:rPr lang="zh-CN" altLang="zh-CN" sz="2000" dirty="0"/>
              <a:t>（</a:t>
            </a:r>
            <a:r>
              <a:rPr lang="en-US" altLang="zh-CN" sz="2000" dirty="0"/>
              <a:t>8</a:t>
            </a:r>
            <a:r>
              <a:rPr lang="zh-CN" altLang="zh-CN" sz="2000" dirty="0"/>
              <a:t>）</a:t>
            </a:r>
            <a:r>
              <a:rPr lang="en-US" altLang="zh-CN" sz="2000" dirty="0"/>
              <a:t>(j,  ,  ,11)</a:t>
            </a:r>
            <a:endParaRPr lang="zh-CN" altLang="zh-CN" sz="2000" dirty="0"/>
          </a:p>
          <a:p>
            <a:pPr eaLnBrk="1" hangingPunct="1">
              <a:lnSpc>
                <a:spcPct val="100000"/>
              </a:lnSpc>
              <a:spcBef>
                <a:spcPct val="0"/>
              </a:spcBef>
              <a:buFontTx/>
              <a:buNone/>
            </a:pPr>
            <a:r>
              <a:rPr lang="zh-CN" altLang="zh-CN" sz="2000" dirty="0"/>
              <a:t>（</a:t>
            </a:r>
            <a:r>
              <a:rPr lang="en-US" altLang="zh-CN" sz="2000" dirty="0"/>
              <a:t>9</a:t>
            </a:r>
            <a:r>
              <a:rPr lang="zh-CN" altLang="zh-CN" sz="2000" dirty="0"/>
              <a:t>）</a:t>
            </a:r>
            <a:r>
              <a:rPr lang="en-US" altLang="zh-CN" sz="2000" dirty="0"/>
              <a:t>(=,1,  ,F)   </a:t>
            </a:r>
            <a:endParaRPr lang="zh-CN" altLang="zh-CN" sz="2000" dirty="0"/>
          </a:p>
          <a:p>
            <a:pPr eaLnBrk="1" hangingPunct="1">
              <a:lnSpc>
                <a:spcPct val="100000"/>
              </a:lnSpc>
              <a:spcBef>
                <a:spcPct val="0"/>
              </a:spcBef>
              <a:buFontTx/>
              <a:buNone/>
            </a:pPr>
            <a:r>
              <a:rPr lang="zh-CN" altLang="zh-CN" sz="2000" dirty="0"/>
              <a:t>（</a:t>
            </a:r>
            <a:r>
              <a:rPr lang="en-US" altLang="zh-CN" sz="2000" dirty="0"/>
              <a:t>10</a:t>
            </a:r>
            <a:r>
              <a:rPr lang="zh-CN" altLang="zh-CN" sz="2000" dirty="0"/>
              <a:t>）</a:t>
            </a:r>
            <a:r>
              <a:rPr lang="fr-FR" altLang="zh-CN" sz="2000" dirty="0"/>
              <a:t>(j,  ,  ,15)   </a:t>
            </a:r>
            <a:endParaRPr lang="zh-CN" altLang="zh-CN" sz="2000" dirty="0"/>
          </a:p>
          <a:p>
            <a:pPr eaLnBrk="1" hangingPunct="1">
              <a:lnSpc>
                <a:spcPct val="100000"/>
              </a:lnSpc>
              <a:spcBef>
                <a:spcPct val="0"/>
              </a:spcBef>
              <a:buFontTx/>
              <a:buNone/>
            </a:pPr>
            <a:r>
              <a:rPr lang="zh-CN" altLang="zh-CN" sz="2000" dirty="0"/>
              <a:t>（</a:t>
            </a:r>
            <a:r>
              <a:rPr lang="en-US" altLang="zh-CN" sz="2000" dirty="0"/>
              <a:t>11</a:t>
            </a:r>
            <a:r>
              <a:rPr lang="zh-CN" altLang="zh-CN" sz="2000" dirty="0"/>
              <a:t>）</a:t>
            </a:r>
            <a:r>
              <a:rPr lang="fr-FR" altLang="zh-CN" sz="2000" dirty="0"/>
              <a:t>(=,0,  ,F)  </a:t>
            </a:r>
            <a:endParaRPr lang="zh-CN" altLang="zh-CN" sz="2000" dirty="0"/>
          </a:p>
          <a:p>
            <a:pPr eaLnBrk="1" hangingPunct="1">
              <a:lnSpc>
                <a:spcPct val="100000"/>
              </a:lnSpc>
              <a:spcBef>
                <a:spcPct val="0"/>
              </a:spcBef>
              <a:buFontTx/>
              <a:buNone/>
            </a:pPr>
            <a:r>
              <a:rPr lang="zh-CN" altLang="zh-CN" sz="2000" dirty="0"/>
              <a:t>（</a:t>
            </a:r>
            <a:r>
              <a:rPr lang="en-US" altLang="zh-CN" sz="2000" dirty="0"/>
              <a:t>12</a:t>
            </a:r>
            <a:r>
              <a:rPr lang="zh-CN" altLang="zh-CN" sz="2000" dirty="0"/>
              <a:t>）</a:t>
            </a:r>
            <a:r>
              <a:rPr lang="en-US" altLang="zh-CN" sz="2000" dirty="0"/>
              <a:t>(j,  ,  ,15) </a:t>
            </a:r>
            <a:endParaRPr lang="zh-CN" altLang="zh-CN" sz="2000" dirty="0"/>
          </a:p>
          <a:p>
            <a:pPr eaLnBrk="1" hangingPunct="1">
              <a:lnSpc>
                <a:spcPct val="100000"/>
              </a:lnSpc>
              <a:spcBef>
                <a:spcPct val="0"/>
              </a:spcBef>
              <a:buFontTx/>
              <a:buNone/>
            </a:pPr>
            <a:r>
              <a:rPr lang="zh-CN" altLang="zh-CN" sz="2000" dirty="0"/>
              <a:t>（</a:t>
            </a:r>
            <a:r>
              <a:rPr lang="en-US" altLang="zh-CN" sz="2000" dirty="0"/>
              <a:t>13</a:t>
            </a:r>
            <a:r>
              <a:rPr lang="zh-CN" altLang="zh-CN" sz="2000" dirty="0"/>
              <a:t>）</a:t>
            </a:r>
            <a:r>
              <a:rPr lang="en-US" altLang="zh-CN" sz="2000" dirty="0"/>
              <a:t>(+,G,1,T)  </a:t>
            </a:r>
            <a:endParaRPr lang="zh-CN" altLang="zh-CN" sz="2000" dirty="0"/>
          </a:p>
          <a:p>
            <a:pPr eaLnBrk="1" hangingPunct="1">
              <a:lnSpc>
                <a:spcPct val="100000"/>
              </a:lnSpc>
              <a:spcBef>
                <a:spcPct val="0"/>
              </a:spcBef>
              <a:buFontTx/>
              <a:buNone/>
            </a:pPr>
            <a:r>
              <a:rPr lang="zh-CN" altLang="zh-CN" sz="2000" dirty="0"/>
              <a:t>（</a:t>
            </a:r>
            <a:r>
              <a:rPr lang="en-US" altLang="zh-CN" sz="2000" dirty="0"/>
              <a:t>14</a:t>
            </a:r>
            <a:r>
              <a:rPr lang="zh-CN" altLang="zh-CN" sz="2000" dirty="0"/>
              <a:t>）</a:t>
            </a:r>
            <a:r>
              <a:rPr lang="en-US" altLang="zh-CN" sz="2000" dirty="0"/>
              <a:t>(=,T,  ,G)</a:t>
            </a:r>
            <a:endParaRPr lang="zh-CN" altLang="zh-CN" sz="2000" dirty="0"/>
          </a:p>
          <a:p>
            <a:pPr eaLnBrk="1" hangingPunct="1">
              <a:lnSpc>
                <a:spcPct val="100000"/>
              </a:lnSpc>
              <a:spcBef>
                <a:spcPct val="0"/>
              </a:spcBef>
              <a:buFontTx/>
              <a:buNone/>
            </a:pPr>
            <a:r>
              <a:rPr lang="zh-CN" altLang="zh-CN" sz="2000" dirty="0"/>
              <a:t>（</a:t>
            </a:r>
            <a:r>
              <a:rPr lang="en-US" altLang="zh-CN" sz="2000" dirty="0"/>
              <a:t>15</a:t>
            </a:r>
            <a:r>
              <a:rPr lang="zh-CN" altLang="zh-CN" sz="2000" dirty="0"/>
              <a:t>）</a:t>
            </a:r>
            <a:r>
              <a:rPr lang="fr-FR" altLang="zh-CN" sz="2000" dirty="0"/>
              <a:t>         </a:t>
            </a:r>
            <a:endParaRPr lang="zh-CN" altLang="zh-CN" sz="2000" dirty="0"/>
          </a:p>
        </p:txBody>
      </p:sp>
      <p:graphicFrame>
        <p:nvGraphicFramePr>
          <p:cNvPr id="163850" name="Object 10"/>
          <p:cNvGraphicFramePr>
            <a:graphicFrameLocks noChangeAspect="1"/>
          </p:cNvGraphicFramePr>
          <p:nvPr>
            <p:extLst>
              <p:ext uri="{D42A27DB-BD31-4B8C-83A1-F6EECF244321}">
                <p14:modId xmlns:p14="http://schemas.microsoft.com/office/powerpoint/2010/main" val="3130584157"/>
              </p:ext>
            </p:extLst>
          </p:nvPr>
        </p:nvGraphicFramePr>
        <p:xfrm>
          <a:off x="3347864" y="464344"/>
          <a:ext cx="2428875" cy="4679156"/>
        </p:xfrm>
        <a:graphic>
          <a:graphicData uri="http://schemas.openxmlformats.org/presentationml/2006/ole">
            <mc:AlternateContent xmlns:mc="http://schemas.openxmlformats.org/markup-compatibility/2006">
              <mc:Choice xmlns:v="urn:schemas-microsoft-com:vml" Requires="v">
                <p:oleObj spid="_x0000_s29701" name="Visio" r:id="rId4" imgW="2253686" imgH="4925880" progId="Visio.Drawing.11">
                  <p:embed/>
                </p:oleObj>
              </mc:Choice>
              <mc:Fallback>
                <p:oleObj name="Visio" r:id="rId4" imgW="2253686" imgH="4925880" progId="Visio.Drawing.11">
                  <p:embed/>
                  <p:pic>
                    <p:nvPicPr>
                      <p:cNvPr id="163850" name="Object 10"/>
                      <p:cNvPicPr>
                        <a:picLocks noChangeAspect="1" noChangeArrowheads="1"/>
                      </p:cNvPicPr>
                      <p:nvPr/>
                    </p:nvPicPr>
                    <p:blipFill>
                      <a:blip r:embed="rId5"/>
                      <a:srcRect/>
                      <a:stretch>
                        <a:fillRect/>
                      </a:stretch>
                    </p:blipFill>
                    <p:spPr bwMode="auto">
                      <a:xfrm>
                        <a:off x="3347864" y="464344"/>
                        <a:ext cx="2428875" cy="4679156"/>
                      </a:xfrm>
                      <a:prstGeom prst="rect">
                        <a:avLst/>
                      </a:prstGeom>
                      <a:solidFill>
                        <a:schemeClr val="bg1"/>
                      </a:solidFill>
                      <a:ln>
                        <a:noFill/>
                      </a:ln>
                      <a:effectLst/>
                    </p:spPr>
                  </p:pic>
                </p:oleObj>
              </mc:Fallback>
            </mc:AlternateContent>
          </a:graphicData>
        </a:graphic>
      </p:graphicFrame>
    </p:spTree>
    <p:extLst>
      <p:ext uri="{BB962C8B-B14F-4D97-AF65-F5344CB8AC3E}">
        <p14:creationId xmlns:p14="http://schemas.microsoft.com/office/powerpoint/2010/main" val="35531607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0" y="0"/>
            <a:ext cx="8229600" cy="400050"/>
          </a:xfrm>
        </p:spPr>
        <p:txBody>
          <a:bodyPr>
            <a:normAutofit fontScale="90000"/>
          </a:bodyPr>
          <a:lstStyle/>
          <a:p>
            <a:pPr eaLnBrk="1" hangingPunct="1"/>
            <a:r>
              <a:rPr lang="zh-CN" altLang="en-US" sz="4000">
                <a:ea typeface="楷体_GB2312" pitchFamily="49" charset="-122"/>
              </a:rPr>
              <a:t>练习</a:t>
            </a:r>
            <a:r>
              <a:rPr lang="en-US" altLang="zh-CN" sz="4000">
                <a:ea typeface="楷体_GB2312" pitchFamily="49" charset="-122"/>
              </a:rPr>
              <a:t>:</a:t>
            </a:r>
            <a:r>
              <a:rPr lang="zh-CN" altLang="fr-FR" sz="3200">
                <a:solidFill>
                  <a:srgbClr val="000000"/>
                </a:solidFill>
                <a:latin typeface="Times New Roman" pitchFamily="18" charset="0"/>
              </a:rPr>
              <a:t>将下面的语句翻译为</a:t>
            </a:r>
            <a:r>
              <a:rPr lang="zh-CN" altLang="en-US" sz="3200">
                <a:solidFill>
                  <a:srgbClr val="000000"/>
                </a:solidFill>
                <a:latin typeface="Times New Roman" pitchFamily="18" charset="0"/>
              </a:rPr>
              <a:t>四元式序列</a:t>
            </a:r>
            <a:endParaRPr lang="zh-CN" altLang="en-US" sz="3200">
              <a:latin typeface="Times New Roman" pitchFamily="18" charset="0"/>
            </a:endParaRPr>
          </a:p>
        </p:txBody>
      </p:sp>
      <p:sp>
        <p:nvSpPr>
          <p:cNvPr id="145499" name="Rectangle 91"/>
          <p:cNvSpPr>
            <a:spLocks noChangeArrowheads="1"/>
          </p:cNvSpPr>
          <p:nvPr/>
        </p:nvSpPr>
        <p:spPr bwMode="auto">
          <a:xfrm>
            <a:off x="323528" y="843558"/>
            <a:ext cx="2376264" cy="43581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lvl1pPr>
              <a:tabLst>
                <a:tab pos="4343400" algn="l"/>
              </a:tabLst>
              <a:defRPr sz="3200">
                <a:solidFill>
                  <a:schemeClr val="tx1"/>
                </a:solidFill>
                <a:latin typeface="Arial" charset="0"/>
                <a:ea typeface="宋体" pitchFamily="2" charset="-122"/>
              </a:defRPr>
            </a:lvl1pPr>
            <a:lvl2pPr marL="742950" indent="-285750">
              <a:buChar char="–"/>
              <a:tabLst>
                <a:tab pos="4343400" algn="l"/>
              </a:tabLst>
              <a:defRPr sz="2800">
                <a:solidFill>
                  <a:schemeClr val="tx1"/>
                </a:solidFill>
                <a:latin typeface="Arial" charset="0"/>
                <a:ea typeface="宋体" pitchFamily="2" charset="-122"/>
              </a:defRPr>
            </a:lvl2pPr>
            <a:lvl3pPr marL="1143000" indent="-228600">
              <a:tabLst>
                <a:tab pos="4343400" algn="l"/>
              </a:tabLst>
              <a:defRPr sz="2400">
                <a:solidFill>
                  <a:schemeClr val="tx1"/>
                </a:solidFill>
                <a:latin typeface="Arial" charset="0"/>
                <a:ea typeface="宋体" pitchFamily="2" charset="-122"/>
              </a:defRPr>
            </a:lvl3pPr>
            <a:lvl4pPr marL="1600200" indent="-228600">
              <a:buChar char="–"/>
              <a:tabLst>
                <a:tab pos="4343400" algn="l"/>
              </a:tabLst>
              <a:defRPr sz="2000">
                <a:solidFill>
                  <a:schemeClr val="tx1"/>
                </a:solidFill>
                <a:latin typeface="Arial" charset="0"/>
                <a:ea typeface="宋体" pitchFamily="2" charset="-122"/>
              </a:defRPr>
            </a:lvl4pPr>
            <a:lvl5pPr marL="2057400" indent="-228600">
              <a:buChar char="»"/>
              <a:tabLst>
                <a:tab pos="4343400" algn="l"/>
              </a:tabLst>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tabLst>
                <a:tab pos="4343400" algn="l"/>
              </a:tabLst>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tabLst>
                <a:tab pos="4343400" algn="l"/>
              </a:tabLst>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tabLst>
                <a:tab pos="4343400" algn="l"/>
              </a:tabLst>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tabLst>
                <a:tab pos="4343400" algn="l"/>
              </a:tabLst>
              <a:defRPr sz="2000">
                <a:solidFill>
                  <a:schemeClr val="tx1"/>
                </a:solidFill>
                <a:latin typeface="Arial" charset="0"/>
                <a:ea typeface="宋体" pitchFamily="2" charset="-122"/>
              </a:defRPr>
            </a:lvl9pPr>
          </a:lstStyle>
          <a:p>
            <a:pPr algn="just" eaLnBrk="1" hangingPunct="1">
              <a:lnSpc>
                <a:spcPct val="90000"/>
              </a:lnSpc>
              <a:spcBef>
                <a:spcPct val="0"/>
              </a:spcBef>
              <a:buFontTx/>
              <a:buNone/>
            </a:pPr>
            <a:r>
              <a:rPr lang="en-US" altLang="zh-CN" sz="2200" b="1" dirty="0">
                <a:solidFill>
                  <a:srgbClr val="0033CC"/>
                </a:solidFill>
                <a:latin typeface="宋体" pitchFamily="2" charset="-122"/>
              </a:rPr>
              <a:t>1.(j&lt;,A,C,3)</a:t>
            </a:r>
            <a:endParaRPr lang="en-US" altLang="zh-CN" sz="2200" b="1" dirty="0">
              <a:solidFill>
                <a:srgbClr val="0033CC"/>
              </a:solidFill>
              <a:latin typeface="Times New Roman" pitchFamily="18" charset="0"/>
              <a:cs typeface="Times New Roman" pitchFamily="18" charset="0"/>
            </a:endParaRPr>
          </a:p>
          <a:p>
            <a:pPr algn="just">
              <a:lnSpc>
                <a:spcPct val="90000"/>
              </a:lnSpc>
              <a:spcBef>
                <a:spcPct val="0"/>
              </a:spcBef>
              <a:buFontTx/>
              <a:buNone/>
            </a:pPr>
            <a:r>
              <a:rPr lang="en-US" altLang="zh-CN" sz="2200" b="1" dirty="0">
                <a:solidFill>
                  <a:srgbClr val="0033CC"/>
                </a:solidFill>
                <a:latin typeface="宋体" pitchFamily="2" charset="-122"/>
              </a:rPr>
              <a:t>2.(j,-,-,14)</a:t>
            </a:r>
            <a:endParaRPr lang="en-US" altLang="zh-CN" sz="2200" b="1" dirty="0">
              <a:solidFill>
                <a:srgbClr val="0033CC"/>
              </a:solidFill>
              <a:latin typeface="Times New Roman" pitchFamily="18" charset="0"/>
              <a:cs typeface="Times New Roman" pitchFamily="18" charset="0"/>
            </a:endParaRPr>
          </a:p>
          <a:p>
            <a:pPr algn="just">
              <a:lnSpc>
                <a:spcPct val="90000"/>
              </a:lnSpc>
              <a:spcBef>
                <a:spcPct val="0"/>
              </a:spcBef>
              <a:buFontTx/>
              <a:buNone/>
            </a:pPr>
            <a:r>
              <a:rPr lang="en-US" altLang="zh-CN" sz="2200" b="1" dirty="0">
                <a:solidFill>
                  <a:srgbClr val="0033CC"/>
                </a:solidFill>
                <a:latin typeface="宋体" pitchFamily="2" charset="-122"/>
              </a:rPr>
              <a:t>3.(j&lt;,B,D,5)</a:t>
            </a:r>
            <a:endParaRPr lang="en-US" altLang="zh-CN" sz="2200" b="1" dirty="0">
              <a:solidFill>
                <a:srgbClr val="0033CC"/>
              </a:solidFill>
              <a:latin typeface="Times New Roman" pitchFamily="18" charset="0"/>
              <a:cs typeface="Times New Roman" pitchFamily="18" charset="0"/>
            </a:endParaRPr>
          </a:p>
          <a:p>
            <a:pPr algn="just">
              <a:lnSpc>
                <a:spcPct val="90000"/>
              </a:lnSpc>
              <a:spcBef>
                <a:spcPct val="0"/>
              </a:spcBef>
              <a:buFontTx/>
              <a:buNone/>
            </a:pPr>
            <a:r>
              <a:rPr lang="en-US" altLang="zh-CN" sz="2200" b="1" dirty="0">
                <a:solidFill>
                  <a:srgbClr val="0033CC"/>
                </a:solidFill>
                <a:latin typeface="宋体" pitchFamily="2" charset="-122"/>
              </a:rPr>
              <a:t>4.(j,-,-,14)</a:t>
            </a:r>
            <a:endParaRPr lang="en-US" altLang="zh-CN" sz="2200" b="1" dirty="0">
              <a:solidFill>
                <a:srgbClr val="0033CC"/>
              </a:solidFill>
              <a:latin typeface="Times New Roman" pitchFamily="18" charset="0"/>
              <a:cs typeface="Times New Roman" pitchFamily="18" charset="0"/>
            </a:endParaRPr>
          </a:p>
          <a:p>
            <a:pPr algn="just">
              <a:lnSpc>
                <a:spcPct val="90000"/>
              </a:lnSpc>
              <a:spcBef>
                <a:spcPct val="0"/>
              </a:spcBef>
              <a:buFontTx/>
              <a:buNone/>
            </a:pPr>
            <a:r>
              <a:rPr lang="fr-FR" altLang="zh-CN" sz="2200" b="1" dirty="0">
                <a:solidFill>
                  <a:srgbClr val="0033CC"/>
                </a:solidFill>
                <a:latin typeface="宋体" pitchFamily="2" charset="-122"/>
              </a:rPr>
              <a:t>5.(j=,A,1,7)</a:t>
            </a:r>
            <a:endParaRPr lang="en-US" altLang="zh-CN" sz="2200" b="1" dirty="0">
              <a:solidFill>
                <a:srgbClr val="0033CC"/>
              </a:solidFill>
              <a:latin typeface="Times New Roman" pitchFamily="18" charset="0"/>
              <a:cs typeface="Times New Roman" pitchFamily="18" charset="0"/>
            </a:endParaRPr>
          </a:p>
          <a:p>
            <a:pPr algn="just">
              <a:lnSpc>
                <a:spcPct val="90000"/>
              </a:lnSpc>
              <a:spcBef>
                <a:spcPct val="0"/>
              </a:spcBef>
              <a:buFontTx/>
              <a:buNone/>
            </a:pPr>
            <a:r>
              <a:rPr lang="fr-FR" altLang="zh-CN" sz="2200" b="1" dirty="0">
                <a:solidFill>
                  <a:srgbClr val="0033CC"/>
                </a:solidFill>
                <a:latin typeface="宋体" pitchFamily="2" charset="-122"/>
              </a:rPr>
              <a:t>6.(j,-,-,10) </a:t>
            </a:r>
            <a:endParaRPr lang="en-US" altLang="zh-CN" sz="2200" b="1" dirty="0">
              <a:solidFill>
                <a:srgbClr val="0033CC"/>
              </a:solidFill>
              <a:latin typeface="Times New Roman" pitchFamily="18" charset="0"/>
              <a:cs typeface="Times New Roman" pitchFamily="18" charset="0"/>
            </a:endParaRPr>
          </a:p>
          <a:p>
            <a:pPr algn="just">
              <a:lnSpc>
                <a:spcPct val="90000"/>
              </a:lnSpc>
              <a:spcBef>
                <a:spcPct val="0"/>
              </a:spcBef>
              <a:buFontTx/>
              <a:buNone/>
            </a:pPr>
            <a:r>
              <a:rPr lang="fr-FR" altLang="zh-CN" sz="2200" b="1" dirty="0">
                <a:solidFill>
                  <a:srgbClr val="0033CC"/>
                </a:solidFill>
                <a:latin typeface="宋体" pitchFamily="2" charset="-122"/>
              </a:rPr>
              <a:t>7.(+,C,1,T</a:t>
            </a:r>
            <a:r>
              <a:rPr lang="fr-FR" altLang="zh-CN" sz="2200" b="1" baseline="-30000" dirty="0">
                <a:solidFill>
                  <a:srgbClr val="0033CC"/>
                </a:solidFill>
                <a:latin typeface="宋体" pitchFamily="2" charset="-122"/>
              </a:rPr>
              <a:t>1</a:t>
            </a:r>
            <a:r>
              <a:rPr lang="fr-FR" altLang="zh-CN" sz="2200" b="1" dirty="0">
                <a:solidFill>
                  <a:srgbClr val="0033CC"/>
                </a:solidFill>
                <a:latin typeface="宋体" pitchFamily="2" charset="-122"/>
              </a:rPr>
              <a:t>) </a:t>
            </a:r>
            <a:endParaRPr lang="en-US" altLang="zh-CN" sz="2200" b="1" dirty="0">
              <a:solidFill>
                <a:srgbClr val="0033CC"/>
              </a:solidFill>
              <a:latin typeface="Times New Roman" pitchFamily="18" charset="0"/>
              <a:cs typeface="Times New Roman" pitchFamily="18" charset="0"/>
            </a:endParaRPr>
          </a:p>
          <a:p>
            <a:pPr algn="just">
              <a:lnSpc>
                <a:spcPct val="90000"/>
              </a:lnSpc>
              <a:spcBef>
                <a:spcPct val="0"/>
              </a:spcBef>
              <a:buFontTx/>
              <a:buNone/>
            </a:pPr>
            <a:r>
              <a:rPr lang="fr-FR" altLang="zh-CN" sz="2200" b="1" dirty="0">
                <a:solidFill>
                  <a:srgbClr val="0033CC"/>
                </a:solidFill>
                <a:latin typeface="宋体" pitchFamily="2" charset="-122"/>
              </a:rPr>
              <a:t>8.(=,T</a:t>
            </a:r>
            <a:r>
              <a:rPr lang="fr-FR" altLang="zh-CN" sz="2200" b="1" baseline="-30000" dirty="0">
                <a:solidFill>
                  <a:srgbClr val="0033CC"/>
                </a:solidFill>
                <a:latin typeface="宋体" pitchFamily="2" charset="-122"/>
              </a:rPr>
              <a:t>1</a:t>
            </a:r>
            <a:r>
              <a:rPr lang="fr-FR" altLang="zh-CN" sz="2200" b="1" dirty="0">
                <a:solidFill>
                  <a:srgbClr val="0033CC"/>
                </a:solidFill>
                <a:latin typeface="宋体" pitchFamily="2" charset="-122"/>
              </a:rPr>
              <a:t>,-,C) </a:t>
            </a:r>
            <a:endParaRPr lang="en-US" altLang="zh-CN" sz="2200" b="1" dirty="0">
              <a:solidFill>
                <a:srgbClr val="0033CC"/>
              </a:solidFill>
              <a:latin typeface="Times New Roman" pitchFamily="18" charset="0"/>
              <a:cs typeface="Times New Roman" pitchFamily="18" charset="0"/>
            </a:endParaRPr>
          </a:p>
          <a:p>
            <a:pPr algn="just">
              <a:lnSpc>
                <a:spcPct val="90000"/>
              </a:lnSpc>
              <a:spcBef>
                <a:spcPct val="0"/>
              </a:spcBef>
              <a:buFontTx/>
              <a:buNone/>
            </a:pPr>
            <a:r>
              <a:rPr lang="fr-FR" altLang="zh-CN" sz="2200" b="1" dirty="0">
                <a:solidFill>
                  <a:srgbClr val="0033CC"/>
                </a:solidFill>
                <a:latin typeface="宋体" pitchFamily="2" charset="-122"/>
              </a:rPr>
              <a:t>9.(j,-,-,14)</a:t>
            </a:r>
          </a:p>
          <a:p>
            <a:pPr algn="just">
              <a:lnSpc>
                <a:spcPct val="90000"/>
              </a:lnSpc>
              <a:spcBef>
                <a:spcPct val="0"/>
              </a:spcBef>
              <a:buFontTx/>
              <a:buNone/>
            </a:pPr>
            <a:r>
              <a:rPr lang="fr-FR" altLang="zh-CN" sz="2200" b="1" dirty="0">
                <a:solidFill>
                  <a:srgbClr val="0033CC"/>
                </a:solidFill>
                <a:latin typeface="宋体" pitchFamily="2" charset="-122"/>
              </a:rPr>
              <a:t>10.(j&lt;=,A,D,12) </a:t>
            </a:r>
            <a:endParaRPr lang="en-US" altLang="zh-CN" sz="2200" b="1" dirty="0">
              <a:solidFill>
                <a:srgbClr val="0033CC"/>
              </a:solidFill>
              <a:latin typeface="Times New Roman" pitchFamily="18" charset="0"/>
              <a:cs typeface="Times New Roman" pitchFamily="18" charset="0"/>
            </a:endParaRPr>
          </a:p>
          <a:p>
            <a:pPr algn="just">
              <a:lnSpc>
                <a:spcPct val="90000"/>
              </a:lnSpc>
              <a:spcBef>
                <a:spcPct val="0"/>
              </a:spcBef>
              <a:buFontTx/>
              <a:buNone/>
            </a:pPr>
            <a:r>
              <a:rPr lang="fr-FR" altLang="zh-CN" sz="2200" b="1" dirty="0">
                <a:solidFill>
                  <a:srgbClr val="0033CC"/>
                </a:solidFill>
                <a:latin typeface="宋体" pitchFamily="2" charset="-122"/>
              </a:rPr>
              <a:t>11.(j,-,-,14)</a:t>
            </a:r>
            <a:endParaRPr lang="en-US" altLang="zh-CN" sz="2200" b="1" dirty="0">
              <a:solidFill>
                <a:srgbClr val="0033CC"/>
              </a:solidFill>
              <a:latin typeface="Times New Roman" pitchFamily="18" charset="0"/>
              <a:cs typeface="Times New Roman" pitchFamily="18" charset="0"/>
            </a:endParaRPr>
          </a:p>
          <a:p>
            <a:pPr algn="just">
              <a:lnSpc>
                <a:spcPct val="90000"/>
              </a:lnSpc>
              <a:spcBef>
                <a:spcPct val="0"/>
              </a:spcBef>
              <a:buFontTx/>
              <a:buNone/>
            </a:pPr>
            <a:r>
              <a:rPr lang="fr-FR" altLang="zh-CN" sz="2200" b="1" dirty="0">
                <a:solidFill>
                  <a:srgbClr val="0033CC"/>
                </a:solidFill>
                <a:latin typeface="宋体" pitchFamily="2" charset="-122"/>
              </a:rPr>
              <a:t>12.(+,A,2,T</a:t>
            </a:r>
            <a:r>
              <a:rPr lang="fr-FR" altLang="zh-CN" sz="2200" b="1" baseline="-30000" dirty="0">
                <a:solidFill>
                  <a:srgbClr val="0033CC"/>
                </a:solidFill>
                <a:latin typeface="宋体" pitchFamily="2" charset="-122"/>
              </a:rPr>
              <a:t>2</a:t>
            </a:r>
            <a:r>
              <a:rPr lang="fr-FR" altLang="zh-CN" sz="2200" b="1" dirty="0">
                <a:solidFill>
                  <a:srgbClr val="0033CC"/>
                </a:solidFill>
                <a:latin typeface="宋体" pitchFamily="2" charset="-122"/>
              </a:rPr>
              <a:t>) </a:t>
            </a:r>
            <a:endParaRPr lang="en-US" altLang="zh-CN" sz="2200" b="1" dirty="0">
              <a:solidFill>
                <a:srgbClr val="0033CC"/>
              </a:solidFill>
              <a:latin typeface="Times New Roman" pitchFamily="18" charset="0"/>
              <a:cs typeface="Times New Roman" pitchFamily="18" charset="0"/>
            </a:endParaRPr>
          </a:p>
          <a:p>
            <a:pPr algn="just">
              <a:lnSpc>
                <a:spcPct val="90000"/>
              </a:lnSpc>
              <a:spcBef>
                <a:spcPct val="0"/>
              </a:spcBef>
              <a:buFontTx/>
              <a:buNone/>
            </a:pPr>
            <a:r>
              <a:rPr lang="fr-FR" altLang="zh-CN" sz="2200" b="1" dirty="0">
                <a:solidFill>
                  <a:srgbClr val="0033CC"/>
                </a:solidFill>
                <a:latin typeface="宋体" pitchFamily="2" charset="-122"/>
              </a:rPr>
              <a:t>13.(=,T</a:t>
            </a:r>
            <a:r>
              <a:rPr lang="fr-FR" altLang="zh-CN" sz="2200" b="1" baseline="-30000" dirty="0">
                <a:solidFill>
                  <a:srgbClr val="0033CC"/>
                </a:solidFill>
                <a:latin typeface="宋体" pitchFamily="2" charset="-122"/>
              </a:rPr>
              <a:t>2,</a:t>
            </a:r>
            <a:r>
              <a:rPr lang="fr-FR" altLang="zh-CN" sz="2200" b="1" dirty="0">
                <a:solidFill>
                  <a:srgbClr val="0033CC"/>
                </a:solidFill>
                <a:latin typeface="宋体" pitchFamily="2" charset="-122"/>
              </a:rPr>
              <a:t>-,A)</a:t>
            </a:r>
            <a:endParaRPr lang="en-US" altLang="zh-CN" sz="2200" b="1" dirty="0">
              <a:solidFill>
                <a:srgbClr val="0033CC"/>
              </a:solidFill>
              <a:latin typeface="Times New Roman" pitchFamily="18" charset="0"/>
              <a:cs typeface="Times New Roman" pitchFamily="18" charset="0"/>
            </a:endParaRPr>
          </a:p>
          <a:p>
            <a:pPr>
              <a:lnSpc>
                <a:spcPct val="90000"/>
              </a:lnSpc>
              <a:spcBef>
                <a:spcPct val="0"/>
              </a:spcBef>
              <a:buFontTx/>
              <a:buNone/>
            </a:pPr>
            <a:r>
              <a:rPr lang="fr-FR" altLang="zh-CN" sz="2200" b="1" dirty="0">
                <a:solidFill>
                  <a:srgbClr val="0033CC"/>
                </a:solidFill>
                <a:latin typeface="宋体" pitchFamily="2" charset="-122"/>
              </a:rPr>
              <a:t>14.</a:t>
            </a:r>
            <a:r>
              <a:rPr lang="en-US" altLang="zh-CN" sz="2200" b="1" dirty="0">
                <a:solidFill>
                  <a:srgbClr val="0033CC"/>
                </a:solidFill>
              </a:rPr>
              <a:t> </a:t>
            </a:r>
          </a:p>
        </p:txBody>
      </p:sp>
      <p:graphicFrame>
        <p:nvGraphicFramePr>
          <p:cNvPr id="95236" name="Object 2"/>
          <p:cNvGraphicFramePr>
            <a:graphicFrameLocks noChangeAspect="1"/>
          </p:cNvGraphicFramePr>
          <p:nvPr/>
        </p:nvGraphicFramePr>
        <p:xfrm>
          <a:off x="5961064" y="1059656"/>
          <a:ext cx="3182937" cy="3973116"/>
        </p:xfrm>
        <a:graphic>
          <a:graphicData uri="http://schemas.openxmlformats.org/presentationml/2006/ole">
            <mc:AlternateContent xmlns:mc="http://schemas.openxmlformats.org/markup-compatibility/2006">
              <mc:Choice xmlns:v="urn:schemas-microsoft-com:vml" Requires="v">
                <p:oleObj spid="_x0000_s30725" name="BMP 图像" r:id="rId4" imgW="0" imgH="0" progId="Paint.Picture">
                  <p:embed/>
                </p:oleObj>
              </mc:Choice>
              <mc:Fallback>
                <p:oleObj name="BMP 图像" r:id="rId4" imgW="0" imgH="0" progId="Paint.Picture">
                  <p:embed/>
                  <p:pic>
                    <p:nvPicPr>
                      <p:cNvPr id="95236"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61064" y="1059656"/>
                        <a:ext cx="3182937" cy="3973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5477" name="Rectangle 3"/>
          <p:cNvSpPr>
            <a:spLocks noGrp="1" noChangeArrowheads="1"/>
          </p:cNvSpPr>
          <p:nvPr>
            <p:ph type="body" sz="half" idx="1"/>
          </p:nvPr>
        </p:nvSpPr>
        <p:spPr>
          <a:xfrm>
            <a:off x="2771800" y="555526"/>
            <a:ext cx="3600400" cy="1528763"/>
          </a:xfrm>
        </p:spPr>
        <p:txBody>
          <a:bodyPr>
            <a:normAutofit fontScale="92500" lnSpcReduction="10000"/>
          </a:bodyPr>
          <a:lstStyle/>
          <a:p>
            <a:pPr marL="0" indent="0" algn="just" eaLnBrk="1" hangingPunct="1">
              <a:spcBef>
                <a:spcPct val="0"/>
              </a:spcBef>
              <a:buFontTx/>
              <a:buNone/>
            </a:pPr>
            <a:r>
              <a:rPr lang="fr-FR" altLang="zh-CN" sz="2800" dirty="0">
                <a:solidFill>
                  <a:srgbClr val="000000"/>
                </a:solidFill>
                <a:latin typeface="Times New Roman" pitchFamily="18" charset="0"/>
              </a:rPr>
              <a:t>if ( (A&lt;C)  &amp;&amp; (B&lt;D)) </a:t>
            </a:r>
            <a:endParaRPr lang="en-US" altLang="zh-CN" sz="2800" dirty="0">
              <a:latin typeface="Times New Roman" pitchFamily="18" charset="0"/>
            </a:endParaRPr>
          </a:p>
          <a:p>
            <a:pPr marL="0" indent="0" algn="just" eaLnBrk="1" hangingPunct="1">
              <a:spcBef>
                <a:spcPct val="0"/>
              </a:spcBef>
              <a:buFontTx/>
              <a:buNone/>
            </a:pPr>
            <a:r>
              <a:rPr lang="fr-FR" altLang="zh-CN" sz="2800" dirty="0">
                <a:solidFill>
                  <a:srgbClr val="000000"/>
                </a:solidFill>
                <a:latin typeface="Times New Roman" pitchFamily="18" charset="0"/>
              </a:rPr>
              <a:t>      if (A==1)  C=C+1;</a:t>
            </a:r>
            <a:endParaRPr lang="en-US" altLang="zh-CN" sz="2800" dirty="0">
              <a:latin typeface="Times New Roman" pitchFamily="18" charset="0"/>
            </a:endParaRPr>
          </a:p>
          <a:p>
            <a:pPr marL="0" indent="0" eaLnBrk="1" hangingPunct="1">
              <a:spcBef>
                <a:spcPct val="0"/>
              </a:spcBef>
              <a:buFontTx/>
              <a:buNone/>
            </a:pPr>
            <a:r>
              <a:rPr lang="fr-FR" altLang="zh-CN" sz="2800" dirty="0">
                <a:solidFill>
                  <a:srgbClr val="000000"/>
                </a:solidFill>
              </a:rPr>
              <a:t>     </a:t>
            </a:r>
            <a:r>
              <a:rPr lang="en-US" altLang="zh-CN" sz="2800" dirty="0">
                <a:solidFill>
                  <a:srgbClr val="000000"/>
                </a:solidFill>
              </a:rPr>
              <a:t>else  if (A≤D) A=A+2;</a:t>
            </a:r>
            <a:r>
              <a:rPr lang="en-US" altLang="zh-CN" sz="2800" dirty="0"/>
              <a:t> </a:t>
            </a:r>
          </a:p>
        </p:txBody>
      </p:sp>
    </p:spTree>
    <p:extLst>
      <p:ext uri="{BB962C8B-B14F-4D97-AF65-F5344CB8AC3E}">
        <p14:creationId xmlns:p14="http://schemas.microsoft.com/office/powerpoint/2010/main" val="16420381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523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54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99" grpId="0" animBg="1" autoUpdateAnimBg="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041258"/>
            <a:ext cx="7332457" cy="1446550"/>
          </a:xfrm>
          <a:prstGeom prst="rect">
            <a:avLst/>
          </a:prstGeom>
        </p:spPr>
        <p:txBody>
          <a:bodyPr wrap="non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、常见语句的语法制导翻译</a:t>
            </a:r>
            <a:endParaRPr lang="en-US" altLang="zh-CN" sz="4400" b="1" dirty="0">
              <a:solidFill>
                <a:srgbClr val="CC0099"/>
              </a:solidFill>
              <a:ea typeface="隶书" pitchFamily="49" charset="-122"/>
            </a:endParaRPr>
          </a:p>
          <a:p>
            <a:r>
              <a:rPr lang="en-US" altLang="zh-CN" sz="4400" b="1" dirty="0">
                <a:solidFill>
                  <a:srgbClr val="CC0099"/>
                </a:solidFill>
                <a:ea typeface="隶书" pitchFamily="49" charset="-122"/>
              </a:rPr>
              <a:t>    </a:t>
            </a:r>
            <a:r>
              <a:rPr lang="en-US" altLang="zh-CN" sz="3600" b="1" dirty="0">
                <a:solidFill>
                  <a:srgbClr val="CC0099"/>
                </a:solidFill>
                <a:ea typeface="隶书" pitchFamily="49" charset="-122"/>
              </a:rPr>
              <a:t>——do while</a:t>
            </a:r>
            <a:r>
              <a:rPr lang="zh-CN" altLang="en-US" sz="3600" b="1" dirty="0">
                <a:solidFill>
                  <a:srgbClr val="CC0099"/>
                </a:solidFill>
                <a:ea typeface="隶书" pitchFamily="49" charset="-122"/>
              </a:rPr>
              <a:t>语句的翻译</a:t>
            </a:r>
            <a:endParaRPr lang="zh-CN" altLang="en-US" sz="4400" b="1" dirty="0">
              <a:solidFill>
                <a:srgbClr val="CC0099"/>
              </a:solidFill>
              <a:ea typeface="隶书" pitchFamily="49" charset="-122"/>
            </a:endParaRPr>
          </a:p>
        </p:txBody>
      </p:sp>
    </p:spTree>
    <p:extLst>
      <p:ext uri="{BB962C8B-B14F-4D97-AF65-F5344CB8AC3E}">
        <p14:creationId xmlns:p14="http://schemas.microsoft.com/office/powerpoint/2010/main" val="167948039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299794" y="26674"/>
            <a:ext cx="4560238" cy="628650"/>
          </a:xfrm>
        </p:spPr>
        <p:txBody>
          <a:bodyPr>
            <a:normAutofit fontScale="90000"/>
          </a:bodyPr>
          <a:lstStyle/>
          <a:p>
            <a:pPr eaLnBrk="1" hangingPunct="1"/>
            <a:r>
              <a:rPr lang="en-US" altLang="zh-CN" sz="4000" b="1" dirty="0"/>
              <a:t>Do while</a:t>
            </a:r>
            <a:r>
              <a:rPr lang="zh-CN" altLang="en-US" sz="4000" b="1" dirty="0"/>
              <a:t>语句的翻译</a:t>
            </a:r>
          </a:p>
        </p:txBody>
      </p:sp>
      <p:sp>
        <p:nvSpPr>
          <p:cNvPr id="106499" name="Rectangle 3"/>
          <p:cNvSpPr>
            <a:spLocks noGrp="1" noChangeArrowheads="1"/>
          </p:cNvSpPr>
          <p:nvPr>
            <p:ph type="body" sz="half" idx="1"/>
          </p:nvPr>
        </p:nvSpPr>
        <p:spPr>
          <a:xfrm>
            <a:off x="180520" y="990560"/>
            <a:ext cx="4038600" cy="457200"/>
          </a:xfrm>
        </p:spPr>
        <p:txBody>
          <a:bodyPr>
            <a:normAutofit fontScale="92500" lnSpcReduction="10000"/>
          </a:bodyPr>
          <a:lstStyle/>
          <a:p>
            <a:pPr eaLnBrk="1" hangingPunct="1"/>
            <a:r>
              <a:rPr lang="en-US" altLang="zh-CN" sz="2800" b="1" dirty="0">
                <a:solidFill>
                  <a:srgbClr val="0033CC"/>
                </a:solidFill>
              </a:rPr>
              <a:t>1. </a:t>
            </a:r>
            <a:r>
              <a:rPr lang="zh-CN" altLang="en-US" sz="2800" b="1" dirty="0">
                <a:solidFill>
                  <a:srgbClr val="0033CC"/>
                </a:solidFill>
              </a:rPr>
              <a:t>文法描述</a:t>
            </a:r>
          </a:p>
        </p:txBody>
      </p:sp>
      <p:sp>
        <p:nvSpPr>
          <p:cNvPr id="161798" name="Text Box 6"/>
          <p:cNvSpPr txBox="1">
            <a:spLocks noChangeArrowheads="1"/>
          </p:cNvSpPr>
          <p:nvPr/>
        </p:nvSpPr>
        <p:spPr bwMode="auto">
          <a:xfrm>
            <a:off x="6173625" y="2745520"/>
            <a:ext cx="2502831"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10000"/>
              </a:spcBef>
              <a:buFontTx/>
              <a:buNone/>
            </a:pPr>
            <a:r>
              <a:rPr lang="en-US" altLang="zh-CN" sz="2400" b="1" dirty="0">
                <a:solidFill>
                  <a:srgbClr val="FF0000"/>
                </a:solidFill>
              </a:rPr>
              <a:t>do {</a:t>
            </a:r>
          </a:p>
          <a:p>
            <a:pPr eaLnBrk="1" hangingPunct="1">
              <a:lnSpc>
                <a:spcPct val="100000"/>
              </a:lnSpc>
              <a:spcBef>
                <a:spcPct val="10000"/>
              </a:spcBef>
              <a:buFontTx/>
              <a:buNone/>
            </a:pPr>
            <a:r>
              <a:rPr lang="en-US" altLang="zh-CN" sz="2400" b="1" dirty="0">
                <a:solidFill>
                  <a:srgbClr val="FF0000"/>
                </a:solidFill>
              </a:rPr>
              <a:t>         x=3+a;</a:t>
            </a:r>
          </a:p>
          <a:p>
            <a:pPr>
              <a:spcBef>
                <a:spcPct val="10000"/>
              </a:spcBef>
            </a:pPr>
            <a:r>
              <a:rPr lang="en-US" altLang="zh-CN" sz="2400" b="1" dirty="0">
                <a:solidFill>
                  <a:srgbClr val="FF0000"/>
                </a:solidFill>
              </a:rPr>
              <a:t>     }while (a&gt;b); </a:t>
            </a:r>
          </a:p>
        </p:txBody>
      </p:sp>
      <p:graphicFrame>
        <p:nvGraphicFramePr>
          <p:cNvPr id="8" name="表格 7"/>
          <p:cNvGraphicFramePr>
            <a:graphicFrameLocks noGrp="1"/>
          </p:cNvGraphicFramePr>
          <p:nvPr>
            <p:extLst>
              <p:ext uri="{D42A27DB-BD31-4B8C-83A1-F6EECF244321}">
                <p14:modId xmlns:p14="http://schemas.microsoft.com/office/powerpoint/2010/main" val="1787401946"/>
              </p:ext>
            </p:extLst>
          </p:nvPr>
        </p:nvGraphicFramePr>
        <p:xfrm>
          <a:off x="1187624" y="3147814"/>
          <a:ext cx="2376263" cy="1097280"/>
        </p:xfrm>
        <a:graphic>
          <a:graphicData uri="http://schemas.openxmlformats.org/drawingml/2006/table">
            <a:tbl>
              <a:tblPr/>
              <a:tblGrid>
                <a:gridCol w="2376263">
                  <a:extLst>
                    <a:ext uri="{9D8B030D-6E8A-4147-A177-3AD203B41FA5}">
                      <a16:colId xmlns:a16="http://schemas.microsoft.com/office/drawing/2014/main" val="20000"/>
                    </a:ext>
                  </a:extLst>
                </a:gridCol>
              </a:tblGrid>
              <a:tr h="359966">
                <a:tc>
                  <a:txBody>
                    <a:bodyPr/>
                    <a:lstStyle/>
                    <a:p>
                      <a:pPr algn="just">
                        <a:spcAft>
                          <a:spcPts val="0"/>
                        </a:spcAft>
                      </a:pPr>
                      <a:r>
                        <a:rPr lang="en-US" sz="2400" kern="100" dirty="0" err="1">
                          <a:latin typeface="Times New Roman"/>
                          <a:ea typeface="宋体"/>
                          <a:cs typeface="Times New Roman"/>
                        </a:rPr>
                        <a:t>D→do</a:t>
                      </a:r>
                      <a:endParaRPr lang="zh-CN" sz="2400" kern="100" dirty="0">
                        <a:latin typeface="Times New Roman"/>
                        <a:ea typeface="宋体"/>
                        <a:cs typeface="Times New Roman"/>
                      </a:endParaRPr>
                    </a:p>
                  </a:txBody>
                  <a:tcPr marL="68592" marR="68592"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0EBB3"/>
                    </a:solidFill>
                  </a:tcPr>
                </a:tc>
                <a:extLst>
                  <a:ext uri="{0D108BD9-81ED-4DB2-BD59-A6C34878D82A}">
                    <a16:rowId xmlns:a16="http://schemas.microsoft.com/office/drawing/2014/main" val="10000"/>
                  </a:ext>
                </a:extLst>
              </a:tr>
              <a:tr h="359966">
                <a:tc>
                  <a:txBody>
                    <a:bodyPr/>
                    <a:lstStyle/>
                    <a:p>
                      <a:pPr algn="just">
                        <a:spcAft>
                          <a:spcPts val="0"/>
                        </a:spcAft>
                      </a:pPr>
                      <a:r>
                        <a:rPr lang="en-US" sz="2400" kern="100" dirty="0">
                          <a:latin typeface="Times New Roman"/>
                          <a:ea typeface="宋体"/>
                          <a:cs typeface="Times New Roman"/>
                        </a:rPr>
                        <a:t>U→D S</a:t>
                      </a:r>
                      <a:r>
                        <a:rPr lang="en-US" sz="2400" kern="100" baseline="30000" dirty="0">
                          <a:latin typeface="Times New Roman"/>
                          <a:ea typeface="宋体"/>
                          <a:cs typeface="Times New Roman"/>
                        </a:rPr>
                        <a:t>(1)</a:t>
                      </a:r>
                      <a:r>
                        <a:rPr lang="en-US" sz="2400" kern="100" dirty="0">
                          <a:latin typeface="Times New Roman"/>
                          <a:ea typeface="宋体"/>
                          <a:cs typeface="Times New Roman"/>
                        </a:rPr>
                        <a:t> while</a:t>
                      </a:r>
                      <a:endParaRPr lang="zh-CN" sz="2400" kern="100" dirty="0">
                        <a:latin typeface="Times New Roman"/>
                        <a:ea typeface="宋体"/>
                        <a:cs typeface="Times New Roman"/>
                      </a:endParaRPr>
                    </a:p>
                  </a:txBody>
                  <a:tcPr marL="68592" marR="68592"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0EBB3"/>
                    </a:solidFill>
                  </a:tcPr>
                </a:tc>
                <a:extLst>
                  <a:ext uri="{0D108BD9-81ED-4DB2-BD59-A6C34878D82A}">
                    <a16:rowId xmlns:a16="http://schemas.microsoft.com/office/drawing/2014/main" val="10001"/>
                  </a:ext>
                </a:extLst>
              </a:tr>
              <a:tr h="359966">
                <a:tc>
                  <a:txBody>
                    <a:bodyPr/>
                    <a:lstStyle/>
                    <a:p>
                      <a:pPr algn="just">
                        <a:spcAft>
                          <a:spcPts val="0"/>
                        </a:spcAft>
                      </a:pPr>
                      <a:r>
                        <a:rPr lang="en-US" sz="2400" kern="100" dirty="0">
                          <a:latin typeface="Times New Roman"/>
                          <a:ea typeface="宋体"/>
                          <a:cs typeface="Times New Roman"/>
                        </a:rPr>
                        <a:t>S→U E</a:t>
                      </a:r>
                      <a:endParaRPr lang="zh-CN" sz="2400" kern="100" dirty="0">
                        <a:latin typeface="Times New Roman"/>
                        <a:ea typeface="宋体"/>
                        <a:cs typeface="Times New Roman"/>
                      </a:endParaRPr>
                    </a:p>
                  </a:txBody>
                  <a:tcPr marL="68592" marR="68592"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0EBB3"/>
                    </a:solidFill>
                  </a:tcPr>
                </a:tc>
                <a:extLst>
                  <a:ext uri="{0D108BD9-81ED-4DB2-BD59-A6C34878D82A}">
                    <a16:rowId xmlns:a16="http://schemas.microsoft.com/office/drawing/2014/main" val="10002"/>
                  </a:ext>
                </a:extLst>
              </a:tr>
            </a:tbl>
          </a:graphicData>
        </a:graphic>
      </p:graphicFrame>
      <p:sp>
        <p:nvSpPr>
          <p:cNvPr id="106512" name="矩形 8"/>
          <p:cNvSpPr>
            <a:spLocks noChangeArrowheads="1"/>
          </p:cNvSpPr>
          <p:nvPr/>
        </p:nvSpPr>
        <p:spPr bwMode="auto">
          <a:xfrm>
            <a:off x="6372200" y="502880"/>
            <a:ext cx="2520280" cy="52322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10000"/>
              </a:spcBef>
            </a:pPr>
            <a:r>
              <a:rPr lang="en-US" altLang="zh-CN" sz="2800" dirty="0"/>
              <a:t>do S while (E);</a:t>
            </a:r>
            <a:endParaRPr lang="en-US" altLang="zh-CN" sz="2800" b="1" dirty="0"/>
          </a:p>
        </p:txBody>
      </p:sp>
      <p:sp>
        <p:nvSpPr>
          <p:cNvPr id="2" name="矩形 1"/>
          <p:cNvSpPr/>
          <p:nvPr/>
        </p:nvSpPr>
        <p:spPr>
          <a:xfrm>
            <a:off x="565628" y="1563638"/>
            <a:ext cx="7534764" cy="400110"/>
          </a:xfrm>
          <a:prstGeom prst="rect">
            <a:avLst/>
          </a:prstGeom>
        </p:spPr>
        <p:txBody>
          <a:bodyPr wrap="square">
            <a:spAutoFit/>
          </a:bodyPr>
          <a:lstStyle/>
          <a:p>
            <a:r>
              <a:rPr lang="en-US" altLang="zh-CN" sz="2000" dirty="0"/>
              <a:t>&lt;do while</a:t>
            </a:r>
            <a:r>
              <a:rPr lang="zh-CN" altLang="zh-CN" sz="2000" dirty="0"/>
              <a:t>语句</a:t>
            </a:r>
            <a:r>
              <a:rPr lang="en-US" altLang="zh-CN" sz="2000" dirty="0"/>
              <a:t>&gt;</a:t>
            </a:r>
            <a:r>
              <a:rPr lang="zh-CN" altLang="zh-CN" sz="2000" dirty="0"/>
              <a:t>→</a:t>
            </a:r>
            <a:r>
              <a:rPr lang="en-US" altLang="zh-CN" sz="2000" dirty="0"/>
              <a:t>do &lt;</a:t>
            </a:r>
            <a:r>
              <a:rPr lang="zh-CN" altLang="zh-CN" sz="2000" dirty="0"/>
              <a:t>循环用复合语句</a:t>
            </a:r>
            <a:r>
              <a:rPr lang="en-US" altLang="zh-CN" sz="2000" dirty="0"/>
              <a:t>&gt; while (&lt;</a:t>
            </a:r>
            <a:r>
              <a:rPr lang="zh-CN" altLang="zh-CN" sz="2000" dirty="0"/>
              <a:t>表达式</a:t>
            </a:r>
            <a:r>
              <a:rPr lang="en-US" altLang="zh-CN" sz="2000" dirty="0"/>
              <a:t>&gt;);</a:t>
            </a:r>
            <a:endParaRPr lang="zh-CN" altLang="zh-CN" sz="2000" dirty="0"/>
          </a:p>
        </p:txBody>
      </p:sp>
      <p:sp>
        <p:nvSpPr>
          <p:cNvPr id="10" name="矩形 8"/>
          <p:cNvSpPr>
            <a:spLocks noChangeArrowheads="1"/>
          </p:cNvSpPr>
          <p:nvPr/>
        </p:nvSpPr>
        <p:spPr bwMode="auto">
          <a:xfrm>
            <a:off x="899592" y="2122734"/>
            <a:ext cx="3672408" cy="52322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spcBef>
                <a:spcPct val="10000"/>
              </a:spcBef>
            </a:pPr>
            <a:r>
              <a:rPr lang="en-US" altLang="zh-CN" sz="2800" kern="100" dirty="0" err="1">
                <a:latin typeface="Times New Roman"/>
                <a:ea typeface="宋体"/>
                <a:cs typeface="Times New Roman"/>
              </a:rPr>
              <a:t>S→</a:t>
            </a:r>
            <a:r>
              <a:rPr lang="en-US" altLang="zh-CN" sz="2800" dirty="0" err="1"/>
              <a:t>do</a:t>
            </a:r>
            <a:r>
              <a:rPr lang="en-US" altLang="zh-CN" sz="2800" dirty="0"/>
              <a:t> S</a:t>
            </a:r>
            <a:r>
              <a:rPr lang="en-US" altLang="zh-CN" sz="2800" kern="100" baseline="30000" dirty="0">
                <a:latin typeface="Times New Roman"/>
                <a:ea typeface="宋体"/>
                <a:cs typeface="Times New Roman"/>
              </a:rPr>
              <a:t>(1)</a:t>
            </a:r>
            <a:r>
              <a:rPr lang="en-US" altLang="zh-CN" sz="2800" dirty="0"/>
              <a:t> while (E);</a:t>
            </a:r>
            <a:endParaRPr lang="en-US" altLang="zh-CN" sz="2800" b="1" dirty="0"/>
          </a:p>
        </p:txBody>
      </p:sp>
    </p:spTree>
    <p:extLst>
      <p:ext uri="{BB962C8B-B14F-4D97-AF65-F5344CB8AC3E}">
        <p14:creationId xmlns:p14="http://schemas.microsoft.com/office/powerpoint/2010/main" val="1291440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17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6499">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p:bldP spid="161798" grpId="0"/>
      <p:bldP spid="2" grpId="0"/>
      <p:bldP spid="10" grpId="0" animBg="1"/>
    </p:bldLst>
  </p:timing>
</p:sld>
</file>

<file path=ppt/slides/slide1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8490" name="Rectangle 10"/>
          <p:cNvSpPr>
            <a:spLocks noGrp="1" noChangeArrowheads="1"/>
          </p:cNvSpPr>
          <p:nvPr>
            <p:ph type="body" sz="half" idx="1"/>
          </p:nvPr>
        </p:nvSpPr>
        <p:spPr>
          <a:xfrm>
            <a:off x="33115" y="3795886"/>
            <a:ext cx="1842156" cy="971550"/>
          </a:xfrm>
        </p:spPr>
        <p:txBody>
          <a:bodyPr/>
          <a:lstStyle/>
          <a:p>
            <a:pPr marL="374650" indent="-374650" eaLnBrk="1" hangingPunct="1">
              <a:spcBef>
                <a:spcPct val="50000"/>
              </a:spcBef>
            </a:pPr>
            <a:r>
              <a:rPr lang="en-US" altLang="zh-CN" sz="2800" b="1" dirty="0">
                <a:solidFill>
                  <a:srgbClr val="0033CC"/>
                </a:solidFill>
              </a:rPr>
              <a:t>3. </a:t>
            </a:r>
            <a:r>
              <a:rPr lang="zh-CN" altLang="en-US" sz="2800" b="1" dirty="0">
                <a:solidFill>
                  <a:srgbClr val="0033CC"/>
                </a:solidFill>
              </a:rPr>
              <a:t>翻译</a:t>
            </a:r>
          </a:p>
        </p:txBody>
      </p:sp>
      <p:graphicFrame>
        <p:nvGraphicFramePr>
          <p:cNvPr id="9" name="内容占位符 8"/>
          <p:cNvGraphicFramePr>
            <a:graphicFrameLocks noGrp="1"/>
          </p:cNvGraphicFramePr>
          <p:nvPr>
            <p:ph sz="quarter" idx="2"/>
            <p:extLst>
              <p:ext uri="{D42A27DB-BD31-4B8C-83A1-F6EECF244321}">
                <p14:modId xmlns:p14="http://schemas.microsoft.com/office/powerpoint/2010/main" val="259347157"/>
              </p:ext>
            </p:extLst>
          </p:nvPr>
        </p:nvGraphicFramePr>
        <p:xfrm>
          <a:off x="2160304" y="2661184"/>
          <a:ext cx="6480719" cy="2244710"/>
        </p:xfrm>
        <a:graphic>
          <a:graphicData uri="http://schemas.openxmlformats.org/drawingml/2006/table">
            <a:tbl>
              <a:tblPr/>
              <a:tblGrid>
                <a:gridCol w="792087">
                  <a:extLst>
                    <a:ext uri="{9D8B030D-6E8A-4147-A177-3AD203B41FA5}">
                      <a16:colId xmlns:a16="http://schemas.microsoft.com/office/drawing/2014/main" val="20000"/>
                    </a:ext>
                  </a:extLst>
                </a:gridCol>
                <a:gridCol w="1728192">
                  <a:extLst>
                    <a:ext uri="{9D8B030D-6E8A-4147-A177-3AD203B41FA5}">
                      <a16:colId xmlns:a16="http://schemas.microsoft.com/office/drawing/2014/main" val="20001"/>
                    </a:ext>
                  </a:extLst>
                </a:gridCol>
                <a:gridCol w="3960440">
                  <a:extLst>
                    <a:ext uri="{9D8B030D-6E8A-4147-A177-3AD203B41FA5}">
                      <a16:colId xmlns:a16="http://schemas.microsoft.com/office/drawing/2014/main" val="20002"/>
                    </a:ext>
                  </a:extLst>
                </a:gridCol>
              </a:tblGrid>
              <a:tr h="460334">
                <a:tc>
                  <a:txBody>
                    <a:bodyPr/>
                    <a:lstStyle/>
                    <a:p>
                      <a:pPr algn="just">
                        <a:spcAft>
                          <a:spcPts val="0"/>
                        </a:spcAft>
                      </a:pPr>
                      <a:r>
                        <a:rPr lang="zh-CN" sz="2000" kern="100" dirty="0">
                          <a:latin typeface="Times New Roman"/>
                          <a:ea typeface="宋体"/>
                          <a:cs typeface="Times New Roman"/>
                        </a:rPr>
                        <a:t>编号</a:t>
                      </a:r>
                    </a:p>
                  </a:txBody>
                  <a:tcPr marL="68577" marR="68577"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just">
                        <a:spcAft>
                          <a:spcPts val="0"/>
                        </a:spcAft>
                      </a:pPr>
                      <a:r>
                        <a:rPr lang="zh-CN" sz="2000" kern="100" dirty="0">
                          <a:latin typeface="Times New Roman"/>
                          <a:ea typeface="宋体"/>
                          <a:cs typeface="Times New Roman"/>
                        </a:rPr>
                        <a:t>产生式</a:t>
                      </a: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zh-CN" sz="2000" kern="100" dirty="0">
                          <a:latin typeface="Times New Roman"/>
                          <a:ea typeface="宋体"/>
                          <a:cs typeface="Times New Roman"/>
                        </a:rPr>
                        <a:t>语义规则</a:t>
                      </a:r>
                    </a:p>
                  </a:txBody>
                  <a:tcPr marL="68577" marR="68577"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504056">
                <a:tc>
                  <a:txBody>
                    <a:bodyPr/>
                    <a:lstStyle/>
                    <a:p>
                      <a:pPr algn="just">
                        <a:spcAft>
                          <a:spcPts val="0"/>
                        </a:spcAft>
                      </a:pPr>
                      <a:r>
                        <a:rPr lang="zh-CN" sz="2000" kern="100">
                          <a:latin typeface="Times New Roman"/>
                          <a:ea typeface="宋体"/>
                          <a:cs typeface="Times New Roman"/>
                        </a:rPr>
                        <a:t>（</a:t>
                      </a:r>
                      <a:r>
                        <a:rPr lang="en-US" sz="2000" kern="100">
                          <a:latin typeface="Times New Roman"/>
                          <a:ea typeface="宋体"/>
                          <a:cs typeface="Times New Roman"/>
                        </a:rPr>
                        <a:t>1</a:t>
                      </a:r>
                      <a:r>
                        <a:rPr lang="zh-CN" sz="2000" kern="100">
                          <a:latin typeface="Times New Roman"/>
                          <a:ea typeface="宋体"/>
                          <a:cs typeface="Times New Roman"/>
                        </a:rPr>
                        <a:t>）</a:t>
                      </a:r>
                    </a:p>
                  </a:txBody>
                  <a:tcPr marL="68577" marR="685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Aft>
                          <a:spcPts val="0"/>
                        </a:spcAft>
                      </a:pPr>
                      <a:r>
                        <a:rPr lang="en-US" sz="2000" kern="100">
                          <a:latin typeface="Times New Roman"/>
                          <a:ea typeface="宋体"/>
                          <a:cs typeface="Times New Roman"/>
                        </a:rPr>
                        <a:t>D→do</a:t>
                      </a:r>
                      <a:endParaRPr lang="zh-CN" sz="2000" kern="100">
                        <a:latin typeface="Times New Roman"/>
                        <a:ea typeface="宋体"/>
                        <a:cs typeface="Times New Roman"/>
                      </a:endParaRP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Aft>
                          <a:spcPts val="0"/>
                        </a:spcAft>
                      </a:pPr>
                      <a:endParaRPr lang="zh-CN" sz="2000" kern="100" dirty="0">
                        <a:latin typeface="Times New Roman"/>
                        <a:ea typeface="宋体"/>
                        <a:cs typeface="Times New Roman"/>
                      </a:endParaRPr>
                    </a:p>
                  </a:txBody>
                  <a:tcPr marL="68577" marR="6857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640160">
                <a:tc>
                  <a:txBody>
                    <a:bodyPr/>
                    <a:lstStyle/>
                    <a:p>
                      <a:pPr algn="just">
                        <a:spcAft>
                          <a:spcPts val="0"/>
                        </a:spcAft>
                      </a:pPr>
                      <a:r>
                        <a:rPr lang="zh-CN" sz="2000" kern="100">
                          <a:latin typeface="Times New Roman"/>
                          <a:ea typeface="宋体"/>
                          <a:cs typeface="Times New Roman"/>
                        </a:rPr>
                        <a:t>（</a:t>
                      </a:r>
                      <a:r>
                        <a:rPr lang="en-US" sz="2000" kern="100">
                          <a:latin typeface="Times New Roman"/>
                          <a:ea typeface="宋体"/>
                          <a:cs typeface="Times New Roman"/>
                        </a:rPr>
                        <a:t>2</a:t>
                      </a:r>
                      <a:r>
                        <a:rPr lang="zh-CN" sz="2000" kern="100">
                          <a:latin typeface="Times New Roman"/>
                          <a:ea typeface="宋体"/>
                          <a:cs typeface="Times New Roman"/>
                        </a:rPr>
                        <a:t>）</a:t>
                      </a:r>
                    </a:p>
                  </a:txBody>
                  <a:tcPr marL="68577" marR="685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Aft>
                          <a:spcPts val="0"/>
                        </a:spcAft>
                      </a:pPr>
                      <a:r>
                        <a:rPr lang="en-US" sz="2000" kern="100" dirty="0">
                          <a:latin typeface="Times New Roman"/>
                          <a:ea typeface="宋体"/>
                          <a:cs typeface="Times New Roman"/>
                        </a:rPr>
                        <a:t>U→DS</a:t>
                      </a:r>
                      <a:r>
                        <a:rPr lang="en-US" sz="2000" kern="100" baseline="30000" dirty="0">
                          <a:latin typeface="Times New Roman"/>
                          <a:ea typeface="宋体"/>
                          <a:cs typeface="Times New Roman"/>
                        </a:rPr>
                        <a:t>(1)</a:t>
                      </a:r>
                      <a:r>
                        <a:rPr lang="en-US" sz="2000" kern="100" dirty="0">
                          <a:latin typeface="Times New Roman"/>
                          <a:ea typeface="宋体"/>
                          <a:cs typeface="Times New Roman"/>
                        </a:rPr>
                        <a:t> while</a:t>
                      </a:r>
                      <a:endParaRPr lang="zh-CN" sz="2000" kern="100" dirty="0">
                        <a:latin typeface="Times New Roman"/>
                        <a:ea typeface="宋体"/>
                        <a:cs typeface="Times New Roman"/>
                      </a:endParaRP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spcAft>
                          <a:spcPts val="0"/>
                        </a:spcAft>
                      </a:pPr>
                      <a:endParaRPr lang="zh-CN" sz="2000" kern="100" dirty="0">
                        <a:latin typeface="Times New Roman"/>
                        <a:ea typeface="宋体"/>
                        <a:cs typeface="Times New Roman"/>
                      </a:endParaRPr>
                    </a:p>
                  </a:txBody>
                  <a:tcPr marL="68577" marR="6857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640160">
                <a:tc>
                  <a:txBody>
                    <a:bodyPr/>
                    <a:lstStyle/>
                    <a:p>
                      <a:pPr algn="just">
                        <a:spcAft>
                          <a:spcPts val="0"/>
                        </a:spcAft>
                      </a:pPr>
                      <a:r>
                        <a:rPr lang="zh-CN" sz="2000" kern="100" dirty="0">
                          <a:latin typeface="Times New Roman"/>
                          <a:ea typeface="宋体"/>
                          <a:cs typeface="Times New Roman"/>
                        </a:rPr>
                        <a:t>（</a:t>
                      </a:r>
                      <a:r>
                        <a:rPr lang="en-US" sz="2000" kern="100" dirty="0">
                          <a:latin typeface="Times New Roman"/>
                          <a:ea typeface="宋体"/>
                          <a:cs typeface="Times New Roman"/>
                        </a:rPr>
                        <a:t>3</a:t>
                      </a:r>
                      <a:r>
                        <a:rPr lang="zh-CN" sz="2000" kern="100" dirty="0">
                          <a:latin typeface="Times New Roman"/>
                          <a:ea typeface="宋体"/>
                          <a:cs typeface="Times New Roman"/>
                        </a:rPr>
                        <a:t>）</a:t>
                      </a:r>
                    </a:p>
                  </a:txBody>
                  <a:tcPr marL="68577" marR="685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just">
                        <a:spcAft>
                          <a:spcPts val="0"/>
                        </a:spcAft>
                      </a:pPr>
                      <a:r>
                        <a:rPr lang="en-US" sz="2000" kern="100" dirty="0">
                          <a:latin typeface="Times New Roman"/>
                          <a:ea typeface="宋体"/>
                          <a:cs typeface="Times New Roman"/>
                        </a:rPr>
                        <a:t>S→UE</a:t>
                      </a:r>
                      <a:endParaRPr lang="zh-CN" sz="2000" kern="100" dirty="0">
                        <a:latin typeface="Times New Roman"/>
                        <a:ea typeface="宋体"/>
                        <a:cs typeface="Times New Roman"/>
                      </a:endParaRPr>
                    </a:p>
                  </a:txBody>
                  <a:tcPr marL="68577" marR="685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just">
                        <a:spcAft>
                          <a:spcPts val="0"/>
                        </a:spcAft>
                      </a:pPr>
                      <a:endParaRPr lang="zh-CN" sz="2000" kern="100" dirty="0">
                        <a:latin typeface="Times New Roman"/>
                        <a:ea typeface="宋体"/>
                        <a:cs typeface="Times New Roman"/>
                      </a:endParaRPr>
                    </a:p>
                  </a:txBody>
                  <a:tcPr marL="68577" marR="6857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3"/>
                  </a:ext>
                </a:extLst>
              </a:tr>
            </a:tbl>
          </a:graphicData>
        </a:graphic>
      </p:graphicFrame>
      <p:pic>
        <p:nvPicPr>
          <p:cNvPr id="107542"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141685"/>
            <a:ext cx="3335289" cy="2448630"/>
          </a:xfrm>
          <a:prstGeom prst="rect">
            <a:avLst/>
          </a:prstGeom>
          <a:noFill/>
          <a:ln w="38100">
            <a:solidFill>
              <a:srgbClr val="008000"/>
            </a:solidFill>
            <a:miter lim="800000"/>
            <a:headEnd/>
            <a:tailEnd/>
          </a:ln>
          <a:extLst>
            <a:ext uri="{909E8E84-426E-40DD-AFC4-6F175D3DCCD1}">
              <a14:hiddenFill xmlns:a14="http://schemas.microsoft.com/office/drawing/2010/main">
                <a:solidFill>
                  <a:srgbClr val="FFFFFF"/>
                </a:solidFill>
              </a14:hiddenFill>
            </a:ext>
          </a:extLst>
        </p:spPr>
      </p:pic>
      <p:sp>
        <p:nvSpPr>
          <p:cNvPr id="6" name="Rectangle 13"/>
          <p:cNvSpPr>
            <a:spLocks noChangeArrowheads="1"/>
          </p:cNvSpPr>
          <p:nvPr/>
        </p:nvSpPr>
        <p:spPr bwMode="auto">
          <a:xfrm>
            <a:off x="323850" y="411510"/>
            <a:ext cx="3352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74650" indent="-37465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pPr>
            <a:r>
              <a:rPr lang="en-US" altLang="zh-CN" sz="2800" b="1" dirty="0">
                <a:solidFill>
                  <a:srgbClr val="0033CC"/>
                </a:solidFill>
              </a:rPr>
              <a:t>2. </a:t>
            </a:r>
            <a:r>
              <a:rPr lang="zh-CN" altLang="en-US" sz="2800" b="1" dirty="0">
                <a:solidFill>
                  <a:srgbClr val="0033CC"/>
                </a:solidFill>
              </a:rPr>
              <a:t>目标结构</a:t>
            </a:r>
          </a:p>
        </p:txBody>
      </p:sp>
      <p:sp>
        <p:nvSpPr>
          <p:cNvPr id="2" name="矩形 1"/>
          <p:cNvSpPr/>
          <p:nvPr/>
        </p:nvSpPr>
        <p:spPr>
          <a:xfrm>
            <a:off x="4644008" y="3210530"/>
            <a:ext cx="2132315" cy="369332"/>
          </a:xfrm>
          <a:prstGeom prst="rect">
            <a:avLst/>
          </a:prstGeom>
        </p:spPr>
        <p:txBody>
          <a:bodyPr wrap="none">
            <a:spAutoFit/>
          </a:bodyPr>
          <a:lstStyle/>
          <a:p>
            <a:r>
              <a:rPr lang="en-US" altLang="zh-CN" kern="100" dirty="0">
                <a:latin typeface="Times New Roman"/>
                <a:ea typeface="宋体"/>
                <a:cs typeface="Times New Roman"/>
              </a:rPr>
              <a:t>{  D.HEAD=NXQ  }</a:t>
            </a:r>
            <a:endParaRPr lang="zh-CN" altLang="en-US" dirty="0"/>
          </a:p>
        </p:txBody>
      </p:sp>
      <p:sp>
        <p:nvSpPr>
          <p:cNvPr id="3" name="矩形 2"/>
          <p:cNvSpPr/>
          <p:nvPr/>
        </p:nvSpPr>
        <p:spPr>
          <a:xfrm>
            <a:off x="4643491" y="3653611"/>
            <a:ext cx="3960957" cy="646331"/>
          </a:xfrm>
          <a:prstGeom prst="rect">
            <a:avLst/>
          </a:prstGeom>
        </p:spPr>
        <p:txBody>
          <a:bodyPr wrap="square">
            <a:spAutoFit/>
          </a:bodyPr>
          <a:lstStyle/>
          <a:p>
            <a:pPr algn="just">
              <a:spcAft>
                <a:spcPts val="0"/>
              </a:spcAft>
            </a:pPr>
            <a:r>
              <a:rPr lang="en-US" altLang="zh-CN" kern="100" dirty="0">
                <a:latin typeface="Times New Roman"/>
                <a:ea typeface="宋体"/>
                <a:cs typeface="Times New Roman"/>
              </a:rPr>
              <a:t>{  U.HEAD= D.HEAD;</a:t>
            </a:r>
            <a:endParaRPr lang="zh-CN" altLang="zh-CN" kern="100" dirty="0">
              <a:latin typeface="Times New Roman"/>
              <a:ea typeface="宋体"/>
              <a:cs typeface="Times New Roman"/>
            </a:endParaRPr>
          </a:p>
          <a:p>
            <a:pPr indent="171450" algn="just">
              <a:spcAft>
                <a:spcPts val="0"/>
              </a:spcAft>
            </a:pPr>
            <a:r>
              <a:rPr lang="en-US" altLang="zh-CN" kern="100" dirty="0">
                <a:latin typeface="Times New Roman"/>
                <a:ea typeface="宋体"/>
                <a:cs typeface="Times New Roman"/>
              </a:rPr>
              <a:t>  </a:t>
            </a:r>
            <a:r>
              <a:rPr lang="en-US" altLang="zh-CN" kern="100" dirty="0" err="1">
                <a:latin typeface="Times New Roman"/>
                <a:ea typeface="宋体"/>
                <a:cs typeface="Times New Roman"/>
              </a:rPr>
              <a:t>backpatch</a:t>
            </a:r>
            <a:r>
              <a:rPr lang="en-US" altLang="zh-CN" kern="100" dirty="0">
                <a:latin typeface="Times New Roman"/>
                <a:ea typeface="宋体"/>
                <a:cs typeface="Times New Roman"/>
              </a:rPr>
              <a:t>(S</a:t>
            </a:r>
            <a:r>
              <a:rPr lang="en-US" altLang="zh-CN" kern="100" baseline="30000" dirty="0">
                <a:latin typeface="Times New Roman"/>
                <a:ea typeface="宋体"/>
                <a:cs typeface="Times New Roman"/>
              </a:rPr>
              <a:t>(1)</a:t>
            </a:r>
            <a:r>
              <a:rPr lang="en-US" altLang="zh-CN" kern="100" dirty="0">
                <a:latin typeface="Times New Roman"/>
                <a:ea typeface="宋体"/>
                <a:cs typeface="Times New Roman"/>
              </a:rPr>
              <a:t>.CHAIN</a:t>
            </a:r>
            <a:r>
              <a:rPr lang="zh-CN" altLang="zh-CN" kern="100" dirty="0">
                <a:latin typeface="Times New Roman"/>
                <a:ea typeface="宋体"/>
                <a:cs typeface="Times New Roman"/>
              </a:rPr>
              <a:t>，</a:t>
            </a:r>
            <a:r>
              <a:rPr lang="en-US" altLang="zh-CN" kern="100" dirty="0">
                <a:latin typeface="Times New Roman"/>
                <a:ea typeface="宋体"/>
                <a:cs typeface="Times New Roman"/>
              </a:rPr>
              <a:t>NXQ)  }</a:t>
            </a:r>
            <a:endParaRPr lang="zh-CN" altLang="zh-CN" kern="100" dirty="0">
              <a:latin typeface="Times New Roman"/>
              <a:ea typeface="宋体"/>
              <a:cs typeface="Times New Roman"/>
            </a:endParaRPr>
          </a:p>
        </p:txBody>
      </p:sp>
      <p:sp>
        <p:nvSpPr>
          <p:cNvPr id="4" name="矩形 3"/>
          <p:cNvSpPr/>
          <p:nvPr/>
        </p:nvSpPr>
        <p:spPr>
          <a:xfrm>
            <a:off x="4643491" y="4317391"/>
            <a:ext cx="3960957" cy="646331"/>
          </a:xfrm>
          <a:prstGeom prst="rect">
            <a:avLst/>
          </a:prstGeom>
        </p:spPr>
        <p:txBody>
          <a:bodyPr wrap="square">
            <a:spAutoFit/>
          </a:bodyPr>
          <a:lstStyle/>
          <a:p>
            <a:pPr algn="just">
              <a:spcAft>
                <a:spcPts val="0"/>
              </a:spcAft>
            </a:pPr>
            <a:r>
              <a:rPr lang="en-US" altLang="zh-CN" kern="100" dirty="0">
                <a:latin typeface="Times New Roman"/>
                <a:ea typeface="宋体"/>
                <a:cs typeface="Times New Roman"/>
              </a:rPr>
              <a:t>{  </a:t>
            </a:r>
            <a:r>
              <a:rPr lang="en-US" altLang="zh-CN" kern="100" dirty="0" err="1">
                <a:latin typeface="Times New Roman"/>
                <a:ea typeface="宋体"/>
                <a:cs typeface="Times New Roman"/>
              </a:rPr>
              <a:t>backpatch</a:t>
            </a:r>
            <a:r>
              <a:rPr lang="en-US" altLang="zh-CN" kern="100" dirty="0">
                <a:latin typeface="Times New Roman"/>
                <a:ea typeface="宋体"/>
                <a:cs typeface="Times New Roman"/>
              </a:rPr>
              <a:t>(E.TC, U.HEAD);</a:t>
            </a:r>
            <a:endParaRPr lang="zh-CN" altLang="zh-CN" kern="100" dirty="0">
              <a:latin typeface="Times New Roman"/>
              <a:ea typeface="宋体"/>
              <a:cs typeface="Times New Roman"/>
            </a:endParaRPr>
          </a:p>
          <a:p>
            <a:pPr indent="171450" algn="just">
              <a:spcAft>
                <a:spcPts val="0"/>
              </a:spcAft>
            </a:pPr>
            <a:r>
              <a:rPr lang="pt-PT" altLang="zh-CN" kern="100" dirty="0">
                <a:latin typeface="Times New Roman"/>
                <a:ea typeface="宋体"/>
                <a:cs typeface="Times New Roman"/>
              </a:rPr>
              <a:t>  S.CHAIN=E.FC    }</a:t>
            </a:r>
            <a:endParaRPr lang="zh-CN" altLang="zh-CN" kern="100" dirty="0">
              <a:latin typeface="Times New Roman"/>
              <a:ea typeface="宋体"/>
              <a:cs typeface="Times New Roman"/>
            </a:endParaRPr>
          </a:p>
        </p:txBody>
      </p:sp>
    </p:spTree>
    <p:extLst>
      <p:ext uri="{BB962C8B-B14F-4D97-AF65-F5344CB8AC3E}">
        <p14:creationId xmlns:p14="http://schemas.microsoft.com/office/powerpoint/2010/main" val="1648706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11560" y="2355726"/>
            <a:ext cx="2664296" cy="2232248"/>
          </a:xfrm>
          <a:prstGeom prst="rect">
            <a:avLst/>
          </a:prstGeom>
          <a:solidFill>
            <a:srgbClr val="DFF1CB"/>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51520" y="191129"/>
            <a:ext cx="7489825" cy="584775"/>
          </a:xfrm>
          <a:prstGeom prst="rect">
            <a:avLst/>
          </a:prstGeom>
        </p:spPr>
        <p:txBody>
          <a:bodyPr>
            <a:spAutoFit/>
          </a:bodyPr>
          <a:lstStyle/>
          <a:p>
            <a:pPr algn="just">
              <a:spcAft>
                <a:spcPts val="0"/>
              </a:spcAft>
              <a:buFontTx/>
              <a:buNone/>
              <a:defRPr/>
            </a:pPr>
            <a:r>
              <a:rPr lang="zh-CN" altLang="zh-CN" sz="3200" dirty="0">
                <a:latin typeface="隶书" panose="02010509060101010101" pitchFamily="49" charset="-122"/>
                <a:ea typeface="隶书" panose="02010509060101010101" pitchFamily="49" charset="-122"/>
              </a:rPr>
              <a:t>例</a:t>
            </a:r>
            <a:r>
              <a:rPr lang="en-US" altLang="zh-CN" sz="3200" dirty="0">
                <a:latin typeface="隶书" panose="02010509060101010101" pitchFamily="49" charset="-122"/>
                <a:ea typeface="隶书" panose="02010509060101010101" pitchFamily="49" charset="-122"/>
              </a:rPr>
              <a:t>:</a:t>
            </a:r>
            <a:r>
              <a:rPr lang="zh-CN" altLang="zh-CN" sz="3200" kern="100" dirty="0">
                <a:latin typeface="隶书" panose="02010509060101010101" pitchFamily="49" charset="-122"/>
                <a:ea typeface="隶书" panose="02010509060101010101" pitchFamily="49" charset="-122"/>
              </a:rPr>
              <a:t>将下面的语句翻译为四元式序列：</a:t>
            </a:r>
          </a:p>
        </p:txBody>
      </p:sp>
      <p:sp>
        <p:nvSpPr>
          <p:cNvPr id="2" name="矩形 1"/>
          <p:cNvSpPr/>
          <p:nvPr/>
        </p:nvSpPr>
        <p:spPr>
          <a:xfrm>
            <a:off x="704385" y="2479174"/>
            <a:ext cx="2377574" cy="400110"/>
          </a:xfrm>
          <a:prstGeom prst="rect">
            <a:avLst/>
          </a:prstGeom>
        </p:spPr>
        <p:txBody>
          <a:bodyPr wrap="none">
            <a:spAutoFit/>
          </a:bodyPr>
          <a:lstStyle/>
          <a:p>
            <a:pPr algn="just">
              <a:spcAft>
                <a:spcPts val="0"/>
              </a:spcAft>
            </a:pPr>
            <a:r>
              <a:rPr lang="zh-CN" altLang="en-US" sz="2000" kern="100" dirty="0">
                <a:latin typeface="Times New Roman" panose="02020603050405020304" pitchFamily="18" charset="0"/>
                <a:ea typeface="宋体" panose="02010600030101010101" pitchFamily="2" charset="-122"/>
              </a:rPr>
              <a:t>（</a:t>
            </a:r>
            <a:r>
              <a:rPr lang="en-US" altLang="zh-CN" sz="2000" kern="100" dirty="0">
                <a:latin typeface="Times New Roman" panose="02020603050405020304" pitchFamily="18" charset="0"/>
                <a:ea typeface="宋体" panose="02010600030101010101" pitchFamily="2" charset="-122"/>
              </a:rPr>
              <a:t>1</a:t>
            </a:r>
            <a:r>
              <a:rPr lang="zh-CN" altLang="en-US" sz="2000" kern="100" dirty="0">
                <a:latin typeface="Times New Roman" panose="02020603050405020304" pitchFamily="18" charset="0"/>
                <a:ea typeface="宋体" panose="02010600030101010101" pitchFamily="2" charset="-122"/>
              </a:rPr>
              <a:t>）</a:t>
            </a:r>
            <a:r>
              <a:rPr lang="fr-FR" altLang="zh-CN" sz="2000" kern="100" dirty="0">
                <a:latin typeface="Times New Roman" panose="02020603050405020304" pitchFamily="18" charset="0"/>
                <a:ea typeface="宋体" panose="02010600030101010101" pitchFamily="2" charset="-122"/>
              </a:rPr>
              <a:t>(-</a:t>
            </a:r>
            <a:r>
              <a:rPr lang="zh-CN" altLang="zh-CN" sz="2000" kern="100" dirty="0">
                <a:latin typeface="Times New Roman" panose="02020603050405020304" pitchFamily="18" charset="0"/>
                <a:ea typeface="宋体" panose="02010600030101010101" pitchFamily="2" charset="-122"/>
              </a:rPr>
              <a:t>，</a:t>
            </a:r>
            <a:r>
              <a:rPr lang="fr-FR" altLang="zh-CN" sz="2000" kern="100" dirty="0">
                <a:latin typeface="Times New Roman" panose="02020603050405020304" pitchFamily="18" charset="0"/>
                <a:ea typeface="宋体" panose="02010600030101010101" pitchFamily="2" charset="-122"/>
              </a:rPr>
              <a:t>a</a:t>
            </a:r>
            <a:r>
              <a:rPr lang="zh-CN" altLang="zh-CN" sz="2000" kern="100" dirty="0">
                <a:latin typeface="Times New Roman" panose="02020603050405020304" pitchFamily="18" charset="0"/>
                <a:ea typeface="宋体" panose="02010600030101010101" pitchFamily="2" charset="-122"/>
              </a:rPr>
              <a:t>，</a:t>
            </a:r>
            <a:r>
              <a:rPr lang="fr-FR" altLang="zh-CN" sz="2000" kern="100" dirty="0">
                <a:latin typeface="Times New Roman" panose="02020603050405020304" pitchFamily="18" charset="0"/>
                <a:ea typeface="宋体" panose="02010600030101010101" pitchFamily="2" charset="-122"/>
              </a:rPr>
              <a:t>1</a:t>
            </a:r>
            <a:r>
              <a:rPr lang="zh-CN" altLang="zh-CN" sz="2000" kern="100" dirty="0">
                <a:latin typeface="Times New Roman" panose="02020603050405020304" pitchFamily="18" charset="0"/>
                <a:ea typeface="宋体" panose="02010600030101010101" pitchFamily="2" charset="-122"/>
              </a:rPr>
              <a:t>，</a:t>
            </a:r>
            <a:r>
              <a:rPr lang="fr-FR" altLang="zh-CN" sz="2000" kern="100" dirty="0">
                <a:latin typeface="Times New Roman" panose="02020603050405020304" pitchFamily="18" charset="0"/>
                <a:ea typeface="宋体" panose="02010600030101010101" pitchFamily="2" charset="-122"/>
              </a:rPr>
              <a:t>T0)</a:t>
            </a:r>
            <a:endParaRPr lang="zh-CN" altLang="zh-CN" sz="2000" kern="100" dirty="0">
              <a:latin typeface="Times New Roman" panose="02020603050405020304" pitchFamily="18" charset="0"/>
              <a:ea typeface="宋体" panose="02010600030101010101" pitchFamily="2" charset="-122"/>
            </a:endParaRPr>
          </a:p>
        </p:txBody>
      </p:sp>
      <p:sp>
        <p:nvSpPr>
          <p:cNvPr id="3" name="矩形 2"/>
          <p:cNvSpPr/>
          <p:nvPr/>
        </p:nvSpPr>
        <p:spPr>
          <a:xfrm>
            <a:off x="704385" y="2890654"/>
            <a:ext cx="2372765" cy="400110"/>
          </a:xfrm>
          <a:prstGeom prst="rect">
            <a:avLst/>
          </a:prstGeom>
        </p:spPr>
        <p:txBody>
          <a:bodyPr wrap="none">
            <a:spAutoFit/>
          </a:bodyPr>
          <a:lstStyle/>
          <a:p>
            <a:pPr algn="just">
              <a:spcAft>
                <a:spcPts val="0"/>
              </a:spcAft>
            </a:pPr>
            <a:r>
              <a:rPr lang="zh-CN" altLang="en-US" sz="2000" kern="100" dirty="0">
                <a:latin typeface="Times New Roman" panose="02020603050405020304" pitchFamily="18" charset="0"/>
                <a:ea typeface="宋体" panose="02010600030101010101" pitchFamily="2" charset="-122"/>
              </a:rPr>
              <a:t>（</a:t>
            </a:r>
            <a:r>
              <a:rPr lang="en-US" altLang="zh-CN" sz="2000" kern="100" dirty="0">
                <a:latin typeface="Times New Roman" panose="02020603050405020304" pitchFamily="18" charset="0"/>
                <a:ea typeface="宋体" panose="02010600030101010101" pitchFamily="2" charset="-122"/>
              </a:rPr>
              <a:t>2</a:t>
            </a:r>
            <a:r>
              <a:rPr lang="zh-CN" altLang="en-US" sz="2000" kern="100" dirty="0">
                <a:latin typeface="Times New Roman" panose="02020603050405020304" pitchFamily="18" charset="0"/>
                <a:ea typeface="宋体" panose="02010600030101010101" pitchFamily="2" charset="-122"/>
              </a:rPr>
              <a:t>）</a:t>
            </a:r>
            <a:r>
              <a:rPr lang="fr-FR" altLang="zh-CN" sz="2000" kern="100" dirty="0">
                <a:latin typeface="Times New Roman" panose="02020603050405020304" pitchFamily="18" charset="0"/>
                <a:ea typeface="宋体" panose="02010600030101010101" pitchFamily="2" charset="-122"/>
              </a:rPr>
              <a:t>(=</a:t>
            </a:r>
            <a:r>
              <a:rPr lang="zh-CN" altLang="zh-CN" sz="2000" kern="100" dirty="0">
                <a:latin typeface="Times New Roman" panose="02020603050405020304" pitchFamily="18" charset="0"/>
                <a:ea typeface="宋体" panose="02010600030101010101" pitchFamily="2" charset="-122"/>
              </a:rPr>
              <a:t>，</a:t>
            </a:r>
            <a:r>
              <a:rPr lang="fr-FR" altLang="zh-CN" sz="2000" kern="100" dirty="0">
                <a:latin typeface="Times New Roman" panose="02020603050405020304" pitchFamily="18" charset="0"/>
                <a:ea typeface="宋体" panose="02010600030101010101" pitchFamily="2" charset="-122"/>
              </a:rPr>
              <a:t>T0</a:t>
            </a:r>
            <a:r>
              <a:rPr lang="zh-CN" altLang="zh-CN" sz="2000" kern="100" dirty="0">
                <a:latin typeface="Times New Roman" panose="02020603050405020304" pitchFamily="18" charset="0"/>
                <a:ea typeface="宋体" panose="02010600030101010101" pitchFamily="2" charset="-122"/>
              </a:rPr>
              <a:t>， ，</a:t>
            </a:r>
            <a:r>
              <a:rPr lang="fr-FR" altLang="zh-CN" sz="2000" kern="100" dirty="0">
                <a:latin typeface="Times New Roman" panose="02020603050405020304" pitchFamily="18" charset="0"/>
                <a:ea typeface="宋体" panose="02010600030101010101" pitchFamily="2" charset="-122"/>
              </a:rPr>
              <a:t>a)</a:t>
            </a:r>
            <a:endParaRPr lang="zh-CN" altLang="zh-CN" sz="2000" kern="100" dirty="0">
              <a:latin typeface="Times New Roman" panose="02020603050405020304" pitchFamily="18" charset="0"/>
              <a:ea typeface="宋体" panose="02010600030101010101" pitchFamily="2" charset="-122"/>
            </a:endParaRPr>
          </a:p>
        </p:txBody>
      </p:sp>
      <p:sp>
        <p:nvSpPr>
          <p:cNvPr id="4" name="矩形 3"/>
          <p:cNvSpPr/>
          <p:nvPr/>
        </p:nvSpPr>
        <p:spPr>
          <a:xfrm>
            <a:off x="725644" y="3259986"/>
            <a:ext cx="2478564" cy="400110"/>
          </a:xfrm>
          <a:prstGeom prst="rect">
            <a:avLst/>
          </a:prstGeom>
        </p:spPr>
        <p:txBody>
          <a:bodyPr wrap="none">
            <a:spAutoFit/>
          </a:bodyPr>
          <a:lstStyle/>
          <a:p>
            <a:pPr>
              <a:spcAft>
                <a:spcPts val="0"/>
              </a:spcAft>
            </a:pPr>
            <a:r>
              <a:rPr lang="zh-CN" altLang="en-US" sz="2000" kern="100" dirty="0">
                <a:latin typeface="Times New Roman" panose="02020603050405020304" pitchFamily="18" charset="0"/>
                <a:ea typeface="宋体" panose="02010600030101010101" pitchFamily="2" charset="-122"/>
              </a:rPr>
              <a:t>（</a:t>
            </a:r>
            <a:r>
              <a:rPr lang="en-US" altLang="zh-CN" sz="2000" kern="100" dirty="0">
                <a:latin typeface="Times New Roman" panose="02020603050405020304" pitchFamily="18" charset="0"/>
                <a:ea typeface="宋体" panose="02010600030101010101" pitchFamily="2" charset="-122"/>
              </a:rPr>
              <a:t>3</a:t>
            </a:r>
            <a:r>
              <a:rPr lang="zh-CN" altLang="en-US" sz="2000" kern="100" dirty="0">
                <a:latin typeface="Times New Roman" panose="02020603050405020304" pitchFamily="18" charset="0"/>
                <a:ea typeface="宋体" panose="02010600030101010101" pitchFamily="2" charset="-122"/>
              </a:rPr>
              <a:t>）</a:t>
            </a:r>
            <a:r>
              <a:rPr lang="fr-FR" altLang="zh-CN" sz="2000" kern="100" dirty="0">
                <a:latin typeface="Times New Roman" panose="02020603050405020304" pitchFamily="18" charset="0"/>
                <a:ea typeface="宋体" panose="02010600030101010101" pitchFamily="2" charset="-122"/>
              </a:rPr>
              <a:t>(j&lt;</a:t>
            </a:r>
            <a:r>
              <a:rPr lang="zh-CN" altLang="zh-CN" sz="2000" kern="100" dirty="0">
                <a:latin typeface="Times New Roman" panose="02020603050405020304" pitchFamily="18" charset="0"/>
                <a:ea typeface="宋体" panose="02010600030101010101" pitchFamily="2" charset="-122"/>
              </a:rPr>
              <a:t>，</a:t>
            </a:r>
            <a:r>
              <a:rPr lang="fr-FR" altLang="zh-CN" sz="2000" kern="100" dirty="0">
                <a:latin typeface="Times New Roman" panose="02020603050405020304" pitchFamily="18" charset="0"/>
                <a:ea typeface="宋体" panose="02010600030101010101" pitchFamily="2" charset="-122"/>
              </a:rPr>
              <a:t>a</a:t>
            </a:r>
            <a:r>
              <a:rPr lang="zh-CN" altLang="zh-CN" sz="2000" kern="100" dirty="0">
                <a:latin typeface="Times New Roman" panose="02020603050405020304" pitchFamily="18" charset="0"/>
                <a:ea typeface="宋体" panose="02010600030101010101" pitchFamily="2" charset="-122"/>
              </a:rPr>
              <a:t>，</a:t>
            </a:r>
            <a:r>
              <a:rPr lang="fr-FR" altLang="zh-CN" sz="2000" kern="100" dirty="0">
                <a:latin typeface="Times New Roman" panose="02020603050405020304" pitchFamily="18" charset="0"/>
                <a:ea typeface="宋体" panose="02010600030101010101" pitchFamily="2" charset="-122"/>
              </a:rPr>
              <a:t>0</a:t>
            </a:r>
            <a:r>
              <a:rPr lang="zh-CN" altLang="zh-CN" sz="2000" kern="100" dirty="0">
                <a:latin typeface="Times New Roman" panose="02020603050405020304" pitchFamily="18" charset="0"/>
                <a:ea typeface="宋体" panose="02010600030101010101" pitchFamily="2" charset="-122"/>
              </a:rPr>
              <a:t>，</a:t>
            </a:r>
            <a:r>
              <a:rPr lang="en-US" altLang="zh-CN" sz="2000" kern="100" dirty="0">
                <a:latin typeface="Times New Roman" panose="02020603050405020304" pitchFamily="18" charset="0"/>
                <a:ea typeface="宋体" panose="02010600030101010101" pitchFamily="2" charset="-122"/>
              </a:rPr>
              <a:t>0  </a:t>
            </a:r>
            <a:r>
              <a:rPr lang="fr-FR" altLang="zh-CN" sz="2000" kern="100" dirty="0">
                <a:latin typeface="Times New Roman" panose="02020603050405020304" pitchFamily="18" charset="0"/>
                <a:ea typeface="宋体" panose="02010600030101010101" pitchFamily="2" charset="-122"/>
              </a:rPr>
              <a:t>)</a:t>
            </a:r>
          </a:p>
        </p:txBody>
      </p:sp>
      <p:sp>
        <p:nvSpPr>
          <p:cNvPr id="7" name="矩形 6"/>
          <p:cNvSpPr/>
          <p:nvPr/>
        </p:nvSpPr>
        <p:spPr>
          <a:xfrm>
            <a:off x="2709662" y="3317307"/>
            <a:ext cx="312906" cy="400110"/>
          </a:xfrm>
          <a:prstGeom prst="rect">
            <a:avLst/>
          </a:prstGeom>
          <a:solidFill>
            <a:srgbClr val="DFF1CB"/>
          </a:solidFill>
        </p:spPr>
        <p:txBody>
          <a:bodyPr wrap="none">
            <a:spAutoFit/>
          </a:bodyPr>
          <a:lstStyle/>
          <a:p>
            <a:r>
              <a:rPr lang="fr-FR" altLang="zh-CN" sz="2000" kern="100" dirty="0">
                <a:solidFill>
                  <a:srgbClr val="FF0000"/>
                </a:solidFill>
                <a:latin typeface="Times New Roman" panose="02020603050405020304" pitchFamily="18" charset="0"/>
                <a:ea typeface="宋体" panose="02010600030101010101" pitchFamily="2" charset="-122"/>
              </a:rPr>
              <a:t>1</a:t>
            </a:r>
            <a:endParaRPr lang="zh-CN" altLang="en-US" dirty="0">
              <a:solidFill>
                <a:srgbClr val="FF0000"/>
              </a:solidFill>
            </a:endParaRPr>
          </a:p>
        </p:txBody>
      </p:sp>
      <p:sp>
        <p:nvSpPr>
          <p:cNvPr id="8" name="矩形 7"/>
          <p:cNvSpPr/>
          <p:nvPr/>
        </p:nvSpPr>
        <p:spPr>
          <a:xfrm>
            <a:off x="748360" y="3660096"/>
            <a:ext cx="2191626" cy="646331"/>
          </a:xfrm>
          <a:prstGeom prst="rect">
            <a:avLst/>
          </a:prstGeom>
        </p:spPr>
        <p:txBody>
          <a:bodyPr wrap="none">
            <a:spAutoFit/>
          </a:bodyPr>
          <a:lstStyle/>
          <a:p>
            <a:r>
              <a:rPr lang="zh-CN" altLang="en-US"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4</a:t>
            </a:r>
            <a:r>
              <a:rPr lang="zh-CN" altLang="en-US"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(j</a:t>
            </a:r>
            <a:r>
              <a:rPr lang="zh-CN" altLang="en-US" kern="100" dirty="0">
                <a:latin typeface="Times New Roman" panose="02020603050405020304" pitchFamily="18" charset="0"/>
                <a:ea typeface="宋体" panose="02010600030101010101" pitchFamily="2" charset="-122"/>
              </a:rPr>
              <a:t>， ， ， </a:t>
            </a:r>
            <a:r>
              <a:rPr lang="en-US" altLang="zh-CN" kern="100" dirty="0">
                <a:latin typeface="Times New Roman" panose="02020603050405020304" pitchFamily="18" charset="0"/>
                <a:ea typeface="宋体" panose="02010600030101010101" pitchFamily="2" charset="-122"/>
              </a:rPr>
              <a:t>0    )</a:t>
            </a:r>
          </a:p>
          <a:p>
            <a:r>
              <a:rPr lang="zh-CN" altLang="en-US"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5</a:t>
            </a:r>
            <a:r>
              <a:rPr lang="zh-CN" altLang="en-US" kern="100" dirty="0">
                <a:latin typeface="Times New Roman" panose="02020603050405020304" pitchFamily="18" charset="0"/>
                <a:ea typeface="宋体" panose="02010600030101010101" pitchFamily="2" charset="-122"/>
              </a:rPr>
              <a:t>）</a:t>
            </a:r>
            <a:endParaRPr lang="zh-CN" altLang="zh-CN" kern="100" dirty="0">
              <a:latin typeface="Times New Roman" panose="02020603050405020304" pitchFamily="18" charset="0"/>
              <a:ea typeface="宋体" panose="02010600030101010101" pitchFamily="2" charset="-122"/>
            </a:endParaRPr>
          </a:p>
        </p:txBody>
      </p:sp>
      <p:sp>
        <p:nvSpPr>
          <p:cNvPr id="6" name="矩形 5"/>
          <p:cNvSpPr/>
          <p:nvPr/>
        </p:nvSpPr>
        <p:spPr>
          <a:xfrm>
            <a:off x="2396756" y="3651870"/>
            <a:ext cx="312906" cy="400110"/>
          </a:xfrm>
          <a:prstGeom prst="rect">
            <a:avLst/>
          </a:prstGeom>
          <a:solidFill>
            <a:srgbClr val="DFF1CB"/>
          </a:solidFill>
        </p:spPr>
        <p:txBody>
          <a:bodyPr wrap="none">
            <a:spAutoFit/>
          </a:bodyPr>
          <a:lstStyle/>
          <a:p>
            <a:r>
              <a:rPr lang="en-US" altLang="zh-CN" sz="2000" kern="100" dirty="0">
                <a:solidFill>
                  <a:srgbClr val="FF0000"/>
                </a:solidFill>
                <a:latin typeface="Times New Roman" panose="02020603050405020304" pitchFamily="18" charset="0"/>
                <a:ea typeface="宋体" panose="02010600030101010101" pitchFamily="2" charset="-122"/>
              </a:rPr>
              <a:t>5</a:t>
            </a:r>
            <a:endParaRPr lang="zh-CN" altLang="en-US" dirty="0">
              <a:solidFill>
                <a:srgbClr val="FF0000"/>
              </a:solidFill>
            </a:endParaRPr>
          </a:p>
        </p:txBody>
      </p:sp>
      <p:sp>
        <p:nvSpPr>
          <p:cNvPr id="9" name="矩形 8"/>
          <p:cNvSpPr/>
          <p:nvPr/>
        </p:nvSpPr>
        <p:spPr>
          <a:xfrm>
            <a:off x="1261628" y="799485"/>
            <a:ext cx="2087216" cy="1200329"/>
          </a:xfrm>
          <a:prstGeom prst="rect">
            <a:avLst/>
          </a:prstGeom>
        </p:spPr>
        <p:txBody>
          <a:bodyPr wrap="square">
            <a:spAutoFit/>
          </a:bodyPr>
          <a:lstStyle/>
          <a:p>
            <a:pPr algn="just">
              <a:spcAft>
                <a:spcPts val="0"/>
              </a:spcAft>
              <a:buFontTx/>
              <a:buNone/>
              <a:defRPr/>
            </a:pPr>
            <a:r>
              <a:rPr lang="en-US" altLang="zh-CN" sz="2400" kern="100" dirty="0">
                <a:latin typeface="Times New Roman" panose="02020603050405020304" pitchFamily="18" charset="0"/>
              </a:rPr>
              <a:t>do {</a:t>
            </a:r>
          </a:p>
          <a:p>
            <a:pPr algn="just">
              <a:spcAft>
                <a:spcPts val="0"/>
              </a:spcAft>
              <a:buFontTx/>
              <a:buNone/>
              <a:defRPr/>
            </a:pPr>
            <a:r>
              <a:rPr lang="en-US" altLang="zh-CN" sz="2400" kern="100" dirty="0">
                <a:latin typeface="Times New Roman" panose="02020603050405020304" pitchFamily="18" charset="0"/>
              </a:rPr>
              <a:t>    a=a-1;</a:t>
            </a:r>
          </a:p>
          <a:p>
            <a:pPr algn="just">
              <a:spcAft>
                <a:spcPts val="0"/>
              </a:spcAft>
              <a:buFontTx/>
              <a:buNone/>
              <a:defRPr/>
            </a:pPr>
            <a:r>
              <a:rPr lang="en-US" altLang="zh-CN" sz="2400" kern="100" dirty="0">
                <a:latin typeface="Times New Roman" panose="02020603050405020304" pitchFamily="18" charset="0"/>
              </a:rPr>
              <a:t>} while( a&lt;0 );</a:t>
            </a:r>
            <a:endParaRPr lang="zh-CN" altLang="zh-CN" sz="2400" kern="100" dirty="0">
              <a:latin typeface="Times New Roman" panose="02020603050405020304" pitchFamily="18" charset="0"/>
            </a:endParaRPr>
          </a:p>
        </p:txBody>
      </p:sp>
      <p:graphicFrame>
        <p:nvGraphicFramePr>
          <p:cNvPr id="14" name="表格 13"/>
          <p:cNvGraphicFramePr>
            <a:graphicFrameLocks noGrp="1"/>
          </p:cNvGraphicFramePr>
          <p:nvPr>
            <p:extLst>
              <p:ext uri="{D42A27DB-BD31-4B8C-83A1-F6EECF244321}">
                <p14:modId xmlns:p14="http://schemas.microsoft.com/office/powerpoint/2010/main" val="1801001143"/>
              </p:ext>
            </p:extLst>
          </p:nvPr>
        </p:nvGraphicFramePr>
        <p:xfrm>
          <a:off x="3779912" y="3304391"/>
          <a:ext cx="5030057" cy="1280160"/>
        </p:xfrm>
        <a:graphic>
          <a:graphicData uri="http://schemas.openxmlformats.org/drawingml/2006/table">
            <a:tbl>
              <a:tblPr>
                <a:tableStyleId>{5C22544A-7EE6-4342-B048-85BDC9FD1C3A}</a:tableStyleId>
              </a:tblPr>
              <a:tblGrid>
                <a:gridCol w="670674">
                  <a:extLst>
                    <a:ext uri="{9D8B030D-6E8A-4147-A177-3AD203B41FA5}">
                      <a16:colId xmlns:a16="http://schemas.microsoft.com/office/drawing/2014/main" val="20000"/>
                    </a:ext>
                  </a:extLst>
                </a:gridCol>
                <a:gridCol w="1408416">
                  <a:extLst>
                    <a:ext uri="{9D8B030D-6E8A-4147-A177-3AD203B41FA5}">
                      <a16:colId xmlns:a16="http://schemas.microsoft.com/office/drawing/2014/main" val="20001"/>
                    </a:ext>
                  </a:extLst>
                </a:gridCol>
                <a:gridCol w="2950967">
                  <a:extLst>
                    <a:ext uri="{9D8B030D-6E8A-4147-A177-3AD203B41FA5}">
                      <a16:colId xmlns:a16="http://schemas.microsoft.com/office/drawing/2014/main" val="20002"/>
                    </a:ext>
                  </a:extLst>
                </a:gridCol>
              </a:tblGrid>
              <a:tr h="0">
                <a:tc>
                  <a:txBody>
                    <a:bodyPr/>
                    <a:lstStyle/>
                    <a:p>
                      <a:pPr algn="just">
                        <a:spcAft>
                          <a:spcPts val="0"/>
                        </a:spcAft>
                      </a:pPr>
                      <a:r>
                        <a:rPr lang="zh-CN" sz="1400" kern="100" dirty="0">
                          <a:effectLst/>
                        </a:rPr>
                        <a:t>编号</a:t>
                      </a:r>
                      <a:endParaRPr lang="zh-CN" sz="1400" kern="100" dirty="0">
                        <a:effectLst/>
                        <a:latin typeface="Times New Roman"/>
                        <a:ea typeface="宋体"/>
                      </a:endParaRPr>
                    </a:p>
                  </a:txBody>
                  <a:tcPr marL="68580" marR="68580"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just">
                        <a:spcAft>
                          <a:spcPts val="0"/>
                        </a:spcAft>
                      </a:pPr>
                      <a:r>
                        <a:rPr lang="zh-CN" sz="1400" kern="100">
                          <a:effectLst/>
                        </a:rPr>
                        <a:t>产生式</a:t>
                      </a:r>
                      <a:endParaRPr lang="zh-CN" sz="14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spcAft>
                          <a:spcPts val="0"/>
                        </a:spcAft>
                      </a:pPr>
                      <a:r>
                        <a:rPr lang="zh-CN" sz="1400" kern="100">
                          <a:effectLst/>
                        </a:rPr>
                        <a:t>语义规则</a:t>
                      </a:r>
                      <a:endParaRPr lang="zh-CN" sz="14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just">
                        <a:spcAft>
                          <a:spcPts val="0"/>
                        </a:spcAft>
                      </a:pPr>
                      <a:r>
                        <a:rPr lang="zh-CN" sz="1400" kern="100">
                          <a:effectLst/>
                        </a:rPr>
                        <a:t>（</a:t>
                      </a:r>
                      <a:r>
                        <a:rPr lang="en-US" sz="1400" kern="100">
                          <a:effectLst/>
                        </a:rPr>
                        <a:t>1</a:t>
                      </a:r>
                      <a:r>
                        <a:rPr lang="zh-CN" sz="1400" kern="100">
                          <a:effectLst/>
                        </a:rPr>
                        <a:t>）</a:t>
                      </a:r>
                      <a:endParaRPr lang="zh-CN" sz="1400" kern="100">
                        <a:effectLst/>
                        <a:latin typeface="Times New Roman"/>
                        <a:ea typeface="宋体"/>
                      </a:endParaRPr>
                    </a:p>
                  </a:txBody>
                  <a:tcPr marL="68580" marR="6858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400" kern="100" dirty="0" err="1">
                          <a:effectLst/>
                        </a:rPr>
                        <a:t>D→do</a:t>
                      </a:r>
                      <a:endParaRPr lang="zh-CN" sz="14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400" kern="100" dirty="0">
                          <a:effectLst/>
                        </a:rPr>
                        <a:t>{  D.HEAD=NXQ                    }</a:t>
                      </a:r>
                      <a:endParaRPr lang="zh-CN" sz="14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just">
                        <a:spcAft>
                          <a:spcPts val="0"/>
                        </a:spcAft>
                      </a:pPr>
                      <a:r>
                        <a:rPr lang="zh-CN" sz="1400" kern="100">
                          <a:effectLst/>
                        </a:rPr>
                        <a:t>（</a:t>
                      </a:r>
                      <a:r>
                        <a:rPr lang="en-US" sz="1400" kern="100">
                          <a:effectLst/>
                        </a:rPr>
                        <a:t>2</a:t>
                      </a:r>
                      <a:r>
                        <a:rPr lang="zh-CN" sz="1400" kern="100">
                          <a:effectLst/>
                        </a:rPr>
                        <a:t>）</a:t>
                      </a:r>
                      <a:endParaRPr lang="zh-CN" sz="1400" kern="100">
                        <a:effectLst/>
                        <a:latin typeface="Times New Roman"/>
                        <a:ea typeface="宋体"/>
                      </a:endParaRPr>
                    </a:p>
                  </a:txBody>
                  <a:tcPr marL="68580" marR="6858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400" kern="100">
                          <a:effectLst/>
                        </a:rPr>
                        <a:t>U→DS</a:t>
                      </a:r>
                      <a:r>
                        <a:rPr lang="en-US" sz="1400" kern="100" baseline="30000">
                          <a:effectLst/>
                        </a:rPr>
                        <a:t>(1)</a:t>
                      </a:r>
                      <a:r>
                        <a:rPr lang="en-US" sz="1400" kern="100">
                          <a:effectLst/>
                        </a:rPr>
                        <a:t> while</a:t>
                      </a:r>
                      <a:endParaRPr lang="zh-CN" sz="1400" kern="10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400" kern="100" dirty="0">
                          <a:effectLst/>
                        </a:rPr>
                        <a:t>{  U.HEAD= D.HEAD;</a:t>
                      </a:r>
                      <a:endParaRPr lang="zh-CN" sz="1400" kern="100" dirty="0">
                        <a:effectLst/>
                      </a:endParaRPr>
                    </a:p>
                    <a:p>
                      <a:pPr indent="171450" algn="just">
                        <a:spcAft>
                          <a:spcPts val="0"/>
                        </a:spcAft>
                      </a:pPr>
                      <a:r>
                        <a:rPr lang="en-US" sz="1400" kern="100" dirty="0" err="1">
                          <a:effectLst/>
                        </a:rPr>
                        <a:t>backpatch</a:t>
                      </a:r>
                      <a:r>
                        <a:rPr lang="en-US" sz="1400" kern="100" dirty="0">
                          <a:effectLst/>
                        </a:rPr>
                        <a:t>(S</a:t>
                      </a:r>
                      <a:r>
                        <a:rPr lang="en-US" sz="1400" kern="100" baseline="30000" dirty="0">
                          <a:effectLst/>
                        </a:rPr>
                        <a:t>(1)</a:t>
                      </a:r>
                      <a:r>
                        <a:rPr lang="en-US" sz="1400" kern="100" dirty="0">
                          <a:effectLst/>
                        </a:rPr>
                        <a:t>.CHAIN</a:t>
                      </a:r>
                      <a:r>
                        <a:rPr lang="zh-CN" sz="1400" kern="100" dirty="0">
                          <a:effectLst/>
                        </a:rPr>
                        <a:t>，</a:t>
                      </a:r>
                      <a:r>
                        <a:rPr lang="en-US" sz="1400" kern="100" dirty="0">
                          <a:effectLst/>
                        </a:rPr>
                        <a:t>NXQ)}</a:t>
                      </a:r>
                      <a:endParaRPr lang="zh-CN" sz="14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just">
                        <a:spcAft>
                          <a:spcPts val="0"/>
                        </a:spcAft>
                      </a:pPr>
                      <a:r>
                        <a:rPr lang="zh-CN" sz="1400" kern="100">
                          <a:effectLst/>
                        </a:rPr>
                        <a:t>（</a:t>
                      </a:r>
                      <a:r>
                        <a:rPr lang="en-US" sz="1400" kern="100">
                          <a:effectLst/>
                        </a:rPr>
                        <a:t>3</a:t>
                      </a:r>
                      <a:r>
                        <a:rPr lang="zh-CN" sz="1400" kern="100">
                          <a:effectLst/>
                        </a:rPr>
                        <a:t>）</a:t>
                      </a:r>
                      <a:endParaRPr lang="zh-CN" sz="1400" kern="100">
                        <a:effectLst/>
                        <a:latin typeface="Times New Roman"/>
                        <a:ea typeface="宋体"/>
                      </a:endParaRPr>
                    </a:p>
                  </a:txBody>
                  <a:tcPr marL="68580" marR="6858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just">
                        <a:spcAft>
                          <a:spcPts val="0"/>
                        </a:spcAft>
                      </a:pPr>
                      <a:r>
                        <a:rPr lang="en-US" sz="1400" kern="100" dirty="0">
                          <a:effectLst/>
                        </a:rPr>
                        <a:t>S→UE</a:t>
                      </a:r>
                      <a:endParaRPr lang="zh-CN" sz="14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just">
                        <a:spcAft>
                          <a:spcPts val="0"/>
                        </a:spcAft>
                      </a:pPr>
                      <a:r>
                        <a:rPr lang="en-US" sz="1400" kern="100" dirty="0">
                          <a:effectLst/>
                        </a:rPr>
                        <a:t>{  </a:t>
                      </a:r>
                      <a:r>
                        <a:rPr lang="en-US" sz="1400" kern="100" dirty="0" err="1">
                          <a:effectLst/>
                        </a:rPr>
                        <a:t>backpatch</a:t>
                      </a:r>
                      <a:r>
                        <a:rPr lang="en-US" sz="1400" kern="100" dirty="0">
                          <a:effectLst/>
                        </a:rPr>
                        <a:t>(E.TC, U.HEAD);</a:t>
                      </a:r>
                      <a:endParaRPr lang="zh-CN" sz="1400" kern="100" dirty="0">
                        <a:effectLst/>
                      </a:endParaRPr>
                    </a:p>
                    <a:p>
                      <a:pPr indent="171450" algn="just">
                        <a:spcAft>
                          <a:spcPts val="0"/>
                        </a:spcAft>
                      </a:pPr>
                      <a:r>
                        <a:rPr lang="pt-PT" sz="1400" kern="100" dirty="0">
                          <a:effectLst/>
                        </a:rPr>
                        <a:t>S.CHAIN=E.FC                   }</a:t>
                      </a:r>
                      <a:endParaRPr lang="zh-CN" sz="14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bl>
          </a:graphicData>
        </a:graphic>
      </p:graphicFrame>
      <p:sp>
        <p:nvSpPr>
          <p:cNvPr id="17" name="矩形 16"/>
          <p:cNvSpPr/>
          <p:nvPr/>
        </p:nvSpPr>
        <p:spPr>
          <a:xfrm>
            <a:off x="3779912" y="2295059"/>
            <a:ext cx="5040560" cy="79564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8" name="矩形 17"/>
          <p:cNvSpPr/>
          <p:nvPr/>
        </p:nvSpPr>
        <p:spPr>
          <a:xfrm>
            <a:off x="4104394" y="2490450"/>
            <a:ext cx="1386918" cy="369332"/>
          </a:xfrm>
          <a:prstGeom prst="rect">
            <a:avLst/>
          </a:prstGeom>
        </p:spPr>
        <p:txBody>
          <a:bodyPr wrap="none">
            <a:spAutoFit/>
          </a:bodyPr>
          <a:lstStyle/>
          <a:p>
            <a:r>
              <a:rPr lang="en-US" altLang="zh-CN" kern="100" dirty="0"/>
              <a:t>D.HEAD=1</a:t>
            </a:r>
            <a:endParaRPr lang="zh-CN" altLang="en-US" dirty="0"/>
          </a:p>
        </p:txBody>
      </p:sp>
      <p:sp>
        <p:nvSpPr>
          <p:cNvPr id="19" name="矩形 18"/>
          <p:cNvSpPr/>
          <p:nvPr/>
        </p:nvSpPr>
        <p:spPr>
          <a:xfrm>
            <a:off x="5718186" y="2490450"/>
            <a:ext cx="1374094" cy="369332"/>
          </a:xfrm>
          <a:prstGeom prst="rect">
            <a:avLst/>
          </a:prstGeom>
        </p:spPr>
        <p:txBody>
          <a:bodyPr wrap="none">
            <a:spAutoFit/>
          </a:bodyPr>
          <a:lstStyle/>
          <a:p>
            <a:r>
              <a:rPr lang="en-US" altLang="zh-CN" kern="100" dirty="0"/>
              <a:t>U.HEAD=1</a:t>
            </a:r>
            <a:endParaRPr lang="zh-CN" altLang="en-US" dirty="0"/>
          </a:p>
        </p:txBody>
      </p:sp>
    </p:spTree>
    <p:extLst>
      <p:ext uri="{BB962C8B-B14F-4D97-AF65-F5344CB8AC3E}">
        <p14:creationId xmlns:p14="http://schemas.microsoft.com/office/powerpoint/2010/main" val="1224041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 grpId="0"/>
      <p:bldP spid="3" grpId="0"/>
      <p:bldP spid="4" grpId="0"/>
      <p:bldP spid="7" grpId="0" animBg="1"/>
      <p:bldP spid="8" grpId="0"/>
      <p:bldP spid="6" grpId="0" animBg="1"/>
      <p:bldP spid="17" grpId="0" animBg="1"/>
      <p:bldP spid="18" grpId="0"/>
      <p:bldP spid="19"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611189" y="303610"/>
            <a:ext cx="7489825" cy="1200329"/>
          </a:xfrm>
          <a:prstGeom prst="rect">
            <a:avLst/>
          </a:prstGeom>
        </p:spPr>
        <p:txBody>
          <a:bodyPr>
            <a:spAutoFit/>
          </a:bodyPr>
          <a:lstStyle/>
          <a:p>
            <a:pPr algn="just">
              <a:spcAft>
                <a:spcPts val="0"/>
              </a:spcAft>
              <a:buFontTx/>
              <a:buNone/>
              <a:defRPr/>
            </a:pPr>
            <a:r>
              <a:rPr lang="zh-CN" altLang="zh-CN" dirty="0">
                <a:latin typeface="Arial" pitchFamily="34" charset="0"/>
              </a:rPr>
              <a:t>例</a:t>
            </a:r>
            <a:r>
              <a:rPr lang="en-US" altLang="zh-CN" dirty="0">
                <a:latin typeface="Arial" pitchFamily="34" charset="0"/>
              </a:rPr>
              <a:t> </a:t>
            </a:r>
            <a:r>
              <a:rPr lang="zh-CN" altLang="zh-CN" kern="100" dirty="0">
                <a:latin typeface="Times New Roman" panose="02020603050405020304" pitchFamily="18" charset="0"/>
              </a:rPr>
              <a:t>将下面的语句翻译为四元式序列：</a:t>
            </a:r>
          </a:p>
          <a:p>
            <a:pPr algn="just">
              <a:spcAft>
                <a:spcPts val="0"/>
              </a:spcAft>
              <a:buFontTx/>
              <a:buNone/>
              <a:defRPr/>
            </a:pPr>
            <a:r>
              <a:rPr lang="en-US" altLang="zh-CN" kern="100" dirty="0">
                <a:latin typeface="Times New Roman" panose="02020603050405020304" pitchFamily="18" charset="0"/>
              </a:rPr>
              <a:t>if  (w&lt;1)  a=b*</a:t>
            </a:r>
            <a:r>
              <a:rPr lang="en-US" altLang="zh-CN" kern="100" dirty="0" err="1">
                <a:latin typeface="Times New Roman" panose="02020603050405020304" pitchFamily="18" charset="0"/>
              </a:rPr>
              <a:t>c+d</a:t>
            </a:r>
            <a:endParaRPr lang="zh-CN" altLang="zh-CN" kern="100" dirty="0">
              <a:latin typeface="Times New Roman" panose="02020603050405020304" pitchFamily="18" charset="0"/>
            </a:endParaRPr>
          </a:p>
          <a:p>
            <a:pPr algn="just">
              <a:spcAft>
                <a:spcPts val="0"/>
              </a:spcAft>
              <a:buFontTx/>
              <a:buNone/>
              <a:defRPr/>
            </a:pPr>
            <a:r>
              <a:rPr lang="en-US" altLang="zh-CN" kern="100" dirty="0">
                <a:latin typeface="Times New Roman" panose="02020603050405020304" pitchFamily="18" charset="0"/>
              </a:rPr>
              <a:t>else  do  a=a-1 </a:t>
            </a:r>
            <a:endParaRPr lang="zh-CN" altLang="zh-CN" kern="100" dirty="0">
              <a:latin typeface="Times New Roman" panose="02020603050405020304" pitchFamily="18" charset="0"/>
            </a:endParaRPr>
          </a:p>
          <a:p>
            <a:pPr algn="just">
              <a:spcAft>
                <a:spcPts val="0"/>
              </a:spcAft>
              <a:buFontTx/>
              <a:buNone/>
              <a:defRPr/>
            </a:pPr>
            <a:r>
              <a:rPr lang="en-US" altLang="zh-CN" kern="100" dirty="0">
                <a:latin typeface="Times New Roman" panose="02020603050405020304" pitchFamily="18" charset="0"/>
              </a:rPr>
              <a:t>while( a&lt;0 );</a:t>
            </a:r>
            <a:endParaRPr lang="zh-CN" altLang="zh-CN" kern="100" dirty="0">
              <a:latin typeface="Times New Roman" panose="02020603050405020304" pitchFamily="18" charset="0"/>
            </a:endParaRPr>
          </a:p>
        </p:txBody>
      </p:sp>
      <p:graphicFrame>
        <p:nvGraphicFramePr>
          <p:cNvPr id="11" name="表格 10"/>
          <p:cNvGraphicFramePr>
            <a:graphicFrameLocks noGrp="1"/>
          </p:cNvGraphicFramePr>
          <p:nvPr>
            <p:extLst>
              <p:ext uri="{D42A27DB-BD31-4B8C-83A1-F6EECF244321}">
                <p14:modId xmlns:p14="http://schemas.microsoft.com/office/powerpoint/2010/main" val="1821021799"/>
              </p:ext>
            </p:extLst>
          </p:nvPr>
        </p:nvGraphicFramePr>
        <p:xfrm>
          <a:off x="1547664" y="1707654"/>
          <a:ext cx="7107759" cy="2853412"/>
        </p:xfrm>
        <a:graphic>
          <a:graphicData uri="http://schemas.openxmlformats.org/drawingml/2006/table">
            <a:tbl>
              <a:tblPr/>
              <a:tblGrid>
                <a:gridCol w="680145">
                  <a:extLst>
                    <a:ext uri="{9D8B030D-6E8A-4147-A177-3AD203B41FA5}">
                      <a16:colId xmlns:a16="http://schemas.microsoft.com/office/drawing/2014/main" val="20000"/>
                    </a:ext>
                  </a:extLst>
                </a:gridCol>
                <a:gridCol w="1630071">
                  <a:extLst>
                    <a:ext uri="{9D8B030D-6E8A-4147-A177-3AD203B41FA5}">
                      <a16:colId xmlns:a16="http://schemas.microsoft.com/office/drawing/2014/main" val="20001"/>
                    </a:ext>
                  </a:extLst>
                </a:gridCol>
                <a:gridCol w="4797543">
                  <a:extLst>
                    <a:ext uri="{9D8B030D-6E8A-4147-A177-3AD203B41FA5}">
                      <a16:colId xmlns:a16="http://schemas.microsoft.com/office/drawing/2014/main" val="20002"/>
                    </a:ext>
                  </a:extLst>
                </a:gridCol>
              </a:tblGrid>
              <a:tr h="233560">
                <a:tc>
                  <a:txBody>
                    <a:bodyPr/>
                    <a:lstStyle/>
                    <a:p>
                      <a:pPr algn="ctr">
                        <a:spcAft>
                          <a:spcPts val="0"/>
                        </a:spcAft>
                      </a:pP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1</a:t>
                      </a:r>
                      <a:r>
                        <a:rPr lang="zh-CN" sz="1500" kern="100" dirty="0">
                          <a:effectLst/>
                          <a:latin typeface="Times New Roman" panose="02020603050405020304" pitchFamily="18" charset="0"/>
                          <a:ea typeface="宋体" panose="02010600030101010101" pitchFamily="2" charset="-122"/>
                        </a:rPr>
                        <a:t>）</a:t>
                      </a:r>
                    </a:p>
                  </a:txBody>
                  <a:tcPr marL="68582" marR="68582" marT="0" marB="0">
                    <a:lnL>
                      <a:noFill/>
                    </a:lnL>
                    <a:lnR>
                      <a:noFill/>
                    </a:lnR>
                    <a:lnT>
                      <a:noFill/>
                    </a:lnT>
                    <a:lnB>
                      <a:noFill/>
                    </a:lnB>
                  </a:tcPr>
                </a:tc>
                <a:tc>
                  <a:txBody>
                    <a:bodyPr/>
                    <a:lstStyle/>
                    <a:p>
                      <a:pPr algn="just">
                        <a:spcAft>
                          <a:spcPts val="0"/>
                        </a:spcAft>
                      </a:pPr>
                      <a:r>
                        <a:rPr lang="fr-FR" sz="1500" kern="100" dirty="0">
                          <a:effectLst/>
                          <a:latin typeface="Times New Roman" panose="02020603050405020304" pitchFamily="18" charset="0"/>
                          <a:ea typeface="宋体" panose="02010600030101010101" pitchFamily="2" charset="-122"/>
                        </a:rPr>
                        <a:t>(j&lt;</a:t>
                      </a: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w</a:t>
                      </a: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1</a:t>
                      </a: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3)</a:t>
                      </a:r>
                      <a:endParaRPr lang="zh-CN" sz="1500" kern="100" dirty="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tc>
                  <a:txBody>
                    <a:bodyPr/>
                    <a:lstStyle/>
                    <a:p>
                      <a:pPr algn="just">
                        <a:spcAft>
                          <a:spcPts val="0"/>
                        </a:spcAft>
                      </a:pPr>
                      <a:r>
                        <a:rPr lang="fr-FR" sz="1400" kern="100">
                          <a:effectLst/>
                          <a:latin typeface="Times New Roman" panose="02020603050405020304" pitchFamily="18" charset="0"/>
                          <a:ea typeface="宋体" panose="02010600030101010101" pitchFamily="2" charset="-122"/>
                        </a:rPr>
                        <a:t>/*w&lt;1</a:t>
                      </a:r>
                      <a:r>
                        <a:rPr lang="zh-CN" sz="1400" kern="100">
                          <a:effectLst/>
                          <a:latin typeface="Times New Roman" panose="02020603050405020304" pitchFamily="18" charset="0"/>
                          <a:ea typeface="宋体" panose="02010600030101010101" pitchFamily="2" charset="-122"/>
                        </a:rPr>
                        <a:t>生成两个四元式</a:t>
                      </a:r>
                      <a:r>
                        <a:rPr lang="fr-FR" sz="1400" kern="100">
                          <a:effectLst/>
                          <a:latin typeface="Times New Roman" panose="02020603050405020304" pitchFamily="18" charset="0"/>
                          <a:ea typeface="宋体" panose="02010600030101010101" pitchFamily="2" charset="-122"/>
                        </a:rPr>
                        <a:t>1</a:t>
                      </a:r>
                      <a:r>
                        <a:rPr lang="zh-CN" sz="1400" kern="100">
                          <a:effectLst/>
                          <a:latin typeface="Times New Roman" panose="02020603050405020304" pitchFamily="18" charset="0"/>
                          <a:ea typeface="宋体" panose="02010600030101010101" pitchFamily="2" charset="-122"/>
                        </a:rPr>
                        <a:t>，</a:t>
                      </a:r>
                      <a:r>
                        <a:rPr lang="fr-FR" sz="1400" kern="100">
                          <a:effectLst/>
                          <a:latin typeface="Times New Roman" panose="02020603050405020304" pitchFamily="18" charset="0"/>
                          <a:ea typeface="宋体" panose="02010600030101010101" pitchFamily="2" charset="-122"/>
                        </a:rPr>
                        <a:t>2</a:t>
                      </a:r>
                      <a:r>
                        <a:rPr lang="zh-CN" sz="1400" kern="100">
                          <a:effectLst/>
                          <a:latin typeface="Times New Roman" panose="02020603050405020304" pitchFamily="18" charset="0"/>
                          <a:ea typeface="宋体" panose="02010600030101010101" pitchFamily="2" charset="-122"/>
                        </a:rPr>
                        <a:t>，读</a:t>
                      </a:r>
                      <a:r>
                        <a:rPr lang="fr-FR" sz="1400" kern="100">
                          <a:effectLst/>
                          <a:latin typeface="Times New Roman" panose="02020603050405020304" pitchFamily="18" charset="0"/>
                          <a:ea typeface="宋体" panose="02010600030101010101" pitchFamily="2" charset="-122"/>
                        </a:rPr>
                        <a:t>then</a:t>
                      </a:r>
                      <a:r>
                        <a:rPr lang="zh-CN" sz="1400" kern="100">
                          <a:effectLst/>
                          <a:latin typeface="Times New Roman" panose="02020603050405020304" pitchFamily="18" charset="0"/>
                          <a:ea typeface="宋体" panose="02010600030101010101" pitchFamily="2" charset="-122"/>
                        </a:rPr>
                        <a:t>时真出口回填为</a:t>
                      </a:r>
                      <a:r>
                        <a:rPr lang="fr-FR" sz="1400" kern="100">
                          <a:effectLst/>
                          <a:latin typeface="Times New Roman" panose="02020603050405020304" pitchFamily="18" charset="0"/>
                          <a:ea typeface="宋体" panose="02010600030101010101" pitchFamily="2" charset="-122"/>
                        </a:rPr>
                        <a:t>3*/</a:t>
                      </a:r>
                      <a:endParaRPr lang="zh-CN" sz="1400" kern="10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extLst>
                  <a:ext uri="{0D108BD9-81ED-4DB2-BD59-A6C34878D82A}">
                    <a16:rowId xmlns:a16="http://schemas.microsoft.com/office/drawing/2014/main" val="10000"/>
                  </a:ext>
                </a:extLst>
              </a:tr>
              <a:tr h="250329">
                <a:tc>
                  <a:txBody>
                    <a:bodyPr/>
                    <a:lstStyle/>
                    <a:p>
                      <a:pPr algn="ctr">
                        <a:spcAft>
                          <a:spcPts val="0"/>
                        </a:spcAft>
                      </a:pP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2</a:t>
                      </a:r>
                      <a:r>
                        <a:rPr lang="zh-CN" sz="1500" kern="100" dirty="0">
                          <a:effectLst/>
                          <a:latin typeface="Times New Roman" panose="02020603050405020304" pitchFamily="18" charset="0"/>
                          <a:ea typeface="宋体" panose="02010600030101010101" pitchFamily="2" charset="-122"/>
                        </a:rPr>
                        <a:t>）</a:t>
                      </a:r>
                    </a:p>
                  </a:txBody>
                  <a:tcPr marL="68582" marR="68582" marT="0" marB="0">
                    <a:lnL>
                      <a:noFill/>
                    </a:lnL>
                    <a:lnR>
                      <a:noFill/>
                    </a:lnR>
                    <a:lnT>
                      <a:noFill/>
                    </a:lnT>
                    <a:lnB>
                      <a:noFill/>
                    </a:lnB>
                  </a:tcPr>
                </a:tc>
                <a:tc>
                  <a:txBody>
                    <a:bodyPr/>
                    <a:lstStyle/>
                    <a:p>
                      <a:pPr algn="just">
                        <a:spcAft>
                          <a:spcPts val="0"/>
                        </a:spcAft>
                      </a:pPr>
                      <a:r>
                        <a:rPr lang="fr-FR" sz="1500" kern="100">
                          <a:effectLst/>
                          <a:latin typeface="Times New Roman" panose="02020603050405020304" pitchFamily="18" charset="0"/>
                          <a:ea typeface="宋体" panose="02010600030101010101" pitchFamily="2" charset="-122"/>
                        </a:rPr>
                        <a:t>(j</a:t>
                      </a:r>
                      <a:r>
                        <a:rPr lang="zh-CN" sz="1500" kern="100">
                          <a:effectLst/>
                          <a:latin typeface="Times New Roman" panose="02020603050405020304" pitchFamily="18" charset="0"/>
                          <a:ea typeface="宋体" panose="02010600030101010101" pitchFamily="2" charset="-122"/>
                        </a:rPr>
                        <a:t>， ， ，</a:t>
                      </a:r>
                      <a:r>
                        <a:rPr lang="fr-FR" sz="1500" kern="100">
                          <a:effectLst/>
                          <a:latin typeface="Times New Roman" panose="02020603050405020304" pitchFamily="18" charset="0"/>
                          <a:ea typeface="宋体" panose="02010600030101010101" pitchFamily="2" charset="-122"/>
                        </a:rPr>
                        <a:t>7)</a:t>
                      </a:r>
                      <a:endParaRPr lang="zh-CN" sz="1500" kern="10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tc>
                  <a:txBody>
                    <a:bodyPr/>
                    <a:lstStyle/>
                    <a:p>
                      <a:pPr algn="just">
                        <a:spcAft>
                          <a:spcPts val="0"/>
                        </a:spcAft>
                      </a:pPr>
                      <a:r>
                        <a:rPr lang="fr-FR" sz="1400" kern="100">
                          <a:effectLst/>
                          <a:latin typeface="Times New Roman" panose="02020603050405020304" pitchFamily="18" charset="0"/>
                          <a:ea typeface="宋体" panose="02010600030101010101" pitchFamily="2" charset="-122"/>
                        </a:rPr>
                        <a:t>/*</a:t>
                      </a:r>
                      <a:r>
                        <a:rPr lang="zh-CN" sz="1400" kern="100">
                          <a:effectLst/>
                          <a:latin typeface="Times New Roman" panose="02020603050405020304" pitchFamily="18" charset="0"/>
                          <a:ea typeface="宋体" panose="02010600030101010101" pitchFamily="2" charset="-122"/>
                        </a:rPr>
                        <a:t>读到</a:t>
                      </a:r>
                      <a:r>
                        <a:rPr lang="fr-FR" sz="1400" kern="100">
                          <a:effectLst/>
                          <a:latin typeface="Times New Roman" panose="02020603050405020304" pitchFamily="18" charset="0"/>
                          <a:ea typeface="宋体" panose="02010600030101010101" pitchFamily="2" charset="-122"/>
                        </a:rPr>
                        <a:t>else</a:t>
                      </a:r>
                      <a:r>
                        <a:rPr lang="zh-CN" sz="1400" kern="100">
                          <a:effectLst/>
                          <a:latin typeface="Times New Roman" panose="02020603050405020304" pitchFamily="18" charset="0"/>
                          <a:ea typeface="宋体" panose="02010600030101010101" pitchFamily="2" charset="-122"/>
                        </a:rPr>
                        <a:t>时，假出口回填为</a:t>
                      </a:r>
                      <a:r>
                        <a:rPr lang="fr-FR" sz="1400" kern="100">
                          <a:effectLst/>
                          <a:latin typeface="Times New Roman" panose="02020603050405020304" pitchFamily="18" charset="0"/>
                          <a:ea typeface="宋体" panose="02010600030101010101" pitchFamily="2" charset="-122"/>
                        </a:rPr>
                        <a:t>7*/</a:t>
                      </a:r>
                      <a:endParaRPr lang="zh-CN" sz="1400" kern="10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extLst>
                  <a:ext uri="{0D108BD9-81ED-4DB2-BD59-A6C34878D82A}">
                    <a16:rowId xmlns:a16="http://schemas.microsoft.com/office/drawing/2014/main" val="10001"/>
                  </a:ext>
                </a:extLst>
              </a:tr>
              <a:tr h="250329">
                <a:tc>
                  <a:txBody>
                    <a:bodyPr/>
                    <a:lstStyle/>
                    <a:p>
                      <a:pPr algn="ctr">
                        <a:spcAft>
                          <a:spcPts val="0"/>
                        </a:spcAft>
                      </a:pPr>
                      <a:r>
                        <a:rPr lang="zh-CN" sz="1500" kern="100">
                          <a:effectLst/>
                          <a:latin typeface="Times New Roman" panose="02020603050405020304" pitchFamily="18" charset="0"/>
                          <a:ea typeface="宋体" panose="02010600030101010101" pitchFamily="2" charset="-122"/>
                        </a:rPr>
                        <a:t>（</a:t>
                      </a:r>
                      <a:r>
                        <a:rPr lang="fr-FR" sz="1500" kern="100">
                          <a:effectLst/>
                          <a:latin typeface="Times New Roman" panose="02020603050405020304" pitchFamily="18" charset="0"/>
                          <a:ea typeface="宋体" panose="02010600030101010101" pitchFamily="2" charset="-122"/>
                        </a:rPr>
                        <a:t>3</a:t>
                      </a:r>
                      <a:r>
                        <a:rPr lang="zh-CN" sz="1500" kern="100">
                          <a:effectLst/>
                          <a:latin typeface="Times New Roman" panose="02020603050405020304" pitchFamily="18" charset="0"/>
                          <a:ea typeface="宋体" panose="02010600030101010101" pitchFamily="2" charset="-122"/>
                        </a:rPr>
                        <a:t>）</a:t>
                      </a:r>
                    </a:p>
                  </a:txBody>
                  <a:tcPr marL="68582" marR="68582" marT="0" marB="0">
                    <a:lnL>
                      <a:noFill/>
                    </a:lnL>
                    <a:lnR>
                      <a:noFill/>
                    </a:lnR>
                    <a:lnT>
                      <a:noFill/>
                    </a:lnT>
                    <a:lnB>
                      <a:noFill/>
                    </a:lnB>
                  </a:tcPr>
                </a:tc>
                <a:tc>
                  <a:txBody>
                    <a:bodyPr/>
                    <a:lstStyle/>
                    <a:p>
                      <a:pPr algn="just">
                        <a:spcAft>
                          <a:spcPts val="0"/>
                        </a:spcAft>
                      </a:pPr>
                      <a:r>
                        <a:rPr lang="fr-FR" sz="1500" kern="100" dirty="0">
                          <a:effectLst/>
                          <a:latin typeface="Times New Roman" panose="02020603050405020304" pitchFamily="18" charset="0"/>
                          <a:ea typeface="宋体" panose="02010600030101010101" pitchFamily="2" charset="-122"/>
                        </a:rPr>
                        <a:t>(*</a:t>
                      </a: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b</a:t>
                      </a: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c</a:t>
                      </a: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T1)</a:t>
                      </a:r>
                      <a:endParaRPr lang="zh-CN" sz="1500" kern="100" dirty="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tc>
                  <a:txBody>
                    <a:bodyPr/>
                    <a:lstStyle/>
                    <a:p>
                      <a:pPr algn="just">
                        <a:spcAft>
                          <a:spcPts val="0"/>
                        </a:spcAft>
                      </a:pPr>
                      <a:r>
                        <a:rPr lang="en-US" sz="1400" kern="100">
                          <a:effectLst/>
                          <a:latin typeface="Times New Roman" panose="02020603050405020304" pitchFamily="18" charset="0"/>
                          <a:ea typeface="宋体" panose="02010600030101010101" pitchFamily="2" charset="-122"/>
                        </a:rPr>
                        <a:t>/* a=b*c+d</a:t>
                      </a:r>
                      <a:r>
                        <a:rPr lang="zh-CN" sz="1400" kern="100">
                          <a:effectLst/>
                          <a:latin typeface="Times New Roman" panose="02020603050405020304" pitchFamily="18" charset="0"/>
                          <a:ea typeface="宋体" panose="02010600030101010101" pitchFamily="2" charset="-122"/>
                        </a:rPr>
                        <a:t>的四元式</a:t>
                      </a:r>
                      <a:r>
                        <a:rPr lang="en-US" sz="1400" kern="100">
                          <a:effectLst/>
                          <a:latin typeface="Times New Roman" panose="02020603050405020304" pitchFamily="18" charset="0"/>
                          <a:ea typeface="宋体" panose="02010600030101010101" pitchFamily="2" charset="-122"/>
                        </a:rPr>
                        <a:t>3,4,5*/</a:t>
                      </a:r>
                      <a:endParaRPr lang="zh-CN" sz="1400" kern="10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extLst>
                  <a:ext uri="{0D108BD9-81ED-4DB2-BD59-A6C34878D82A}">
                    <a16:rowId xmlns:a16="http://schemas.microsoft.com/office/drawing/2014/main" val="10002"/>
                  </a:ext>
                </a:extLst>
              </a:tr>
              <a:tr h="250329">
                <a:tc>
                  <a:txBody>
                    <a:bodyPr/>
                    <a:lstStyle/>
                    <a:p>
                      <a:pPr algn="ctr">
                        <a:spcAft>
                          <a:spcPts val="0"/>
                        </a:spcAft>
                      </a:pPr>
                      <a:r>
                        <a:rPr lang="zh-CN" sz="1500" kern="100">
                          <a:effectLst/>
                          <a:latin typeface="Times New Roman" panose="02020603050405020304" pitchFamily="18" charset="0"/>
                          <a:ea typeface="宋体" panose="02010600030101010101" pitchFamily="2" charset="-122"/>
                        </a:rPr>
                        <a:t>（</a:t>
                      </a:r>
                      <a:r>
                        <a:rPr lang="fr-FR" sz="1500" kern="100">
                          <a:effectLst/>
                          <a:latin typeface="Times New Roman" panose="02020603050405020304" pitchFamily="18" charset="0"/>
                          <a:ea typeface="宋体" panose="02010600030101010101" pitchFamily="2" charset="-122"/>
                        </a:rPr>
                        <a:t>4</a:t>
                      </a:r>
                      <a:r>
                        <a:rPr lang="zh-CN" sz="1500" kern="100">
                          <a:effectLst/>
                          <a:latin typeface="Times New Roman" panose="02020603050405020304" pitchFamily="18" charset="0"/>
                          <a:ea typeface="宋体" panose="02010600030101010101" pitchFamily="2" charset="-122"/>
                        </a:rPr>
                        <a:t>）</a:t>
                      </a:r>
                    </a:p>
                  </a:txBody>
                  <a:tcPr marL="68582" marR="68582" marT="0" marB="0">
                    <a:lnL>
                      <a:noFill/>
                    </a:lnL>
                    <a:lnR>
                      <a:noFill/>
                    </a:lnR>
                    <a:lnT>
                      <a:noFill/>
                    </a:lnT>
                    <a:lnB>
                      <a:noFill/>
                    </a:lnB>
                  </a:tcPr>
                </a:tc>
                <a:tc>
                  <a:txBody>
                    <a:bodyPr/>
                    <a:lstStyle/>
                    <a:p>
                      <a:pPr algn="just">
                        <a:spcAft>
                          <a:spcPts val="0"/>
                        </a:spcAft>
                      </a:pPr>
                      <a:r>
                        <a:rPr lang="fr-FR" sz="1500" kern="100" dirty="0">
                          <a:effectLst/>
                          <a:latin typeface="Times New Roman" panose="02020603050405020304" pitchFamily="18" charset="0"/>
                          <a:ea typeface="宋体" panose="02010600030101010101" pitchFamily="2" charset="-122"/>
                        </a:rPr>
                        <a:t>(+</a:t>
                      </a: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T1</a:t>
                      </a: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d</a:t>
                      </a: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T2)</a:t>
                      </a:r>
                      <a:endParaRPr lang="zh-CN" sz="1500" kern="100" dirty="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tc>
                  <a:txBody>
                    <a:bodyPr/>
                    <a:lstStyle/>
                    <a:p>
                      <a:pPr algn="just">
                        <a:spcAft>
                          <a:spcPts val="0"/>
                        </a:spcAft>
                      </a:pPr>
                      <a:r>
                        <a:rPr lang="fr-FR" sz="1400" kern="100">
                          <a:effectLst/>
                          <a:latin typeface="Times New Roman" panose="02020603050405020304" pitchFamily="18" charset="0"/>
                          <a:ea typeface="宋体" panose="02010600030101010101" pitchFamily="2" charset="-122"/>
                        </a:rPr>
                        <a:t> </a:t>
                      </a:r>
                      <a:endParaRPr lang="zh-CN" sz="1400" kern="10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extLst>
                  <a:ext uri="{0D108BD9-81ED-4DB2-BD59-A6C34878D82A}">
                    <a16:rowId xmlns:a16="http://schemas.microsoft.com/office/drawing/2014/main" val="10003"/>
                  </a:ext>
                </a:extLst>
              </a:tr>
              <a:tr h="250329">
                <a:tc>
                  <a:txBody>
                    <a:bodyPr/>
                    <a:lstStyle/>
                    <a:p>
                      <a:pPr algn="ctr">
                        <a:spcAft>
                          <a:spcPts val="0"/>
                        </a:spcAft>
                      </a:pPr>
                      <a:r>
                        <a:rPr lang="zh-CN" sz="1500" kern="100">
                          <a:effectLst/>
                          <a:latin typeface="Times New Roman" panose="02020603050405020304" pitchFamily="18" charset="0"/>
                          <a:ea typeface="宋体" panose="02010600030101010101" pitchFamily="2" charset="-122"/>
                        </a:rPr>
                        <a:t>（</a:t>
                      </a:r>
                      <a:r>
                        <a:rPr lang="fr-FR" sz="1500" kern="100">
                          <a:effectLst/>
                          <a:latin typeface="Times New Roman" panose="02020603050405020304" pitchFamily="18" charset="0"/>
                          <a:ea typeface="宋体" panose="02010600030101010101" pitchFamily="2" charset="-122"/>
                        </a:rPr>
                        <a:t>5</a:t>
                      </a:r>
                      <a:r>
                        <a:rPr lang="zh-CN" sz="1500" kern="100">
                          <a:effectLst/>
                          <a:latin typeface="Times New Roman" panose="02020603050405020304" pitchFamily="18" charset="0"/>
                          <a:ea typeface="宋体" panose="02010600030101010101" pitchFamily="2" charset="-122"/>
                        </a:rPr>
                        <a:t>）</a:t>
                      </a:r>
                    </a:p>
                  </a:txBody>
                  <a:tcPr marL="68582" marR="68582" marT="0" marB="0">
                    <a:lnL>
                      <a:noFill/>
                    </a:lnL>
                    <a:lnR>
                      <a:noFill/>
                    </a:lnR>
                    <a:lnT>
                      <a:noFill/>
                    </a:lnT>
                    <a:lnB>
                      <a:noFill/>
                    </a:lnB>
                  </a:tcPr>
                </a:tc>
                <a:tc>
                  <a:txBody>
                    <a:bodyPr/>
                    <a:lstStyle/>
                    <a:p>
                      <a:pPr algn="just">
                        <a:spcAft>
                          <a:spcPts val="0"/>
                        </a:spcAft>
                      </a:pPr>
                      <a:r>
                        <a:rPr lang="fr-FR" sz="1500" kern="100">
                          <a:effectLst/>
                          <a:latin typeface="Times New Roman" panose="02020603050405020304" pitchFamily="18" charset="0"/>
                          <a:ea typeface="宋体" panose="02010600030101010101" pitchFamily="2" charset="-122"/>
                        </a:rPr>
                        <a:t>(=</a:t>
                      </a:r>
                      <a:r>
                        <a:rPr lang="zh-CN" sz="1500" kern="100">
                          <a:effectLst/>
                          <a:latin typeface="Times New Roman" panose="02020603050405020304" pitchFamily="18" charset="0"/>
                          <a:ea typeface="宋体" panose="02010600030101010101" pitchFamily="2" charset="-122"/>
                        </a:rPr>
                        <a:t>，</a:t>
                      </a:r>
                      <a:r>
                        <a:rPr lang="fr-FR" sz="1500" kern="100">
                          <a:effectLst/>
                          <a:latin typeface="Times New Roman" panose="02020603050405020304" pitchFamily="18" charset="0"/>
                          <a:ea typeface="宋体" panose="02010600030101010101" pitchFamily="2" charset="-122"/>
                        </a:rPr>
                        <a:t>T2</a:t>
                      </a:r>
                      <a:r>
                        <a:rPr lang="zh-CN" sz="1500" kern="100">
                          <a:effectLst/>
                          <a:latin typeface="Times New Roman" panose="02020603050405020304" pitchFamily="18" charset="0"/>
                          <a:ea typeface="宋体" panose="02010600030101010101" pitchFamily="2" charset="-122"/>
                        </a:rPr>
                        <a:t>， ，</a:t>
                      </a:r>
                      <a:r>
                        <a:rPr lang="fr-FR" sz="1500" kern="100">
                          <a:effectLst/>
                          <a:latin typeface="Times New Roman" panose="02020603050405020304" pitchFamily="18" charset="0"/>
                          <a:ea typeface="宋体" panose="02010600030101010101" pitchFamily="2" charset="-122"/>
                        </a:rPr>
                        <a:t>a)</a:t>
                      </a:r>
                      <a:endParaRPr lang="zh-CN" sz="1500" kern="10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tc>
                  <a:txBody>
                    <a:bodyPr/>
                    <a:lstStyle/>
                    <a:p>
                      <a:pPr algn="just">
                        <a:spcAft>
                          <a:spcPts val="0"/>
                        </a:spcAft>
                      </a:pPr>
                      <a:r>
                        <a:rPr lang="fr-FR" sz="1400" kern="100">
                          <a:effectLst/>
                          <a:latin typeface="Times New Roman" panose="02020603050405020304" pitchFamily="18" charset="0"/>
                          <a:ea typeface="宋体" panose="02010600030101010101" pitchFamily="2" charset="-122"/>
                        </a:rPr>
                        <a:t> </a:t>
                      </a:r>
                      <a:endParaRPr lang="zh-CN" sz="1400" kern="10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extLst>
                  <a:ext uri="{0D108BD9-81ED-4DB2-BD59-A6C34878D82A}">
                    <a16:rowId xmlns:a16="http://schemas.microsoft.com/office/drawing/2014/main" val="10004"/>
                  </a:ext>
                </a:extLst>
              </a:tr>
              <a:tr h="250329">
                <a:tc>
                  <a:txBody>
                    <a:bodyPr/>
                    <a:lstStyle/>
                    <a:p>
                      <a:pPr algn="ctr">
                        <a:spcAft>
                          <a:spcPts val="0"/>
                        </a:spcAft>
                      </a:pPr>
                      <a:r>
                        <a:rPr lang="zh-CN" sz="1500" kern="100">
                          <a:effectLst/>
                          <a:latin typeface="Times New Roman" panose="02020603050405020304" pitchFamily="18" charset="0"/>
                          <a:ea typeface="宋体" panose="02010600030101010101" pitchFamily="2" charset="-122"/>
                        </a:rPr>
                        <a:t>（</a:t>
                      </a:r>
                      <a:r>
                        <a:rPr lang="fr-FR" sz="1500" kern="100">
                          <a:effectLst/>
                          <a:latin typeface="Times New Roman" panose="02020603050405020304" pitchFamily="18" charset="0"/>
                          <a:ea typeface="宋体" panose="02010600030101010101" pitchFamily="2" charset="-122"/>
                        </a:rPr>
                        <a:t>6</a:t>
                      </a:r>
                      <a:r>
                        <a:rPr lang="zh-CN" sz="1500" kern="100">
                          <a:effectLst/>
                          <a:latin typeface="Times New Roman" panose="02020603050405020304" pitchFamily="18" charset="0"/>
                          <a:ea typeface="宋体" panose="02010600030101010101" pitchFamily="2" charset="-122"/>
                        </a:rPr>
                        <a:t>）</a:t>
                      </a:r>
                    </a:p>
                  </a:txBody>
                  <a:tcPr marL="68582" marR="68582" marT="0" marB="0">
                    <a:lnL>
                      <a:noFill/>
                    </a:lnL>
                    <a:lnR>
                      <a:noFill/>
                    </a:lnR>
                    <a:lnT>
                      <a:noFill/>
                    </a:lnT>
                    <a:lnB>
                      <a:noFill/>
                    </a:lnB>
                  </a:tcPr>
                </a:tc>
                <a:tc>
                  <a:txBody>
                    <a:bodyPr/>
                    <a:lstStyle/>
                    <a:p>
                      <a:pPr algn="just">
                        <a:spcAft>
                          <a:spcPts val="0"/>
                        </a:spcAft>
                      </a:pPr>
                      <a:r>
                        <a:rPr lang="fr-FR" sz="1500" kern="100">
                          <a:effectLst/>
                          <a:latin typeface="Times New Roman" panose="02020603050405020304" pitchFamily="18" charset="0"/>
                          <a:ea typeface="宋体" panose="02010600030101010101" pitchFamily="2" charset="-122"/>
                        </a:rPr>
                        <a:t>(j</a:t>
                      </a:r>
                      <a:r>
                        <a:rPr lang="zh-CN" sz="1500" kern="100">
                          <a:effectLst/>
                          <a:latin typeface="Times New Roman" panose="02020603050405020304" pitchFamily="18" charset="0"/>
                          <a:ea typeface="宋体" panose="02010600030101010101" pitchFamily="2" charset="-122"/>
                        </a:rPr>
                        <a:t>， ， ，</a:t>
                      </a:r>
                      <a:r>
                        <a:rPr lang="fr-FR" sz="1500" kern="100">
                          <a:effectLst/>
                          <a:latin typeface="Times New Roman" panose="02020603050405020304" pitchFamily="18" charset="0"/>
                          <a:ea typeface="宋体" panose="02010600030101010101" pitchFamily="2" charset="-122"/>
                        </a:rPr>
                        <a:t>10)</a:t>
                      </a:r>
                      <a:endParaRPr lang="zh-CN" sz="1500" kern="10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tc>
                  <a:txBody>
                    <a:bodyPr/>
                    <a:lstStyle/>
                    <a:p>
                      <a:pPr algn="just">
                        <a:spcAft>
                          <a:spcPts val="0"/>
                        </a:spcAft>
                      </a:pPr>
                      <a:r>
                        <a:rPr lang="fr-FR" sz="1400" kern="100">
                          <a:effectLst/>
                          <a:latin typeface="Times New Roman" panose="02020603050405020304" pitchFamily="18" charset="0"/>
                          <a:ea typeface="宋体" panose="02010600030101010101" pitchFamily="2" charset="-122"/>
                        </a:rPr>
                        <a:t>/*</a:t>
                      </a:r>
                      <a:r>
                        <a:rPr lang="zh-CN" sz="1400" kern="100">
                          <a:effectLst/>
                          <a:latin typeface="Times New Roman" panose="02020603050405020304" pitchFamily="18" charset="0"/>
                          <a:ea typeface="宋体" panose="02010600030101010101" pitchFamily="2" charset="-122"/>
                        </a:rPr>
                        <a:t>跳过</a:t>
                      </a:r>
                      <a:r>
                        <a:rPr lang="fr-FR" sz="1400" kern="100">
                          <a:effectLst/>
                          <a:latin typeface="Times New Roman" panose="02020603050405020304" pitchFamily="18" charset="0"/>
                          <a:ea typeface="宋体" panose="02010600030101010101" pitchFamily="2" charset="-122"/>
                        </a:rPr>
                        <a:t>else*/</a:t>
                      </a:r>
                      <a:endParaRPr lang="zh-CN" sz="1400" kern="10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extLst>
                  <a:ext uri="{0D108BD9-81ED-4DB2-BD59-A6C34878D82A}">
                    <a16:rowId xmlns:a16="http://schemas.microsoft.com/office/drawing/2014/main" val="10005"/>
                  </a:ext>
                </a:extLst>
              </a:tr>
              <a:tr h="250329">
                <a:tc>
                  <a:txBody>
                    <a:bodyPr/>
                    <a:lstStyle/>
                    <a:p>
                      <a:pPr algn="ctr">
                        <a:spcAft>
                          <a:spcPts val="0"/>
                        </a:spcAft>
                      </a:pPr>
                      <a:r>
                        <a:rPr lang="zh-CN" sz="1500" kern="100">
                          <a:effectLst/>
                          <a:latin typeface="Times New Roman" panose="02020603050405020304" pitchFamily="18" charset="0"/>
                          <a:ea typeface="宋体" panose="02010600030101010101" pitchFamily="2" charset="-122"/>
                        </a:rPr>
                        <a:t>（</a:t>
                      </a:r>
                      <a:r>
                        <a:rPr lang="fr-FR" sz="1500" kern="100">
                          <a:effectLst/>
                          <a:latin typeface="Times New Roman" panose="02020603050405020304" pitchFamily="18" charset="0"/>
                          <a:ea typeface="宋体" panose="02010600030101010101" pitchFamily="2" charset="-122"/>
                        </a:rPr>
                        <a:t>7</a:t>
                      </a:r>
                      <a:r>
                        <a:rPr lang="zh-CN" sz="1500" kern="100">
                          <a:effectLst/>
                          <a:latin typeface="Times New Roman" panose="02020603050405020304" pitchFamily="18" charset="0"/>
                          <a:ea typeface="宋体" panose="02010600030101010101" pitchFamily="2" charset="-122"/>
                        </a:rPr>
                        <a:t>）</a:t>
                      </a:r>
                    </a:p>
                  </a:txBody>
                  <a:tcPr marL="68582" marR="68582" marT="0" marB="0">
                    <a:lnL>
                      <a:noFill/>
                    </a:lnL>
                    <a:lnR>
                      <a:noFill/>
                    </a:lnR>
                    <a:lnT>
                      <a:noFill/>
                    </a:lnT>
                    <a:lnB>
                      <a:noFill/>
                    </a:lnB>
                  </a:tcPr>
                </a:tc>
                <a:tc>
                  <a:txBody>
                    <a:bodyPr/>
                    <a:lstStyle/>
                    <a:p>
                      <a:pPr algn="just">
                        <a:spcAft>
                          <a:spcPts val="0"/>
                        </a:spcAft>
                      </a:pPr>
                      <a:r>
                        <a:rPr lang="fr-FR" sz="1500" kern="100">
                          <a:effectLst/>
                          <a:latin typeface="Times New Roman" panose="02020603050405020304" pitchFamily="18" charset="0"/>
                          <a:ea typeface="宋体" panose="02010600030101010101" pitchFamily="2" charset="-122"/>
                        </a:rPr>
                        <a:t>(-</a:t>
                      </a:r>
                      <a:r>
                        <a:rPr lang="zh-CN" sz="1500" kern="100">
                          <a:effectLst/>
                          <a:latin typeface="Times New Roman" panose="02020603050405020304" pitchFamily="18" charset="0"/>
                          <a:ea typeface="宋体" panose="02010600030101010101" pitchFamily="2" charset="-122"/>
                        </a:rPr>
                        <a:t>，</a:t>
                      </a:r>
                      <a:r>
                        <a:rPr lang="fr-FR" sz="1500" kern="100">
                          <a:effectLst/>
                          <a:latin typeface="Times New Roman" panose="02020603050405020304" pitchFamily="18" charset="0"/>
                          <a:ea typeface="宋体" panose="02010600030101010101" pitchFamily="2" charset="-122"/>
                        </a:rPr>
                        <a:t>a</a:t>
                      </a:r>
                      <a:r>
                        <a:rPr lang="zh-CN" sz="1500" kern="100">
                          <a:effectLst/>
                          <a:latin typeface="Times New Roman" panose="02020603050405020304" pitchFamily="18" charset="0"/>
                          <a:ea typeface="宋体" panose="02010600030101010101" pitchFamily="2" charset="-122"/>
                        </a:rPr>
                        <a:t>，</a:t>
                      </a:r>
                      <a:r>
                        <a:rPr lang="fr-FR" sz="1500" kern="100">
                          <a:effectLst/>
                          <a:latin typeface="Times New Roman" panose="02020603050405020304" pitchFamily="18" charset="0"/>
                          <a:ea typeface="宋体" panose="02010600030101010101" pitchFamily="2" charset="-122"/>
                        </a:rPr>
                        <a:t>1</a:t>
                      </a:r>
                      <a:r>
                        <a:rPr lang="zh-CN" sz="1500" kern="100">
                          <a:effectLst/>
                          <a:latin typeface="Times New Roman" panose="02020603050405020304" pitchFamily="18" charset="0"/>
                          <a:ea typeface="宋体" panose="02010600030101010101" pitchFamily="2" charset="-122"/>
                        </a:rPr>
                        <a:t>，</a:t>
                      </a:r>
                      <a:r>
                        <a:rPr lang="fr-FR" sz="1500" kern="100">
                          <a:effectLst/>
                          <a:latin typeface="Times New Roman" panose="02020603050405020304" pitchFamily="18" charset="0"/>
                          <a:ea typeface="宋体" panose="02010600030101010101" pitchFamily="2" charset="-122"/>
                        </a:rPr>
                        <a:t>T3)</a:t>
                      </a:r>
                      <a:endParaRPr lang="zh-CN" sz="1500" kern="10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tc>
                  <a:txBody>
                    <a:bodyPr/>
                    <a:lstStyle/>
                    <a:p>
                      <a:pPr algn="just">
                        <a:spcAft>
                          <a:spcPts val="0"/>
                        </a:spcAft>
                      </a:pPr>
                      <a:r>
                        <a:rPr lang="fr-FR" sz="1400" kern="100">
                          <a:effectLst/>
                          <a:latin typeface="Times New Roman" panose="02020603050405020304" pitchFamily="18" charset="0"/>
                          <a:ea typeface="宋体" panose="02010600030101010101" pitchFamily="2" charset="-122"/>
                        </a:rPr>
                        <a:t>/* a=a-1</a:t>
                      </a:r>
                      <a:r>
                        <a:rPr lang="zh-CN" sz="1400" kern="100">
                          <a:effectLst/>
                          <a:latin typeface="Times New Roman" panose="02020603050405020304" pitchFamily="18" charset="0"/>
                          <a:ea typeface="宋体" panose="02010600030101010101" pitchFamily="2" charset="-122"/>
                        </a:rPr>
                        <a:t>的四元式</a:t>
                      </a:r>
                      <a:r>
                        <a:rPr lang="fr-FR" sz="1400" kern="100">
                          <a:effectLst/>
                          <a:latin typeface="Times New Roman" panose="02020603050405020304" pitchFamily="18" charset="0"/>
                          <a:ea typeface="宋体" panose="02010600030101010101" pitchFamily="2" charset="-122"/>
                        </a:rPr>
                        <a:t>7,8*/</a:t>
                      </a:r>
                      <a:endParaRPr lang="zh-CN" sz="1400" kern="10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extLst>
                  <a:ext uri="{0D108BD9-81ED-4DB2-BD59-A6C34878D82A}">
                    <a16:rowId xmlns:a16="http://schemas.microsoft.com/office/drawing/2014/main" val="10006"/>
                  </a:ext>
                </a:extLst>
              </a:tr>
              <a:tr h="250329">
                <a:tc>
                  <a:txBody>
                    <a:bodyPr/>
                    <a:lstStyle/>
                    <a:p>
                      <a:pPr algn="ctr">
                        <a:spcAft>
                          <a:spcPts val="0"/>
                        </a:spcAft>
                      </a:pPr>
                      <a:r>
                        <a:rPr lang="zh-CN" sz="1500" kern="100">
                          <a:effectLst/>
                          <a:latin typeface="Times New Roman" panose="02020603050405020304" pitchFamily="18" charset="0"/>
                          <a:ea typeface="宋体" panose="02010600030101010101" pitchFamily="2" charset="-122"/>
                        </a:rPr>
                        <a:t>（</a:t>
                      </a:r>
                      <a:r>
                        <a:rPr lang="fr-FR" sz="1500" kern="100">
                          <a:effectLst/>
                          <a:latin typeface="Times New Roman" panose="02020603050405020304" pitchFamily="18" charset="0"/>
                          <a:ea typeface="宋体" panose="02010600030101010101" pitchFamily="2" charset="-122"/>
                        </a:rPr>
                        <a:t>8</a:t>
                      </a:r>
                      <a:r>
                        <a:rPr lang="zh-CN" sz="1500" kern="100">
                          <a:effectLst/>
                          <a:latin typeface="Times New Roman" panose="02020603050405020304" pitchFamily="18" charset="0"/>
                          <a:ea typeface="宋体" panose="02010600030101010101" pitchFamily="2" charset="-122"/>
                        </a:rPr>
                        <a:t>）</a:t>
                      </a:r>
                    </a:p>
                  </a:txBody>
                  <a:tcPr marL="68582" marR="68582" marT="0" marB="0">
                    <a:lnL>
                      <a:noFill/>
                    </a:lnL>
                    <a:lnR>
                      <a:noFill/>
                    </a:lnR>
                    <a:lnT>
                      <a:noFill/>
                    </a:lnT>
                    <a:lnB>
                      <a:noFill/>
                    </a:lnB>
                  </a:tcPr>
                </a:tc>
                <a:tc>
                  <a:txBody>
                    <a:bodyPr/>
                    <a:lstStyle/>
                    <a:p>
                      <a:pPr algn="just">
                        <a:spcAft>
                          <a:spcPts val="0"/>
                        </a:spcAft>
                      </a:pPr>
                      <a:r>
                        <a:rPr lang="fr-FR" sz="1500" kern="100">
                          <a:effectLst/>
                          <a:latin typeface="Times New Roman" panose="02020603050405020304" pitchFamily="18" charset="0"/>
                          <a:ea typeface="宋体" panose="02010600030101010101" pitchFamily="2" charset="-122"/>
                        </a:rPr>
                        <a:t>(=</a:t>
                      </a:r>
                      <a:r>
                        <a:rPr lang="zh-CN" sz="1500" kern="100">
                          <a:effectLst/>
                          <a:latin typeface="Times New Roman" panose="02020603050405020304" pitchFamily="18" charset="0"/>
                          <a:ea typeface="宋体" panose="02010600030101010101" pitchFamily="2" charset="-122"/>
                        </a:rPr>
                        <a:t>，</a:t>
                      </a:r>
                      <a:r>
                        <a:rPr lang="fr-FR" sz="1500" kern="100">
                          <a:effectLst/>
                          <a:latin typeface="Times New Roman" panose="02020603050405020304" pitchFamily="18" charset="0"/>
                          <a:ea typeface="宋体" panose="02010600030101010101" pitchFamily="2" charset="-122"/>
                        </a:rPr>
                        <a:t>T3</a:t>
                      </a:r>
                      <a:r>
                        <a:rPr lang="zh-CN" sz="1500" kern="100">
                          <a:effectLst/>
                          <a:latin typeface="Times New Roman" panose="02020603050405020304" pitchFamily="18" charset="0"/>
                          <a:ea typeface="宋体" panose="02010600030101010101" pitchFamily="2" charset="-122"/>
                        </a:rPr>
                        <a:t>， ，</a:t>
                      </a:r>
                      <a:r>
                        <a:rPr lang="fr-FR" sz="1500" kern="100">
                          <a:effectLst/>
                          <a:latin typeface="Times New Roman" panose="02020603050405020304" pitchFamily="18" charset="0"/>
                          <a:ea typeface="宋体" panose="02010600030101010101" pitchFamily="2" charset="-122"/>
                        </a:rPr>
                        <a:t>a)</a:t>
                      </a:r>
                      <a:endParaRPr lang="zh-CN" sz="1500" kern="10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tc>
                  <a:txBody>
                    <a:bodyPr/>
                    <a:lstStyle/>
                    <a:p>
                      <a:pPr algn="just">
                        <a:spcAft>
                          <a:spcPts val="0"/>
                        </a:spcAft>
                      </a:pPr>
                      <a:r>
                        <a:rPr lang="fr-FR" sz="1400" kern="100">
                          <a:effectLst/>
                          <a:latin typeface="Times New Roman" panose="02020603050405020304" pitchFamily="18" charset="0"/>
                          <a:ea typeface="宋体" panose="02010600030101010101" pitchFamily="2" charset="-122"/>
                        </a:rPr>
                        <a:t> </a:t>
                      </a:r>
                      <a:endParaRPr lang="zh-CN" sz="1400" kern="10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extLst>
                  <a:ext uri="{0D108BD9-81ED-4DB2-BD59-A6C34878D82A}">
                    <a16:rowId xmlns:a16="http://schemas.microsoft.com/office/drawing/2014/main" val="10007"/>
                  </a:ext>
                </a:extLst>
              </a:tr>
              <a:tr h="617220">
                <a:tc>
                  <a:txBody>
                    <a:bodyPr/>
                    <a:lstStyle/>
                    <a:p>
                      <a:pPr algn="ctr">
                        <a:spcAft>
                          <a:spcPts val="0"/>
                        </a:spcAft>
                      </a:pP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9</a:t>
                      </a:r>
                      <a:r>
                        <a:rPr lang="zh-CN" sz="1500" kern="100" dirty="0">
                          <a:effectLst/>
                          <a:latin typeface="Times New Roman" panose="02020603050405020304" pitchFamily="18" charset="0"/>
                          <a:ea typeface="宋体" panose="02010600030101010101" pitchFamily="2" charset="-122"/>
                        </a:rPr>
                        <a:t>）</a:t>
                      </a:r>
                    </a:p>
                  </a:txBody>
                  <a:tcPr marL="68582" marR="68582" marT="0" marB="0">
                    <a:lnL>
                      <a:noFill/>
                    </a:lnL>
                    <a:lnR>
                      <a:noFill/>
                    </a:lnR>
                    <a:lnT>
                      <a:noFill/>
                    </a:lnT>
                    <a:lnB>
                      <a:noFill/>
                    </a:lnB>
                  </a:tcPr>
                </a:tc>
                <a:tc>
                  <a:txBody>
                    <a:bodyPr/>
                    <a:lstStyle/>
                    <a:p>
                      <a:pPr algn="just">
                        <a:spcAft>
                          <a:spcPts val="0"/>
                        </a:spcAft>
                      </a:pPr>
                      <a:r>
                        <a:rPr lang="fr-FR" sz="1500" kern="100" dirty="0">
                          <a:effectLst/>
                          <a:latin typeface="Times New Roman" panose="02020603050405020304" pitchFamily="18" charset="0"/>
                          <a:ea typeface="宋体" panose="02010600030101010101" pitchFamily="2" charset="-122"/>
                        </a:rPr>
                        <a:t>(j&lt;</a:t>
                      </a: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a</a:t>
                      </a: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0</a:t>
                      </a: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7)</a:t>
                      </a:r>
                      <a:endParaRPr lang="zh-CN" sz="1500" kern="100" dirty="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tc>
                  <a:txBody>
                    <a:bodyPr/>
                    <a:lstStyle/>
                    <a:p>
                      <a:pPr algn="just">
                        <a:spcAft>
                          <a:spcPts val="0"/>
                        </a:spcAft>
                      </a:pPr>
                      <a:r>
                        <a:rPr lang="en-US" sz="1400" kern="100" dirty="0">
                          <a:effectLst/>
                          <a:latin typeface="Times New Roman" panose="02020603050405020304" pitchFamily="18" charset="0"/>
                          <a:ea typeface="宋体" panose="02010600030101010101" pitchFamily="2" charset="-122"/>
                        </a:rPr>
                        <a:t>/* a&lt;0</a:t>
                      </a:r>
                      <a:r>
                        <a:rPr lang="zh-CN" sz="1400" kern="100" dirty="0">
                          <a:effectLst/>
                          <a:latin typeface="Times New Roman" panose="02020603050405020304" pitchFamily="18" charset="0"/>
                          <a:ea typeface="宋体" panose="02010600030101010101" pitchFamily="2" charset="-122"/>
                        </a:rPr>
                        <a:t>的真出口的四元式</a:t>
                      </a:r>
                      <a:r>
                        <a:rPr lang="en-US" sz="1400" kern="100" dirty="0">
                          <a:effectLst/>
                          <a:latin typeface="Times New Roman" panose="02020603050405020304" pitchFamily="18" charset="0"/>
                          <a:ea typeface="宋体" panose="02010600030101010101" pitchFamily="2" charset="-122"/>
                        </a:rPr>
                        <a:t>9</a:t>
                      </a:r>
                      <a:r>
                        <a:rPr lang="zh-CN" sz="1400" kern="100" dirty="0">
                          <a:effectLst/>
                          <a:latin typeface="Times New Roman" panose="02020603050405020304" pitchFamily="18" charset="0"/>
                          <a:ea typeface="宋体" panose="02010600030101010101" pitchFamily="2" charset="-122"/>
                        </a:rPr>
                        <a:t>，跳转到</a:t>
                      </a:r>
                      <a:r>
                        <a:rPr lang="en-US" sz="1400" kern="100" dirty="0">
                          <a:effectLst/>
                          <a:latin typeface="Times New Roman" panose="02020603050405020304" pitchFamily="18" charset="0"/>
                          <a:ea typeface="宋体" panose="02010600030101010101" pitchFamily="2" charset="-122"/>
                        </a:rPr>
                        <a:t>7</a:t>
                      </a:r>
                      <a:r>
                        <a:rPr lang="zh-CN" sz="1400" kern="100" dirty="0">
                          <a:effectLst/>
                          <a:latin typeface="Times New Roman" panose="02020603050405020304" pitchFamily="18" charset="0"/>
                          <a:ea typeface="宋体" panose="02010600030101010101" pitchFamily="2" charset="-122"/>
                        </a:rPr>
                        <a:t>进行循环，</a:t>
                      </a:r>
                      <a:r>
                        <a:rPr lang="en-US" sz="1400" kern="100" dirty="0">
                          <a:effectLst/>
                          <a:latin typeface="Times New Roman" panose="02020603050405020304" pitchFamily="18" charset="0"/>
                          <a:ea typeface="宋体" panose="02010600030101010101" pitchFamily="2" charset="-122"/>
                        </a:rPr>
                        <a:t>a&lt;0</a:t>
                      </a:r>
                      <a:r>
                        <a:rPr lang="zh-CN" sz="1400" kern="100" dirty="0">
                          <a:effectLst/>
                          <a:latin typeface="Times New Roman" panose="02020603050405020304" pitchFamily="18" charset="0"/>
                          <a:ea typeface="宋体" panose="02010600030101010101" pitchFamily="2" charset="-122"/>
                        </a:rPr>
                        <a:t>的假出口是接下来的一个四元式，即</a:t>
                      </a:r>
                      <a:r>
                        <a:rPr lang="en-US" sz="1400" kern="100" dirty="0">
                          <a:effectLst/>
                          <a:latin typeface="Times New Roman" panose="02020603050405020304" pitchFamily="18" charset="0"/>
                          <a:ea typeface="宋体" panose="02010600030101010101" pitchFamily="2" charset="-122"/>
                        </a:rPr>
                        <a:t>10*/</a:t>
                      </a:r>
                      <a:endParaRPr lang="zh-CN" sz="1400" kern="100" dirty="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extLst>
                  <a:ext uri="{0D108BD9-81ED-4DB2-BD59-A6C34878D82A}">
                    <a16:rowId xmlns:a16="http://schemas.microsoft.com/office/drawing/2014/main" val="10008"/>
                  </a:ext>
                </a:extLst>
              </a:tr>
              <a:tr h="250329">
                <a:tc>
                  <a:txBody>
                    <a:bodyPr/>
                    <a:lstStyle/>
                    <a:p>
                      <a:pPr algn="ctr">
                        <a:spcAft>
                          <a:spcPts val="0"/>
                        </a:spcAft>
                      </a:pPr>
                      <a:r>
                        <a:rPr lang="zh-CN" sz="1500" kern="100" dirty="0">
                          <a:effectLst/>
                          <a:latin typeface="Times New Roman" panose="02020603050405020304" pitchFamily="18" charset="0"/>
                          <a:ea typeface="宋体" panose="02010600030101010101" pitchFamily="2" charset="-122"/>
                        </a:rPr>
                        <a:t>（</a:t>
                      </a:r>
                      <a:r>
                        <a:rPr lang="fr-FR" sz="1500" kern="100" dirty="0">
                          <a:effectLst/>
                          <a:latin typeface="Times New Roman" panose="02020603050405020304" pitchFamily="18" charset="0"/>
                          <a:ea typeface="宋体" panose="02010600030101010101" pitchFamily="2" charset="-122"/>
                        </a:rPr>
                        <a:t>10</a:t>
                      </a:r>
                      <a:r>
                        <a:rPr lang="zh-CN" sz="1500" kern="100" dirty="0">
                          <a:effectLst/>
                          <a:latin typeface="Times New Roman" panose="02020603050405020304" pitchFamily="18" charset="0"/>
                          <a:ea typeface="宋体" panose="02010600030101010101" pitchFamily="2" charset="-122"/>
                        </a:rPr>
                        <a:t>）</a:t>
                      </a:r>
                    </a:p>
                  </a:txBody>
                  <a:tcPr marL="68582" marR="68582" marT="0" marB="0">
                    <a:lnL>
                      <a:noFill/>
                    </a:lnL>
                    <a:lnR>
                      <a:noFill/>
                    </a:lnR>
                    <a:lnT>
                      <a:noFill/>
                    </a:lnT>
                    <a:lnB>
                      <a:noFill/>
                    </a:lnB>
                  </a:tcPr>
                </a:tc>
                <a:tc>
                  <a:txBody>
                    <a:bodyPr/>
                    <a:lstStyle/>
                    <a:p>
                      <a:pPr algn="just">
                        <a:spcAft>
                          <a:spcPts val="0"/>
                        </a:spcAft>
                      </a:pPr>
                      <a:r>
                        <a:rPr lang="fr-FR" sz="1500" kern="100" dirty="0">
                          <a:effectLst/>
                          <a:latin typeface="Times New Roman" panose="02020603050405020304" pitchFamily="18" charset="0"/>
                          <a:ea typeface="宋体" panose="02010600030101010101" pitchFamily="2" charset="-122"/>
                        </a:rPr>
                        <a:t> </a:t>
                      </a:r>
                      <a:endParaRPr lang="zh-CN" sz="1500" kern="100" dirty="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tc>
                  <a:txBody>
                    <a:bodyPr/>
                    <a:lstStyle/>
                    <a:p>
                      <a:pPr algn="just">
                        <a:spcAft>
                          <a:spcPts val="0"/>
                        </a:spcAft>
                      </a:pPr>
                      <a:r>
                        <a:rPr lang="fr-FR" sz="700" kern="100" dirty="0">
                          <a:effectLst/>
                          <a:latin typeface="Times New Roman" panose="02020603050405020304" pitchFamily="18" charset="0"/>
                          <a:ea typeface="宋体" panose="02010600030101010101" pitchFamily="2" charset="-122"/>
                        </a:rPr>
                        <a:t> </a:t>
                      </a:r>
                      <a:endParaRPr lang="zh-CN" sz="800" kern="100" dirty="0">
                        <a:effectLst/>
                        <a:latin typeface="Times New Roman" panose="02020603050405020304" pitchFamily="18" charset="0"/>
                        <a:ea typeface="宋体" panose="02010600030101010101" pitchFamily="2" charset="-122"/>
                      </a:endParaRPr>
                    </a:p>
                  </a:txBody>
                  <a:tcPr marL="68582" marR="68582" marT="0" marB="0">
                    <a:lnL>
                      <a:noFill/>
                    </a:lnL>
                    <a:lnR>
                      <a:noFill/>
                    </a:lnR>
                    <a:lnT>
                      <a:noFill/>
                    </a:lnT>
                    <a:lnB>
                      <a:noFill/>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0797889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041258"/>
            <a:ext cx="7332457" cy="1446550"/>
          </a:xfrm>
          <a:prstGeom prst="rect">
            <a:avLst/>
          </a:prstGeom>
        </p:spPr>
        <p:txBody>
          <a:bodyPr wrap="non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、常见语句的语法制导翻译</a:t>
            </a:r>
            <a:endParaRPr lang="en-US" altLang="zh-CN" sz="4400" b="1" dirty="0">
              <a:solidFill>
                <a:srgbClr val="CC0099"/>
              </a:solidFill>
              <a:ea typeface="隶书" pitchFamily="49" charset="-122"/>
            </a:endParaRPr>
          </a:p>
          <a:p>
            <a:r>
              <a:rPr lang="en-US" altLang="zh-CN" sz="4400" b="1" dirty="0">
                <a:solidFill>
                  <a:srgbClr val="CC0099"/>
                </a:solidFill>
                <a:ea typeface="隶书" pitchFamily="49" charset="-122"/>
              </a:rPr>
              <a:t>    </a:t>
            </a:r>
            <a:r>
              <a:rPr lang="en-US" altLang="zh-CN" sz="3600" b="1" dirty="0">
                <a:solidFill>
                  <a:srgbClr val="CC0099"/>
                </a:solidFill>
                <a:ea typeface="隶书" pitchFamily="49" charset="-122"/>
              </a:rPr>
              <a:t>——for</a:t>
            </a:r>
            <a:r>
              <a:rPr lang="zh-CN" altLang="en-US" sz="3600" b="1" dirty="0">
                <a:solidFill>
                  <a:srgbClr val="CC0099"/>
                </a:solidFill>
                <a:ea typeface="隶书" pitchFamily="49" charset="-122"/>
              </a:rPr>
              <a:t>语句的翻译</a:t>
            </a:r>
            <a:endParaRPr lang="zh-CN" altLang="en-US" sz="4400" b="1" dirty="0">
              <a:solidFill>
                <a:srgbClr val="CC0099"/>
              </a:solidFill>
              <a:ea typeface="隶书" pitchFamily="49" charset="-122"/>
            </a:endParaRPr>
          </a:p>
        </p:txBody>
      </p:sp>
    </p:spTree>
    <p:extLst>
      <p:ext uri="{BB962C8B-B14F-4D97-AF65-F5344CB8AC3E}">
        <p14:creationId xmlns:p14="http://schemas.microsoft.com/office/powerpoint/2010/main" val="357661490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34926" y="62021"/>
            <a:ext cx="5616575" cy="637521"/>
          </a:xfrm>
        </p:spPr>
        <p:txBody>
          <a:bodyPr>
            <a:normAutofit fontScale="90000"/>
          </a:bodyPr>
          <a:lstStyle/>
          <a:p>
            <a:pPr eaLnBrk="1" hangingPunct="1"/>
            <a:r>
              <a:rPr lang="en-US" altLang="zh-CN" b="1" dirty="0"/>
              <a:t>FOR</a:t>
            </a:r>
            <a:r>
              <a:rPr lang="zh-CN" altLang="en-US" b="1" dirty="0"/>
              <a:t>语句的翻译</a:t>
            </a:r>
          </a:p>
        </p:txBody>
      </p:sp>
      <p:sp>
        <p:nvSpPr>
          <p:cNvPr id="109571" name="Rectangle 4"/>
          <p:cNvSpPr>
            <a:spLocks noChangeArrowheads="1"/>
          </p:cNvSpPr>
          <p:nvPr/>
        </p:nvSpPr>
        <p:spPr bwMode="auto">
          <a:xfrm>
            <a:off x="181610" y="759655"/>
            <a:ext cx="403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pPr>
            <a:r>
              <a:rPr lang="en-US" altLang="zh-CN" sz="2800" b="1" dirty="0">
                <a:solidFill>
                  <a:srgbClr val="0033CC"/>
                </a:solidFill>
              </a:rPr>
              <a:t>1. </a:t>
            </a:r>
            <a:r>
              <a:rPr lang="zh-CN" altLang="en-US" sz="2800" b="1" dirty="0">
                <a:solidFill>
                  <a:srgbClr val="0033CC"/>
                </a:solidFill>
              </a:rPr>
              <a:t>文法描述</a:t>
            </a:r>
          </a:p>
        </p:txBody>
      </p:sp>
      <p:sp>
        <p:nvSpPr>
          <p:cNvPr id="183301" name="Rectangle 5"/>
          <p:cNvSpPr>
            <a:spLocks noChangeArrowheads="1"/>
          </p:cNvSpPr>
          <p:nvPr/>
        </p:nvSpPr>
        <p:spPr bwMode="auto">
          <a:xfrm>
            <a:off x="395288" y="3975497"/>
            <a:ext cx="3352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74650" indent="-37465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50000"/>
              </a:spcBef>
            </a:pPr>
            <a:r>
              <a:rPr lang="en-US" altLang="zh-CN" sz="2800" b="1">
                <a:solidFill>
                  <a:srgbClr val="0033CC"/>
                </a:solidFill>
              </a:rPr>
              <a:t>2. </a:t>
            </a:r>
            <a:r>
              <a:rPr lang="zh-CN" altLang="en-US" sz="2800" b="1">
                <a:solidFill>
                  <a:srgbClr val="0033CC"/>
                </a:solidFill>
              </a:rPr>
              <a:t>目标结构</a:t>
            </a:r>
          </a:p>
        </p:txBody>
      </p:sp>
      <p:sp>
        <p:nvSpPr>
          <p:cNvPr id="183319" name="Text Box 23"/>
          <p:cNvSpPr txBox="1">
            <a:spLocks noChangeArrowheads="1"/>
          </p:cNvSpPr>
          <p:nvPr/>
        </p:nvSpPr>
        <p:spPr bwMode="auto">
          <a:xfrm>
            <a:off x="166443" y="2515094"/>
            <a:ext cx="235098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10000"/>
              </a:spcBef>
              <a:buFontTx/>
              <a:buNone/>
            </a:pPr>
            <a:r>
              <a:rPr lang="en-US" altLang="zh-CN" sz="2000" b="1" dirty="0">
                <a:solidFill>
                  <a:srgbClr val="FF3300"/>
                </a:solidFill>
              </a:rPr>
              <a:t>for (</a:t>
            </a:r>
            <a:r>
              <a:rPr lang="en-US" altLang="zh-CN" sz="2000" b="1" dirty="0" err="1">
                <a:solidFill>
                  <a:srgbClr val="FF3300"/>
                </a:solidFill>
              </a:rPr>
              <a:t>i</a:t>
            </a:r>
            <a:r>
              <a:rPr lang="en-US" altLang="zh-CN" sz="2000" b="1" dirty="0">
                <a:solidFill>
                  <a:srgbClr val="FF3300"/>
                </a:solidFill>
              </a:rPr>
              <a:t>=1;i&lt;10;i++)  </a:t>
            </a:r>
          </a:p>
          <a:p>
            <a:pPr eaLnBrk="1" hangingPunct="1">
              <a:lnSpc>
                <a:spcPct val="100000"/>
              </a:lnSpc>
              <a:spcBef>
                <a:spcPct val="10000"/>
              </a:spcBef>
              <a:buFontTx/>
              <a:buNone/>
            </a:pPr>
            <a:r>
              <a:rPr lang="en-US" altLang="zh-CN" sz="2000" b="1" dirty="0">
                <a:solidFill>
                  <a:srgbClr val="FF3300"/>
                </a:solidFill>
              </a:rPr>
              <a:t>        x=</a:t>
            </a:r>
            <a:r>
              <a:rPr lang="en-US" altLang="zh-CN" sz="2000" b="1" dirty="0" err="1">
                <a:solidFill>
                  <a:srgbClr val="FF3300"/>
                </a:solidFill>
              </a:rPr>
              <a:t>x+i</a:t>
            </a:r>
            <a:r>
              <a:rPr lang="en-US" altLang="zh-CN" sz="2000" b="1" dirty="0">
                <a:solidFill>
                  <a:srgbClr val="FF3300"/>
                </a:solidFill>
              </a:rPr>
              <a:t>;</a:t>
            </a:r>
          </a:p>
        </p:txBody>
      </p:sp>
      <p:sp>
        <p:nvSpPr>
          <p:cNvPr id="109579" name="Rectangle 13"/>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sp>
        <p:nvSpPr>
          <p:cNvPr id="109580" name="Rectangle 4"/>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109581" name="Object 3"/>
          <p:cNvGraphicFramePr>
            <a:graphicFrameLocks noChangeAspect="1"/>
          </p:cNvGraphicFramePr>
          <p:nvPr/>
        </p:nvGraphicFramePr>
        <p:xfrm>
          <a:off x="5072064" y="0"/>
          <a:ext cx="4071937" cy="5045869"/>
        </p:xfrm>
        <a:graphic>
          <a:graphicData uri="http://schemas.openxmlformats.org/presentationml/2006/ole">
            <mc:AlternateContent xmlns:mc="http://schemas.openxmlformats.org/markup-compatibility/2006">
              <mc:Choice xmlns:v="urn:schemas-microsoft-com:vml" Requires="v">
                <p:oleObj spid="_x0000_s31749" name="Visio" r:id="rId4" imgW="2404894" imgH="3978287" progId="Visio.Drawing.11">
                  <p:embed/>
                </p:oleObj>
              </mc:Choice>
              <mc:Fallback>
                <p:oleObj name="Visio" r:id="rId4" imgW="2404894" imgH="3978287" progId="Visio.Drawing.11">
                  <p:embed/>
                  <p:pic>
                    <p:nvPicPr>
                      <p:cNvPr id="10958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2064" y="0"/>
                        <a:ext cx="4071937" cy="504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矩形 9"/>
          <p:cNvSpPr/>
          <p:nvPr/>
        </p:nvSpPr>
        <p:spPr>
          <a:xfrm>
            <a:off x="3104197" y="2547350"/>
            <a:ext cx="2232025" cy="1323439"/>
          </a:xfrm>
          <a:prstGeom prst="rect">
            <a:avLst/>
          </a:prstGeom>
          <a:solidFill>
            <a:schemeClr val="bg1"/>
          </a:solidFill>
        </p:spPr>
        <p:txBody>
          <a:bodyPr>
            <a:spAutoFit/>
          </a:bodyPr>
          <a:lstStyle/>
          <a:p>
            <a:pPr>
              <a:spcAft>
                <a:spcPts val="0"/>
              </a:spcAft>
              <a:buFontTx/>
              <a:buNone/>
              <a:defRPr/>
            </a:pPr>
            <a:r>
              <a:rPr lang="pt-PT" altLang="zh-CN" sz="2000" b="1" kern="100" dirty="0">
                <a:solidFill>
                  <a:srgbClr val="002060"/>
                </a:solidFill>
                <a:latin typeface="Times New Roman"/>
                <a:ea typeface="宋体"/>
                <a:cs typeface="Times New Roman"/>
              </a:rPr>
              <a:t>F→ for ( E</a:t>
            </a:r>
            <a:r>
              <a:rPr lang="pt-PT" altLang="zh-CN" sz="2000" b="1" kern="100" baseline="30000" dirty="0">
                <a:solidFill>
                  <a:srgbClr val="002060"/>
                </a:solidFill>
                <a:latin typeface="Times New Roman"/>
                <a:ea typeface="宋体"/>
                <a:cs typeface="Times New Roman"/>
              </a:rPr>
              <a:t>(1)</a:t>
            </a:r>
            <a:r>
              <a:rPr lang="pt-PT" altLang="zh-CN" sz="2000" b="1" kern="100" dirty="0">
                <a:solidFill>
                  <a:srgbClr val="002060"/>
                </a:solidFill>
                <a:latin typeface="Times New Roman"/>
                <a:ea typeface="宋体"/>
                <a:cs typeface="Times New Roman"/>
              </a:rPr>
              <a:t> ;</a:t>
            </a:r>
          </a:p>
          <a:p>
            <a:pPr>
              <a:spcAft>
                <a:spcPts val="0"/>
              </a:spcAft>
              <a:buFontTx/>
              <a:buNone/>
              <a:defRPr/>
            </a:pPr>
            <a:r>
              <a:rPr lang="pt-PT" altLang="zh-CN" sz="2000" b="1" kern="100" dirty="0">
                <a:solidFill>
                  <a:srgbClr val="002060"/>
                </a:solidFill>
                <a:latin typeface="Times New Roman"/>
                <a:ea typeface="宋体"/>
                <a:cs typeface="Times New Roman"/>
              </a:rPr>
              <a:t>A</a:t>
            </a:r>
            <a:r>
              <a:rPr lang="zh-CN" altLang="zh-CN" sz="2000" b="1" kern="100" dirty="0">
                <a:solidFill>
                  <a:srgbClr val="002060"/>
                </a:solidFill>
                <a:latin typeface="Times New Roman"/>
                <a:ea typeface="宋体"/>
                <a:cs typeface="Times New Roman"/>
              </a:rPr>
              <a:t>→</a:t>
            </a:r>
            <a:r>
              <a:rPr lang="pt-PT" altLang="zh-CN" sz="2000" b="1" kern="100" dirty="0">
                <a:solidFill>
                  <a:srgbClr val="002060"/>
                </a:solidFill>
                <a:latin typeface="Times New Roman"/>
                <a:ea typeface="宋体"/>
                <a:cs typeface="Times New Roman"/>
              </a:rPr>
              <a:t>F E</a:t>
            </a:r>
            <a:r>
              <a:rPr lang="pt-PT" altLang="zh-CN" sz="2000" b="1" kern="100" baseline="30000" dirty="0">
                <a:solidFill>
                  <a:srgbClr val="002060"/>
                </a:solidFill>
                <a:latin typeface="Times New Roman"/>
                <a:ea typeface="宋体"/>
                <a:cs typeface="Times New Roman"/>
              </a:rPr>
              <a:t>(2)</a:t>
            </a:r>
            <a:r>
              <a:rPr lang="pt-PT" altLang="zh-CN" sz="2000" b="1" kern="100" dirty="0">
                <a:solidFill>
                  <a:srgbClr val="002060"/>
                </a:solidFill>
                <a:latin typeface="Times New Roman"/>
                <a:ea typeface="宋体"/>
                <a:cs typeface="Times New Roman"/>
              </a:rPr>
              <a:t> ;</a:t>
            </a:r>
          </a:p>
          <a:p>
            <a:pPr>
              <a:spcAft>
                <a:spcPts val="0"/>
              </a:spcAft>
              <a:buFontTx/>
              <a:buNone/>
              <a:defRPr/>
            </a:pPr>
            <a:r>
              <a:rPr lang="pt-PT" altLang="zh-CN" sz="2000" b="1" dirty="0">
                <a:solidFill>
                  <a:srgbClr val="002060"/>
                </a:solidFill>
                <a:latin typeface="Arial" pitchFamily="34" charset="0"/>
              </a:rPr>
              <a:t>B</a:t>
            </a:r>
            <a:r>
              <a:rPr lang="zh-CN" altLang="zh-CN" sz="2000" b="1" dirty="0">
                <a:solidFill>
                  <a:srgbClr val="002060"/>
                </a:solidFill>
                <a:latin typeface="Arial" pitchFamily="34" charset="0"/>
              </a:rPr>
              <a:t>→</a:t>
            </a:r>
            <a:r>
              <a:rPr lang="pt-PT" altLang="zh-CN" sz="2000" b="1" dirty="0">
                <a:solidFill>
                  <a:srgbClr val="002060"/>
                </a:solidFill>
                <a:latin typeface="Arial" pitchFamily="34" charset="0"/>
              </a:rPr>
              <a:t>A E</a:t>
            </a:r>
            <a:r>
              <a:rPr lang="pt-PT" altLang="zh-CN" sz="2000" b="1" baseline="30000" dirty="0">
                <a:solidFill>
                  <a:srgbClr val="002060"/>
                </a:solidFill>
                <a:latin typeface="Arial" pitchFamily="34" charset="0"/>
              </a:rPr>
              <a:t>(3)</a:t>
            </a:r>
            <a:r>
              <a:rPr lang="pt-PT" altLang="zh-CN" sz="2000" b="1" dirty="0">
                <a:solidFill>
                  <a:srgbClr val="002060"/>
                </a:solidFill>
                <a:latin typeface="Arial" pitchFamily="34" charset="0"/>
              </a:rPr>
              <a:t> )</a:t>
            </a:r>
          </a:p>
          <a:p>
            <a:pPr>
              <a:spcAft>
                <a:spcPts val="0"/>
              </a:spcAft>
              <a:buFontTx/>
              <a:buNone/>
              <a:defRPr/>
            </a:pPr>
            <a:r>
              <a:rPr lang="en-US" altLang="zh-CN" sz="2000" b="1" dirty="0">
                <a:solidFill>
                  <a:srgbClr val="002060"/>
                </a:solidFill>
                <a:latin typeface="Arial" pitchFamily="34" charset="0"/>
              </a:rPr>
              <a:t>S→B S</a:t>
            </a:r>
            <a:r>
              <a:rPr lang="en-US" altLang="zh-CN" sz="2000" b="1" baseline="30000" dirty="0">
                <a:solidFill>
                  <a:srgbClr val="002060"/>
                </a:solidFill>
                <a:latin typeface="Arial" pitchFamily="34" charset="0"/>
              </a:rPr>
              <a:t>(1)</a:t>
            </a:r>
            <a:r>
              <a:rPr lang="en-US" altLang="zh-CN" sz="2000" b="1" dirty="0">
                <a:solidFill>
                  <a:srgbClr val="002060"/>
                </a:solidFill>
                <a:latin typeface="Arial" pitchFamily="34" charset="0"/>
              </a:rPr>
              <a:t> </a:t>
            </a:r>
            <a:r>
              <a:rPr lang="pt-PT" altLang="zh-CN" sz="2000" kern="100" dirty="0">
                <a:latin typeface="Times New Roman"/>
                <a:ea typeface="宋体"/>
                <a:cs typeface="Times New Roman"/>
              </a:rPr>
              <a:t> </a:t>
            </a:r>
            <a:endParaRPr lang="zh-CN" altLang="zh-CN" sz="2000" kern="100" dirty="0">
              <a:latin typeface="Times New Roman"/>
              <a:ea typeface="宋体"/>
              <a:cs typeface="Times New Roman"/>
            </a:endParaRPr>
          </a:p>
        </p:txBody>
      </p:sp>
      <p:sp>
        <p:nvSpPr>
          <p:cNvPr id="2" name="矩形 1"/>
          <p:cNvSpPr/>
          <p:nvPr/>
        </p:nvSpPr>
        <p:spPr>
          <a:xfrm>
            <a:off x="204788" y="1297092"/>
            <a:ext cx="6167412" cy="338554"/>
          </a:xfrm>
          <a:prstGeom prst="rect">
            <a:avLst/>
          </a:prstGeom>
        </p:spPr>
        <p:txBody>
          <a:bodyPr wrap="square">
            <a:spAutoFit/>
          </a:bodyPr>
          <a:lstStyle/>
          <a:p>
            <a:r>
              <a:rPr lang="en-US" altLang="zh-CN" sz="1600" dirty="0"/>
              <a:t>&lt;for</a:t>
            </a:r>
            <a:r>
              <a:rPr lang="zh-CN" altLang="zh-CN" sz="1600" dirty="0"/>
              <a:t>语句</a:t>
            </a:r>
            <a:r>
              <a:rPr lang="en-US" altLang="zh-CN" sz="1600" dirty="0"/>
              <a:t>&gt;</a:t>
            </a:r>
            <a:r>
              <a:rPr lang="zh-CN" altLang="zh-CN" sz="1600" dirty="0"/>
              <a:t>→</a:t>
            </a:r>
            <a:r>
              <a:rPr lang="en-US" altLang="zh-CN" sz="1600" dirty="0"/>
              <a:t>for (&lt;</a:t>
            </a:r>
            <a:r>
              <a:rPr lang="zh-CN" altLang="zh-CN" sz="1600" dirty="0"/>
              <a:t>表达式</a:t>
            </a:r>
            <a:r>
              <a:rPr lang="en-US" altLang="zh-CN" sz="1600" dirty="0"/>
              <a:t>&gt;;&lt;</a:t>
            </a:r>
            <a:r>
              <a:rPr lang="zh-CN" altLang="zh-CN" sz="1600" dirty="0"/>
              <a:t>表达式</a:t>
            </a:r>
            <a:r>
              <a:rPr lang="en-US" altLang="zh-CN" sz="1600" dirty="0"/>
              <a:t>&gt;;&lt;</a:t>
            </a:r>
            <a:r>
              <a:rPr lang="zh-CN" altLang="zh-CN" sz="1600" dirty="0"/>
              <a:t>表达式</a:t>
            </a:r>
            <a:r>
              <a:rPr lang="en-US" altLang="zh-CN" sz="1600" dirty="0"/>
              <a:t>&gt;) &lt;</a:t>
            </a:r>
            <a:r>
              <a:rPr lang="zh-CN" altLang="zh-CN" sz="1600" dirty="0"/>
              <a:t>循环语句</a:t>
            </a:r>
            <a:r>
              <a:rPr lang="en-US" altLang="zh-CN" sz="1600" dirty="0"/>
              <a:t>&gt;</a:t>
            </a:r>
            <a:endParaRPr lang="zh-CN" altLang="zh-CN" sz="1600" dirty="0"/>
          </a:p>
        </p:txBody>
      </p:sp>
      <p:sp>
        <p:nvSpPr>
          <p:cNvPr id="3" name="矩形 2"/>
          <p:cNvSpPr/>
          <p:nvPr/>
        </p:nvSpPr>
        <p:spPr>
          <a:xfrm>
            <a:off x="510295" y="1779662"/>
            <a:ext cx="2949846" cy="369332"/>
          </a:xfrm>
          <a:prstGeom prst="rect">
            <a:avLst/>
          </a:prstGeom>
        </p:spPr>
        <p:txBody>
          <a:bodyPr wrap="none">
            <a:spAutoFit/>
          </a:bodyPr>
          <a:lstStyle/>
          <a:p>
            <a:r>
              <a:rPr lang="pt-PT" altLang="zh-CN" dirty="0"/>
              <a:t>S→for (E</a:t>
            </a:r>
            <a:r>
              <a:rPr lang="pt-PT" altLang="zh-CN" baseline="30000" dirty="0"/>
              <a:t>(1)</a:t>
            </a:r>
            <a:r>
              <a:rPr lang="pt-PT" altLang="zh-CN" dirty="0"/>
              <a:t> ; E</a:t>
            </a:r>
            <a:r>
              <a:rPr lang="pt-PT" altLang="zh-CN" baseline="30000" dirty="0"/>
              <a:t>(2)</a:t>
            </a:r>
            <a:r>
              <a:rPr lang="pt-PT" altLang="zh-CN" dirty="0"/>
              <a:t> ; E</a:t>
            </a:r>
            <a:r>
              <a:rPr lang="pt-PT" altLang="zh-CN" baseline="30000" dirty="0"/>
              <a:t>(3)</a:t>
            </a:r>
            <a:r>
              <a:rPr lang="pt-PT" altLang="zh-CN" dirty="0"/>
              <a:t> ) S</a:t>
            </a:r>
            <a:r>
              <a:rPr lang="pt-PT" altLang="zh-CN" baseline="30000" dirty="0"/>
              <a:t>(1)</a:t>
            </a:r>
            <a:endParaRPr lang="zh-CN" altLang="en-US" dirty="0"/>
          </a:p>
        </p:txBody>
      </p:sp>
    </p:spTree>
    <p:extLst>
      <p:ext uri="{BB962C8B-B14F-4D97-AF65-F5344CB8AC3E}">
        <p14:creationId xmlns:p14="http://schemas.microsoft.com/office/powerpoint/2010/main" val="41637951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33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33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958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01" grpId="0" autoUpdateAnimBg="0"/>
      <p:bldP spid="183319" grpId="0" autoUpdateAnimBg="0"/>
      <p:bldP spid="10" grpId="0" animBg="1"/>
      <p:bldP spid="3"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5"/>
          <p:cNvSpPr>
            <a:spLocks noGrp="1" noChangeArrowheads="1"/>
          </p:cNvSpPr>
          <p:nvPr>
            <p:ph type="title"/>
          </p:nvPr>
        </p:nvSpPr>
        <p:spPr>
          <a:xfrm>
            <a:off x="571501" y="1"/>
            <a:ext cx="5483225" cy="583406"/>
          </a:xfrm>
        </p:spPr>
        <p:txBody>
          <a:bodyPr>
            <a:normAutofit fontScale="90000"/>
          </a:bodyPr>
          <a:lstStyle/>
          <a:p>
            <a:pPr eaLnBrk="1" hangingPunct="1"/>
            <a:r>
              <a:rPr lang="en-US" altLang="zh-CN" b="1">
                <a:ea typeface="楷体_GB2312" pitchFamily="49" charset="-122"/>
              </a:rPr>
              <a:t>FOR</a:t>
            </a:r>
            <a:r>
              <a:rPr lang="zh-CN" altLang="en-US" b="1">
                <a:ea typeface="楷体_GB2312" pitchFamily="49" charset="-122"/>
              </a:rPr>
              <a:t>语句的翻译</a:t>
            </a:r>
          </a:p>
        </p:txBody>
      </p:sp>
      <p:sp>
        <p:nvSpPr>
          <p:cNvPr id="110595" name="Rectangle 13"/>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8" name="表格占位符 7"/>
          <p:cNvGraphicFramePr>
            <a:graphicFrameLocks noGrp="1"/>
          </p:cNvGraphicFramePr>
          <p:nvPr>
            <p:ph type="tbl" idx="1"/>
            <p:extLst>
              <p:ext uri="{D42A27DB-BD31-4B8C-83A1-F6EECF244321}">
                <p14:modId xmlns:p14="http://schemas.microsoft.com/office/powerpoint/2010/main" val="3006265389"/>
              </p:ext>
            </p:extLst>
          </p:nvPr>
        </p:nvGraphicFramePr>
        <p:xfrm>
          <a:off x="184731" y="843558"/>
          <a:ext cx="5467389" cy="3713584"/>
        </p:xfrm>
        <a:graphic>
          <a:graphicData uri="http://schemas.openxmlformats.org/drawingml/2006/table">
            <a:tbl>
              <a:tblPr/>
              <a:tblGrid>
                <a:gridCol w="5467389">
                  <a:extLst>
                    <a:ext uri="{9D8B030D-6E8A-4147-A177-3AD203B41FA5}">
                      <a16:colId xmlns:a16="http://schemas.microsoft.com/office/drawing/2014/main" val="20000"/>
                    </a:ext>
                  </a:extLst>
                </a:gridCol>
              </a:tblGrid>
              <a:tr h="360040">
                <a:tc>
                  <a:txBody>
                    <a:bodyPr/>
                    <a:lstStyle/>
                    <a:p>
                      <a:pPr marL="0" marR="0" indent="171450" algn="just" defTabSz="914400" rtl="0" eaLnBrk="1" fontAlgn="auto" latinLnBrk="0" hangingPunct="1">
                        <a:lnSpc>
                          <a:spcPct val="100000"/>
                        </a:lnSpc>
                        <a:spcBef>
                          <a:spcPts val="0"/>
                        </a:spcBef>
                        <a:spcAft>
                          <a:spcPts val="0"/>
                        </a:spcAft>
                        <a:buClrTx/>
                        <a:buSzTx/>
                        <a:buFontTx/>
                        <a:buNone/>
                        <a:tabLst/>
                        <a:defRPr/>
                      </a:pPr>
                      <a:r>
                        <a:rPr lang="pt-PT" altLang="zh-CN" sz="1800" kern="100" dirty="0">
                          <a:latin typeface="Times New Roman"/>
                          <a:ea typeface="宋体"/>
                          <a:cs typeface="Times New Roman"/>
                        </a:rPr>
                        <a:t>(1) F→ for ( E</a:t>
                      </a:r>
                      <a:r>
                        <a:rPr lang="pt-PT" altLang="zh-CN" sz="1800" kern="100" baseline="30000" dirty="0">
                          <a:latin typeface="Times New Roman"/>
                          <a:ea typeface="宋体"/>
                          <a:cs typeface="Times New Roman"/>
                        </a:rPr>
                        <a:t>(1)</a:t>
                      </a:r>
                      <a:r>
                        <a:rPr lang="pt-PT" altLang="zh-CN" sz="1800" kern="100" dirty="0">
                          <a:latin typeface="Times New Roman"/>
                          <a:ea typeface="宋体"/>
                          <a:cs typeface="Times New Roman"/>
                        </a:rPr>
                        <a:t> ; </a:t>
                      </a:r>
                      <a:endParaRPr lang="zh-CN" altLang="zh-CN" sz="1800" kern="100" dirty="0">
                        <a:latin typeface="Times New Roman"/>
                        <a:ea typeface="宋体"/>
                        <a:cs typeface="Times New Roman"/>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936104">
                <a:tc>
                  <a:txBody>
                    <a:bodyPr/>
                    <a:lstStyle/>
                    <a:p>
                      <a:pPr algn="just">
                        <a:spcAft>
                          <a:spcPts val="0"/>
                        </a:spcAft>
                      </a:pPr>
                      <a:endParaRPr lang="zh-CN" sz="1800" kern="100" dirty="0">
                        <a:latin typeface="Times New Roman"/>
                        <a:ea typeface="宋体"/>
                        <a:cs typeface="Times New Roman"/>
                      </a:endParaRPr>
                    </a:p>
                  </a:txBody>
                  <a:tcPr marL="68577" marR="685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360040">
                <a:tc>
                  <a:txBody>
                    <a:bodyPr/>
                    <a:lstStyle/>
                    <a:p>
                      <a:pPr marL="0" marR="0" indent="171450" algn="just" defTabSz="914400" rtl="0" eaLnBrk="1" fontAlgn="auto" latinLnBrk="0" hangingPunct="1">
                        <a:lnSpc>
                          <a:spcPct val="100000"/>
                        </a:lnSpc>
                        <a:spcBef>
                          <a:spcPts val="0"/>
                        </a:spcBef>
                        <a:spcAft>
                          <a:spcPts val="0"/>
                        </a:spcAft>
                        <a:buClrTx/>
                        <a:buSzTx/>
                        <a:buFontTx/>
                        <a:buNone/>
                        <a:tabLst/>
                        <a:defRPr/>
                      </a:pPr>
                      <a:r>
                        <a:rPr lang="pt-PT" altLang="zh-CN" sz="1800" kern="100" dirty="0">
                          <a:latin typeface="Times New Roman"/>
                          <a:ea typeface="宋体"/>
                          <a:cs typeface="Times New Roman"/>
                        </a:rPr>
                        <a:t>(2) A</a:t>
                      </a:r>
                      <a:r>
                        <a:rPr lang="zh-CN" altLang="zh-CN" sz="1800" kern="100" dirty="0">
                          <a:latin typeface="Times New Roman"/>
                          <a:ea typeface="宋体"/>
                          <a:cs typeface="Times New Roman"/>
                        </a:rPr>
                        <a:t>→</a:t>
                      </a:r>
                      <a:r>
                        <a:rPr lang="pt-PT" altLang="zh-CN" sz="1800" kern="100" dirty="0">
                          <a:latin typeface="Times New Roman"/>
                          <a:ea typeface="宋体"/>
                          <a:cs typeface="Times New Roman"/>
                        </a:rPr>
                        <a:t>F E</a:t>
                      </a:r>
                      <a:r>
                        <a:rPr lang="pt-PT" altLang="zh-CN" sz="1800" kern="100" baseline="30000" dirty="0">
                          <a:latin typeface="Times New Roman"/>
                          <a:ea typeface="宋体"/>
                          <a:cs typeface="Times New Roman"/>
                        </a:rPr>
                        <a:t>(2)</a:t>
                      </a:r>
                      <a:r>
                        <a:rPr lang="pt-PT" altLang="zh-CN" sz="1800" kern="100" dirty="0">
                          <a:latin typeface="Times New Roman"/>
                          <a:ea typeface="宋体"/>
                          <a:cs typeface="Times New Roman"/>
                        </a:rPr>
                        <a:t> ;</a:t>
                      </a:r>
                      <a:endParaRPr lang="zh-CN" altLang="zh-CN" sz="1800" kern="100" dirty="0">
                        <a:latin typeface="Times New Roman"/>
                        <a:ea typeface="宋体"/>
                        <a:cs typeface="Times New Roman"/>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057400">
                <a:tc>
                  <a:txBody>
                    <a:bodyPr/>
                    <a:lstStyle/>
                    <a:p>
                      <a:pPr algn="just">
                        <a:spcAft>
                          <a:spcPts val="0"/>
                        </a:spcAft>
                      </a:pPr>
                      <a:endParaRPr lang="zh-CN" sz="1800" kern="100" dirty="0">
                        <a:latin typeface="Times New Roman"/>
                        <a:ea typeface="宋体"/>
                        <a:cs typeface="Times New Roman"/>
                      </a:endParaRPr>
                    </a:p>
                  </a:txBody>
                  <a:tcPr marL="68577" marR="6857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2" name="对象 1"/>
          <p:cNvGraphicFramePr>
            <a:graphicFrameLocks noChangeAspect="1"/>
          </p:cNvGraphicFramePr>
          <p:nvPr/>
        </p:nvGraphicFramePr>
        <p:xfrm>
          <a:off x="5072063" y="0"/>
          <a:ext cx="4071937" cy="5046663"/>
        </p:xfrm>
        <a:graphic>
          <a:graphicData uri="http://schemas.openxmlformats.org/presentationml/2006/ole">
            <mc:AlternateContent xmlns:mc="http://schemas.openxmlformats.org/markup-compatibility/2006">
              <mc:Choice xmlns:v="urn:schemas-microsoft-com:vml" Requires="v">
                <p:oleObj spid="_x0000_s32773" name="Visio" r:id="rId4" imgW="2404894" imgH="3978287" progId="Visio.Drawing.11">
                  <p:embed/>
                </p:oleObj>
              </mc:Choice>
              <mc:Fallback>
                <p:oleObj name="Visio" r:id="rId4" imgW="2404894" imgH="3978287" progId="Visio.Drawing.11">
                  <p:embed/>
                  <p:pic>
                    <p:nvPicPr>
                      <p:cNvPr id="2"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2063" y="0"/>
                        <a:ext cx="4071937" cy="504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p:cNvSpPr/>
          <p:nvPr/>
        </p:nvSpPr>
        <p:spPr>
          <a:xfrm>
            <a:off x="184731" y="2499742"/>
            <a:ext cx="5579001" cy="2062103"/>
          </a:xfrm>
          <a:prstGeom prst="rect">
            <a:avLst/>
          </a:prstGeom>
        </p:spPr>
        <p:txBody>
          <a:bodyPr wrap="square">
            <a:spAutoFit/>
          </a:bodyPr>
          <a:lstStyle/>
          <a:p>
            <a:pPr algn="just">
              <a:spcAft>
                <a:spcPts val="0"/>
              </a:spcAft>
            </a:pPr>
            <a:r>
              <a:rPr lang="pt-PT" altLang="zh-CN" sz="1600" kern="100" dirty="0">
                <a:latin typeface="Times New Roman"/>
                <a:ea typeface="宋体"/>
                <a:cs typeface="Times New Roman"/>
              </a:rPr>
              <a:t>{  A.PLACE =</a:t>
            </a:r>
            <a:r>
              <a:rPr lang="fr-FR" altLang="zh-CN" sz="1600" kern="100" dirty="0">
                <a:latin typeface="Times New Roman"/>
                <a:ea typeface="宋体"/>
                <a:cs typeface="Times New Roman"/>
              </a:rPr>
              <a:t>= newtemp();   //T1</a:t>
            </a:r>
            <a:r>
              <a:rPr lang="zh-CN" altLang="zh-CN" sz="1600" kern="100" dirty="0">
                <a:latin typeface="Times New Roman"/>
                <a:ea typeface="宋体"/>
                <a:cs typeface="Times New Roman"/>
              </a:rPr>
              <a:t>用于存放循环终值</a:t>
            </a:r>
          </a:p>
          <a:p>
            <a:pPr indent="171450" algn="just">
              <a:spcAft>
                <a:spcPts val="0"/>
              </a:spcAft>
            </a:pPr>
            <a:r>
              <a:rPr lang="fr-FR" altLang="zh-CN" sz="1600" kern="100" dirty="0">
                <a:latin typeface="Times New Roman"/>
                <a:ea typeface="宋体"/>
                <a:cs typeface="Times New Roman"/>
              </a:rPr>
              <a:t>gencode(=</a:t>
            </a:r>
            <a:r>
              <a:rPr lang="zh-CN" altLang="zh-CN" sz="1600" kern="100" dirty="0">
                <a:latin typeface="Times New Roman"/>
                <a:ea typeface="宋体"/>
                <a:cs typeface="Times New Roman"/>
              </a:rPr>
              <a:t>，</a:t>
            </a:r>
            <a:r>
              <a:rPr lang="fr-FR" altLang="zh-CN" sz="1600" kern="100" dirty="0">
                <a:latin typeface="Times New Roman"/>
                <a:ea typeface="宋体"/>
                <a:cs typeface="Times New Roman"/>
              </a:rPr>
              <a:t>E</a:t>
            </a:r>
            <a:r>
              <a:rPr lang="fr-FR" altLang="zh-CN" sz="1600" kern="100" baseline="30000" dirty="0">
                <a:latin typeface="Times New Roman"/>
                <a:ea typeface="宋体"/>
                <a:cs typeface="Times New Roman"/>
              </a:rPr>
              <a:t>(2)</a:t>
            </a:r>
            <a:r>
              <a:rPr lang="fr-FR" altLang="zh-CN" sz="1600" kern="100" dirty="0">
                <a:latin typeface="Times New Roman"/>
                <a:ea typeface="宋体"/>
                <a:cs typeface="Times New Roman"/>
              </a:rPr>
              <a:t>.PLACE</a:t>
            </a:r>
            <a:r>
              <a:rPr lang="zh-CN" altLang="zh-CN" sz="1600" kern="100" dirty="0">
                <a:latin typeface="Times New Roman"/>
                <a:ea typeface="宋体"/>
                <a:cs typeface="Times New Roman"/>
              </a:rPr>
              <a:t>， ，</a:t>
            </a:r>
            <a:r>
              <a:rPr lang="pt-PT" altLang="zh-CN" sz="1600" kern="100" dirty="0">
                <a:latin typeface="Times New Roman"/>
                <a:ea typeface="宋体"/>
                <a:cs typeface="Times New Roman"/>
              </a:rPr>
              <a:t>A.PLACE</a:t>
            </a:r>
            <a:r>
              <a:rPr lang="fr-FR" altLang="zh-CN" sz="1600" kern="100" dirty="0">
                <a:latin typeface="Times New Roman"/>
                <a:ea typeface="宋体"/>
                <a:cs typeface="Times New Roman"/>
              </a:rPr>
              <a:t>);</a:t>
            </a:r>
            <a:endParaRPr lang="zh-CN" altLang="zh-CN" sz="1600" kern="100" dirty="0">
              <a:latin typeface="Times New Roman"/>
              <a:ea typeface="宋体"/>
              <a:cs typeface="Times New Roman"/>
            </a:endParaRPr>
          </a:p>
          <a:p>
            <a:pPr indent="171450" algn="just">
              <a:spcAft>
                <a:spcPts val="0"/>
              </a:spcAft>
            </a:pPr>
            <a:r>
              <a:rPr lang="fr-FR" altLang="zh-CN" sz="1600" kern="100" dirty="0">
                <a:latin typeface="Times New Roman"/>
                <a:ea typeface="宋体"/>
                <a:cs typeface="Times New Roman"/>
              </a:rPr>
              <a:t>A.CHAIN = NXQ         //</a:t>
            </a:r>
            <a:r>
              <a:rPr lang="zh-CN" altLang="zh-CN" sz="1600" kern="100" dirty="0">
                <a:latin typeface="Times New Roman"/>
                <a:ea typeface="宋体"/>
                <a:cs typeface="Times New Roman"/>
              </a:rPr>
              <a:t>对外的出口链</a:t>
            </a:r>
          </a:p>
          <a:p>
            <a:pPr indent="171450" algn="just">
              <a:spcAft>
                <a:spcPts val="0"/>
              </a:spcAft>
            </a:pPr>
            <a:r>
              <a:rPr lang="fr-FR" altLang="zh-CN" sz="1600" kern="100" dirty="0">
                <a:latin typeface="Times New Roman"/>
                <a:ea typeface="宋体"/>
                <a:cs typeface="Times New Roman"/>
              </a:rPr>
              <a:t>gencode(jz</a:t>
            </a:r>
            <a:r>
              <a:rPr lang="zh-CN" altLang="zh-CN" sz="1600" kern="100" dirty="0">
                <a:latin typeface="Times New Roman"/>
                <a:ea typeface="宋体"/>
                <a:cs typeface="Times New Roman"/>
              </a:rPr>
              <a:t>，</a:t>
            </a:r>
            <a:r>
              <a:rPr lang="pt-PT" altLang="zh-CN" sz="1600" kern="100" dirty="0">
                <a:latin typeface="Times New Roman"/>
                <a:ea typeface="宋体"/>
                <a:cs typeface="Times New Roman"/>
              </a:rPr>
              <a:t>A.PLACE</a:t>
            </a:r>
            <a:r>
              <a:rPr lang="zh-CN" altLang="zh-CN" sz="1600" kern="100" dirty="0">
                <a:latin typeface="Times New Roman"/>
                <a:ea typeface="宋体"/>
                <a:cs typeface="Times New Roman"/>
              </a:rPr>
              <a:t>， ，</a:t>
            </a:r>
            <a:r>
              <a:rPr lang="fr-FR" altLang="zh-CN" sz="1600" kern="100" dirty="0">
                <a:latin typeface="Times New Roman"/>
                <a:ea typeface="宋体"/>
                <a:cs typeface="Times New Roman"/>
              </a:rPr>
              <a:t>0) ;     //A.CHAIN</a:t>
            </a:r>
            <a:r>
              <a:rPr lang="zh-CN" altLang="zh-CN" sz="1600" kern="100" dirty="0">
                <a:latin typeface="Times New Roman"/>
                <a:ea typeface="宋体"/>
                <a:cs typeface="Times New Roman"/>
              </a:rPr>
              <a:t>，需回填</a:t>
            </a:r>
          </a:p>
          <a:p>
            <a:pPr indent="171450" algn="just">
              <a:spcAft>
                <a:spcPts val="0"/>
              </a:spcAft>
            </a:pPr>
            <a:r>
              <a:rPr lang="fr-FR" altLang="zh-CN" sz="1600" kern="100" dirty="0">
                <a:latin typeface="Times New Roman"/>
                <a:ea typeface="宋体"/>
                <a:cs typeface="Times New Roman"/>
              </a:rPr>
              <a:t>A.RIGHT = NXQ ;</a:t>
            </a:r>
            <a:endParaRPr lang="zh-CN" altLang="zh-CN" sz="1600" kern="100" dirty="0">
              <a:latin typeface="Times New Roman"/>
              <a:ea typeface="宋体"/>
              <a:cs typeface="Times New Roman"/>
            </a:endParaRPr>
          </a:p>
          <a:p>
            <a:pPr indent="171450" algn="just">
              <a:spcAft>
                <a:spcPts val="0"/>
              </a:spcAft>
            </a:pPr>
            <a:r>
              <a:rPr lang="fr-FR" altLang="zh-CN" sz="1600" kern="100" dirty="0">
                <a:latin typeface="Times New Roman"/>
                <a:ea typeface="宋体"/>
                <a:cs typeface="Times New Roman"/>
              </a:rPr>
              <a:t>gencode(j</a:t>
            </a:r>
            <a:r>
              <a:rPr lang="zh-CN" altLang="zh-CN" sz="1600" kern="100" dirty="0">
                <a:latin typeface="Times New Roman"/>
                <a:ea typeface="宋体"/>
                <a:cs typeface="Times New Roman"/>
              </a:rPr>
              <a:t>， ， ，</a:t>
            </a:r>
            <a:r>
              <a:rPr lang="fr-FR" altLang="zh-CN" sz="1600" kern="100" dirty="0">
                <a:latin typeface="Times New Roman"/>
                <a:ea typeface="宋体"/>
                <a:cs typeface="Times New Roman"/>
              </a:rPr>
              <a:t>0) ;    //A. RIGHT</a:t>
            </a:r>
            <a:r>
              <a:rPr lang="zh-CN" altLang="zh-CN" sz="1600" kern="100" dirty="0">
                <a:latin typeface="Times New Roman"/>
                <a:ea typeface="宋体"/>
                <a:cs typeface="Times New Roman"/>
              </a:rPr>
              <a:t>，还不知道位置，需回填</a:t>
            </a:r>
          </a:p>
          <a:p>
            <a:pPr indent="171450" algn="just">
              <a:spcAft>
                <a:spcPts val="0"/>
              </a:spcAft>
            </a:pPr>
            <a:r>
              <a:rPr lang="fr-FR" altLang="zh-CN" sz="1600" kern="100" dirty="0">
                <a:latin typeface="Times New Roman"/>
                <a:ea typeface="宋体"/>
                <a:cs typeface="Times New Roman"/>
              </a:rPr>
              <a:t>A. INC = NXQ ; </a:t>
            </a:r>
            <a:endParaRPr lang="zh-CN" altLang="zh-CN" sz="1600" kern="100" dirty="0">
              <a:latin typeface="Times New Roman"/>
              <a:ea typeface="宋体"/>
              <a:cs typeface="Times New Roman"/>
            </a:endParaRPr>
          </a:p>
          <a:p>
            <a:pPr indent="171450" algn="just">
              <a:spcAft>
                <a:spcPts val="0"/>
              </a:spcAft>
            </a:pPr>
            <a:r>
              <a:rPr lang="fr-FR" altLang="zh-CN" sz="1600" kern="100" dirty="0">
                <a:latin typeface="Times New Roman"/>
                <a:ea typeface="宋体"/>
                <a:cs typeface="Times New Roman"/>
              </a:rPr>
              <a:t>A.TEST = F.TEST ;  //</a:t>
            </a:r>
            <a:r>
              <a:rPr lang="zh-CN" altLang="zh-CN" sz="1600" kern="100" dirty="0">
                <a:latin typeface="Times New Roman"/>
                <a:ea typeface="宋体"/>
                <a:cs typeface="Times New Roman"/>
              </a:rPr>
              <a:t>产生式之间的语义变量的传递</a:t>
            </a:r>
            <a:r>
              <a:rPr lang="fr-FR" altLang="zh-CN" sz="1600" kern="100" dirty="0">
                <a:latin typeface="Times New Roman"/>
                <a:ea typeface="宋体"/>
                <a:cs typeface="Times New Roman"/>
              </a:rPr>
              <a:t>    }</a:t>
            </a:r>
            <a:endParaRPr lang="zh-CN" altLang="zh-CN" sz="1600" kern="100" dirty="0">
              <a:latin typeface="Times New Roman"/>
              <a:ea typeface="宋体"/>
              <a:cs typeface="Times New Roman"/>
            </a:endParaRPr>
          </a:p>
        </p:txBody>
      </p:sp>
      <p:sp>
        <p:nvSpPr>
          <p:cNvPr id="4" name="矩形 3"/>
          <p:cNvSpPr/>
          <p:nvPr/>
        </p:nvSpPr>
        <p:spPr>
          <a:xfrm>
            <a:off x="244065" y="1205920"/>
            <a:ext cx="4572000" cy="861774"/>
          </a:xfrm>
          <a:prstGeom prst="rect">
            <a:avLst/>
          </a:prstGeom>
        </p:spPr>
        <p:txBody>
          <a:bodyPr>
            <a:spAutoFit/>
          </a:bodyPr>
          <a:lstStyle/>
          <a:p>
            <a:pPr algn="just">
              <a:spcAft>
                <a:spcPts val="0"/>
              </a:spcAft>
            </a:pPr>
            <a:r>
              <a:rPr lang="pt-PT" altLang="zh-CN" sz="1600" kern="100" dirty="0">
                <a:latin typeface="Times New Roman"/>
                <a:ea typeface="宋体"/>
                <a:cs typeface="Times New Roman"/>
              </a:rPr>
              <a:t>{  F.PLACE = </a:t>
            </a:r>
            <a:r>
              <a:rPr lang="fr-FR" altLang="zh-CN" sz="1600" kern="100" dirty="0">
                <a:latin typeface="Times New Roman"/>
                <a:ea typeface="宋体"/>
                <a:cs typeface="Times New Roman"/>
              </a:rPr>
              <a:t>newtemp();  </a:t>
            </a:r>
            <a:endParaRPr lang="zh-CN" altLang="zh-CN" sz="1600" kern="100" dirty="0">
              <a:latin typeface="Times New Roman"/>
              <a:ea typeface="宋体"/>
              <a:cs typeface="Times New Roman"/>
            </a:endParaRPr>
          </a:p>
          <a:p>
            <a:pPr indent="171450" algn="just">
              <a:spcAft>
                <a:spcPts val="0"/>
              </a:spcAft>
            </a:pPr>
            <a:r>
              <a:rPr lang="fr-FR" altLang="zh-CN" sz="1600" kern="100" dirty="0">
                <a:latin typeface="Times New Roman"/>
                <a:ea typeface="宋体"/>
                <a:cs typeface="Times New Roman"/>
              </a:rPr>
              <a:t>gencode(=</a:t>
            </a:r>
            <a:r>
              <a:rPr lang="zh-CN" altLang="zh-CN" sz="1600" kern="100" dirty="0">
                <a:latin typeface="Times New Roman"/>
                <a:ea typeface="宋体"/>
                <a:cs typeface="Times New Roman"/>
              </a:rPr>
              <a:t>，</a:t>
            </a:r>
            <a:r>
              <a:rPr lang="fr-FR" altLang="zh-CN" sz="1600" kern="100" dirty="0">
                <a:latin typeface="Times New Roman"/>
                <a:ea typeface="宋体"/>
                <a:cs typeface="Times New Roman"/>
              </a:rPr>
              <a:t>E</a:t>
            </a:r>
            <a:r>
              <a:rPr lang="fr-FR" altLang="zh-CN" sz="1600" kern="100" baseline="30000" dirty="0">
                <a:latin typeface="Times New Roman"/>
                <a:ea typeface="宋体"/>
                <a:cs typeface="Times New Roman"/>
              </a:rPr>
              <a:t>(1)</a:t>
            </a:r>
            <a:r>
              <a:rPr lang="fr-FR" altLang="zh-CN" sz="1600" kern="100" dirty="0">
                <a:latin typeface="Times New Roman"/>
                <a:ea typeface="宋体"/>
                <a:cs typeface="Times New Roman"/>
              </a:rPr>
              <a:t>.PLACE</a:t>
            </a:r>
            <a:r>
              <a:rPr lang="zh-CN" altLang="zh-CN" sz="1600" kern="100" dirty="0">
                <a:latin typeface="Times New Roman"/>
                <a:ea typeface="宋体"/>
                <a:cs typeface="Times New Roman"/>
              </a:rPr>
              <a:t>， ，</a:t>
            </a:r>
            <a:r>
              <a:rPr lang="pt-PT" altLang="zh-CN" sz="1600" kern="100" dirty="0">
                <a:latin typeface="Times New Roman"/>
                <a:ea typeface="宋体"/>
                <a:cs typeface="Times New Roman"/>
              </a:rPr>
              <a:t>F.PLACE</a:t>
            </a:r>
            <a:r>
              <a:rPr lang="fr-FR" altLang="zh-CN" sz="1600" kern="100" dirty="0">
                <a:latin typeface="Times New Roman"/>
                <a:ea typeface="宋体"/>
                <a:cs typeface="Times New Roman"/>
              </a:rPr>
              <a:t> );</a:t>
            </a:r>
            <a:endParaRPr lang="zh-CN" altLang="zh-CN" sz="1600" kern="100" dirty="0">
              <a:latin typeface="Times New Roman"/>
              <a:ea typeface="宋体"/>
              <a:cs typeface="Times New Roman"/>
            </a:endParaRPr>
          </a:p>
          <a:p>
            <a:pPr indent="171450" algn="just">
              <a:spcAft>
                <a:spcPts val="0"/>
              </a:spcAft>
            </a:pPr>
            <a:r>
              <a:rPr lang="fr-FR" altLang="zh-CN" sz="1600" kern="100" dirty="0">
                <a:latin typeface="Times New Roman"/>
                <a:ea typeface="宋体"/>
                <a:cs typeface="Times New Roman"/>
              </a:rPr>
              <a:t>F.TEST= NXQ;                                           </a:t>
            </a:r>
            <a:r>
              <a:rPr lang="pt-PT" altLang="zh-CN" sz="1600" kern="100" dirty="0">
                <a:latin typeface="Times New Roman"/>
                <a:ea typeface="宋体"/>
                <a:cs typeface="Times New Roman"/>
              </a:rPr>
              <a:t>}</a:t>
            </a:r>
            <a:endParaRPr lang="zh-CN" altLang="zh-CN" sz="1600" kern="100" dirty="0">
              <a:latin typeface="Times New Roman"/>
              <a:ea typeface="宋体"/>
              <a:cs typeface="Times New Roman"/>
            </a:endParaRPr>
          </a:p>
        </p:txBody>
      </p:sp>
    </p:spTree>
    <p:extLst>
      <p:ext uri="{BB962C8B-B14F-4D97-AF65-F5344CB8AC3E}">
        <p14:creationId xmlns:p14="http://schemas.microsoft.com/office/powerpoint/2010/main" val="211853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5"/>
          <p:cNvSpPr>
            <a:spLocks noGrp="1" noChangeArrowheads="1"/>
          </p:cNvSpPr>
          <p:nvPr>
            <p:ph type="title"/>
          </p:nvPr>
        </p:nvSpPr>
        <p:spPr>
          <a:xfrm>
            <a:off x="571501" y="1"/>
            <a:ext cx="5483225" cy="583406"/>
          </a:xfrm>
        </p:spPr>
        <p:txBody>
          <a:bodyPr>
            <a:normAutofit fontScale="90000"/>
          </a:bodyPr>
          <a:lstStyle/>
          <a:p>
            <a:pPr eaLnBrk="1" hangingPunct="1"/>
            <a:r>
              <a:rPr lang="en-US" altLang="zh-CN" b="1">
                <a:ea typeface="楷体_GB2312" pitchFamily="49" charset="-122"/>
              </a:rPr>
              <a:t>FOR</a:t>
            </a:r>
            <a:r>
              <a:rPr lang="zh-CN" altLang="en-US" b="1">
                <a:ea typeface="楷体_GB2312" pitchFamily="49" charset="-122"/>
              </a:rPr>
              <a:t>语句的翻译</a:t>
            </a:r>
          </a:p>
        </p:txBody>
      </p:sp>
      <p:sp>
        <p:nvSpPr>
          <p:cNvPr id="111619" name="Rectangle 13"/>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endParaRPr lang="zh-CN" altLang="en-US" sz="2400"/>
          </a:p>
        </p:txBody>
      </p:sp>
      <p:graphicFrame>
        <p:nvGraphicFramePr>
          <p:cNvPr id="6" name="表格占位符 5"/>
          <p:cNvGraphicFramePr>
            <a:graphicFrameLocks noGrp="1"/>
          </p:cNvGraphicFramePr>
          <p:nvPr>
            <p:ph type="tbl" idx="1"/>
            <p:extLst>
              <p:ext uri="{D42A27DB-BD31-4B8C-83A1-F6EECF244321}">
                <p14:modId xmlns:p14="http://schemas.microsoft.com/office/powerpoint/2010/main" val="2136484727"/>
              </p:ext>
            </p:extLst>
          </p:nvPr>
        </p:nvGraphicFramePr>
        <p:xfrm>
          <a:off x="323528" y="780446"/>
          <a:ext cx="5328592" cy="3519496"/>
        </p:xfrm>
        <a:graphic>
          <a:graphicData uri="http://schemas.openxmlformats.org/drawingml/2006/table">
            <a:tbl>
              <a:tblPr/>
              <a:tblGrid>
                <a:gridCol w="5328592">
                  <a:extLst>
                    <a:ext uri="{9D8B030D-6E8A-4147-A177-3AD203B41FA5}">
                      <a16:colId xmlns:a16="http://schemas.microsoft.com/office/drawing/2014/main" val="20000"/>
                    </a:ext>
                  </a:extLst>
                </a:gridCol>
              </a:tblGrid>
              <a:tr h="382796">
                <a:tc>
                  <a:txBody>
                    <a:bodyPr/>
                    <a:lstStyle/>
                    <a:p>
                      <a:pPr marL="0" indent="0" algn="just">
                        <a:spcAft>
                          <a:spcPts val="0"/>
                        </a:spcAft>
                      </a:pPr>
                      <a:r>
                        <a:rPr lang="pt-PT" altLang="zh-CN" sz="1800" kern="100" dirty="0">
                          <a:latin typeface="Times New Roman"/>
                          <a:ea typeface="宋体"/>
                          <a:cs typeface="Times New Roman"/>
                        </a:rPr>
                        <a:t>(3) B</a:t>
                      </a:r>
                      <a:r>
                        <a:rPr lang="zh-CN" altLang="zh-CN" sz="1800" kern="100" dirty="0">
                          <a:latin typeface="Times New Roman"/>
                          <a:ea typeface="宋体"/>
                          <a:cs typeface="Times New Roman"/>
                        </a:rPr>
                        <a:t>→</a:t>
                      </a:r>
                      <a:r>
                        <a:rPr lang="pt-PT" altLang="zh-CN" sz="1800" kern="100" dirty="0">
                          <a:latin typeface="Times New Roman"/>
                          <a:ea typeface="宋体"/>
                          <a:cs typeface="Times New Roman"/>
                        </a:rPr>
                        <a:t>A E</a:t>
                      </a:r>
                      <a:r>
                        <a:rPr lang="pt-PT" altLang="zh-CN" sz="1800" kern="100" baseline="30000" dirty="0">
                          <a:latin typeface="Times New Roman"/>
                          <a:ea typeface="宋体"/>
                          <a:cs typeface="Times New Roman"/>
                        </a:rPr>
                        <a:t>(3)</a:t>
                      </a:r>
                      <a:r>
                        <a:rPr lang="pt-PT" altLang="zh-CN" sz="1800" kern="100" dirty="0">
                          <a:latin typeface="Times New Roman"/>
                          <a:ea typeface="宋体"/>
                          <a:cs typeface="Times New Roman"/>
                        </a:rPr>
                        <a:t> )</a:t>
                      </a:r>
                      <a:endParaRPr lang="zh-CN" sz="1800" kern="100" dirty="0">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561419">
                <a:tc>
                  <a:txBody>
                    <a:bodyPr/>
                    <a:lstStyle/>
                    <a:p>
                      <a:pPr algn="just">
                        <a:spcAft>
                          <a:spcPts val="0"/>
                        </a:spcAft>
                      </a:pPr>
                      <a:endParaRPr lang="zh-CN" sz="1500" kern="100" dirty="0">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360040">
                <a:tc>
                  <a:txBody>
                    <a:bodyPr/>
                    <a:lstStyle/>
                    <a:p>
                      <a:pPr algn="just">
                        <a:spcAft>
                          <a:spcPts val="0"/>
                        </a:spcAft>
                      </a:pPr>
                      <a:r>
                        <a:rPr lang="en-US" altLang="zh-CN" sz="1800" kern="100" dirty="0">
                          <a:latin typeface="Times New Roman"/>
                          <a:ea typeface="宋体"/>
                          <a:cs typeface="Times New Roman"/>
                        </a:rPr>
                        <a:t>(4) S→B S</a:t>
                      </a:r>
                      <a:r>
                        <a:rPr lang="en-US" altLang="zh-CN" sz="1800" kern="100" baseline="30000" dirty="0">
                          <a:latin typeface="Times New Roman"/>
                          <a:ea typeface="宋体"/>
                          <a:cs typeface="Times New Roman"/>
                        </a:rPr>
                        <a:t>(1)</a:t>
                      </a:r>
                      <a:r>
                        <a:rPr lang="en-US" altLang="zh-CN" sz="1800" kern="100" dirty="0">
                          <a:latin typeface="Times New Roman"/>
                          <a:ea typeface="宋体"/>
                          <a:cs typeface="Times New Roman"/>
                        </a:rPr>
                        <a:t>     /*S</a:t>
                      </a:r>
                      <a:r>
                        <a:rPr lang="zh-CN" altLang="zh-CN" sz="1800" kern="100" dirty="0">
                          <a:latin typeface="Times New Roman"/>
                          <a:ea typeface="宋体"/>
                          <a:cs typeface="Times New Roman"/>
                        </a:rPr>
                        <a:t>是开始符号</a:t>
                      </a:r>
                      <a:r>
                        <a:rPr lang="en-US" altLang="zh-CN" sz="1800" kern="100" dirty="0">
                          <a:latin typeface="Times New Roman"/>
                          <a:ea typeface="宋体"/>
                          <a:cs typeface="Times New Roman"/>
                        </a:rPr>
                        <a:t>*/</a:t>
                      </a:r>
                      <a:endParaRPr lang="zh-CN" altLang="zh-CN" sz="1800" kern="100" dirty="0">
                        <a:latin typeface="Times New Roman"/>
                        <a:ea typeface="宋体"/>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215241">
                <a:tc>
                  <a:txBody>
                    <a:bodyPr/>
                    <a:lstStyle/>
                    <a:p>
                      <a:pPr algn="just">
                        <a:spcAft>
                          <a:spcPts val="0"/>
                        </a:spcAft>
                      </a:pPr>
                      <a:endParaRPr lang="zh-CN" sz="1500" kern="100" dirty="0">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4" name="矩形 3"/>
          <p:cNvSpPr/>
          <p:nvPr/>
        </p:nvSpPr>
        <p:spPr>
          <a:xfrm>
            <a:off x="336855" y="3156709"/>
            <a:ext cx="5472608" cy="1077218"/>
          </a:xfrm>
          <a:prstGeom prst="rect">
            <a:avLst/>
          </a:prstGeom>
        </p:spPr>
        <p:txBody>
          <a:bodyPr wrap="square">
            <a:spAutoFit/>
          </a:bodyPr>
          <a:lstStyle/>
          <a:p>
            <a:pPr algn="just">
              <a:spcAft>
                <a:spcPts val="0"/>
              </a:spcAft>
            </a:pPr>
            <a:r>
              <a:rPr lang="en-US" altLang="zh-CN" sz="1600" kern="100" dirty="0">
                <a:latin typeface="Times New Roman"/>
                <a:ea typeface="宋体"/>
                <a:cs typeface="Times New Roman"/>
              </a:rPr>
              <a:t>{  </a:t>
            </a:r>
            <a:r>
              <a:rPr lang="en-US" altLang="zh-CN" sz="1600" kern="100" dirty="0" err="1">
                <a:latin typeface="Times New Roman"/>
                <a:ea typeface="宋体"/>
                <a:cs typeface="Times New Roman"/>
              </a:rPr>
              <a:t>backpatch</a:t>
            </a:r>
            <a:r>
              <a:rPr lang="en-US" altLang="zh-CN" sz="1600" kern="100" dirty="0">
                <a:latin typeface="Times New Roman"/>
                <a:ea typeface="宋体"/>
                <a:cs typeface="Times New Roman"/>
              </a:rPr>
              <a:t>(S</a:t>
            </a:r>
            <a:r>
              <a:rPr lang="en-US" altLang="zh-CN" sz="1600" kern="100" baseline="30000" dirty="0">
                <a:latin typeface="Times New Roman"/>
                <a:ea typeface="宋体"/>
                <a:cs typeface="Times New Roman"/>
              </a:rPr>
              <a:t>(1)</a:t>
            </a:r>
            <a:r>
              <a:rPr lang="en-US" altLang="zh-CN" sz="1600" kern="100" dirty="0">
                <a:latin typeface="Times New Roman"/>
                <a:ea typeface="宋体"/>
                <a:cs typeface="Times New Roman"/>
              </a:rPr>
              <a:t>.CHAIN</a:t>
            </a:r>
            <a:r>
              <a:rPr lang="zh-CN" altLang="zh-CN" sz="1600" kern="100" dirty="0">
                <a:latin typeface="Times New Roman"/>
                <a:ea typeface="宋体"/>
                <a:cs typeface="Times New Roman"/>
              </a:rPr>
              <a:t>，</a:t>
            </a:r>
            <a:r>
              <a:rPr lang="en-US" altLang="zh-CN" sz="1600" kern="100" dirty="0">
                <a:latin typeface="Times New Roman"/>
                <a:ea typeface="宋体"/>
                <a:cs typeface="Times New Roman"/>
              </a:rPr>
              <a:t>NXQ); </a:t>
            </a:r>
            <a:endParaRPr lang="zh-CN" altLang="zh-CN" sz="1600" kern="100" dirty="0">
              <a:latin typeface="Times New Roman"/>
              <a:ea typeface="宋体"/>
              <a:cs typeface="Times New Roman"/>
            </a:endParaRPr>
          </a:p>
          <a:p>
            <a:pPr indent="171450" algn="just">
              <a:spcAft>
                <a:spcPts val="0"/>
              </a:spcAft>
            </a:pPr>
            <a:r>
              <a:rPr lang="en-US" altLang="zh-CN" sz="1600" kern="100" dirty="0" err="1">
                <a:latin typeface="Times New Roman"/>
                <a:ea typeface="宋体"/>
                <a:cs typeface="Times New Roman"/>
              </a:rPr>
              <a:t>gencode</a:t>
            </a:r>
            <a:r>
              <a:rPr lang="en-US" altLang="zh-CN" sz="1600" kern="100" dirty="0">
                <a:latin typeface="Times New Roman"/>
                <a:ea typeface="宋体"/>
                <a:cs typeface="Times New Roman"/>
              </a:rPr>
              <a:t>(j</a:t>
            </a:r>
            <a:r>
              <a:rPr lang="zh-CN" altLang="zh-CN" sz="1600" kern="100" dirty="0">
                <a:latin typeface="Times New Roman"/>
                <a:ea typeface="宋体"/>
                <a:cs typeface="Times New Roman"/>
              </a:rPr>
              <a:t>， ， ，</a:t>
            </a:r>
            <a:r>
              <a:rPr lang="en-US" altLang="zh-CN" sz="1600" kern="100" dirty="0">
                <a:latin typeface="Times New Roman"/>
                <a:ea typeface="宋体"/>
                <a:cs typeface="Times New Roman"/>
              </a:rPr>
              <a:t>B.INC);  // S</a:t>
            </a:r>
            <a:r>
              <a:rPr lang="en-US" altLang="zh-CN" sz="1600" kern="100" baseline="30000" dirty="0">
                <a:latin typeface="Times New Roman"/>
                <a:ea typeface="宋体"/>
                <a:cs typeface="Times New Roman"/>
              </a:rPr>
              <a:t>(1)</a:t>
            </a:r>
            <a:r>
              <a:rPr lang="zh-CN" altLang="zh-CN" sz="1600" kern="100" dirty="0">
                <a:latin typeface="Times New Roman"/>
                <a:ea typeface="宋体"/>
                <a:cs typeface="Times New Roman"/>
              </a:rPr>
              <a:t>执行结束应跳转到</a:t>
            </a:r>
            <a:r>
              <a:rPr lang="pt-PT" altLang="zh-CN" sz="1600" kern="100" dirty="0">
                <a:latin typeface="Times New Roman"/>
                <a:ea typeface="宋体"/>
                <a:cs typeface="Times New Roman"/>
              </a:rPr>
              <a:t>E</a:t>
            </a:r>
            <a:r>
              <a:rPr lang="pt-PT" altLang="zh-CN" sz="1600" kern="100" baseline="30000" dirty="0">
                <a:latin typeface="Times New Roman"/>
                <a:ea typeface="宋体"/>
                <a:cs typeface="Times New Roman"/>
              </a:rPr>
              <a:t>(3)</a:t>
            </a:r>
            <a:r>
              <a:rPr lang="zh-CN" altLang="zh-CN" sz="1600" kern="100" dirty="0">
                <a:latin typeface="Times New Roman"/>
                <a:ea typeface="宋体"/>
                <a:cs typeface="Times New Roman"/>
              </a:rPr>
              <a:t>执行</a:t>
            </a:r>
          </a:p>
          <a:p>
            <a:pPr indent="171450" algn="just">
              <a:spcAft>
                <a:spcPts val="0"/>
              </a:spcAft>
            </a:pPr>
            <a:r>
              <a:rPr lang="en-US" altLang="zh-CN" sz="1600" kern="100" dirty="0">
                <a:latin typeface="Times New Roman"/>
                <a:ea typeface="宋体"/>
                <a:cs typeface="Times New Roman"/>
              </a:rPr>
              <a:t>S.CHAIN = </a:t>
            </a:r>
            <a:r>
              <a:rPr lang="fr-FR" altLang="zh-CN" sz="1600" kern="100" dirty="0">
                <a:latin typeface="Times New Roman"/>
                <a:ea typeface="宋体"/>
                <a:cs typeface="Times New Roman"/>
              </a:rPr>
              <a:t>merge(B.CHAIN, </a:t>
            </a:r>
            <a:r>
              <a:rPr lang="en-US" altLang="zh-CN" sz="1600" kern="100" dirty="0">
                <a:latin typeface="Times New Roman"/>
                <a:ea typeface="宋体"/>
                <a:cs typeface="Times New Roman"/>
              </a:rPr>
              <a:t>S</a:t>
            </a:r>
            <a:r>
              <a:rPr lang="en-US" altLang="zh-CN" sz="1600" kern="100" baseline="30000" dirty="0">
                <a:latin typeface="Times New Roman"/>
                <a:ea typeface="宋体"/>
                <a:cs typeface="Times New Roman"/>
              </a:rPr>
              <a:t>(1)</a:t>
            </a:r>
            <a:r>
              <a:rPr lang="en-US" altLang="zh-CN" sz="1600" kern="100" dirty="0">
                <a:latin typeface="Times New Roman"/>
                <a:ea typeface="宋体"/>
                <a:cs typeface="Times New Roman"/>
              </a:rPr>
              <a:t>.BRK</a:t>
            </a:r>
            <a:r>
              <a:rPr lang="fr-FR" altLang="zh-CN" sz="1600" kern="100" dirty="0">
                <a:latin typeface="Times New Roman"/>
                <a:ea typeface="宋体"/>
                <a:cs typeface="Times New Roman"/>
              </a:rPr>
              <a:t>);  </a:t>
            </a:r>
            <a:r>
              <a:rPr lang="en-US" altLang="zh-CN" sz="1600" kern="100" dirty="0">
                <a:latin typeface="Times New Roman"/>
                <a:ea typeface="宋体"/>
                <a:cs typeface="Times New Roman"/>
              </a:rPr>
              <a:t>                       </a:t>
            </a:r>
          </a:p>
          <a:p>
            <a:pPr indent="84138" algn="just">
              <a:spcAft>
                <a:spcPts val="0"/>
              </a:spcAft>
            </a:pPr>
            <a:r>
              <a:rPr lang="en-US" altLang="zh-CN" sz="1600" kern="100" dirty="0">
                <a:latin typeface="Times New Roman"/>
                <a:ea typeface="宋体"/>
                <a:cs typeface="Times New Roman"/>
              </a:rPr>
              <a:t>}</a:t>
            </a:r>
            <a:endParaRPr lang="zh-CN" altLang="zh-CN" sz="1600" kern="100" dirty="0">
              <a:latin typeface="Times New Roman"/>
              <a:ea typeface="宋体"/>
              <a:cs typeface="Times New Roman"/>
            </a:endParaRPr>
          </a:p>
        </p:txBody>
      </p:sp>
      <p:sp>
        <p:nvSpPr>
          <p:cNvPr id="5" name="矩形 4"/>
          <p:cNvSpPr/>
          <p:nvPr/>
        </p:nvSpPr>
        <p:spPr>
          <a:xfrm>
            <a:off x="336855" y="1275606"/>
            <a:ext cx="5328592" cy="1323439"/>
          </a:xfrm>
          <a:prstGeom prst="rect">
            <a:avLst/>
          </a:prstGeom>
        </p:spPr>
        <p:txBody>
          <a:bodyPr wrap="square">
            <a:spAutoFit/>
          </a:bodyPr>
          <a:lstStyle/>
          <a:p>
            <a:pPr algn="just"/>
            <a:r>
              <a:rPr lang="pt-PT" altLang="zh-CN" sz="1600" kern="100" dirty="0">
                <a:latin typeface="Times New Roman"/>
                <a:ea typeface="宋体"/>
                <a:cs typeface="Times New Roman"/>
              </a:rPr>
              <a:t>{  </a:t>
            </a:r>
            <a:r>
              <a:rPr lang="fr-FR" altLang="zh-CN" sz="1600" kern="100" dirty="0">
                <a:latin typeface="Times New Roman"/>
                <a:ea typeface="宋体"/>
                <a:cs typeface="Times New Roman"/>
              </a:rPr>
              <a:t>gencode(j</a:t>
            </a:r>
            <a:r>
              <a:rPr lang="zh-CN" altLang="zh-CN" sz="1600" kern="100" dirty="0">
                <a:latin typeface="Times New Roman"/>
                <a:ea typeface="宋体"/>
                <a:cs typeface="Times New Roman"/>
              </a:rPr>
              <a:t>， ， ，</a:t>
            </a:r>
            <a:r>
              <a:rPr lang="fr-FR" altLang="zh-CN" sz="1600" kern="100" dirty="0">
                <a:latin typeface="Times New Roman"/>
                <a:ea typeface="宋体"/>
                <a:cs typeface="Times New Roman"/>
              </a:rPr>
              <a:t>A.TEST) ;</a:t>
            </a:r>
            <a:endParaRPr lang="zh-CN" altLang="zh-CN" sz="1600" kern="100" dirty="0">
              <a:latin typeface="Times New Roman"/>
              <a:ea typeface="宋体"/>
              <a:cs typeface="Times New Roman"/>
            </a:endParaRPr>
          </a:p>
          <a:p>
            <a:pPr indent="171450" algn="just"/>
            <a:r>
              <a:rPr lang="fr-FR" altLang="zh-CN" sz="1600" kern="100" dirty="0">
                <a:latin typeface="Times New Roman"/>
                <a:ea typeface="宋体"/>
                <a:cs typeface="Times New Roman"/>
              </a:rPr>
              <a:t>backpatch(A.RIGHT</a:t>
            </a:r>
            <a:r>
              <a:rPr lang="zh-CN" altLang="zh-CN" sz="1600" kern="100" dirty="0">
                <a:latin typeface="Times New Roman"/>
                <a:ea typeface="宋体"/>
                <a:cs typeface="Times New Roman"/>
              </a:rPr>
              <a:t>，</a:t>
            </a:r>
            <a:r>
              <a:rPr lang="fr-FR" altLang="zh-CN" sz="1600" kern="100" dirty="0">
                <a:latin typeface="Times New Roman"/>
                <a:ea typeface="宋体"/>
                <a:cs typeface="Times New Roman"/>
              </a:rPr>
              <a:t>NXQ); </a:t>
            </a:r>
            <a:endParaRPr lang="zh-CN" altLang="zh-CN" sz="1600" kern="100" dirty="0">
              <a:latin typeface="Times New Roman"/>
              <a:ea typeface="宋体"/>
              <a:cs typeface="Times New Roman"/>
            </a:endParaRPr>
          </a:p>
          <a:p>
            <a:pPr indent="171450" algn="just"/>
            <a:r>
              <a:rPr lang="fr-FR" altLang="zh-CN" sz="1600" kern="100" dirty="0">
                <a:latin typeface="Times New Roman"/>
                <a:ea typeface="宋体"/>
                <a:cs typeface="Times New Roman"/>
              </a:rPr>
              <a:t>B.CHAIN = A.CHAIN ; //</a:t>
            </a:r>
            <a:r>
              <a:rPr lang="zh-CN" altLang="zh-CN" sz="1600" kern="100" dirty="0">
                <a:latin typeface="Times New Roman"/>
                <a:ea typeface="宋体"/>
                <a:cs typeface="Times New Roman"/>
              </a:rPr>
              <a:t>产生式之间的语义变量的传递</a:t>
            </a:r>
          </a:p>
          <a:p>
            <a:pPr indent="171450" algn="just"/>
            <a:r>
              <a:rPr lang="fr-FR" altLang="zh-CN" sz="1600" kern="100" dirty="0">
                <a:latin typeface="Times New Roman"/>
                <a:ea typeface="宋体"/>
                <a:cs typeface="Times New Roman"/>
              </a:rPr>
              <a:t>B.INC = A.INC ; //</a:t>
            </a:r>
            <a:r>
              <a:rPr lang="zh-CN" altLang="zh-CN" sz="1600" kern="100" dirty="0">
                <a:latin typeface="Times New Roman"/>
                <a:ea typeface="宋体"/>
                <a:cs typeface="Times New Roman"/>
              </a:rPr>
              <a:t>产生式之间的语义变量的传递</a:t>
            </a:r>
          </a:p>
          <a:p>
            <a:pPr algn="just"/>
            <a:r>
              <a:rPr lang="fr-FR" altLang="zh-CN" sz="1600" kern="100" dirty="0">
                <a:latin typeface="Times New Roman"/>
                <a:ea typeface="宋体"/>
                <a:cs typeface="Times New Roman"/>
              </a:rPr>
              <a:t>}</a:t>
            </a:r>
            <a:endParaRPr lang="zh-CN" altLang="zh-CN" sz="1600" kern="100" dirty="0">
              <a:latin typeface="Times New Roman"/>
              <a:ea typeface="宋体"/>
              <a:cs typeface="Times New Roman"/>
            </a:endParaRPr>
          </a:p>
        </p:txBody>
      </p:sp>
      <p:graphicFrame>
        <p:nvGraphicFramePr>
          <p:cNvPr id="7" name="对象 6"/>
          <p:cNvGraphicFramePr>
            <a:graphicFrameLocks noChangeAspect="1"/>
          </p:cNvGraphicFramePr>
          <p:nvPr/>
        </p:nvGraphicFramePr>
        <p:xfrm>
          <a:off x="5072063" y="0"/>
          <a:ext cx="4071937" cy="5046663"/>
        </p:xfrm>
        <a:graphic>
          <a:graphicData uri="http://schemas.openxmlformats.org/presentationml/2006/ole">
            <mc:AlternateContent xmlns:mc="http://schemas.openxmlformats.org/markup-compatibility/2006">
              <mc:Choice xmlns:v="urn:schemas-microsoft-com:vml" Requires="v">
                <p:oleObj spid="_x0000_s33797" name="Visio" r:id="rId4" imgW="2404894" imgH="3978287" progId="Visio.Drawing.11">
                  <p:embed/>
                </p:oleObj>
              </mc:Choice>
              <mc:Fallback>
                <p:oleObj name="Visio" r:id="rId4" imgW="2404894" imgH="3978287" progId="Visio.Drawing.11">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2063" y="0"/>
                        <a:ext cx="4071937" cy="504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p:nvPr/>
        </p:nvSpPr>
        <p:spPr>
          <a:xfrm>
            <a:off x="1835696" y="4233927"/>
            <a:ext cx="3024336"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dirty="0"/>
              <a:t>if (A&lt;B) </a:t>
            </a:r>
            <a:endParaRPr lang="zh-CN" altLang="zh-CN" dirty="0"/>
          </a:p>
          <a:p>
            <a:r>
              <a:rPr lang="en-US" altLang="zh-CN" dirty="0"/>
              <a:t>    for (E</a:t>
            </a:r>
            <a:r>
              <a:rPr lang="en-US" altLang="zh-CN" baseline="30000" dirty="0"/>
              <a:t>(1)</a:t>
            </a:r>
            <a:r>
              <a:rPr lang="en-US" altLang="zh-CN" dirty="0"/>
              <a:t> ; E</a:t>
            </a:r>
            <a:r>
              <a:rPr lang="en-US" altLang="zh-CN" baseline="30000" dirty="0"/>
              <a:t>(2)</a:t>
            </a:r>
            <a:r>
              <a:rPr lang="en-US" altLang="zh-CN" dirty="0"/>
              <a:t> ; E</a:t>
            </a:r>
            <a:r>
              <a:rPr lang="en-US" altLang="zh-CN" baseline="30000" dirty="0"/>
              <a:t>(3)</a:t>
            </a:r>
            <a:r>
              <a:rPr lang="en-US" altLang="zh-CN" dirty="0"/>
              <a:t> )  S</a:t>
            </a:r>
            <a:r>
              <a:rPr lang="en-US" altLang="zh-CN" baseline="30000" dirty="0"/>
              <a:t>(1)</a:t>
            </a:r>
            <a:r>
              <a:rPr lang="en-US" altLang="zh-CN" dirty="0"/>
              <a:t> </a:t>
            </a:r>
            <a:endParaRPr lang="zh-CN" altLang="zh-CN" dirty="0"/>
          </a:p>
          <a:p>
            <a:r>
              <a:rPr lang="en-US" altLang="zh-CN" dirty="0"/>
              <a:t>else S</a:t>
            </a:r>
            <a:r>
              <a:rPr lang="en-US" altLang="zh-CN" baseline="30000" dirty="0"/>
              <a:t>(2)</a:t>
            </a:r>
            <a:r>
              <a:rPr lang="en-US" altLang="zh-CN" dirty="0"/>
              <a:t>;</a:t>
            </a:r>
            <a:endParaRPr lang="zh-CN" altLang="zh-CN" dirty="0"/>
          </a:p>
        </p:txBody>
      </p:sp>
    </p:spTree>
    <p:extLst>
      <p:ext uri="{BB962C8B-B14F-4D97-AF65-F5344CB8AC3E}">
        <p14:creationId xmlns:p14="http://schemas.microsoft.com/office/powerpoint/2010/main" val="1744063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3148721" y="702966"/>
            <a:ext cx="5995279" cy="58422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12642" name="Rectangle 2"/>
          <p:cNvSpPr>
            <a:spLocks noGrp="1" noChangeArrowheads="1"/>
          </p:cNvSpPr>
          <p:nvPr>
            <p:ph type="title"/>
          </p:nvPr>
        </p:nvSpPr>
        <p:spPr>
          <a:xfrm>
            <a:off x="323528" y="1"/>
            <a:ext cx="3317056" cy="618242"/>
          </a:xfrm>
        </p:spPr>
        <p:txBody>
          <a:bodyPr>
            <a:noAutofit/>
          </a:bodyPr>
          <a:lstStyle/>
          <a:p>
            <a:pPr>
              <a:lnSpc>
                <a:spcPct val="90000"/>
              </a:lnSpc>
            </a:pPr>
            <a:r>
              <a:rPr lang="zh-CN" altLang="fr-FR" sz="2800" dirty="0">
                <a:solidFill>
                  <a:srgbClr val="000000"/>
                </a:solidFill>
                <a:latin typeface="Times New Roman" pitchFamily="18" charset="0"/>
              </a:rPr>
              <a:t>将下面的语句翻译为</a:t>
            </a:r>
            <a:r>
              <a:rPr lang="zh-CN" altLang="en-US" sz="2800" dirty="0">
                <a:solidFill>
                  <a:srgbClr val="000000"/>
                </a:solidFill>
                <a:latin typeface="Times New Roman" pitchFamily="18" charset="0"/>
              </a:rPr>
              <a:t>四元式序列</a:t>
            </a:r>
          </a:p>
        </p:txBody>
      </p:sp>
      <p:sp>
        <p:nvSpPr>
          <p:cNvPr id="8196" name="Rectangle 3"/>
          <p:cNvSpPr>
            <a:spLocks noGrp="1" noChangeArrowheads="1"/>
          </p:cNvSpPr>
          <p:nvPr>
            <p:ph type="body" sz="half" idx="1"/>
          </p:nvPr>
        </p:nvSpPr>
        <p:spPr>
          <a:xfrm>
            <a:off x="4110348" y="-56478"/>
            <a:ext cx="5004048" cy="756020"/>
          </a:xfrm>
          <a:noFill/>
        </p:spPr>
        <p:txBody>
          <a:bodyPr>
            <a:noAutofit/>
          </a:bodyPr>
          <a:lstStyle/>
          <a:p>
            <a:pPr>
              <a:buFontTx/>
              <a:buNone/>
              <a:defRPr/>
            </a:pPr>
            <a:r>
              <a:rPr lang="en-US" altLang="zh-CN" sz="1800" dirty="0"/>
              <a:t>for (</a:t>
            </a:r>
            <a:r>
              <a:rPr lang="en-US" altLang="zh-CN" sz="1800" dirty="0" err="1"/>
              <a:t>i</a:t>
            </a:r>
            <a:r>
              <a:rPr lang="en-US" altLang="zh-CN" sz="1800" dirty="0"/>
              <a:t> = </a:t>
            </a:r>
            <a:r>
              <a:rPr lang="en-US" altLang="zh-CN" sz="1800" dirty="0" err="1"/>
              <a:t>a+b</a:t>
            </a:r>
            <a:r>
              <a:rPr lang="en-US" altLang="zh-CN" sz="1800" dirty="0"/>
              <a:t>*2 ; </a:t>
            </a:r>
            <a:r>
              <a:rPr lang="en-US" altLang="zh-CN" sz="1800" dirty="0" err="1"/>
              <a:t>i</a:t>
            </a:r>
            <a:r>
              <a:rPr lang="en-US" altLang="zh-CN" sz="1800" dirty="0"/>
              <a:t> &lt; c+d+10; </a:t>
            </a:r>
            <a:r>
              <a:rPr lang="en-US" altLang="zh-CN" sz="1800" dirty="0" err="1"/>
              <a:t>i</a:t>
            </a:r>
            <a:r>
              <a:rPr lang="en-US" altLang="zh-CN" sz="1800" dirty="0"/>
              <a:t> = i+1)</a:t>
            </a:r>
            <a:endParaRPr lang="zh-CN" altLang="zh-CN" sz="1800" dirty="0"/>
          </a:p>
          <a:p>
            <a:pPr>
              <a:buFontTx/>
              <a:buNone/>
              <a:defRPr/>
            </a:pPr>
            <a:r>
              <a:rPr lang="en-US" altLang="zh-CN" sz="1800" dirty="0"/>
              <a:t>     if (h&gt;g) p=p+1;</a:t>
            </a:r>
            <a:endParaRPr lang="zh-CN" altLang="zh-CN" sz="1800" dirty="0"/>
          </a:p>
        </p:txBody>
      </p:sp>
      <p:sp>
        <p:nvSpPr>
          <p:cNvPr id="112644" name="Rectangle 4"/>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2" name="表格 1"/>
          <p:cNvGraphicFramePr>
            <a:graphicFrameLocks noGrp="1"/>
          </p:cNvGraphicFramePr>
          <p:nvPr>
            <p:extLst>
              <p:ext uri="{D42A27DB-BD31-4B8C-83A1-F6EECF244321}">
                <p14:modId xmlns:p14="http://schemas.microsoft.com/office/powerpoint/2010/main" val="608413185"/>
              </p:ext>
            </p:extLst>
          </p:nvPr>
        </p:nvGraphicFramePr>
        <p:xfrm>
          <a:off x="3275856" y="1327750"/>
          <a:ext cx="5832648" cy="3764280"/>
        </p:xfrm>
        <a:graphic>
          <a:graphicData uri="http://schemas.openxmlformats.org/drawingml/2006/table">
            <a:tbl>
              <a:tblPr>
                <a:tableStyleId>{5C22544A-7EE6-4342-B048-85BDC9FD1C3A}</a:tableStyleId>
              </a:tblPr>
              <a:tblGrid>
                <a:gridCol w="1175934">
                  <a:extLst>
                    <a:ext uri="{9D8B030D-6E8A-4147-A177-3AD203B41FA5}">
                      <a16:colId xmlns:a16="http://schemas.microsoft.com/office/drawing/2014/main" val="20000"/>
                    </a:ext>
                  </a:extLst>
                </a:gridCol>
                <a:gridCol w="4656714">
                  <a:extLst>
                    <a:ext uri="{9D8B030D-6E8A-4147-A177-3AD203B41FA5}">
                      <a16:colId xmlns:a16="http://schemas.microsoft.com/office/drawing/2014/main" val="20001"/>
                    </a:ext>
                  </a:extLst>
                </a:gridCol>
              </a:tblGrid>
              <a:tr h="0">
                <a:tc>
                  <a:txBody>
                    <a:bodyPr/>
                    <a:lstStyle/>
                    <a:p>
                      <a:pPr marL="234315" indent="-234315" algn="just">
                        <a:spcAft>
                          <a:spcPts val="0"/>
                        </a:spcAft>
                      </a:pPr>
                      <a:r>
                        <a:rPr lang="zh-CN" sz="1300" kern="100" dirty="0">
                          <a:effectLst/>
                        </a:rPr>
                        <a:t>产生式</a:t>
                      </a:r>
                      <a:endParaRPr lang="zh-CN" sz="13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zh-CN" sz="1300" kern="100" dirty="0">
                          <a:effectLst/>
                        </a:rPr>
                        <a:t>语义规则</a:t>
                      </a:r>
                      <a:endParaRPr lang="zh-CN" sz="1300" kern="100" dirty="0">
                        <a:effectLst/>
                        <a:latin typeface="Times New Roman"/>
                        <a:ea typeface="宋体"/>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9570">
                <a:tc>
                  <a:txBody>
                    <a:bodyPr/>
                    <a:lstStyle/>
                    <a:p>
                      <a:pPr marL="234315" indent="-234315" algn="just">
                        <a:spcAft>
                          <a:spcPts val="0"/>
                        </a:spcAft>
                      </a:pPr>
                      <a:r>
                        <a:rPr lang="en-US" sz="1300" kern="100" dirty="0">
                          <a:effectLst/>
                        </a:rPr>
                        <a:t>(1)</a:t>
                      </a:r>
                    </a:p>
                    <a:p>
                      <a:pPr marL="234315" indent="-234315" algn="just">
                        <a:spcAft>
                          <a:spcPts val="0"/>
                        </a:spcAft>
                      </a:pPr>
                      <a:r>
                        <a:rPr lang="pt-PT" sz="1300" kern="100" dirty="0">
                          <a:effectLst/>
                        </a:rPr>
                        <a:t>F→ for ( E</a:t>
                      </a:r>
                      <a:r>
                        <a:rPr lang="pt-PT" sz="1300" kern="100" baseline="30000" dirty="0">
                          <a:effectLst/>
                        </a:rPr>
                        <a:t>(1)</a:t>
                      </a:r>
                      <a:r>
                        <a:rPr lang="pt-PT" sz="1300" kern="100" dirty="0">
                          <a:effectLst/>
                        </a:rPr>
                        <a:t> ; </a:t>
                      </a:r>
                      <a:endParaRPr lang="zh-CN" sz="13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PT" sz="1300" kern="100" dirty="0">
                          <a:effectLst/>
                        </a:rPr>
                        <a:t>{  F.PLACE = </a:t>
                      </a:r>
                      <a:r>
                        <a:rPr lang="fr-FR" sz="1300" kern="100" dirty="0">
                          <a:effectLst/>
                        </a:rPr>
                        <a:t>newtemp();  </a:t>
                      </a:r>
                      <a:endParaRPr lang="zh-CN" sz="1300" kern="100" dirty="0">
                        <a:effectLst/>
                      </a:endParaRPr>
                    </a:p>
                    <a:p>
                      <a:pPr indent="171450" algn="just">
                        <a:spcAft>
                          <a:spcPts val="0"/>
                        </a:spcAft>
                      </a:pPr>
                      <a:r>
                        <a:rPr lang="fr-FR" sz="1300" kern="100" dirty="0">
                          <a:effectLst/>
                        </a:rPr>
                        <a:t>gencode(=</a:t>
                      </a:r>
                      <a:r>
                        <a:rPr lang="zh-CN" sz="1300" kern="100" dirty="0">
                          <a:effectLst/>
                        </a:rPr>
                        <a:t>，</a:t>
                      </a:r>
                      <a:r>
                        <a:rPr lang="fr-FR" sz="1300" kern="100" dirty="0">
                          <a:effectLst/>
                        </a:rPr>
                        <a:t>E</a:t>
                      </a:r>
                      <a:r>
                        <a:rPr lang="fr-FR" sz="1300" kern="100" baseline="30000" dirty="0">
                          <a:effectLst/>
                        </a:rPr>
                        <a:t>(1)</a:t>
                      </a:r>
                      <a:r>
                        <a:rPr lang="fr-FR" sz="1300" kern="100" dirty="0">
                          <a:effectLst/>
                        </a:rPr>
                        <a:t>.PLACE</a:t>
                      </a:r>
                      <a:r>
                        <a:rPr lang="zh-CN" sz="1300" kern="100" dirty="0">
                          <a:effectLst/>
                        </a:rPr>
                        <a:t>， ，</a:t>
                      </a:r>
                      <a:r>
                        <a:rPr lang="pt-PT" sz="1300" kern="100" dirty="0">
                          <a:effectLst/>
                        </a:rPr>
                        <a:t>F.PLACE</a:t>
                      </a:r>
                      <a:r>
                        <a:rPr lang="fr-FR" sz="1300" kern="100" dirty="0">
                          <a:effectLst/>
                        </a:rPr>
                        <a:t> );</a:t>
                      </a:r>
                      <a:endParaRPr lang="zh-CN" sz="1300" kern="100" dirty="0">
                        <a:effectLst/>
                      </a:endParaRPr>
                    </a:p>
                    <a:p>
                      <a:pPr indent="171450" algn="just">
                        <a:spcAft>
                          <a:spcPts val="0"/>
                        </a:spcAft>
                      </a:pPr>
                      <a:r>
                        <a:rPr lang="fr-FR" sz="1300" kern="100" dirty="0">
                          <a:effectLst/>
                        </a:rPr>
                        <a:t>F.TEST= NXQ;                          </a:t>
                      </a:r>
                      <a:r>
                        <a:rPr lang="pt-PT" sz="1300" kern="100" dirty="0">
                          <a:effectLst/>
                        </a:rPr>
                        <a:t>                       }</a:t>
                      </a:r>
                      <a:endParaRPr lang="zh-CN" sz="13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32460">
                <a:tc>
                  <a:txBody>
                    <a:bodyPr/>
                    <a:lstStyle/>
                    <a:p>
                      <a:pPr marL="234315" indent="-234315" algn="just">
                        <a:spcAft>
                          <a:spcPts val="0"/>
                        </a:spcAft>
                      </a:pPr>
                      <a:r>
                        <a:rPr lang="pt-PT" sz="1300" kern="100" dirty="0">
                          <a:effectLst/>
                        </a:rPr>
                        <a:t>(2)</a:t>
                      </a:r>
                    </a:p>
                    <a:p>
                      <a:pPr marL="234315" indent="-234315" algn="just">
                        <a:spcAft>
                          <a:spcPts val="0"/>
                        </a:spcAft>
                      </a:pPr>
                      <a:r>
                        <a:rPr lang="pt-PT" sz="1300" kern="100" dirty="0">
                          <a:effectLst/>
                        </a:rPr>
                        <a:t>A</a:t>
                      </a:r>
                      <a:r>
                        <a:rPr lang="zh-CN" sz="1300" kern="100" dirty="0">
                          <a:effectLst/>
                        </a:rPr>
                        <a:t>→</a:t>
                      </a:r>
                      <a:r>
                        <a:rPr lang="pt-PT" sz="1300" kern="100" dirty="0">
                          <a:effectLst/>
                        </a:rPr>
                        <a:t>F E</a:t>
                      </a:r>
                      <a:r>
                        <a:rPr lang="pt-PT" sz="1300" kern="100" baseline="30000" dirty="0">
                          <a:effectLst/>
                        </a:rPr>
                        <a:t>(2)</a:t>
                      </a:r>
                      <a:r>
                        <a:rPr lang="pt-PT" sz="1300" kern="100" dirty="0">
                          <a:effectLst/>
                        </a:rPr>
                        <a:t> ;</a:t>
                      </a:r>
                      <a:endParaRPr lang="zh-CN" sz="13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PT" sz="1300" kern="100" dirty="0">
                          <a:effectLst/>
                        </a:rPr>
                        <a:t>{  A.PLACE =</a:t>
                      </a:r>
                      <a:r>
                        <a:rPr lang="fr-FR" sz="1300" kern="100" dirty="0">
                          <a:effectLst/>
                        </a:rPr>
                        <a:t> newtemp();   //T1</a:t>
                      </a:r>
                      <a:r>
                        <a:rPr lang="zh-CN" sz="1300" kern="100" dirty="0">
                          <a:effectLst/>
                        </a:rPr>
                        <a:t>用于存放循环终值</a:t>
                      </a:r>
                    </a:p>
                    <a:p>
                      <a:pPr indent="171450" algn="just">
                        <a:spcAft>
                          <a:spcPts val="0"/>
                        </a:spcAft>
                      </a:pPr>
                      <a:r>
                        <a:rPr lang="fr-FR" sz="1300" kern="100" dirty="0">
                          <a:effectLst/>
                        </a:rPr>
                        <a:t>gencode(=</a:t>
                      </a:r>
                      <a:r>
                        <a:rPr lang="zh-CN" sz="1300" kern="100" dirty="0">
                          <a:effectLst/>
                        </a:rPr>
                        <a:t>，</a:t>
                      </a:r>
                      <a:r>
                        <a:rPr lang="fr-FR" sz="1300" kern="100" dirty="0">
                          <a:effectLst/>
                        </a:rPr>
                        <a:t>E</a:t>
                      </a:r>
                      <a:r>
                        <a:rPr lang="fr-FR" sz="1300" kern="100" baseline="30000" dirty="0">
                          <a:effectLst/>
                        </a:rPr>
                        <a:t>(2)</a:t>
                      </a:r>
                      <a:r>
                        <a:rPr lang="fr-FR" sz="1300" kern="100" dirty="0">
                          <a:effectLst/>
                        </a:rPr>
                        <a:t>.PLACE</a:t>
                      </a:r>
                      <a:r>
                        <a:rPr lang="zh-CN" sz="1300" kern="100" dirty="0">
                          <a:effectLst/>
                        </a:rPr>
                        <a:t>， ，</a:t>
                      </a:r>
                      <a:r>
                        <a:rPr lang="pt-PT" sz="1300" kern="100" dirty="0">
                          <a:effectLst/>
                        </a:rPr>
                        <a:t>A.PLACE</a:t>
                      </a:r>
                      <a:r>
                        <a:rPr lang="fr-FR" sz="1300" kern="100" dirty="0">
                          <a:effectLst/>
                        </a:rPr>
                        <a:t>);</a:t>
                      </a:r>
                      <a:endParaRPr lang="zh-CN" sz="1300" kern="100" dirty="0">
                        <a:effectLst/>
                      </a:endParaRPr>
                    </a:p>
                    <a:p>
                      <a:pPr indent="171450" algn="just">
                        <a:spcAft>
                          <a:spcPts val="0"/>
                        </a:spcAft>
                      </a:pPr>
                      <a:r>
                        <a:rPr lang="fr-FR" sz="1300" kern="100" dirty="0">
                          <a:effectLst/>
                        </a:rPr>
                        <a:t>A.CHAIN = NXQ         //</a:t>
                      </a:r>
                      <a:r>
                        <a:rPr lang="zh-CN" sz="1300" kern="100" dirty="0">
                          <a:effectLst/>
                        </a:rPr>
                        <a:t>对外的出口链</a:t>
                      </a:r>
                    </a:p>
                    <a:p>
                      <a:pPr indent="171450" algn="just">
                        <a:spcAft>
                          <a:spcPts val="0"/>
                        </a:spcAft>
                      </a:pPr>
                      <a:r>
                        <a:rPr lang="fr-FR" sz="1300" kern="100" dirty="0">
                          <a:effectLst/>
                        </a:rPr>
                        <a:t>gencode(jz</a:t>
                      </a:r>
                      <a:r>
                        <a:rPr lang="zh-CN" sz="1300" kern="100" dirty="0">
                          <a:effectLst/>
                        </a:rPr>
                        <a:t>，</a:t>
                      </a:r>
                      <a:r>
                        <a:rPr lang="pt-PT" sz="1300" kern="100" dirty="0">
                          <a:effectLst/>
                        </a:rPr>
                        <a:t>A.PLACE</a:t>
                      </a:r>
                      <a:r>
                        <a:rPr lang="zh-CN" sz="1300" kern="100" dirty="0">
                          <a:effectLst/>
                        </a:rPr>
                        <a:t>， ，</a:t>
                      </a:r>
                      <a:r>
                        <a:rPr lang="fr-FR" sz="1300" kern="100" dirty="0">
                          <a:effectLst/>
                        </a:rPr>
                        <a:t>0) ;     //A.CHAIN</a:t>
                      </a:r>
                      <a:r>
                        <a:rPr lang="zh-CN" sz="1300" kern="100" dirty="0">
                          <a:effectLst/>
                        </a:rPr>
                        <a:t>，需回填</a:t>
                      </a:r>
                    </a:p>
                    <a:p>
                      <a:pPr indent="171450" algn="just">
                        <a:spcAft>
                          <a:spcPts val="0"/>
                        </a:spcAft>
                      </a:pPr>
                      <a:r>
                        <a:rPr lang="fr-FR" sz="1300" kern="100" dirty="0">
                          <a:effectLst/>
                        </a:rPr>
                        <a:t>A.RIGHT = NXQ ;</a:t>
                      </a:r>
                      <a:endParaRPr lang="zh-CN" sz="1300" kern="100" dirty="0">
                        <a:effectLst/>
                      </a:endParaRPr>
                    </a:p>
                    <a:p>
                      <a:pPr indent="171450" algn="just">
                        <a:spcAft>
                          <a:spcPts val="0"/>
                        </a:spcAft>
                      </a:pPr>
                      <a:r>
                        <a:rPr lang="fr-FR" sz="1300" kern="100" dirty="0">
                          <a:effectLst/>
                        </a:rPr>
                        <a:t>gencode(j</a:t>
                      </a:r>
                      <a:r>
                        <a:rPr lang="zh-CN" sz="1300" kern="100" dirty="0">
                          <a:effectLst/>
                        </a:rPr>
                        <a:t>， ， ，</a:t>
                      </a:r>
                      <a:r>
                        <a:rPr lang="fr-FR" sz="1300" kern="100" dirty="0">
                          <a:effectLst/>
                        </a:rPr>
                        <a:t>0) ; //A. RIGHT</a:t>
                      </a:r>
                      <a:r>
                        <a:rPr lang="zh-CN" sz="1300" kern="100" dirty="0">
                          <a:effectLst/>
                        </a:rPr>
                        <a:t>，还不知道，需回填</a:t>
                      </a:r>
                    </a:p>
                    <a:p>
                      <a:pPr indent="171450" algn="just">
                        <a:spcAft>
                          <a:spcPts val="0"/>
                        </a:spcAft>
                      </a:pPr>
                      <a:r>
                        <a:rPr lang="fr-FR" sz="1300" kern="100" dirty="0">
                          <a:effectLst/>
                        </a:rPr>
                        <a:t>A. INC = NXQ ; </a:t>
                      </a:r>
                      <a:endParaRPr lang="zh-CN" sz="1300" kern="100" dirty="0">
                        <a:effectLst/>
                      </a:endParaRPr>
                    </a:p>
                    <a:p>
                      <a:pPr indent="171450" algn="just">
                        <a:spcAft>
                          <a:spcPts val="0"/>
                        </a:spcAft>
                      </a:pPr>
                      <a:r>
                        <a:rPr lang="fr-FR" sz="1300" kern="100" dirty="0">
                          <a:effectLst/>
                        </a:rPr>
                        <a:t>A.TEST = F.TEST ;  //</a:t>
                      </a:r>
                      <a:r>
                        <a:rPr lang="zh-CN" sz="1300" kern="100" dirty="0">
                          <a:effectLst/>
                        </a:rPr>
                        <a:t>产生式之间的语义变量传递</a:t>
                      </a:r>
                      <a:r>
                        <a:rPr lang="fr-FR" sz="1300" kern="100" dirty="0">
                          <a:effectLst/>
                        </a:rPr>
                        <a:t>       }</a:t>
                      </a:r>
                      <a:endParaRPr lang="zh-CN" sz="13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61764">
                <a:tc>
                  <a:txBody>
                    <a:bodyPr/>
                    <a:lstStyle/>
                    <a:p>
                      <a:pPr marL="234315" indent="-234315" algn="just">
                        <a:spcAft>
                          <a:spcPts val="0"/>
                        </a:spcAft>
                      </a:pPr>
                      <a:r>
                        <a:rPr lang="pt-PT" sz="1300" kern="100" dirty="0">
                          <a:effectLst/>
                        </a:rPr>
                        <a:t>(3)</a:t>
                      </a:r>
                    </a:p>
                    <a:p>
                      <a:pPr marL="234315" indent="-234315" algn="just">
                        <a:spcAft>
                          <a:spcPts val="0"/>
                        </a:spcAft>
                      </a:pPr>
                      <a:r>
                        <a:rPr lang="pt-PT" sz="1300" kern="100" dirty="0">
                          <a:effectLst/>
                        </a:rPr>
                        <a:t>B</a:t>
                      </a:r>
                      <a:r>
                        <a:rPr lang="zh-CN" sz="1300" kern="100" dirty="0">
                          <a:effectLst/>
                        </a:rPr>
                        <a:t>→</a:t>
                      </a:r>
                      <a:r>
                        <a:rPr lang="pt-PT" sz="1300" kern="100" dirty="0">
                          <a:effectLst/>
                        </a:rPr>
                        <a:t>A E</a:t>
                      </a:r>
                      <a:r>
                        <a:rPr lang="pt-PT" sz="1300" kern="100" baseline="30000" dirty="0">
                          <a:effectLst/>
                        </a:rPr>
                        <a:t>(3)</a:t>
                      </a:r>
                      <a:r>
                        <a:rPr lang="pt-PT" sz="1300" kern="100" dirty="0">
                          <a:effectLst/>
                        </a:rPr>
                        <a:t> )</a:t>
                      </a:r>
                      <a:endParaRPr lang="zh-CN" sz="13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PT" sz="1300" kern="100" dirty="0">
                          <a:effectLst/>
                        </a:rPr>
                        <a:t>{  </a:t>
                      </a:r>
                      <a:r>
                        <a:rPr lang="fr-FR" sz="1300" kern="100" dirty="0">
                          <a:effectLst/>
                        </a:rPr>
                        <a:t>gencode(j</a:t>
                      </a:r>
                      <a:r>
                        <a:rPr lang="zh-CN" sz="1300" kern="100" dirty="0">
                          <a:effectLst/>
                        </a:rPr>
                        <a:t>， ， ，</a:t>
                      </a:r>
                      <a:r>
                        <a:rPr lang="fr-FR" sz="1300" kern="100" dirty="0">
                          <a:effectLst/>
                        </a:rPr>
                        <a:t>A.TEST) ;</a:t>
                      </a:r>
                      <a:endParaRPr lang="zh-CN" sz="1300" kern="100" dirty="0">
                        <a:effectLst/>
                      </a:endParaRPr>
                    </a:p>
                    <a:p>
                      <a:pPr indent="171450" algn="just">
                        <a:spcAft>
                          <a:spcPts val="0"/>
                        </a:spcAft>
                      </a:pPr>
                      <a:r>
                        <a:rPr lang="fr-FR" sz="1300" kern="100" dirty="0">
                          <a:effectLst/>
                        </a:rPr>
                        <a:t>backpatch(A.RIGHT</a:t>
                      </a:r>
                      <a:r>
                        <a:rPr lang="zh-CN" sz="1300" kern="100" dirty="0">
                          <a:effectLst/>
                        </a:rPr>
                        <a:t>，</a:t>
                      </a:r>
                      <a:r>
                        <a:rPr lang="fr-FR" sz="1300" kern="100" dirty="0">
                          <a:effectLst/>
                        </a:rPr>
                        <a:t>NXQ); </a:t>
                      </a:r>
                      <a:endParaRPr lang="zh-CN" sz="1300" kern="100" dirty="0">
                        <a:effectLst/>
                      </a:endParaRPr>
                    </a:p>
                    <a:p>
                      <a:pPr indent="171450" algn="just">
                        <a:spcAft>
                          <a:spcPts val="0"/>
                        </a:spcAft>
                      </a:pPr>
                      <a:r>
                        <a:rPr lang="fr-FR" sz="1300" kern="100" dirty="0">
                          <a:effectLst/>
                        </a:rPr>
                        <a:t>B.CHAIN = A.CHAIN ; //</a:t>
                      </a:r>
                      <a:r>
                        <a:rPr lang="zh-CN" sz="1300" kern="100" dirty="0">
                          <a:effectLst/>
                        </a:rPr>
                        <a:t>产生式之间的语义变量的传递</a:t>
                      </a:r>
                    </a:p>
                    <a:p>
                      <a:pPr indent="171450" algn="just">
                        <a:spcAft>
                          <a:spcPts val="0"/>
                        </a:spcAft>
                      </a:pPr>
                      <a:r>
                        <a:rPr lang="fr-FR" sz="1300" kern="100" dirty="0">
                          <a:effectLst/>
                        </a:rPr>
                        <a:t>B.INC = A.INC ; //</a:t>
                      </a:r>
                      <a:r>
                        <a:rPr lang="zh-CN" sz="1300" kern="100" dirty="0">
                          <a:effectLst/>
                        </a:rPr>
                        <a:t>产生式之间的语义变量的传递</a:t>
                      </a:r>
                      <a:r>
                        <a:rPr lang="en-US" altLang="zh-CN" sz="1300" kern="100" dirty="0">
                          <a:effectLst/>
                        </a:rPr>
                        <a:t>  </a:t>
                      </a:r>
                      <a:r>
                        <a:rPr lang="fr-FR" sz="1300" kern="100" dirty="0">
                          <a:effectLst/>
                        </a:rPr>
                        <a:t>       }</a:t>
                      </a:r>
                      <a:endParaRPr lang="zh-CN" sz="13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just">
                        <a:spcAft>
                          <a:spcPts val="0"/>
                        </a:spcAft>
                      </a:pPr>
                      <a:r>
                        <a:rPr lang="en-US" sz="1300" kern="100" dirty="0">
                          <a:effectLst/>
                        </a:rPr>
                        <a:t>(4)</a:t>
                      </a:r>
                    </a:p>
                    <a:p>
                      <a:pPr algn="just">
                        <a:spcAft>
                          <a:spcPts val="0"/>
                        </a:spcAft>
                      </a:pPr>
                      <a:r>
                        <a:rPr lang="en-US" sz="1300" kern="100" dirty="0">
                          <a:effectLst/>
                        </a:rPr>
                        <a:t>S→B S</a:t>
                      </a:r>
                      <a:r>
                        <a:rPr lang="en-US" sz="1300" kern="100" baseline="30000" dirty="0">
                          <a:effectLst/>
                        </a:rPr>
                        <a:t>(1)</a:t>
                      </a:r>
                      <a:r>
                        <a:rPr lang="en-US" sz="1300" kern="100" dirty="0">
                          <a:effectLst/>
                        </a:rPr>
                        <a:t> </a:t>
                      </a:r>
                      <a:endParaRPr lang="zh-CN" sz="1300" kern="100" dirty="0">
                        <a:effectLs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en-US" sz="1300" kern="100" dirty="0">
                          <a:effectLst/>
                        </a:rPr>
                        <a:t>{  </a:t>
                      </a:r>
                      <a:r>
                        <a:rPr lang="en-US" sz="1300" kern="100" dirty="0" err="1">
                          <a:effectLst/>
                        </a:rPr>
                        <a:t>backpatch</a:t>
                      </a:r>
                      <a:r>
                        <a:rPr lang="en-US" sz="1300" kern="100" dirty="0">
                          <a:effectLst/>
                        </a:rPr>
                        <a:t>(S</a:t>
                      </a:r>
                      <a:r>
                        <a:rPr lang="en-US" sz="1300" kern="100" baseline="30000" dirty="0">
                          <a:effectLst/>
                        </a:rPr>
                        <a:t>(1)</a:t>
                      </a:r>
                      <a:r>
                        <a:rPr lang="en-US" sz="1300" kern="100" dirty="0">
                          <a:effectLst/>
                        </a:rPr>
                        <a:t>.CHAIN</a:t>
                      </a:r>
                      <a:r>
                        <a:rPr lang="zh-CN" sz="1300" kern="100" dirty="0">
                          <a:effectLst/>
                        </a:rPr>
                        <a:t>，</a:t>
                      </a:r>
                      <a:r>
                        <a:rPr lang="en-US" sz="1300" kern="100" dirty="0">
                          <a:effectLst/>
                        </a:rPr>
                        <a:t>NXQ); </a:t>
                      </a:r>
                      <a:endParaRPr lang="zh-CN" sz="1300" kern="100" dirty="0">
                        <a:effectLst/>
                      </a:endParaRPr>
                    </a:p>
                    <a:p>
                      <a:pPr indent="171450" algn="just">
                        <a:spcAft>
                          <a:spcPts val="0"/>
                        </a:spcAft>
                      </a:pPr>
                      <a:r>
                        <a:rPr lang="en-US" sz="1300" kern="100" dirty="0" err="1">
                          <a:effectLst/>
                        </a:rPr>
                        <a:t>gencode</a:t>
                      </a:r>
                      <a:r>
                        <a:rPr lang="en-US" sz="1300" kern="100" dirty="0">
                          <a:effectLst/>
                        </a:rPr>
                        <a:t>(j</a:t>
                      </a:r>
                      <a:r>
                        <a:rPr lang="zh-CN" sz="1300" kern="100" dirty="0">
                          <a:effectLst/>
                        </a:rPr>
                        <a:t>， ， ，</a:t>
                      </a:r>
                      <a:r>
                        <a:rPr lang="en-US" sz="1300" kern="100" dirty="0">
                          <a:effectLst/>
                        </a:rPr>
                        <a:t>B.INC);  // S</a:t>
                      </a:r>
                      <a:r>
                        <a:rPr lang="en-US" sz="1300" kern="100" baseline="30000" dirty="0">
                          <a:effectLst/>
                        </a:rPr>
                        <a:t>(1)</a:t>
                      </a:r>
                      <a:r>
                        <a:rPr lang="zh-CN" sz="1300" kern="100" dirty="0">
                          <a:effectLst/>
                        </a:rPr>
                        <a:t>执行结束也应跳转到</a:t>
                      </a:r>
                      <a:r>
                        <a:rPr lang="pt-PT" sz="1300" kern="100" dirty="0">
                          <a:effectLst/>
                        </a:rPr>
                        <a:t>E</a:t>
                      </a:r>
                      <a:r>
                        <a:rPr lang="pt-PT" sz="1300" kern="100" baseline="30000" dirty="0">
                          <a:effectLst/>
                        </a:rPr>
                        <a:t>(3)</a:t>
                      </a:r>
                      <a:endParaRPr lang="zh-CN" sz="1300" kern="100" dirty="0">
                        <a:effectLst/>
                      </a:endParaRPr>
                    </a:p>
                    <a:p>
                      <a:pPr indent="171450" algn="just">
                        <a:spcAft>
                          <a:spcPts val="0"/>
                        </a:spcAft>
                      </a:pPr>
                      <a:r>
                        <a:rPr lang="en-US" sz="1300" kern="100" dirty="0">
                          <a:effectLst/>
                        </a:rPr>
                        <a:t>S.CHAIN = </a:t>
                      </a:r>
                      <a:r>
                        <a:rPr lang="fr-FR" sz="1300" kern="100" dirty="0">
                          <a:effectLst/>
                        </a:rPr>
                        <a:t>merge(B.CHAIN, </a:t>
                      </a:r>
                      <a:r>
                        <a:rPr lang="en-US" sz="1300" kern="100" dirty="0">
                          <a:effectLst/>
                        </a:rPr>
                        <a:t>S</a:t>
                      </a:r>
                      <a:r>
                        <a:rPr lang="en-US" sz="1300" kern="100" baseline="30000" dirty="0">
                          <a:effectLst/>
                        </a:rPr>
                        <a:t>(1)</a:t>
                      </a:r>
                      <a:r>
                        <a:rPr lang="en-US" sz="1300" kern="100" dirty="0">
                          <a:effectLst/>
                        </a:rPr>
                        <a:t>.BRK</a:t>
                      </a:r>
                      <a:r>
                        <a:rPr lang="fr-FR" sz="1300" kern="100" dirty="0">
                          <a:effectLst/>
                        </a:rPr>
                        <a:t>);  </a:t>
                      </a:r>
                      <a:r>
                        <a:rPr lang="en-US" sz="1300" kern="100" dirty="0">
                          <a:effectLst/>
                        </a:rPr>
                        <a:t>                   }</a:t>
                      </a:r>
                      <a:endParaRPr lang="zh-CN" sz="1300" kern="100" dirty="0">
                        <a:effectLst/>
                        <a:latin typeface="Times New Roman"/>
                        <a:ea typeface="宋体"/>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矩形 2"/>
          <p:cNvSpPr/>
          <p:nvPr/>
        </p:nvSpPr>
        <p:spPr>
          <a:xfrm>
            <a:off x="327232" y="627534"/>
            <a:ext cx="2731635" cy="4524315"/>
          </a:xfrm>
          <a:prstGeom prst="rect">
            <a:avLst/>
          </a:prstGeom>
          <a:solidFill>
            <a:schemeClr val="accent1">
              <a:lumMod val="20000"/>
              <a:lumOff val="80000"/>
            </a:schemeClr>
          </a:solidFill>
        </p:spPr>
        <p:txBody>
          <a:bodyPr wrap="square">
            <a:spAutoFit/>
          </a:bodyPr>
          <a:lstStyle/>
          <a:p>
            <a:r>
              <a:rPr lang="zh-CN" altLang="en-US" sz="1600" dirty="0"/>
              <a:t>（</a:t>
            </a:r>
            <a:r>
              <a:rPr lang="en-US" altLang="zh-CN" sz="1600" dirty="0"/>
              <a:t>1</a:t>
            </a:r>
            <a:r>
              <a:rPr lang="zh-CN" altLang="en-US" sz="1600" dirty="0"/>
              <a:t>）</a:t>
            </a:r>
            <a:r>
              <a:rPr lang="en-US" altLang="zh-CN" sz="1600" dirty="0"/>
              <a:t>(*</a:t>
            </a:r>
            <a:r>
              <a:rPr lang="zh-CN" altLang="en-US" sz="1600" dirty="0"/>
              <a:t>，</a:t>
            </a:r>
            <a:r>
              <a:rPr lang="en-US" altLang="zh-CN" sz="1600" dirty="0"/>
              <a:t>b</a:t>
            </a:r>
            <a:r>
              <a:rPr lang="zh-CN" altLang="en-US" sz="1600" dirty="0"/>
              <a:t>，</a:t>
            </a:r>
            <a:r>
              <a:rPr lang="en-US" altLang="zh-CN" sz="1600" dirty="0"/>
              <a:t>2</a:t>
            </a:r>
            <a:r>
              <a:rPr lang="zh-CN" altLang="en-US" sz="1600" dirty="0"/>
              <a:t>，</a:t>
            </a:r>
            <a:r>
              <a:rPr lang="en-US" altLang="zh-CN" sz="1600" dirty="0"/>
              <a:t>T1)</a:t>
            </a:r>
          </a:p>
          <a:p>
            <a:r>
              <a:rPr lang="zh-CN" altLang="en-US" sz="1600" dirty="0"/>
              <a:t>（</a:t>
            </a:r>
            <a:r>
              <a:rPr lang="en-US" altLang="zh-CN" sz="1600" dirty="0"/>
              <a:t>2</a:t>
            </a:r>
            <a:r>
              <a:rPr lang="zh-CN" altLang="en-US" sz="1600" dirty="0"/>
              <a:t>）</a:t>
            </a:r>
            <a:r>
              <a:rPr lang="en-US" altLang="zh-CN" sz="1600" dirty="0"/>
              <a:t>(+</a:t>
            </a:r>
            <a:r>
              <a:rPr lang="zh-CN" altLang="en-US" sz="1600" dirty="0"/>
              <a:t>，</a:t>
            </a:r>
            <a:r>
              <a:rPr lang="en-US" altLang="zh-CN" sz="1600" dirty="0"/>
              <a:t>a</a:t>
            </a:r>
            <a:r>
              <a:rPr lang="zh-CN" altLang="en-US" sz="1600" dirty="0"/>
              <a:t>，</a:t>
            </a:r>
            <a:r>
              <a:rPr lang="en-US" altLang="zh-CN" sz="1600" dirty="0"/>
              <a:t>T1</a:t>
            </a:r>
            <a:r>
              <a:rPr lang="zh-CN" altLang="en-US" sz="1600" dirty="0"/>
              <a:t>，</a:t>
            </a:r>
            <a:r>
              <a:rPr lang="en-US" altLang="zh-CN" sz="1600" dirty="0"/>
              <a:t>T2)</a:t>
            </a:r>
          </a:p>
          <a:p>
            <a:r>
              <a:rPr lang="zh-CN" altLang="en-US" sz="1600" dirty="0"/>
              <a:t>（</a:t>
            </a:r>
            <a:r>
              <a:rPr lang="en-US" altLang="zh-CN" sz="1600" dirty="0"/>
              <a:t>3</a:t>
            </a:r>
            <a:r>
              <a:rPr lang="zh-CN" altLang="en-US" sz="1600" dirty="0"/>
              <a:t>）</a:t>
            </a:r>
            <a:r>
              <a:rPr lang="en-US" altLang="zh-CN" sz="1600" dirty="0"/>
              <a:t>(=</a:t>
            </a:r>
            <a:r>
              <a:rPr lang="zh-CN" altLang="en-US" sz="1600" dirty="0"/>
              <a:t>，</a:t>
            </a:r>
            <a:r>
              <a:rPr lang="en-US" altLang="zh-CN" sz="1600" dirty="0"/>
              <a:t>T2</a:t>
            </a:r>
            <a:r>
              <a:rPr lang="zh-CN" altLang="en-US" sz="1600" dirty="0"/>
              <a:t>， ，</a:t>
            </a:r>
            <a:r>
              <a:rPr lang="en-US" altLang="zh-CN" sz="1600" dirty="0" err="1"/>
              <a:t>i</a:t>
            </a:r>
            <a:r>
              <a:rPr lang="en-US" altLang="zh-CN" sz="1600" dirty="0"/>
              <a:t>)</a:t>
            </a:r>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zh-CN" altLang="en-US" sz="1600" dirty="0"/>
          </a:p>
        </p:txBody>
      </p:sp>
      <p:sp>
        <p:nvSpPr>
          <p:cNvPr id="4" name="矩形 3"/>
          <p:cNvSpPr/>
          <p:nvPr/>
        </p:nvSpPr>
        <p:spPr>
          <a:xfrm>
            <a:off x="327231" y="1419622"/>
            <a:ext cx="2516577" cy="584775"/>
          </a:xfrm>
          <a:prstGeom prst="rect">
            <a:avLst/>
          </a:prstGeom>
        </p:spPr>
        <p:txBody>
          <a:bodyPr wrap="square">
            <a:spAutoFit/>
          </a:bodyPr>
          <a:lstStyle/>
          <a:p>
            <a:r>
              <a:rPr lang="zh-CN" altLang="en-US" sz="1600" dirty="0">
                <a:solidFill>
                  <a:srgbClr val="0000FF"/>
                </a:solidFill>
              </a:rPr>
              <a:t>（</a:t>
            </a:r>
            <a:r>
              <a:rPr lang="en-US" altLang="zh-CN" sz="1600" dirty="0">
                <a:solidFill>
                  <a:srgbClr val="0000FF"/>
                </a:solidFill>
              </a:rPr>
              <a:t>4</a:t>
            </a:r>
            <a:r>
              <a:rPr lang="zh-CN" altLang="en-US" sz="1600" dirty="0">
                <a:solidFill>
                  <a:srgbClr val="0000FF"/>
                </a:solidFill>
              </a:rPr>
              <a:t>）</a:t>
            </a:r>
            <a:r>
              <a:rPr lang="en-US" altLang="zh-CN" sz="1600" dirty="0">
                <a:solidFill>
                  <a:srgbClr val="0000FF"/>
                </a:solidFill>
              </a:rPr>
              <a:t>(+</a:t>
            </a:r>
            <a:r>
              <a:rPr lang="zh-CN" altLang="en-US" sz="1600" dirty="0">
                <a:solidFill>
                  <a:srgbClr val="0000FF"/>
                </a:solidFill>
              </a:rPr>
              <a:t>，</a:t>
            </a:r>
            <a:r>
              <a:rPr lang="en-US" altLang="zh-CN" sz="1600" dirty="0">
                <a:solidFill>
                  <a:srgbClr val="0000FF"/>
                </a:solidFill>
              </a:rPr>
              <a:t>c</a:t>
            </a:r>
            <a:r>
              <a:rPr lang="zh-CN" altLang="en-US" sz="1600" dirty="0">
                <a:solidFill>
                  <a:srgbClr val="0000FF"/>
                </a:solidFill>
              </a:rPr>
              <a:t>，</a:t>
            </a:r>
            <a:r>
              <a:rPr lang="en-US" altLang="zh-CN" sz="1600" dirty="0">
                <a:solidFill>
                  <a:srgbClr val="0000FF"/>
                </a:solidFill>
              </a:rPr>
              <a:t>d</a:t>
            </a:r>
            <a:r>
              <a:rPr lang="zh-CN" altLang="en-US" sz="1600" dirty="0">
                <a:solidFill>
                  <a:srgbClr val="0000FF"/>
                </a:solidFill>
              </a:rPr>
              <a:t>，</a:t>
            </a:r>
            <a:r>
              <a:rPr lang="en-US" altLang="zh-CN" sz="1600" dirty="0">
                <a:solidFill>
                  <a:srgbClr val="0000FF"/>
                </a:solidFill>
              </a:rPr>
              <a:t>T3)</a:t>
            </a:r>
          </a:p>
          <a:p>
            <a:r>
              <a:rPr lang="zh-CN" altLang="en-US" sz="1600" dirty="0">
                <a:solidFill>
                  <a:srgbClr val="0000FF"/>
                </a:solidFill>
              </a:rPr>
              <a:t>（</a:t>
            </a:r>
            <a:r>
              <a:rPr lang="en-US" altLang="zh-CN" sz="1600" dirty="0">
                <a:solidFill>
                  <a:srgbClr val="0000FF"/>
                </a:solidFill>
              </a:rPr>
              <a:t>5</a:t>
            </a:r>
            <a:r>
              <a:rPr lang="zh-CN" altLang="en-US" sz="1600" dirty="0">
                <a:solidFill>
                  <a:srgbClr val="0000FF"/>
                </a:solidFill>
              </a:rPr>
              <a:t>）</a:t>
            </a:r>
            <a:r>
              <a:rPr lang="en-US" altLang="zh-CN" sz="1600" dirty="0">
                <a:solidFill>
                  <a:srgbClr val="0000FF"/>
                </a:solidFill>
              </a:rPr>
              <a:t>(+</a:t>
            </a:r>
            <a:r>
              <a:rPr lang="zh-CN" altLang="en-US" sz="1600" dirty="0">
                <a:solidFill>
                  <a:srgbClr val="0000FF"/>
                </a:solidFill>
              </a:rPr>
              <a:t>，</a:t>
            </a:r>
            <a:r>
              <a:rPr lang="en-US" altLang="zh-CN" sz="1600" dirty="0">
                <a:solidFill>
                  <a:srgbClr val="0000FF"/>
                </a:solidFill>
              </a:rPr>
              <a:t>T3</a:t>
            </a:r>
            <a:r>
              <a:rPr lang="zh-CN" altLang="en-US" sz="1600" dirty="0">
                <a:solidFill>
                  <a:srgbClr val="0000FF"/>
                </a:solidFill>
              </a:rPr>
              <a:t>，</a:t>
            </a:r>
            <a:r>
              <a:rPr lang="en-US" altLang="zh-CN" sz="1600" dirty="0">
                <a:solidFill>
                  <a:srgbClr val="0000FF"/>
                </a:solidFill>
              </a:rPr>
              <a:t>10</a:t>
            </a:r>
            <a:r>
              <a:rPr lang="zh-CN" altLang="en-US" sz="1600" dirty="0">
                <a:solidFill>
                  <a:srgbClr val="0000FF"/>
                </a:solidFill>
              </a:rPr>
              <a:t>，</a:t>
            </a:r>
            <a:r>
              <a:rPr lang="en-US" altLang="zh-CN" sz="1600" dirty="0">
                <a:solidFill>
                  <a:srgbClr val="0000FF"/>
                </a:solidFill>
              </a:rPr>
              <a:t>T4)</a:t>
            </a:r>
            <a:endParaRPr lang="zh-CN" altLang="en-US" sz="1600" dirty="0">
              <a:solidFill>
                <a:srgbClr val="0000FF"/>
              </a:solidFill>
            </a:endParaRPr>
          </a:p>
        </p:txBody>
      </p:sp>
      <p:sp>
        <p:nvSpPr>
          <p:cNvPr id="5" name="矩形 4"/>
          <p:cNvSpPr/>
          <p:nvPr/>
        </p:nvSpPr>
        <p:spPr>
          <a:xfrm>
            <a:off x="327232" y="1923678"/>
            <a:ext cx="2176922" cy="338554"/>
          </a:xfrm>
          <a:prstGeom prst="rect">
            <a:avLst/>
          </a:prstGeom>
        </p:spPr>
        <p:txBody>
          <a:bodyPr wrap="square">
            <a:spAutoFit/>
          </a:bodyPr>
          <a:lstStyle/>
          <a:p>
            <a:r>
              <a:rPr lang="zh-CN" altLang="en-US" sz="1600" dirty="0">
                <a:solidFill>
                  <a:srgbClr val="0000FF"/>
                </a:solidFill>
              </a:rPr>
              <a:t>（</a:t>
            </a:r>
            <a:r>
              <a:rPr lang="en-US" altLang="zh-CN" sz="1600" dirty="0">
                <a:solidFill>
                  <a:srgbClr val="0000FF"/>
                </a:solidFill>
              </a:rPr>
              <a:t>6</a:t>
            </a:r>
            <a:r>
              <a:rPr lang="zh-CN" altLang="en-US" sz="1600" dirty="0">
                <a:solidFill>
                  <a:srgbClr val="0000FF"/>
                </a:solidFill>
              </a:rPr>
              <a:t>）</a:t>
            </a:r>
            <a:r>
              <a:rPr lang="en-US" altLang="zh-CN" sz="1600" dirty="0">
                <a:solidFill>
                  <a:srgbClr val="0000FF"/>
                </a:solidFill>
              </a:rPr>
              <a:t>(&lt;</a:t>
            </a:r>
            <a:r>
              <a:rPr lang="zh-CN" altLang="en-US" sz="1600" dirty="0">
                <a:solidFill>
                  <a:srgbClr val="0000FF"/>
                </a:solidFill>
              </a:rPr>
              <a:t>， </a:t>
            </a:r>
            <a:r>
              <a:rPr lang="en-US" altLang="zh-CN" sz="1600" dirty="0" err="1">
                <a:solidFill>
                  <a:srgbClr val="0000FF"/>
                </a:solidFill>
              </a:rPr>
              <a:t>i</a:t>
            </a:r>
            <a:r>
              <a:rPr lang="zh-CN" altLang="en-US" sz="1600" dirty="0">
                <a:solidFill>
                  <a:srgbClr val="0000FF"/>
                </a:solidFill>
              </a:rPr>
              <a:t>，</a:t>
            </a:r>
            <a:r>
              <a:rPr lang="en-US" altLang="zh-CN" sz="1600" dirty="0">
                <a:solidFill>
                  <a:srgbClr val="0000FF"/>
                </a:solidFill>
              </a:rPr>
              <a:t>T4</a:t>
            </a:r>
            <a:r>
              <a:rPr lang="zh-CN" altLang="en-US" sz="1600" dirty="0">
                <a:solidFill>
                  <a:srgbClr val="0000FF"/>
                </a:solidFill>
              </a:rPr>
              <a:t>，</a:t>
            </a:r>
            <a:r>
              <a:rPr lang="en-US" altLang="zh-CN" sz="1600" dirty="0">
                <a:solidFill>
                  <a:srgbClr val="0000FF"/>
                </a:solidFill>
              </a:rPr>
              <a:t>t)</a:t>
            </a:r>
          </a:p>
        </p:txBody>
      </p:sp>
      <p:sp>
        <p:nvSpPr>
          <p:cNvPr id="6" name="矩形 5"/>
          <p:cNvSpPr/>
          <p:nvPr/>
        </p:nvSpPr>
        <p:spPr>
          <a:xfrm>
            <a:off x="327233" y="2211710"/>
            <a:ext cx="2516576" cy="338554"/>
          </a:xfrm>
          <a:prstGeom prst="rect">
            <a:avLst/>
          </a:prstGeom>
        </p:spPr>
        <p:txBody>
          <a:bodyPr wrap="square">
            <a:spAutoFit/>
          </a:bodyPr>
          <a:lstStyle/>
          <a:p>
            <a:r>
              <a:rPr lang="zh-CN" altLang="en-US" sz="1600" dirty="0">
                <a:solidFill>
                  <a:srgbClr val="CC00FF"/>
                </a:solidFill>
              </a:rPr>
              <a:t>（</a:t>
            </a:r>
            <a:r>
              <a:rPr lang="en-US" altLang="zh-CN" sz="1600" dirty="0">
                <a:solidFill>
                  <a:srgbClr val="CC00FF"/>
                </a:solidFill>
              </a:rPr>
              <a:t>7</a:t>
            </a:r>
            <a:r>
              <a:rPr lang="zh-CN" altLang="en-US" sz="1600" dirty="0">
                <a:solidFill>
                  <a:srgbClr val="CC00FF"/>
                </a:solidFill>
              </a:rPr>
              <a:t>）</a:t>
            </a:r>
            <a:r>
              <a:rPr lang="en-US" altLang="zh-CN" sz="1600" dirty="0">
                <a:solidFill>
                  <a:srgbClr val="CC00FF"/>
                </a:solidFill>
              </a:rPr>
              <a:t>(</a:t>
            </a:r>
            <a:r>
              <a:rPr lang="en-US" altLang="zh-CN" sz="1600" dirty="0" err="1">
                <a:solidFill>
                  <a:srgbClr val="CC00FF"/>
                </a:solidFill>
              </a:rPr>
              <a:t>jz</a:t>
            </a:r>
            <a:r>
              <a:rPr lang="zh-CN" altLang="en-US" sz="1600" dirty="0">
                <a:solidFill>
                  <a:srgbClr val="CC00FF"/>
                </a:solidFill>
              </a:rPr>
              <a:t>， </a:t>
            </a:r>
            <a:r>
              <a:rPr lang="en-US" altLang="zh-CN" sz="1600" dirty="0">
                <a:solidFill>
                  <a:srgbClr val="CC00FF"/>
                </a:solidFill>
              </a:rPr>
              <a:t>t</a:t>
            </a:r>
            <a:r>
              <a:rPr lang="zh-CN" altLang="en-US" sz="1600" dirty="0">
                <a:solidFill>
                  <a:srgbClr val="CC00FF"/>
                </a:solidFill>
              </a:rPr>
              <a:t>， ， </a:t>
            </a:r>
            <a:r>
              <a:rPr lang="en-US" altLang="zh-CN" sz="1600" dirty="0">
                <a:solidFill>
                  <a:srgbClr val="CC00FF"/>
                </a:solidFill>
              </a:rPr>
              <a:t>0</a:t>
            </a:r>
            <a:r>
              <a:rPr lang="zh-CN" altLang="en-US" sz="1600" dirty="0">
                <a:solidFill>
                  <a:srgbClr val="CC00FF"/>
                </a:solidFill>
              </a:rPr>
              <a:t>    </a:t>
            </a:r>
            <a:r>
              <a:rPr lang="en-US" altLang="zh-CN" sz="1600" dirty="0">
                <a:solidFill>
                  <a:srgbClr val="CC00FF"/>
                </a:solidFill>
              </a:rPr>
              <a:t>)</a:t>
            </a:r>
          </a:p>
        </p:txBody>
      </p:sp>
      <p:sp>
        <p:nvSpPr>
          <p:cNvPr id="7" name="矩形 6"/>
          <p:cNvSpPr/>
          <p:nvPr/>
        </p:nvSpPr>
        <p:spPr>
          <a:xfrm>
            <a:off x="1763688" y="2252068"/>
            <a:ext cx="444352" cy="338554"/>
          </a:xfrm>
          <a:prstGeom prst="rect">
            <a:avLst/>
          </a:prstGeom>
          <a:solidFill>
            <a:schemeClr val="accent1">
              <a:lumMod val="20000"/>
              <a:lumOff val="80000"/>
            </a:schemeClr>
          </a:solidFill>
        </p:spPr>
        <p:txBody>
          <a:bodyPr wrap="none">
            <a:spAutoFit/>
          </a:bodyPr>
          <a:lstStyle/>
          <a:p>
            <a:r>
              <a:rPr lang="en-US" altLang="zh-CN" sz="1600" dirty="0">
                <a:solidFill>
                  <a:srgbClr val="FF0000"/>
                </a:solidFill>
              </a:rPr>
              <a:t>17</a:t>
            </a:r>
            <a:endParaRPr lang="zh-CN" altLang="en-US" sz="1600" dirty="0">
              <a:solidFill>
                <a:srgbClr val="FF0000"/>
              </a:solidFill>
            </a:endParaRPr>
          </a:p>
        </p:txBody>
      </p:sp>
      <p:sp>
        <p:nvSpPr>
          <p:cNvPr id="9" name="矩形 8"/>
          <p:cNvSpPr/>
          <p:nvPr/>
        </p:nvSpPr>
        <p:spPr>
          <a:xfrm>
            <a:off x="327232" y="2747413"/>
            <a:ext cx="2736247" cy="584775"/>
          </a:xfrm>
          <a:prstGeom prst="rect">
            <a:avLst/>
          </a:prstGeom>
        </p:spPr>
        <p:txBody>
          <a:bodyPr wrap="square">
            <a:spAutoFit/>
          </a:bodyPr>
          <a:lstStyle/>
          <a:p>
            <a:r>
              <a:rPr lang="zh-CN" altLang="en-US" sz="1600" dirty="0"/>
              <a:t>（</a:t>
            </a:r>
            <a:r>
              <a:rPr lang="en-US" altLang="zh-CN" sz="1600" dirty="0"/>
              <a:t>9</a:t>
            </a:r>
            <a:r>
              <a:rPr lang="zh-CN" altLang="en-US" sz="1600" dirty="0"/>
              <a:t>）</a:t>
            </a:r>
            <a:r>
              <a:rPr lang="en-US" altLang="zh-CN" sz="1600" dirty="0"/>
              <a:t>(+</a:t>
            </a:r>
            <a:r>
              <a:rPr lang="zh-CN" altLang="en-US" sz="1600" dirty="0"/>
              <a:t>，</a:t>
            </a:r>
            <a:r>
              <a:rPr lang="en-US" altLang="zh-CN" sz="1600" dirty="0" err="1"/>
              <a:t>i</a:t>
            </a:r>
            <a:r>
              <a:rPr lang="zh-CN" altLang="en-US" sz="1600" dirty="0"/>
              <a:t>，</a:t>
            </a:r>
            <a:r>
              <a:rPr lang="en-US" altLang="zh-CN" sz="1600" dirty="0"/>
              <a:t>1</a:t>
            </a:r>
            <a:r>
              <a:rPr lang="zh-CN" altLang="en-US" sz="1600" dirty="0"/>
              <a:t>，</a:t>
            </a:r>
            <a:r>
              <a:rPr lang="en-US" altLang="zh-CN" sz="1600" dirty="0"/>
              <a:t>T5)</a:t>
            </a:r>
          </a:p>
          <a:p>
            <a:r>
              <a:rPr lang="zh-CN" altLang="en-US" sz="1600" dirty="0"/>
              <a:t>（</a:t>
            </a:r>
            <a:r>
              <a:rPr lang="en-US" altLang="zh-CN" sz="1600" dirty="0"/>
              <a:t>10</a:t>
            </a:r>
            <a:r>
              <a:rPr lang="zh-CN" altLang="en-US" sz="1600" dirty="0"/>
              <a:t>）</a:t>
            </a:r>
            <a:r>
              <a:rPr lang="en-US" altLang="zh-CN" sz="1600" dirty="0"/>
              <a:t>(=</a:t>
            </a:r>
            <a:r>
              <a:rPr lang="zh-CN" altLang="en-US" sz="1600" dirty="0"/>
              <a:t>，</a:t>
            </a:r>
            <a:r>
              <a:rPr lang="en-US" altLang="zh-CN" sz="1600" dirty="0"/>
              <a:t>T5</a:t>
            </a:r>
            <a:r>
              <a:rPr lang="zh-CN" altLang="en-US" sz="1600" dirty="0"/>
              <a:t>， ，</a:t>
            </a:r>
            <a:r>
              <a:rPr lang="en-US" altLang="zh-CN" sz="1600" dirty="0" err="1"/>
              <a:t>i</a:t>
            </a:r>
            <a:r>
              <a:rPr lang="en-US" altLang="zh-CN" sz="1600" dirty="0"/>
              <a:t>)</a:t>
            </a:r>
          </a:p>
        </p:txBody>
      </p:sp>
      <p:sp>
        <p:nvSpPr>
          <p:cNvPr id="10" name="矩形 9"/>
          <p:cNvSpPr/>
          <p:nvPr/>
        </p:nvSpPr>
        <p:spPr>
          <a:xfrm>
            <a:off x="327232" y="3260180"/>
            <a:ext cx="2176922" cy="338554"/>
          </a:xfrm>
          <a:prstGeom prst="rect">
            <a:avLst/>
          </a:prstGeom>
        </p:spPr>
        <p:txBody>
          <a:bodyPr wrap="square">
            <a:spAutoFit/>
          </a:bodyPr>
          <a:lstStyle/>
          <a:p>
            <a:r>
              <a:rPr lang="zh-CN" altLang="en-US" sz="1600" dirty="0">
                <a:solidFill>
                  <a:srgbClr val="CC00FF"/>
                </a:solidFill>
              </a:rPr>
              <a:t>（</a:t>
            </a:r>
            <a:r>
              <a:rPr lang="en-US" altLang="zh-CN" sz="1600" dirty="0">
                <a:solidFill>
                  <a:srgbClr val="CC00FF"/>
                </a:solidFill>
              </a:rPr>
              <a:t>11</a:t>
            </a:r>
            <a:r>
              <a:rPr lang="zh-CN" altLang="en-US" sz="1600" dirty="0">
                <a:solidFill>
                  <a:srgbClr val="CC00FF"/>
                </a:solidFill>
              </a:rPr>
              <a:t>）</a:t>
            </a:r>
            <a:r>
              <a:rPr lang="en-US" altLang="zh-CN" sz="1600" dirty="0">
                <a:solidFill>
                  <a:srgbClr val="CC00FF"/>
                </a:solidFill>
              </a:rPr>
              <a:t>(j</a:t>
            </a:r>
            <a:r>
              <a:rPr lang="zh-CN" altLang="en-US" sz="1600" dirty="0">
                <a:solidFill>
                  <a:srgbClr val="CC00FF"/>
                </a:solidFill>
              </a:rPr>
              <a:t>， ， ，</a:t>
            </a:r>
            <a:r>
              <a:rPr lang="en-US" altLang="zh-CN" sz="1600" dirty="0">
                <a:solidFill>
                  <a:srgbClr val="CC00FF"/>
                </a:solidFill>
              </a:rPr>
              <a:t>4) </a:t>
            </a:r>
          </a:p>
        </p:txBody>
      </p:sp>
      <p:sp>
        <p:nvSpPr>
          <p:cNvPr id="11" name="矩形 10"/>
          <p:cNvSpPr/>
          <p:nvPr/>
        </p:nvSpPr>
        <p:spPr>
          <a:xfrm>
            <a:off x="3148721" y="927150"/>
            <a:ext cx="1135247" cy="338554"/>
          </a:xfrm>
          <a:prstGeom prst="rect">
            <a:avLst/>
          </a:prstGeom>
        </p:spPr>
        <p:txBody>
          <a:bodyPr wrap="none">
            <a:spAutoFit/>
          </a:bodyPr>
          <a:lstStyle/>
          <a:p>
            <a:r>
              <a:rPr lang="fr-FR" altLang="zh-CN" sz="1600" kern="100" dirty="0"/>
              <a:t>F.TEST</a:t>
            </a:r>
            <a:r>
              <a:rPr lang="en-US" altLang="zh-CN" sz="1600" kern="100" dirty="0"/>
              <a:t>=4</a:t>
            </a:r>
            <a:endParaRPr lang="zh-CN" altLang="en-US" sz="1600" dirty="0"/>
          </a:p>
        </p:txBody>
      </p:sp>
      <p:sp>
        <p:nvSpPr>
          <p:cNvPr id="18" name="矩形 17"/>
          <p:cNvSpPr/>
          <p:nvPr/>
        </p:nvSpPr>
        <p:spPr>
          <a:xfrm>
            <a:off x="5652120" y="948636"/>
            <a:ext cx="1165704" cy="338554"/>
          </a:xfrm>
          <a:prstGeom prst="rect">
            <a:avLst/>
          </a:prstGeom>
        </p:spPr>
        <p:txBody>
          <a:bodyPr wrap="none">
            <a:spAutoFit/>
          </a:bodyPr>
          <a:lstStyle/>
          <a:p>
            <a:r>
              <a:rPr lang="en-US" altLang="zh-CN" sz="1600" kern="100" dirty="0"/>
              <a:t>A</a:t>
            </a:r>
            <a:r>
              <a:rPr lang="fr-FR" altLang="zh-CN" sz="1600" kern="100" dirty="0"/>
              <a:t>.TEST</a:t>
            </a:r>
            <a:r>
              <a:rPr lang="en-US" altLang="zh-CN" sz="1600" kern="100" dirty="0"/>
              <a:t>=4</a:t>
            </a:r>
            <a:endParaRPr lang="zh-CN" altLang="en-US" sz="1600" dirty="0"/>
          </a:p>
        </p:txBody>
      </p:sp>
      <p:sp>
        <p:nvSpPr>
          <p:cNvPr id="19" name="矩形 18"/>
          <p:cNvSpPr/>
          <p:nvPr/>
        </p:nvSpPr>
        <p:spPr>
          <a:xfrm>
            <a:off x="5652120" y="702966"/>
            <a:ext cx="976549" cy="338554"/>
          </a:xfrm>
          <a:prstGeom prst="rect">
            <a:avLst/>
          </a:prstGeom>
        </p:spPr>
        <p:txBody>
          <a:bodyPr wrap="none">
            <a:spAutoFit/>
          </a:bodyPr>
          <a:lstStyle/>
          <a:p>
            <a:r>
              <a:rPr lang="en-US" altLang="zh-CN" sz="1600" kern="100" dirty="0"/>
              <a:t>A</a:t>
            </a:r>
            <a:r>
              <a:rPr lang="fr-FR" altLang="zh-CN" sz="1600" kern="100" dirty="0"/>
              <a:t>.</a:t>
            </a:r>
            <a:r>
              <a:rPr lang="en-US" altLang="zh-CN" sz="1600" kern="100" dirty="0" err="1"/>
              <a:t>inc</a:t>
            </a:r>
            <a:r>
              <a:rPr lang="en-US" altLang="zh-CN" sz="1600" kern="100" dirty="0"/>
              <a:t>=9</a:t>
            </a:r>
            <a:endParaRPr lang="zh-CN" altLang="en-US" sz="1600" dirty="0"/>
          </a:p>
        </p:txBody>
      </p:sp>
      <p:sp>
        <p:nvSpPr>
          <p:cNvPr id="20" name="矩形 19"/>
          <p:cNvSpPr/>
          <p:nvPr/>
        </p:nvSpPr>
        <p:spPr>
          <a:xfrm>
            <a:off x="4376319" y="732612"/>
            <a:ext cx="1217000" cy="338554"/>
          </a:xfrm>
          <a:prstGeom prst="rect">
            <a:avLst/>
          </a:prstGeom>
        </p:spPr>
        <p:txBody>
          <a:bodyPr wrap="none">
            <a:spAutoFit/>
          </a:bodyPr>
          <a:lstStyle/>
          <a:p>
            <a:r>
              <a:rPr lang="en-US" altLang="zh-CN" sz="1600" kern="100" dirty="0"/>
              <a:t>A</a:t>
            </a:r>
            <a:r>
              <a:rPr lang="fr-FR" altLang="zh-CN" sz="1600" kern="100" dirty="0"/>
              <a:t>.chain</a:t>
            </a:r>
            <a:r>
              <a:rPr lang="en-US" altLang="zh-CN" sz="1600" kern="100" dirty="0"/>
              <a:t>=7</a:t>
            </a:r>
            <a:endParaRPr lang="zh-CN" altLang="en-US" sz="1600" dirty="0"/>
          </a:p>
        </p:txBody>
      </p:sp>
      <p:sp>
        <p:nvSpPr>
          <p:cNvPr id="21" name="矩形 20"/>
          <p:cNvSpPr/>
          <p:nvPr/>
        </p:nvSpPr>
        <p:spPr>
          <a:xfrm>
            <a:off x="4376319" y="977672"/>
            <a:ext cx="1159292" cy="338554"/>
          </a:xfrm>
          <a:prstGeom prst="rect">
            <a:avLst/>
          </a:prstGeom>
        </p:spPr>
        <p:txBody>
          <a:bodyPr wrap="none">
            <a:spAutoFit/>
          </a:bodyPr>
          <a:lstStyle/>
          <a:p>
            <a:r>
              <a:rPr lang="en-US" altLang="zh-CN" sz="1600" kern="100" dirty="0"/>
              <a:t>A</a:t>
            </a:r>
            <a:r>
              <a:rPr lang="fr-FR" altLang="zh-CN" sz="1600" kern="100" dirty="0"/>
              <a:t>.</a:t>
            </a:r>
            <a:r>
              <a:rPr lang="en-US" altLang="zh-CN" sz="1600" kern="100" dirty="0"/>
              <a:t>right=8</a:t>
            </a:r>
            <a:endParaRPr lang="zh-CN" altLang="en-US" sz="1600" dirty="0"/>
          </a:p>
        </p:txBody>
      </p:sp>
      <p:sp>
        <p:nvSpPr>
          <p:cNvPr id="22" name="矩形 21"/>
          <p:cNvSpPr/>
          <p:nvPr/>
        </p:nvSpPr>
        <p:spPr>
          <a:xfrm>
            <a:off x="6750243" y="978282"/>
            <a:ext cx="1319592" cy="369332"/>
          </a:xfrm>
          <a:prstGeom prst="rect">
            <a:avLst/>
          </a:prstGeom>
        </p:spPr>
        <p:txBody>
          <a:bodyPr wrap="none">
            <a:spAutoFit/>
          </a:bodyPr>
          <a:lstStyle/>
          <a:p>
            <a:r>
              <a:rPr lang="fr-FR" altLang="zh-CN" kern="100" dirty="0"/>
              <a:t>B.chain</a:t>
            </a:r>
            <a:r>
              <a:rPr lang="en-US" altLang="zh-CN" kern="100" dirty="0"/>
              <a:t>=7</a:t>
            </a:r>
            <a:endParaRPr lang="zh-CN" altLang="en-US" dirty="0"/>
          </a:p>
        </p:txBody>
      </p:sp>
      <p:sp>
        <p:nvSpPr>
          <p:cNvPr id="23" name="矩形 22"/>
          <p:cNvSpPr/>
          <p:nvPr/>
        </p:nvSpPr>
        <p:spPr>
          <a:xfrm>
            <a:off x="6732240" y="723288"/>
            <a:ext cx="954107" cy="338554"/>
          </a:xfrm>
          <a:prstGeom prst="rect">
            <a:avLst/>
          </a:prstGeom>
        </p:spPr>
        <p:txBody>
          <a:bodyPr wrap="none">
            <a:spAutoFit/>
          </a:bodyPr>
          <a:lstStyle/>
          <a:p>
            <a:r>
              <a:rPr lang="en-US" altLang="zh-CN" sz="1600" kern="100" dirty="0"/>
              <a:t>B</a:t>
            </a:r>
            <a:r>
              <a:rPr lang="fr-FR" altLang="zh-CN" sz="1600" kern="100" dirty="0"/>
              <a:t>.</a:t>
            </a:r>
            <a:r>
              <a:rPr lang="en-US" altLang="zh-CN" sz="1600" kern="100" dirty="0" err="1"/>
              <a:t>inc</a:t>
            </a:r>
            <a:r>
              <a:rPr lang="en-US" altLang="zh-CN" sz="1600" kern="100" dirty="0"/>
              <a:t>=9</a:t>
            </a:r>
            <a:endParaRPr lang="zh-CN" altLang="en-US" sz="1600" dirty="0"/>
          </a:p>
        </p:txBody>
      </p:sp>
      <p:sp>
        <p:nvSpPr>
          <p:cNvPr id="12" name="矩形 11"/>
          <p:cNvSpPr/>
          <p:nvPr/>
        </p:nvSpPr>
        <p:spPr>
          <a:xfrm>
            <a:off x="327232" y="3548212"/>
            <a:ext cx="2516577" cy="584775"/>
          </a:xfrm>
          <a:prstGeom prst="rect">
            <a:avLst/>
          </a:prstGeom>
        </p:spPr>
        <p:txBody>
          <a:bodyPr wrap="square">
            <a:spAutoFit/>
          </a:bodyPr>
          <a:lstStyle/>
          <a:p>
            <a:r>
              <a:rPr lang="zh-CN" altLang="en-US" sz="1600" dirty="0">
                <a:solidFill>
                  <a:srgbClr val="0000FF"/>
                </a:solidFill>
              </a:rPr>
              <a:t>（</a:t>
            </a:r>
            <a:r>
              <a:rPr lang="en-US" altLang="zh-CN" sz="1600" dirty="0">
                <a:solidFill>
                  <a:srgbClr val="0000FF"/>
                </a:solidFill>
              </a:rPr>
              <a:t>12</a:t>
            </a:r>
            <a:r>
              <a:rPr lang="zh-CN" altLang="en-US" sz="1600" dirty="0">
                <a:solidFill>
                  <a:srgbClr val="0000FF"/>
                </a:solidFill>
              </a:rPr>
              <a:t>）</a:t>
            </a:r>
            <a:r>
              <a:rPr lang="en-US" altLang="zh-CN" sz="1600" dirty="0">
                <a:solidFill>
                  <a:srgbClr val="0000FF"/>
                </a:solidFill>
              </a:rPr>
              <a:t>(j&gt;</a:t>
            </a:r>
            <a:r>
              <a:rPr lang="zh-CN" altLang="en-US" sz="1600" dirty="0">
                <a:solidFill>
                  <a:srgbClr val="0000FF"/>
                </a:solidFill>
              </a:rPr>
              <a:t>，</a:t>
            </a:r>
            <a:r>
              <a:rPr lang="en-US" altLang="zh-CN" sz="1600" dirty="0">
                <a:solidFill>
                  <a:srgbClr val="0000FF"/>
                </a:solidFill>
              </a:rPr>
              <a:t>h</a:t>
            </a:r>
            <a:r>
              <a:rPr lang="zh-CN" altLang="en-US" sz="1600" dirty="0">
                <a:solidFill>
                  <a:srgbClr val="0000FF"/>
                </a:solidFill>
              </a:rPr>
              <a:t>，</a:t>
            </a:r>
            <a:r>
              <a:rPr lang="en-US" altLang="zh-CN" sz="1600" dirty="0">
                <a:solidFill>
                  <a:srgbClr val="0000FF"/>
                </a:solidFill>
              </a:rPr>
              <a:t>g</a:t>
            </a:r>
            <a:r>
              <a:rPr lang="zh-CN" altLang="en-US" sz="1600" dirty="0">
                <a:solidFill>
                  <a:srgbClr val="0000FF"/>
                </a:solidFill>
              </a:rPr>
              <a:t>， </a:t>
            </a:r>
            <a:r>
              <a:rPr lang="en-US" altLang="zh-CN" sz="1600" dirty="0">
                <a:solidFill>
                  <a:srgbClr val="0000FF"/>
                </a:solidFill>
              </a:rPr>
              <a:t>0 </a:t>
            </a:r>
            <a:r>
              <a:rPr lang="zh-CN" altLang="en-US" sz="1600" dirty="0">
                <a:solidFill>
                  <a:srgbClr val="0000FF"/>
                </a:solidFill>
              </a:rPr>
              <a:t>  </a:t>
            </a:r>
            <a:r>
              <a:rPr lang="en-US" altLang="zh-CN" sz="1600" dirty="0">
                <a:solidFill>
                  <a:srgbClr val="0000FF"/>
                </a:solidFill>
              </a:rPr>
              <a:t>)</a:t>
            </a:r>
          </a:p>
          <a:p>
            <a:r>
              <a:rPr lang="zh-CN" altLang="en-US" sz="1600" dirty="0">
                <a:solidFill>
                  <a:srgbClr val="0000FF"/>
                </a:solidFill>
              </a:rPr>
              <a:t>（</a:t>
            </a:r>
            <a:r>
              <a:rPr lang="en-US" altLang="zh-CN" sz="1600" dirty="0">
                <a:solidFill>
                  <a:srgbClr val="0000FF"/>
                </a:solidFill>
              </a:rPr>
              <a:t>13</a:t>
            </a:r>
            <a:r>
              <a:rPr lang="zh-CN" altLang="en-US" sz="1600" dirty="0">
                <a:solidFill>
                  <a:srgbClr val="0000FF"/>
                </a:solidFill>
              </a:rPr>
              <a:t>）</a:t>
            </a:r>
            <a:r>
              <a:rPr lang="en-US" altLang="zh-CN" sz="1600" dirty="0">
                <a:solidFill>
                  <a:srgbClr val="0000FF"/>
                </a:solidFill>
              </a:rPr>
              <a:t>(j</a:t>
            </a:r>
            <a:r>
              <a:rPr lang="zh-CN" altLang="en-US" sz="1600" dirty="0">
                <a:solidFill>
                  <a:srgbClr val="0000FF"/>
                </a:solidFill>
              </a:rPr>
              <a:t>， ， ， </a:t>
            </a:r>
            <a:r>
              <a:rPr lang="en-US" altLang="zh-CN" sz="1600" dirty="0">
                <a:solidFill>
                  <a:srgbClr val="0000FF"/>
                </a:solidFill>
              </a:rPr>
              <a:t>0       )</a:t>
            </a:r>
            <a:endParaRPr lang="zh-CN" altLang="en-US" sz="1600" dirty="0">
              <a:solidFill>
                <a:srgbClr val="0000FF"/>
              </a:solidFill>
            </a:endParaRPr>
          </a:p>
        </p:txBody>
      </p:sp>
      <p:sp>
        <p:nvSpPr>
          <p:cNvPr id="14" name="矩形 13"/>
          <p:cNvSpPr/>
          <p:nvPr/>
        </p:nvSpPr>
        <p:spPr>
          <a:xfrm>
            <a:off x="2111424" y="3548212"/>
            <a:ext cx="444352" cy="338554"/>
          </a:xfrm>
          <a:prstGeom prst="rect">
            <a:avLst/>
          </a:prstGeom>
          <a:solidFill>
            <a:schemeClr val="accent1">
              <a:lumMod val="20000"/>
              <a:lumOff val="80000"/>
            </a:schemeClr>
          </a:solidFill>
        </p:spPr>
        <p:txBody>
          <a:bodyPr wrap="none">
            <a:spAutoFit/>
          </a:bodyPr>
          <a:lstStyle/>
          <a:p>
            <a:r>
              <a:rPr lang="en-US" altLang="zh-CN" sz="1600" dirty="0">
                <a:solidFill>
                  <a:srgbClr val="FF0000"/>
                </a:solidFill>
                <a:ea typeface="隶书" panose="02010509060101010101" pitchFamily="49" charset="-122"/>
                <a:cs typeface="+mj-cs"/>
              </a:rPr>
              <a:t>14</a:t>
            </a:r>
            <a:endParaRPr lang="zh-CN" altLang="en-US" sz="1050" dirty="0">
              <a:solidFill>
                <a:srgbClr val="FF0000"/>
              </a:solidFill>
            </a:endParaRPr>
          </a:p>
        </p:txBody>
      </p:sp>
      <p:sp>
        <p:nvSpPr>
          <p:cNvPr id="26" name="矩形 25"/>
          <p:cNvSpPr/>
          <p:nvPr/>
        </p:nvSpPr>
        <p:spPr>
          <a:xfrm>
            <a:off x="2039416" y="3794433"/>
            <a:ext cx="444352" cy="338554"/>
          </a:xfrm>
          <a:prstGeom prst="rect">
            <a:avLst/>
          </a:prstGeom>
          <a:solidFill>
            <a:schemeClr val="accent1">
              <a:lumMod val="20000"/>
              <a:lumOff val="80000"/>
            </a:schemeClr>
          </a:solidFill>
        </p:spPr>
        <p:txBody>
          <a:bodyPr wrap="none">
            <a:spAutoFit/>
          </a:bodyPr>
          <a:lstStyle/>
          <a:p>
            <a:r>
              <a:rPr lang="en-US" altLang="zh-CN" sz="1600" dirty="0">
                <a:solidFill>
                  <a:srgbClr val="FF0000"/>
                </a:solidFill>
                <a:ea typeface="隶书" panose="02010509060101010101" pitchFamily="49" charset="-122"/>
                <a:cs typeface="+mj-cs"/>
              </a:rPr>
              <a:t>16</a:t>
            </a:r>
            <a:endParaRPr lang="zh-CN" altLang="en-US" sz="1050" dirty="0">
              <a:solidFill>
                <a:srgbClr val="FF0000"/>
              </a:solidFill>
            </a:endParaRPr>
          </a:p>
        </p:txBody>
      </p:sp>
      <p:sp>
        <p:nvSpPr>
          <p:cNvPr id="16" name="矩形 15"/>
          <p:cNvSpPr/>
          <p:nvPr/>
        </p:nvSpPr>
        <p:spPr>
          <a:xfrm>
            <a:off x="327232" y="4003487"/>
            <a:ext cx="2516577" cy="584775"/>
          </a:xfrm>
          <a:prstGeom prst="rect">
            <a:avLst/>
          </a:prstGeom>
        </p:spPr>
        <p:txBody>
          <a:bodyPr wrap="square">
            <a:spAutoFit/>
          </a:bodyPr>
          <a:lstStyle/>
          <a:p>
            <a:r>
              <a:rPr lang="zh-CN" altLang="en-US" sz="1600" dirty="0">
                <a:solidFill>
                  <a:srgbClr val="0000FF"/>
                </a:solidFill>
              </a:rPr>
              <a:t>（</a:t>
            </a:r>
            <a:r>
              <a:rPr lang="en-US" altLang="zh-CN" sz="1600" dirty="0">
                <a:solidFill>
                  <a:srgbClr val="0000FF"/>
                </a:solidFill>
              </a:rPr>
              <a:t>14</a:t>
            </a:r>
            <a:r>
              <a:rPr lang="zh-CN" altLang="en-US" sz="1600" dirty="0">
                <a:solidFill>
                  <a:srgbClr val="0000FF"/>
                </a:solidFill>
              </a:rPr>
              <a:t>）</a:t>
            </a:r>
            <a:r>
              <a:rPr lang="en-US" altLang="zh-CN" sz="1600" dirty="0">
                <a:solidFill>
                  <a:srgbClr val="0000FF"/>
                </a:solidFill>
              </a:rPr>
              <a:t>(+</a:t>
            </a:r>
            <a:r>
              <a:rPr lang="zh-CN" altLang="en-US" sz="1600" dirty="0">
                <a:solidFill>
                  <a:srgbClr val="0000FF"/>
                </a:solidFill>
              </a:rPr>
              <a:t>，</a:t>
            </a:r>
            <a:r>
              <a:rPr lang="en-US" altLang="zh-CN" sz="1600" dirty="0">
                <a:solidFill>
                  <a:srgbClr val="0000FF"/>
                </a:solidFill>
              </a:rPr>
              <a:t>p</a:t>
            </a:r>
            <a:r>
              <a:rPr lang="zh-CN" altLang="en-US" sz="1600" dirty="0">
                <a:solidFill>
                  <a:srgbClr val="0000FF"/>
                </a:solidFill>
              </a:rPr>
              <a:t>，</a:t>
            </a:r>
            <a:r>
              <a:rPr lang="en-US" altLang="zh-CN" sz="1600" dirty="0">
                <a:solidFill>
                  <a:srgbClr val="0000FF"/>
                </a:solidFill>
              </a:rPr>
              <a:t>1</a:t>
            </a:r>
            <a:r>
              <a:rPr lang="zh-CN" altLang="en-US" sz="1600" dirty="0">
                <a:solidFill>
                  <a:srgbClr val="0000FF"/>
                </a:solidFill>
              </a:rPr>
              <a:t>，</a:t>
            </a:r>
            <a:r>
              <a:rPr lang="en-US" altLang="zh-CN" sz="1600" dirty="0">
                <a:solidFill>
                  <a:srgbClr val="0000FF"/>
                </a:solidFill>
              </a:rPr>
              <a:t>T6)</a:t>
            </a:r>
          </a:p>
          <a:p>
            <a:r>
              <a:rPr lang="zh-CN" altLang="en-US" sz="1600" dirty="0">
                <a:solidFill>
                  <a:srgbClr val="0000FF"/>
                </a:solidFill>
              </a:rPr>
              <a:t>（</a:t>
            </a:r>
            <a:r>
              <a:rPr lang="en-US" altLang="zh-CN" sz="1600" dirty="0">
                <a:solidFill>
                  <a:srgbClr val="0000FF"/>
                </a:solidFill>
              </a:rPr>
              <a:t>15</a:t>
            </a:r>
            <a:r>
              <a:rPr lang="zh-CN" altLang="en-US" sz="1600" dirty="0">
                <a:solidFill>
                  <a:srgbClr val="0000FF"/>
                </a:solidFill>
              </a:rPr>
              <a:t>）</a:t>
            </a:r>
            <a:r>
              <a:rPr lang="en-US" altLang="zh-CN" sz="1600" dirty="0">
                <a:solidFill>
                  <a:srgbClr val="0000FF"/>
                </a:solidFill>
              </a:rPr>
              <a:t>(=</a:t>
            </a:r>
            <a:r>
              <a:rPr lang="zh-CN" altLang="en-US" sz="1600" dirty="0">
                <a:solidFill>
                  <a:srgbClr val="0000FF"/>
                </a:solidFill>
              </a:rPr>
              <a:t>，</a:t>
            </a:r>
            <a:r>
              <a:rPr lang="en-US" altLang="zh-CN" sz="1600" dirty="0">
                <a:solidFill>
                  <a:srgbClr val="0000FF"/>
                </a:solidFill>
              </a:rPr>
              <a:t>T6</a:t>
            </a:r>
            <a:r>
              <a:rPr lang="zh-CN" altLang="en-US" sz="1600" dirty="0">
                <a:solidFill>
                  <a:srgbClr val="0000FF"/>
                </a:solidFill>
              </a:rPr>
              <a:t>， ，</a:t>
            </a:r>
            <a:r>
              <a:rPr lang="en-US" altLang="zh-CN" sz="1600" dirty="0">
                <a:solidFill>
                  <a:srgbClr val="0000FF"/>
                </a:solidFill>
              </a:rPr>
              <a:t>p)</a:t>
            </a:r>
          </a:p>
        </p:txBody>
      </p:sp>
      <p:sp>
        <p:nvSpPr>
          <p:cNvPr id="17" name="矩形 16"/>
          <p:cNvSpPr/>
          <p:nvPr/>
        </p:nvSpPr>
        <p:spPr>
          <a:xfrm>
            <a:off x="7572856" y="732612"/>
            <a:ext cx="1606530" cy="338554"/>
          </a:xfrm>
          <a:prstGeom prst="rect">
            <a:avLst/>
          </a:prstGeom>
        </p:spPr>
        <p:txBody>
          <a:bodyPr wrap="none">
            <a:spAutoFit/>
          </a:bodyPr>
          <a:lstStyle/>
          <a:p>
            <a:r>
              <a:rPr lang="en-US" altLang="zh-CN" sz="1600" kern="100" dirty="0"/>
              <a:t>S</a:t>
            </a:r>
            <a:r>
              <a:rPr lang="en-US" altLang="zh-CN" sz="1600" kern="100" baseline="30000" dirty="0"/>
              <a:t>(1)</a:t>
            </a:r>
            <a:r>
              <a:rPr lang="en-US" altLang="zh-CN" sz="1600" kern="100" dirty="0"/>
              <a:t>.CHAIN=13</a:t>
            </a:r>
            <a:endParaRPr lang="zh-CN" altLang="en-US" sz="1600" dirty="0"/>
          </a:p>
        </p:txBody>
      </p:sp>
      <p:sp>
        <p:nvSpPr>
          <p:cNvPr id="24" name="矩形 23"/>
          <p:cNvSpPr/>
          <p:nvPr/>
        </p:nvSpPr>
        <p:spPr>
          <a:xfrm>
            <a:off x="327232" y="4505802"/>
            <a:ext cx="2176922" cy="338554"/>
          </a:xfrm>
          <a:prstGeom prst="rect">
            <a:avLst/>
          </a:prstGeom>
        </p:spPr>
        <p:txBody>
          <a:bodyPr wrap="square">
            <a:spAutoFit/>
          </a:bodyPr>
          <a:lstStyle/>
          <a:p>
            <a:r>
              <a:rPr lang="zh-CN" altLang="en-US" sz="1600" dirty="0">
                <a:solidFill>
                  <a:srgbClr val="CC00FF"/>
                </a:solidFill>
              </a:rPr>
              <a:t>（</a:t>
            </a:r>
            <a:r>
              <a:rPr lang="en-US" altLang="zh-CN" sz="1600" dirty="0">
                <a:solidFill>
                  <a:srgbClr val="CC00FF"/>
                </a:solidFill>
              </a:rPr>
              <a:t>16</a:t>
            </a:r>
            <a:r>
              <a:rPr lang="zh-CN" altLang="en-US" sz="1600" dirty="0">
                <a:solidFill>
                  <a:srgbClr val="CC00FF"/>
                </a:solidFill>
              </a:rPr>
              <a:t>）</a:t>
            </a:r>
            <a:r>
              <a:rPr lang="en-US" altLang="zh-CN" sz="1600" dirty="0">
                <a:solidFill>
                  <a:srgbClr val="CC00FF"/>
                </a:solidFill>
              </a:rPr>
              <a:t>(j</a:t>
            </a:r>
            <a:r>
              <a:rPr lang="zh-CN" altLang="en-US" sz="1600" dirty="0">
                <a:solidFill>
                  <a:srgbClr val="CC00FF"/>
                </a:solidFill>
              </a:rPr>
              <a:t>， ， ， </a:t>
            </a:r>
            <a:r>
              <a:rPr lang="en-US" altLang="zh-CN" sz="1600" dirty="0">
                <a:solidFill>
                  <a:srgbClr val="CC00FF"/>
                </a:solidFill>
              </a:rPr>
              <a:t>9)</a:t>
            </a:r>
            <a:endParaRPr lang="zh-CN" altLang="en-US" sz="1600" dirty="0">
              <a:solidFill>
                <a:srgbClr val="CC00FF"/>
              </a:solidFill>
            </a:endParaRPr>
          </a:p>
        </p:txBody>
      </p:sp>
      <p:sp>
        <p:nvSpPr>
          <p:cNvPr id="25" name="矩形 24"/>
          <p:cNvSpPr/>
          <p:nvPr/>
        </p:nvSpPr>
        <p:spPr>
          <a:xfrm>
            <a:off x="327233" y="4803998"/>
            <a:ext cx="755320" cy="338554"/>
          </a:xfrm>
          <a:prstGeom prst="rect">
            <a:avLst/>
          </a:prstGeom>
        </p:spPr>
        <p:txBody>
          <a:bodyPr wrap="square">
            <a:spAutoFit/>
          </a:bodyPr>
          <a:lstStyle/>
          <a:p>
            <a:r>
              <a:rPr lang="zh-CN" altLang="en-US" sz="1600" dirty="0"/>
              <a:t>（</a:t>
            </a:r>
            <a:r>
              <a:rPr lang="en-US" altLang="zh-CN" sz="1600" dirty="0"/>
              <a:t>17</a:t>
            </a:r>
            <a:r>
              <a:rPr lang="zh-CN" altLang="en-US" sz="1600" dirty="0"/>
              <a:t>）</a:t>
            </a:r>
          </a:p>
        </p:txBody>
      </p:sp>
      <p:sp>
        <p:nvSpPr>
          <p:cNvPr id="27" name="矩形 26"/>
          <p:cNvSpPr/>
          <p:nvPr/>
        </p:nvSpPr>
        <p:spPr>
          <a:xfrm>
            <a:off x="323528" y="2468092"/>
            <a:ext cx="2258952" cy="338554"/>
          </a:xfrm>
          <a:prstGeom prst="rect">
            <a:avLst/>
          </a:prstGeom>
        </p:spPr>
        <p:txBody>
          <a:bodyPr wrap="none">
            <a:spAutoFit/>
          </a:bodyPr>
          <a:lstStyle/>
          <a:p>
            <a:r>
              <a:rPr lang="zh-CN" altLang="en-US" sz="1600" dirty="0">
                <a:solidFill>
                  <a:srgbClr val="CC00FF"/>
                </a:solidFill>
              </a:rPr>
              <a:t>（</a:t>
            </a:r>
            <a:r>
              <a:rPr lang="en-US" altLang="zh-CN" sz="1600" dirty="0">
                <a:solidFill>
                  <a:srgbClr val="CC00FF"/>
                </a:solidFill>
              </a:rPr>
              <a:t>8</a:t>
            </a:r>
            <a:r>
              <a:rPr lang="zh-CN" altLang="en-US" sz="1600" dirty="0">
                <a:solidFill>
                  <a:srgbClr val="CC00FF"/>
                </a:solidFill>
              </a:rPr>
              <a:t>）</a:t>
            </a:r>
            <a:r>
              <a:rPr lang="en-US" altLang="zh-CN" sz="1600" dirty="0">
                <a:solidFill>
                  <a:srgbClr val="CC00FF"/>
                </a:solidFill>
              </a:rPr>
              <a:t>(j</a:t>
            </a:r>
            <a:r>
              <a:rPr lang="zh-CN" altLang="en-US" sz="1600" dirty="0">
                <a:solidFill>
                  <a:srgbClr val="CC00FF"/>
                </a:solidFill>
              </a:rPr>
              <a:t>， ， ，  </a:t>
            </a:r>
            <a:r>
              <a:rPr lang="en-US" altLang="zh-CN" sz="1600" dirty="0">
                <a:solidFill>
                  <a:srgbClr val="CC00FF"/>
                </a:solidFill>
              </a:rPr>
              <a:t>0     )</a:t>
            </a:r>
            <a:endParaRPr lang="zh-CN" altLang="en-US" sz="1600" dirty="0">
              <a:solidFill>
                <a:srgbClr val="CC00FF"/>
              </a:solidFill>
            </a:endParaRPr>
          </a:p>
        </p:txBody>
      </p:sp>
      <p:sp>
        <p:nvSpPr>
          <p:cNvPr id="13" name="矩形 12"/>
          <p:cNvSpPr/>
          <p:nvPr/>
        </p:nvSpPr>
        <p:spPr>
          <a:xfrm>
            <a:off x="1679376" y="2468092"/>
            <a:ext cx="444352" cy="338554"/>
          </a:xfrm>
          <a:prstGeom prst="rect">
            <a:avLst/>
          </a:prstGeom>
          <a:solidFill>
            <a:schemeClr val="accent1">
              <a:lumMod val="20000"/>
              <a:lumOff val="80000"/>
            </a:schemeClr>
          </a:solidFill>
        </p:spPr>
        <p:txBody>
          <a:bodyPr wrap="none">
            <a:spAutoFit/>
          </a:bodyPr>
          <a:lstStyle/>
          <a:p>
            <a:r>
              <a:rPr lang="en-US" altLang="zh-CN" sz="1600" dirty="0">
                <a:solidFill>
                  <a:srgbClr val="FF0000"/>
                </a:solidFill>
              </a:rPr>
              <a:t>12</a:t>
            </a:r>
            <a:endParaRPr lang="zh-CN" altLang="en-US" sz="1600" dirty="0">
              <a:solidFill>
                <a:srgbClr val="FF0000"/>
              </a:solidFill>
            </a:endParaRPr>
          </a:p>
        </p:txBody>
      </p:sp>
    </p:spTree>
    <p:extLst>
      <p:ext uri="{BB962C8B-B14F-4D97-AF65-F5344CB8AC3E}">
        <p14:creationId xmlns:p14="http://schemas.microsoft.com/office/powerpoint/2010/main" val="4229742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 grpId="0" animBg="1"/>
      <p:bldP spid="4" grpId="0"/>
      <p:bldP spid="5" grpId="0"/>
      <p:bldP spid="6" grpId="0"/>
      <p:bldP spid="7" grpId="0" animBg="1"/>
      <p:bldP spid="9" grpId="0"/>
      <p:bldP spid="10" grpId="0"/>
      <p:bldP spid="11" grpId="0"/>
      <p:bldP spid="18" grpId="0"/>
      <p:bldP spid="19" grpId="0"/>
      <p:bldP spid="20" grpId="0"/>
      <p:bldP spid="21" grpId="0"/>
      <p:bldP spid="22" grpId="0"/>
      <p:bldP spid="23" grpId="0"/>
      <p:bldP spid="12" grpId="0"/>
      <p:bldP spid="14" grpId="0" animBg="1"/>
      <p:bldP spid="26" grpId="0" animBg="1"/>
      <p:bldP spid="16" grpId="0"/>
      <p:bldP spid="17" grpId="0"/>
      <p:bldP spid="24" grpId="0"/>
      <p:bldP spid="25" grpId="0"/>
      <p:bldP spid="27" grpId="0"/>
      <p:bldP spid="13"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1" y="1"/>
            <a:ext cx="5940425" cy="594122"/>
          </a:xfrm>
        </p:spPr>
        <p:txBody>
          <a:bodyPr/>
          <a:lstStyle/>
          <a:p>
            <a:pPr algn="l" eaLnBrk="1" hangingPunct="1"/>
            <a:r>
              <a:rPr lang="zh-CN" altLang="fr-FR" sz="3200">
                <a:solidFill>
                  <a:srgbClr val="000000"/>
                </a:solidFill>
                <a:latin typeface="Times New Roman" pitchFamily="18" charset="0"/>
              </a:rPr>
              <a:t>将下面的语句翻译为</a:t>
            </a:r>
            <a:r>
              <a:rPr lang="zh-CN" altLang="en-US" sz="3200">
                <a:solidFill>
                  <a:srgbClr val="000000"/>
                </a:solidFill>
                <a:latin typeface="Times New Roman" pitchFamily="18" charset="0"/>
              </a:rPr>
              <a:t>四元式序列</a:t>
            </a:r>
          </a:p>
        </p:txBody>
      </p:sp>
      <p:sp>
        <p:nvSpPr>
          <p:cNvPr id="8196" name="Rectangle 3"/>
          <p:cNvSpPr>
            <a:spLocks noGrp="1" noChangeArrowheads="1"/>
          </p:cNvSpPr>
          <p:nvPr>
            <p:ph type="body" sz="half" idx="1"/>
          </p:nvPr>
        </p:nvSpPr>
        <p:spPr>
          <a:xfrm>
            <a:off x="1714500" y="1"/>
            <a:ext cx="7429500" cy="1393031"/>
          </a:xfrm>
          <a:solidFill>
            <a:srgbClr val="FFCCFF"/>
          </a:solidFill>
        </p:spPr>
        <p:txBody>
          <a:bodyPr/>
          <a:lstStyle/>
          <a:p>
            <a:pPr>
              <a:buFontTx/>
              <a:buNone/>
              <a:defRPr/>
            </a:pPr>
            <a:r>
              <a:rPr lang="en-US" altLang="zh-CN" dirty="0"/>
              <a:t>for (</a:t>
            </a:r>
            <a:r>
              <a:rPr lang="en-US" altLang="zh-CN" dirty="0" err="1"/>
              <a:t>i</a:t>
            </a:r>
            <a:r>
              <a:rPr lang="en-US" altLang="zh-CN" dirty="0"/>
              <a:t> = </a:t>
            </a:r>
            <a:r>
              <a:rPr lang="en-US" altLang="zh-CN" dirty="0" err="1"/>
              <a:t>a+b</a:t>
            </a:r>
            <a:r>
              <a:rPr lang="en-US" altLang="zh-CN" dirty="0"/>
              <a:t>*2 ; </a:t>
            </a:r>
            <a:r>
              <a:rPr lang="en-US" altLang="zh-CN" dirty="0" err="1"/>
              <a:t>i</a:t>
            </a:r>
            <a:r>
              <a:rPr lang="en-US" altLang="zh-CN" dirty="0"/>
              <a:t> &lt; c+d+10; </a:t>
            </a:r>
            <a:r>
              <a:rPr lang="en-US" altLang="zh-CN" dirty="0" err="1"/>
              <a:t>i</a:t>
            </a:r>
            <a:r>
              <a:rPr lang="en-US" altLang="zh-CN" dirty="0"/>
              <a:t> = i+1)</a:t>
            </a:r>
            <a:endParaRPr lang="zh-CN" altLang="zh-CN" dirty="0"/>
          </a:p>
          <a:p>
            <a:pPr>
              <a:buFontTx/>
              <a:buNone/>
              <a:defRPr/>
            </a:pPr>
            <a:r>
              <a:rPr lang="en-US" altLang="zh-CN" dirty="0"/>
              <a:t>     if (h&gt;g) </a:t>
            </a:r>
            <a:endParaRPr lang="zh-CN" altLang="zh-CN" dirty="0"/>
          </a:p>
          <a:p>
            <a:pPr marL="514350" indent="-514350">
              <a:buFontTx/>
              <a:buNone/>
              <a:defRPr/>
            </a:pPr>
            <a:r>
              <a:rPr lang="en-US" altLang="zh-CN" dirty="0"/>
              <a:t>         p=p+1;</a:t>
            </a:r>
            <a:endParaRPr lang="zh-CN" altLang="zh-CN" dirty="0"/>
          </a:p>
        </p:txBody>
      </p:sp>
      <p:sp>
        <p:nvSpPr>
          <p:cNvPr id="112644" name="Rectangle 4"/>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206851" name="Object 2"/>
          <p:cNvGraphicFramePr>
            <a:graphicFrameLocks noChangeAspect="1"/>
          </p:cNvGraphicFramePr>
          <p:nvPr/>
        </p:nvGraphicFramePr>
        <p:xfrm>
          <a:off x="5786438" y="347662"/>
          <a:ext cx="3143250" cy="4795838"/>
        </p:xfrm>
        <a:graphic>
          <a:graphicData uri="http://schemas.openxmlformats.org/presentationml/2006/ole">
            <mc:AlternateContent xmlns:mc="http://schemas.openxmlformats.org/markup-compatibility/2006">
              <mc:Choice xmlns:v="urn:schemas-microsoft-com:vml" Requires="v">
                <p:oleObj spid="_x0000_s34821" name="Visio" r:id="rId4" imgW="2276272" imgH="4651363" progId="Visio.Drawing.11">
                  <p:embed/>
                </p:oleObj>
              </mc:Choice>
              <mc:Fallback>
                <p:oleObj name="Visio" r:id="rId4" imgW="2276272" imgH="4651363" progId="Visio.Drawing.11">
                  <p:embed/>
                  <p:pic>
                    <p:nvPicPr>
                      <p:cNvPr id="206851"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6438" y="347662"/>
                        <a:ext cx="3143250" cy="479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表格 7"/>
          <p:cNvGraphicFramePr>
            <a:graphicFrameLocks noGrp="1"/>
          </p:cNvGraphicFramePr>
          <p:nvPr/>
        </p:nvGraphicFramePr>
        <p:xfrm>
          <a:off x="714375" y="1446610"/>
          <a:ext cx="4286250" cy="3627120"/>
        </p:xfrm>
        <a:graphic>
          <a:graphicData uri="http://schemas.openxmlformats.org/drawingml/2006/table">
            <a:tbl>
              <a:tblPr/>
              <a:tblGrid>
                <a:gridCol w="1037268">
                  <a:extLst>
                    <a:ext uri="{9D8B030D-6E8A-4147-A177-3AD203B41FA5}">
                      <a16:colId xmlns:a16="http://schemas.microsoft.com/office/drawing/2014/main" val="20000"/>
                    </a:ext>
                  </a:extLst>
                </a:gridCol>
                <a:gridCol w="3248982">
                  <a:extLst>
                    <a:ext uri="{9D8B030D-6E8A-4147-A177-3AD203B41FA5}">
                      <a16:colId xmlns:a16="http://schemas.microsoft.com/office/drawing/2014/main" val="20001"/>
                    </a:ext>
                  </a:extLst>
                </a:gridCol>
              </a:tblGrid>
              <a:tr h="3498056">
                <a:tc>
                  <a:txBody>
                    <a:bodyPr/>
                    <a:lstStyle/>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1</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2</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3</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4</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5</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6</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7</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8</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9</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10</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11</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12</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13</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14</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15</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16</a:t>
                      </a:r>
                      <a:r>
                        <a:rPr lang="zh-CN" sz="1400" kern="100" dirty="0">
                          <a:latin typeface="Times New Roman"/>
                          <a:ea typeface="宋体"/>
                          <a:cs typeface="Times New Roman"/>
                        </a:rPr>
                        <a:t>）</a:t>
                      </a:r>
                    </a:p>
                    <a:p>
                      <a:pPr marL="228600" indent="-228600" algn="ctr">
                        <a:spcAft>
                          <a:spcPts val="0"/>
                        </a:spcAft>
                      </a:pPr>
                      <a:r>
                        <a:rPr lang="zh-CN" sz="1400" kern="100" dirty="0">
                          <a:latin typeface="Times New Roman"/>
                          <a:ea typeface="宋体"/>
                          <a:cs typeface="Times New Roman"/>
                        </a:rPr>
                        <a:t>（</a:t>
                      </a:r>
                      <a:r>
                        <a:rPr lang="en-US" sz="1400" kern="100" dirty="0">
                          <a:latin typeface="Times New Roman"/>
                          <a:ea typeface="宋体"/>
                          <a:cs typeface="Times New Roman"/>
                        </a:rPr>
                        <a:t>17</a:t>
                      </a:r>
                      <a:r>
                        <a:rPr lang="zh-CN" sz="1400" kern="100" dirty="0">
                          <a:latin typeface="Times New Roman"/>
                          <a:ea typeface="宋体"/>
                          <a:cs typeface="Times New Roman"/>
                        </a:rPr>
                        <a:t>）</a:t>
                      </a:r>
                    </a:p>
                  </a:txBody>
                  <a:tcPr marL="68580" marR="68580" marT="0" marB="0">
                    <a:lnL>
                      <a:noFill/>
                    </a:lnL>
                    <a:lnR>
                      <a:noFill/>
                    </a:lnR>
                    <a:lnT>
                      <a:noFill/>
                    </a:lnT>
                    <a:lnB>
                      <a:noFill/>
                    </a:lnB>
                  </a:tcPr>
                </a:tc>
                <a:tc>
                  <a:txBody>
                    <a:bodyPr/>
                    <a:lstStyle/>
                    <a:p>
                      <a:pPr marL="245110" indent="-118745" algn="just">
                        <a:spcAft>
                          <a:spcPts val="0"/>
                        </a:spcAft>
                      </a:pPr>
                      <a:r>
                        <a:rPr lang="en-US" sz="1400" kern="100" dirty="0">
                          <a:latin typeface="Times New Roman"/>
                          <a:ea typeface="宋体"/>
                          <a:cs typeface="Times New Roman"/>
                        </a:rPr>
                        <a:t>(*</a:t>
                      </a:r>
                      <a:r>
                        <a:rPr lang="zh-CN" sz="1400" kern="100" dirty="0">
                          <a:latin typeface="Times New Roman"/>
                          <a:ea typeface="宋体"/>
                          <a:cs typeface="Times New Roman"/>
                        </a:rPr>
                        <a:t>，</a:t>
                      </a:r>
                      <a:r>
                        <a:rPr lang="en-US" sz="1400" kern="100" dirty="0">
                          <a:latin typeface="Times New Roman"/>
                          <a:ea typeface="宋体"/>
                          <a:cs typeface="Times New Roman"/>
                        </a:rPr>
                        <a:t>b</a:t>
                      </a:r>
                      <a:r>
                        <a:rPr lang="zh-CN" sz="1400" kern="100" dirty="0">
                          <a:latin typeface="Times New Roman"/>
                          <a:ea typeface="宋体"/>
                          <a:cs typeface="Times New Roman"/>
                        </a:rPr>
                        <a:t>，</a:t>
                      </a:r>
                      <a:r>
                        <a:rPr lang="en-US" sz="1400" kern="100" dirty="0">
                          <a:latin typeface="Times New Roman"/>
                          <a:ea typeface="宋体"/>
                          <a:cs typeface="Times New Roman"/>
                        </a:rPr>
                        <a:t>2</a:t>
                      </a:r>
                      <a:r>
                        <a:rPr lang="zh-CN" sz="1400" kern="100" dirty="0">
                          <a:latin typeface="Times New Roman"/>
                          <a:ea typeface="宋体"/>
                          <a:cs typeface="Times New Roman"/>
                        </a:rPr>
                        <a:t>，</a:t>
                      </a:r>
                      <a:r>
                        <a:rPr lang="en-US" sz="1400" kern="100" dirty="0">
                          <a:latin typeface="Times New Roman"/>
                          <a:ea typeface="宋体"/>
                          <a:cs typeface="Times New Roman"/>
                        </a:rPr>
                        <a:t>T1)</a:t>
                      </a:r>
                      <a:endParaRPr lang="zh-CN" sz="1400" kern="100" dirty="0">
                        <a:latin typeface="Times New Roman"/>
                        <a:ea typeface="宋体"/>
                        <a:cs typeface="Times New Roman"/>
                      </a:endParaRPr>
                    </a:p>
                    <a:p>
                      <a:pPr marL="245110" indent="-118745" algn="just">
                        <a:spcAft>
                          <a:spcPts val="0"/>
                        </a:spcAft>
                      </a:pPr>
                      <a:r>
                        <a:rPr lang="en-US" sz="1400" kern="100" dirty="0">
                          <a:latin typeface="Times New Roman"/>
                          <a:ea typeface="宋体"/>
                          <a:cs typeface="Times New Roman"/>
                        </a:rPr>
                        <a:t>(+</a:t>
                      </a:r>
                      <a:r>
                        <a:rPr lang="zh-CN" sz="1400" kern="100" dirty="0">
                          <a:latin typeface="Times New Roman"/>
                          <a:ea typeface="宋体"/>
                          <a:cs typeface="Times New Roman"/>
                        </a:rPr>
                        <a:t>，</a:t>
                      </a:r>
                      <a:r>
                        <a:rPr lang="en-US" sz="1400" kern="100" dirty="0">
                          <a:latin typeface="Times New Roman"/>
                          <a:ea typeface="宋体"/>
                          <a:cs typeface="Times New Roman"/>
                        </a:rPr>
                        <a:t>a</a:t>
                      </a:r>
                      <a:r>
                        <a:rPr lang="zh-CN" sz="1400" kern="100" dirty="0">
                          <a:latin typeface="Times New Roman"/>
                          <a:ea typeface="宋体"/>
                          <a:cs typeface="Times New Roman"/>
                        </a:rPr>
                        <a:t>，</a:t>
                      </a:r>
                      <a:r>
                        <a:rPr lang="en-US" sz="1400" kern="100" dirty="0">
                          <a:latin typeface="Times New Roman"/>
                          <a:ea typeface="宋体"/>
                          <a:cs typeface="Times New Roman"/>
                        </a:rPr>
                        <a:t>T1</a:t>
                      </a:r>
                      <a:r>
                        <a:rPr lang="zh-CN" sz="1400" kern="100" dirty="0">
                          <a:latin typeface="Times New Roman"/>
                          <a:ea typeface="宋体"/>
                          <a:cs typeface="Times New Roman"/>
                        </a:rPr>
                        <a:t>，</a:t>
                      </a:r>
                      <a:r>
                        <a:rPr lang="en-US" sz="1400" kern="100" dirty="0">
                          <a:latin typeface="Times New Roman"/>
                          <a:ea typeface="宋体"/>
                          <a:cs typeface="Times New Roman"/>
                        </a:rPr>
                        <a:t>T2)</a:t>
                      </a:r>
                      <a:endParaRPr lang="zh-CN" sz="1400" kern="100" dirty="0">
                        <a:latin typeface="Times New Roman"/>
                        <a:ea typeface="宋体"/>
                        <a:cs typeface="Times New Roman"/>
                      </a:endParaRPr>
                    </a:p>
                    <a:p>
                      <a:pPr marL="245110" indent="-118745" algn="just">
                        <a:spcAft>
                          <a:spcPts val="0"/>
                        </a:spcAft>
                      </a:pPr>
                      <a:r>
                        <a:rPr lang="en-US" sz="1400" kern="100" dirty="0">
                          <a:latin typeface="Times New Roman"/>
                          <a:ea typeface="宋体"/>
                          <a:cs typeface="Times New Roman"/>
                        </a:rPr>
                        <a:t>(+</a:t>
                      </a:r>
                      <a:r>
                        <a:rPr lang="zh-CN" sz="1400" kern="100" dirty="0">
                          <a:latin typeface="Times New Roman"/>
                          <a:ea typeface="宋体"/>
                          <a:cs typeface="Times New Roman"/>
                        </a:rPr>
                        <a:t>，</a:t>
                      </a:r>
                      <a:r>
                        <a:rPr lang="en-US" sz="1400" kern="100" dirty="0">
                          <a:latin typeface="Times New Roman"/>
                          <a:ea typeface="宋体"/>
                          <a:cs typeface="Times New Roman"/>
                        </a:rPr>
                        <a:t>c</a:t>
                      </a:r>
                      <a:r>
                        <a:rPr lang="zh-CN" sz="1400" kern="100" dirty="0">
                          <a:latin typeface="Times New Roman"/>
                          <a:ea typeface="宋体"/>
                          <a:cs typeface="Times New Roman"/>
                        </a:rPr>
                        <a:t>，</a:t>
                      </a:r>
                      <a:r>
                        <a:rPr lang="en-US" sz="1400" kern="100" dirty="0">
                          <a:latin typeface="Times New Roman"/>
                          <a:ea typeface="宋体"/>
                          <a:cs typeface="Times New Roman"/>
                        </a:rPr>
                        <a:t>d</a:t>
                      </a:r>
                      <a:r>
                        <a:rPr lang="zh-CN" sz="1400" kern="100" dirty="0">
                          <a:latin typeface="Times New Roman"/>
                          <a:ea typeface="宋体"/>
                          <a:cs typeface="Times New Roman"/>
                        </a:rPr>
                        <a:t>，</a:t>
                      </a:r>
                      <a:r>
                        <a:rPr lang="en-US" sz="1400" kern="100" dirty="0">
                          <a:latin typeface="Times New Roman"/>
                          <a:ea typeface="宋体"/>
                          <a:cs typeface="Times New Roman"/>
                        </a:rPr>
                        <a:t>T3)</a:t>
                      </a:r>
                      <a:endParaRPr lang="zh-CN" sz="1400" kern="100" dirty="0">
                        <a:latin typeface="Times New Roman"/>
                        <a:ea typeface="宋体"/>
                        <a:cs typeface="Times New Roman"/>
                      </a:endParaRPr>
                    </a:p>
                    <a:p>
                      <a:pPr marL="245110" indent="-118745" algn="just">
                        <a:spcAft>
                          <a:spcPts val="0"/>
                        </a:spcAft>
                      </a:pPr>
                      <a:r>
                        <a:rPr lang="en-US" sz="1400" kern="100" dirty="0">
                          <a:latin typeface="Times New Roman"/>
                          <a:ea typeface="宋体"/>
                          <a:cs typeface="Times New Roman"/>
                        </a:rPr>
                        <a:t>(+</a:t>
                      </a:r>
                      <a:r>
                        <a:rPr lang="zh-CN" sz="1400" kern="100" dirty="0">
                          <a:latin typeface="Times New Roman"/>
                          <a:ea typeface="宋体"/>
                          <a:cs typeface="Times New Roman"/>
                        </a:rPr>
                        <a:t>，</a:t>
                      </a:r>
                      <a:r>
                        <a:rPr lang="en-US" sz="1400" kern="100" dirty="0">
                          <a:latin typeface="Times New Roman"/>
                          <a:ea typeface="宋体"/>
                          <a:cs typeface="Times New Roman"/>
                        </a:rPr>
                        <a:t>T3</a:t>
                      </a:r>
                      <a:r>
                        <a:rPr lang="zh-CN" sz="1400" kern="100" dirty="0">
                          <a:latin typeface="Times New Roman"/>
                          <a:ea typeface="宋体"/>
                          <a:cs typeface="Times New Roman"/>
                        </a:rPr>
                        <a:t>，</a:t>
                      </a:r>
                      <a:r>
                        <a:rPr lang="en-US" sz="1400" kern="100" dirty="0">
                          <a:latin typeface="Times New Roman"/>
                          <a:ea typeface="宋体"/>
                          <a:cs typeface="Times New Roman"/>
                        </a:rPr>
                        <a:t>10</a:t>
                      </a:r>
                      <a:r>
                        <a:rPr lang="zh-CN" sz="1400" kern="100" dirty="0">
                          <a:latin typeface="Times New Roman"/>
                          <a:ea typeface="宋体"/>
                          <a:cs typeface="Times New Roman"/>
                        </a:rPr>
                        <a:t>，</a:t>
                      </a:r>
                      <a:r>
                        <a:rPr lang="en-US" sz="1400" kern="100" dirty="0">
                          <a:latin typeface="Times New Roman"/>
                          <a:ea typeface="宋体"/>
                          <a:cs typeface="Times New Roman"/>
                        </a:rPr>
                        <a:t>T4)</a:t>
                      </a:r>
                      <a:endParaRPr lang="zh-CN" sz="1400" kern="100" dirty="0">
                        <a:latin typeface="Times New Roman"/>
                        <a:ea typeface="宋体"/>
                        <a:cs typeface="Times New Roman"/>
                      </a:endParaRPr>
                    </a:p>
                    <a:p>
                      <a:pPr marL="245110" indent="-118745" algn="just">
                        <a:spcAft>
                          <a:spcPts val="0"/>
                        </a:spcAft>
                      </a:pPr>
                      <a:r>
                        <a:rPr lang="en-US" sz="1400" kern="100" dirty="0">
                          <a:latin typeface="Times New Roman"/>
                          <a:ea typeface="宋体"/>
                          <a:cs typeface="Times New Roman"/>
                        </a:rPr>
                        <a:t>(=</a:t>
                      </a:r>
                      <a:r>
                        <a:rPr lang="zh-CN" sz="1400" kern="100" dirty="0">
                          <a:latin typeface="Times New Roman"/>
                          <a:ea typeface="宋体"/>
                          <a:cs typeface="Times New Roman"/>
                        </a:rPr>
                        <a:t>，</a:t>
                      </a:r>
                      <a:r>
                        <a:rPr lang="en-US" sz="1400" kern="100" dirty="0">
                          <a:latin typeface="Times New Roman"/>
                          <a:ea typeface="宋体"/>
                          <a:cs typeface="Times New Roman"/>
                        </a:rPr>
                        <a:t>T2</a:t>
                      </a:r>
                      <a:r>
                        <a:rPr lang="zh-CN" sz="1400" kern="100" dirty="0">
                          <a:latin typeface="Times New Roman"/>
                          <a:ea typeface="宋体"/>
                          <a:cs typeface="Times New Roman"/>
                        </a:rPr>
                        <a:t>， ，</a:t>
                      </a:r>
                      <a:r>
                        <a:rPr lang="en-US" sz="1400" kern="100" dirty="0" err="1">
                          <a:latin typeface="Times New Roman"/>
                          <a:ea typeface="宋体"/>
                          <a:cs typeface="Times New Roman"/>
                        </a:rPr>
                        <a:t>i</a:t>
                      </a:r>
                      <a:r>
                        <a:rPr lang="en-US" sz="1400" kern="100" dirty="0">
                          <a:latin typeface="Times New Roman"/>
                          <a:ea typeface="宋体"/>
                          <a:cs typeface="Times New Roman"/>
                        </a:rPr>
                        <a:t>)</a:t>
                      </a:r>
                      <a:endParaRPr lang="zh-CN" sz="1400" kern="100" dirty="0">
                        <a:latin typeface="Times New Roman"/>
                        <a:ea typeface="宋体"/>
                        <a:cs typeface="Times New Roman"/>
                      </a:endParaRPr>
                    </a:p>
                    <a:p>
                      <a:pPr marL="245110" indent="-118745" algn="just">
                        <a:spcAft>
                          <a:spcPts val="0"/>
                        </a:spcAft>
                      </a:pPr>
                      <a:r>
                        <a:rPr lang="en-US" sz="1400" kern="100" dirty="0">
                          <a:latin typeface="Times New Roman"/>
                          <a:ea typeface="宋体"/>
                          <a:cs typeface="Times New Roman"/>
                        </a:rPr>
                        <a:t>(=</a:t>
                      </a:r>
                      <a:r>
                        <a:rPr lang="zh-CN" sz="1400" kern="100" dirty="0">
                          <a:latin typeface="Times New Roman"/>
                          <a:ea typeface="宋体"/>
                          <a:cs typeface="Times New Roman"/>
                        </a:rPr>
                        <a:t>，</a:t>
                      </a:r>
                      <a:r>
                        <a:rPr lang="en-US" sz="1400" kern="100" dirty="0">
                          <a:latin typeface="Times New Roman"/>
                          <a:ea typeface="宋体"/>
                          <a:cs typeface="Times New Roman"/>
                        </a:rPr>
                        <a:t>T4</a:t>
                      </a:r>
                      <a:r>
                        <a:rPr lang="zh-CN" sz="1400" kern="100" dirty="0">
                          <a:latin typeface="Times New Roman"/>
                          <a:ea typeface="宋体"/>
                          <a:cs typeface="Times New Roman"/>
                        </a:rPr>
                        <a:t>， ，</a:t>
                      </a:r>
                      <a:r>
                        <a:rPr lang="en-US" sz="1400" kern="100" dirty="0">
                          <a:latin typeface="Times New Roman"/>
                          <a:ea typeface="宋体"/>
                          <a:cs typeface="Times New Roman"/>
                        </a:rPr>
                        <a:t>t)</a:t>
                      </a:r>
                      <a:endParaRPr lang="zh-CN" sz="1400" kern="100" dirty="0">
                        <a:latin typeface="Times New Roman"/>
                        <a:ea typeface="宋体"/>
                        <a:cs typeface="Times New Roman"/>
                      </a:endParaRPr>
                    </a:p>
                    <a:p>
                      <a:pPr marL="245110" indent="-118745" algn="just">
                        <a:spcAft>
                          <a:spcPts val="0"/>
                        </a:spcAft>
                      </a:pPr>
                      <a:r>
                        <a:rPr lang="en-US" sz="1400" kern="100" dirty="0">
                          <a:latin typeface="Times New Roman"/>
                          <a:ea typeface="宋体"/>
                          <a:cs typeface="Times New Roman"/>
                        </a:rPr>
                        <a:t>(</a:t>
                      </a:r>
                      <a:r>
                        <a:rPr lang="en-US" sz="1400" kern="100" dirty="0" err="1">
                          <a:latin typeface="Times New Roman"/>
                          <a:ea typeface="宋体"/>
                          <a:cs typeface="Times New Roman"/>
                        </a:rPr>
                        <a:t>jz</a:t>
                      </a:r>
                      <a:r>
                        <a:rPr lang="zh-CN" sz="1400" kern="100" dirty="0">
                          <a:latin typeface="Times New Roman"/>
                          <a:ea typeface="宋体"/>
                          <a:cs typeface="Times New Roman"/>
                        </a:rPr>
                        <a:t>，</a:t>
                      </a:r>
                      <a:r>
                        <a:rPr lang="en-US" sz="1400" kern="100" dirty="0">
                          <a:latin typeface="Times New Roman"/>
                          <a:ea typeface="宋体"/>
                          <a:cs typeface="Times New Roman"/>
                        </a:rPr>
                        <a:t> </a:t>
                      </a:r>
                      <a:r>
                        <a:rPr lang="en-US" sz="1400" kern="100" dirty="0" err="1">
                          <a:latin typeface="Times New Roman"/>
                          <a:ea typeface="宋体"/>
                          <a:cs typeface="Times New Roman"/>
                        </a:rPr>
                        <a:t>i</a:t>
                      </a:r>
                      <a:r>
                        <a:rPr lang="zh-CN" sz="1400" kern="100" dirty="0">
                          <a:latin typeface="Times New Roman"/>
                          <a:ea typeface="宋体"/>
                          <a:cs typeface="Times New Roman"/>
                        </a:rPr>
                        <a:t>， ，</a:t>
                      </a:r>
                      <a:r>
                        <a:rPr lang="en-US" sz="1400" kern="100" dirty="0">
                          <a:latin typeface="Times New Roman"/>
                          <a:ea typeface="宋体"/>
                          <a:cs typeface="Times New Roman"/>
                        </a:rPr>
                        <a:t>17)</a:t>
                      </a:r>
                      <a:endParaRPr lang="zh-CN" sz="1400" kern="100" dirty="0">
                        <a:latin typeface="Times New Roman"/>
                        <a:ea typeface="宋体"/>
                        <a:cs typeface="Times New Roman"/>
                      </a:endParaRPr>
                    </a:p>
                    <a:p>
                      <a:pPr marL="245110" indent="-118745" algn="just">
                        <a:spcAft>
                          <a:spcPts val="0"/>
                        </a:spcAft>
                      </a:pPr>
                      <a:r>
                        <a:rPr lang="en-US" sz="1400" kern="100" dirty="0">
                          <a:latin typeface="Times New Roman"/>
                          <a:ea typeface="宋体"/>
                          <a:cs typeface="Times New Roman"/>
                        </a:rPr>
                        <a:t>(j</a:t>
                      </a:r>
                      <a:r>
                        <a:rPr lang="zh-CN" sz="1400" kern="100" dirty="0">
                          <a:latin typeface="Times New Roman"/>
                          <a:ea typeface="宋体"/>
                          <a:cs typeface="Times New Roman"/>
                        </a:rPr>
                        <a:t>， ， ，</a:t>
                      </a:r>
                      <a:r>
                        <a:rPr lang="en-US" sz="1400" kern="100" dirty="0">
                          <a:latin typeface="Times New Roman"/>
                          <a:ea typeface="宋体"/>
                          <a:cs typeface="Times New Roman"/>
                        </a:rPr>
                        <a:t> 12)</a:t>
                      </a:r>
                      <a:endParaRPr lang="zh-CN" sz="1400" kern="100" dirty="0">
                        <a:latin typeface="Times New Roman"/>
                        <a:ea typeface="宋体"/>
                        <a:cs typeface="Times New Roman"/>
                      </a:endParaRPr>
                    </a:p>
                    <a:p>
                      <a:pPr marL="245110" indent="-118745" algn="just">
                        <a:spcAft>
                          <a:spcPts val="0"/>
                        </a:spcAft>
                      </a:pPr>
                      <a:r>
                        <a:rPr lang="en-US" sz="1400" kern="100" dirty="0">
                          <a:latin typeface="Times New Roman"/>
                          <a:ea typeface="宋体"/>
                          <a:cs typeface="Times New Roman"/>
                        </a:rPr>
                        <a:t>(+</a:t>
                      </a:r>
                      <a:r>
                        <a:rPr lang="zh-CN" sz="1400" kern="100" dirty="0">
                          <a:latin typeface="Times New Roman"/>
                          <a:ea typeface="宋体"/>
                          <a:cs typeface="Times New Roman"/>
                        </a:rPr>
                        <a:t>，</a:t>
                      </a:r>
                      <a:r>
                        <a:rPr lang="en-US" sz="1400" kern="100" dirty="0" err="1">
                          <a:latin typeface="Times New Roman"/>
                          <a:ea typeface="宋体"/>
                          <a:cs typeface="Times New Roman"/>
                        </a:rPr>
                        <a:t>i</a:t>
                      </a:r>
                      <a:r>
                        <a:rPr lang="zh-CN" sz="1400" kern="100" dirty="0">
                          <a:latin typeface="Times New Roman"/>
                          <a:ea typeface="宋体"/>
                          <a:cs typeface="Times New Roman"/>
                        </a:rPr>
                        <a:t>，</a:t>
                      </a:r>
                      <a:r>
                        <a:rPr lang="en-US" sz="1400" kern="100" dirty="0">
                          <a:latin typeface="Times New Roman"/>
                          <a:ea typeface="宋体"/>
                          <a:cs typeface="Times New Roman"/>
                        </a:rPr>
                        <a:t>1</a:t>
                      </a:r>
                      <a:r>
                        <a:rPr lang="zh-CN" sz="1400" kern="100" dirty="0">
                          <a:latin typeface="Times New Roman"/>
                          <a:ea typeface="宋体"/>
                          <a:cs typeface="Times New Roman"/>
                        </a:rPr>
                        <a:t>，</a:t>
                      </a:r>
                      <a:r>
                        <a:rPr lang="en-US" sz="1400" kern="100" dirty="0">
                          <a:latin typeface="Times New Roman"/>
                          <a:ea typeface="宋体"/>
                          <a:cs typeface="Times New Roman"/>
                        </a:rPr>
                        <a:t>T5)</a:t>
                      </a:r>
                      <a:endParaRPr lang="zh-CN" sz="1400" kern="100" dirty="0">
                        <a:latin typeface="Times New Roman"/>
                        <a:ea typeface="宋体"/>
                        <a:cs typeface="Times New Roman"/>
                      </a:endParaRPr>
                    </a:p>
                    <a:p>
                      <a:pPr marL="245110" indent="-118745" algn="just">
                        <a:spcAft>
                          <a:spcPts val="0"/>
                        </a:spcAft>
                      </a:pPr>
                      <a:r>
                        <a:rPr lang="en-US" sz="1400" kern="100" dirty="0">
                          <a:latin typeface="Times New Roman"/>
                          <a:ea typeface="宋体"/>
                          <a:cs typeface="Times New Roman"/>
                        </a:rPr>
                        <a:t>(=</a:t>
                      </a:r>
                      <a:r>
                        <a:rPr lang="zh-CN" sz="1400" kern="100" dirty="0">
                          <a:latin typeface="Times New Roman"/>
                          <a:ea typeface="宋体"/>
                          <a:cs typeface="Times New Roman"/>
                        </a:rPr>
                        <a:t>，</a:t>
                      </a:r>
                      <a:r>
                        <a:rPr lang="en-US" sz="1400" kern="100" dirty="0">
                          <a:latin typeface="Times New Roman"/>
                          <a:ea typeface="宋体"/>
                          <a:cs typeface="Times New Roman"/>
                        </a:rPr>
                        <a:t>T5</a:t>
                      </a:r>
                      <a:r>
                        <a:rPr lang="zh-CN" sz="1400" kern="100" dirty="0">
                          <a:latin typeface="Times New Roman"/>
                          <a:ea typeface="宋体"/>
                          <a:cs typeface="Times New Roman"/>
                        </a:rPr>
                        <a:t>， ，</a:t>
                      </a:r>
                      <a:r>
                        <a:rPr lang="en-US" sz="1400" kern="100" dirty="0" err="1">
                          <a:latin typeface="Times New Roman"/>
                          <a:ea typeface="宋体"/>
                          <a:cs typeface="Times New Roman"/>
                        </a:rPr>
                        <a:t>i</a:t>
                      </a:r>
                      <a:r>
                        <a:rPr lang="en-US" sz="1400" kern="100" dirty="0">
                          <a:latin typeface="Times New Roman"/>
                          <a:ea typeface="宋体"/>
                          <a:cs typeface="Times New Roman"/>
                        </a:rPr>
                        <a:t>)</a:t>
                      </a:r>
                      <a:endParaRPr lang="zh-CN" sz="1400" kern="100" dirty="0">
                        <a:latin typeface="Times New Roman"/>
                        <a:ea typeface="宋体"/>
                        <a:cs typeface="Times New Roman"/>
                      </a:endParaRPr>
                    </a:p>
                    <a:p>
                      <a:pPr marL="245110" indent="-118745" algn="just">
                        <a:spcAft>
                          <a:spcPts val="0"/>
                        </a:spcAft>
                      </a:pPr>
                      <a:r>
                        <a:rPr lang="en-US" sz="1400" kern="100" dirty="0">
                          <a:latin typeface="Times New Roman"/>
                          <a:ea typeface="宋体"/>
                          <a:cs typeface="Times New Roman"/>
                        </a:rPr>
                        <a:t>(j</a:t>
                      </a:r>
                      <a:r>
                        <a:rPr lang="zh-CN" sz="1400" kern="100" dirty="0">
                          <a:latin typeface="Times New Roman"/>
                          <a:ea typeface="宋体"/>
                          <a:cs typeface="Times New Roman"/>
                        </a:rPr>
                        <a:t>， ， ，</a:t>
                      </a:r>
                      <a:r>
                        <a:rPr lang="en-US" sz="1400" kern="100" dirty="0">
                          <a:latin typeface="Times New Roman"/>
                          <a:ea typeface="宋体"/>
                          <a:cs typeface="Times New Roman"/>
                        </a:rPr>
                        <a:t>3) </a:t>
                      </a:r>
                      <a:endParaRPr lang="zh-CN" sz="1400" kern="100" dirty="0">
                        <a:latin typeface="Times New Roman"/>
                        <a:ea typeface="宋体"/>
                        <a:cs typeface="Times New Roman"/>
                      </a:endParaRPr>
                    </a:p>
                    <a:p>
                      <a:pPr marL="245110" indent="-118745" algn="just">
                        <a:spcAft>
                          <a:spcPts val="0"/>
                        </a:spcAft>
                      </a:pPr>
                      <a:r>
                        <a:rPr lang="en-US" sz="1400" kern="100" dirty="0">
                          <a:latin typeface="Times New Roman"/>
                          <a:ea typeface="宋体"/>
                          <a:cs typeface="Times New Roman"/>
                        </a:rPr>
                        <a:t>(j&gt;</a:t>
                      </a:r>
                      <a:r>
                        <a:rPr lang="zh-CN" sz="1400" kern="100" dirty="0">
                          <a:latin typeface="Times New Roman"/>
                          <a:ea typeface="宋体"/>
                          <a:cs typeface="Times New Roman"/>
                        </a:rPr>
                        <a:t>，</a:t>
                      </a:r>
                      <a:r>
                        <a:rPr lang="en-US" sz="1400" kern="100" dirty="0">
                          <a:latin typeface="Times New Roman"/>
                          <a:ea typeface="宋体"/>
                          <a:cs typeface="Times New Roman"/>
                        </a:rPr>
                        <a:t>h</a:t>
                      </a:r>
                      <a:r>
                        <a:rPr lang="zh-CN" sz="1400" kern="100" dirty="0">
                          <a:latin typeface="Times New Roman"/>
                          <a:ea typeface="宋体"/>
                          <a:cs typeface="Times New Roman"/>
                        </a:rPr>
                        <a:t>，</a:t>
                      </a:r>
                      <a:r>
                        <a:rPr lang="en-US" sz="1400" kern="100" dirty="0">
                          <a:latin typeface="Times New Roman"/>
                          <a:ea typeface="宋体"/>
                          <a:cs typeface="Times New Roman"/>
                        </a:rPr>
                        <a:t>g</a:t>
                      </a:r>
                      <a:r>
                        <a:rPr lang="zh-CN" sz="1400" kern="100" dirty="0">
                          <a:latin typeface="Times New Roman"/>
                          <a:ea typeface="宋体"/>
                          <a:cs typeface="Times New Roman"/>
                        </a:rPr>
                        <a:t>，</a:t>
                      </a:r>
                      <a:r>
                        <a:rPr lang="en-US" sz="1400" kern="100" dirty="0">
                          <a:latin typeface="Times New Roman"/>
                          <a:ea typeface="宋体"/>
                          <a:cs typeface="Times New Roman"/>
                        </a:rPr>
                        <a:t>14)</a:t>
                      </a:r>
                      <a:endParaRPr lang="zh-CN" sz="1400" kern="100" dirty="0">
                        <a:latin typeface="Times New Roman"/>
                        <a:ea typeface="宋体"/>
                        <a:cs typeface="Times New Roman"/>
                      </a:endParaRPr>
                    </a:p>
                    <a:p>
                      <a:pPr marL="245110" indent="-118745" algn="just">
                        <a:spcAft>
                          <a:spcPts val="0"/>
                        </a:spcAft>
                      </a:pPr>
                      <a:r>
                        <a:rPr lang="en-US" sz="1400" kern="100" dirty="0">
                          <a:latin typeface="Times New Roman"/>
                          <a:ea typeface="宋体"/>
                          <a:cs typeface="Times New Roman"/>
                        </a:rPr>
                        <a:t>(j</a:t>
                      </a:r>
                      <a:r>
                        <a:rPr lang="zh-CN" sz="1400" kern="100" dirty="0">
                          <a:latin typeface="Times New Roman"/>
                          <a:ea typeface="宋体"/>
                          <a:cs typeface="Times New Roman"/>
                        </a:rPr>
                        <a:t>， ， ，</a:t>
                      </a:r>
                      <a:r>
                        <a:rPr lang="en-US" sz="1400" kern="100" dirty="0">
                          <a:latin typeface="Times New Roman"/>
                          <a:ea typeface="宋体"/>
                          <a:cs typeface="Times New Roman"/>
                        </a:rPr>
                        <a:t>9)</a:t>
                      </a:r>
                      <a:endParaRPr lang="zh-CN" sz="1400" kern="100" dirty="0">
                        <a:latin typeface="Times New Roman"/>
                        <a:ea typeface="宋体"/>
                        <a:cs typeface="Times New Roman"/>
                      </a:endParaRPr>
                    </a:p>
                    <a:p>
                      <a:pPr marL="245110" indent="-118745" algn="just">
                        <a:spcAft>
                          <a:spcPts val="0"/>
                        </a:spcAft>
                      </a:pPr>
                      <a:r>
                        <a:rPr lang="en-US" sz="1400" kern="100" dirty="0">
                          <a:latin typeface="Times New Roman"/>
                          <a:ea typeface="宋体"/>
                          <a:cs typeface="Times New Roman"/>
                        </a:rPr>
                        <a:t>(+</a:t>
                      </a:r>
                      <a:r>
                        <a:rPr lang="zh-CN" sz="1400" kern="100" dirty="0">
                          <a:latin typeface="Times New Roman"/>
                          <a:ea typeface="宋体"/>
                          <a:cs typeface="Times New Roman"/>
                        </a:rPr>
                        <a:t>，</a:t>
                      </a:r>
                      <a:r>
                        <a:rPr lang="en-US" sz="1400" kern="100" dirty="0">
                          <a:latin typeface="Times New Roman"/>
                          <a:ea typeface="宋体"/>
                          <a:cs typeface="Times New Roman"/>
                        </a:rPr>
                        <a:t>p</a:t>
                      </a:r>
                      <a:r>
                        <a:rPr lang="zh-CN" sz="1400" kern="100" dirty="0">
                          <a:latin typeface="Times New Roman"/>
                          <a:ea typeface="宋体"/>
                          <a:cs typeface="Times New Roman"/>
                        </a:rPr>
                        <a:t>，</a:t>
                      </a:r>
                      <a:r>
                        <a:rPr lang="en-US" sz="1400" kern="100" dirty="0">
                          <a:latin typeface="Times New Roman"/>
                          <a:ea typeface="宋体"/>
                          <a:cs typeface="Times New Roman"/>
                        </a:rPr>
                        <a:t>1</a:t>
                      </a:r>
                      <a:r>
                        <a:rPr lang="zh-CN" sz="1400" kern="100" dirty="0">
                          <a:latin typeface="Times New Roman"/>
                          <a:ea typeface="宋体"/>
                          <a:cs typeface="Times New Roman"/>
                        </a:rPr>
                        <a:t>，</a:t>
                      </a:r>
                      <a:r>
                        <a:rPr lang="en-US" sz="1400" kern="100" dirty="0">
                          <a:latin typeface="Times New Roman"/>
                          <a:ea typeface="宋体"/>
                          <a:cs typeface="Times New Roman"/>
                        </a:rPr>
                        <a:t>T6)</a:t>
                      </a:r>
                      <a:endParaRPr lang="zh-CN" sz="1400" kern="100" dirty="0">
                        <a:latin typeface="Times New Roman"/>
                        <a:ea typeface="宋体"/>
                        <a:cs typeface="Times New Roman"/>
                      </a:endParaRPr>
                    </a:p>
                    <a:p>
                      <a:pPr marL="245110" indent="-118745" algn="just">
                        <a:spcAft>
                          <a:spcPts val="0"/>
                        </a:spcAft>
                      </a:pPr>
                      <a:r>
                        <a:rPr lang="en-US" sz="1400" kern="100" dirty="0">
                          <a:latin typeface="Times New Roman"/>
                          <a:ea typeface="宋体"/>
                          <a:cs typeface="Times New Roman"/>
                        </a:rPr>
                        <a:t>(=</a:t>
                      </a:r>
                      <a:r>
                        <a:rPr lang="zh-CN" sz="1400" kern="100" dirty="0">
                          <a:latin typeface="Times New Roman"/>
                          <a:ea typeface="宋体"/>
                          <a:cs typeface="Times New Roman"/>
                        </a:rPr>
                        <a:t>，</a:t>
                      </a:r>
                      <a:r>
                        <a:rPr lang="en-US" sz="1400" kern="100" dirty="0">
                          <a:latin typeface="Times New Roman"/>
                          <a:ea typeface="宋体"/>
                          <a:cs typeface="Times New Roman"/>
                        </a:rPr>
                        <a:t>T6</a:t>
                      </a:r>
                      <a:r>
                        <a:rPr lang="zh-CN" sz="1400" kern="100" dirty="0">
                          <a:latin typeface="Times New Roman"/>
                          <a:ea typeface="宋体"/>
                          <a:cs typeface="Times New Roman"/>
                        </a:rPr>
                        <a:t>， ，</a:t>
                      </a:r>
                      <a:r>
                        <a:rPr lang="en-US" sz="1400" kern="100" dirty="0">
                          <a:latin typeface="Times New Roman"/>
                          <a:ea typeface="宋体"/>
                          <a:cs typeface="Times New Roman"/>
                        </a:rPr>
                        <a:t>p)</a:t>
                      </a:r>
                      <a:endParaRPr lang="zh-CN" sz="1400" kern="100" dirty="0">
                        <a:latin typeface="Times New Roman"/>
                        <a:ea typeface="宋体"/>
                        <a:cs typeface="Times New Roman"/>
                      </a:endParaRPr>
                    </a:p>
                    <a:p>
                      <a:pPr marL="245110" indent="-118745" algn="just">
                        <a:spcAft>
                          <a:spcPts val="0"/>
                        </a:spcAft>
                      </a:pPr>
                      <a:r>
                        <a:rPr lang="en-US" sz="1400" kern="100" dirty="0">
                          <a:latin typeface="Times New Roman"/>
                          <a:ea typeface="宋体"/>
                          <a:cs typeface="Times New Roman"/>
                        </a:rPr>
                        <a:t>(j</a:t>
                      </a:r>
                      <a:r>
                        <a:rPr lang="zh-CN" sz="1400" kern="100" dirty="0">
                          <a:latin typeface="Times New Roman"/>
                          <a:ea typeface="宋体"/>
                          <a:cs typeface="Times New Roman"/>
                        </a:rPr>
                        <a:t>， ， ，</a:t>
                      </a:r>
                      <a:r>
                        <a:rPr lang="en-US" sz="1400" kern="100" dirty="0">
                          <a:latin typeface="Times New Roman"/>
                          <a:ea typeface="宋体"/>
                          <a:cs typeface="Times New Roman"/>
                        </a:rPr>
                        <a:t> 9)</a:t>
                      </a:r>
                      <a:endParaRPr lang="zh-CN" sz="1400" kern="100" dirty="0">
                        <a:latin typeface="Times New Roman"/>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680192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6">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6">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6">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6">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206851"/>
                                        </p:tgtEl>
                                        <p:attrNameLst>
                                          <p:attrName>style.visibility</p:attrName>
                                        </p:attrNameLst>
                                      </p:cBhvr>
                                      <p:to>
                                        <p:strVal val="visible"/>
                                      </p:to>
                                    </p:set>
                                    <p:anim calcmode="lin" valueType="num">
                                      <p:cBhvr additive="base">
                                        <p:cTn id="23" dur="500" fill="hold"/>
                                        <p:tgtEl>
                                          <p:spTgt spid="206851"/>
                                        </p:tgtEl>
                                        <p:attrNameLst>
                                          <p:attrName>ppt_x</p:attrName>
                                        </p:attrNameLst>
                                      </p:cBhvr>
                                      <p:tavLst>
                                        <p:tav tm="0">
                                          <p:val>
                                            <p:strVal val="#ppt_x"/>
                                          </p:val>
                                        </p:tav>
                                        <p:tav tm="100000">
                                          <p:val>
                                            <p:strVal val="#ppt_x"/>
                                          </p:val>
                                        </p:tav>
                                      </p:tavLst>
                                    </p:anim>
                                    <p:anim calcmode="lin" valueType="num">
                                      <p:cBhvr additive="base">
                                        <p:cTn id="24" dur="500" fill="hold"/>
                                        <p:tgtEl>
                                          <p:spTgt spid="206851"/>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build="p"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041258"/>
            <a:ext cx="7332457" cy="1446550"/>
          </a:xfrm>
          <a:prstGeom prst="rect">
            <a:avLst/>
          </a:prstGeom>
        </p:spPr>
        <p:txBody>
          <a:bodyPr wrap="non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、常见语句的语法制导翻译</a:t>
            </a:r>
            <a:endParaRPr lang="en-US" altLang="zh-CN" sz="4400" b="1" dirty="0">
              <a:solidFill>
                <a:srgbClr val="CC0099"/>
              </a:solidFill>
              <a:ea typeface="隶书" pitchFamily="49" charset="-122"/>
            </a:endParaRPr>
          </a:p>
          <a:p>
            <a:r>
              <a:rPr lang="en-US" altLang="zh-CN" sz="4400" b="1" dirty="0">
                <a:solidFill>
                  <a:srgbClr val="CC0099"/>
                </a:solidFill>
                <a:ea typeface="隶书" pitchFamily="49" charset="-122"/>
              </a:rPr>
              <a:t>    </a:t>
            </a:r>
            <a:r>
              <a:rPr lang="en-US" altLang="zh-CN" sz="3600" b="1" dirty="0">
                <a:solidFill>
                  <a:srgbClr val="CC0099"/>
                </a:solidFill>
                <a:ea typeface="隶书" pitchFamily="49" charset="-122"/>
              </a:rPr>
              <a:t>——</a:t>
            </a:r>
            <a:r>
              <a:rPr lang="zh-CN" altLang="en-US" sz="3600" b="1" dirty="0">
                <a:solidFill>
                  <a:srgbClr val="CC0099"/>
                </a:solidFill>
                <a:ea typeface="隶书" pitchFamily="49" charset="-122"/>
              </a:rPr>
              <a:t>函数定义语句的翻译</a:t>
            </a:r>
            <a:endParaRPr lang="zh-CN" altLang="en-US" sz="4400" b="1" dirty="0">
              <a:solidFill>
                <a:srgbClr val="CC0099"/>
              </a:solidFill>
              <a:ea typeface="隶书" pitchFamily="49" charset="-122"/>
            </a:endParaRPr>
          </a:p>
        </p:txBody>
      </p:sp>
    </p:spTree>
    <p:extLst>
      <p:ext uri="{BB962C8B-B14F-4D97-AF65-F5344CB8AC3E}">
        <p14:creationId xmlns:p14="http://schemas.microsoft.com/office/powerpoint/2010/main" val="419785401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a:xfrm>
            <a:off x="251520" y="189084"/>
            <a:ext cx="8229600" cy="857250"/>
          </a:xfrm>
        </p:spPr>
        <p:txBody>
          <a:bodyPr/>
          <a:lstStyle/>
          <a:p>
            <a:r>
              <a:rPr kumimoji="1" lang="zh-CN" altLang="zh-CN" sz="4800" b="1" dirty="0">
                <a:solidFill>
                  <a:srgbClr val="CC0099"/>
                </a:solidFill>
                <a:latin typeface="Times New Roman" pitchFamily="18" charset="0"/>
                <a:ea typeface="隶书" pitchFamily="49" charset="-122"/>
              </a:rPr>
              <a:t>函数定义的翻译</a:t>
            </a:r>
            <a:endParaRPr kumimoji="1" lang="zh-CN" altLang="en-US" sz="4800" b="1" dirty="0">
              <a:solidFill>
                <a:srgbClr val="CC0099"/>
              </a:solidFill>
              <a:latin typeface="Times New Roman" pitchFamily="18" charset="0"/>
              <a:ea typeface="隶书" pitchFamily="49" charset="-122"/>
            </a:endParaRPr>
          </a:p>
        </p:txBody>
      </p:sp>
      <p:sp>
        <p:nvSpPr>
          <p:cNvPr id="113667" name="矩形 3"/>
          <p:cNvSpPr>
            <a:spLocks noChangeArrowheads="1"/>
          </p:cNvSpPr>
          <p:nvPr/>
        </p:nvSpPr>
        <p:spPr bwMode="auto">
          <a:xfrm>
            <a:off x="486623" y="1275606"/>
            <a:ext cx="4392268" cy="707886"/>
          </a:xfrm>
          <a:prstGeom prst="rect">
            <a:avLst/>
          </a:prstGeom>
          <a:solidFill>
            <a:schemeClr val="bg1"/>
          </a:solidFill>
          <a:ln>
            <a:noFill/>
          </a:ln>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spcBef>
                <a:spcPct val="0"/>
              </a:spcBef>
              <a:buFontTx/>
              <a:buNone/>
            </a:pPr>
            <a:r>
              <a:rPr lang="zh-CN" altLang="zh-CN" sz="2000" b="1" dirty="0">
                <a:solidFill>
                  <a:schemeClr val="tx2"/>
                </a:solidFill>
                <a:latin typeface="宋体" panose="02010600030101010101" pitchFamily="2" charset="-122"/>
              </a:rPr>
              <a:t>函数定义</a:t>
            </a:r>
            <a:r>
              <a:rPr lang="zh-CN" altLang="en-US" sz="2000" dirty="0">
                <a:latin typeface="宋体" panose="02010600030101010101" pitchFamily="2" charset="-122"/>
              </a:rPr>
              <a:t>的含</a:t>
            </a:r>
            <a:r>
              <a:rPr lang="zh-CN" altLang="zh-CN" sz="2000" dirty="0">
                <a:latin typeface="宋体" panose="02010600030101010101" pitchFamily="2" charset="-122"/>
              </a:rPr>
              <a:t>义是要将函数名称和其后的复合语句中的代码对应起来</a:t>
            </a:r>
            <a:r>
              <a:rPr lang="zh-CN" altLang="en-US" sz="2000" dirty="0">
                <a:latin typeface="宋体" panose="02010600030101010101" pitchFamily="2" charset="-122"/>
              </a:rPr>
              <a:t>。</a:t>
            </a:r>
            <a:endParaRPr lang="en-US" altLang="zh-CN" sz="2000" dirty="0">
              <a:latin typeface="宋体" panose="02010600030101010101" pitchFamily="2" charset="-122"/>
            </a:endParaRPr>
          </a:p>
        </p:txBody>
      </p:sp>
      <p:sp>
        <p:nvSpPr>
          <p:cNvPr id="6" name="矩形 5"/>
          <p:cNvSpPr/>
          <p:nvPr/>
        </p:nvSpPr>
        <p:spPr>
          <a:xfrm>
            <a:off x="5183284" y="675441"/>
            <a:ext cx="3672408"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spcAft>
                <a:spcPts val="0"/>
              </a:spcAft>
            </a:pPr>
            <a:r>
              <a:rPr lang="pt-PT" altLang="zh-CN" kern="100" dirty="0"/>
              <a:t>int sum(int sum_x,int sum_y){</a:t>
            </a:r>
            <a:endParaRPr lang="zh-CN" altLang="zh-CN" kern="100" dirty="0"/>
          </a:p>
          <a:p>
            <a:pPr algn="just">
              <a:spcAft>
                <a:spcPts val="0"/>
              </a:spcAft>
            </a:pPr>
            <a:r>
              <a:rPr lang="pt-PT" altLang="zh-CN" kern="100" dirty="0"/>
              <a:t>    int result ;</a:t>
            </a:r>
            <a:endParaRPr lang="zh-CN" altLang="zh-CN" kern="100" dirty="0"/>
          </a:p>
          <a:p>
            <a:pPr algn="just">
              <a:spcAft>
                <a:spcPts val="0"/>
              </a:spcAft>
            </a:pPr>
            <a:r>
              <a:rPr lang="pt-PT" altLang="zh-CN" kern="100" dirty="0"/>
              <a:t>    result = sum_x + sum_y ;</a:t>
            </a:r>
            <a:endParaRPr lang="zh-CN" altLang="zh-CN" kern="100" dirty="0"/>
          </a:p>
          <a:p>
            <a:pPr algn="just">
              <a:spcAft>
                <a:spcPts val="0"/>
              </a:spcAft>
            </a:pPr>
            <a:r>
              <a:rPr lang="pt-PT" altLang="zh-CN" kern="100" dirty="0"/>
              <a:t>    return result ;</a:t>
            </a:r>
            <a:endParaRPr lang="zh-CN" altLang="zh-CN" kern="100" dirty="0"/>
          </a:p>
          <a:p>
            <a:pPr algn="just">
              <a:spcAft>
                <a:spcPts val="0"/>
              </a:spcAft>
            </a:pPr>
            <a:r>
              <a:rPr lang="pt-PT" altLang="zh-CN" kern="100" dirty="0"/>
              <a:t>}</a:t>
            </a:r>
            <a:endParaRPr lang="zh-CN" altLang="zh-CN" kern="100" dirty="0">
              <a:latin typeface="Times New Roman" panose="02020603050405020304" pitchFamily="18" charset="0"/>
              <a:ea typeface="宋体" panose="02010600030101010101" pitchFamily="2" charset="-122"/>
            </a:endParaRPr>
          </a:p>
        </p:txBody>
      </p:sp>
      <p:sp>
        <p:nvSpPr>
          <p:cNvPr id="4" name="矩形 3"/>
          <p:cNvSpPr/>
          <p:nvPr/>
        </p:nvSpPr>
        <p:spPr>
          <a:xfrm>
            <a:off x="629339" y="2552878"/>
            <a:ext cx="4106836" cy="1200329"/>
          </a:xfrm>
          <a:prstGeom prst="rect">
            <a:avLst/>
          </a:prstGeom>
          <a:solidFill>
            <a:srgbClr val="D0EBB3"/>
          </a:solidFill>
          <a:ln>
            <a:solidFill>
              <a:srgbClr val="92D050"/>
            </a:solidFill>
          </a:ln>
        </p:spPr>
        <p:txBody>
          <a:bodyPr wrap="square">
            <a:spAutoFit/>
          </a:bodyPr>
          <a:lstStyle/>
          <a:p>
            <a:r>
              <a:rPr lang="zh-CN" altLang="zh-CN" dirty="0"/>
              <a:t>（</a:t>
            </a:r>
            <a:r>
              <a:rPr lang="pt-PT" altLang="zh-CN" dirty="0"/>
              <a:t>1</a:t>
            </a:r>
            <a:r>
              <a:rPr lang="zh-CN" altLang="zh-CN" dirty="0"/>
              <a:t>）确定开始的四元式</a:t>
            </a:r>
            <a:endParaRPr lang="en-US" altLang="zh-CN" dirty="0"/>
          </a:p>
          <a:p>
            <a:r>
              <a:rPr lang="zh-CN" altLang="zh-CN" dirty="0"/>
              <a:t>（</a:t>
            </a:r>
            <a:r>
              <a:rPr lang="pt-PT" altLang="zh-CN" dirty="0"/>
              <a:t>2</a:t>
            </a:r>
            <a:r>
              <a:rPr lang="zh-CN" altLang="zh-CN" dirty="0"/>
              <a:t>）确定结束的四元式</a:t>
            </a:r>
            <a:endParaRPr lang="en-US" altLang="zh-CN" dirty="0"/>
          </a:p>
          <a:p>
            <a:r>
              <a:rPr lang="zh-CN" altLang="zh-CN" dirty="0"/>
              <a:t>（</a:t>
            </a:r>
            <a:r>
              <a:rPr lang="pt-PT" altLang="zh-CN" dirty="0"/>
              <a:t>3</a:t>
            </a:r>
            <a:r>
              <a:rPr lang="zh-CN" altLang="zh-CN" dirty="0"/>
              <a:t>）将形式参数作为局部变量放到符号表中。</a:t>
            </a:r>
            <a:endParaRPr lang="zh-CN" altLang="en-US" dirty="0"/>
          </a:p>
        </p:txBody>
      </p:sp>
      <p:sp>
        <p:nvSpPr>
          <p:cNvPr id="8" name="矩形 7"/>
          <p:cNvSpPr/>
          <p:nvPr/>
        </p:nvSpPr>
        <p:spPr>
          <a:xfrm>
            <a:off x="5992895" y="2552878"/>
            <a:ext cx="2225289" cy="400110"/>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en-US" altLang="zh-CN" sz="2000" dirty="0"/>
              <a:t>k  (sum</a:t>
            </a:r>
            <a:r>
              <a:rPr lang="zh-CN" altLang="zh-CN" sz="2000" dirty="0"/>
              <a:t>， ， ， </a:t>
            </a:r>
            <a:r>
              <a:rPr lang="en-US" altLang="zh-CN" sz="2000" dirty="0"/>
              <a:t>)</a:t>
            </a:r>
            <a:endParaRPr lang="zh-CN" altLang="en-US" sz="2000" dirty="0"/>
          </a:p>
        </p:txBody>
      </p:sp>
      <p:graphicFrame>
        <p:nvGraphicFramePr>
          <p:cNvPr id="9" name="表格 8"/>
          <p:cNvGraphicFramePr>
            <a:graphicFrameLocks noGrp="1"/>
          </p:cNvGraphicFramePr>
          <p:nvPr>
            <p:extLst>
              <p:ext uri="{D42A27DB-BD31-4B8C-83A1-F6EECF244321}">
                <p14:modId xmlns:p14="http://schemas.microsoft.com/office/powerpoint/2010/main" val="2325287193"/>
              </p:ext>
            </p:extLst>
          </p:nvPr>
        </p:nvGraphicFramePr>
        <p:xfrm>
          <a:off x="5414963" y="3579862"/>
          <a:ext cx="3729037" cy="1279923"/>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457200">
                <a:tc>
                  <a:txBody>
                    <a:bodyPr/>
                    <a:lstStyle/>
                    <a:p>
                      <a:pPr algn="ctr">
                        <a:spcAft>
                          <a:spcPts val="0"/>
                        </a:spcAft>
                      </a:pPr>
                      <a:r>
                        <a:rPr lang="zh-CN" sz="1500" kern="100" dirty="0">
                          <a:effectLst/>
                          <a:latin typeface="Times New Roman"/>
                          <a:ea typeface="宋体"/>
                        </a:rPr>
                        <a:t>入口</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altLang="en-US" sz="1500" kern="100" dirty="0">
                          <a:effectLst/>
                          <a:latin typeface="Times New Roman"/>
                          <a:ea typeface="宋体"/>
                        </a:rPr>
                        <a:t>变</a:t>
                      </a:r>
                      <a:r>
                        <a:rPr lang="zh-CN" sz="1500" kern="100" dirty="0">
                          <a:effectLst/>
                          <a:latin typeface="Times New Roman"/>
                          <a:ea typeface="宋体"/>
                        </a:rPr>
                        <a:t>量名</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altLang="en-US" sz="1500" kern="100" dirty="0">
                          <a:effectLst/>
                          <a:latin typeface="Times New Roman"/>
                          <a:ea typeface="宋体"/>
                        </a:rPr>
                        <a:t>变量</a:t>
                      </a:r>
                      <a:r>
                        <a:rPr lang="zh-CN" sz="1500" kern="100" dirty="0">
                          <a:effectLst/>
                          <a:latin typeface="Times New Roman"/>
                          <a:ea typeface="宋体"/>
                        </a:rPr>
                        <a:t>类型</a:t>
                      </a:r>
                      <a:r>
                        <a:rPr lang="fr-FR" sz="1500" kern="100" dirty="0">
                          <a:effectLst/>
                          <a:latin typeface="Times New Roman"/>
                          <a:ea typeface="宋体"/>
                        </a:rPr>
                        <a:t>(type)</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a:effectLst/>
                          <a:latin typeface="Times New Roman"/>
                          <a:ea typeface="宋体"/>
                        </a:rPr>
                        <a:t>值</a:t>
                      </a:r>
                      <a:r>
                        <a:rPr lang="fr-FR" sz="1500" kern="100">
                          <a:effectLst/>
                          <a:latin typeface="Times New Roman"/>
                          <a:ea typeface="宋体"/>
                        </a:rPr>
                        <a:t>(val)</a:t>
                      </a:r>
                      <a:endParaRPr lang="zh-CN" sz="1500" kern="10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0"/>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1"/>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2"/>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3"/>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1124977568"/>
              </p:ext>
            </p:extLst>
          </p:nvPr>
        </p:nvGraphicFramePr>
        <p:xfrm>
          <a:off x="5414963" y="4081488"/>
          <a:ext cx="3729037" cy="274241"/>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274241">
                <a:tc>
                  <a:txBody>
                    <a:bodyPr/>
                    <a:lstStyle/>
                    <a:p>
                      <a:pPr algn="ctr">
                        <a:spcAft>
                          <a:spcPts val="0"/>
                        </a:spcAft>
                      </a:pPr>
                      <a:r>
                        <a:rPr lang="en-US" sz="1500" kern="100" dirty="0">
                          <a:effectLst/>
                          <a:latin typeface="Times New Roman"/>
                          <a:ea typeface="宋体"/>
                        </a:rPr>
                        <a:t>1</a:t>
                      </a:r>
                      <a:r>
                        <a:rPr lang="fr-FR" sz="1500" kern="100" dirty="0">
                          <a:effectLst/>
                          <a:latin typeface="Times New Roman"/>
                          <a:ea typeface="宋体"/>
                        </a:rPr>
                        <a:t>1</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err="1">
                          <a:effectLst/>
                          <a:latin typeface="Times New Roman"/>
                          <a:ea typeface="宋体"/>
                        </a:rPr>
                        <a:t>sum_x</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err="1">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4187179671"/>
              </p:ext>
            </p:extLst>
          </p:nvPr>
        </p:nvGraphicFramePr>
        <p:xfrm>
          <a:off x="5414963" y="4369520"/>
          <a:ext cx="3729037" cy="274241"/>
        </p:xfrm>
        <a:graphic>
          <a:graphicData uri="http://schemas.openxmlformats.org/drawingml/2006/table">
            <a:tbl>
              <a:tblPr/>
              <a:tblGrid>
                <a:gridCol w="704424">
                  <a:extLst>
                    <a:ext uri="{9D8B030D-6E8A-4147-A177-3AD203B41FA5}">
                      <a16:colId xmlns:a16="http://schemas.microsoft.com/office/drawing/2014/main" val="20000"/>
                    </a:ext>
                  </a:extLst>
                </a:gridCol>
                <a:gridCol w="980524">
                  <a:extLst>
                    <a:ext uri="{9D8B030D-6E8A-4147-A177-3AD203B41FA5}">
                      <a16:colId xmlns:a16="http://schemas.microsoft.com/office/drawing/2014/main" val="20001"/>
                    </a:ext>
                  </a:extLst>
                </a:gridCol>
                <a:gridCol w="1094880">
                  <a:extLst>
                    <a:ext uri="{9D8B030D-6E8A-4147-A177-3AD203B41FA5}">
                      <a16:colId xmlns:a16="http://schemas.microsoft.com/office/drawing/2014/main" val="20002"/>
                    </a:ext>
                  </a:extLst>
                </a:gridCol>
                <a:gridCol w="949209">
                  <a:extLst>
                    <a:ext uri="{9D8B030D-6E8A-4147-A177-3AD203B41FA5}">
                      <a16:colId xmlns:a16="http://schemas.microsoft.com/office/drawing/2014/main" val="20003"/>
                    </a:ext>
                  </a:extLst>
                </a:gridCol>
              </a:tblGrid>
              <a:tr h="274241">
                <a:tc>
                  <a:txBody>
                    <a:bodyPr/>
                    <a:lstStyle/>
                    <a:p>
                      <a:pPr algn="ctr">
                        <a:spcAft>
                          <a:spcPts val="0"/>
                        </a:spcAft>
                      </a:pPr>
                      <a:r>
                        <a:rPr lang="fr-FR" sz="1500" kern="100" dirty="0">
                          <a:effectLst/>
                          <a:latin typeface="Times New Roman"/>
                          <a:ea typeface="宋体"/>
                        </a:rPr>
                        <a:t>12</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err="1">
                          <a:effectLst/>
                          <a:latin typeface="Times New Roman"/>
                          <a:ea typeface="宋体"/>
                        </a:rPr>
                        <a:t>sum_y</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3" name="矩形 12"/>
          <p:cNvSpPr/>
          <p:nvPr/>
        </p:nvSpPr>
        <p:spPr>
          <a:xfrm>
            <a:off x="2195736" y="4299942"/>
            <a:ext cx="1968809" cy="400110"/>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en-US" altLang="zh-CN" sz="2000" dirty="0"/>
              <a:t>t  (ret</a:t>
            </a:r>
            <a:r>
              <a:rPr lang="zh-CN" altLang="zh-CN" sz="2000" dirty="0"/>
              <a:t>， ， ， </a:t>
            </a:r>
            <a:r>
              <a:rPr lang="en-US" altLang="zh-CN" sz="2000" dirty="0"/>
              <a:t>)</a:t>
            </a:r>
            <a:endParaRPr lang="zh-CN" altLang="en-US" sz="2000" dirty="0"/>
          </a:p>
        </p:txBody>
      </p:sp>
    </p:spTree>
    <p:extLst>
      <p:ext uri="{BB962C8B-B14F-4D97-AF65-F5344CB8AC3E}">
        <p14:creationId xmlns:p14="http://schemas.microsoft.com/office/powerpoint/2010/main" val="2388546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3"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15811" y="3500303"/>
            <a:ext cx="4770784" cy="101566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defRPr/>
            </a:pPr>
            <a:r>
              <a:rPr lang="zh-CN" altLang="en-US" sz="20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2</a:t>
            </a:r>
            <a:r>
              <a:rPr lang="zh-CN" altLang="en-US" sz="2000" kern="100" dirty="0">
                <a:latin typeface="宋体" panose="02010600030101010101" pitchFamily="2" charset="-122"/>
                <a:ea typeface="宋体" panose="02010600030101010101" pitchFamily="2" charset="-122"/>
                <a:cs typeface="Times New Roman" panose="02020603050405020304" pitchFamily="18" charset="0"/>
              </a:rPr>
              <a:t>）</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函数定义中本身包含</a:t>
            </a:r>
            <a:r>
              <a:rPr lang="en-US" altLang="zh-CN" sz="2000" kern="100" dirty="0">
                <a:latin typeface="宋体" panose="02010600030101010101" pitchFamily="2" charset="-122"/>
                <a:ea typeface="宋体" panose="02010600030101010101" pitchFamily="2" charset="-122"/>
              </a:rPr>
              <a:t>return</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语句</a:t>
            </a:r>
            <a:r>
              <a:rPr lang="zh-CN" altLang="en-US" sz="2000" kern="1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000" kern="100" dirty="0">
              <a:latin typeface="宋体" panose="02010600030101010101" pitchFamily="2" charset="-122"/>
              <a:ea typeface="宋体" panose="02010600030101010101" pitchFamily="2" charset="-122"/>
              <a:cs typeface="Times New Roman" panose="02020603050405020304" pitchFamily="18" charset="0"/>
            </a:endParaRPr>
          </a:p>
          <a:p>
            <a:pPr>
              <a:defRPr/>
            </a:pPr>
            <a:r>
              <a:rPr lang="zh-CN" altLang="en-US" sz="2000" dirty="0">
                <a:latin typeface="Arial" pitchFamily="34" charset="0"/>
              </a:rPr>
              <a:t>        ①</a:t>
            </a:r>
            <a:r>
              <a:rPr lang="en-US" altLang="zh-CN" sz="2000" dirty="0">
                <a:latin typeface="Arial" pitchFamily="34" charset="0"/>
              </a:rPr>
              <a:t>return;</a:t>
            </a:r>
            <a:endParaRPr lang="zh-CN" altLang="zh-CN" sz="2000" dirty="0">
              <a:latin typeface="Arial" pitchFamily="34" charset="0"/>
            </a:endParaRPr>
          </a:p>
          <a:p>
            <a:pPr>
              <a:defRPr/>
            </a:pPr>
            <a:r>
              <a:rPr lang="en-US" altLang="zh-CN" sz="2000" dirty="0">
                <a:latin typeface="Arial" pitchFamily="34" charset="0"/>
              </a:rPr>
              <a:t>        </a:t>
            </a:r>
            <a:r>
              <a:rPr lang="zh-CN" altLang="en-US" sz="2000" dirty="0">
                <a:latin typeface="Arial" pitchFamily="34" charset="0"/>
              </a:rPr>
              <a:t>②</a:t>
            </a:r>
            <a:r>
              <a:rPr lang="en-US" altLang="zh-CN" sz="2000" dirty="0">
                <a:latin typeface="Arial" pitchFamily="34" charset="0"/>
              </a:rPr>
              <a:t>return </a:t>
            </a:r>
            <a:r>
              <a:rPr lang="en-US" altLang="zh-CN" sz="2000" dirty="0" err="1">
                <a:latin typeface="Arial" pitchFamily="34" charset="0"/>
              </a:rPr>
              <a:t>return_value</a:t>
            </a:r>
            <a:r>
              <a:rPr lang="en-US" altLang="zh-CN" sz="2000" dirty="0">
                <a:latin typeface="Arial" pitchFamily="34" charset="0"/>
              </a:rPr>
              <a:t>;</a:t>
            </a:r>
            <a:endParaRPr lang="zh-CN" altLang="en-US" sz="2000" b="1" dirty="0">
              <a:latin typeface="Arial" pitchFamily="34" charset="0"/>
            </a:endParaRPr>
          </a:p>
        </p:txBody>
      </p:sp>
      <p:sp>
        <p:nvSpPr>
          <p:cNvPr id="2" name="矩形 1"/>
          <p:cNvSpPr/>
          <p:nvPr/>
        </p:nvSpPr>
        <p:spPr>
          <a:xfrm>
            <a:off x="4837172" y="483518"/>
            <a:ext cx="3528392"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spcAft>
                <a:spcPts val="0"/>
              </a:spcAft>
            </a:pPr>
            <a:r>
              <a:rPr lang="pt-PT" altLang="zh-CN" kern="100" dirty="0"/>
              <a:t>int sum(int sum_x,int sum_y){</a:t>
            </a:r>
            <a:endParaRPr lang="zh-CN" altLang="zh-CN" kern="100" dirty="0"/>
          </a:p>
          <a:p>
            <a:pPr algn="just">
              <a:spcAft>
                <a:spcPts val="0"/>
              </a:spcAft>
            </a:pPr>
            <a:r>
              <a:rPr lang="pt-PT" altLang="zh-CN" kern="100" dirty="0"/>
              <a:t>    int result ;</a:t>
            </a:r>
            <a:endParaRPr lang="zh-CN" altLang="zh-CN" kern="100" dirty="0"/>
          </a:p>
          <a:p>
            <a:pPr algn="just">
              <a:spcAft>
                <a:spcPts val="0"/>
              </a:spcAft>
            </a:pPr>
            <a:r>
              <a:rPr lang="pt-PT" altLang="zh-CN" kern="100" dirty="0"/>
              <a:t>    result = sum_x + sum_y ;</a:t>
            </a:r>
            <a:endParaRPr lang="zh-CN" altLang="zh-CN" kern="100" dirty="0"/>
          </a:p>
          <a:p>
            <a:pPr algn="just">
              <a:spcAft>
                <a:spcPts val="0"/>
              </a:spcAft>
            </a:pPr>
            <a:r>
              <a:rPr lang="pt-PT" altLang="zh-CN" kern="100" dirty="0"/>
              <a:t>    return result ;</a:t>
            </a:r>
            <a:endParaRPr lang="zh-CN" altLang="zh-CN" kern="100" dirty="0"/>
          </a:p>
          <a:p>
            <a:pPr algn="just">
              <a:spcAft>
                <a:spcPts val="0"/>
              </a:spcAft>
            </a:pPr>
            <a:r>
              <a:rPr lang="pt-PT" altLang="zh-CN" kern="100" dirty="0"/>
              <a:t>}</a:t>
            </a:r>
            <a:endParaRPr lang="zh-CN" altLang="zh-CN" kern="100" dirty="0">
              <a:latin typeface="Times New Roman" panose="02020603050405020304" pitchFamily="18" charset="0"/>
              <a:ea typeface="宋体" panose="02010600030101010101" pitchFamily="2" charset="-122"/>
            </a:endParaRPr>
          </a:p>
        </p:txBody>
      </p:sp>
      <p:sp>
        <p:nvSpPr>
          <p:cNvPr id="3" name="矩形 2"/>
          <p:cNvSpPr/>
          <p:nvPr/>
        </p:nvSpPr>
        <p:spPr>
          <a:xfrm>
            <a:off x="387290" y="991349"/>
            <a:ext cx="3796726" cy="461665"/>
          </a:xfrm>
          <a:prstGeom prst="rect">
            <a:avLst/>
          </a:prstGeom>
        </p:spPr>
        <p:txBody>
          <a:bodyPr wrap="square">
            <a:spAutoFit/>
          </a:bodyPr>
          <a:lstStyle/>
          <a:p>
            <a:pPr>
              <a:spcBef>
                <a:spcPct val="0"/>
              </a:spcBef>
            </a:pPr>
            <a:r>
              <a:rPr lang="zh-CN" altLang="en-US" sz="2400" dirty="0">
                <a:latin typeface="宋体" panose="02010600030101010101" pitchFamily="2" charset="-122"/>
              </a:rPr>
              <a:t>函数返回</a:t>
            </a:r>
            <a:r>
              <a:rPr lang="zh-CN" altLang="en-US" sz="2400" dirty="0"/>
              <a:t>有两种情况：</a:t>
            </a:r>
            <a:endParaRPr lang="zh-CN" altLang="en-US" sz="2400" dirty="0">
              <a:latin typeface="宋体" panose="02010600030101010101" pitchFamily="2" charset="-122"/>
            </a:endParaRPr>
          </a:p>
        </p:txBody>
      </p:sp>
      <p:sp>
        <p:nvSpPr>
          <p:cNvPr id="7" name="矩形 6"/>
          <p:cNvSpPr/>
          <p:nvPr/>
        </p:nvSpPr>
        <p:spPr>
          <a:xfrm>
            <a:off x="415810" y="2432377"/>
            <a:ext cx="3364101" cy="707886"/>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spcBef>
                <a:spcPct val="0"/>
              </a:spcBef>
            </a:pPr>
            <a:r>
              <a:rPr lang="zh-CN" altLang="en-US" sz="2000" dirty="0"/>
              <a:t>（</a:t>
            </a:r>
            <a:r>
              <a:rPr lang="en-US" altLang="zh-CN" sz="2000" dirty="0"/>
              <a:t>1</a:t>
            </a:r>
            <a:r>
              <a:rPr lang="zh-CN" altLang="en-US" sz="2000" dirty="0"/>
              <a:t>）</a:t>
            </a:r>
            <a:r>
              <a:rPr lang="zh-CN" altLang="zh-CN" sz="2000" dirty="0"/>
              <a:t>一般在遇到函数定义中的复合语句结束时就返回</a:t>
            </a:r>
            <a:endParaRPr lang="zh-CN" altLang="en-US" sz="2000" dirty="0">
              <a:latin typeface="宋体" panose="02010600030101010101" pitchFamily="2" charset="-122"/>
            </a:endParaRPr>
          </a:p>
        </p:txBody>
      </p:sp>
      <p:sp>
        <p:nvSpPr>
          <p:cNvPr id="8" name="矩形 7"/>
          <p:cNvSpPr/>
          <p:nvPr/>
        </p:nvSpPr>
        <p:spPr>
          <a:xfrm>
            <a:off x="5973013" y="2581823"/>
            <a:ext cx="2055371" cy="400110"/>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zh-CN" altLang="zh-CN" sz="2000" dirty="0"/>
              <a:t>（</a:t>
            </a:r>
            <a:r>
              <a:rPr lang="pt-PT" altLang="zh-CN" sz="2000" dirty="0"/>
              <a:t>ret</a:t>
            </a:r>
            <a:r>
              <a:rPr lang="zh-CN" altLang="zh-CN" sz="2000" dirty="0"/>
              <a:t>， ， ， ）</a:t>
            </a:r>
            <a:endParaRPr lang="zh-CN" altLang="en-US" sz="2000" dirty="0"/>
          </a:p>
        </p:txBody>
      </p:sp>
      <p:sp>
        <p:nvSpPr>
          <p:cNvPr id="9" name="右箭头 8"/>
          <p:cNvSpPr/>
          <p:nvPr/>
        </p:nvSpPr>
        <p:spPr>
          <a:xfrm>
            <a:off x="3779911" y="2564199"/>
            <a:ext cx="2160242" cy="435357"/>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1" name="矩形 10"/>
          <p:cNvSpPr/>
          <p:nvPr/>
        </p:nvSpPr>
        <p:spPr>
          <a:xfrm>
            <a:off x="5777386" y="3500303"/>
            <a:ext cx="2055371" cy="400110"/>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zh-CN" altLang="zh-CN" sz="2000" dirty="0"/>
              <a:t>（</a:t>
            </a:r>
            <a:r>
              <a:rPr lang="pt-PT" altLang="zh-CN" sz="2000" dirty="0"/>
              <a:t>ret</a:t>
            </a:r>
            <a:r>
              <a:rPr lang="zh-CN" altLang="zh-CN" sz="2000" dirty="0"/>
              <a:t>， ， ， ）</a:t>
            </a:r>
            <a:endParaRPr lang="zh-CN" altLang="en-US" sz="2000" dirty="0"/>
          </a:p>
        </p:txBody>
      </p:sp>
      <p:sp>
        <p:nvSpPr>
          <p:cNvPr id="12" name="矩形 11"/>
          <p:cNvSpPr/>
          <p:nvPr/>
        </p:nvSpPr>
        <p:spPr>
          <a:xfrm>
            <a:off x="5785285" y="4115856"/>
            <a:ext cx="3251211" cy="400110"/>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en-US" altLang="zh-CN" sz="2000" dirty="0"/>
              <a:t>(</a:t>
            </a:r>
            <a:r>
              <a:rPr lang="pt-PT" altLang="zh-CN" sz="2000" dirty="0"/>
              <a:t>ret</a:t>
            </a:r>
            <a:r>
              <a:rPr lang="zh-CN" altLang="zh-CN" sz="2000" dirty="0"/>
              <a:t>， ， ，</a:t>
            </a:r>
            <a:r>
              <a:rPr lang="en-US" altLang="zh-CN" sz="2000" dirty="0" err="1"/>
              <a:t>return_value</a:t>
            </a:r>
            <a:r>
              <a:rPr lang="zh-CN" altLang="zh-CN" sz="2000" dirty="0"/>
              <a:t> </a:t>
            </a:r>
            <a:r>
              <a:rPr lang="en-US" altLang="zh-CN" sz="2000" dirty="0"/>
              <a:t>)</a:t>
            </a:r>
            <a:endParaRPr lang="zh-CN" altLang="en-US" sz="2000" dirty="0"/>
          </a:p>
        </p:txBody>
      </p:sp>
      <p:sp>
        <p:nvSpPr>
          <p:cNvPr id="13" name="右箭头 12"/>
          <p:cNvSpPr/>
          <p:nvPr/>
        </p:nvSpPr>
        <p:spPr>
          <a:xfrm>
            <a:off x="5186594" y="3501996"/>
            <a:ext cx="590791" cy="435357"/>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4" name="右箭头 13"/>
          <p:cNvSpPr/>
          <p:nvPr/>
        </p:nvSpPr>
        <p:spPr>
          <a:xfrm>
            <a:off x="5186593" y="4080609"/>
            <a:ext cx="590791" cy="435357"/>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4110533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down)">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1" grpId="0" animBg="1"/>
      <p:bldP spid="12" grpId="0" animBg="1"/>
      <p:bldP spid="13" grpId="0" animBg="1"/>
      <p:bldP spid="14"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
          <p:cNvSpPr>
            <a:spLocks noGrp="1"/>
          </p:cNvSpPr>
          <p:nvPr>
            <p:ph type="title"/>
          </p:nvPr>
        </p:nvSpPr>
        <p:spPr>
          <a:xfrm>
            <a:off x="47622" y="-3131"/>
            <a:ext cx="8229600" cy="492674"/>
          </a:xfrm>
        </p:spPr>
        <p:txBody>
          <a:bodyPr>
            <a:noAutofit/>
          </a:bodyPr>
          <a:lstStyle/>
          <a:p>
            <a:pPr eaLnBrk="1" hangingPunct="1"/>
            <a:r>
              <a:rPr kumimoji="1" lang="zh-CN" altLang="en-US" sz="3200" b="1" dirty="0">
                <a:solidFill>
                  <a:srgbClr val="CC0099"/>
                </a:solidFill>
                <a:latin typeface="Times New Roman" pitchFamily="18" charset="0"/>
                <a:ea typeface="隶书" pitchFamily="49" charset="-122"/>
              </a:rPr>
              <a:t>函数定义的文法</a:t>
            </a:r>
          </a:p>
        </p:txBody>
      </p:sp>
      <p:sp>
        <p:nvSpPr>
          <p:cNvPr id="156675" name="Rectangle 1"/>
          <p:cNvSpPr>
            <a:spLocks noChangeArrowheads="1"/>
          </p:cNvSpPr>
          <p:nvPr/>
        </p:nvSpPr>
        <p:spPr bwMode="auto">
          <a:xfrm>
            <a:off x="28575" y="606115"/>
            <a:ext cx="9144000" cy="2899512"/>
          </a:xfrm>
          <a:prstGeom prst="rect">
            <a:avLst/>
          </a:prstGeom>
          <a:ln/>
        </p:spPr>
        <p:style>
          <a:lnRef idx="2">
            <a:schemeClr val="accent2"/>
          </a:lnRef>
          <a:fillRef idx="1">
            <a:schemeClr val="lt1"/>
          </a:fillRef>
          <a:effectRef idx="0">
            <a:schemeClr val="accent2"/>
          </a:effectRef>
          <a:fontRef idx="minor">
            <a:schemeClr val="dk1"/>
          </a:fontRef>
        </p:style>
        <p:txBody>
          <a:bodyPr anchor="ctr">
            <a:spAutoFit/>
          </a:bodyPr>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14000"/>
              </a:lnSpc>
              <a:spcBef>
                <a:spcPct val="0"/>
              </a:spcBef>
              <a:buFontTx/>
              <a:buNone/>
              <a:defRPr/>
            </a:pPr>
            <a:r>
              <a:rPr lang="zh-CN" altLang="zh-CN" sz="1600" dirty="0">
                <a:latin typeface="宋体" pitchFamily="2" charset="-122"/>
                <a:cs typeface="Times New Roman" pitchFamily="18" charset="0"/>
              </a:rPr>
              <a:t>（</a:t>
            </a:r>
            <a:r>
              <a:rPr lang="en-US" altLang="zh-CN" sz="1600" dirty="0">
                <a:latin typeface="宋体" pitchFamily="2" charset="-122"/>
                <a:cs typeface="Times New Roman" pitchFamily="18" charset="0"/>
              </a:rPr>
              <a:t>1</a:t>
            </a:r>
            <a:r>
              <a:rPr lang="zh-CN" altLang="en-US" sz="1600" dirty="0">
                <a:latin typeface="宋体" pitchFamily="2" charset="-122"/>
                <a:cs typeface="Times New Roman" pitchFamily="18" charset="0"/>
              </a:rPr>
              <a:t>）</a:t>
            </a:r>
            <a:r>
              <a:rPr lang="en-US" altLang="zh-CN" sz="1600" dirty="0">
                <a:latin typeface="宋体" pitchFamily="2" charset="-122"/>
                <a:cs typeface="Times New Roman" pitchFamily="18" charset="0"/>
              </a:rPr>
              <a:t>&lt;</a:t>
            </a:r>
            <a:r>
              <a:rPr lang="zh-CN" altLang="en-US" sz="1600" dirty="0">
                <a:latin typeface="宋体" pitchFamily="2" charset="-122"/>
                <a:cs typeface="Times New Roman" pitchFamily="18" charset="0"/>
              </a:rPr>
              <a:t>函数定义</a:t>
            </a:r>
            <a:r>
              <a:rPr lang="en-US" altLang="zh-CN" sz="1600" dirty="0">
                <a:latin typeface="宋体" pitchFamily="2" charset="-122"/>
                <a:cs typeface="Times New Roman" pitchFamily="18" charset="0"/>
              </a:rPr>
              <a:t>&gt;→&lt;</a:t>
            </a:r>
            <a:r>
              <a:rPr lang="zh-CN" altLang="en-US" sz="1600" dirty="0">
                <a:latin typeface="宋体" pitchFamily="2" charset="-122"/>
                <a:cs typeface="Times New Roman" pitchFamily="18" charset="0"/>
              </a:rPr>
              <a:t>函数类型</a:t>
            </a:r>
            <a:r>
              <a:rPr lang="en-US" altLang="zh-CN" sz="1600" dirty="0">
                <a:latin typeface="宋体" pitchFamily="2" charset="-122"/>
                <a:cs typeface="Times New Roman" pitchFamily="18" charset="0"/>
              </a:rPr>
              <a:t>&gt; &lt;</a:t>
            </a:r>
            <a:r>
              <a:rPr lang="zh-CN" altLang="en-US" sz="1600" dirty="0">
                <a:latin typeface="宋体" pitchFamily="2" charset="-122"/>
                <a:cs typeface="Times New Roman" pitchFamily="18" charset="0"/>
              </a:rPr>
              <a:t>标识符</a:t>
            </a:r>
            <a:r>
              <a:rPr lang="en-US" altLang="zh-CN" sz="1600" dirty="0">
                <a:latin typeface="宋体" pitchFamily="2" charset="-122"/>
                <a:cs typeface="Times New Roman" pitchFamily="18" charset="0"/>
              </a:rPr>
              <a:t>&gt;(&lt;</a:t>
            </a:r>
            <a:r>
              <a:rPr lang="zh-CN" altLang="en-US" sz="1600" dirty="0">
                <a:latin typeface="宋体" pitchFamily="2" charset="-122"/>
                <a:cs typeface="Times New Roman" pitchFamily="18" charset="0"/>
              </a:rPr>
              <a:t>函数定义形参列表</a:t>
            </a:r>
            <a:r>
              <a:rPr lang="en-US" altLang="zh-CN" sz="1600" dirty="0">
                <a:latin typeface="宋体" pitchFamily="2" charset="-122"/>
                <a:cs typeface="Times New Roman" pitchFamily="18" charset="0"/>
              </a:rPr>
              <a:t>&gt;) &lt;</a:t>
            </a:r>
            <a:r>
              <a:rPr lang="zh-CN" altLang="en-US" sz="1600" dirty="0">
                <a:latin typeface="宋体" pitchFamily="2" charset="-122"/>
                <a:cs typeface="Times New Roman" pitchFamily="18" charset="0"/>
              </a:rPr>
              <a:t>复合语句</a:t>
            </a:r>
            <a:r>
              <a:rPr lang="en-US" altLang="zh-CN" sz="1600" dirty="0">
                <a:latin typeface="宋体" pitchFamily="2" charset="-122"/>
                <a:cs typeface="Times New Roman" pitchFamily="18" charset="0"/>
              </a:rPr>
              <a:t>&gt;</a:t>
            </a:r>
            <a:endParaRPr lang="en-US" altLang="zh-CN" sz="1600" dirty="0"/>
          </a:p>
          <a:p>
            <a:pPr>
              <a:lnSpc>
                <a:spcPct val="114000"/>
              </a:lnSpc>
              <a:spcBef>
                <a:spcPct val="0"/>
              </a:spcBef>
              <a:buFontTx/>
              <a:buNone/>
              <a:defRPr/>
            </a:pPr>
            <a:endParaRPr lang="en-US" altLang="zh-CN" sz="1600" dirty="0">
              <a:latin typeface="宋体" pitchFamily="2" charset="-122"/>
              <a:cs typeface="Times New Roman" pitchFamily="18" charset="0"/>
            </a:endParaRPr>
          </a:p>
          <a:p>
            <a:pPr>
              <a:lnSpc>
                <a:spcPct val="114000"/>
              </a:lnSpc>
              <a:spcBef>
                <a:spcPct val="0"/>
              </a:spcBef>
              <a:buFontTx/>
              <a:buNone/>
              <a:defRPr/>
            </a:pPr>
            <a:r>
              <a:rPr lang="zh-CN" altLang="it-IT" sz="1600" dirty="0">
                <a:latin typeface="宋体" pitchFamily="2" charset="-122"/>
                <a:cs typeface="Times New Roman" pitchFamily="18" charset="0"/>
              </a:rPr>
              <a:t>（</a:t>
            </a:r>
            <a:r>
              <a:rPr lang="en-US" altLang="zh-CN" sz="1600" dirty="0">
                <a:latin typeface="宋体" pitchFamily="2" charset="-122"/>
                <a:cs typeface="Times New Roman" pitchFamily="18" charset="0"/>
              </a:rPr>
              <a:t>2</a:t>
            </a:r>
            <a:r>
              <a:rPr lang="zh-CN" altLang="en-US" sz="1600" dirty="0">
                <a:latin typeface="宋体" pitchFamily="2" charset="-122"/>
                <a:cs typeface="Times New Roman" pitchFamily="18" charset="0"/>
              </a:rPr>
              <a:t>）</a:t>
            </a:r>
            <a:r>
              <a:rPr lang="en-US" altLang="zh-CN" sz="1600" dirty="0">
                <a:latin typeface="宋体" pitchFamily="2" charset="-122"/>
                <a:cs typeface="Times New Roman" pitchFamily="18" charset="0"/>
              </a:rPr>
              <a:t>&lt;</a:t>
            </a:r>
            <a:r>
              <a:rPr lang="zh-CN" altLang="en-US" sz="1600" dirty="0">
                <a:latin typeface="宋体" pitchFamily="2" charset="-122"/>
                <a:cs typeface="Times New Roman" pitchFamily="18" charset="0"/>
              </a:rPr>
              <a:t>函数定义形参列表</a:t>
            </a:r>
            <a:r>
              <a:rPr lang="en-US" altLang="zh-CN" sz="1600" dirty="0">
                <a:latin typeface="宋体" pitchFamily="2" charset="-122"/>
                <a:cs typeface="Times New Roman" pitchFamily="18" charset="0"/>
              </a:rPr>
              <a:t>&gt;→&lt;</a:t>
            </a:r>
            <a:r>
              <a:rPr lang="zh-CN" altLang="en-US" sz="1600" dirty="0">
                <a:latin typeface="宋体" pitchFamily="2" charset="-122"/>
                <a:cs typeface="Times New Roman" pitchFamily="18" charset="0"/>
              </a:rPr>
              <a:t>函数定义形参</a:t>
            </a:r>
            <a:r>
              <a:rPr lang="en-US" altLang="zh-CN" sz="1600" dirty="0">
                <a:latin typeface="宋体" pitchFamily="2" charset="-122"/>
                <a:cs typeface="Times New Roman" pitchFamily="18" charset="0"/>
              </a:rPr>
              <a:t>&gt;|</a:t>
            </a:r>
            <a:r>
              <a:rPr lang="en-US" altLang="zh-CN" sz="1600" dirty="0">
                <a:latin typeface="宋体" pitchFamily="2" charset="-122"/>
                <a:cs typeface="Times New Roman" pitchFamily="18" charset="0"/>
                <a:sym typeface="Symbol" pitchFamily="18" charset="2"/>
              </a:rPr>
              <a:t></a:t>
            </a:r>
          </a:p>
          <a:p>
            <a:pPr>
              <a:lnSpc>
                <a:spcPct val="114000"/>
              </a:lnSpc>
              <a:spcBef>
                <a:spcPct val="0"/>
              </a:spcBef>
              <a:buFontTx/>
              <a:buNone/>
              <a:defRPr/>
            </a:pPr>
            <a:endParaRPr lang="en-US" altLang="zh-CN" sz="1600" dirty="0"/>
          </a:p>
          <a:p>
            <a:pPr>
              <a:lnSpc>
                <a:spcPct val="114000"/>
              </a:lnSpc>
              <a:spcBef>
                <a:spcPct val="0"/>
              </a:spcBef>
              <a:buFontTx/>
              <a:buNone/>
              <a:defRPr/>
            </a:pPr>
            <a:r>
              <a:rPr lang="zh-CN" altLang="it-IT" sz="1600" dirty="0">
                <a:latin typeface="宋体" pitchFamily="2" charset="-122"/>
                <a:cs typeface="Times New Roman" pitchFamily="18" charset="0"/>
                <a:sym typeface="Symbol" pitchFamily="18" charset="2"/>
              </a:rPr>
              <a:t>（</a:t>
            </a:r>
            <a:r>
              <a:rPr lang="en-US" altLang="zh-CN" sz="1600" dirty="0">
                <a:latin typeface="宋体" pitchFamily="2" charset="-122"/>
                <a:cs typeface="Times New Roman" pitchFamily="18" charset="0"/>
                <a:sym typeface="Symbol" pitchFamily="18" charset="2"/>
              </a:rPr>
              <a:t>3</a:t>
            </a:r>
            <a:r>
              <a:rPr lang="zh-CN" altLang="en-US" sz="1600" dirty="0">
                <a:latin typeface="宋体" pitchFamily="2" charset="-122"/>
                <a:cs typeface="Times New Roman" pitchFamily="18" charset="0"/>
                <a:sym typeface="Symbol" pitchFamily="18" charset="2"/>
              </a:rPr>
              <a:t>）</a:t>
            </a:r>
            <a:r>
              <a:rPr lang="en-US" altLang="zh-CN" sz="1600" dirty="0">
                <a:latin typeface="宋体" pitchFamily="2" charset="-122"/>
                <a:cs typeface="Times New Roman" pitchFamily="18" charset="0"/>
                <a:sym typeface="Symbol" pitchFamily="18" charset="2"/>
              </a:rPr>
              <a:t>&lt;</a:t>
            </a:r>
            <a:r>
              <a:rPr lang="zh-CN" altLang="en-US" sz="1600" dirty="0">
                <a:latin typeface="宋体" pitchFamily="2" charset="-122"/>
                <a:cs typeface="Times New Roman" pitchFamily="18" charset="0"/>
                <a:sym typeface="Symbol" pitchFamily="18" charset="2"/>
              </a:rPr>
              <a:t>函数定义形参</a:t>
            </a:r>
            <a:r>
              <a:rPr lang="en-US" altLang="zh-CN" sz="1600" dirty="0">
                <a:latin typeface="宋体" pitchFamily="2" charset="-122"/>
                <a:cs typeface="Times New Roman" pitchFamily="18" charset="0"/>
                <a:sym typeface="Symbol" pitchFamily="18" charset="2"/>
              </a:rPr>
              <a:t>&gt;→&lt;</a:t>
            </a:r>
            <a:r>
              <a:rPr lang="zh-CN" altLang="en-US" sz="1600" dirty="0">
                <a:latin typeface="宋体" pitchFamily="2" charset="-122"/>
                <a:cs typeface="Times New Roman" pitchFamily="18" charset="0"/>
                <a:sym typeface="Symbol" pitchFamily="18" charset="2"/>
              </a:rPr>
              <a:t>变量类型</a:t>
            </a:r>
            <a:r>
              <a:rPr lang="en-US" altLang="zh-CN" sz="1600" dirty="0">
                <a:latin typeface="宋体" pitchFamily="2" charset="-122"/>
                <a:cs typeface="Times New Roman" pitchFamily="18" charset="0"/>
                <a:sym typeface="Symbol" pitchFamily="18" charset="2"/>
              </a:rPr>
              <a:t>&gt;&lt;</a:t>
            </a:r>
            <a:r>
              <a:rPr lang="zh-CN" altLang="en-US" sz="1600" dirty="0">
                <a:latin typeface="宋体" pitchFamily="2" charset="-122"/>
                <a:cs typeface="Times New Roman" pitchFamily="18" charset="0"/>
                <a:sym typeface="Symbol" pitchFamily="18" charset="2"/>
              </a:rPr>
              <a:t>标识符</a:t>
            </a:r>
            <a:r>
              <a:rPr lang="en-US" altLang="zh-CN" sz="1600" dirty="0">
                <a:latin typeface="宋体" pitchFamily="2" charset="-122"/>
                <a:cs typeface="Times New Roman" pitchFamily="18" charset="0"/>
                <a:sym typeface="Symbol" pitchFamily="18" charset="2"/>
              </a:rPr>
              <a:t>&gt;|&lt;</a:t>
            </a:r>
            <a:r>
              <a:rPr lang="zh-CN" altLang="en-US" sz="1600" dirty="0">
                <a:latin typeface="宋体" pitchFamily="2" charset="-122"/>
                <a:cs typeface="Times New Roman" pitchFamily="18" charset="0"/>
                <a:sym typeface="Symbol" pitchFamily="18" charset="2"/>
              </a:rPr>
              <a:t>变量类型</a:t>
            </a:r>
            <a:r>
              <a:rPr lang="en-US" altLang="zh-CN" sz="1600" dirty="0">
                <a:latin typeface="宋体" pitchFamily="2" charset="-122"/>
                <a:cs typeface="Times New Roman" pitchFamily="18" charset="0"/>
                <a:sym typeface="Symbol" pitchFamily="18" charset="2"/>
              </a:rPr>
              <a:t>&gt;&lt;</a:t>
            </a:r>
            <a:r>
              <a:rPr lang="zh-CN" altLang="en-US" sz="1600" dirty="0">
                <a:latin typeface="宋体" pitchFamily="2" charset="-122"/>
                <a:cs typeface="Times New Roman" pitchFamily="18" charset="0"/>
                <a:sym typeface="Symbol" pitchFamily="18" charset="2"/>
              </a:rPr>
              <a:t>标识符</a:t>
            </a:r>
            <a:r>
              <a:rPr lang="en-US" altLang="zh-CN" sz="1600" dirty="0">
                <a:latin typeface="宋体" pitchFamily="2" charset="-122"/>
                <a:cs typeface="Times New Roman" pitchFamily="18" charset="0"/>
                <a:sym typeface="Symbol" pitchFamily="18" charset="2"/>
              </a:rPr>
              <a:t>&gt;,&lt;</a:t>
            </a:r>
            <a:r>
              <a:rPr lang="zh-CN" altLang="en-US" sz="1600" dirty="0">
                <a:latin typeface="宋体" pitchFamily="2" charset="-122"/>
                <a:cs typeface="Times New Roman" pitchFamily="18" charset="0"/>
                <a:sym typeface="Symbol" pitchFamily="18" charset="2"/>
              </a:rPr>
              <a:t>函数定义形参</a:t>
            </a:r>
            <a:r>
              <a:rPr lang="en-US" altLang="zh-CN" sz="1600" dirty="0">
                <a:latin typeface="宋体" pitchFamily="2" charset="-122"/>
                <a:cs typeface="Times New Roman" pitchFamily="18" charset="0"/>
                <a:sym typeface="Symbol" pitchFamily="18" charset="2"/>
              </a:rPr>
              <a:t>&gt; </a:t>
            </a:r>
            <a:endParaRPr lang="en-US" altLang="zh-CN" sz="1600" dirty="0">
              <a:sym typeface="Symbol" pitchFamily="18" charset="2"/>
            </a:endParaRPr>
          </a:p>
          <a:p>
            <a:pPr>
              <a:lnSpc>
                <a:spcPct val="114000"/>
              </a:lnSpc>
              <a:spcBef>
                <a:spcPct val="0"/>
              </a:spcBef>
              <a:buFontTx/>
              <a:buNone/>
              <a:defRPr/>
            </a:pPr>
            <a:endParaRPr lang="it-IT" altLang="zh-CN" sz="1600" dirty="0">
              <a:sym typeface="Symbol" pitchFamily="18" charset="2"/>
            </a:endParaRPr>
          </a:p>
          <a:p>
            <a:pPr>
              <a:lnSpc>
                <a:spcPct val="114000"/>
              </a:lnSpc>
              <a:spcBef>
                <a:spcPct val="0"/>
              </a:spcBef>
              <a:buFontTx/>
              <a:buNone/>
              <a:defRPr/>
            </a:pPr>
            <a:endParaRPr lang="it-IT" altLang="zh-CN" sz="1600" dirty="0">
              <a:sym typeface="Symbol" pitchFamily="18" charset="2"/>
            </a:endParaRPr>
          </a:p>
          <a:p>
            <a:pPr>
              <a:lnSpc>
                <a:spcPct val="114000"/>
              </a:lnSpc>
              <a:spcBef>
                <a:spcPct val="0"/>
              </a:spcBef>
              <a:buFontTx/>
              <a:buNone/>
              <a:defRPr/>
            </a:pPr>
            <a:r>
              <a:rPr lang="zh-CN" altLang="it-IT" sz="1600" dirty="0">
                <a:latin typeface="宋体" pitchFamily="2" charset="-122"/>
                <a:cs typeface="Times New Roman" pitchFamily="18" charset="0"/>
                <a:sym typeface="Symbol" pitchFamily="18" charset="2"/>
              </a:rPr>
              <a:t>（</a:t>
            </a:r>
            <a:r>
              <a:rPr lang="it-IT" altLang="zh-CN" sz="1600" dirty="0">
                <a:latin typeface="宋体" pitchFamily="2" charset="-122"/>
                <a:cs typeface="Times New Roman" pitchFamily="18" charset="0"/>
                <a:sym typeface="Symbol" pitchFamily="18" charset="2"/>
              </a:rPr>
              <a:t>4</a:t>
            </a:r>
            <a:r>
              <a:rPr lang="zh-CN" altLang="it-IT" sz="1600" dirty="0">
                <a:latin typeface="宋体" pitchFamily="2" charset="-122"/>
                <a:cs typeface="Times New Roman" pitchFamily="18" charset="0"/>
                <a:sym typeface="Symbol" pitchFamily="18" charset="2"/>
              </a:rPr>
              <a:t>）</a:t>
            </a:r>
            <a:r>
              <a:rPr lang="it-IT" altLang="zh-CN" sz="1600" dirty="0">
                <a:latin typeface="宋体" pitchFamily="2" charset="-122"/>
                <a:cs typeface="Times New Roman" pitchFamily="18" charset="0"/>
                <a:sym typeface="Symbol" pitchFamily="18" charset="2"/>
              </a:rPr>
              <a:t>&lt;</a:t>
            </a:r>
            <a:r>
              <a:rPr lang="zh-CN" altLang="it-IT" sz="1600" dirty="0">
                <a:latin typeface="宋体" pitchFamily="2" charset="-122"/>
                <a:cs typeface="Times New Roman" pitchFamily="18" charset="0"/>
                <a:sym typeface="Symbol" pitchFamily="18" charset="2"/>
              </a:rPr>
              <a:t>变量类型</a:t>
            </a:r>
            <a:r>
              <a:rPr lang="it-IT" altLang="zh-CN" sz="1600" dirty="0">
                <a:latin typeface="宋体" pitchFamily="2" charset="-122"/>
                <a:cs typeface="Times New Roman" pitchFamily="18" charset="0"/>
                <a:sym typeface="Symbol" pitchFamily="18" charset="2"/>
              </a:rPr>
              <a:t>&gt;→int|float|char  </a:t>
            </a:r>
          </a:p>
          <a:p>
            <a:pPr>
              <a:lnSpc>
                <a:spcPct val="114000"/>
              </a:lnSpc>
              <a:spcBef>
                <a:spcPct val="0"/>
              </a:spcBef>
              <a:buFontTx/>
              <a:buNone/>
              <a:defRPr/>
            </a:pPr>
            <a:r>
              <a:rPr lang="it-IT" altLang="zh-CN" sz="1600" dirty="0">
                <a:latin typeface="宋体" pitchFamily="2" charset="-122"/>
                <a:cs typeface="Times New Roman" pitchFamily="18" charset="0"/>
                <a:sym typeface="Symbol" pitchFamily="18" charset="2"/>
              </a:rPr>
              <a:t>   </a:t>
            </a:r>
            <a:endParaRPr lang="it-IT" altLang="zh-CN" sz="1600" dirty="0">
              <a:sym typeface="Symbol" pitchFamily="18" charset="2"/>
            </a:endParaRPr>
          </a:p>
          <a:p>
            <a:pPr>
              <a:lnSpc>
                <a:spcPct val="114000"/>
              </a:lnSpc>
              <a:spcBef>
                <a:spcPct val="0"/>
              </a:spcBef>
              <a:buFontTx/>
              <a:buNone/>
              <a:defRPr/>
            </a:pPr>
            <a:r>
              <a:rPr lang="zh-CN" altLang="it-IT" sz="1600" dirty="0">
                <a:latin typeface="宋体" pitchFamily="2" charset="-122"/>
                <a:cs typeface="Times New Roman" pitchFamily="18" charset="0"/>
                <a:sym typeface="Symbol" pitchFamily="18" charset="2"/>
              </a:rPr>
              <a:t>（</a:t>
            </a:r>
            <a:r>
              <a:rPr lang="it-IT" altLang="zh-CN" sz="1600" dirty="0">
                <a:latin typeface="宋体" pitchFamily="2" charset="-122"/>
                <a:cs typeface="Times New Roman" pitchFamily="18" charset="0"/>
                <a:sym typeface="Symbol" pitchFamily="18" charset="2"/>
              </a:rPr>
              <a:t>5</a:t>
            </a:r>
            <a:r>
              <a:rPr lang="zh-CN" altLang="it-IT" sz="1600" dirty="0">
                <a:latin typeface="宋体" pitchFamily="2" charset="-122"/>
                <a:cs typeface="Times New Roman" pitchFamily="18" charset="0"/>
                <a:sym typeface="Symbol" pitchFamily="18" charset="2"/>
              </a:rPr>
              <a:t>）</a:t>
            </a:r>
            <a:r>
              <a:rPr lang="it-IT" altLang="zh-CN" sz="1600" dirty="0">
                <a:latin typeface="宋体" pitchFamily="2" charset="-122"/>
                <a:cs typeface="Times New Roman" pitchFamily="18" charset="0"/>
                <a:sym typeface="Symbol" pitchFamily="18" charset="2"/>
              </a:rPr>
              <a:t>&lt;</a:t>
            </a:r>
            <a:r>
              <a:rPr lang="zh-CN" altLang="it-IT" sz="1600" dirty="0">
                <a:latin typeface="宋体" pitchFamily="2" charset="-122"/>
                <a:cs typeface="Times New Roman" pitchFamily="18" charset="0"/>
                <a:sym typeface="Symbol" pitchFamily="18" charset="2"/>
              </a:rPr>
              <a:t>函数类型</a:t>
            </a:r>
            <a:r>
              <a:rPr lang="it-IT" altLang="zh-CN" sz="1600" dirty="0">
                <a:latin typeface="宋体" pitchFamily="2" charset="-122"/>
                <a:cs typeface="Times New Roman" pitchFamily="18" charset="0"/>
                <a:sym typeface="Symbol" pitchFamily="18" charset="2"/>
              </a:rPr>
              <a:t>&gt;→int|float|char|void     </a:t>
            </a:r>
          </a:p>
        </p:txBody>
      </p:sp>
      <p:sp>
        <p:nvSpPr>
          <p:cNvPr id="355330" name="Rectangle 2"/>
          <p:cNvSpPr>
            <a:spLocks noChangeArrowheads="1"/>
          </p:cNvSpPr>
          <p:nvPr/>
        </p:nvSpPr>
        <p:spPr bwMode="auto">
          <a:xfrm>
            <a:off x="28575" y="3646353"/>
            <a:ext cx="9223945" cy="1477328"/>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anchor="ctr">
            <a:spAutoFit/>
          </a:bodyPr>
          <a:lstStyle/>
          <a:p>
            <a:pPr indent="266700">
              <a:lnSpc>
                <a:spcPct val="100000"/>
              </a:lnSpc>
              <a:spcBef>
                <a:spcPct val="0"/>
              </a:spcBef>
              <a:buFontTx/>
              <a:buNone/>
              <a:defRPr/>
            </a:pPr>
            <a:r>
              <a:rPr lang="zh-CN" altLang="pt-PT" dirty="0">
                <a:latin typeface="宋体" panose="02010600030101010101" pitchFamily="2" charset="-122"/>
                <a:ea typeface="宋体" panose="02010600030101010101" pitchFamily="2" charset="-122"/>
                <a:cs typeface="Times New Roman" pitchFamily="18" charset="0"/>
              </a:rPr>
              <a:t>函数定义要求在读入函数名后必须产生</a:t>
            </a:r>
            <a:r>
              <a:rPr lang="zh-CN" altLang="en-US" dirty="0">
                <a:latin typeface="宋体" panose="02010600030101010101" pitchFamily="2" charset="-122"/>
                <a:ea typeface="宋体" panose="02010600030101010101" pitchFamily="2" charset="-122"/>
                <a:cs typeface="Times New Roman" pitchFamily="18" charset="0"/>
              </a:rPr>
              <a:t>函数名</a:t>
            </a:r>
            <a:r>
              <a:rPr lang="zh-CN" altLang="pt-PT" dirty="0">
                <a:latin typeface="宋体" panose="02010600030101010101" pitchFamily="2" charset="-122"/>
                <a:ea typeface="宋体" panose="02010600030101010101" pitchFamily="2" charset="-122"/>
                <a:cs typeface="Times New Roman" pitchFamily="18" charset="0"/>
              </a:rPr>
              <a:t>四元式，并记录各形式参数的变量类型</a:t>
            </a:r>
            <a:r>
              <a:rPr lang="zh-CN" altLang="en-US" dirty="0">
                <a:latin typeface="宋体" panose="02010600030101010101" pitchFamily="2" charset="-122"/>
                <a:ea typeface="宋体" panose="02010600030101010101" pitchFamily="2" charset="-122"/>
                <a:cs typeface="Times New Roman" pitchFamily="18" charset="0"/>
              </a:rPr>
              <a:t>。</a:t>
            </a:r>
            <a:r>
              <a:rPr lang="zh-CN" altLang="pt-PT" dirty="0">
                <a:latin typeface="宋体" panose="02010600030101010101" pitchFamily="2" charset="-122"/>
                <a:ea typeface="宋体" panose="02010600030101010101" pitchFamily="2" charset="-122"/>
                <a:cs typeface="Times New Roman" pitchFamily="18" charset="0"/>
              </a:rPr>
              <a:t>为了在合适的位置能够进行语义处理，需要对该文法的第一个产生式进行改写。</a:t>
            </a:r>
            <a:endParaRPr lang="zh-CN" altLang="pt-PT" dirty="0">
              <a:latin typeface="宋体" panose="02010600030101010101" pitchFamily="2" charset="-122"/>
              <a:ea typeface="宋体" panose="02010600030101010101" pitchFamily="2" charset="-122"/>
            </a:endParaRPr>
          </a:p>
          <a:p>
            <a:pPr indent="228600">
              <a:lnSpc>
                <a:spcPct val="100000"/>
              </a:lnSpc>
              <a:spcBef>
                <a:spcPct val="0"/>
              </a:spcBef>
              <a:buFontTx/>
              <a:buNone/>
              <a:defRPr/>
            </a:pPr>
            <a:r>
              <a:rPr lang="zh-CN" altLang="it-IT" b="1" dirty="0">
                <a:solidFill>
                  <a:srgbClr val="0000FF"/>
                </a:solidFill>
                <a:latin typeface="宋体" pitchFamily="2" charset="-122"/>
                <a:ea typeface="宋体" panose="02010600030101010101" pitchFamily="2" charset="-122"/>
                <a:cs typeface="Times New Roman" pitchFamily="18" charset="0"/>
              </a:rPr>
              <a:t>（</a:t>
            </a:r>
            <a:r>
              <a:rPr lang="it-IT" altLang="zh-CN" b="1" dirty="0">
                <a:solidFill>
                  <a:srgbClr val="0000FF"/>
                </a:solidFill>
                <a:latin typeface="宋体" pitchFamily="2" charset="-122"/>
                <a:ea typeface="宋体" panose="02010600030101010101" pitchFamily="2" charset="-122"/>
                <a:cs typeface="Times New Roman" pitchFamily="18" charset="0"/>
              </a:rPr>
              <a:t>1</a:t>
            </a:r>
            <a:r>
              <a:rPr lang="zh-CN" altLang="it-IT" b="1" dirty="0">
                <a:solidFill>
                  <a:srgbClr val="0000FF"/>
                </a:solidFill>
                <a:latin typeface="宋体" pitchFamily="2" charset="-122"/>
                <a:ea typeface="宋体" panose="02010600030101010101" pitchFamily="2" charset="-122"/>
                <a:cs typeface="Times New Roman" pitchFamily="18" charset="0"/>
              </a:rPr>
              <a:t>）</a:t>
            </a:r>
            <a:r>
              <a:rPr lang="it-IT" altLang="zh-CN" b="1" dirty="0">
                <a:solidFill>
                  <a:srgbClr val="0000FF"/>
                </a:solidFill>
                <a:latin typeface="宋体" pitchFamily="2" charset="-122"/>
                <a:ea typeface="宋体" panose="02010600030101010101" pitchFamily="2" charset="-122"/>
                <a:cs typeface="Times New Roman" pitchFamily="18" charset="0"/>
              </a:rPr>
              <a:t>&lt;</a:t>
            </a:r>
            <a:r>
              <a:rPr lang="pt-PT" altLang="zh-CN" b="1" dirty="0">
                <a:solidFill>
                  <a:srgbClr val="0000FF"/>
                </a:solidFill>
                <a:latin typeface="宋体" pitchFamily="2" charset="-122"/>
                <a:ea typeface="宋体" panose="02010600030101010101" pitchFamily="2" charset="-122"/>
                <a:cs typeface="Times New Roman" pitchFamily="18" charset="0"/>
              </a:rPr>
              <a:t>FA&gt; →&lt;FB&gt;&lt;CST&gt;</a:t>
            </a:r>
            <a:endParaRPr lang="pt-PT" altLang="zh-CN" b="1" dirty="0">
              <a:solidFill>
                <a:srgbClr val="0000FF"/>
              </a:solidFill>
              <a:latin typeface="宋体" panose="02010600030101010101" pitchFamily="2" charset="-122"/>
              <a:ea typeface="宋体" panose="02010600030101010101" pitchFamily="2" charset="-122"/>
            </a:endParaRPr>
          </a:p>
          <a:p>
            <a:pPr indent="228600">
              <a:lnSpc>
                <a:spcPct val="100000"/>
              </a:lnSpc>
              <a:spcBef>
                <a:spcPct val="0"/>
              </a:spcBef>
              <a:buFontTx/>
              <a:buNone/>
              <a:defRPr/>
            </a:pPr>
            <a:r>
              <a:rPr lang="zh-CN" altLang="pt-PT" b="1" dirty="0">
                <a:solidFill>
                  <a:srgbClr val="0000FF"/>
                </a:solidFill>
                <a:latin typeface="宋体" pitchFamily="2" charset="-122"/>
                <a:ea typeface="宋体" panose="02010600030101010101" pitchFamily="2" charset="-122"/>
                <a:cs typeface="Times New Roman" pitchFamily="18" charset="0"/>
              </a:rPr>
              <a:t>（</a:t>
            </a:r>
            <a:r>
              <a:rPr lang="pt-PT" altLang="zh-CN" b="1" dirty="0">
                <a:solidFill>
                  <a:srgbClr val="0000FF"/>
                </a:solidFill>
                <a:latin typeface="宋体" pitchFamily="2" charset="-122"/>
                <a:ea typeface="宋体" panose="02010600030101010101" pitchFamily="2" charset="-122"/>
                <a:cs typeface="Times New Roman" pitchFamily="18" charset="0"/>
              </a:rPr>
              <a:t>2</a:t>
            </a:r>
            <a:r>
              <a:rPr lang="zh-CN" altLang="pt-PT" b="1" dirty="0">
                <a:solidFill>
                  <a:srgbClr val="0000FF"/>
                </a:solidFill>
                <a:latin typeface="宋体" pitchFamily="2" charset="-122"/>
                <a:ea typeface="宋体" panose="02010600030101010101" pitchFamily="2" charset="-122"/>
                <a:cs typeface="Times New Roman" pitchFamily="18" charset="0"/>
              </a:rPr>
              <a:t>）</a:t>
            </a:r>
            <a:r>
              <a:rPr lang="it-IT" altLang="zh-CN" b="1" dirty="0">
                <a:solidFill>
                  <a:srgbClr val="0000FF"/>
                </a:solidFill>
                <a:latin typeface="宋体" pitchFamily="2" charset="-122"/>
                <a:ea typeface="宋体" panose="02010600030101010101" pitchFamily="2" charset="-122"/>
                <a:cs typeface="Times New Roman" pitchFamily="18" charset="0"/>
              </a:rPr>
              <a:t>&lt;</a:t>
            </a:r>
            <a:r>
              <a:rPr lang="pt-PT" altLang="zh-CN" b="1" dirty="0">
                <a:solidFill>
                  <a:srgbClr val="0000FF"/>
                </a:solidFill>
                <a:latin typeface="宋体" pitchFamily="2" charset="-122"/>
                <a:ea typeface="宋体" panose="02010600030101010101" pitchFamily="2" charset="-122"/>
                <a:cs typeface="Times New Roman" pitchFamily="18" charset="0"/>
              </a:rPr>
              <a:t>FB&gt; →&lt;FC&gt;(&lt;FAFPL&gt;)</a:t>
            </a:r>
            <a:endParaRPr lang="pt-PT" altLang="zh-CN" b="1" dirty="0">
              <a:solidFill>
                <a:srgbClr val="0000FF"/>
              </a:solidFill>
              <a:latin typeface="宋体" panose="02010600030101010101" pitchFamily="2" charset="-122"/>
              <a:ea typeface="宋体" panose="02010600030101010101" pitchFamily="2" charset="-122"/>
            </a:endParaRPr>
          </a:p>
          <a:p>
            <a:pPr indent="228600">
              <a:lnSpc>
                <a:spcPct val="100000"/>
              </a:lnSpc>
              <a:spcBef>
                <a:spcPct val="0"/>
              </a:spcBef>
              <a:buFontTx/>
              <a:buNone/>
              <a:defRPr/>
            </a:pPr>
            <a:r>
              <a:rPr lang="zh-CN" altLang="pt-PT" b="1" dirty="0">
                <a:solidFill>
                  <a:srgbClr val="0000FF"/>
                </a:solidFill>
                <a:latin typeface="宋体" pitchFamily="2" charset="-122"/>
                <a:ea typeface="宋体" panose="02010600030101010101" pitchFamily="2" charset="-122"/>
                <a:cs typeface="Times New Roman" pitchFamily="18" charset="0"/>
              </a:rPr>
              <a:t>（</a:t>
            </a:r>
            <a:r>
              <a:rPr lang="en-US" altLang="zh-CN" b="1" dirty="0">
                <a:solidFill>
                  <a:srgbClr val="0000FF"/>
                </a:solidFill>
                <a:latin typeface="宋体" pitchFamily="2" charset="-122"/>
                <a:ea typeface="宋体" panose="02010600030101010101" pitchFamily="2" charset="-122"/>
                <a:cs typeface="Times New Roman" pitchFamily="18" charset="0"/>
              </a:rPr>
              <a:t>3</a:t>
            </a:r>
            <a:r>
              <a:rPr lang="zh-CN" altLang="en-US" b="1" dirty="0">
                <a:solidFill>
                  <a:srgbClr val="0000FF"/>
                </a:solidFill>
                <a:latin typeface="宋体" pitchFamily="2" charset="-122"/>
                <a:ea typeface="宋体" panose="02010600030101010101" pitchFamily="2" charset="-122"/>
                <a:cs typeface="Times New Roman" pitchFamily="18" charset="0"/>
              </a:rPr>
              <a:t>）</a:t>
            </a:r>
            <a:r>
              <a:rPr lang="it-IT" altLang="zh-CN" b="1" dirty="0">
                <a:solidFill>
                  <a:srgbClr val="0000FF"/>
                </a:solidFill>
                <a:latin typeface="宋体" pitchFamily="2" charset="-122"/>
                <a:ea typeface="宋体" panose="02010600030101010101" pitchFamily="2" charset="-122"/>
                <a:cs typeface="Times New Roman" pitchFamily="18" charset="0"/>
              </a:rPr>
              <a:t>&lt;</a:t>
            </a:r>
            <a:r>
              <a:rPr lang="en-US" altLang="zh-CN" b="1" dirty="0">
                <a:solidFill>
                  <a:srgbClr val="0000FF"/>
                </a:solidFill>
                <a:latin typeface="宋体" pitchFamily="2" charset="-122"/>
                <a:ea typeface="宋体" panose="02010600030101010101" pitchFamily="2" charset="-122"/>
                <a:cs typeface="Times New Roman" pitchFamily="18" charset="0"/>
              </a:rPr>
              <a:t>FC&gt;→&lt;FT&gt; id</a:t>
            </a:r>
            <a:endParaRPr lang="en-US" altLang="zh-CN" b="1" dirty="0">
              <a:solidFill>
                <a:srgbClr val="0000FF"/>
              </a:solidFill>
              <a:latin typeface="宋体" panose="02010600030101010101" pitchFamily="2" charset="-122"/>
              <a:ea typeface="宋体" panose="02010600030101010101" pitchFamily="2" charset="-122"/>
            </a:endParaRPr>
          </a:p>
        </p:txBody>
      </p:sp>
      <p:sp>
        <p:nvSpPr>
          <p:cNvPr id="2" name="矩形 1"/>
          <p:cNvSpPr>
            <a:spLocks noChangeArrowheads="1"/>
          </p:cNvSpPr>
          <p:nvPr/>
        </p:nvSpPr>
        <p:spPr bwMode="auto">
          <a:xfrm>
            <a:off x="4427984" y="906274"/>
            <a:ext cx="4679505" cy="36933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r>
              <a:rPr lang="it-IT" altLang="zh-CN" sz="1800" dirty="0">
                <a:latin typeface="宋体" pitchFamily="2" charset="-122"/>
                <a:cs typeface="Times New Roman" pitchFamily="18" charset="0"/>
              </a:rPr>
              <a:t>【</a:t>
            </a:r>
            <a:r>
              <a:rPr lang="zh-CN" altLang="it-IT" sz="1800" dirty="0">
                <a:latin typeface="宋体" pitchFamily="2" charset="-122"/>
                <a:cs typeface="Times New Roman" pitchFamily="18" charset="0"/>
              </a:rPr>
              <a:t>（</a:t>
            </a:r>
            <a:r>
              <a:rPr lang="it-IT" altLang="zh-CN" sz="1800" dirty="0">
                <a:latin typeface="宋体" pitchFamily="2" charset="-122"/>
                <a:cs typeface="Times New Roman" pitchFamily="18" charset="0"/>
              </a:rPr>
              <a:t>1</a:t>
            </a:r>
            <a:r>
              <a:rPr lang="zh-CN" altLang="it-IT" sz="1800" dirty="0">
                <a:latin typeface="宋体" pitchFamily="2" charset="-122"/>
                <a:cs typeface="Times New Roman" pitchFamily="18" charset="0"/>
              </a:rPr>
              <a:t>）</a:t>
            </a:r>
            <a:r>
              <a:rPr lang="it-IT" altLang="zh-CN" sz="1800" dirty="0">
                <a:latin typeface="宋体" pitchFamily="2" charset="-122"/>
                <a:cs typeface="Times New Roman" pitchFamily="18" charset="0"/>
              </a:rPr>
              <a:t>&lt;</a:t>
            </a:r>
            <a:r>
              <a:rPr lang="en-US" altLang="zh-CN" sz="1800" dirty="0">
                <a:latin typeface="宋体" pitchFamily="2" charset="-122"/>
                <a:cs typeface="Times New Roman" pitchFamily="18" charset="0"/>
              </a:rPr>
              <a:t>FA&gt; →&lt;FT&gt; id (&lt;FAFPL&gt;)&lt;CST&gt;</a:t>
            </a:r>
            <a:r>
              <a:rPr lang="it-IT" altLang="zh-CN" sz="1800" dirty="0">
                <a:latin typeface="宋体" pitchFamily="2" charset="-122"/>
                <a:cs typeface="Times New Roman" pitchFamily="18" charset="0"/>
              </a:rPr>
              <a:t>】</a:t>
            </a:r>
            <a:endParaRPr lang="it-IT" altLang="zh-CN" sz="1800" dirty="0"/>
          </a:p>
        </p:txBody>
      </p:sp>
      <p:sp>
        <p:nvSpPr>
          <p:cNvPr id="3" name="矩形 2"/>
          <p:cNvSpPr>
            <a:spLocks noChangeArrowheads="1"/>
          </p:cNvSpPr>
          <p:nvPr/>
        </p:nvSpPr>
        <p:spPr bwMode="auto">
          <a:xfrm>
            <a:off x="5436096" y="1338322"/>
            <a:ext cx="3671393" cy="36933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r>
              <a:rPr lang="it-IT" altLang="zh-CN" sz="1800" dirty="0">
                <a:solidFill>
                  <a:srgbClr val="000000"/>
                </a:solidFill>
                <a:latin typeface="宋体" pitchFamily="2" charset="-122"/>
                <a:cs typeface="Times New Roman" pitchFamily="18" charset="0"/>
                <a:sym typeface="Symbol" pitchFamily="18" charset="2"/>
              </a:rPr>
              <a:t>【</a:t>
            </a:r>
            <a:r>
              <a:rPr lang="zh-CN" altLang="it-IT" sz="1800" dirty="0">
                <a:solidFill>
                  <a:srgbClr val="000000"/>
                </a:solidFill>
                <a:latin typeface="宋体" pitchFamily="2" charset="-122"/>
                <a:cs typeface="Times New Roman" pitchFamily="18" charset="0"/>
                <a:sym typeface="Symbol" pitchFamily="18" charset="2"/>
              </a:rPr>
              <a:t>（</a:t>
            </a:r>
            <a:r>
              <a:rPr lang="it-IT" altLang="zh-CN" sz="1800" dirty="0">
                <a:solidFill>
                  <a:srgbClr val="000000"/>
                </a:solidFill>
                <a:latin typeface="宋体" pitchFamily="2" charset="-122"/>
                <a:cs typeface="Times New Roman" pitchFamily="18" charset="0"/>
                <a:sym typeface="Symbol" pitchFamily="18" charset="2"/>
              </a:rPr>
              <a:t>4</a:t>
            </a:r>
            <a:r>
              <a:rPr lang="zh-CN" altLang="it-IT" sz="1800" dirty="0">
                <a:solidFill>
                  <a:srgbClr val="000000"/>
                </a:solidFill>
                <a:latin typeface="宋体" pitchFamily="2" charset="-122"/>
                <a:cs typeface="Times New Roman" pitchFamily="18" charset="0"/>
                <a:sym typeface="Symbol" pitchFamily="18" charset="2"/>
              </a:rPr>
              <a:t>）</a:t>
            </a:r>
            <a:r>
              <a:rPr lang="it-IT" altLang="zh-CN" sz="1800" dirty="0">
                <a:solidFill>
                  <a:srgbClr val="000000"/>
                </a:solidFill>
                <a:latin typeface="宋体" pitchFamily="2" charset="-122"/>
                <a:cs typeface="Times New Roman" pitchFamily="18" charset="0"/>
                <a:sym typeface="Symbol" pitchFamily="18" charset="2"/>
              </a:rPr>
              <a:t>&lt;</a:t>
            </a:r>
            <a:r>
              <a:rPr lang="en-US" altLang="zh-CN" sz="1800" dirty="0">
                <a:solidFill>
                  <a:srgbClr val="000000"/>
                </a:solidFill>
                <a:latin typeface="宋体" pitchFamily="2" charset="-122"/>
                <a:cs typeface="Times New Roman" pitchFamily="18" charset="0"/>
                <a:sym typeface="Symbol" pitchFamily="18" charset="2"/>
              </a:rPr>
              <a:t>FAFPL&gt; →&lt;FAFP&gt;|</a:t>
            </a:r>
            <a:r>
              <a:rPr lang="it-IT" altLang="zh-CN" sz="1800" dirty="0">
                <a:solidFill>
                  <a:srgbClr val="000000"/>
                </a:solidFill>
                <a:latin typeface="宋体" pitchFamily="2" charset="-122"/>
                <a:cs typeface="Times New Roman" pitchFamily="18" charset="0"/>
              </a:rPr>
              <a:t>】</a:t>
            </a:r>
            <a:endParaRPr lang="it-IT" altLang="zh-CN" sz="1800" dirty="0">
              <a:solidFill>
                <a:srgbClr val="000000"/>
              </a:solidFill>
              <a:sym typeface="Symbol" pitchFamily="18" charset="2"/>
            </a:endParaRPr>
          </a:p>
        </p:txBody>
      </p:sp>
      <p:sp>
        <p:nvSpPr>
          <p:cNvPr id="4" name="矩形 3"/>
          <p:cNvSpPr>
            <a:spLocks noChangeArrowheads="1"/>
          </p:cNvSpPr>
          <p:nvPr/>
        </p:nvSpPr>
        <p:spPr bwMode="auto">
          <a:xfrm>
            <a:off x="4932040" y="1997427"/>
            <a:ext cx="4173861" cy="646331"/>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r>
              <a:rPr lang="en-US" altLang="zh-CN" sz="1800" dirty="0">
                <a:latin typeface="宋体" pitchFamily="2" charset="-122"/>
                <a:cs typeface="Times New Roman" pitchFamily="18" charset="0"/>
                <a:sym typeface="Symbol" pitchFamily="18" charset="2"/>
              </a:rPr>
              <a:t>【</a:t>
            </a:r>
            <a:r>
              <a:rPr lang="zh-CN" altLang="it-IT" sz="1800" dirty="0">
                <a:latin typeface="宋体" pitchFamily="2" charset="-122"/>
                <a:cs typeface="Times New Roman" pitchFamily="18" charset="0"/>
                <a:sym typeface="Symbol" pitchFamily="18" charset="2"/>
              </a:rPr>
              <a:t>（</a:t>
            </a:r>
            <a:r>
              <a:rPr lang="it-IT" altLang="zh-CN" sz="1800" dirty="0">
                <a:latin typeface="宋体" pitchFamily="2" charset="-122"/>
                <a:cs typeface="Times New Roman" pitchFamily="18" charset="0"/>
                <a:sym typeface="Symbol" pitchFamily="18" charset="2"/>
              </a:rPr>
              <a:t>5</a:t>
            </a:r>
            <a:r>
              <a:rPr lang="zh-CN" altLang="it-IT" sz="1800" dirty="0">
                <a:latin typeface="宋体" pitchFamily="2" charset="-122"/>
                <a:cs typeface="Times New Roman" pitchFamily="18" charset="0"/>
                <a:sym typeface="Symbol" pitchFamily="18" charset="2"/>
              </a:rPr>
              <a:t>）</a:t>
            </a:r>
            <a:r>
              <a:rPr lang="it-IT" altLang="zh-CN" sz="1800" dirty="0">
                <a:latin typeface="宋体" pitchFamily="2" charset="-122"/>
                <a:cs typeface="Times New Roman" pitchFamily="18" charset="0"/>
                <a:sym typeface="Symbol" pitchFamily="18" charset="2"/>
              </a:rPr>
              <a:t>&lt;</a:t>
            </a:r>
            <a:r>
              <a:rPr lang="en-US" altLang="zh-CN" sz="1800" dirty="0">
                <a:latin typeface="宋体" pitchFamily="2" charset="-122"/>
                <a:cs typeface="Times New Roman" pitchFamily="18" charset="0"/>
                <a:sym typeface="Symbol" pitchFamily="18" charset="2"/>
              </a:rPr>
              <a:t>FAFP&gt; → &lt;VT&gt; id</a:t>
            </a:r>
            <a:endParaRPr lang="en-US" altLang="zh-CN" sz="1800" dirty="0">
              <a:sym typeface="Symbol" pitchFamily="18" charset="2"/>
            </a:endParaRPr>
          </a:p>
          <a:p>
            <a:pPr>
              <a:lnSpc>
                <a:spcPct val="100000"/>
              </a:lnSpc>
              <a:spcBef>
                <a:spcPct val="0"/>
              </a:spcBef>
              <a:buFontTx/>
              <a:buNone/>
            </a:pPr>
            <a:r>
              <a:rPr lang="zh-CN" altLang="it-IT" sz="1800" dirty="0">
                <a:latin typeface="宋体" pitchFamily="2" charset="-122"/>
                <a:cs typeface="Times New Roman" pitchFamily="18" charset="0"/>
                <a:sym typeface="Symbol" pitchFamily="18" charset="2"/>
              </a:rPr>
              <a:t>  （</a:t>
            </a:r>
            <a:r>
              <a:rPr lang="it-IT" altLang="zh-CN" sz="1800" dirty="0">
                <a:latin typeface="宋体" pitchFamily="2" charset="-122"/>
                <a:cs typeface="Times New Roman" pitchFamily="18" charset="0"/>
                <a:sym typeface="Symbol" pitchFamily="18" charset="2"/>
              </a:rPr>
              <a:t>6</a:t>
            </a:r>
            <a:r>
              <a:rPr lang="zh-CN" altLang="it-IT" sz="1800" dirty="0">
                <a:latin typeface="宋体" pitchFamily="2" charset="-122"/>
                <a:cs typeface="Times New Roman" pitchFamily="18" charset="0"/>
                <a:sym typeface="Symbol" pitchFamily="18" charset="2"/>
              </a:rPr>
              <a:t>）</a:t>
            </a:r>
            <a:r>
              <a:rPr lang="it-IT" altLang="zh-CN" sz="1800" dirty="0">
                <a:latin typeface="宋体" pitchFamily="2" charset="-122"/>
                <a:cs typeface="Times New Roman" pitchFamily="18" charset="0"/>
                <a:sym typeface="Symbol" pitchFamily="18" charset="2"/>
              </a:rPr>
              <a:t>&lt;</a:t>
            </a:r>
            <a:r>
              <a:rPr lang="en-US" altLang="zh-CN" sz="1800" dirty="0">
                <a:latin typeface="宋体" pitchFamily="2" charset="-122"/>
                <a:cs typeface="Times New Roman" pitchFamily="18" charset="0"/>
                <a:sym typeface="Symbol" pitchFamily="18" charset="2"/>
              </a:rPr>
              <a:t>FAFP&gt; → &lt;VT&gt; id,&lt;FAFP&gt;</a:t>
            </a:r>
            <a:r>
              <a:rPr lang="en-US" altLang="zh-CN" sz="1800" baseline="30000" dirty="0">
                <a:latin typeface="宋体" pitchFamily="2" charset="-122"/>
                <a:cs typeface="Times New Roman" pitchFamily="18" charset="0"/>
                <a:sym typeface="Symbol" pitchFamily="18" charset="2"/>
              </a:rPr>
              <a:t>(1)</a:t>
            </a:r>
            <a:r>
              <a:rPr lang="it-IT" altLang="zh-CN" sz="1800" dirty="0">
                <a:latin typeface="宋体" pitchFamily="2" charset="-122"/>
                <a:cs typeface="Times New Roman" pitchFamily="18" charset="0"/>
                <a:sym typeface="Symbol" pitchFamily="18" charset="2"/>
              </a:rPr>
              <a:t>】</a:t>
            </a:r>
            <a:endParaRPr lang="zh-CN" altLang="en-US" sz="1800" dirty="0"/>
          </a:p>
        </p:txBody>
      </p:sp>
      <p:sp>
        <p:nvSpPr>
          <p:cNvPr id="6" name="矩形 5"/>
          <p:cNvSpPr>
            <a:spLocks noChangeArrowheads="1"/>
          </p:cNvSpPr>
          <p:nvPr/>
        </p:nvSpPr>
        <p:spPr bwMode="auto">
          <a:xfrm>
            <a:off x="4932040" y="2706474"/>
            <a:ext cx="4175449" cy="36933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r>
              <a:rPr lang="it-IT" altLang="zh-CN" sz="1800" dirty="0">
                <a:latin typeface="宋体" pitchFamily="2" charset="-122"/>
                <a:cs typeface="Times New Roman" pitchFamily="18" charset="0"/>
                <a:sym typeface="Symbol" pitchFamily="18" charset="2"/>
              </a:rPr>
              <a:t>【</a:t>
            </a:r>
            <a:r>
              <a:rPr lang="zh-CN" altLang="it-IT" sz="1800" dirty="0">
                <a:latin typeface="宋体" pitchFamily="2" charset="-122"/>
                <a:cs typeface="Times New Roman" pitchFamily="18" charset="0"/>
                <a:sym typeface="Symbol" pitchFamily="18" charset="2"/>
              </a:rPr>
              <a:t>（</a:t>
            </a:r>
            <a:r>
              <a:rPr lang="it-IT" altLang="zh-CN" sz="1800" dirty="0">
                <a:latin typeface="宋体" pitchFamily="2" charset="-122"/>
                <a:cs typeface="Times New Roman" pitchFamily="18" charset="0"/>
                <a:sym typeface="Symbol" pitchFamily="18" charset="2"/>
              </a:rPr>
              <a:t>7</a:t>
            </a:r>
            <a:r>
              <a:rPr lang="zh-CN" altLang="it-IT" sz="1800" dirty="0">
                <a:latin typeface="宋体" pitchFamily="2" charset="-122"/>
                <a:cs typeface="Times New Roman" pitchFamily="18" charset="0"/>
                <a:sym typeface="Symbol" pitchFamily="18" charset="2"/>
              </a:rPr>
              <a:t>）</a:t>
            </a:r>
            <a:r>
              <a:rPr lang="it-IT" altLang="zh-CN" sz="1800" dirty="0">
                <a:latin typeface="宋体" pitchFamily="2" charset="-122"/>
                <a:cs typeface="Times New Roman" pitchFamily="18" charset="0"/>
                <a:sym typeface="Symbol" pitchFamily="18" charset="2"/>
              </a:rPr>
              <a:t>&lt;VT&gt; →int | float | char】</a:t>
            </a:r>
            <a:endParaRPr lang="zh-CN" altLang="en-US" sz="1800" dirty="0"/>
          </a:p>
        </p:txBody>
      </p:sp>
      <p:sp>
        <p:nvSpPr>
          <p:cNvPr id="7" name="矩形 6"/>
          <p:cNvSpPr>
            <a:spLocks noChangeArrowheads="1"/>
          </p:cNvSpPr>
          <p:nvPr/>
        </p:nvSpPr>
        <p:spPr bwMode="auto">
          <a:xfrm>
            <a:off x="4283968" y="3138522"/>
            <a:ext cx="4823521" cy="36933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r>
              <a:rPr lang="it-IT" altLang="zh-CN" sz="1800" dirty="0">
                <a:latin typeface="宋体" pitchFamily="2" charset="-122"/>
                <a:cs typeface="Times New Roman" pitchFamily="18" charset="0"/>
                <a:sym typeface="Symbol" pitchFamily="18" charset="2"/>
              </a:rPr>
              <a:t>【</a:t>
            </a:r>
            <a:r>
              <a:rPr lang="zh-CN" altLang="it-IT" sz="1800" dirty="0">
                <a:latin typeface="宋体" pitchFamily="2" charset="-122"/>
                <a:cs typeface="Times New Roman" pitchFamily="18" charset="0"/>
                <a:sym typeface="Symbol" pitchFamily="18" charset="2"/>
              </a:rPr>
              <a:t>（</a:t>
            </a:r>
            <a:r>
              <a:rPr lang="it-IT" altLang="zh-CN" sz="1800" dirty="0">
                <a:latin typeface="宋体" pitchFamily="2" charset="-122"/>
                <a:cs typeface="Times New Roman" pitchFamily="18" charset="0"/>
                <a:sym typeface="Symbol" pitchFamily="18" charset="2"/>
              </a:rPr>
              <a:t>8</a:t>
            </a:r>
            <a:r>
              <a:rPr lang="zh-CN" altLang="it-IT" sz="1800" dirty="0">
                <a:latin typeface="宋体" pitchFamily="2" charset="-122"/>
                <a:cs typeface="Times New Roman" pitchFamily="18" charset="0"/>
                <a:sym typeface="Symbol" pitchFamily="18" charset="2"/>
              </a:rPr>
              <a:t>）</a:t>
            </a:r>
            <a:r>
              <a:rPr lang="it-IT" altLang="zh-CN" sz="1800" dirty="0">
                <a:latin typeface="宋体" pitchFamily="2" charset="-122"/>
                <a:cs typeface="Times New Roman" pitchFamily="18" charset="0"/>
                <a:sym typeface="Symbol" pitchFamily="18" charset="2"/>
              </a:rPr>
              <a:t>&lt;VT&gt; →int | float | char | void】</a:t>
            </a:r>
          </a:p>
        </p:txBody>
      </p:sp>
    </p:spTree>
    <p:extLst>
      <p:ext uri="{BB962C8B-B14F-4D97-AF65-F5344CB8AC3E}">
        <p14:creationId xmlns:p14="http://schemas.microsoft.com/office/powerpoint/2010/main" val="40094304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53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0" grpId="0" animBg="1"/>
      <p:bldP spid="2" grpId="0" animBg="1"/>
      <p:bldP spid="3" grpId="0" animBg="1"/>
      <p:bldP spid="4" grpId="0" animBg="1"/>
      <p:bldP spid="6" grpId="0" animBg="1"/>
      <p:bldP spid="7"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720114977"/>
              </p:ext>
            </p:extLst>
          </p:nvPr>
        </p:nvGraphicFramePr>
        <p:xfrm>
          <a:off x="948759" y="958948"/>
          <a:ext cx="7668344" cy="4049314"/>
        </p:xfrm>
        <a:graphic>
          <a:graphicData uri="http://schemas.openxmlformats.org/drawingml/2006/table">
            <a:tbl>
              <a:tblPr/>
              <a:tblGrid>
                <a:gridCol w="649220">
                  <a:extLst>
                    <a:ext uri="{9D8B030D-6E8A-4147-A177-3AD203B41FA5}">
                      <a16:colId xmlns:a16="http://schemas.microsoft.com/office/drawing/2014/main" val="20000"/>
                    </a:ext>
                  </a:extLst>
                </a:gridCol>
                <a:gridCol w="2735156">
                  <a:extLst>
                    <a:ext uri="{9D8B030D-6E8A-4147-A177-3AD203B41FA5}">
                      <a16:colId xmlns:a16="http://schemas.microsoft.com/office/drawing/2014/main" val="20001"/>
                    </a:ext>
                  </a:extLst>
                </a:gridCol>
                <a:gridCol w="4283968">
                  <a:extLst>
                    <a:ext uri="{9D8B030D-6E8A-4147-A177-3AD203B41FA5}">
                      <a16:colId xmlns:a16="http://schemas.microsoft.com/office/drawing/2014/main" val="20002"/>
                    </a:ext>
                  </a:extLst>
                </a:gridCol>
              </a:tblGrid>
              <a:tr h="379918">
                <a:tc>
                  <a:txBody>
                    <a:bodyPr/>
                    <a:lstStyle/>
                    <a:p>
                      <a:pPr algn="l">
                        <a:lnSpc>
                          <a:spcPct val="95000"/>
                        </a:lnSpc>
                        <a:spcAft>
                          <a:spcPts val="0"/>
                        </a:spcAft>
                      </a:pPr>
                      <a:r>
                        <a:rPr lang="zh-CN" sz="1600" kern="100" dirty="0">
                          <a:latin typeface="Times New Roman"/>
                          <a:ea typeface="宋体"/>
                          <a:cs typeface="Times New Roman"/>
                        </a:rPr>
                        <a:t>编号</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spcAft>
                          <a:spcPts val="0"/>
                        </a:spcAft>
                      </a:pPr>
                      <a:r>
                        <a:rPr lang="zh-CN" sz="1600" kern="100" dirty="0">
                          <a:latin typeface="Times New Roman"/>
                          <a:ea typeface="宋体"/>
                          <a:cs typeface="Times New Roman"/>
                        </a:rPr>
                        <a:t>产生式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spcAft>
                          <a:spcPts val="0"/>
                        </a:spcAft>
                      </a:pPr>
                      <a:r>
                        <a:rPr lang="zh-CN" sz="1600" kern="100">
                          <a:latin typeface="Times New Roman"/>
                          <a:ea typeface="宋体"/>
                          <a:cs typeface="Times New Roman"/>
                        </a:rPr>
                        <a:t>语义规则</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9918">
                <a:tc>
                  <a:txBody>
                    <a:bodyPr/>
                    <a:lstStyle/>
                    <a:p>
                      <a:pPr algn="l">
                        <a:lnSpc>
                          <a:spcPct val="95000"/>
                        </a:lnSpc>
                        <a:spcAft>
                          <a:spcPts val="0"/>
                        </a:spcAft>
                      </a:pPr>
                      <a:r>
                        <a:rPr lang="zh-CN" sz="1600" kern="100" dirty="0">
                          <a:latin typeface="Times New Roman"/>
                          <a:ea typeface="宋体"/>
                          <a:cs typeface="Times New Roman"/>
                        </a:rPr>
                        <a:t>（</a:t>
                      </a:r>
                      <a:r>
                        <a:rPr lang="en-US" sz="1600" kern="100" dirty="0">
                          <a:latin typeface="Times New Roman"/>
                          <a:ea typeface="宋体"/>
                          <a:cs typeface="Times New Roman"/>
                        </a:rPr>
                        <a:t>8</a:t>
                      </a:r>
                      <a:r>
                        <a:rPr lang="zh-CN" sz="16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600" kern="100" dirty="0">
                          <a:latin typeface="宋体"/>
                          <a:ea typeface="宋体"/>
                          <a:cs typeface="Times New Roman"/>
                        </a:rPr>
                        <a:t>&lt;FT&gt; →int</a:t>
                      </a:r>
                      <a:endParaRPr lang="zh-CN" sz="16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en-US" sz="1600" kern="100" dirty="0">
                          <a:latin typeface="宋体"/>
                          <a:ea typeface="宋体"/>
                          <a:cs typeface="Times New Roman"/>
                        </a:rPr>
                        <a:t>{  &lt;FT&gt;.type = </a:t>
                      </a:r>
                      <a:r>
                        <a:rPr lang="en-US" sz="1600" kern="100" dirty="0" err="1">
                          <a:latin typeface="宋体"/>
                          <a:ea typeface="宋体"/>
                          <a:cs typeface="Times New Roman"/>
                        </a:rPr>
                        <a:t>int</a:t>
                      </a:r>
                      <a:r>
                        <a:rPr lang="en-US" sz="1600" kern="100" dirty="0">
                          <a:latin typeface="宋体"/>
                          <a:ea typeface="宋体"/>
                          <a:cs typeface="Times New Roman"/>
                        </a:rPr>
                        <a:t> }</a:t>
                      </a:r>
                      <a:endParaRPr lang="zh-CN" sz="16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9918">
                <a:tc>
                  <a:txBody>
                    <a:bodyPr/>
                    <a:lstStyle/>
                    <a:p>
                      <a:pPr algn="l">
                        <a:lnSpc>
                          <a:spcPct val="95000"/>
                        </a:lnSpc>
                        <a:spcAft>
                          <a:spcPts val="0"/>
                        </a:spcAft>
                      </a:pPr>
                      <a:r>
                        <a:rPr lang="zh-CN" sz="1600" kern="100" dirty="0">
                          <a:latin typeface="Times New Roman"/>
                          <a:ea typeface="宋体"/>
                          <a:cs typeface="Times New Roman"/>
                        </a:rPr>
                        <a:t>（</a:t>
                      </a:r>
                      <a:r>
                        <a:rPr lang="en-US" sz="1600" kern="100" dirty="0">
                          <a:latin typeface="Times New Roman"/>
                          <a:ea typeface="宋体"/>
                          <a:cs typeface="Times New Roman"/>
                        </a:rPr>
                        <a:t>7</a:t>
                      </a:r>
                      <a:r>
                        <a:rPr lang="zh-CN" sz="16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600" kern="100" dirty="0">
                          <a:latin typeface="宋体"/>
                          <a:ea typeface="宋体"/>
                          <a:cs typeface="Times New Roman"/>
                        </a:rPr>
                        <a:t>&lt;VT&gt; →int</a:t>
                      </a:r>
                      <a:endParaRPr lang="zh-CN" sz="16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en-US" sz="1600" kern="100" dirty="0">
                          <a:latin typeface="宋体"/>
                          <a:ea typeface="宋体"/>
                          <a:cs typeface="Times New Roman"/>
                        </a:rPr>
                        <a:t>{  &lt;VT&gt;.type = </a:t>
                      </a:r>
                      <a:r>
                        <a:rPr lang="en-US" sz="1600" kern="100" dirty="0" err="1">
                          <a:latin typeface="宋体"/>
                          <a:ea typeface="宋体"/>
                          <a:cs typeface="Times New Roman"/>
                        </a:rPr>
                        <a:t>int</a:t>
                      </a:r>
                      <a:r>
                        <a:rPr lang="en-US" sz="1600" kern="100" dirty="0">
                          <a:latin typeface="宋体"/>
                          <a:ea typeface="宋体"/>
                          <a:cs typeface="Times New Roman"/>
                        </a:rPr>
                        <a:t> }</a:t>
                      </a:r>
                      <a:endParaRPr lang="zh-CN" sz="16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88438">
                <a:tc>
                  <a:txBody>
                    <a:bodyPr/>
                    <a:lstStyle/>
                    <a:p>
                      <a:pPr algn="l">
                        <a:lnSpc>
                          <a:spcPct val="95000"/>
                        </a:lnSpc>
                        <a:spcAft>
                          <a:spcPts val="0"/>
                        </a:spcAft>
                      </a:pPr>
                      <a:r>
                        <a:rPr lang="zh-CN" sz="1600" kern="100" dirty="0">
                          <a:latin typeface="Times New Roman"/>
                          <a:ea typeface="宋体"/>
                          <a:cs typeface="Times New Roman"/>
                        </a:rPr>
                        <a:t>（</a:t>
                      </a:r>
                      <a:r>
                        <a:rPr lang="en-US" sz="1600" kern="100" dirty="0">
                          <a:latin typeface="Times New Roman"/>
                          <a:ea typeface="宋体"/>
                          <a:cs typeface="Times New Roman"/>
                        </a:rPr>
                        <a:t>6</a:t>
                      </a:r>
                      <a:r>
                        <a:rPr lang="zh-CN" sz="16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600" kern="100" dirty="0">
                          <a:latin typeface="宋体"/>
                          <a:ea typeface="宋体"/>
                          <a:cs typeface="Times New Roman"/>
                        </a:rPr>
                        <a:t>&lt;</a:t>
                      </a:r>
                      <a:r>
                        <a:rPr lang="en-US" sz="1600" kern="100" dirty="0">
                          <a:latin typeface="宋体"/>
                          <a:ea typeface="宋体"/>
                          <a:cs typeface="Times New Roman"/>
                        </a:rPr>
                        <a:t>FAFP&gt; →&lt;VT&gt; id,&lt;FAFP&gt;</a:t>
                      </a:r>
                      <a:r>
                        <a:rPr lang="en-US" sz="1600" kern="100" baseline="30000" dirty="0">
                          <a:latin typeface="宋体"/>
                          <a:ea typeface="宋体"/>
                          <a:cs typeface="Times New Roman"/>
                        </a:rPr>
                        <a:t>(1)</a:t>
                      </a:r>
                      <a:endParaRPr lang="zh-CN" sz="16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95000"/>
                        </a:lnSpc>
                        <a:spcBef>
                          <a:spcPts val="0"/>
                        </a:spcBef>
                        <a:spcAft>
                          <a:spcPts val="0"/>
                        </a:spcAft>
                        <a:buClrTx/>
                        <a:buSzTx/>
                        <a:buFontTx/>
                        <a:buNone/>
                        <a:tabLst/>
                        <a:defRPr/>
                      </a:pPr>
                      <a:r>
                        <a:rPr lang="en-US" sz="1600" kern="100" dirty="0">
                          <a:latin typeface="宋体"/>
                          <a:ea typeface="宋体"/>
                          <a:cs typeface="Times New Roman"/>
                        </a:rPr>
                        <a:t>{ </a:t>
                      </a:r>
                      <a:r>
                        <a:rPr lang="en-US" sz="1600" kern="100" dirty="0" err="1">
                          <a:latin typeface="宋体"/>
                          <a:ea typeface="宋体"/>
                          <a:cs typeface="Times New Roman"/>
                        </a:rPr>
                        <a:t>InsertVarible</a:t>
                      </a:r>
                      <a:r>
                        <a:rPr lang="en-US" sz="1600" kern="100" dirty="0">
                          <a:latin typeface="宋体"/>
                          <a:ea typeface="宋体"/>
                          <a:cs typeface="Times New Roman"/>
                        </a:rPr>
                        <a:t>(entry(id).name)</a:t>
                      </a:r>
                      <a:r>
                        <a:rPr lang="en-US" altLang="zh-CN" sz="1600" kern="100" dirty="0">
                          <a:latin typeface="宋体"/>
                          <a:ea typeface="+mn-ea"/>
                          <a:cs typeface="Times New Roman"/>
                        </a:rPr>
                        <a:t> //</a:t>
                      </a:r>
                      <a:r>
                        <a:rPr lang="zh-CN" altLang="zh-CN" sz="1600" kern="100" dirty="0">
                          <a:latin typeface="Times New Roman"/>
                          <a:ea typeface="+mn-ea"/>
                          <a:cs typeface="Times New Roman"/>
                        </a:rPr>
                        <a:t>将形参插入符号表中</a:t>
                      </a:r>
                      <a:endParaRPr lang="zh-CN" sz="1600" kern="100" dirty="0">
                        <a:latin typeface="Times New Roman"/>
                        <a:ea typeface="宋体"/>
                        <a:cs typeface="Times New Roman"/>
                      </a:endParaRPr>
                    </a:p>
                    <a:p>
                      <a:pPr indent="171450" algn="l">
                        <a:lnSpc>
                          <a:spcPct val="95000"/>
                        </a:lnSpc>
                        <a:spcAft>
                          <a:spcPts val="0"/>
                        </a:spcAft>
                      </a:pPr>
                      <a:r>
                        <a:rPr lang="en-US" sz="1600" kern="100" dirty="0">
                          <a:latin typeface="宋体"/>
                          <a:ea typeface="宋体"/>
                          <a:cs typeface="Times New Roman"/>
                        </a:rPr>
                        <a:t>entry(id).type = &lt;VT&gt;.type }</a:t>
                      </a:r>
                      <a:endParaRPr lang="zh-CN" sz="16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4056">
                <a:tc>
                  <a:txBody>
                    <a:bodyPr/>
                    <a:lstStyle/>
                    <a:p>
                      <a:pPr algn="l">
                        <a:lnSpc>
                          <a:spcPct val="95000"/>
                        </a:lnSpc>
                        <a:spcAft>
                          <a:spcPts val="0"/>
                        </a:spcAft>
                      </a:pPr>
                      <a:r>
                        <a:rPr lang="zh-CN" sz="1600" kern="100" dirty="0">
                          <a:latin typeface="Times New Roman"/>
                          <a:ea typeface="宋体"/>
                          <a:cs typeface="Times New Roman"/>
                        </a:rPr>
                        <a:t>（</a:t>
                      </a:r>
                      <a:r>
                        <a:rPr lang="en-US" sz="1600" kern="100" dirty="0">
                          <a:latin typeface="Times New Roman"/>
                          <a:ea typeface="宋体"/>
                          <a:cs typeface="Times New Roman"/>
                        </a:rPr>
                        <a:t>5</a:t>
                      </a:r>
                      <a:r>
                        <a:rPr lang="zh-CN" sz="16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600" kern="100" dirty="0">
                          <a:latin typeface="宋体"/>
                          <a:ea typeface="宋体"/>
                          <a:cs typeface="Times New Roman"/>
                        </a:rPr>
                        <a:t>&lt;</a:t>
                      </a:r>
                      <a:r>
                        <a:rPr lang="en-US" sz="1600" kern="100" dirty="0">
                          <a:latin typeface="宋体"/>
                          <a:ea typeface="宋体"/>
                          <a:cs typeface="Times New Roman"/>
                        </a:rPr>
                        <a:t>FAFP&gt; →&lt;VT&gt; id</a:t>
                      </a:r>
                      <a:endParaRPr lang="zh-CN" sz="16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en-US" altLang="zh-CN" sz="1600" kern="100" dirty="0">
                          <a:latin typeface="宋体"/>
                          <a:ea typeface="宋体"/>
                          <a:cs typeface="Times New Roman"/>
                        </a:rPr>
                        <a:t>{ </a:t>
                      </a:r>
                      <a:r>
                        <a:rPr lang="en-US" sz="1600" kern="100" dirty="0" err="1">
                          <a:latin typeface="宋体"/>
                          <a:ea typeface="宋体"/>
                          <a:cs typeface="Times New Roman"/>
                        </a:rPr>
                        <a:t>InsertVarible</a:t>
                      </a:r>
                      <a:r>
                        <a:rPr lang="en-US" sz="1600" kern="100" dirty="0">
                          <a:latin typeface="宋体"/>
                          <a:ea typeface="宋体"/>
                          <a:cs typeface="Times New Roman"/>
                        </a:rPr>
                        <a:t>(</a:t>
                      </a:r>
                      <a:r>
                        <a:rPr lang="en-US" altLang="zh-CN" sz="1600" kern="100" dirty="0">
                          <a:latin typeface="宋体"/>
                          <a:ea typeface="宋体"/>
                          <a:cs typeface="Times New Roman"/>
                        </a:rPr>
                        <a:t>entry(id).name</a:t>
                      </a:r>
                      <a:r>
                        <a:rPr lang="en-US" sz="1600" kern="100" dirty="0">
                          <a:latin typeface="宋体"/>
                          <a:ea typeface="宋体"/>
                          <a:cs typeface="Times New Roman"/>
                        </a:rPr>
                        <a:t>)</a:t>
                      </a:r>
                      <a:r>
                        <a:rPr lang="en-US" altLang="zh-CN" sz="1600" kern="100" dirty="0">
                          <a:latin typeface="宋体"/>
                          <a:ea typeface="+mn-ea"/>
                          <a:cs typeface="Times New Roman"/>
                        </a:rPr>
                        <a:t> //</a:t>
                      </a:r>
                      <a:r>
                        <a:rPr lang="zh-CN" altLang="zh-CN" sz="1600" kern="100" dirty="0">
                          <a:latin typeface="Times New Roman"/>
                          <a:ea typeface="+mn-ea"/>
                          <a:cs typeface="Times New Roman"/>
                        </a:rPr>
                        <a:t>将形参插入符号表中</a:t>
                      </a:r>
                      <a:endParaRPr lang="zh-CN" sz="1600" kern="100" dirty="0">
                        <a:latin typeface="Times New Roman"/>
                        <a:ea typeface="宋体"/>
                        <a:cs typeface="Times New Roman"/>
                      </a:endParaRPr>
                    </a:p>
                    <a:p>
                      <a:pPr indent="197485" algn="l">
                        <a:lnSpc>
                          <a:spcPct val="95000"/>
                        </a:lnSpc>
                        <a:spcAft>
                          <a:spcPts val="0"/>
                        </a:spcAft>
                      </a:pPr>
                      <a:r>
                        <a:rPr lang="en-US" sz="1600" kern="100" dirty="0">
                          <a:latin typeface="宋体"/>
                          <a:ea typeface="宋体"/>
                          <a:cs typeface="Times New Roman"/>
                        </a:rPr>
                        <a:t>entry(id).type = &lt;VT&gt;.type }</a:t>
                      </a:r>
                      <a:endParaRPr lang="zh-CN" sz="16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9918">
                <a:tc>
                  <a:txBody>
                    <a:bodyPr/>
                    <a:lstStyle/>
                    <a:p>
                      <a:pPr algn="l">
                        <a:lnSpc>
                          <a:spcPct val="95000"/>
                        </a:lnSpc>
                        <a:spcAft>
                          <a:spcPts val="0"/>
                        </a:spcAft>
                      </a:pPr>
                      <a:r>
                        <a:rPr lang="zh-CN" sz="1600" kern="100" dirty="0">
                          <a:latin typeface="Times New Roman"/>
                          <a:ea typeface="宋体"/>
                          <a:cs typeface="Times New Roman"/>
                        </a:rPr>
                        <a:t>（</a:t>
                      </a:r>
                      <a:r>
                        <a:rPr lang="en-US" sz="1600" kern="100" dirty="0">
                          <a:latin typeface="Times New Roman"/>
                          <a:ea typeface="宋体"/>
                          <a:cs typeface="Times New Roman"/>
                        </a:rPr>
                        <a:t>4</a:t>
                      </a:r>
                      <a:r>
                        <a:rPr lang="zh-CN" sz="16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600" kern="100">
                          <a:latin typeface="宋体"/>
                          <a:ea typeface="宋体"/>
                          <a:cs typeface="Times New Roman"/>
                        </a:rPr>
                        <a:t>&lt;</a:t>
                      </a:r>
                      <a:r>
                        <a:rPr lang="en-US" sz="1600" kern="100">
                          <a:latin typeface="宋体"/>
                          <a:ea typeface="宋体"/>
                          <a:cs typeface="Times New Roman"/>
                        </a:rPr>
                        <a:t>FAFPL&gt; →&lt;FAFP&gt;|</a:t>
                      </a:r>
                      <a:r>
                        <a:rPr lang="en-US" sz="1600" kern="0">
                          <a:latin typeface="宋体"/>
                          <a:ea typeface="宋体"/>
                          <a:cs typeface="Times New Roman"/>
                          <a:sym typeface="Symbol"/>
                        </a:rPr>
                        <a:t></a:t>
                      </a:r>
                      <a:endParaRPr lang="zh-CN" sz="16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en-US" sz="1600" kern="100" dirty="0">
                          <a:latin typeface="宋体"/>
                          <a:ea typeface="宋体"/>
                          <a:cs typeface="Times New Roman"/>
                        </a:rPr>
                        <a:t>{      }</a:t>
                      </a:r>
                      <a:endParaRPr lang="zh-CN" sz="16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9918">
                <a:tc>
                  <a:txBody>
                    <a:bodyPr/>
                    <a:lstStyle/>
                    <a:p>
                      <a:pPr algn="l">
                        <a:lnSpc>
                          <a:spcPct val="95000"/>
                        </a:lnSpc>
                        <a:spcAft>
                          <a:spcPts val="0"/>
                        </a:spcAft>
                      </a:pPr>
                      <a:r>
                        <a:rPr lang="zh-CN" sz="1600" kern="100" dirty="0">
                          <a:latin typeface="Times New Roman"/>
                          <a:ea typeface="宋体"/>
                          <a:cs typeface="Times New Roman"/>
                        </a:rPr>
                        <a:t>（</a:t>
                      </a:r>
                      <a:r>
                        <a:rPr lang="en-US" sz="1600" kern="100" dirty="0">
                          <a:latin typeface="Times New Roman"/>
                          <a:ea typeface="宋体"/>
                          <a:cs typeface="Times New Roman"/>
                        </a:rPr>
                        <a:t>3</a:t>
                      </a:r>
                      <a:r>
                        <a:rPr lang="zh-CN" sz="16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600" kern="100">
                          <a:latin typeface="宋体"/>
                          <a:ea typeface="宋体"/>
                          <a:cs typeface="Times New Roman"/>
                        </a:rPr>
                        <a:t>&lt;</a:t>
                      </a:r>
                      <a:r>
                        <a:rPr lang="en-US" sz="1600" kern="100">
                          <a:latin typeface="宋体"/>
                          <a:ea typeface="宋体"/>
                          <a:cs typeface="Times New Roman"/>
                        </a:rPr>
                        <a:t>FC&gt;→&lt;FT&gt; id</a:t>
                      </a:r>
                      <a:endParaRPr lang="zh-CN" sz="16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en-US" sz="1600" kern="100" dirty="0">
                          <a:latin typeface="宋体"/>
                          <a:ea typeface="宋体"/>
                          <a:cs typeface="Times New Roman"/>
                        </a:rPr>
                        <a:t>{  </a:t>
                      </a:r>
                      <a:r>
                        <a:rPr lang="en-US" sz="1600" kern="100" dirty="0" err="1">
                          <a:latin typeface="宋体"/>
                          <a:ea typeface="宋体"/>
                          <a:cs typeface="Times New Roman"/>
                        </a:rPr>
                        <a:t>gencode</a:t>
                      </a:r>
                      <a:r>
                        <a:rPr lang="en-US" sz="1600" kern="100" dirty="0">
                          <a:latin typeface="宋体"/>
                          <a:ea typeface="宋体"/>
                          <a:cs typeface="Times New Roman"/>
                        </a:rPr>
                        <a:t>(</a:t>
                      </a:r>
                      <a:r>
                        <a:rPr lang="en-US" altLang="zh-CN" sz="1600" kern="100" dirty="0">
                          <a:latin typeface="宋体"/>
                          <a:ea typeface="宋体"/>
                          <a:cs typeface="Times New Roman"/>
                        </a:rPr>
                        <a:t>entry(id).name</a:t>
                      </a:r>
                      <a:r>
                        <a:rPr lang="zh-CN" sz="1600" kern="100" dirty="0">
                          <a:latin typeface="Times New Roman"/>
                          <a:ea typeface="宋体"/>
                          <a:cs typeface="Times New Roman"/>
                        </a:rPr>
                        <a:t>， ， ，</a:t>
                      </a:r>
                      <a:r>
                        <a:rPr lang="en-US" sz="1600" kern="100" dirty="0">
                          <a:latin typeface="Times New Roman"/>
                          <a:ea typeface="宋体"/>
                          <a:cs typeface="Times New Roman"/>
                        </a:rPr>
                        <a:t> )         }</a:t>
                      </a:r>
                      <a:endParaRPr lang="zh-CN" sz="16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9918">
                <a:tc>
                  <a:txBody>
                    <a:bodyPr/>
                    <a:lstStyle/>
                    <a:p>
                      <a:pPr algn="l">
                        <a:lnSpc>
                          <a:spcPct val="95000"/>
                        </a:lnSpc>
                        <a:spcAft>
                          <a:spcPts val="0"/>
                        </a:spcAft>
                      </a:pPr>
                      <a:r>
                        <a:rPr lang="zh-CN" sz="1600" kern="100" dirty="0">
                          <a:latin typeface="Times New Roman"/>
                          <a:ea typeface="宋体"/>
                          <a:cs typeface="Times New Roman"/>
                        </a:rPr>
                        <a:t>（</a:t>
                      </a:r>
                      <a:r>
                        <a:rPr lang="en-US" sz="1600" kern="100" dirty="0">
                          <a:latin typeface="Times New Roman"/>
                          <a:ea typeface="宋体"/>
                          <a:cs typeface="Times New Roman"/>
                        </a:rPr>
                        <a:t>2</a:t>
                      </a:r>
                      <a:r>
                        <a:rPr lang="zh-CN" sz="16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600" kern="100" dirty="0">
                          <a:latin typeface="宋体"/>
                          <a:ea typeface="宋体"/>
                          <a:cs typeface="Times New Roman"/>
                        </a:rPr>
                        <a:t>&lt;</a:t>
                      </a:r>
                      <a:r>
                        <a:rPr lang="en-US" sz="1600" kern="100" dirty="0">
                          <a:latin typeface="宋体"/>
                          <a:ea typeface="宋体"/>
                          <a:cs typeface="Times New Roman"/>
                        </a:rPr>
                        <a:t>FB&gt; →&lt;FC&gt;(&lt;FAFPL&gt;)</a:t>
                      </a:r>
                      <a:endParaRPr lang="zh-CN" sz="16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zh-CN" sz="1600" kern="100" dirty="0">
                          <a:latin typeface="Times New Roman"/>
                          <a:ea typeface="宋体"/>
                          <a:cs typeface="Times New Roman"/>
                        </a:rPr>
                        <a:t>{</a:t>
                      </a:r>
                      <a:r>
                        <a:rPr lang="en-US" altLang="zh-CN" sz="1600" kern="100" baseline="0" dirty="0">
                          <a:latin typeface="Times New Roman"/>
                          <a:ea typeface="宋体"/>
                          <a:cs typeface="Times New Roman"/>
                        </a:rPr>
                        <a:t>           </a:t>
                      </a:r>
                      <a:r>
                        <a:rPr lang="zh-CN" sz="1600" kern="100" dirty="0">
                          <a:latin typeface="Times New Roman"/>
                          <a:ea typeface="宋体"/>
                          <a:cs typeface="Times New Roman"/>
                        </a:rPr>
                        <a:t>}</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9918">
                <a:tc>
                  <a:txBody>
                    <a:bodyPr/>
                    <a:lstStyle/>
                    <a:p>
                      <a:pPr algn="l">
                        <a:lnSpc>
                          <a:spcPct val="95000"/>
                        </a:lnSpc>
                        <a:spcAft>
                          <a:spcPts val="0"/>
                        </a:spcAft>
                      </a:pPr>
                      <a:r>
                        <a:rPr lang="zh-CN" sz="1600" kern="100" dirty="0">
                          <a:latin typeface="Times New Roman"/>
                          <a:ea typeface="宋体"/>
                          <a:cs typeface="Times New Roman"/>
                        </a:rPr>
                        <a:t>（</a:t>
                      </a:r>
                      <a:r>
                        <a:rPr lang="en-US" sz="1600" kern="100" dirty="0">
                          <a:latin typeface="Times New Roman"/>
                          <a:ea typeface="宋体"/>
                          <a:cs typeface="Times New Roman"/>
                        </a:rPr>
                        <a:t>1</a:t>
                      </a:r>
                      <a:r>
                        <a:rPr lang="zh-CN" sz="16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600" kern="100" dirty="0">
                          <a:latin typeface="宋体"/>
                          <a:ea typeface="宋体"/>
                          <a:cs typeface="Times New Roman"/>
                        </a:rPr>
                        <a:t>&lt;</a:t>
                      </a:r>
                      <a:r>
                        <a:rPr lang="en-US" sz="1600" kern="100" dirty="0">
                          <a:latin typeface="宋体"/>
                          <a:ea typeface="宋体"/>
                          <a:cs typeface="Times New Roman"/>
                        </a:rPr>
                        <a:t>FA&gt; →&lt;FB&gt;&lt;CST&gt;</a:t>
                      </a:r>
                      <a:endParaRPr lang="zh-CN" sz="16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zh-CN" sz="1600" kern="100" dirty="0">
                          <a:latin typeface="Times New Roman"/>
                          <a:ea typeface="宋体"/>
                          <a:cs typeface="Times New Roman"/>
                        </a:rPr>
                        <a:t>{  gencode(ret， ， ， )       </a:t>
                      </a:r>
                      <a:r>
                        <a:rPr lang="en-US" sz="1600" kern="100" dirty="0">
                          <a:latin typeface="宋体"/>
                          <a:ea typeface="宋体"/>
                          <a:cs typeface="Times New Roman"/>
                        </a:rPr>
                        <a:t>   </a:t>
                      </a:r>
                      <a:r>
                        <a:rPr lang="zh-CN" sz="1600" kern="100" dirty="0">
                          <a:latin typeface="Times New Roman"/>
                          <a:ea typeface="宋体"/>
                          <a:cs typeface="Times New Roman"/>
                        </a:rPr>
                        <a:t>       }</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 name="矩形 1"/>
          <p:cNvSpPr/>
          <p:nvPr/>
        </p:nvSpPr>
        <p:spPr>
          <a:xfrm>
            <a:off x="0" y="152816"/>
            <a:ext cx="3892412" cy="584775"/>
          </a:xfrm>
          <a:prstGeom prst="rect">
            <a:avLst/>
          </a:prstGeom>
        </p:spPr>
        <p:txBody>
          <a:bodyPr wrap="none">
            <a:spAutoFit/>
          </a:bodyPr>
          <a:lstStyle/>
          <a:p>
            <a:r>
              <a:rPr kumimoji="1" lang="zh-CN" altLang="en-US" sz="3200" b="1" dirty="0">
                <a:solidFill>
                  <a:srgbClr val="CC0099"/>
                </a:solidFill>
                <a:latin typeface="Times New Roman" pitchFamily="18" charset="0"/>
                <a:ea typeface="隶书" pitchFamily="49" charset="-122"/>
              </a:rPr>
              <a:t>函数定义的语义规则</a:t>
            </a:r>
            <a:endParaRPr lang="zh-CN" altLang="en-US" sz="3200" dirty="0"/>
          </a:p>
        </p:txBody>
      </p:sp>
      <p:sp>
        <p:nvSpPr>
          <p:cNvPr id="5" name="矩形 4"/>
          <p:cNvSpPr/>
          <p:nvPr/>
        </p:nvSpPr>
        <p:spPr>
          <a:xfrm>
            <a:off x="5615608" y="8082"/>
            <a:ext cx="3528392" cy="141154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lnSpc>
                <a:spcPct val="95000"/>
              </a:lnSpc>
              <a:spcAft>
                <a:spcPts val="0"/>
              </a:spcAft>
            </a:pPr>
            <a:r>
              <a:rPr lang="pt-PT" altLang="zh-CN" kern="100" dirty="0"/>
              <a:t>int sum(int sum_x,int sum_y){</a:t>
            </a:r>
            <a:endParaRPr lang="zh-CN" altLang="zh-CN" kern="100" dirty="0"/>
          </a:p>
          <a:p>
            <a:pPr algn="just">
              <a:lnSpc>
                <a:spcPct val="95000"/>
              </a:lnSpc>
              <a:spcAft>
                <a:spcPts val="0"/>
              </a:spcAft>
            </a:pPr>
            <a:r>
              <a:rPr lang="pt-PT" altLang="zh-CN" kern="100" dirty="0"/>
              <a:t>    int result ;</a:t>
            </a:r>
            <a:endParaRPr lang="zh-CN" altLang="zh-CN" kern="100" dirty="0"/>
          </a:p>
          <a:p>
            <a:pPr algn="just">
              <a:lnSpc>
                <a:spcPct val="95000"/>
              </a:lnSpc>
              <a:spcAft>
                <a:spcPts val="0"/>
              </a:spcAft>
            </a:pPr>
            <a:r>
              <a:rPr lang="pt-PT" altLang="zh-CN" kern="100" dirty="0"/>
              <a:t>    result = sum_x + sum_y ;</a:t>
            </a:r>
            <a:endParaRPr lang="zh-CN" altLang="zh-CN" kern="100" dirty="0"/>
          </a:p>
          <a:p>
            <a:pPr algn="just">
              <a:lnSpc>
                <a:spcPct val="95000"/>
              </a:lnSpc>
              <a:spcAft>
                <a:spcPts val="0"/>
              </a:spcAft>
            </a:pPr>
            <a:r>
              <a:rPr lang="pt-PT" altLang="zh-CN" kern="100" dirty="0"/>
              <a:t>    return result ;</a:t>
            </a:r>
            <a:endParaRPr lang="zh-CN" altLang="zh-CN" kern="100" dirty="0"/>
          </a:p>
          <a:p>
            <a:pPr algn="just">
              <a:lnSpc>
                <a:spcPct val="95000"/>
              </a:lnSpc>
              <a:spcAft>
                <a:spcPts val="0"/>
              </a:spcAft>
            </a:pPr>
            <a:r>
              <a:rPr lang="pt-PT" altLang="zh-CN" kern="100" dirty="0"/>
              <a:t>}</a:t>
            </a:r>
            <a:endParaRPr lang="zh-CN" altLang="zh-CN" kern="1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91670452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endParaRPr lang="zh-CN" altLang="en-US" sz="2400"/>
          </a:p>
        </p:txBody>
      </p:sp>
      <p:sp>
        <p:nvSpPr>
          <p:cNvPr id="117764" name="矩形 3"/>
          <p:cNvSpPr>
            <a:spLocks noChangeArrowheads="1"/>
          </p:cNvSpPr>
          <p:nvPr/>
        </p:nvSpPr>
        <p:spPr bwMode="auto">
          <a:xfrm>
            <a:off x="179388" y="195448"/>
            <a:ext cx="896461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r>
              <a:rPr lang="zh-CN" altLang="zh-CN" sz="2200" b="1" dirty="0"/>
              <a:t>函数定义</a:t>
            </a:r>
            <a:r>
              <a:rPr lang="en-US" altLang="zh-CN" sz="2200" b="1" dirty="0" err="1">
                <a:solidFill>
                  <a:srgbClr val="FF0000"/>
                </a:solidFill>
              </a:rPr>
              <a:t>int</a:t>
            </a:r>
            <a:r>
              <a:rPr lang="en-US" altLang="zh-CN" sz="2200" b="1" dirty="0">
                <a:solidFill>
                  <a:srgbClr val="FF0000"/>
                </a:solidFill>
              </a:rPr>
              <a:t> sum(</a:t>
            </a:r>
            <a:r>
              <a:rPr lang="en-US" altLang="zh-CN" sz="2200" b="1" dirty="0" err="1">
                <a:solidFill>
                  <a:srgbClr val="FF0000"/>
                </a:solidFill>
              </a:rPr>
              <a:t>int</a:t>
            </a:r>
            <a:r>
              <a:rPr lang="en-US" altLang="zh-CN" sz="2200" b="1" dirty="0">
                <a:solidFill>
                  <a:srgbClr val="FF0000"/>
                </a:solidFill>
              </a:rPr>
              <a:t> </a:t>
            </a:r>
            <a:r>
              <a:rPr lang="en-US" altLang="zh-CN" sz="2200" b="1" dirty="0" err="1">
                <a:solidFill>
                  <a:srgbClr val="FF0000"/>
                </a:solidFill>
              </a:rPr>
              <a:t>sumx</a:t>
            </a:r>
            <a:r>
              <a:rPr lang="en-US" altLang="zh-CN" sz="2200" b="1" dirty="0">
                <a:solidFill>
                  <a:srgbClr val="FF0000"/>
                </a:solidFill>
              </a:rPr>
              <a:t>, </a:t>
            </a:r>
            <a:r>
              <a:rPr lang="en-US" altLang="zh-CN" sz="2200" b="1" dirty="0" err="1">
                <a:solidFill>
                  <a:srgbClr val="FF0000"/>
                </a:solidFill>
              </a:rPr>
              <a:t>int</a:t>
            </a:r>
            <a:r>
              <a:rPr lang="en-US" altLang="zh-CN" sz="2200" b="1" dirty="0">
                <a:solidFill>
                  <a:srgbClr val="FF0000"/>
                </a:solidFill>
              </a:rPr>
              <a:t> </a:t>
            </a:r>
            <a:r>
              <a:rPr lang="en-US" altLang="zh-CN" sz="2200" b="1" dirty="0" err="1">
                <a:solidFill>
                  <a:srgbClr val="FF0000"/>
                </a:solidFill>
              </a:rPr>
              <a:t>sumy</a:t>
            </a:r>
            <a:r>
              <a:rPr lang="en-US" altLang="zh-CN" sz="2200" b="1" dirty="0">
                <a:solidFill>
                  <a:srgbClr val="FF0000"/>
                </a:solidFill>
              </a:rPr>
              <a:t>, char </a:t>
            </a:r>
            <a:r>
              <a:rPr lang="en-US" altLang="zh-CN" sz="2200" b="1" dirty="0" err="1">
                <a:solidFill>
                  <a:srgbClr val="FF0000"/>
                </a:solidFill>
              </a:rPr>
              <a:t>sumz</a:t>
            </a:r>
            <a:r>
              <a:rPr lang="en-US" altLang="zh-CN" sz="2200" b="1" dirty="0">
                <a:solidFill>
                  <a:srgbClr val="FF0000"/>
                </a:solidFill>
              </a:rPr>
              <a:t>){……}</a:t>
            </a:r>
            <a:r>
              <a:rPr lang="zh-CN" altLang="zh-CN" sz="2200" b="1" dirty="0"/>
              <a:t>的语法树</a:t>
            </a:r>
            <a:endParaRPr lang="zh-CN" altLang="en-US" sz="2200" b="1" dirty="0"/>
          </a:p>
        </p:txBody>
      </p:sp>
      <p:sp>
        <p:nvSpPr>
          <p:cNvPr id="2" name="矩形 1"/>
          <p:cNvSpPr/>
          <p:nvPr/>
        </p:nvSpPr>
        <p:spPr>
          <a:xfrm>
            <a:off x="5008691" y="1599480"/>
            <a:ext cx="1723549" cy="369332"/>
          </a:xfrm>
          <a:prstGeom prst="rect">
            <a:avLst/>
          </a:prstGeom>
        </p:spPr>
        <p:txBody>
          <a:bodyPr wrap="none">
            <a:spAutoFit/>
          </a:bodyPr>
          <a:lstStyle/>
          <a:p>
            <a:r>
              <a:rPr lang="en-US" altLang="zh-CN" dirty="0">
                <a:solidFill>
                  <a:srgbClr val="FF0000"/>
                </a:solidFill>
              </a:rPr>
              <a:t>(sum</a:t>
            </a:r>
            <a:r>
              <a:rPr lang="zh-CN" altLang="en-US" dirty="0">
                <a:solidFill>
                  <a:srgbClr val="FF0000"/>
                </a:solidFill>
              </a:rPr>
              <a:t>， ， ， </a:t>
            </a:r>
            <a:r>
              <a:rPr lang="en-US" altLang="zh-CN" dirty="0">
                <a:solidFill>
                  <a:srgbClr val="FF0000"/>
                </a:solidFill>
              </a:rPr>
              <a:t>)</a:t>
            </a:r>
            <a:endParaRPr lang="zh-CN" altLang="en-US" dirty="0">
              <a:solidFill>
                <a:srgbClr val="FF0000"/>
              </a:solidFill>
            </a:endParaRPr>
          </a:p>
        </p:txBody>
      </p:sp>
      <p:sp>
        <p:nvSpPr>
          <p:cNvPr id="3" name="矩形 2"/>
          <p:cNvSpPr/>
          <p:nvPr/>
        </p:nvSpPr>
        <p:spPr>
          <a:xfrm>
            <a:off x="7406048" y="640341"/>
            <a:ext cx="1558440" cy="369332"/>
          </a:xfrm>
          <a:prstGeom prst="rect">
            <a:avLst/>
          </a:prstGeom>
        </p:spPr>
        <p:txBody>
          <a:bodyPr wrap="none">
            <a:spAutoFit/>
          </a:bodyPr>
          <a:lstStyle/>
          <a:p>
            <a:r>
              <a:rPr lang="zh-CN" altLang="zh-CN" dirty="0">
                <a:solidFill>
                  <a:srgbClr val="FF0000"/>
                </a:solidFill>
              </a:rPr>
              <a:t>(ret， ， ， )</a:t>
            </a:r>
            <a:endParaRPr lang="zh-CN" altLang="en-US" dirty="0">
              <a:solidFill>
                <a:srgbClr val="FF0000"/>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4141466234"/>
              </p:ext>
            </p:extLst>
          </p:nvPr>
        </p:nvGraphicFramePr>
        <p:xfrm>
          <a:off x="179389" y="3795886"/>
          <a:ext cx="2952451" cy="1279923"/>
        </p:xfrm>
        <a:graphic>
          <a:graphicData uri="http://schemas.openxmlformats.org/drawingml/2006/table">
            <a:tbl>
              <a:tblPr/>
              <a:tblGrid>
                <a:gridCol w="557725">
                  <a:extLst>
                    <a:ext uri="{9D8B030D-6E8A-4147-A177-3AD203B41FA5}">
                      <a16:colId xmlns:a16="http://schemas.microsoft.com/office/drawing/2014/main" val="20000"/>
                    </a:ext>
                  </a:extLst>
                </a:gridCol>
                <a:gridCol w="776326">
                  <a:extLst>
                    <a:ext uri="{9D8B030D-6E8A-4147-A177-3AD203B41FA5}">
                      <a16:colId xmlns:a16="http://schemas.microsoft.com/office/drawing/2014/main" val="20001"/>
                    </a:ext>
                  </a:extLst>
                </a:gridCol>
                <a:gridCol w="866867">
                  <a:extLst>
                    <a:ext uri="{9D8B030D-6E8A-4147-A177-3AD203B41FA5}">
                      <a16:colId xmlns:a16="http://schemas.microsoft.com/office/drawing/2014/main" val="20002"/>
                    </a:ext>
                  </a:extLst>
                </a:gridCol>
                <a:gridCol w="751533">
                  <a:extLst>
                    <a:ext uri="{9D8B030D-6E8A-4147-A177-3AD203B41FA5}">
                      <a16:colId xmlns:a16="http://schemas.microsoft.com/office/drawing/2014/main" val="20003"/>
                    </a:ext>
                  </a:extLst>
                </a:gridCol>
              </a:tblGrid>
              <a:tr h="457200">
                <a:tc>
                  <a:txBody>
                    <a:bodyPr/>
                    <a:lstStyle/>
                    <a:p>
                      <a:pPr algn="ctr">
                        <a:spcAft>
                          <a:spcPts val="0"/>
                        </a:spcAft>
                      </a:pPr>
                      <a:r>
                        <a:rPr lang="zh-CN" sz="1500" kern="100" dirty="0">
                          <a:effectLst/>
                          <a:latin typeface="Times New Roman"/>
                          <a:ea typeface="宋体"/>
                        </a:rPr>
                        <a:t>入口</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altLang="en-US" sz="1500" kern="100" dirty="0">
                          <a:effectLst/>
                          <a:latin typeface="Times New Roman"/>
                          <a:ea typeface="宋体"/>
                        </a:rPr>
                        <a:t>变</a:t>
                      </a:r>
                      <a:r>
                        <a:rPr lang="zh-CN" sz="1500" kern="100" dirty="0">
                          <a:effectLst/>
                          <a:latin typeface="Times New Roman"/>
                          <a:ea typeface="宋体"/>
                        </a:rPr>
                        <a:t>量名</a:t>
                      </a: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altLang="en-US" sz="1500" kern="100" dirty="0">
                          <a:effectLst/>
                          <a:latin typeface="Times New Roman"/>
                          <a:ea typeface="宋体"/>
                        </a:rPr>
                        <a:t>变量</a:t>
                      </a:r>
                      <a:r>
                        <a:rPr lang="zh-CN" sz="1500" kern="100" dirty="0">
                          <a:effectLst/>
                          <a:latin typeface="Times New Roman"/>
                          <a:ea typeface="宋体"/>
                        </a:rPr>
                        <a:t>类型</a:t>
                      </a:r>
                      <a:r>
                        <a:rPr lang="fr-FR" sz="1500" kern="100" dirty="0">
                          <a:effectLst/>
                          <a:latin typeface="Times New Roman"/>
                          <a:ea typeface="宋体"/>
                        </a:rPr>
                        <a:t>(type)</a:t>
                      </a: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r>
                        <a:rPr lang="zh-CN" sz="1500" kern="100">
                          <a:effectLst/>
                          <a:latin typeface="Times New Roman"/>
                          <a:ea typeface="宋体"/>
                        </a:rPr>
                        <a:t>值</a:t>
                      </a:r>
                      <a:r>
                        <a:rPr lang="fr-FR" sz="1500" kern="100">
                          <a:effectLst/>
                          <a:latin typeface="Times New Roman"/>
                          <a:ea typeface="宋体"/>
                        </a:rPr>
                        <a:t>(val)</a:t>
                      </a:r>
                      <a:endParaRPr lang="zh-CN" sz="1500" kern="10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0"/>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1"/>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2"/>
                  </a:ext>
                </a:extLst>
              </a:tr>
              <a:tr h="274241">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solidFill>
                  </a:tcPr>
                </a:tc>
                <a:extLst>
                  <a:ext uri="{0D108BD9-81ED-4DB2-BD59-A6C34878D82A}">
                    <a16:rowId xmlns:a16="http://schemas.microsoft.com/office/drawing/2014/main" val="10003"/>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248543326"/>
              </p:ext>
            </p:extLst>
          </p:nvPr>
        </p:nvGraphicFramePr>
        <p:xfrm>
          <a:off x="179389" y="4297512"/>
          <a:ext cx="2952451" cy="274241"/>
        </p:xfrm>
        <a:graphic>
          <a:graphicData uri="http://schemas.openxmlformats.org/drawingml/2006/table">
            <a:tbl>
              <a:tblPr/>
              <a:tblGrid>
                <a:gridCol w="557725">
                  <a:extLst>
                    <a:ext uri="{9D8B030D-6E8A-4147-A177-3AD203B41FA5}">
                      <a16:colId xmlns:a16="http://schemas.microsoft.com/office/drawing/2014/main" val="20000"/>
                    </a:ext>
                  </a:extLst>
                </a:gridCol>
                <a:gridCol w="776326">
                  <a:extLst>
                    <a:ext uri="{9D8B030D-6E8A-4147-A177-3AD203B41FA5}">
                      <a16:colId xmlns:a16="http://schemas.microsoft.com/office/drawing/2014/main" val="20001"/>
                    </a:ext>
                  </a:extLst>
                </a:gridCol>
                <a:gridCol w="866867">
                  <a:extLst>
                    <a:ext uri="{9D8B030D-6E8A-4147-A177-3AD203B41FA5}">
                      <a16:colId xmlns:a16="http://schemas.microsoft.com/office/drawing/2014/main" val="20002"/>
                    </a:ext>
                  </a:extLst>
                </a:gridCol>
                <a:gridCol w="751533">
                  <a:extLst>
                    <a:ext uri="{9D8B030D-6E8A-4147-A177-3AD203B41FA5}">
                      <a16:colId xmlns:a16="http://schemas.microsoft.com/office/drawing/2014/main" val="20003"/>
                    </a:ext>
                  </a:extLst>
                </a:gridCol>
              </a:tblGrid>
              <a:tr h="274241">
                <a:tc>
                  <a:txBody>
                    <a:bodyPr/>
                    <a:lstStyle/>
                    <a:p>
                      <a:pPr algn="ctr">
                        <a:spcAft>
                          <a:spcPts val="0"/>
                        </a:spcAft>
                      </a:pPr>
                      <a:r>
                        <a:rPr lang="en-US" sz="1500" kern="100" dirty="0">
                          <a:effectLst/>
                          <a:latin typeface="Times New Roman"/>
                          <a:ea typeface="宋体"/>
                        </a:rPr>
                        <a:t>1</a:t>
                      </a:r>
                      <a:r>
                        <a:rPr lang="fr-FR" sz="1500" kern="100" dirty="0">
                          <a:effectLst/>
                          <a:latin typeface="Times New Roman"/>
                          <a:ea typeface="宋体"/>
                        </a:rPr>
                        <a:t>1</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err="1">
                          <a:effectLst/>
                          <a:latin typeface="Times New Roman"/>
                          <a:ea typeface="宋体"/>
                        </a:rPr>
                        <a:t>sumz</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a:effectLst/>
                          <a:latin typeface="Times New Roman"/>
                          <a:ea typeface="宋体"/>
                        </a:rPr>
                        <a:t>char</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565984275"/>
              </p:ext>
            </p:extLst>
          </p:nvPr>
        </p:nvGraphicFramePr>
        <p:xfrm>
          <a:off x="179389" y="4585544"/>
          <a:ext cx="2880444" cy="274241"/>
        </p:xfrm>
        <a:graphic>
          <a:graphicData uri="http://schemas.openxmlformats.org/drawingml/2006/table">
            <a:tbl>
              <a:tblPr/>
              <a:tblGrid>
                <a:gridCol w="544123">
                  <a:extLst>
                    <a:ext uri="{9D8B030D-6E8A-4147-A177-3AD203B41FA5}">
                      <a16:colId xmlns:a16="http://schemas.microsoft.com/office/drawing/2014/main" val="20000"/>
                    </a:ext>
                  </a:extLst>
                </a:gridCol>
                <a:gridCol w="757392">
                  <a:extLst>
                    <a:ext uri="{9D8B030D-6E8A-4147-A177-3AD203B41FA5}">
                      <a16:colId xmlns:a16="http://schemas.microsoft.com/office/drawing/2014/main" val="20001"/>
                    </a:ext>
                  </a:extLst>
                </a:gridCol>
                <a:gridCol w="845725">
                  <a:extLst>
                    <a:ext uri="{9D8B030D-6E8A-4147-A177-3AD203B41FA5}">
                      <a16:colId xmlns:a16="http://schemas.microsoft.com/office/drawing/2014/main" val="20002"/>
                    </a:ext>
                  </a:extLst>
                </a:gridCol>
                <a:gridCol w="733204">
                  <a:extLst>
                    <a:ext uri="{9D8B030D-6E8A-4147-A177-3AD203B41FA5}">
                      <a16:colId xmlns:a16="http://schemas.microsoft.com/office/drawing/2014/main" val="20003"/>
                    </a:ext>
                  </a:extLst>
                </a:gridCol>
              </a:tblGrid>
              <a:tr h="274241">
                <a:tc>
                  <a:txBody>
                    <a:bodyPr/>
                    <a:lstStyle/>
                    <a:p>
                      <a:pPr algn="ctr">
                        <a:spcAft>
                          <a:spcPts val="0"/>
                        </a:spcAft>
                      </a:pPr>
                      <a:r>
                        <a:rPr lang="fr-FR" sz="1500" kern="100" dirty="0">
                          <a:effectLst/>
                          <a:latin typeface="Times New Roman"/>
                          <a:ea typeface="宋体"/>
                        </a:rPr>
                        <a:t>12</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err="1">
                          <a:effectLst/>
                          <a:latin typeface="Times New Roman"/>
                          <a:ea typeface="宋体"/>
                        </a:rPr>
                        <a:t>sumy</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fr-FR" sz="1500" kern="100" dirty="0">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3703179738"/>
              </p:ext>
            </p:extLst>
          </p:nvPr>
        </p:nvGraphicFramePr>
        <p:xfrm>
          <a:off x="179389" y="4853038"/>
          <a:ext cx="2952451" cy="274241"/>
        </p:xfrm>
        <a:graphic>
          <a:graphicData uri="http://schemas.openxmlformats.org/drawingml/2006/table">
            <a:tbl>
              <a:tblPr/>
              <a:tblGrid>
                <a:gridCol w="557725">
                  <a:extLst>
                    <a:ext uri="{9D8B030D-6E8A-4147-A177-3AD203B41FA5}">
                      <a16:colId xmlns:a16="http://schemas.microsoft.com/office/drawing/2014/main" val="20000"/>
                    </a:ext>
                  </a:extLst>
                </a:gridCol>
                <a:gridCol w="776326">
                  <a:extLst>
                    <a:ext uri="{9D8B030D-6E8A-4147-A177-3AD203B41FA5}">
                      <a16:colId xmlns:a16="http://schemas.microsoft.com/office/drawing/2014/main" val="20001"/>
                    </a:ext>
                  </a:extLst>
                </a:gridCol>
                <a:gridCol w="866867">
                  <a:extLst>
                    <a:ext uri="{9D8B030D-6E8A-4147-A177-3AD203B41FA5}">
                      <a16:colId xmlns:a16="http://schemas.microsoft.com/office/drawing/2014/main" val="20002"/>
                    </a:ext>
                  </a:extLst>
                </a:gridCol>
                <a:gridCol w="751533">
                  <a:extLst>
                    <a:ext uri="{9D8B030D-6E8A-4147-A177-3AD203B41FA5}">
                      <a16:colId xmlns:a16="http://schemas.microsoft.com/office/drawing/2014/main" val="20003"/>
                    </a:ext>
                  </a:extLst>
                </a:gridCol>
              </a:tblGrid>
              <a:tr h="274241">
                <a:tc>
                  <a:txBody>
                    <a:bodyPr/>
                    <a:lstStyle/>
                    <a:p>
                      <a:pPr algn="ctr">
                        <a:spcAft>
                          <a:spcPts val="0"/>
                        </a:spcAft>
                      </a:pPr>
                      <a:r>
                        <a:rPr lang="en-US" altLang="zh-CN" sz="1500" kern="100" dirty="0">
                          <a:effectLst/>
                          <a:latin typeface="Times New Roman"/>
                          <a:ea typeface="宋体"/>
                        </a:rPr>
                        <a:t>13</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err="1">
                          <a:effectLst/>
                          <a:latin typeface="Times New Roman"/>
                          <a:ea typeface="宋体"/>
                        </a:rPr>
                        <a:t>sumx</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r>
                        <a:rPr lang="en-US" altLang="zh-CN" sz="1500" kern="100" dirty="0" err="1">
                          <a:effectLst/>
                          <a:latin typeface="Times New Roman"/>
                          <a:ea typeface="宋体"/>
                        </a:rPr>
                        <a:t>int</a:t>
                      </a: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Aft>
                          <a:spcPts val="0"/>
                        </a:spcAft>
                      </a:pPr>
                      <a:endParaRPr lang="zh-CN" sz="1500" kern="100" dirty="0">
                        <a:effectLst/>
                        <a:latin typeface="Times New Roman"/>
                        <a:ea typeface="宋体"/>
                      </a:endParaRPr>
                    </a:p>
                  </a:txBody>
                  <a:tcPr marL="68588" marR="68588"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4" name="Rectangle 9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929795077"/>
              </p:ext>
            </p:extLst>
          </p:nvPr>
        </p:nvGraphicFramePr>
        <p:xfrm>
          <a:off x="5220072" y="681171"/>
          <a:ext cx="4104456" cy="4462329"/>
        </p:xfrm>
        <a:graphic>
          <a:graphicData uri="http://schemas.openxmlformats.org/presentationml/2006/ole">
            <mc:AlternateContent xmlns:mc="http://schemas.openxmlformats.org/markup-compatibility/2006">
              <mc:Choice xmlns:v="urn:schemas-microsoft-com:vml" Requires="v">
                <p:oleObj spid="_x0000_s35845" name="Visio" r:id="rId3" imgW="2748918" imgH="2639520" progId="Visio.Drawing.11">
                  <p:embed/>
                </p:oleObj>
              </mc:Choice>
              <mc:Fallback>
                <p:oleObj name="Visio" r:id="rId3" imgW="2748918" imgH="2639520" progId="Visio.Drawing.11">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0072" y="681171"/>
                        <a:ext cx="4104456" cy="4462329"/>
                      </a:xfrm>
                      <a:prstGeom prst="rect">
                        <a:avLst/>
                      </a:prstGeom>
                      <a:noFill/>
                    </p:spPr>
                  </p:pic>
                </p:oleObj>
              </mc:Fallback>
            </mc:AlternateContent>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4044805157"/>
              </p:ext>
            </p:extLst>
          </p:nvPr>
        </p:nvGraphicFramePr>
        <p:xfrm>
          <a:off x="35496" y="809554"/>
          <a:ext cx="5256584" cy="2652956"/>
        </p:xfrm>
        <a:graphic>
          <a:graphicData uri="http://schemas.openxmlformats.org/drawingml/2006/table">
            <a:tbl>
              <a:tblPr/>
              <a:tblGrid>
                <a:gridCol w="508180">
                  <a:extLst>
                    <a:ext uri="{9D8B030D-6E8A-4147-A177-3AD203B41FA5}">
                      <a16:colId xmlns:a16="http://schemas.microsoft.com/office/drawing/2014/main" val="20000"/>
                    </a:ext>
                  </a:extLst>
                </a:gridCol>
                <a:gridCol w="1988748">
                  <a:extLst>
                    <a:ext uri="{9D8B030D-6E8A-4147-A177-3AD203B41FA5}">
                      <a16:colId xmlns:a16="http://schemas.microsoft.com/office/drawing/2014/main" val="20001"/>
                    </a:ext>
                  </a:extLst>
                </a:gridCol>
                <a:gridCol w="2759656">
                  <a:extLst>
                    <a:ext uri="{9D8B030D-6E8A-4147-A177-3AD203B41FA5}">
                      <a16:colId xmlns:a16="http://schemas.microsoft.com/office/drawing/2014/main" val="20002"/>
                    </a:ext>
                  </a:extLst>
                </a:gridCol>
              </a:tblGrid>
              <a:tr h="250028">
                <a:tc>
                  <a:txBody>
                    <a:bodyPr/>
                    <a:lstStyle/>
                    <a:p>
                      <a:pPr marL="0" indent="0" algn="l">
                        <a:lnSpc>
                          <a:spcPct val="95000"/>
                        </a:lnSpc>
                        <a:spcAft>
                          <a:spcPts val="0"/>
                        </a:spcAft>
                      </a:pPr>
                      <a:r>
                        <a:rPr lang="zh-CN" sz="1050" kern="100" dirty="0">
                          <a:latin typeface="Times New Roman"/>
                          <a:ea typeface="宋体"/>
                          <a:cs typeface="Times New Roman"/>
                        </a:rPr>
                        <a:t>编号</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spcAft>
                          <a:spcPts val="0"/>
                        </a:spcAft>
                      </a:pPr>
                      <a:r>
                        <a:rPr lang="zh-CN" sz="1100" kern="100" dirty="0">
                          <a:latin typeface="Times New Roman"/>
                          <a:ea typeface="宋体"/>
                          <a:cs typeface="Times New Roman"/>
                        </a:rPr>
                        <a:t>产生式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95000"/>
                        </a:lnSpc>
                        <a:spcAft>
                          <a:spcPts val="0"/>
                        </a:spcAft>
                      </a:pPr>
                      <a:r>
                        <a:rPr lang="zh-CN" sz="1100" kern="100">
                          <a:latin typeface="Times New Roman"/>
                          <a:ea typeface="宋体"/>
                          <a:cs typeface="Times New Roman"/>
                        </a:rPr>
                        <a:t>语义规则</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88032">
                <a:tc>
                  <a:txBody>
                    <a:bodyPr/>
                    <a:lstStyle/>
                    <a:p>
                      <a:pPr algn="l">
                        <a:lnSpc>
                          <a:spcPct val="95000"/>
                        </a:lnSpc>
                        <a:spcAft>
                          <a:spcPts val="0"/>
                        </a:spcAft>
                      </a:pPr>
                      <a:r>
                        <a:rPr lang="zh-CN" sz="1100" kern="100" dirty="0">
                          <a:latin typeface="Times New Roman"/>
                          <a:ea typeface="宋体"/>
                          <a:cs typeface="Times New Roman"/>
                        </a:rPr>
                        <a:t>（</a:t>
                      </a:r>
                      <a:r>
                        <a:rPr lang="en-US" sz="1100" kern="100" dirty="0">
                          <a:latin typeface="Times New Roman"/>
                          <a:ea typeface="宋体"/>
                          <a:cs typeface="Times New Roman"/>
                        </a:rPr>
                        <a:t>8</a:t>
                      </a:r>
                      <a:r>
                        <a:rPr lang="zh-CN" sz="11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100" kern="100" dirty="0">
                          <a:latin typeface="宋体"/>
                          <a:ea typeface="宋体"/>
                          <a:cs typeface="Times New Roman"/>
                        </a:rPr>
                        <a:t>&lt;FT&gt; →int</a:t>
                      </a:r>
                      <a:endParaRPr lang="zh-CN" sz="11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en-US" sz="1100" kern="100" dirty="0">
                          <a:latin typeface="宋体"/>
                          <a:ea typeface="宋体"/>
                          <a:cs typeface="Times New Roman"/>
                        </a:rPr>
                        <a:t>{  &lt;FT&gt;.type = </a:t>
                      </a:r>
                      <a:r>
                        <a:rPr lang="en-US" sz="1100" kern="100" dirty="0" err="1">
                          <a:latin typeface="宋体"/>
                          <a:ea typeface="宋体"/>
                          <a:cs typeface="Times New Roman"/>
                        </a:rPr>
                        <a:t>int</a:t>
                      </a:r>
                      <a:r>
                        <a:rPr lang="en-US" sz="1100" kern="100" dirty="0">
                          <a:latin typeface="宋体"/>
                          <a:ea typeface="宋体"/>
                          <a:cs typeface="Times New Roman"/>
                        </a:rPr>
                        <a:t> }</a:t>
                      </a:r>
                      <a:endParaRPr lang="zh-CN" sz="11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8032">
                <a:tc>
                  <a:txBody>
                    <a:bodyPr/>
                    <a:lstStyle/>
                    <a:p>
                      <a:pPr algn="l">
                        <a:lnSpc>
                          <a:spcPct val="95000"/>
                        </a:lnSpc>
                        <a:spcAft>
                          <a:spcPts val="0"/>
                        </a:spcAft>
                      </a:pPr>
                      <a:r>
                        <a:rPr lang="zh-CN" sz="1100" kern="100" dirty="0">
                          <a:latin typeface="Times New Roman"/>
                          <a:ea typeface="宋体"/>
                          <a:cs typeface="Times New Roman"/>
                        </a:rPr>
                        <a:t>（</a:t>
                      </a:r>
                      <a:r>
                        <a:rPr lang="en-US" sz="1100" kern="100" dirty="0">
                          <a:latin typeface="Times New Roman"/>
                          <a:ea typeface="宋体"/>
                          <a:cs typeface="Times New Roman"/>
                        </a:rPr>
                        <a:t>7</a:t>
                      </a:r>
                      <a:r>
                        <a:rPr lang="zh-CN" sz="11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100" kern="100" dirty="0">
                          <a:latin typeface="宋体"/>
                          <a:ea typeface="宋体"/>
                          <a:cs typeface="Times New Roman"/>
                        </a:rPr>
                        <a:t>&lt;VT&gt; →int</a:t>
                      </a:r>
                      <a:endParaRPr lang="zh-CN" sz="11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en-US" sz="1100" kern="100" dirty="0">
                          <a:latin typeface="宋体"/>
                          <a:ea typeface="宋体"/>
                          <a:cs typeface="Times New Roman"/>
                        </a:rPr>
                        <a:t>{  &lt;VT&gt;.type = </a:t>
                      </a:r>
                      <a:r>
                        <a:rPr lang="en-US" sz="1100" kern="100" dirty="0" err="1">
                          <a:latin typeface="宋体"/>
                          <a:ea typeface="宋体"/>
                          <a:cs typeface="Times New Roman"/>
                        </a:rPr>
                        <a:t>int</a:t>
                      </a:r>
                      <a:r>
                        <a:rPr lang="en-US" sz="1100" kern="100" dirty="0">
                          <a:latin typeface="宋体"/>
                          <a:ea typeface="宋体"/>
                          <a:cs typeface="Times New Roman"/>
                        </a:rPr>
                        <a:t> }</a:t>
                      </a:r>
                      <a:endParaRPr lang="zh-CN" sz="11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32048">
                <a:tc>
                  <a:txBody>
                    <a:bodyPr/>
                    <a:lstStyle/>
                    <a:p>
                      <a:pPr algn="l">
                        <a:lnSpc>
                          <a:spcPct val="95000"/>
                        </a:lnSpc>
                        <a:spcAft>
                          <a:spcPts val="0"/>
                        </a:spcAft>
                      </a:pPr>
                      <a:r>
                        <a:rPr lang="zh-CN" sz="1100" kern="100" dirty="0">
                          <a:latin typeface="Times New Roman"/>
                          <a:ea typeface="宋体"/>
                          <a:cs typeface="Times New Roman"/>
                        </a:rPr>
                        <a:t>（</a:t>
                      </a:r>
                      <a:r>
                        <a:rPr lang="en-US" sz="1100" kern="100" dirty="0">
                          <a:latin typeface="Times New Roman"/>
                          <a:ea typeface="宋体"/>
                          <a:cs typeface="Times New Roman"/>
                        </a:rPr>
                        <a:t>6</a:t>
                      </a:r>
                      <a:r>
                        <a:rPr lang="zh-CN" sz="11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100" kern="100" dirty="0">
                          <a:latin typeface="宋体"/>
                          <a:ea typeface="宋体"/>
                          <a:cs typeface="Times New Roman"/>
                        </a:rPr>
                        <a:t>&lt;</a:t>
                      </a:r>
                      <a:r>
                        <a:rPr lang="en-US" sz="1100" kern="100" dirty="0">
                          <a:latin typeface="宋体"/>
                          <a:ea typeface="宋体"/>
                          <a:cs typeface="Times New Roman"/>
                        </a:rPr>
                        <a:t>FAFP&gt; →&lt;VT&gt; id,&lt;FAFP&gt;</a:t>
                      </a:r>
                      <a:r>
                        <a:rPr lang="en-US" sz="1100" kern="100" baseline="30000" dirty="0">
                          <a:latin typeface="宋体"/>
                          <a:ea typeface="宋体"/>
                          <a:cs typeface="Times New Roman"/>
                        </a:rPr>
                        <a:t>(1)</a:t>
                      </a:r>
                      <a:endParaRPr lang="zh-CN" sz="11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95000"/>
                        </a:lnSpc>
                        <a:spcBef>
                          <a:spcPts val="0"/>
                        </a:spcBef>
                        <a:spcAft>
                          <a:spcPts val="0"/>
                        </a:spcAft>
                        <a:buClrTx/>
                        <a:buSzTx/>
                        <a:buFontTx/>
                        <a:buNone/>
                        <a:tabLst/>
                        <a:defRPr/>
                      </a:pPr>
                      <a:r>
                        <a:rPr lang="en-US" sz="1100" kern="100" dirty="0">
                          <a:latin typeface="宋体"/>
                          <a:ea typeface="宋体"/>
                          <a:cs typeface="Times New Roman"/>
                        </a:rPr>
                        <a:t>{ </a:t>
                      </a:r>
                      <a:r>
                        <a:rPr lang="en-US" sz="1100" kern="100" dirty="0" err="1">
                          <a:latin typeface="宋体"/>
                          <a:ea typeface="宋体"/>
                          <a:cs typeface="Times New Roman"/>
                        </a:rPr>
                        <a:t>InsertVarible</a:t>
                      </a:r>
                      <a:r>
                        <a:rPr lang="en-US" sz="1100" kern="100" dirty="0">
                          <a:latin typeface="宋体"/>
                          <a:ea typeface="宋体"/>
                          <a:cs typeface="Times New Roman"/>
                        </a:rPr>
                        <a:t>(</a:t>
                      </a:r>
                      <a:r>
                        <a:rPr lang="en-US" altLang="zh-CN" sz="1100" kern="100" dirty="0">
                          <a:latin typeface="宋体"/>
                          <a:ea typeface="宋体"/>
                          <a:cs typeface="Times New Roman"/>
                        </a:rPr>
                        <a:t>entry(id).name</a:t>
                      </a:r>
                      <a:r>
                        <a:rPr lang="en-US" sz="1100" kern="100" dirty="0">
                          <a:latin typeface="宋体"/>
                          <a:ea typeface="宋体"/>
                          <a:cs typeface="Times New Roman"/>
                        </a:rPr>
                        <a:t>)</a:t>
                      </a:r>
                      <a:r>
                        <a:rPr lang="en-US" altLang="zh-CN" sz="1100" kern="100" dirty="0">
                          <a:latin typeface="宋体"/>
                          <a:ea typeface="宋体"/>
                          <a:cs typeface="Times New Roman"/>
                        </a:rPr>
                        <a:t>,</a:t>
                      </a:r>
                      <a:r>
                        <a:rPr lang="en-US" altLang="zh-CN" sz="1100" kern="100" dirty="0">
                          <a:latin typeface="宋体"/>
                          <a:ea typeface="+mn-ea"/>
                          <a:cs typeface="Times New Roman"/>
                        </a:rPr>
                        <a:t> </a:t>
                      </a:r>
                    </a:p>
                    <a:p>
                      <a:pPr marL="0" marR="0" indent="0" algn="l" defTabSz="914400" rtl="0" eaLnBrk="1" fontAlgn="auto" latinLnBrk="0" hangingPunct="1">
                        <a:lnSpc>
                          <a:spcPct val="95000"/>
                        </a:lnSpc>
                        <a:spcBef>
                          <a:spcPts val="0"/>
                        </a:spcBef>
                        <a:spcAft>
                          <a:spcPts val="0"/>
                        </a:spcAft>
                        <a:buClrTx/>
                        <a:buSzTx/>
                        <a:buFontTx/>
                        <a:buNone/>
                        <a:tabLst/>
                        <a:defRPr/>
                      </a:pPr>
                      <a:r>
                        <a:rPr lang="en-US" sz="1100" kern="100" dirty="0">
                          <a:latin typeface="宋体"/>
                          <a:ea typeface="+mn-ea"/>
                          <a:cs typeface="Times New Roman"/>
                        </a:rPr>
                        <a:t>  </a:t>
                      </a:r>
                      <a:r>
                        <a:rPr lang="en-US" sz="1100" kern="100" dirty="0">
                          <a:latin typeface="宋体"/>
                          <a:ea typeface="宋体"/>
                          <a:cs typeface="Times New Roman"/>
                        </a:rPr>
                        <a:t>entry(id).type = &lt;VT&gt;.type}</a:t>
                      </a:r>
                      <a:endParaRPr lang="zh-CN" sz="11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0040">
                <a:tc>
                  <a:txBody>
                    <a:bodyPr/>
                    <a:lstStyle/>
                    <a:p>
                      <a:pPr algn="l">
                        <a:lnSpc>
                          <a:spcPct val="95000"/>
                        </a:lnSpc>
                        <a:spcAft>
                          <a:spcPts val="0"/>
                        </a:spcAft>
                      </a:pPr>
                      <a:r>
                        <a:rPr lang="zh-CN" sz="1100" kern="100" dirty="0">
                          <a:latin typeface="Times New Roman"/>
                          <a:ea typeface="宋体"/>
                          <a:cs typeface="Times New Roman"/>
                        </a:rPr>
                        <a:t>（</a:t>
                      </a:r>
                      <a:r>
                        <a:rPr lang="en-US" sz="1100" kern="100" dirty="0">
                          <a:latin typeface="Times New Roman"/>
                          <a:ea typeface="宋体"/>
                          <a:cs typeface="Times New Roman"/>
                        </a:rPr>
                        <a:t>5</a:t>
                      </a:r>
                      <a:r>
                        <a:rPr lang="zh-CN" sz="11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100" kern="100" dirty="0">
                          <a:latin typeface="宋体"/>
                          <a:ea typeface="宋体"/>
                          <a:cs typeface="Times New Roman"/>
                        </a:rPr>
                        <a:t>&lt;</a:t>
                      </a:r>
                      <a:r>
                        <a:rPr lang="en-US" sz="1100" kern="100" dirty="0">
                          <a:latin typeface="宋体"/>
                          <a:ea typeface="宋体"/>
                          <a:cs typeface="Times New Roman"/>
                        </a:rPr>
                        <a:t>FAFP&gt; →&lt;VT&gt; id</a:t>
                      </a:r>
                      <a:endParaRPr lang="zh-CN" sz="11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en-US" altLang="zh-CN" sz="1100" kern="100" dirty="0">
                          <a:latin typeface="宋体"/>
                          <a:ea typeface="宋体"/>
                          <a:cs typeface="Times New Roman"/>
                        </a:rPr>
                        <a:t>{ </a:t>
                      </a:r>
                      <a:r>
                        <a:rPr lang="en-US" sz="1100" kern="100" dirty="0" err="1">
                          <a:latin typeface="宋体"/>
                          <a:ea typeface="宋体"/>
                          <a:cs typeface="Times New Roman"/>
                        </a:rPr>
                        <a:t>InsertVarible</a:t>
                      </a:r>
                      <a:r>
                        <a:rPr lang="en-US" sz="1100" kern="100" dirty="0">
                          <a:latin typeface="宋体"/>
                          <a:ea typeface="宋体"/>
                          <a:cs typeface="Times New Roman"/>
                        </a:rPr>
                        <a:t>(</a:t>
                      </a:r>
                      <a:r>
                        <a:rPr lang="en-US" altLang="zh-CN" sz="1100" kern="100" dirty="0">
                          <a:latin typeface="宋体"/>
                          <a:ea typeface="宋体"/>
                          <a:cs typeface="Times New Roman"/>
                        </a:rPr>
                        <a:t>entry(id).name</a:t>
                      </a:r>
                      <a:r>
                        <a:rPr lang="en-US" sz="1100" kern="100" dirty="0">
                          <a:latin typeface="宋体"/>
                          <a:ea typeface="宋体"/>
                          <a:cs typeface="Times New Roman"/>
                        </a:rPr>
                        <a:t>)</a:t>
                      </a:r>
                      <a:r>
                        <a:rPr lang="en-US" altLang="zh-CN" sz="1100" kern="100" dirty="0">
                          <a:latin typeface="宋体"/>
                          <a:ea typeface="宋体"/>
                          <a:cs typeface="Times New Roman"/>
                        </a:rPr>
                        <a:t>,</a:t>
                      </a:r>
                    </a:p>
                    <a:p>
                      <a:pPr algn="l">
                        <a:lnSpc>
                          <a:spcPct val="95000"/>
                        </a:lnSpc>
                        <a:spcAft>
                          <a:spcPts val="0"/>
                        </a:spcAft>
                      </a:pPr>
                      <a:r>
                        <a:rPr lang="en-US" sz="1100" kern="100" dirty="0">
                          <a:latin typeface="宋体"/>
                          <a:ea typeface="宋体"/>
                          <a:cs typeface="Times New Roman"/>
                        </a:rPr>
                        <a:t>entry(id).type = &lt;VT&gt;.type}</a:t>
                      </a:r>
                      <a:endParaRPr lang="zh-CN" sz="11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42688">
                <a:tc>
                  <a:txBody>
                    <a:bodyPr/>
                    <a:lstStyle/>
                    <a:p>
                      <a:pPr algn="l">
                        <a:lnSpc>
                          <a:spcPct val="95000"/>
                        </a:lnSpc>
                        <a:spcAft>
                          <a:spcPts val="0"/>
                        </a:spcAft>
                      </a:pPr>
                      <a:r>
                        <a:rPr lang="zh-CN" sz="1100" kern="100" dirty="0">
                          <a:latin typeface="Times New Roman"/>
                          <a:ea typeface="宋体"/>
                          <a:cs typeface="Times New Roman"/>
                        </a:rPr>
                        <a:t>（</a:t>
                      </a:r>
                      <a:r>
                        <a:rPr lang="en-US" sz="1100" kern="100" dirty="0">
                          <a:latin typeface="Times New Roman"/>
                          <a:ea typeface="宋体"/>
                          <a:cs typeface="Times New Roman"/>
                        </a:rPr>
                        <a:t>4</a:t>
                      </a:r>
                      <a:r>
                        <a:rPr lang="zh-CN" sz="11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100" kern="100">
                          <a:latin typeface="宋体"/>
                          <a:ea typeface="宋体"/>
                          <a:cs typeface="Times New Roman"/>
                        </a:rPr>
                        <a:t>&lt;</a:t>
                      </a:r>
                      <a:r>
                        <a:rPr lang="en-US" sz="1100" kern="100">
                          <a:latin typeface="宋体"/>
                          <a:ea typeface="宋体"/>
                          <a:cs typeface="Times New Roman"/>
                        </a:rPr>
                        <a:t>FAFPL&gt; →&lt;FAFP&gt;|</a:t>
                      </a:r>
                      <a:r>
                        <a:rPr lang="en-US" sz="1100" kern="0">
                          <a:latin typeface="宋体"/>
                          <a:ea typeface="宋体"/>
                          <a:cs typeface="Times New Roman"/>
                          <a:sym typeface="Symbol"/>
                        </a:rPr>
                        <a:t></a:t>
                      </a:r>
                      <a:endParaRPr lang="zh-CN" sz="11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en-US" sz="1100" kern="100" dirty="0">
                          <a:latin typeface="宋体"/>
                          <a:ea typeface="宋体"/>
                          <a:cs typeface="Times New Roman"/>
                        </a:rPr>
                        <a:t>{      }</a:t>
                      </a:r>
                      <a:endParaRPr lang="zh-CN" sz="11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88032">
                <a:tc>
                  <a:txBody>
                    <a:bodyPr/>
                    <a:lstStyle/>
                    <a:p>
                      <a:pPr algn="l">
                        <a:lnSpc>
                          <a:spcPct val="95000"/>
                        </a:lnSpc>
                        <a:spcAft>
                          <a:spcPts val="0"/>
                        </a:spcAft>
                      </a:pPr>
                      <a:r>
                        <a:rPr lang="zh-CN" sz="1100" kern="100" dirty="0">
                          <a:latin typeface="Times New Roman"/>
                          <a:ea typeface="宋体"/>
                          <a:cs typeface="Times New Roman"/>
                        </a:rPr>
                        <a:t>（</a:t>
                      </a:r>
                      <a:r>
                        <a:rPr lang="en-US" sz="1100" kern="100" dirty="0">
                          <a:latin typeface="Times New Roman"/>
                          <a:ea typeface="宋体"/>
                          <a:cs typeface="Times New Roman"/>
                        </a:rPr>
                        <a:t>3</a:t>
                      </a:r>
                      <a:r>
                        <a:rPr lang="zh-CN" sz="11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100" kern="100">
                          <a:latin typeface="宋体"/>
                          <a:ea typeface="宋体"/>
                          <a:cs typeface="Times New Roman"/>
                        </a:rPr>
                        <a:t>&lt;</a:t>
                      </a:r>
                      <a:r>
                        <a:rPr lang="en-US" sz="1100" kern="100">
                          <a:latin typeface="宋体"/>
                          <a:ea typeface="宋体"/>
                          <a:cs typeface="Times New Roman"/>
                        </a:rPr>
                        <a:t>FC&gt;→&lt;FT&gt; id</a:t>
                      </a:r>
                      <a:endParaRPr lang="zh-CN" sz="11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en-US" sz="1100" kern="100" dirty="0">
                          <a:latin typeface="宋体"/>
                          <a:ea typeface="宋体"/>
                          <a:cs typeface="Times New Roman"/>
                        </a:rPr>
                        <a:t>{  </a:t>
                      </a:r>
                      <a:r>
                        <a:rPr kumimoji="0" lang="en-US" sz="1100" kern="100" dirty="0" err="1">
                          <a:solidFill>
                            <a:schemeClr val="tx1"/>
                          </a:solidFill>
                          <a:latin typeface="宋体"/>
                          <a:ea typeface="宋体"/>
                          <a:cs typeface="Times New Roman"/>
                        </a:rPr>
                        <a:t>gencode</a:t>
                      </a:r>
                      <a:r>
                        <a:rPr kumimoji="0" lang="en-US" sz="1100" kern="100" dirty="0">
                          <a:solidFill>
                            <a:schemeClr val="tx1"/>
                          </a:solidFill>
                          <a:latin typeface="宋体"/>
                          <a:ea typeface="宋体"/>
                          <a:cs typeface="Times New Roman"/>
                        </a:rPr>
                        <a:t>(</a:t>
                      </a:r>
                      <a:r>
                        <a:rPr kumimoji="0" lang="en-US" altLang="zh-CN" sz="1100" kern="100" dirty="0">
                          <a:solidFill>
                            <a:schemeClr val="tx1"/>
                          </a:solidFill>
                          <a:latin typeface="宋体"/>
                          <a:ea typeface="宋体"/>
                          <a:cs typeface="Times New Roman"/>
                        </a:rPr>
                        <a:t>entry(id).name</a:t>
                      </a:r>
                      <a:r>
                        <a:rPr kumimoji="0" lang="zh-CN" altLang="en-US" sz="1100" kern="100" dirty="0">
                          <a:solidFill>
                            <a:schemeClr val="tx1"/>
                          </a:solidFill>
                          <a:latin typeface="宋体"/>
                          <a:ea typeface="宋体"/>
                          <a:cs typeface="Times New Roman"/>
                        </a:rPr>
                        <a:t>， ， ，</a:t>
                      </a:r>
                      <a:r>
                        <a:rPr kumimoji="0" lang="en-US" sz="1100" kern="100" dirty="0">
                          <a:solidFill>
                            <a:schemeClr val="tx1"/>
                          </a:solidFill>
                          <a:latin typeface="宋体"/>
                          <a:ea typeface="宋体"/>
                          <a:cs typeface="Times New Roman"/>
                        </a:rPr>
                        <a:t> )}</a:t>
                      </a:r>
                      <a:endParaRPr kumimoji="0" lang="zh-CN" altLang="en-US" sz="1100" kern="100" dirty="0">
                        <a:solidFill>
                          <a:schemeClr val="tx1"/>
                        </a:solidFill>
                        <a:latin typeface="宋体"/>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88032">
                <a:tc>
                  <a:txBody>
                    <a:bodyPr/>
                    <a:lstStyle/>
                    <a:p>
                      <a:pPr algn="l">
                        <a:lnSpc>
                          <a:spcPct val="95000"/>
                        </a:lnSpc>
                        <a:spcAft>
                          <a:spcPts val="0"/>
                        </a:spcAft>
                      </a:pPr>
                      <a:r>
                        <a:rPr lang="zh-CN" sz="1100" kern="100" dirty="0">
                          <a:latin typeface="Times New Roman"/>
                          <a:ea typeface="宋体"/>
                          <a:cs typeface="Times New Roman"/>
                        </a:rPr>
                        <a:t>（</a:t>
                      </a:r>
                      <a:r>
                        <a:rPr lang="en-US" sz="1100" kern="100" dirty="0">
                          <a:latin typeface="Times New Roman"/>
                          <a:ea typeface="宋体"/>
                          <a:cs typeface="Times New Roman"/>
                        </a:rPr>
                        <a:t>2</a:t>
                      </a:r>
                      <a:r>
                        <a:rPr lang="zh-CN" sz="11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100" kern="100" dirty="0">
                          <a:latin typeface="宋体"/>
                          <a:ea typeface="宋体"/>
                          <a:cs typeface="Times New Roman"/>
                        </a:rPr>
                        <a:t>&lt;</a:t>
                      </a:r>
                      <a:r>
                        <a:rPr lang="en-US" sz="1100" kern="100" dirty="0">
                          <a:latin typeface="宋体"/>
                          <a:ea typeface="宋体"/>
                          <a:cs typeface="Times New Roman"/>
                        </a:rPr>
                        <a:t>FB&gt; →&lt;FC&gt;(&lt;FAFPL&gt;)</a:t>
                      </a:r>
                      <a:endParaRPr lang="zh-CN" sz="11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zh-CN" sz="1100" kern="100" dirty="0">
                          <a:latin typeface="Times New Roman"/>
                          <a:ea typeface="宋体"/>
                          <a:cs typeface="Times New Roman"/>
                        </a:rPr>
                        <a:t>{</a:t>
                      </a:r>
                      <a:r>
                        <a:rPr lang="en-US" altLang="zh-CN" sz="1100" kern="100" baseline="0" dirty="0">
                          <a:latin typeface="Times New Roman"/>
                          <a:ea typeface="宋体"/>
                          <a:cs typeface="Times New Roman"/>
                        </a:rPr>
                        <a:t>           </a:t>
                      </a:r>
                      <a:r>
                        <a:rPr lang="zh-CN" sz="1100" kern="100" dirty="0">
                          <a:latin typeface="Times New Roman"/>
                          <a:ea typeface="宋体"/>
                          <a:cs typeface="Times New Roman"/>
                        </a:rPr>
                        <a:t>}</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16024">
                <a:tc>
                  <a:txBody>
                    <a:bodyPr/>
                    <a:lstStyle/>
                    <a:p>
                      <a:pPr algn="l">
                        <a:lnSpc>
                          <a:spcPct val="95000"/>
                        </a:lnSpc>
                        <a:spcAft>
                          <a:spcPts val="0"/>
                        </a:spcAft>
                      </a:pPr>
                      <a:r>
                        <a:rPr lang="zh-CN" sz="1100" kern="100" dirty="0">
                          <a:latin typeface="Times New Roman"/>
                          <a:ea typeface="宋体"/>
                          <a:cs typeface="Times New Roman"/>
                        </a:rPr>
                        <a:t>（</a:t>
                      </a:r>
                      <a:r>
                        <a:rPr lang="en-US" sz="1100" kern="100" dirty="0">
                          <a:latin typeface="Times New Roman"/>
                          <a:ea typeface="宋体"/>
                          <a:cs typeface="Times New Roman"/>
                        </a:rPr>
                        <a:t>1</a:t>
                      </a:r>
                      <a:r>
                        <a:rPr lang="zh-CN" sz="11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it-IT" sz="1100" kern="100" dirty="0">
                          <a:latin typeface="宋体"/>
                          <a:ea typeface="宋体"/>
                          <a:cs typeface="Times New Roman"/>
                        </a:rPr>
                        <a:t>&lt;</a:t>
                      </a:r>
                      <a:r>
                        <a:rPr lang="en-US" sz="1100" kern="100" dirty="0">
                          <a:latin typeface="宋体"/>
                          <a:ea typeface="宋体"/>
                          <a:cs typeface="Times New Roman"/>
                        </a:rPr>
                        <a:t>FA&gt; →&lt;FB&gt;&lt;CST&gt;</a:t>
                      </a:r>
                      <a:endParaRPr lang="zh-CN" sz="11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95000"/>
                        </a:lnSpc>
                        <a:spcAft>
                          <a:spcPts val="0"/>
                        </a:spcAft>
                      </a:pPr>
                      <a:r>
                        <a:rPr lang="zh-CN" sz="1100" kern="100" dirty="0">
                          <a:latin typeface="Times New Roman"/>
                          <a:ea typeface="宋体"/>
                          <a:cs typeface="Times New Roman"/>
                        </a:rPr>
                        <a:t>{  gencode(ret， ， ， )    </a:t>
                      </a:r>
                      <a:r>
                        <a:rPr lang="en-US" sz="1100" kern="100" dirty="0">
                          <a:latin typeface="宋体"/>
                          <a:ea typeface="宋体"/>
                          <a:cs typeface="Times New Roman"/>
                        </a:rPr>
                        <a:t> </a:t>
                      </a:r>
                      <a:r>
                        <a:rPr lang="zh-CN" sz="1100" kern="100" dirty="0">
                          <a:latin typeface="Times New Roman"/>
                          <a:ea typeface="宋体"/>
                          <a:cs typeface="Times New Roman"/>
                        </a:rPr>
                        <a:t>       }</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76508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3914383014"/>
              </p:ext>
            </p:extLst>
          </p:nvPr>
        </p:nvGraphicFramePr>
        <p:xfrm>
          <a:off x="1907705" y="987574"/>
          <a:ext cx="3096344" cy="1395413"/>
        </p:xfrm>
        <a:graphic>
          <a:graphicData uri="http://schemas.openxmlformats.org/drawingml/2006/table">
            <a:tbl>
              <a:tblPr/>
              <a:tblGrid>
                <a:gridCol w="3096344">
                  <a:extLst>
                    <a:ext uri="{9D8B030D-6E8A-4147-A177-3AD203B41FA5}">
                      <a16:colId xmlns:a16="http://schemas.microsoft.com/office/drawing/2014/main" val="20000"/>
                    </a:ext>
                  </a:extLst>
                </a:gridCol>
              </a:tblGrid>
              <a:tr h="1395413">
                <a:tc>
                  <a:txBody>
                    <a:bodyPr/>
                    <a:lstStyle/>
                    <a:p>
                      <a:pPr algn="l">
                        <a:lnSpc>
                          <a:spcPct val="120000"/>
                        </a:lnSpc>
                        <a:spcAft>
                          <a:spcPts val="0"/>
                        </a:spcAft>
                      </a:pPr>
                      <a:r>
                        <a:rPr lang="en-US" sz="1800" kern="100" dirty="0" err="1">
                          <a:latin typeface="宋体"/>
                          <a:ea typeface="宋体"/>
                          <a:cs typeface="宋体"/>
                        </a:rPr>
                        <a:t>int</a:t>
                      </a:r>
                      <a:r>
                        <a:rPr lang="en-US" sz="1800" kern="100" dirty="0">
                          <a:latin typeface="宋体"/>
                          <a:ea typeface="宋体"/>
                          <a:cs typeface="宋体"/>
                        </a:rPr>
                        <a:t> max(</a:t>
                      </a:r>
                      <a:r>
                        <a:rPr lang="en-US" sz="1800" kern="100" dirty="0" err="1">
                          <a:latin typeface="宋体"/>
                          <a:ea typeface="宋体"/>
                          <a:cs typeface="宋体"/>
                        </a:rPr>
                        <a:t>int</a:t>
                      </a:r>
                      <a:r>
                        <a:rPr lang="en-US" sz="1800" kern="100" dirty="0">
                          <a:latin typeface="宋体"/>
                          <a:ea typeface="宋体"/>
                          <a:cs typeface="宋体"/>
                        </a:rPr>
                        <a:t> x</a:t>
                      </a:r>
                      <a:r>
                        <a:rPr lang="zh-CN" sz="1800" kern="100" dirty="0">
                          <a:latin typeface="Times New Roman"/>
                          <a:ea typeface="宋体"/>
                          <a:cs typeface="宋体"/>
                        </a:rPr>
                        <a:t>，</a:t>
                      </a:r>
                      <a:r>
                        <a:rPr lang="en-US" sz="1800" kern="100" dirty="0" err="1">
                          <a:latin typeface="Times New Roman"/>
                          <a:ea typeface="宋体"/>
                          <a:cs typeface="宋体"/>
                        </a:rPr>
                        <a:t>int</a:t>
                      </a:r>
                      <a:r>
                        <a:rPr lang="en-US" sz="1800" kern="100" dirty="0">
                          <a:latin typeface="Times New Roman"/>
                          <a:ea typeface="宋体"/>
                          <a:cs typeface="宋体"/>
                        </a:rPr>
                        <a:t> y)</a:t>
                      </a:r>
                      <a:endParaRPr lang="zh-CN" sz="1800" kern="100" dirty="0">
                        <a:latin typeface="Times New Roman"/>
                        <a:ea typeface="宋体"/>
                        <a:cs typeface="Times New Roman"/>
                      </a:endParaRPr>
                    </a:p>
                    <a:p>
                      <a:pPr algn="l">
                        <a:lnSpc>
                          <a:spcPct val="120000"/>
                        </a:lnSpc>
                        <a:spcAft>
                          <a:spcPts val="0"/>
                        </a:spcAft>
                      </a:pPr>
                      <a:r>
                        <a:rPr lang="en-US" sz="1800" kern="100" dirty="0">
                          <a:latin typeface="宋体"/>
                          <a:ea typeface="宋体"/>
                          <a:cs typeface="宋体"/>
                        </a:rPr>
                        <a:t>{</a:t>
                      </a:r>
                      <a:endParaRPr lang="zh-CN" sz="1800" kern="100" dirty="0">
                        <a:latin typeface="Times New Roman"/>
                        <a:ea typeface="宋体"/>
                        <a:cs typeface="Times New Roman"/>
                      </a:endParaRPr>
                    </a:p>
                    <a:p>
                      <a:pPr algn="l">
                        <a:lnSpc>
                          <a:spcPct val="120000"/>
                        </a:lnSpc>
                        <a:spcAft>
                          <a:spcPts val="0"/>
                        </a:spcAft>
                      </a:pPr>
                      <a:r>
                        <a:rPr lang="en-US" sz="1800" kern="100" dirty="0">
                          <a:latin typeface="宋体"/>
                          <a:ea typeface="宋体"/>
                          <a:cs typeface="宋体"/>
                        </a:rPr>
                        <a:t>   </a:t>
                      </a:r>
                      <a:r>
                        <a:rPr lang="zh-CN" sz="1800" kern="100" dirty="0">
                          <a:latin typeface="Times New Roman"/>
                          <a:ea typeface="宋体"/>
                          <a:cs typeface="宋体"/>
                        </a:rPr>
                        <a:t>┆</a:t>
                      </a:r>
                      <a:endParaRPr lang="zh-CN" sz="1800" kern="100" dirty="0">
                        <a:latin typeface="Times New Roman"/>
                        <a:ea typeface="宋体"/>
                        <a:cs typeface="Times New Roman"/>
                      </a:endParaRPr>
                    </a:p>
                    <a:p>
                      <a:pPr algn="l">
                        <a:lnSpc>
                          <a:spcPct val="120000"/>
                        </a:lnSpc>
                        <a:spcAft>
                          <a:spcPts val="0"/>
                        </a:spcAft>
                      </a:pPr>
                      <a:r>
                        <a:rPr lang="zh-CN" sz="1800" kern="100" dirty="0">
                          <a:latin typeface="Times New Roman"/>
                          <a:ea typeface="宋体"/>
                          <a:cs typeface="宋体"/>
                        </a:rPr>
                        <a:t>}</a:t>
                      </a:r>
                      <a:endParaRPr lang="zh-CN" sz="1800" kern="100" dirty="0">
                        <a:latin typeface="Times New Roman"/>
                        <a:ea typeface="宋体"/>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118788" name="Rectangle 1"/>
          <p:cNvSpPr>
            <a:spLocks noChangeArrowheads="1"/>
          </p:cNvSpPr>
          <p:nvPr/>
        </p:nvSpPr>
        <p:spPr bwMode="auto">
          <a:xfrm>
            <a:off x="107950" y="555526"/>
            <a:ext cx="91440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lvl1pPr indent="266700">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r>
              <a:rPr lang="zh-CN" altLang="zh-CN" sz="2000" dirty="0">
                <a:latin typeface="Times New Roman" pitchFamily="18" charset="0"/>
                <a:cs typeface="Times New Roman" pitchFamily="18" charset="0"/>
              </a:rPr>
              <a:t>下述函数定义的第一行进行语义处理和中间代码翻译。</a:t>
            </a:r>
            <a:endParaRPr lang="en-US" altLang="zh-CN" sz="2000" dirty="0">
              <a:latin typeface="Times New Roman" pitchFamily="18" charset="0"/>
              <a:cs typeface="Times New Roman" pitchFamily="18" charset="0"/>
            </a:endParaRPr>
          </a:p>
          <a:p>
            <a:pPr>
              <a:lnSpc>
                <a:spcPct val="100000"/>
              </a:lnSpc>
              <a:spcBef>
                <a:spcPct val="0"/>
              </a:spcBef>
              <a:buFontTx/>
              <a:buNone/>
            </a:pPr>
            <a:endParaRPr lang="en-US" altLang="zh-CN" sz="2000" dirty="0">
              <a:latin typeface="Times New Roman" pitchFamily="18" charset="0"/>
              <a:cs typeface="Times New Roman" pitchFamily="18" charset="0"/>
            </a:endParaRPr>
          </a:p>
          <a:p>
            <a:pPr>
              <a:lnSpc>
                <a:spcPct val="100000"/>
              </a:lnSpc>
              <a:spcBef>
                <a:spcPct val="0"/>
              </a:spcBef>
              <a:buFontTx/>
              <a:buNone/>
            </a:pPr>
            <a:endParaRPr lang="en-US" altLang="zh-CN" sz="2000" dirty="0">
              <a:latin typeface="Times New Roman" pitchFamily="18" charset="0"/>
              <a:cs typeface="Times New Roman" pitchFamily="18" charset="0"/>
            </a:endParaRPr>
          </a:p>
          <a:p>
            <a:pPr>
              <a:lnSpc>
                <a:spcPct val="100000"/>
              </a:lnSpc>
              <a:spcBef>
                <a:spcPct val="0"/>
              </a:spcBef>
              <a:buFontTx/>
              <a:buNone/>
            </a:pPr>
            <a:endParaRPr lang="en-US" altLang="zh-CN" sz="2000" dirty="0">
              <a:latin typeface="Times New Roman" pitchFamily="18" charset="0"/>
              <a:cs typeface="Times New Roman" pitchFamily="18" charset="0"/>
            </a:endParaRPr>
          </a:p>
          <a:p>
            <a:pPr>
              <a:lnSpc>
                <a:spcPct val="100000"/>
              </a:lnSpc>
              <a:spcBef>
                <a:spcPct val="0"/>
              </a:spcBef>
              <a:buFontTx/>
              <a:buNone/>
            </a:pPr>
            <a:endParaRPr lang="en-US" altLang="zh-CN" sz="2000" dirty="0">
              <a:latin typeface="Times New Roman" pitchFamily="18" charset="0"/>
              <a:cs typeface="Times New Roman" pitchFamily="18" charset="0"/>
            </a:endParaRPr>
          </a:p>
          <a:p>
            <a:pPr>
              <a:lnSpc>
                <a:spcPct val="100000"/>
              </a:lnSpc>
              <a:spcBef>
                <a:spcPct val="0"/>
              </a:spcBef>
              <a:buFontTx/>
              <a:buNone/>
            </a:pPr>
            <a:endParaRPr lang="en-US" altLang="zh-CN" sz="2000" dirty="0">
              <a:latin typeface="Times New Roman" pitchFamily="18" charset="0"/>
              <a:cs typeface="Times New Roman" pitchFamily="18" charset="0"/>
            </a:endParaRPr>
          </a:p>
          <a:p>
            <a:pPr>
              <a:lnSpc>
                <a:spcPct val="100000"/>
              </a:lnSpc>
              <a:spcBef>
                <a:spcPct val="0"/>
              </a:spcBef>
              <a:buFontTx/>
              <a:buNone/>
            </a:pPr>
            <a:r>
              <a:rPr lang="zh-CN" altLang="zh-CN" sz="2000" dirty="0">
                <a:latin typeface="Times New Roman" pitchFamily="18" charset="0"/>
                <a:cs typeface="Times New Roman" pitchFamily="18" charset="0"/>
              </a:rPr>
              <a:t>只对第一行进行处理时，会在符号表中增加两个变量</a:t>
            </a:r>
            <a:r>
              <a:rPr lang="en-US" altLang="zh-CN" sz="2000" dirty="0">
                <a:latin typeface="Times New Roman" pitchFamily="18" charset="0"/>
                <a:cs typeface="Times New Roman" pitchFamily="18" charset="0"/>
              </a:rPr>
              <a:t>x</a:t>
            </a:r>
            <a:r>
              <a:rPr lang="zh-CN" altLang="en-US" sz="2000" dirty="0">
                <a:latin typeface="Times New Roman" pitchFamily="18" charset="0"/>
                <a:cs typeface="Times New Roman" pitchFamily="18" charset="0"/>
              </a:rPr>
              <a:t>和</a:t>
            </a:r>
            <a:r>
              <a:rPr lang="en-US" altLang="zh-CN" sz="2000" dirty="0">
                <a:latin typeface="Times New Roman" pitchFamily="18" charset="0"/>
                <a:cs typeface="Times New Roman" pitchFamily="18" charset="0"/>
              </a:rPr>
              <a:t>y</a:t>
            </a:r>
            <a:r>
              <a:rPr lang="zh-CN" altLang="en-US" sz="2000" dirty="0">
                <a:latin typeface="Times New Roman" pitchFamily="18" charset="0"/>
                <a:cs typeface="Times New Roman" pitchFamily="18" charset="0"/>
              </a:rPr>
              <a:t>，并将其类型设置为</a:t>
            </a:r>
            <a:r>
              <a:rPr lang="en-US" altLang="zh-CN" sz="2000" dirty="0" err="1">
                <a:latin typeface="Times New Roman" pitchFamily="18" charset="0"/>
                <a:cs typeface="Times New Roman" pitchFamily="18" charset="0"/>
              </a:rPr>
              <a:t>int</a:t>
            </a:r>
            <a:r>
              <a:rPr lang="zh-CN" altLang="en-US" sz="2000" dirty="0">
                <a:latin typeface="Times New Roman" pitchFamily="18" charset="0"/>
                <a:cs typeface="Times New Roman" pitchFamily="18" charset="0"/>
              </a:rPr>
              <a:t>，生成</a:t>
            </a:r>
            <a:r>
              <a:rPr lang="en-US" altLang="zh-CN" sz="2000" dirty="0">
                <a:latin typeface="Times New Roman" pitchFamily="18" charset="0"/>
                <a:cs typeface="Times New Roman" pitchFamily="18" charset="0"/>
              </a:rPr>
              <a:t>1</a:t>
            </a:r>
            <a:r>
              <a:rPr lang="zh-CN" altLang="en-US" sz="2000" dirty="0">
                <a:latin typeface="Times New Roman" pitchFamily="18" charset="0"/>
                <a:cs typeface="Times New Roman" pitchFamily="18" charset="0"/>
              </a:rPr>
              <a:t>条新的四元式插入到四元式表中：</a:t>
            </a:r>
            <a:endParaRPr lang="zh-CN" altLang="en-US" sz="2000" dirty="0"/>
          </a:p>
          <a:p>
            <a:pPr>
              <a:lnSpc>
                <a:spcPct val="100000"/>
              </a:lnSpc>
              <a:spcBef>
                <a:spcPct val="0"/>
              </a:spcBef>
              <a:buFontTx/>
              <a:buNone/>
            </a:pPr>
            <a:r>
              <a:rPr lang="zh-CN" altLang="en-US" sz="2000" dirty="0">
                <a:latin typeface="Times New Roman" pitchFamily="18" charset="0"/>
                <a:cs typeface="Times New Roman" pitchFamily="18" charset="0"/>
              </a:rPr>
              <a:t>（</a:t>
            </a:r>
            <a:r>
              <a:rPr lang="en-US" altLang="zh-CN" sz="2000" dirty="0" err="1">
                <a:latin typeface="Times New Roman" pitchFamily="18" charset="0"/>
                <a:cs typeface="Times New Roman" pitchFamily="18" charset="0"/>
              </a:rPr>
              <a:t>i</a:t>
            </a:r>
            <a:r>
              <a:rPr lang="zh-CN" altLang="en-US" sz="2000" dirty="0">
                <a:latin typeface="Times New Roman" pitchFamily="18" charset="0"/>
                <a:cs typeface="Times New Roman" pitchFamily="18" charset="0"/>
              </a:rPr>
              <a:t>）（</a:t>
            </a:r>
            <a:r>
              <a:rPr lang="en-US" altLang="zh-CN" sz="2000" dirty="0">
                <a:latin typeface="Times New Roman" pitchFamily="18" charset="0"/>
                <a:cs typeface="Times New Roman" pitchFamily="18" charset="0"/>
              </a:rPr>
              <a:t>max</a:t>
            </a:r>
            <a:r>
              <a:rPr lang="zh-CN" altLang="en-US" sz="2000" dirty="0">
                <a:latin typeface="Times New Roman" pitchFamily="18" charset="0"/>
                <a:cs typeface="Times New Roman" pitchFamily="18" charset="0"/>
              </a:rPr>
              <a:t>， ， ， ）</a:t>
            </a:r>
            <a:endParaRPr lang="zh-CN" altLang="en-US" sz="2000" dirty="0"/>
          </a:p>
          <a:p>
            <a:pPr>
              <a:lnSpc>
                <a:spcPct val="100000"/>
              </a:lnSpc>
              <a:spcBef>
                <a:spcPct val="0"/>
              </a:spcBef>
              <a:buFontTx/>
              <a:buNone/>
            </a:pPr>
            <a:r>
              <a:rPr lang="zh-CN" altLang="en-US" sz="2000" dirty="0">
                <a:latin typeface="Times New Roman" pitchFamily="18" charset="0"/>
                <a:cs typeface="Times New Roman" pitchFamily="18" charset="0"/>
              </a:rPr>
              <a:t>到该函数最后的</a:t>
            </a:r>
            <a:r>
              <a:rPr lang="en-US" altLang="zh-CN" sz="2000" dirty="0">
                <a:latin typeface="Times New Roman" pitchFamily="18" charset="0"/>
                <a:cs typeface="Times New Roman" pitchFamily="18" charset="0"/>
              </a:rPr>
              <a:t>}</a:t>
            </a:r>
            <a:r>
              <a:rPr lang="zh-CN" altLang="en-US" sz="2000" dirty="0">
                <a:latin typeface="Times New Roman" pitchFamily="18" charset="0"/>
                <a:cs typeface="Times New Roman" pitchFamily="18" charset="0"/>
              </a:rPr>
              <a:t>翻译结束后，会再生成</a:t>
            </a:r>
            <a:r>
              <a:rPr lang="en-US" altLang="zh-CN" sz="2000" dirty="0">
                <a:latin typeface="Times New Roman" pitchFamily="18" charset="0"/>
                <a:cs typeface="Times New Roman" pitchFamily="18" charset="0"/>
              </a:rPr>
              <a:t>1</a:t>
            </a:r>
            <a:r>
              <a:rPr lang="zh-CN" altLang="en-US" sz="2000" dirty="0">
                <a:latin typeface="Times New Roman" pitchFamily="18" charset="0"/>
                <a:cs typeface="Times New Roman" pitchFamily="18" charset="0"/>
              </a:rPr>
              <a:t>条四元式：</a:t>
            </a:r>
            <a:endParaRPr lang="zh-CN" altLang="en-US" sz="2000" dirty="0"/>
          </a:p>
          <a:p>
            <a:pPr>
              <a:lnSpc>
                <a:spcPct val="100000"/>
              </a:lnSpc>
              <a:spcBef>
                <a:spcPct val="0"/>
              </a:spcBef>
              <a:buFontTx/>
              <a:buNone/>
            </a:pPr>
            <a:r>
              <a:rPr lang="zh-CN" altLang="en-US" sz="2000" dirty="0">
                <a:latin typeface="Times New Roman" pitchFamily="18" charset="0"/>
                <a:cs typeface="Times New Roman" pitchFamily="18" charset="0"/>
              </a:rPr>
              <a:t>（</a:t>
            </a:r>
            <a:r>
              <a:rPr lang="en-US" altLang="zh-CN" sz="2000" dirty="0">
                <a:latin typeface="Times New Roman" pitchFamily="18" charset="0"/>
                <a:cs typeface="Times New Roman" pitchFamily="18" charset="0"/>
              </a:rPr>
              <a:t>j</a:t>
            </a:r>
            <a:r>
              <a:rPr lang="zh-CN" altLang="en-US" sz="2000" dirty="0">
                <a:latin typeface="Times New Roman" pitchFamily="18" charset="0"/>
                <a:cs typeface="Times New Roman" pitchFamily="18" charset="0"/>
              </a:rPr>
              <a:t>）（</a:t>
            </a:r>
            <a:r>
              <a:rPr lang="en-US" altLang="zh-CN" sz="2000" dirty="0">
                <a:latin typeface="Times New Roman" pitchFamily="18" charset="0"/>
                <a:cs typeface="Times New Roman" pitchFamily="18" charset="0"/>
              </a:rPr>
              <a:t>ret</a:t>
            </a:r>
            <a:r>
              <a:rPr lang="zh-CN" altLang="en-US" sz="2000" dirty="0">
                <a:latin typeface="Times New Roman" pitchFamily="18" charset="0"/>
                <a:cs typeface="Times New Roman" pitchFamily="18" charset="0"/>
              </a:rPr>
              <a:t>， ， ，  ）</a:t>
            </a:r>
            <a:endParaRPr lang="zh-CN" altLang="en-US" sz="2000" dirty="0"/>
          </a:p>
          <a:p>
            <a:pPr>
              <a:lnSpc>
                <a:spcPct val="100000"/>
              </a:lnSpc>
              <a:spcBef>
                <a:spcPct val="0"/>
              </a:spcBef>
              <a:buFontTx/>
              <a:buNone/>
            </a:pPr>
            <a:r>
              <a:rPr lang="zh-CN" altLang="en-US" sz="2000" dirty="0">
                <a:latin typeface="Times New Roman" pitchFamily="18" charset="0"/>
                <a:cs typeface="Times New Roman" pitchFamily="18" charset="0"/>
              </a:rPr>
              <a:t>四元式的编号</a:t>
            </a:r>
            <a:r>
              <a:rPr lang="en-US" altLang="zh-CN" sz="2000" dirty="0" err="1">
                <a:latin typeface="Times New Roman" pitchFamily="18" charset="0"/>
                <a:cs typeface="Times New Roman" pitchFamily="18" charset="0"/>
              </a:rPr>
              <a:t>i</a:t>
            </a:r>
            <a:r>
              <a:rPr lang="zh-CN" altLang="en-US" sz="2000" dirty="0">
                <a:latin typeface="Times New Roman" pitchFamily="18" charset="0"/>
                <a:cs typeface="Times New Roman" pitchFamily="18" charset="0"/>
              </a:rPr>
              <a:t>和</a:t>
            </a:r>
            <a:r>
              <a:rPr lang="en-US" altLang="zh-CN" sz="2000" dirty="0">
                <a:latin typeface="Times New Roman" pitchFamily="18" charset="0"/>
                <a:cs typeface="Times New Roman" pitchFamily="18" charset="0"/>
              </a:rPr>
              <a:t>j</a:t>
            </a:r>
            <a:r>
              <a:rPr lang="zh-CN" altLang="en-US" sz="2000" dirty="0">
                <a:latin typeface="Times New Roman" pitchFamily="18" charset="0"/>
                <a:cs typeface="Times New Roman" pitchFamily="18" charset="0"/>
              </a:rPr>
              <a:t>是生成四元式的过程中自动加</a:t>
            </a:r>
            <a:r>
              <a:rPr lang="en-US" altLang="zh-CN" sz="2000" dirty="0">
                <a:latin typeface="Times New Roman" pitchFamily="18" charset="0"/>
                <a:cs typeface="Times New Roman" pitchFamily="18" charset="0"/>
              </a:rPr>
              <a:t>1</a:t>
            </a:r>
            <a:r>
              <a:rPr lang="zh-CN" altLang="en-US" sz="2000" dirty="0">
                <a:latin typeface="Times New Roman" pitchFamily="18" charset="0"/>
                <a:cs typeface="Times New Roman" pitchFamily="18" charset="0"/>
              </a:rPr>
              <a:t>得到的。</a:t>
            </a:r>
            <a:endParaRPr lang="zh-CN" altLang="en-US" sz="2000" dirty="0"/>
          </a:p>
        </p:txBody>
      </p:sp>
    </p:spTree>
    <p:extLst>
      <p:ext uri="{BB962C8B-B14F-4D97-AF65-F5344CB8AC3E}">
        <p14:creationId xmlns:p14="http://schemas.microsoft.com/office/powerpoint/2010/main" val="123573173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041258"/>
            <a:ext cx="7332457" cy="1446550"/>
          </a:xfrm>
          <a:prstGeom prst="rect">
            <a:avLst/>
          </a:prstGeom>
        </p:spPr>
        <p:txBody>
          <a:bodyPr wrap="none">
            <a:spAutoFit/>
          </a:bodyPr>
          <a:lstStyle/>
          <a:p>
            <a:r>
              <a:rPr lang="en-US" altLang="zh-CN" sz="4400" b="1" dirty="0">
                <a:solidFill>
                  <a:srgbClr val="CC0099"/>
                </a:solidFill>
                <a:ea typeface="隶书" pitchFamily="49" charset="-122"/>
              </a:rPr>
              <a:t>4</a:t>
            </a:r>
            <a:r>
              <a:rPr lang="zh-CN" altLang="en-US" sz="4400" b="1" dirty="0">
                <a:solidFill>
                  <a:srgbClr val="CC0099"/>
                </a:solidFill>
                <a:ea typeface="隶书" pitchFamily="49" charset="-122"/>
              </a:rPr>
              <a:t>、常见语句的语法制导翻译</a:t>
            </a:r>
            <a:endParaRPr lang="en-US" altLang="zh-CN" sz="4400" b="1" dirty="0">
              <a:solidFill>
                <a:srgbClr val="CC0099"/>
              </a:solidFill>
              <a:ea typeface="隶书" pitchFamily="49" charset="-122"/>
            </a:endParaRPr>
          </a:p>
          <a:p>
            <a:r>
              <a:rPr lang="en-US" altLang="zh-CN" sz="4400" b="1" dirty="0">
                <a:solidFill>
                  <a:srgbClr val="CC0099"/>
                </a:solidFill>
                <a:ea typeface="隶书" pitchFamily="49" charset="-122"/>
              </a:rPr>
              <a:t>    </a:t>
            </a:r>
            <a:r>
              <a:rPr lang="en-US" altLang="zh-CN" sz="3600" b="1" dirty="0">
                <a:solidFill>
                  <a:srgbClr val="CC0099"/>
                </a:solidFill>
                <a:ea typeface="隶书" pitchFamily="49" charset="-122"/>
              </a:rPr>
              <a:t>——</a:t>
            </a:r>
            <a:r>
              <a:rPr lang="zh-CN" altLang="en-US" sz="3600" b="1" dirty="0">
                <a:solidFill>
                  <a:srgbClr val="CC0099"/>
                </a:solidFill>
                <a:ea typeface="隶书" pitchFamily="49" charset="-122"/>
              </a:rPr>
              <a:t>函数调用语句的翻译</a:t>
            </a:r>
            <a:endParaRPr lang="zh-CN" altLang="en-US" sz="4400" b="1" dirty="0">
              <a:solidFill>
                <a:srgbClr val="CC0099"/>
              </a:solidFill>
              <a:ea typeface="隶书" pitchFamily="49" charset="-122"/>
            </a:endParaRPr>
          </a:p>
        </p:txBody>
      </p:sp>
    </p:spTree>
    <p:extLst>
      <p:ext uri="{BB962C8B-B14F-4D97-AF65-F5344CB8AC3E}">
        <p14:creationId xmlns:p14="http://schemas.microsoft.com/office/powerpoint/2010/main" val="276958871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ph type="title"/>
          </p:nvPr>
        </p:nvSpPr>
        <p:spPr>
          <a:xfrm>
            <a:off x="92365" y="263110"/>
            <a:ext cx="8229600" cy="576064"/>
          </a:xfrm>
        </p:spPr>
        <p:txBody>
          <a:bodyPr>
            <a:normAutofit fontScale="90000"/>
          </a:bodyPr>
          <a:lstStyle/>
          <a:p>
            <a:r>
              <a:rPr kumimoji="1" lang="zh-CN" altLang="zh-CN" sz="4800" b="1" dirty="0">
                <a:solidFill>
                  <a:srgbClr val="CC0099"/>
                </a:solidFill>
                <a:latin typeface="Times New Roman" pitchFamily="18" charset="0"/>
                <a:ea typeface="隶书" pitchFamily="49" charset="-122"/>
              </a:rPr>
              <a:t>函数调用过程</a:t>
            </a:r>
            <a:endParaRPr kumimoji="1" lang="zh-CN" altLang="en-US" sz="4800" b="1" dirty="0">
              <a:solidFill>
                <a:srgbClr val="CC0099"/>
              </a:solidFill>
              <a:latin typeface="Times New Roman" pitchFamily="18" charset="0"/>
              <a:ea typeface="隶书" pitchFamily="49" charset="-122"/>
            </a:endParaRPr>
          </a:p>
        </p:txBody>
      </p:sp>
      <p:sp>
        <p:nvSpPr>
          <p:cNvPr id="119811" name="Rectangle 2"/>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356353" name="Object 1"/>
          <p:cNvGraphicFramePr>
            <a:graphicFrameLocks noChangeAspect="1"/>
          </p:cNvGraphicFramePr>
          <p:nvPr>
            <p:extLst>
              <p:ext uri="{D42A27DB-BD31-4B8C-83A1-F6EECF244321}">
                <p14:modId xmlns:p14="http://schemas.microsoft.com/office/powerpoint/2010/main" val="3628956107"/>
              </p:ext>
            </p:extLst>
          </p:nvPr>
        </p:nvGraphicFramePr>
        <p:xfrm>
          <a:off x="467544" y="1275606"/>
          <a:ext cx="8197850" cy="2814761"/>
        </p:xfrm>
        <a:graphic>
          <a:graphicData uri="http://schemas.openxmlformats.org/presentationml/2006/ole">
            <mc:AlternateContent xmlns:mc="http://schemas.openxmlformats.org/markup-compatibility/2006">
              <mc:Choice xmlns:v="urn:schemas-microsoft-com:vml" Requires="v">
                <p:oleObj spid="_x0000_s36869" name="Visio" r:id="rId3" imgW="3914819" imgH="1465128" progId="Visio.Drawing.11">
                  <p:embed/>
                </p:oleObj>
              </mc:Choice>
              <mc:Fallback>
                <p:oleObj name="Visio" r:id="rId3" imgW="3914819" imgH="1465128" progId="Visio.Drawing.11">
                  <p:embed/>
                  <p:pic>
                    <p:nvPicPr>
                      <p:cNvPr id="356353" name="Object 1"/>
                      <p:cNvPicPr>
                        <a:picLocks noChangeAspect="1" noChangeArrowheads="1"/>
                      </p:cNvPicPr>
                      <p:nvPr/>
                    </p:nvPicPr>
                    <p:blipFill>
                      <a:blip r:embed="rId4"/>
                      <a:srcRect/>
                      <a:stretch>
                        <a:fillRect/>
                      </a:stretch>
                    </p:blipFill>
                    <p:spPr bwMode="auto">
                      <a:xfrm>
                        <a:off x="467544" y="1275606"/>
                        <a:ext cx="8197850" cy="2814761"/>
                      </a:xfrm>
                      <a:prstGeom prst="rect">
                        <a:avLst/>
                      </a:prstGeom>
                      <a:noFill/>
                      <a:ln>
                        <a:noFill/>
                      </a:ln>
                    </p:spPr>
                  </p:pic>
                </p:oleObj>
              </mc:Fallback>
            </mc:AlternateContent>
          </a:graphicData>
        </a:graphic>
      </p:graphicFrame>
      <p:sp>
        <p:nvSpPr>
          <p:cNvPr id="119813" name="Rectangle 4"/>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sp>
        <p:nvSpPr>
          <p:cNvPr id="2" name="矩形 1"/>
          <p:cNvSpPr/>
          <p:nvPr/>
        </p:nvSpPr>
        <p:spPr>
          <a:xfrm>
            <a:off x="5303071" y="4500809"/>
            <a:ext cx="2254143" cy="523220"/>
          </a:xfrm>
          <a:prstGeom prst="rect">
            <a:avLst/>
          </a:prstGeom>
        </p:spPr>
        <p:txBody>
          <a:bodyPr wrap="none">
            <a:spAutoFit/>
          </a:bodyPr>
          <a:lstStyle/>
          <a:p>
            <a:r>
              <a:rPr lang="en-US" altLang="zh-CN" sz="2800" dirty="0">
                <a:solidFill>
                  <a:srgbClr val="FF0000"/>
                </a:solidFill>
              </a:rPr>
              <a:t>max(1+2,3)</a:t>
            </a:r>
            <a:endParaRPr lang="zh-CN" altLang="en-US" sz="2800" dirty="0">
              <a:solidFill>
                <a:srgbClr val="FF0000"/>
              </a:solidFill>
            </a:endParaRPr>
          </a:p>
        </p:txBody>
      </p:sp>
      <p:sp>
        <p:nvSpPr>
          <p:cNvPr id="7" name="矩形 6"/>
          <p:cNvSpPr/>
          <p:nvPr/>
        </p:nvSpPr>
        <p:spPr>
          <a:xfrm>
            <a:off x="3347864" y="4568810"/>
            <a:ext cx="1661032" cy="523220"/>
          </a:xfrm>
          <a:prstGeom prst="rect">
            <a:avLst/>
          </a:prstGeom>
        </p:spPr>
        <p:txBody>
          <a:bodyPr wrap="none">
            <a:spAutoFit/>
          </a:bodyPr>
          <a:lstStyle/>
          <a:p>
            <a:r>
              <a:rPr lang="en-US" altLang="zh-CN" sz="2800" dirty="0" err="1">
                <a:solidFill>
                  <a:srgbClr val="FF0000"/>
                </a:solidFill>
              </a:rPr>
              <a:t>maxyy</a:t>
            </a:r>
            <a:r>
              <a:rPr lang="en-US" altLang="zh-CN" sz="2800" dirty="0">
                <a:solidFill>
                  <a:srgbClr val="FF0000"/>
                </a:solidFill>
              </a:rPr>
              <a:t>( )</a:t>
            </a:r>
            <a:endParaRPr lang="zh-CN" altLang="en-US" sz="2800" dirty="0">
              <a:solidFill>
                <a:srgbClr val="FF0000"/>
              </a:solidFill>
            </a:endParaRPr>
          </a:p>
        </p:txBody>
      </p:sp>
    </p:spTree>
    <p:extLst>
      <p:ext uri="{BB962C8B-B14F-4D97-AF65-F5344CB8AC3E}">
        <p14:creationId xmlns:p14="http://schemas.microsoft.com/office/powerpoint/2010/main" val="206033511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
          <p:cNvSpPr>
            <a:spLocks noGrp="1"/>
          </p:cNvSpPr>
          <p:nvPr>
            <p:ph type="title"/>
          </p:nvPr>
        </p:nvSpPr>
        <p:spPr>
          <a:xfrm>
            <a:off x="0" y="241058"/>
            <a:ext cx="3772305" cy="638175"/>
          </a:xfrm>
        </p:spPr>
        <p:txBody>
          <a:bodyPr>
            <a:normAutofit fontScale="90000"/>
          </a:bodyPr>
          <a:lstStyle/>
          <a:p>
            <a:r>
              <a:rPr kumimoji="1" lang="zh-CN" altLang="zh-CN" sz="4800" b="1" dirty="0">
                <a:solidFill>
                  <a:srgbClr val="CC0099"/>
                </a:solidFill>
                <a:latin typeface="Times New Roman" pitchFamily="18" charset="0"/>
                <a:ea typeface="隶书" pitchFamily="49" charset="-122"/>
              </a:rPr>
              <a:t>函数调用过程</a:t>
            </a:r>
            <a:endParaRPr kumimoji="1" lang="zh-CN" altLang="en-US" sz="4800" b="1" dirty="0">
              <a:solidFill>
                <a:srgbClr val="CC0099"/>
              </a:solidFill>
              <a:latin typeface="Times New Roman" pitchFamily="18" charset="0"/>
              <a:ea typeface="隶书" pitchFamily="49" charset="-122"/>
            </a:endParaRPr>
          </a:p>
        </p:txBody>
      </p:sp>
      <p:sp>
        <p:nvSpPr>
          <p:cNvPr id="120835" name="Rectangle 2"/>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356353" name="Object 1"/>
          <p:cNvGraphicFramePr>
            <a:graphicFrameLocks noChangeAspect="1"/>
          </p:cNvGraphicFramePr>
          <p:nvPr>
            <p:extLst>
              <p:ext uri="{D42A27DB-BD31-4B8C-83A1-F6EECF244321}">
                <p14:modId xmlns:p14="http://schemas.microsoft.com/office/powerpoint/2010/main" val="820862151"/>
              </p:ext>
            </p:extLst>
          </p:nvPr>
        </p:nvGraphicFramePr>
        <p:xfrm>
          <a:off x="1" y="3147814"/>
          <a:ext cx="5039771" cy="2019051"/>
        </p:xfrm>
        <a:graphic>
          <a:graphicData uri="http://schemas.openxmlformats.org/presentationml/2006/ole">
            <mc:AlternateContent xmlns:mc="http://schemas.openxmlformats.org/markup-compatibility/2006">
              <mc:Choice xmlns:v="urn:schemas-microsoft-com:vml" Requires="v">
                <p:oleObj spid="_x0000_s37896" name="Visio" r:id="rId3" imgW="3914843" imgH="1465197" progId="Visio.Drawing.11">
                  <p:embed/>
                </p:oleObj>
              </mc:Choice>
              <mc:Fallback>
                <p:oleObj name="Visio" r:id="rId3" imgW="3914843" imgH="1465197" progId="Visio.Drawing.11">
                  <p:embed/>
                  <p:pic>
                    <p:nvPicPr>
                      <p:cNvPr id="356353"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147814"/>
                        <a:ext cx="5039771" cy="2019051"/>
                      </a:xfrm>
                      <a:prstGeom prst="rect">
                        <a:avLst/>
                      </a:prstGeom>
                      <a:solidFill>
                        <a:schemeClr val="bg1"/>
                      </a:solidFill>
                      <a:ln>
                        <a:noFill/>
                      </a:ln>
                    </p:spPr>
                  </p:pic>
                </p:oleObj>
              </mc:Fallback>
            </mc:AlternateContent>
          </a:graphicData>
        </a:graphic>
      </p:graphicFrame>
      <p:sp>
        <p:nvSpPr>
          <p:cNvPr id="120837" name="Rectangle 4"/>
          <p:cNvSpPr>
            <a:spLocks noChangeArrowheads="1"/>
          </p:cNvSpPr>
          <p:nvPr/>
        </p:nvSpPr>
        <p:spPr bwMode="auto">
          <a:xfrm>
            <a:off x="0"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eaLnBrk="1" hangingPunct="1">
              <a:lnSpc>
                <a:spcPct val="100000"/>
              </a:lnSpc>
              <a:spcBef>
                <a:spcPct val="0"/>
              </a:spcBef>
              <a:buFontTx/>
              <a:buNone/>
            </a:pPr>
            <a:endParaRPr lang="zh-CN" altLang="en-US" sz="2400"/>
          </a:p>
        </p:txBody>
      </p:sp>
      <p:graphicFrame>
        <p:nvGraphicFramePr>
          <p:cNvPr id="356355" name="Object 3"/>
          <p:cNvGraphicFramePr>
            <a:graphicFrameLocks noChangeAspect="1"/>
          </p:cNvGraphicFramePr>
          <p:nvPr>
            <p:extLst>
              <p:ext uri="{D42A27DB-BD31-4B8C-83A1-F6EECF244321}">
                <p14:modId xmlns:p14="http://schemas.microsoft.com/office/powerpoint/2010/main" val="1284705146"/>
              </p:ext>
            </p:extLst>
          </p:nvPr>
        </p:nvGraphicFramePr>
        <p:xfrm>
          <a:off x="4427984" y="0"/>
          <a:ext cx="4716016" cy="4443958"/>
        </p:xfrm>
        <a:graphic>
          <a:graphicData uri="http://schemas.openxmlformats.org/presentationml/2006/ole">
            <mc:AlternateContent xmlns:mc="http://schemas.openxmlformats.org/markup-compatibility/2006">
              <mc:Choice xmlns:v="urn:schemas-microsoft-com:vml" Requires="v">
                <p:oleObj spid="_x0000_s37897" name="Visio" r:id="rId5" imgW="3307272" imgH="2203551" progId="Visio.Drawing.11">
                  <p:embed/>
                </p:oleObj>
              </mc:Choice>
              <mc:Fallback>
                <p:oleObj name="Visio" r:id="rId5" imgW="3307272" imgH="2203551" progId="Visio.Drawing.11">
                  <p:embed/>
                  <p:pic>
                    <p:nvPicPr>
                      <p:cNvPr id="35635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7984" y="0"/>
                        <a:ext cx="4716016" cy="444395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3796879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56355"/>
                                        </p:tgtEl>
                                        <p:attrNameLst>
                                          <p:attrName>style.visibility</p:attrName>
                                        </p:attrNameLst>
                                      </p:cBhvr>
                                      <p:to>
                                        <p:strVal val="visible"/>
                                      </p:to>
                                    </p:set>
                                    <p:anim calcmode="lin" valueType="num">
                                      <p:cBhvr additive="base">
                                        <p:cTn id="7" dur="500" fill="hold"/>
                                        <p:tgtEl>
                                          <p:spTgt spid="356355"/>
                                        </p:tgtEl>
                                        <p:attrNameLst>
                                          <p:attrName>ppt_x</p:attrName>
                                        </p:attrNameLst>
                                      </p:cBhvr>
                                      <p:tavLst>
                                        <p:tav tm="0">
                                          <p:val>
                                            <p:strVal val="#ppt_x"/>
                                          </p:val>
                                        </p:tav>
                                        <p:tav tm="100000">
                                          <p:val>
                                            <p:strVal val="#ppt_x"/>
                                          </p:val>
                                        </p:tav>
                                      </p:tavLst>
                                    </p:anim>
                                    <p:anim calcmode="lin" valueType="num">
                                      <p:cBhvr additive="base">
                                        <p:cTn id="8" dur="500" fill="hold"/>
                                        <p:tgtEl>
                                          <p:spTgt spid="3563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标题 1"/>
          <p:cNvSpPr>
            <a:spLocks noGrp="1"/>
          </p:cNvSpPr>
          <p:nvPr>
            <p:ph type="title"/>
          </p:nvPr>
        </p:nvSpPr>
        <p:spPr/>
        <p:txBody>
          <a:bodyPr>
            <a:normAutofit fontScale="90000"/>
          </a:bodyPr>
          <a:lstStyle/>
          <a:p>
            <a:pPr eaLnBrk="1" hangingPunct="1"/>
            <a:r>
              <a:rPr kumimoji="1" lang="zh-CN" altLang="zh-CN" sz="4800" b="1">
                <a:solidFill>
                  <a:srgbClr val="CC0099"/>
                </a:solidFill>
                <a:latin typeface="Times New Roman" pitchFamily="18" charset="0"/>
                <a:ea typeface="隶书" pitchFamily="49" charset="-122"/>
              </a:rPr>
              <a:t>函数调用的翻译</a:t>
            </a:r>
            <a:endParaRPr kumimoji="1" lang="zh-CN" altLang="en-US" sz="4800" b="1">
              <a:solidFill>
                <a:srgbClr val="CC0099"/>
              </a:solidFill>
              <a:latin typeface="Times New Roman" pitchFamily="18" charset="0"/>
              <a:ea typeface="隶书" pitchFamily="49" charset="-122"/>
            </a:endParaRPr>
          </a:p>
        </p:txBody>
      </p:sp>
      <p:sp>
        <p:nvSpPr>
          <p:cNvPr id="121859" name="内容占位符 2"/>
          <p:cNvSpPr>
            <a:spLocks noGrp="1"/>
          </p:cNvSpPr>
          <p:nvPr>
            <p:ph idx="1"/>
          </p:nvPr>
        </p:nvSpPr>
        <p:spPr>
          <a:xfrm>
            <a:off x="457200" y="1110996"/>
            <a:ext cx="8435280" cy="3548985"/>
          </a:xfrm>
        </p:spPr>
        <p:txBody>
          <a:bodyPr>
            <a:normAutofit/>
          </a:bodyPr>
          <a:lstStyle/>
          <a:p>
            <a:pPr>
              <a:buFontTx/>
              <a:buNone/>
            </a:pPr>
            <a:r>
              <a:rPr lang="zh-CN" altLang="zh-CN" sz="2200" dirty="0"/>
              <a:t>在函数调用中需要涉及到</a:t>
            </a:r>
            <a:r>
              <a:rPr lang="en-US" altLang="zh-CN" sz="2200" dirty="0"/>
              <a:t>2</a:t>
            </a:r>
            <a:r>
              <a:rPr lang="zh-CN" altLang="zh-CN" sz="2200" dirty="0"/>
              <a:t>个新的四元式：</a:t>
            </a:r>
          </a:p>
          <a:p>
            <a:pPr>
              <a:buFontTx/>
              <a:buNone/>
            </a:pPr>
            <a:endParaRPr lang="en-US" altLang="zh-CN" sz="2200" dirty="0"/>
          </a:p>
          <a:p>
            <a:pPr>
              <a:buFontTx/>
              <a:buNone/>
            </a:pPr>
            <a:r>
              <a:rPr lang="zh-CN" altLang="zh-CN" sz="2200" dirty="0"/>
              <a:t>（</a:t>
            </a:r>
            <a:r>
              <a:rPr lang="en-US" altLang="zh-CN" sz="2200" dirty="0"/>
              <a:t>1</a:t>
            </a:r>
            <a:r>
              <a:rPr lang="zh-CN" altLang="zh-CN" sz="2200" dirty="0"/>
              <a:t>）（</a:t>
            </a:r>
            <a:r>
              <a:rPr lang="en-US" altLang="zh-CN" sz="2200" dirty="0"/>
              <a:t>para</a:t>
            </a:r>
            <a:r>
              <a:rPr lang="zh-CN" altLang="zh-CN" sz="2200" dirty="0"/>
              <a:t>，</a:t>
            </a:r>
            <a:r>
              <a:rPr lang="en-US" altLang="zh-CN" sz="2200" dirty="0"/>
              <a:t>value</a:t>
            </a:r>
            <a:r>
              <a:rPr lang="zh-CN" altLang="zh-CN" sz="2200" dirty="0"/>
              <a:t>， ， ）</a:t>
            </a:r>
          </a:p>
          <a:p>
            <a:pPr>
              <a:buFontTx/>
              <a:buNone/>
            </a:pPr>
            <a:r>
              <a:rPr lang="zh-CN" altLang="zh-CN" sz="2200" dirty="0"/>
              <a:t>含义</a:t>
            </a:r>
            <a:r>
              <a:rPr lang="zh-CN" altLang="en-US" sz="2200" dirty="0"/>
              <a:t>：</a:t>
            </a:r>
            <a:r>
              <a:rPr lang="zh-CN" altLang="zh-CN" sz="2200" dirty="0"/>
              <a:t>将函数的一个参数压入栈中，</a:t>
            </a:r>
            <a:r>
              <a:rPr lang="en-US" altLang="zh-CN" sz="2200" dirty="0"/>
              <a:t>para</a:t>
            </a:r>
            <a:r>
              <a:rPr lang="zh-CN" altLang="zh-CN" sz="2200" dirty="0"/>
              <a:t>是运算符，</a:t>
            </a:r>
            <a:r>
              <a:rPr lang="en-US" altLang="zh-CN" sz="2200" dirty="0"/>
              <a:t>value</a:t>
            </a:r>
            <a:r>
              <a:rPr lang="zh-CN" altLang="zh-CN" sz="2200" dirty="0"/>
              <a:t>是值</a:t>
            </a:r>
            <a:endParaRPr lang="en-US" altLang="zh-CN" sz="2200" dirty="0"/>
          </a:p>
          <a:p>
            <a:pPr>
              <a:buFontTx/>
              <a:buNone/>
            </a:pPr>
            <a:endParaRPr lang="zh-CN" altLang="zh-CN" sz="2200" dirty="0"/>
          </a:p>
          <a:p>
            <a:pPr>
              <a:buFontTx/>
              <a:buNone/>
            </a:pPr>
            <a:r>
              <a:rPr lang="zh-CN" altLang="zh-CN" sz="2200" dirty="0"/>
              <a:t>（</a:t>
            </a:r>
            <a:r>
              <a:rPr lang="en-US" altLang="zh-CN" sz="2200" dirty="0"/>
              <a:t>2</a:t>
            </a:r>
            <a:r>
              <a:rPr lang="zh-CN" altLang="zh-CN" sz="2200" dirty="0"/>
              <a:t>）（</a:t>
            </a:r>
            <a:r>
              <a:rPr lang="en-US" altLang="zh-CN" sz="2200" dirty="0"/>
              <a:t>call</a:t>
            </a:r>
            <a:r>
              <a:rPr lang="zh-CN" altLang="zh-CN" sz="2200" dirty="0"/>
              <a:t>，</a:t>
            </a:r>
            <a:r>
              <a:rPr lang="en-US" altLang="zh-CN" sz="1800" kern="100" dirty="0">
                <a:effectLst/>
                <a:latin typeface="宋体" panose="02010600030101010101" pitchFamily="2" charset="-122"/>
                <a:cs typeface="Times New Roman" panose="02020603050405020304" pitchFamily="18" charset="0"/>
              </a:rPr>
              <a:t> entry(id).name </a:t>
            </a:r>
            <a:r>
              <a:rPr lang="zh-CN" altLang="zh-CN" sz="2200" dirty="0"/>
              <a:t>， ，</a:t>
            </a:r>
            <a:r>
              <a:rPr lang="en-US" altLang="zh-CN" sz="2200" dirty="0" err="1"/>
              <a:t>return_value</a:t>
            </a:r>
            <a:r>
              <a:rPr lang="zh-CN" altLang="zh-CN" sz="2200" dirty="0"/>
              <a:t>）</a:t>
            </a:r>
          </a:p>
          <a:p>
            <a:pPr>
              <a:buFontTx/>
              <a:buNone/>
            </a:pPr>
            <a:r>
              <a:rPr lang="zh-CN" altLang="zh-CN" sz="2200" dirty="0"/>
              <a:t>含义</a:t>
            </a:r>
            <a:r>
              <a:rPr lang="zh-CN" altLang="en-US" sz="2200" dirty="0"/>
              <a:t>：</a:t>
            </a:r>
            <a:r>
              <a:rPr lang="zh-CN" altLang="zh-CN" sz="2200" dirty="0"/>
              <a:t>调用名为</a:t>
            </a:r>
            <a:r>
              <a:rPr lang="en-US" altLang="zh-CN" sz="2200" dirty="0"/>
              <a:t>id</a:t>
            </a:r>
            <a:r>
              <a:rPr lang="zh-CN" altLang="zh-CN" sz="2200" dirty="0"/>
              <a:t>的函数。将函数的返回结果存储到</a:t>
            </a:r>
            <a:r>
              <a:rPr lang="en-US" altLang="zh-CN" sz="2200" dirty="0" err="1"/>
              <a:t>return_value</a:t>
            </a:r>
            <a:r>
              <a:rPr lang="zh-CN" altLang="zh-CN" sz="2200" dirty="0"/>
              <a:t>中</a:t>
            </a:r>
          </a:p>
          <a:p>
            <a:endParaRPr lang="zh-CN" altLang="en-US" sz="2200" dirty="0"/>
          </a:p>
        </p:txBody>
      </p:sp>
    </p:spTree>
    <p:extLst>
      <p:ext uri="{BB962C8B-B14F-4D97-AF65-F5344CB8AC3E}">
        <p14:creationId xmlns:p14="http://schemas.microsoft.com/office/powerpoint/2010/main" val="53466816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内容占位符 2"/>
          <p:cNvSpPr>
            <a:spLocks noGrp="1"/>
          </p:cNvSpPr>
          <p:nvPr>
            <p:ph idx="1"/>
          </p:nvPr>
        </p:nvSpPr>
        <p:spPr>
          <a:xfrm>
            <a:off x="428625" y="627534"/>
            <a:ext cx="5979319" cy="2297832"/>
          </a:xfrm>
        </p:spPr>
        <p:txBody>
          <a:bodyPr>
            <a:normAutofit/>
          </a:bodyPr>
          <a:lstStyle/>
          <a:p>
            <a:pPr>
              <a:buFontTx/>
              <a:buNone/>
            </a:pPr>
            <a:r>
              <a:rPr lang="zh-CN" altLang="zh-CN" sz="2000" dirty="0"/>
              <a:t>（</a:t>
            </a:r>
            <a:r>
              <a:rPr lang="en-US" altLang="zh-CN" sz="2000" dirty="0"/>
              <a:t>1</a:t>
            </a:r>
            <a:r>
              <a:rPr lang="zh-CN" altLang="zh-CN" sz="2000" dirty="0"/>
              <a:t>）</a:t>
            </a:r>
            <a:r>
              <a:rPr lang="en-US" altLang="zh-CN" sz="2000" dirty="0"/>
              <a:t>&lt;</a:t>
            </a:r>
            <a:r>
              <a:rPr lang="zh-CN" altLang="zh-CN" sz="2000" dirty="0"/>
              <a:t>函数调用</a:t>
            </a:r>
            <a:r>
              <a:rPr lang="en-US" altLang="zh-CN" sz="2000" dirty="0"/>
              <a:t>&gt;</a:t>
            </a:r>
            <a:r>
              <a:rPr lang="zh-CN" altLang="zh-CN" sz="2000" dirty="0"/>
              <a:t>→</a:t>
            </a:r>
            <a:r>
              <a:rPr lang="en-US" altLang="zh-CN" sz="2000" dirty="0"/>
              <a:t>&lt;</a:t>
            </a:r>
            <a:r>
              <a:rPr lang="zh-CN" altLang="zh-CN" sz="2000" dirty="0"/>
              <a:t>标识符</a:t>
            </a:r>
            <a:r>
              <a:rPr lang="en-US" altLang="zh-CN" sz="2000" dirty="0"/>
              <a:t>&gt;(&lt;</a:t>
            </a:r>
            <a:r>
              <a:rPr lang="zh-CN" altLang="zh-CN" sz="2000" dirty="0"/>
              <a:t>实参列表</a:t>
            </a:r>
            <a:r>
              <a:rPr lang="en-US" altLang="zh-CN" sz="2000" dirty="0"/>
              <a:t>&gt;)</a:t>
            </a:r>
          </a:p>
          <a:p>
            <a:pPr>
              <a:buFontTx/>
              <a:buNone/>
            </a:pPr>
            <a:endParaRPr lang="zh-CN" altLang="zh-CN" sz="2000" dirty="0"/>
          </a:p>
          <a:p>
            <a:pPr>
              <a:buFontTx/>
              <a:buNone/>
            </a:pPr>
            <a:r>
              <a:rPr lang="zh-CN" altLang="zh-CN" sz="2000" dirty="0"/>
              <a:t>（</a:t>
            </a:r>
            <a:r>
              <a:rPr lang="en-US" altLang="zh-CN" sz="2000" dirty="0"/>
              <a:t>2</a:t>
            </a:r>
            <a:r>
              <a:rPr lang="zh-CN" altLang="zh-CN" sz="2000" dirty="0"/>
              <a:t>）</a:t>
            </a:r>
            <a:r>
              <a:rPr lang="en-US" altLang="zh-CN" sz="2000" dirty="0"/>
              <a:t>&lt;</a:t>
            </a:r>
            <a:r>
              <a:rPr lang="zh-CN" altLang="zh-CN" sz="2000" dirty="0"/>
              <a:t>实参列表</a:t>
            </a:r>
            <a:r>
              <a:rPr lang="en-US" altLang="zh-CN" sz="2000" dirty="0"/>
              <a:t>&gt;</a:t>
            </a:r>
            <a:r>
              <a:rPr lang="zh-CN" altLang="zh-CN" sz="2000" dirty="0"/>
              <a:t>→</a:t>
            </a:r>
            <a:r>
              <a:rPr lang="en-US" altLang="zh-CN" sz="2000" dirty="0"/>
              <a:t>&lt;</a:t>
            </a:r>
            <a:r>
              <a:rPr lang="zh-CN" altLang="zh-CN" sz="2000" dirty="0"/>
              <a:t>实参</a:t>
            </a:r>
            <a:r>
              <a:rPr lang="en-US" altLang="zh-CN" sz="2000" dirty="0"/>
              <a:t>&gt;|</a:t>
            </a:r>
            <a:r>
              <a:rPr lang="en-US" altLang="zh-CN" sz="2000" dirty="0">
                <a:sym typeface="Symbol" pitchFamily="18" charset="2"/>
              </a:rPr>
              <a:t></a:t>
            </a:r>
          </a:p>
          <a:p>
            <a:pPr>
              <a:buFontTx/>
              <a:buNone/>
            </a:pPr>
            <a:endParaRPr lang="zh-CN" altLang="zh-CN" sz="2000" dirty="0"/>
          </a:p>
          <a:p>
            <a:pPr>
              <a:buFontTx/>
              <a:buNone/>
            </a:pPr>
            <a:r>
              <a:rPr lang="zh-CN" altLang="zh-CN" sz="2000" dirty="0"/>
              <a:t>（</a:t>
            </a:r>
            <a:r>
              <a:rPr lang="en-US" altLang="zh-CN" sz="2000" dirty="0"/>
              <a:t>3</a:t>
            </a:r>
            <a:r>
              <a:rPr lang="zh-CN" altLang="zh-CN" sz="2000" dirty="0"/>
              <a:t>）</a:t>
            </a:r>
            <a:r>
              <a:rPr lang="en-US" altLang="zh-CN" sz="2000" dirty="0"/>
              <a:t>&lt;</a:t>
            </a:r>
            <a:r>
              <a:rPr lang="zh-CN" altLang="zh-CN" sz="2000" dirty="0"/>
              <a:t>实参</a:t>
            </a:r>
            <a:r>
              <a:rPr lang="en-US" altLang="zh-CN" sz="2000" dirty="0"/>
              <a:t>&gt;</a:t>
            </a:r>
            <a:r>
              <a:rPr lang="zh-CN" altLang="zh-CN" sz="2000" dirty="0"/>
              <a:t>→</a:t>
            </a:r>
            <a:r>
              <a:rPr lang="en-US" altLang="zh-CN" sz="2000" dirty="0"/>
              <a:t>&lt;</a:t>
            </a:r>
            <a:r>
              <a:rPr lang="zh-CN" altLang="zh-CN" sz="2000" dirty="0"/>
              <a:t>表达式</a:t>
            </a:r>
            <a:r>
              <a:rPr lang="en-US" altLang="zh-CN" sz="2000" dirty="0"/>
              <a:t>&gt;|&lt;</a:t>
            </a:r>
            <a:r>
              <a:rPr lang="zh-CN" altLang="zh-CN" sz="2000" dirty="0"/>
              <a:t>表达式</a:t>
            </a:r>
            <a:r>
              <a:rPr lang="en-US" altLang="zh-CN" sz="2000" dirty="0"/>
              <a:t>&gt;,&lt;</a:t>
            </a:r>
            <a:r>
              <a:rPr lang="zh-CN" altLang="zh-CN" sz="2000" dirty="0"/>
              <a:t>实参</a:t>
            </a:r>
            <a:r>
              <a:rPr lang="en-US" altLang="zh-CN" sz="2000" dirty="0"/>
              <a:t>&gt;</a:t>
            </a:r>
            <a:endParaRPr lang="zh-CN" altLang="zh-CN" sz="2000" dirty="0"/>
          </a:p>
          <a:p>
            <a:endParaRPr lang="zh-CN" altLang="en-US" sz="2000" dirty="0"/>
          </a:p>
        </p:txBody>
      </p:sp>
      <p:graphicFrame>
        <p:nvGraphicFramePr>
          <p:cNvPr id="4" name="表格 3"/>
          <p:cNvGraphicFramePr>
            <a:graphicFrameLocks noGrp="1"/>
          </p:cNvGraphicFramePr>
          <p:nvPr>
            <p:extLst>
              <p:ext uri="{D42A27DB-BD31-4B8C-83A1-F6EECF244321}">
                <p14:modId xmlns:p14="http://schemas.microsoft.com/office/powerpoint/2010/main" val="3279857698"/>
              </p:ext>
            </p:extLst>
          </p:nvPr>
        </p:nvGraphicFramePr>
        <p:xfrm>
          <a:off x="200026" y="3219822"/>
          <a:ext cx="8572500" cy="1540508"/>
        </p:xfrm>
        <a:graphic>
          <a:graphicData uri="http://schemas.openxmlformats.org/drawingml/2006/table">
            <a:tbl>
              <a:tblPr/>
              <a:tblGrid>
                <a:gridCol w="821841">
                  <a:extLst>
                    <a:ext uri="{9D8B030D-6E8A-4147-A177-3AD203B41FA5}">
                      <a16:colId xmlns:a16="http://schemas.microsoft.com/office/drawing/2014/main" val="20000"/>
                    </a:ext>
                  </a:extLst>
                </a:gridCol>
                <a:gridCol w="3104369">
                  <a:extLst>
                    <a:ext uri="{9D8B030D-6E8A-4147-A177-3AD203B41FA5}">
                      <a16:colId xmlns:a16="http://schemas.microsoft.com/office/drawing/2014/main" val="20001"/>
                    </a:ext>
                  </a:extLst>
                </a:gridCol>
                <a:gridCol w="4646290">
                  <a:extLst>
                    <a:ext uri="{9D8B030D-6E8A-4147-A177-3AD203B41FA5}">
                      <a16:colId xmlns:a16="http://schemas.microsoft.com/office/drawing/2014/main" val="20002"/>
                    </a:ext>
                  </a:extLst>
                </a:gridCol>
              </a:tblGrid>
              <a:tr h="289304">
                <a:tc>
                  <a:txBody>
                    <a:bodyPr/>
                    <a:lstStyle/>
                    <a:p>
                      <a:pPr algn="just">
                        <a:spcAft>
                          <a:spcPts val="0"/>
                        </a:spcAft>
                      </a:pPr>
                      <a:r>
                        <a:rPr lang="zh-CN" sz="1800" kern="100" dirty="0">
                          <a:latin typeface="Times New Roman"/>
                          <a:ea typeface="宋体"/>
                          <a:cs typeface="Times New Roman"/>
                        </a:rPr>
                        <a:t>序号</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dirty="0">
                          <a:latin typeface="Times New Roman"/>
                          <a:ea typeface="宋体"/>
                          <a:cs typeface="Times New Roman"/>
                        </a:rPr>
                        <a:t>产生式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Times New Roman"/>
                          <a:ea typeface="宋体"/>
                          <a:cs typeface="Times New Roman"/>
                        </a:rPr>
                        <a:t>语义规则</a:t>
                      </a: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86760">
                <a:tc>
                  <a:txBody>
                    <a:bodyPr/>
                    <a:lstStyle/>
                    <a:p>
                      <a:pPr algn="just">
                        <a:spcAft>
                          <a:spcPts val="0"/>
                        </a:spcAft>
                      </a:pPr>
                      <a:r>
                        <a:rPr lang="zh-CN" sz="1800" kern="100">
                          <a:latin typeface="Times New Roman"/>
                          <a:ea typeface="宋体"/>
                          <a:cs typeface="Times New Roman"/>
                        </a:rPr>
                        <a:t>（</a:t>
                      </a:r>
                      <a:r>
                        <a:rPr lang="en-US" sz="1800" kern="100">
                          <a:latin typeface="Times New Roman"/>
                          <a:ea typeface="宋体"/>
                          <a:cs typeface="Times New Roman"/>
                        </a:rPr>
                        <a:t>1</a:t>
                      </a:r>
                      <a:r>
                        <a:rPr lang="zh-CN" sz="1800" kern="100">
                          <a:latin typeface="Times New Roman"/>
                          <a:ea typeface="宋体"/>
                          <a:cs typeface="Times New Roman"/>
                        </a:rPr>
                        <a:t>）</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it-IT" sz="1800" kern="100" dirty="0">
                          <a:latin typeface="宋体"/>
                          <a:ea typeface="宋体"/>
                          <a:cs typeface="Times New Roman"/>
                        </a:rPr>
                        <a:t>&lt;</a:t>
                      </a:r>
                      <a:r>
                        <a:rPr lang="en-US" sz="1800" kern="100" dirty="0">
                          <a:latin typeface="宋体"/>
                          <a:ea typeface="宋体"/>
                          <a:cs typeface="Times New Roman"/>
                        </a:rPr>
                        <a:t>FA&gt;→id(&lt;RPL&gt;</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fr-FR" sz="1800" kern="100" dirty="0">
                          <a:latin typeface="Times New Roman"/>
                          <a:ea typeface="宋体"/>
                          <a:cs typeface="Times New Roman"/>
                        </a:rPr>
                        <a:t>{  gencode(call</a:t>
                      </a:r>
                      <a:r>
                        <a:rPr lang="zh-CN" sz="1800" kern="100" dirty="0">
                          <a:latin typeface="Times New Roman"/>
                          <a:ea typeface="宋体"/>
                          <a:cs typeface="Times New Roman"/>
                        </a:rPr>
                        <a:t>，</a:t>
                      </a:r>
                      <a:r>
                        <a:rPr kumimoji="0" lang="en-US" altLang="zh-CN" sz="1800" kern="1200" dirty="0">
                          <a:solidFill>
                            <a:schemeClr val="tx1"/>
                          </a:solidFill>
                          <a:effectLst/>
                          <a:latin typeface="+mn-lt"/>
                          <a:ea typeface="+mn-ea"/>
                          <a:cs typeface="+mn-cs"/>
                        </a:rPr>
                        <a:t>entry(id).name</a:t>
                      </a:r>
                      <a:r>
                        <a:rPr lang="zh-CN" sz="1800" kern="100" dirty="0">
                          <a:latin typeface="Times New Roman"/>
                          <a:ea typeface="宋体"/>
                          <a:cs typeface="Times New Roman"/>
                        </a:rPr>
                        <a:t>， ， </a:t>
                      </a:r>
                      <a:r>
                        <a:rPr lang="fr-FR" sz="1800" kern="100" dirty="0">
                          <a:latin typeface="Times New Roman"/>
                          <a:ea typeface="宋体"/>
                          <a:cs typeface="Times New Roman"/>
                        </a:rPr>
                        <a:t>) ; }</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9304">
                <a:tc>
                  <a:txBody>
                    <a:bodyPr/>
                    <a:lstStyle/>
                    <a:p>
                      <a:pPr algn="just">
                        <a:spcAft>
                          <a:spcPts val="0"/>
                        </a:spcAft>
                      </a:pPr>
                      <a:r>
                        <a:rPr lang="zh-CN" sz="1800" kern="100" dirty="0">
                          <a:latin typeface="Times New Roman"/>
                          <a:ea typeface="宋体"/>
                          <a:cs typeface="Times New Roman"/>
                        </a:rPr>
                        <a:t>（</a:t>
                      </a:r>
                      <a:r>
                        <a:rPr lang="en-US" sz="1800" kern="100" dirty="0">
                          <a:latin typeface="Times New Roman"/>
                          <a:ea typeface="宋体"/>
                          <a:cs typeface="Times New Roman"/>
                        </a:rPr>
                        <a:t>2</a:t>
                      </a:r>
                      <a:r>
                        <a:rPr lang="zh-CN" sz="1800" kern="100" dirty="0">
                          <a:latin typeface="Times New Roman"/>
                          <a:ea typeface="宋体"/>
                          <a:cs typeface="Times New Roman"/>
                        </a:rPr>
                        <a:t>）</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it-IT" sz="1800" kern="100" dirty="0">
                          <a:latin typeface="宋体"/>
                          <a:ea typeface="宋体"/>
                          <a:cs typeface="Times New Roman"/>
                        </a:rPr>
                        <a:t>&lt;</a:t>
                      </a:r>
                      <a:r>
                        <a:rPr lang="en-US" sz="1800" kern="100" dirty="0">
                          <a:latin typeface="宋体"/>
                          <a:ea typeface="宋体"/>
                          <a:cs typeface="Times New Roman"/>
                        </a:rPr>
                        <a:t>RPL&gt;→</a:t>
                      </a:r>
                      <a:r>
                        <a:rPr lang="en-US" sz="1800" kern="100" dirty="0">
                          <a:latin typeface="Times New Roman"/>
                          <a:ea typeface="宋体"/>
                          <a:cs typeface="Times New Roman"/>
                        </a:rPr>
                        <a:t>&lt;RP&gt; | )</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1800" kern="100" dirty="0">
                          <a:latin typeface="Times New Roman"/>
                          <a:ea typeface="宋体"/>
                          <a:cs typeface="Times New Roman"/>
                        </a:rPr>
                        <a:t>{                   }</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7147">
                <a:tc>
                  <a:txBody>
                    <a:bodyPr/>
                    <a:lstStyle/>
                    <a:p>
                      <a:pPr algn="just">
                        <a:spcAft>
                          <a:spcPts val="0"/>
                        </a:spcAft>
                      </a:pPr>
                      <a:r>
                        <a:rPr lang="zh-CN" sz="1800" kern="100">
                          <a:latin typeface="Times New Roman"/>
                          <a:ea typeface="宋体"/>
                          <a:cs typeface="Times New Roman"/>
                        </a:rPr>
                        <a:t>（</a:t>
                      </a:r>
                      <a:r>
                        <a:rPr lang="en-US" sz="1800" kern="100">
                          <a:latin typeface="Times New Roman"/>
                          <a:ea typeface="宋体"/>
                          <a:cs typeface="Times New Roman"/>
                        </a:rPr>
                        <a:t>3</a:t>
                      </a:r>
                      <a:r>
                        <a:rPr lang="zh-CN" sz="1800" kern="100">
                          <a:latin typeface="Times New Roman"/>
                          <a:ea typeface="宋体"/>
                          <a:cs typeface="Times New Roman"/>
                        </a:rPr>
                        <a:t>）</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it-IT" sz="1800" kern="100" dirty="0">
                          <a:latin typeface="宋体"/>
                          <a:ea typeface="宋体"/>
                          <a:cs typeface="Times New Roman"/>
                        </a:rPr>
                        <a:t>&lt;</a:t>
                      </a:r>
                      <a:r>
                        <a:rPr lang="en-US" sz="1800" kern="100" dirty="0">
                          <a:latin typeface="宋体"/>
                          <a:ea typeface="宋体"/>
                          <a:cs typeface="Times New Roman"/>
                        </a:rPr>
                        <a:t>RP&gt;→</a:t>
                      </a:r>
                      <a:r>
                        <a:rPr lang="en-US" sz="1800" kern="100" dirty="0">
                          <a:latin typeface="Times New Roman"/>
                          <a:ea typeface="宋体"/>
                          <a:cs typeface="Times New Roman"/>
                        </a:rPr>
                        <a:t>&lt;EXPR&gt;)</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fr-FR" sz="1800" kern="100" dirty="0">
                          <a:latin typeface="Times New Roman"/>
                          <a:ea typeface="宋体"/>
                          <a:cs typeface="Times New Roman"/>
                        </a:rPr>
                        <a:t>{  gencode(para</a:t>
                      </a:r>
                      <a:r>
                        <a:rPr lang="zh-CN" sz="1800" kern="100" dirty="0">
                          <a:latin typeface="Times New Roman"/>
                          <a:ea typeface="宋体"/>
                          <a:cs typeface="Times New Roman"/>
                        </a:rPr>
                        <a:t>，</a:t>
                      </a:r>
                      <a:r>
                        <a:rPr lang="en-US" sz="1800" kern="100" dirty="0">
                          <a:latin typeface="Times New Roman"/>
                          <a:ea typeface="宋体"/>
                          <a:cs typeface="Times New Roman"/>
                        </a:rPr>
                        <a:t>&lt;EXPR&gt;</a:t>
                      </a:r>
                      <a:r>
                        <a:rPr lang="fr-FR" sz="1800" kern="100" dirty="0">
                          <a:latin typeface="Times New Roman"/>
                          <a:ea typeface="宋体"/>
                          <a:cs typeface="Times New Roman"/>
                        </a:rPr>
                        <a:t>.PLACE</a:t>
                      </a:r>
                      <a:r>
                        <a:rPr lang="zh-CN" sz="1800" kern="100" dirty="0">
                          <a:latin typeface="Times New Roman"/>
                          <a:ea typeface="宋体"/>
                          <a:cs typeface="Times New Roman"/>
                        </a:rPr>
                        <a:t>， ，</a:t>
                      </a:r>
                      <a:r>
                        <a:rPr lang="fr-FR" sz="1800" kern="100" dirty="0">
                          <a:latin typeface="Times New Roman"/>
                          <a:ea typeface="宋体"/>
                          <a:cs typeface="Times New Roman"/>
                        </a:rPr>
                        <a:t> ) ; }</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97993">
                <a:tc>
                  <a:txBody>
                    <a:bodyPr/>
                    <a:lstStyle/>
                    <a:p>
                      <a:pPr algn="just">
                        <a:spcAft>
                          <a:spcPts val="0"/>
                        </a:spcAft>
                      </a:pPr>
                      <a:r>
                        <a:rPr lang="zh-CN" sz="1800" kern="100">
                          <a:latin typeface="Times New Roman"/>
                          <a:ea typeface="宋体"/>
                          <a:cs typeface="Times New Roman"/>
                        </a:rPr>
                        <a:t>（</a:t>
                      </a:r>
                      <a:r>
                        <a:rPr lang="en-US" sz="1800" kern="100">
                          <a:latin typeface="Times New Roman"/>
                          <a:ea typeface="宋体"/>
                          <a:cs typeface="Times New Roman"/>
                        </a:rPr>
                        <a:t>4</a:t>
                      </a:r>
                      <a:r>
                        <a:rPr lang="zh-CN" sz="1800" kern="100">
                          <a:latin typeface="Times New Roman"/>
                          <a:ea typeface="宋体"/>
                          <a:cs typeface="Times New Roman"/>
                        </a:rPr>
                        <a:t>）</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it-IT" sz="1800" kern="100" dirty="0">
                          <a:latin typeface="宋体"/>
                          <a:ea typeface="宋体"/>
                          <a:cs typeface="Times New Roman"/>
                        </a:rPr>
                        <a:t>&lt;</a:t>
                      </a:r>
                      <a:r>
                        <a:rPr lang="en-US" sz="1800" kern="100" dirty="0">
                          <a:latin typeface="宋体"/>
                          <a:ea typeface="宋体"/>
                          <a:cs typeface="Times New Roman"/>
                        </a:rPr>
                        <a:t>RP&gt;→</a:t>
                      </a:r>
                      <a:r>
                        <a:rPr lang="en-US" sz="1800" kern="100" dirty="0">
                          <a:latin typeface="Times New Roman"/>
                          <a:ea typeface="宋体"/>
                          <a:cs typeface="Times New Roman"/>
                        </a:rPr>
                        <a:t>&lt;EXPR&gt; ,&lt;RP&gt;</a:t>
                      </a:r>
                      <a:r>
                        <a:rPr lang="en-US" sz="1800" kern="100" baseline="30000" dirty="0">
                          <a:latin typeface="Times New Roman"/>
                          <a:ea typeface="宋体"/>
                          <a:cs typeface="Times New Roman"/>
                        </a:rPr>
                        <a:t>(1)</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fr-FR" sz="1800" kern="100" dirty="0">
                          <a:latin typeface="Times New Roman"/>
                          <a:ea typeface="宋体"/>
                          <a:cs typeface="Times New Roman"/>
                        </a:rPr>
                        <a:t>{  gencode(para</a:t>
                      </a:r>
                      <a:r>
                        <a:rPr lang="zh-CN" sz="1800" kern="100" dirty="0">
                          <a:latin typeface="Times New Roman"/>
                          <a:ea typeface="宋体"/>
                          <a:cs typeface="Times New Roman"/>
                        </a:rPr>
                        <a:t>，</a:t>
                      </a:r>
                      <a:r>
                        <a:rPr lang="en-US" sz="1800" kern="100" dirty="0">
                          <a:latin typeface="Times New Roman"/>
                          <a:ea typeface="宋体"/>
                          <a:cs typeface="Times New Roman"/>
                        </a:rPr>
                        <a:t>&lt;EXPR&gt;</a:t>
                      </a:r>
                      <a:r>
                        <a:rPr lang="fr-FR" sz="1800" kern="100" dirty="0">
                          <a:latin typeface="Times New Roman"/>
                          <a:ea typeface="宋体"/>
                          <a:cs typeface="Times New Roman"/>
                        </a:rPr>
                        <a:t>.PLACE</a:t>
                      </a:r>
                      <a:r>
                        <a:rPr lang="zh-CN" sz="1800" kern="100" dirty="0">
                          <a:latin typeface="Times New Roman"/>
                          <a:ea typeface="宋体"/>
                          <a:cs typeface="Times New Roman"/>
                        </a:rPr>
                        <a:t>，，</a:t>
                      </a:r>
                      <a:r>
                        <a:rPr lang="fr-FR" sz="1800" kern="100" dirty="0">
                          <a:latin typeface="Times New Roman"/>
                          <a:ea typeface="宋体"/>
                          <a:cs typeface="Times New Roman"/>
                        </a:rPr>
                        <a:t>) ; }</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 name="矩形 1"/>
          <p:cNvSpPr>
            <a:spLocks noChangeArrowheads="1"/>
          </p:cNvSpPr>
          <p:nvPr/>
        </p:nvSpPr>
        <p:spPr bwMode="auto">
          <a:xfrm>
            <a:off x="5451340" y="1028819"/>
            <a:ext cx="3635896" cy="36933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r>
              <a:rPr lang="zh-CN" altLang="zh-CN" sz="1800" dirty="0"/>
              <a:t>【（</a:t>
            </a:r>
            <a:r>
              <a:rPr lang="it-IT" altLang="zh-CN" sz="1800" dirty="0"/>
              <a:t>1</a:t>
            </a:r>
            <a:r>
              <a:rPr lang="zh-CN" altLang="zh-CN" sz="1800" dirty="0"/>
              <a:t>）</a:t>
            </a:r>
            <a:r>
              <a:rPr lang="it-IT" altLang="zh-CN" sz="1800" dirty="0"/>
              <a:t>&lt;</a:t>
            </a:r>
            <a:r>
              <a:rPr lang="en-US" altLang="zh-CN" sz="1800" dirty="0"/>
              <a:t>FA&gt;→id(&lt;RPL&gt;)</a:t>
            </a:r>
            <a:r>
              <a:rPr lang="zh-CN" altLang="zh-CN" sz="1800" dirty="0"/>
              <a:t>】</a:t>
            </a:r>
          </a:p>
        </p:txBody>
      </p:sp>
      <p:sp>
        <p:nvSpPr>
          <p:cNvPr id="3" name="矩形 2"/>
          <p:cNvSpPr>
            <a:spLocks noChangeArrowheads="1"/>
          </p:cNvSpPr>
          <p:nvPr/>
        </p:nvSpPr>
        <p:spPr bwMode="auto">
          <a:xfrm>
            <a:off x="5508104" y="1554926"/>
            <a:ext cx="3635896" cy="36933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r>
              <a:rPr lang="zh-CN" altLang="zh-CN" sz="1800" dirty="0"/>
              <a:t>【（</a:t>
            </a:r>
            <a:r>
              <a:rPr lang="it-IT" altLang="zh-CN" sz="1800" dirty="0"/>
              <a:t>2</a:t>
            </a:r>
            <a:r>
              <a:rPr lang="zh-CN" altLang="zh-CN" sz="1800" dirty="0"/>
              <a:t>）</a:t>
            </a:r>
            <a:r>
              <a:rPr lang="it-IT" altLang="zh-CN" sz="1800" dirty="0"/>
              <a:t>&lt;</a:t>
            </a:r>
            <a:r>
              <a:rPr lang="en-US" altLang="zh-CN" sz="1800" dirty="0"/>
              <a:t>RPL&gt;→&lt;RP&gt;|</a:t>
            </a:r>
            <a:r>
              <a:rPr lang="en-US" altLang="zh-CN" sz="1800" dirty="0">
                <a:sym typeface="Symbol" pitchFamily="18" charset="2"/>
              </a:rPr>
              <a:t></a:t>
            </a:r>
            <a:r>
              <a:rPr lang="zh-CN" altLang="zh-CN" sz="1800" dirty="0"/>
              <a:t>】</a:t>
            </a:r>
          </a:p>
        </p:txBody>
      </p:sp>
      <p:sp>
        <p:nvSpPr>
          <p:cNvPr id="6" name="矩形 5"/>
          <p:cNvSpPr>
            <a:spLocks noChangeArrowheads="1"/>
          </p:cNvSpPr>
          <p:nvPr/>
        </p:nvSpPr>
        <p:spPr bwMode="auto">
          <a:xfrm>
            <a:off x="5508104" y="2439918"/>
            <a:ext cx="3635896" cy="646331"/>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marL="742950" indent="-285750">
              <a:buChar char="–"/>
              <a:defRPr sz="2800">
                <a:solidFill>
                  <a:schemeClr val="tx1"/>
                </a:solidFill>
                <a:latin typeface="Arial" charset="0"/>
                <a:ea typeface="宋体" pitchFamily="2" charset="-122"/>
              </a:defRPr>
            </a:lvl2pPr>
            <a:lvl3pPr marL="1143000" indent="-228600">
              <a:defRPr sz="2400">
                <a:solidFill>
                  <a:schemeClr val="tx1"/>
                </a:solidFill>
                <a:latin typeface="Arial" charset="0"/>
                <a:ea typeface="宋体" pitchFamily="2" charset="-122"/>
              </a:defRPr>
            </a:lvl3pPr>
            <a:lvl4pPr marL="1600200" indent="-228600">
              <a:buChar char="–"/>
              <a:defRPr sz="2000">
                <a:solidFill>
                  <a:schemeClr val="tx1"/>
                </a:solidFill>
                <a:latin typeface="Arial" charset="0"/>
                <a:ea typeface="宋体" pitchFamily="2" charset="-122"/>
              </a:defRPr>
            </a:lvl4pPr>
            <a:lvl5pPr marL="2057400" indent="-228600">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nSpc>
                <a:spcPct val="100000"/>
              </a:lnSpc>
              <a:spcBef>
                <a:spcPct val="0"/>
              </a:spcBef>
              <a:buFontTx/>
              <a:buNone/>
            </a:pPr>
            <a:r>
              <a:rPr lang="zh-CN" altLang="zh-CN" sz="1800" dirty="0"/>
              <a:t>【（</a:t>
            </a:r>
            <a:r>
              <a:rPr lang="it-IT" altLang="zh-CN" sz="1800" dirty="0"/>
              <a:t>3</a:t>
            </a:r>
            <a:r>
              <a:rPr lang="zh-CN" altLang="zh-CN" sz="1800" dirty="0"/>
              <a:t>）</a:t>
            </a:r>
            <a:r>
              <a:rPr lang="it-IT" altLang="zh-CN" sz="1800" dirty="0"/>
              <a:t>&lt;</a:t>
            </a:r>
            <a:r>
              <a:rPr lang="en-US" altLang="zh-CN" sz="1800" dirty="0"/>
              <a:t>RP&gt;→&lt;EXPR&gt;</a:t>
            </a:r>
            <a:endParaRPr lang="zh-CN" altLang="zh-CN" sz="1800" dirty="0"/>
          </a:p>
          <a:p>
            <a:pPr>
              <a:lnSpc>
                <a:spcPct val="100000"/>
              </a:lnSpc>
              <a:spcBef>
                <a:spcPct val="0"/>
              </a:spcBef>
              <a:buFontTx/>
              <a:buNone/>
            </a:pPr>
            <a:r>
              <a:rPr lang="en-US" altLang="zh-CN" sz="1800" dirty="0"/>
              <a:t>    </a:t>
            </a:r>
            <a:r>
              <a:rPr lang="zh-CN" altLang="zh-CN" sz="1800" dirty="0"/>
              <a:t>（</a:t>
            </a:r>
            <a:r>
              <a:rPr lang="it-IT" altLang="zh-CN" sz="1800" dirty="0"/>
              <a:t>4</a:t>
            </a:r>
            <a:r>
              <a:rPr lang="zh-CN" altLang="zh-CN" sz="1800" dirty="0"/>
              <a:t>）</a:t>
            </a:r>
            <a:r>
              <a:rPr lang="it-IT" altLang="zh-CN" sz="1800" dirty="0"/>
              <a:t>&lt;</a:t>
            </a:r>
            <a:r>
              <a:rPr lang="en-US" altLang="zh-CN" sz="1800" dirty="0"/>
              <a:t>RP&gt;→&lt;EXPR&gt; ,&lt;RP&gt;</a:t>
            </a:r>
            <a:r>
              <a:rPr lang="en-US" altLang="zh-CN" sz="1800" baseline="30000" dirty="0"/>
              <a:t>(1)</a:t>
            </a:r>
            <a:r>
              <a:rPr lang="zh-CN" altLang="zh-CN" sz="1800" dirty="0"/>
              <a:t>】</a:t>
            </a:r>
          </a:p>
        </p:txBody>
      </p:sp>
      <p:sp>
        <p:nvSpPr>
          <p:cNvPr id="7" name="矩形 6"/>
          <p:cNvSpPr/>
          <p:nvPr/>
        </p:nvSpPr>
        <p:spPr>
          <a:xfrm>
            <a:off x="200026" y="123478"/>
            <a:ext cx="6657975" cy="430887"/>
          </a:xfrm>
          <a:prstGeom prst="rect">
            <a:avLst/>
          </a:prstGeom>
        </p:spPr>
        <p:txBody>
          <a:bodyPr>
            <a:spAutoFit/>
          </a:bodyPr>
          <a:lstStyle/>
          <a:p>
            <a:pPr marL="342900" indent="-342900">
              <a:lnSpc>
                <a:spcPct val="100000"/>
              </a:lnSpc>
              <a:buFontTx/>
              <a:buNone/>
              <a:defRPr/>
            </a:pPr>
            <a:r>
              <a:rPr lang="zh-CN" altLang="zh-CN" sz="2200" b="1" kern="0" dirty="0">
                <a:solidFill>
                  <a:srgbClr val="C00000"/>
                </a:solidFill>
                <a:latin typeface="Arial"/>
                <a:ea typeface="宋体"/>
              </a:rPr>
              <a:t>函数调用的文法结构如下</a:t>
            </a:r>
            <a:r>
              <a:rPr lang="zh-CN" altLang="en-US" sz="2200" b="1" kern="0" dirty="0">
                <a:solidFill>
                  <a:srgbClr val="C00000"/>
                </a:solidFill>
                <a:latin typeface="Arial"/>
                <a:ea typeface="宋体"/>
              </a:rPr>
              <a:t>：</a:t>
            </a:r>
            <a:endParaRPr lang="en-US" altLang="zh-CN" sz="2200" b="1" kern="0" dirty="0">
              <a:solidFill>
                <a:srgbClr val="C00000"/>
              </a:solidFill>
              <a:latin typeface="Arial"/>
              <a:ea typeface="宋体"/>
            </a:endParaRPr>
          </a:p>
        </p:txBody>
      </p:sp>
    </p:spTree>
    <p:extLst>
      <p:ext uri="{BB962C8B-B14F-4D97-AF65-F5344CB8AC3E}">
        <p14:creationId xmlns:p14="http://schemas.microsoft.com/office/powerpoint/2010/main" val="25162402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347614"/>
            <a:ext cx="3888432" cy="1512168"/>
          </a:xfrm>
        </p:spPr>
        <p:txBody>
          <a:bodyPr>
            <a:normAutofit/>
          </a:bodyPr>
          <a:lstStyle/>
          <a:p>
            <a:pPr marL="0" indent="0">
              <a:buFontTx/>
              <a:buNone/>
              <a:defRPr/>
            </a:pPr>
            <a:r>
              <a:rPr lang="zh-CN" altLang="zh-CN" sz="2000" dirty="0"/>
              <a:t>假定在调用函数之前，已生成了</a:t>
            </a:r>
            <a:r>
              <a:rPr lang="en-US" altLang="zh-CN" sz="2000" dirty="0"/>
              <a:t>k</a:t>
            </a:r>
            <a:r>
              <a:rPr lang="zh-CN" altLang="zh-CN" sz="2000" dirty="0"/>
              <a:t>条四元式，函数调用的四元式是从</a:t>
            </a:r>
            <a:r>
              <a:rPr lang="en-US" altLang="zh-CN" sz="2000" dirty="0"/>
              <a:t>k+1</a:t>
            </a:r>
            <a:r>
              <a:rPr lang="zh-CN" altLang="zh-CN" sz="2000" dirty="0"/>
              <a:t>条开始，得到四元式序列</a:t>
            </a:r>
          </a:p>
        </p:txBody>
      </p:sp>
      <p:sp>
        <p:nvSpPr>
          <p:cNvPr id="2" name="矩形 1"/>
          <p:cNvSpPr/>
          <p:nvPr/>
        </p:nvSpPr>
        <p:spPr>
          <a:xfrm>
            <a:off x="323528" y="195486"/>
            <a:ext cx="7666984" cy="830997"/>
          </a:xfrm>
          <a:prstGeom prst="rect">
            <a:avLst/>
          </a:prstGeom>
        </p:spPr>
        <p:txBody>
          <a:bodyPr wrap="square">
            <a:spAutoFit/>
          </a:bodyPr>
          <a:lstStyle/>
          <a:p>
            <a:pPr lvl="0">
              <a:spcBef>
                <a:spcPts val="400"/>
              </a:spcBef>
              <a:buClr>
                <a:srgbClr val="2DA2BF"/>
              </a:buClr>
              <a:buSzPct val="68000"/>
              <a:defRPr/>
            </a:pPr>
            <a:r>
              <a:rPr lang="zh-CN" altLang="en-US" sz="2400" dirty="0">
                <a:solidFill>
                  <a:prstClr val="black"/>
                </a:solidFill>
                <a:latin typeface="宋体" panose="02010600030101010101" pitchFamily="2" charset="-122"/>
                <a:ea typeface="宋体" panose="02010600030101010101" pitchFamily="2" charset="-122"/>
              </a:rPr>
              <a:t>例：</a:t>
            </a:r>
            <a:r>
              <a:rPr lang="zh-CN" altLang="zh-CN" sz="2400" dirty="0">
                <a:solidFill>
                  <a:prstClr val="black"/>
                </a:solidFill>
                <a:latin typeface="宋体" panose="02010600030101010101" pitchFamily="2" charset="-122"/>
                <a:ea typeface="宋体" panose="02010600030101010101" pitchFamily="2" charset="-122"/>
              </a:rPr>
              <a:t>假定在某主函数中以</a:t>
            </a:r>
            <a:r>
              <a:rPr lang="en-US" altLang="zh-CN" sz="2400" dirty="0">
                <a:solidFill>
                  <a:srgbClr val="FF0000"/>
                </a:solidFill>
                <a:latin typeface="宋体" panose="02010600030101010101" pitchFamily="2" charset="-122"/>
                <a:ea typeface="宋体" panose="02010600030101010101" pitchFamily="2" charset="-122"/>
              </a:rPr>
              <a:t>max(1+x, y)</a:t>
            </a:r>
            <a:r>
              <a:rPr lang="zh-CN" altLang="zh-CN" sz="2400" dirty="0">
                <a:solidFill>
                  <a:prstClr val="black"/>
                </a:solidFill>
                <a:latin typeface="宋体" panose="02010600030101010101" pitchFamily="2" charset="-122"/>
                <a:ea typeface="宋体" panose="02010600030101010101" pitchFamily="2" charset="-122"/>
              </a:rPr>
              <a:t>形式调用了函数，写出生成如下四元式序列。</a:t>
            </a:r>
          </a:p>
        </p:txBody>
      </p:sp>
      <p:sp>
        <p:nvSpPr>
          <p:cNvPr id="5" name="矩形 4"/>
          <p:cNvSpPr/>
          <p:nvPr/>
        </p:nvSpPr>
        <p:spPr>
          <a:xfrm>
            <a:off x="5511690" y="1184945"/>
            <a:ext cx="2808312" cy="1631216"/>
          </a:xfrm>
          <a:prstGeom prst="rect">
            <a:avLst/>
          </a:prstGeom>
          <a:solidFill>
            <a:srgbClr val="D0EBB3"/>
          </a:solidFill>
        </p:spPr>
        <p:txBody>
          <a:bodyPr wrap="square">
            <a:spAutoFit/>
          </a:bodyPr>
          <a:lstStyle/>
          <a:p>
            <a:pPr>
              <a:defRPr/>
            </a:pPr>
            <a:r>
              <a:rPr lang="en-US" altLang="zh-CN" sz="2000" dirty="0"/>
              <a:t>(k+1) (+, 1, x, T</a:t>
            </a:r>
            <a:r>
              <a:rPr lang="en-US" altLang="zh-CN" sz="2000" baseline="-25000" dirty="0"/>
              <a:t>0</a:t>
            </a:r>
            <a:r>
              <a:rPr lang="en-US" altLang="zh-CN" sz="2000" dirty="0"/>
              <a:t>)</a:t>
            </a:r>
          </a:p>
          <a:p>
            <a:pPr>
              <a:defRPr/>
            </a:pPr>
            <a:endParaRPr lang="en-US" altLang="zh-CN" sz="2000" dirty="0"/>
          </a:p>
          <a:p>
            <a:pPr>
              <a:defRPr/>
            </a:pPr>
            <a:endParaRPr lang="en-US" altLang="zh-CN" sz="2000" dirty="0"/>
          </a:p>
          <a:p>
            <a:pPr>
              <a:defRPr/>
            </a:pPr>
            <a:endParaRPr lang="en-US" altLang="zh-CN" sz="2000" dirty="0"/>
          </a:p>
          <a:p>
            <a:pPr>
              <a:defRPr/>
            </a:pPr>
            <a:endParaRPr lang="zh-CN" altLang="zh-CN" sz="2000" dirty="0"/>
          </a:p>
        </p:txBody>
      </p:sp>
      <p:sp>
        <p:nvSpPr>
          <p:cNvPr id="6" name="矩形 5"/>
          <p:cNvSpPr/>
          <p:nvPr/>
        </p:nvSpPr>
        <p:spPr>
          <a:xfrm>
            <a:off x="5511690" y="1558479"/>
            <a:ext cx="2808312" cy="400110"/>
          </a:xfrm>
          <a:prstGeom prst="rect">
            <a:avLst/>
          </a:prstGeom>
        </p:spPr>
        <p:txBody>
          <a:bodyPr wrap="square">
            <a:spAutoFit/>
          </a:bodyPr>
          <a:lstStyle/>
          <a:p>
            <a:pPr>
              <a:defRPr/>
            </a:pPr>
            <a:r>
              <a:rPr lang="en-US" altLang="zh-CN" sz="2000" dirty="0"/>
              <a:t>(k+2) (para, y,  ,  )</a:t>
            </a:r>
            <a:endParaRPr lang="zh-CN" altLang="en-US" sz="2000" dirty="0"/>
          </a:p>
        </p:txBody>
      </p:sp>
      <p:sp>
        <p:nvSpPr>
          <p:cNvPr id="7" name="矩形 6"/>
          <p:cNvSpPr/>
          <p:nvPr/>
        </p:nvSpPr>
        <p:spPr>
          <a:xfrm>
            <a:off x="5511690" y="1927811"/>
            <a:ext cx="2808312" cy="400110"/>
          </a:xfrm>
          <a:prstGeom prst="rect">
            <a:avLst/>
          </a:prstGeom>
        </p:spPr>
        <p:txBody>
          <a:bodyPr wrap="square">
            <a:spAutoFit/>
          </a:bodyPr>
          <a:lstStyle/>
          <a:p>
            <a:pPr>
              <a:defRPr/>
            </a:pPr>
            <a:r>
              <a:rPr lang="en-US" altLang="zh-CN" sz="2000" dirty="0"/>
              <a:t>(k+3) (para,T</a:t>
            </a:r>
            <a:r>
              <a:rPr lang="en-US" altLang="zh-CN" sz="2000" baseline="-25000" dirty="0"/>
              <a:t>0</a:t>
            </a:r>
            <a:r>
              <a:rPr lang="en-US" altLang="zh-CN" sz="2000" dirty="0"/>
              <a:t>,  ,  )</a:t>
            </a:r>
            <a:endParaRPr lang="zh-CN" altLang="zh-CN" sz="2000" dirty="0"/>
          </a:p>
        </p:txBody>
      </p:sp>
      <p:sp>
        <p:nvSpPr>
          <p:cNvPr id="8" name="矩形 7"/>
          <p:cNvSpPr/>
          <p:nvPr/>
        </p:nvSpPr>
        <p:spPr>
          <a:xfrm>
            <a:off x="5511690" y="2372315"/>
            <a:ext cx="2808312" cy="400110"/>
          </a:xfrm>
          <a:prstGeom prst="rect">
            <a:avLst/>
          </a:prstGeom>
        </p:spPr>
        <p:txBody>
          <a:bodyPr wrap="square">
            <a:spAutoFit/>
          </a:bodyPr>
          <a:lstStyle/>
          <a:p>
            <a:pPr>
              <a:defRPr/>
            </a:pPr>
            <a:r>
              <a:rPr lang="en-US" altLang="zh-CN" sz="2000" dirty="0"/>
              <a:t>(k+4) (call, max,  ,  )</a:t>
            </a:r>
            <a:endParaRPr lang="zh-CN" altLang="en-US" sz="2000" dirty="0"/>
          </a:p>
        </p:txBody>
      </p:sp>
      <p:graphicFrame>
        <p:nvGraphicFramePr>
          <p:cNvPr id="9" name="表格 8"/>
          <p:cNvGraphicFramePr>
            <a:graphicFrameLocks noGrp="1"/>
          </p:cNvGraphicFramePr>
          <p:nvPr>
            <p:extLst>
              <p:ext uri="{D42A27DB-BD31-4B8C-83A1-F6EECF244321}">
                <p14:modId xmlns:p14="http://schemas.microsoft.com/office/powerpoint/2010/main" val="16895024"/>
              </p:ext>
            </p:extLst>
          </p:nvPr>
        </p:nvGraphicFramePr>
        <p:xfrm>
          <a:off x="200026" y="3219822"/>
          <a:ext cx="8572500" cy="1543052"/>
        </p:xfrm>
        <a:graphic>
          <a:graphicData uri="http://schemas.openxmlformats.org/drawingml/2006/table">
            <a:tbl>
              <a:tblPr/>
              <a:tblGrid>
                <a:gridCol w="821841">
                  <a:extLst>
                    <a:ext uri="{9D8B030D-6E8A-4147-A177-3AD203B41FA5}">
                      <a16:colId xmlns:a16="http://schemas.microsoft.com/office/drawing/2014/main" val="20000"/>
                    </a:ext>
                  </a:extLst>
                </a:gridCol>
                <a:gridCol w="3104369">
                  <a:extLst>
                    <a:ext uri="{9D8B030D-6E8A-4147-A177-3AD203B41FA5}">
                      <a16:colId xmlns:a16="http://schemas.microsoft.com/office/drawing/2014/main" val="20001"/>
                    </a:ext>
                  </a:extLst>
                </a:gridCol>
                <a:gridCol w="4646290">
                  <a:extLst>
                    <a:ext uri="{9D8B030D-6E8A-4147-A177-3AD203B41FA5}">
                      <a16:colId xmlns:a16="http://schemas.microsoft.com/office/drawing/2014/main" val="20002"/>
                    </a:ext>
                  </a:extLst>
                </a:gridCol>
              </a:tblGrid>
              <a:tr h="289304">
                <a:tc>
                  <a:txBody>
                    <a:bodyPr/>
                    <a:lstStyle/>
                    <a:p>
                      <a:pPr algn="just">
                        <a:spcAft>
                          <a:spcPts val="0"/>
                        </a:spcAft>
                      </a:pPr>
                      <a:r>
                        <a:rPr lang="zh-CN" sz="1800" kern="100" dirty="0">
                          <a:latin typeface="Times New Roman"/>
                          <a:ea typeface="宋体"/>
                          <a:cs typeface="Times New Roman"/>
                        </a:rPr>
                        <a:t>序号</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dirty="0">
                          <a:latin typeface="Times New Roman"/>
                          <a:ea typeface="宋体"/>
                          <a:cs typeface="Times New Roman"/>
                        </a:rPr>
                        <a:t>产生式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1800" kern="100">
                          <a:latin typeface="Times New Roman"/>
                          <a:ea typeface="宋体"/>
                          <a:cs typeface="Times New Roman"/>
                        </a:rPr>
                        <a:t>语义规则</a:t>
                      </a: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89304">
                <a:tc>
                  <a:txBody>
                    <a:bodyPr/>
                    <a:lstStyle/>
                    <a:p>
                      <a:pPr algn="just">
                        <a:spcAft>
                          <a:spcPts val="0"/>
                        </a:spcAft>
                      </a:pPr>
                      <a:r>
                        <a:rPr lang="zh-CN" sz="1800" kern="100">
                          <a:latin typeface="Times New Roman"/>
                          <a:ea typeface="宋体"/>
                          <a:cs typeface="Times New Roman"/>
                        </a:rPr>
                        <a:t>（</a:t>
                      </a:r>
                      <a:r>
                        <a:rPr lang="en-US" sz="1800" kern="100">
                          <a:latin typeface="Times New Roman"/>
                          <a:ea typeface="宋体"/>
                          <a:cs typeface="Times New Roman"/>
                        </a:rPr>
                        <a:t>1</a:t>
                      </a:r>
                      <a:r>
                        <a:rPr lang="zh-CN" sz="1800" kern="100">
                          <a:latin typeface="Times New Roman"/>
                          <a:ea typeface="宋体"/>
                          <a:cs typeface="Times New Roman"/>
                        </a:rPr>
                        <a:t>）</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it-IT" sz="1800" kern="100" dirty="0">
                          <a:latin typeface="宋体"/>
                          <a:ea typeface="宋体"/>
                          <a:cs typeface="Times New Roman"/>
                        </a:rPr>
                        <a:t>&lt;</a:t>
                      </a:r>
                      <a:r>
                        <a:rPr lang="en-US" sz="1800" kern="100" dirty="0">
                          <a:latin typeface="宋体"/>
                          <a:ea typeface="宋体"/>
                          <a:cs typeface="Times New Roman"/>
                        </a:rPr>
                        <a:t>FA&gt;→id(&lt;RPL&gt;</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fr-FR" sz="1800" kern="100" dirty="0">
                          <a:latin typeface="Times New Roman"/>
                          <a:ea typeface="宋体"/>
                          <a:cs typeface="Times New Roman"/>
                        </a:rPr>
                        <a:t>{  gencode(call</a:t>
                      </a:r>
                      <a:r>
                        <a:rPr lang="zh-CN" sz="1800" kern="100" dirty="0">
                          <a:latin typeface="Times New Roman"/>
                          <a:ea typeface="宋体"/>
                          <a:cs typeface="Times New Roman"/>
                        </a:rPr>
                        <a:t>，</a:t>
                      </a:r>
                      <a:r>
                        <a:rPr kumimoji="0" lang="en-US" altLang="zh-CN" sz="1800" kern="1200" dirty="0">
                          <a:solidFill>
                            <a:schemeClr val="tx1"/>
                          </a:solidFill>
                          <a:effectLst/>
                          <a:latin typeface="+mn-lt"/>
                          <a:ea typeface="+mn-ea"/>
                          <a:cs typeface="+mn-cs"/>
                        </a:rPr>
                        <a:t>entry(id).name</a:t>
                      </a:r>
                      <a:r>
                        <a:rPr lang="zh-CN" sz="1800" kern="100" dirty="0">
                          <a:latin typeface="Times New Roman"/>
                          <a:ea typeface="宋体"/>
                          <a:cs typeface="Times New Roman"/>
                        </a:rPr>
                        <a:t>， ， </a:t>
                      </a:r>
                      <a:r>
                        <a:rPr lang="fr-FR" sz="1800" kern="100" dirty="0">
                          <a:latin typeface="Times New Roman"/>
                          <a:ea typeface="宋体"/>
                          <a:cs typeface="Times New Roman"/>
                        </a:rPr>
                        <a:t>) ; }</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9304">
                <a:tc>
                  <a:txBody>
                    <a:bodyPr/>
                    <a:lstStyle/>
                    <a:p>
                      <a:pPr algn="just">
                        <a:spcAft>
                          <a:spcPts val="0"/>
                        </a:spcAft>
                      </a:pPr>
                      <a:r>
                        <a:rPr lang="zh-CN" sz="1800" kern="100" dirty="0">
                          <a:latin typeface="Times New Roman"/>
                          <a:ea typeface="宋体"/>
                          <a:cs typeface="Times New Roman"/>
                        </a:rPr>
                        <a:t>（</a:t>
                      </a:r>
                      <a:r>
                        <a:rPr lang="en-US" sz="1800" kern="100" dirty="0">
                          <a:latin typeface="Times New Roman"/>
                          <a:ea typeface="宋体"/>
                          <a:cs typeface="Times New Roman"/>
                        </a:rPr>
                        <a:t>2</a:t>
                      </a:r>
                      <a:r>
                        <a:rPr lang="zh-CN" sz="1800" kern="100" dirty="0">
                          <a:latin typeface="Times New Roman"/>
                          <a:ea typeface="宋体"/>
                          <a:cs typeface="Times New Roman"/>
                        </a:rPr>
                        <a:t>）</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it-IT" sz="1800" kern="100" dirty="0">
                          <a:latin typeface="宋体"/>
                          <a:ea typeface="宋体"/>
                          <a:cs typeface="Times New Roman"/>
                        </a:rPr>
                        <a:t>&lt;</a:t>
                      </a:r>
                      <a:r>
                        <a:rPr lang="en-US" sz="1800" kern="100" dirty="0">
                          <a:latin typeface="宋体"/>
                          <a:ea typeface="宋体"/>
                          <a:cs typeface="Times New Roman"/>
                        </a:rPr>
                        <a:t>RPL&gt;→</a:t>
                      </a:r>
                      <a:r>
                        <a:rPr lang="en-US" sz="1800" kern="100" dirty="0">
                          <a:latin typeface="Times New Roman"/>
                          <a:ea typeface="宋体"/>
                          <a:cs typeface="Times New Roman"/>
                        </a:rPr>
                        <a:t>&lt;RP&gt; | </a:t>
                      </a:r>
                      <a:r>
                        <a:rPr lang="en-US" sz="1800" kern="100" dirty="0">
                          <a:latin typeface="宋体"/>
                          <a:ea typeface="宋体"/>
                          <a:cs typeface="Times New Roman"/>
                          <a:sym typeface="Symbol"/>
                        </a:rPr>
                        <a:t>)</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1800" kern="100" dirty="0">
                          <a:latin typeface="Times New Roman"/>
                          <a:ea typeface="宋体"/>
                          <a:cs typeface="Times New Roman"/>
                        </a:rPr>
                        <a:t>{                   }</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7147">
                <a:tc>
                  <a:txBody>
                    <a:bodyPr/>
                    <a:lstStyle/>
                    <a:p>
                      <a:pPr algn="just">
                        <a:spcAft>
                          <a:spcPts val="0"/>
                        </a:spcAft>
                      </a:pPr>
                      <a:r>
                        <a:rPr lang="zh-CN" sz="1800" kern="100">
                          <a:latin typeface="Times New Roman"/>
                          <a:ea typeface="宋体"/>
                          <a:cs typeface="Times New Roman"/>
                        </a:rPr>
                        <a:t>（</a:t>
                      </a:r>
                      <a:r>
                        <a:rPr lang="en-US" sz="1800" kern="100">
                          <a:latin typeface="Times New Roman"/>
                          <a:ea typeface="宋体"/>
                          <a:cs typeface="Times New Roman"/>
                        </a:rPr>
                        <a:t>3</a:t>
                      </a:r>
                      <a:r>
                        <a:rPr lang="zh-CN" sz="1800" kern="100">
                          <a:latin typeface="Times New Roman"/>
                          <a:ea typeface="宋体"/>
                          <a:cs typeface="Times New Roman"/>
                        </a:rPr>
                        <a:t>）</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it-IT" sz="1800" kern="100" dirty="0">
                          <a:latin typeface="宋体"/>
                          <a:ea typeface="宋体"/>
                          <a:cs typeface="Times New Roman"/>
                        </a:rPr>
                        <a:t>&lt;</a:t>
                      </a:r>
                      <a:r>
                        <a:rPr lang="en-US" sz="1800" kern="100" dirty="0">
                          <a:latin typeface="宋体"/>
                          <a:ea typeface="宋体"/>
                          <a:cs typeface="Times New Roman"/>
                        </a:rPr>
                        <a:t>RP&gt;→</a:t>
                      </a:r>
                      <a:r>
                        <a:rPr lang="en-US" sz="1800" kern="100" dirty="0">
                          <a:latin typeface="Times New Roman"/>
                          <a:ea typeface="宋体"/>
                          <a:cs typeface="Times New Roman"/>
                        </a:rPr>
                        <a:t>&lt;EXPR&gt;</a:t>
                      </a:r>
                      <a:r>
                        <a:rPr lang="en-US" sz="1800" kern="100" baseline="0" dirty="0">
                          <a:latin typeface="Times New Roman"/>
                          <a:ea typeface="宋体"/>
                          <a:cs typeface="Times New Roman"/>
                        </a:rPr>
                        <a:t> )</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fr-FR" sz="1800" kern="100" dirty="0">
                          <a:latin typeface="Times New Roman"/>
                          <a:ea typeface="宋体"/>
                          <a:cs typeface="Times New Roman"/>
                        </a:rPr>
                        <a:t>{  gencode(para</a:t>
                      </a:r>
                      <a:r>
                        <a:rPr lang="zh-CN" sz="1800" kern="100" dirty="0">
                          <a:latin typeface="Times New Roman"/>
                          <a:ea typeface="宋体"/>
                          <a:cs typeface="Times New Roman"/>
                        </a:rPr>
                        <a:t>，</a:t>
                      </a:r>
                      <a:r>
                        <a:rPr lang="en-US" sz="1800" kern="100" dirty="0">
                          <a:latin typeface="Times New Roman"/>
                          <a:ea typeface="宋体"/>
                          <a:cs typeface="Times New Roman"/>
                        </a:rPr>
                        <a:t>&lt;EXPR&gt;</a:t>
                      </a:r>
                      <a:r>
                        <a:rPr lang="fr-FR" sz="1800" kern="100" dirty="0">
                          <a:latin typeface="Times New Roman"/>
                          <a:ea typeface="宋体"/>
                          <a:cs typeface="Times New Roman"/>
                        </a:rPr>
                        <a:t>.PLACE</a:t>
                      </a:r>
                      <a:r>
                        <a:rPr lang="zh-CN" sz="1800" kern="100" dirty="0">
                          <a:latin typeface="Times New Roman"/>
                          <a:ea typeface="宋体"/>
                          <a:cs typeface="Times New Roman"/>
                        </a:rPr>
                        <a:t>， ，</a:t>
                      </a:r>
                      <a:r>
                        <a:rPr lang="fr-FR" sz="1800" kern="100" dirty="0">
                          <a:latin typeface="Times New Roman"/>
                          <a:ea typeface="宋体"/>
                          <a:cs typeface="Times New Roman"/>
                        </a:rPr>
                        <a:t> ) ; }</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97993">
                <a:tc>
                  <a:txBody>
                    <a:bodyPr/>
                    <a:lstStyle/>
                    <a:p>
                      <a:pPr algn="just">
                        <a:spcAft>
                          <a:spcPts val="0"/>
                        </a:spcAft>
                      </a:pPr>
                      <a:r>
                        <a:rPr lang="zh-CN" sz="1800" kern="100">
                          <a:latin typeface="Times New Roman"/>
                          <a:ea typeface="宋体"/>
                          <a:cs typeface="Times New Roman"/>
                        </a:rPr>
                        <a:t>（</a:t>
                      </a:r>
                      <a:r>
                        <a:rPr lang="en-US" sz="1800" kern="100">
                          <a:latin typeface="Times New Roman"/>
                          <a:ea typeface="宋体"/>
                          <a:cs typeface="Times New Roman"/>
                        </a:rPr>
                        <a:t>4</a:t>
                      </a:r>
                      <a:r>
                        <a:rPr lang="zh-CN" sz="1800" kern="100">
                          <a:latin typeface="Times New Roman"/>
                          <a:ea typeface="宋体"/>
                          <a:cs typeface="Times New Roman"/>
                        </a:rPr>
                        <a:t>）</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it-IT" sz="1800" kern="100" dirty="0">
                          <a:latin typeface="宋体"/>
                          <a:ea typeface="宋体"/>
                          <a:cs typeface="Times New Roman"/>
                        </a:rPr>
                        <a:t>&lt;</a:t>
                      </a:r>
                      <a:r>
                        <a:rPr lang="en-US" sz="1800" kern="100" dirty="0">
                          <a:latin typeface="宋体"/>
                          <a:ea typeface="宋体"/>
                          <a:cs typeface="Times New Roman"/>
                        </a:rPr>
                        <a:t>RP&gt;→</a:t>
                      </a:r>
                      <a:r>
                        <a:rPr lang="en-US" sz="1800" kern="100" dirty="0">
                          <a:latin typeface="Times New Roman"/>
                          <a:ea typeface="宋体"/>
                          <a:cs typeface="Times New Roman"/>
                        </a:rPr>
                        <a:t>&lt;EXPR&gt; ,&lt;RP&gt;</a:t>
                      </a:r>
                      <a:r>
                        <a:rPr lang="en-US" sz="1800" kern="100" baseline="30000" dirty="0">
                          <a:latin typeface="Times New Roman"/>
                          <a:ea typeface="宋体"/>
                          <a:cs typeface="Times New Roman"/>
                        </a:rPr>
                        <a:t>(1)</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fr-FR" sz="1800" kern="100" dirty="0">
                          <a:latin typeface="Times New Roman"/>
                          <a:ea typeface="宋体"/>
                          <a:cs typeface="Times New Roman"/>
                        </a:rPr>
                        <a:t>{  gencode(para</a:t>
                      </a:r>
                      <a:r>
                        <a:rPr lang="zh-CN" sz="1800" kern="100" dirty="0">
                          <a:latin typeface="Times New Roman"/>
                          <a:ea typeface="宋体"/>
                          <a:cs typeface="Times New Roman"/>
                        </a:rPr>
                        <a:t>，</a:t>
                      </a:r>
                      <a:r>
                        <a:rPr lang="en-US" sz="1800" kern="100" dirty="0">
                          <a:latin typeface="Times New Roman"/>
                          <a:ea typeface="宋体"/>
                          <a:cs typeface="Times New Roman"/>
                        </a:rPr>
                        <a:t>&lt;EXPR&gt;</a:t>
                      </a:r>
                      <a:r>
                        <a:rPr lang="fr-FR" sz="1800" kern="100" dirty="0">
                          <a:latin typeface="Times New Roman"/>
                          <a:ea typeface="宋体"/>
                          <a:cs typeface="Times New Roman"/>
                        </a:rPr>
                        <a:t>.PLACE</a:t>
                      </a:r>
                      <a:r>
                        <a:rPr lang="zh-CN" sz="1800" kern="100" dirty="0">
                          <a:latin typeface="Times New Roman"/>
                          <a:ea typeface="宋体"/>
                          <a:cs typeface="Times New Roman"/>
                        </a:rPr>
                        <a:t>，，</a:t>
                      </a:r>
                      <a:r>
                        <a:rPr lang="fr-FR" sz="1800" kern="100" dirty="0">
                          <a:latin typeface="Times New Roman"/>
                          <a:ea typeface="宋体"/>
                          <a:cs typeface="Times New Roman"/>
                        </a:rPr>
                        <a:t>) ; }</a:t>
                      </a:r>
                      <a:endParaRPr lang="zh-CN" sz="18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5160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p:bldP spid="7" grpId="0"/>
      <p:bldP spid="8"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2041258"/>
            <a:ext cx="6766596" cy="1446550"/>
          </a:xfrm>
          <a:prstGeom prst="rect">
            <a:avLst/>
          </a:prstGeom>
        </p:spPr>
        <p:txBody>
          <a:bodyPr wrap="none">
            <a:spAutoFit/>
          </a:bodyPr>
          <a:lstStyle/>
          <a:p>
            <a:r>
              <a:rPr lang="en-US" altLang="zh-CN" sz="4400" b="1" dirty="0">
                <a:solidFill>
                  <a:srgbClr val="CC0099"/>
                </a:solidFill>
                <a:ea typeface="隶书" pitchFamily="49" charset="-122"/>
              </a:rPr>
              <a:t>5</a:t>
            </a:r>
            <a:r>
              <a:rPr lang="zh-CN" altLang="en-US" sz="4400" b="1" dirty="0">
                <a:solidFill>
                  <a:srgbClr val="CC0099"/>
                </a:solidFill>
                <a:ea typeface="隶书" pitchFamily="49" charset="-122"/>
              </a:rPr>
              <a:t>、中间代码生成器的设计</a:t>
            </a:r>
            <a:endParaRPr lang="en-US" altLang="zh-CN" sz="4400" b="1" dirty="0">
              <a:solidFill>
                <a:srgbClr val="CC0099"/>
              </a:solidFill>
              <a:ea typeface="隶书" pitchFamily="49" charset="-122"/>
            </a:endParaRPr>
          </a:p>
          <a:p>
            <a:r>
              <a:rPr lang="en-US" altLang="zh-CN" sz="4400" b="1" dirty="0">
                <a:solidFill>
                  <a:srgbClr val="CC0099"/>
                </a:solidFill>
                <a:ea typeface="隶书" pitchFamily="49" charset="-122"/>
              </a:rPr>
              <a:t>     </a:t>
            </a:r>
            <a:r>
              <a:rPr lang="en-US" altLang="zh-CN" sz="3600" b="1" dirty="0">
                <a:solidFill>
                  <a:srgbClr val="CC0099"/>
                </a:solidFill>
                <a:ea typeface="隶书" pitchFamily="49" charset="-122"/>
              </a:rPr>
              <a:t>——</a:t>
            </a:r>
            <a:r>
              <a:rPr lang="zh-CN" altLang="en-US" sz="3600" b="1" dirty="0">
                <a:solidFill>
                  <a:srgbClr val="CC0099"/>
                </a:solidFill>
                <a:ea typeface="隶书" pitchFamily="49" charset="-122"/>
              </a:rPr>
              <a:t>语法制导翻译器</a:t>
            </a:r>
            <a:endParaRPr lang="en-US" altLang="zh-CN" sz="4400" b="1" dirty="0">
              <a:solidFill>
                <a:srgbClr val="CC0099"/>
              </a:solidFill>
              <a:ea typeface="隶书" pitchFamily="49" charset="-122"/>
            </a:endParaRPr>
          </a:p>
        </p:txBody>
      </p:sp>
    </p:spTree>
    <p:extLst>
      <p:ext uri="{BB962C8B-B14F-4D97-AF65-F5344CB8AC3E}">
        <p14:creationId xmlns:p14="http://schemas.microsoft.com/office/powerpoint/2010/main" val="324849434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normAutofit fontScale="90000"/>
          </a:bodyPr>
          <a:lstStyle/>
          <a:p>
            <a:pPr eaLnBrk="1" hangingPunct="1"/>
            <a:r>
              <a:rPr kumimoji="1" lang="zh-CN" altLang="zh-CN" sz="4800" b="1" dirty="0">
                <a:solidFill>
                  <a:srgbClr val="CC0099"/>
                </a:solidFill>
                <a:latin typeface="Times New Roman" pitchFamily="18" charset="0"/>
                <a:ea typeface="隶书" pitchFamily="49" charset="-122"/>
              </a:rPr>
              <a:t>中间代码生成器的设计</a:t>
            </a:r>
            <a:endParaRPr kumimoji="1" lang="zh-CN" altLang="en-US" sz="4800" b="1" dirty="0">
              <a:solidFill>
                <a:srgbClr val="CC0099"/>
              </a:solidFill>
              <a:latin typeface="Times New Roman" pitchFamily="18" charset="0"/>
              <a:ea typeface="隶书" pitchFamily="49" charset="-122"/>
            </a:endParaRPr>
          </a:p>
        </p:txBody>
      </p:sp>
      <p:sp>
        <p:nvSpPr>
          <p:cNvPr id="124931" name="Rectangle 3"/>
          <p:cNvSpPr>
            <a:spLocks noGrp="1" noChangeArrowheads="1"/>
          </p:cNvSpPr>
          <p:nvPr>
            <p:ph type="body" idx="1"/>
          </p:nvPr>
        </p:nvSpPr>
        <p:spPr>
          <a:xfrm>
            <a:off x="539750" y="1006078"/>
            <a:ext cx="8229600" cy="1493664"/>
          </a:xfrm>
        </p:spPr>
        <p:txBody>
          <a:bodyPr>
            <a:normAutofit/>
          </a:bodyPr>
          <a:lstStyle/>
          <a:p>
            <a:pPr eaLnBrk="1" hangingPunct="1"/>
            <a:r>
              <a:rPr lang="zh-CN" altLang="en-US" sz="2000" dirty="0"/>
              <a:t>语法制导的翻译实际上就是在语法分析的基础上，当分析完一个正确的语法单位后，调用相应的语义处理程序，直接生成相应的四元式表。</a:t>
            </a:r>
          </a:p>
          <a:p>
            <a:pPr eaLnBrk="1" hangingPunct="1"/>
            <a:r>
              <a:rPr lang="zh-CN" altLang="en-US" sz="2000" dirty="0"/>
              <a:t>在第</a:t>
            </a:r>
            <a:r>
              <a:rPr lang="en-US" altLang="zh-CN" sz="2000" dirty="0"/>
              <a:t>3</a:t>
            </a:r>
            <a:r>
              <a:rPr lang="zh-CN" altLang="en-US" sz="2000" dirty="0"/>
              <a:t>章使用递归下降的分析方法进行了</a:t>
            </a:r>
            <a:r>
              <a:rPr lang="en-US" altLang="zh-CN" sz="2000" dirty="0"/>
              <a:t>Sample</a:t>
            </a:r>
            <a:r>
              <a:rPr lang="zh-CN" altLang="en-US" sz="2000" dirty="0"/>
              <a:t>语言的语法分析器</a:t>
            </a:r>
          </a:p>
          <a:p>
            <a:pPr eaLnBrk="1" hangingPunct="1"/>
            <a:r>
              <a:rPr lang="zh-CN" altLang="en-US" sz="2000" dirty="0"/>
              <a:t>在此基础上添加语义处理</a:t>
            </a:r>
          </a:p>
        </p:txBody>
      </p:sp>
      <p:graphicFrame>
        <p:nvGraphicFramePr>
          <p:cNvPr id="124932" name="对象 2"/>
          <p:cNvGraphicFramePr>
            <a:graphicFrameLocks noChangeAspect="1"/>
          </p:cNvGraphicFramePr>
          <p:nvPr/>
        </p:nvGraphicFramePr>
        <p:xfrm>
          <a:off x="1547814" y="3057525"/>
          <a:ext cx="6738937" cy="1458516"/>
        </p:xfrm>
        <a:graphic>
          <a:graphicData uri="http://schemas.openxmlformats.org/presentationml/2006/ole">
            <mc:AlternateContent xmlns:mc="http://schemas.openxmlformats.org/markup-compatibility/2006">
              <mc:Choice xmlns:v="urn:schemas-microsoft-com:vml" Requires="v">
                <p:oleObj spid="_x0000_s38917" name="Visio" r:id="rId4" imgW="2539784" imgH="730873" progId="Visio.Drawing.11">
                  <p:embed/>
                </p:oleObj>
              </mc:Choice>
              <mc:Fallback>
                <p:oleObj name="Visio" r:id="rId4" imgW="2539784" imgH="730873" progId="Visio.Drawing.11">
                  <p:embed/>
                  <p:pic>
                    <p:nvPicPr>
                      <p:cNvPr id="124932"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4" y="3057525"/>
                        <a:ext cx="6738937" cy="1458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9708958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107504" y="123478"/>
            <a:ext cx="8784976" cy="576064"/>
          </a:xfrm>
        </p:spPr>
        <p:txBody>
          <a:bodyPr>
            <a:normAutofit fontScale="90000"/>
          </a:bodyPr>
          <a:lstStyle/>
          <a:p>
            <a:pPr eaLnBrk="1" hangingPunct="1"/>
            <a:r>
              <a:rPr lang="zh-CN" altLang="en-US" sz="3600" dirty="0">
                <a:solidFill>
                  <a:srgbClr val="CC0066"/>
                </a:solidFill>
              </a:rPr>
              <a:t>程序开始和结束的四元式</a:t>
            </a:r>
          </a:p>
        </p:txBody>
      </p:sp>
      <p:sp>
        <p:nvSpPr>
          <p:cNvPr id="126979" name="Rectangle 3"/>
          <p:cNvSpPr>
            <a:spLocks noGrp="1" noChangeArrowheads="1"/>
          </p:cNvSpPr>
          <p:nvPr>
            <p:ph type="body" idx="1"/>
          </p:nvPr>
        </p:nvSpPr>
        <p:spPr>
          <a:xfrm>
            <a:off x="395536" y="883629"/>
            <a:ext cx="8280920" cy="3344305"/>
          </a:xfrm>
        </p:spPr>
        <p:txBody>
          <a:bodyPr>
            <a:normAutofit/>
          </a:bodyPr>
          <a:lstStyle/>
          <a:p>
            <a:pPr eaLnBrk="1" hangingPunct="1">
              <a:lnSpc>
                <a:spcPct val="120000"/>
              </a:lnSpc>
              <a:spcBef>
                <a:spcPts val="0"/>
              </a:spcBef>
            </a:pPr>
            <a:r>
              <a:rPr lang="zh-CN" altLang="en-US" sz="2000" dirty="0"/>
              <a:t>任何一个程序都有开始和结束，对于四元式，也需要表示开始和结束，以便在翻译为目标代码时能正确地产生程序开始和结束的代码。</a:t>
            </a:r>
            <a:endParaRPr lang="en-US" altLang="zh-CN" sz="2000" dirty="0"/>
          </a:p>
          <a:p>
            <a:pPr marL="109728" indent="0" algn="ctr">
              <a:lnSpc>
                <a:spcPct val="120000"/>
              </a:lnSpc>
              <a:spcBef>
                <a:spcPts val="0"/>
              </a:spcBef>
              <a:buNone/>
            </a:pPr>
            <a:r>
              <a:rPr lang="zh-CN" altLang="zh-CN" sz="3200" dirty="0">
                <a:solidFill>
                  <a:srgbClr val="FF0000"/>
                </a:solidFill>
              </a:rPr>
              <a:t>（</a:t>
            </a:r>
            <a:r>
              <a:rPr lang="en-US" altLang="zh-CN" sz="3200" dirty="0">
                <a:solidFill>
                  <a:srgbClr val="FF0000"/>
                </a:solidFill>
              </a:rPr>
              <a:t>main</a:t>
            </a:r>
            <a:r>
              <a:rPr lang="zh-CN" altLang="zh-CN" sz="3200" dirty="0">
                <a:solidFill>
                  <a:srgbClr val="FF0000"/>
                </a:solidFill>
              </a:rPr>
              <a:t>， ， ， ）</a:t>
            </a:r>
            <a:endParaRPr lang="en-US" altLang="zh-CN" sz="2000" dirty="0">
              <a:solidFill>
                <a:srgbClr val="FF0000"/>
              </a:solidFill>
            </a:endParaRPr>
          </a:p>
          <a:p>
            <a:pPr eaLnBrk="1" hangingPunct="1">
              <a:lnSpc>
                <a:spcPct val="120000"/>
              </a:lnSpc>
              <a:spcBef>
                <a:spcPts val="0"/>
              </a:spcBef>
            </a:pPr>
            <a:r>
              <a:rPr lang="zh-CN" altLang="zh-CN" sz="2000" dirty="0"/>
              <a:t>当匹配了“</a:t>
            </a:r>
            <a:r>
              <a:rPr lang="en-US" altLang="zh-CN" sz="2000" dirty="0"/>
              <a:t>main</a:t>
            </a:r>
            <a:r>
              <a:rPr lang="zh-CN" altLang="zh-CN" sz="2000" dirty="0"/>
              <a:t>”后，生成四元式这个四元式表示程序的入口</a:t>
            </a:r>
            <a:endParaRPr lang="en-US" altLang="zh-CN" sz="2000" dirty="0"/>
          </a:p>
          <a:p>
            <a:pPr marL="109728" indent="0" algn="ctr">
              <a:lnSpc>
                <a:spcPct val="120000"/>
              </a:lnSpc>
              <a:spcBef>
                <a:spcPts val="0"/>
              </a:spcBef>
              <a:buNone/>
            </a:pPr>
            <a:r>
              <a:rPr lang="zh-CN" altLang="zh-CN" sz="3200" dirty="0">
                <a:solidFill>
                  <a:srgbClr val="FF0000"/>
                </a:solidFill>
              </a:rPr>
              <a:t>（</a:t>
            </a:r>
            <a:r>
              <a:rPr lang="en-US" altLang="zh-CN" sz="3200" dirty="0">
                <a:solidFill>
                  <a:srgbClr val="FF0000"/>
                </a:solidFill>
              </a:rPr>
              <a:t>sys</a:t>
            </a:r>
            <a:r>
              <a:rPr lang="zh-CN" altLang="zh-CN" sz="3200" dirty="0">
                <a:solidFill>
                  <a:srgbClr val="FF0000"/>
                </a:solidFill>
              </a:rPr>
              <a:t>， ， ， ）</a:t>
            </a:r>
            <a:endParaRPr lang="en-US" altLang="zh-CN" sz="3200" dirty="0">
              <a:solidFill>
                <a:srgbClr val="FF0000"/>
              </a:solidFill>
            </a:endParaRPr>
          </a:p>
          <a:p>
            <a:pPr eaLnBrk="1" hangingPunct="1">
              <a:lnSpc>
                <a:spcPct val="120000"/>
              </a:lnSpc>
              <a:spcBef>
                <a:spcPts val="0"/>
              </a:spcBef>
            </a:pPr>
            <a:r>
              <a:rPr lang="zh-CN" altLang="zh-CN" sz="2000" dirty="0"/>
              <a:t>当</a:t>
            </a:r>
            <a:r>
              <a:rPr lang="en-US" altLang="zh-CN" sz="2000" dirty="0"/>
              <a:t>main</a:t>
            </a:r>
            <a:r>
              <a:rPr lang="zh-CN" altLang="zh-CN" sz="2000" dirty="0"/>
              <a:t>函数</a:t>
            </a:r>
            <a:r>
              <a:rPr lang="zh-CN" altLang="en-US" sz="2000" dirty="0"/>
              <a:t>分析结束</a:t>
            </a:r>
            <a:r>
              <a:rPr lang="zh-CN" altLang="zh-CN" sz="2000" dirty="0"/>
              <a:t>时，遇到“</a:t>
            </a:r>
            <a:r>
              <a:rPr lang="en-US" altLang="zh-CN" sz="2000" dirty="0"/>
              <a:t>}</a:t>
            </a:r>
            <a:r>
              <a:rPr lang="zh-CN" altLang="zh-CN" sz="2000" dirty="0"/>
              <a:t>”，则应生成四元式表示程序结束</a:t>
            </a:r>
            <a:endParaRPr lang="zh-CN" altLang="en-US" sz="2000" dirty="0"/>
          </a:p>
        </p:txBody>
      </p:sp>
      <p:sp>
        <p:nvSpPr>
          <p:cNvPr id="2" name="矩形 1"/>
          <p:cNvSpPr/>
          <p:nvPr/>
        </p:nvSpPr>
        <p:spPr>
          <a:xfrm>
            <a:off x="2828097" y="4083308"/>
            <a:ext cx="6270030" cy="707886"/>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nSpc>
                <a:spcPct val="100000"/>
              </a:lnSpc>
              <a:spcBef>
                <a:spcPct val="0"/>
              </a:spcBef>
              <a:buFontTx/>
              <a:buNone/>
              <a:defRPr/>
            </a:pPr>
            <a:r>
              <a:rPr lang="en-US" altLang="zh-CN" sz="2000" dirty="0"/>
              <a:t>&lt;</a:t>
            </a:r>
            <a:r>
              <a:rPr lang="zh-CN" altLang="zh-CN" sz="2000" dirty="0"/>
              <a:t>程序</a:t>
            </a:r>
            <a:r>
              <a:rPr lang="en-US" altLang="zh-CN" sz="2000" dirty="0"/>
              <a:t>&gt;</a:t>
            </a:r>
            <a:r>
              <a:rPr lang="zh-CN" altLang="zh-CN" sz="2000" dirty="0"/>
              <a:t>→</a:t>
            </a:r>
            <a:r>
              <a:rPr lang="en-US" altLang="zh-CN" sz="2000" dirty="0"/>
              <a:t>&lt;</a:t>
            </a:r>
            <a:r>
              <a:rPr lang="zh-CN" altLang="zh-CN" sz="2000" dirty="0"/>
              <a:t>声明语句</a:t>
            </a:r>
            <a:r>
              <a:rPr lang="en-US" altLang="zh-CN" sz="2000" dirty="0"/>
              <a:t>&gt;main()&lt;</a:t>
            </a:r>
            <a:r>
              <a:rPr lang="zh-CN" altLang="zh-CN" sz="2000" dirty="0"/>
              <a:t>复合语句</a:t>
            </a:r>
            <a:r>
              <a:rPr lang="en-US" altLang="zh-CN" sz="2000" dirty="0"/>
              <a:t>&gt;&lt;</a:t>
            </a:r>
            <a:r>
              <a:rPr lang="zh-CN" altLang="zh-CN" sz="2000" dirty="0"/>
              <a:t>函数块</a:t>
            </a:r>
            <a:r>
              <a:rPr lang="en-US" altLang="zh-CN" sz="2000" dirty="0"/>
              <a:t>&gt;; </a:t>
            </a:r>
          </a:p>
          <a:p>
            <a:pPr>
              <a:lnSpc>
                <a:spcPct val="100000"/>
              </a:lnSpc>
              <a:spcBef>
                <a:spcPct val="0"/>
              </a:spcBef>
              <a:buFontTx/>
              <a:buNone/>
              <a:defRPr/>
            </a:pPr>
            <a:r>
              <a:rPr lang="en-US" altLang="zh-CN" sz="2000" dirty="0"/>
              <a:t>&lt;</a:t>
            </a:r>
            <a:r>
              <a:rPr lang="zh-CN" altLang="zh-CN" sz="2000" dirty="0"/>
              <a:t>函数块</a:t>
            </a:r>
            <a:r>
              <a:rPr lang="en-US" altLang="zh-CN" sz="2000" dirty="0"/>
              <a:t>&gt;</a:t>
            </a:r>
            <a:r>
              <a:rPr lang="zh-CN" altLang="zh-CN" sz="2000" dirty="0"/>
              <a:t>→</a:t>
            </a:r>
            <a:r>
              <a:rPr lang="en-US" altLang="zh-CN" sz="2000" dirty="0"/>
              <a:t>&lt;</a:t>
            </a:r>
            <a:r>
              <a:rPr lang="zh-CN" altLang="zh-CN" sz="2000" dirty="0"/>
              <a:t>函数定义</a:t>
            </a:r>
            <a:r>
              <a:rPr lang="en-US" altLang="zh-CN" sz="2000" dirty="0"/>
              <a:t>&gt;&lt;</a:t>
            </a:r>
            <a:r>
              <a:rPr lang="zh-CN" altLang="zh-CN" sz="2000" dirty="0"/>
              <a:t>函数块</a:t>
            </a:r>
            <a:r>
              <a:rPr lang="en-US" altLang="zh-CN" sz="2000" dirty="0"/>
              <a:t>&gt;|</a:t>
            </a:r>
            <a:r>
              <a:rPr lang="en-US" altLang="zh-CN" sz="2000" dirty="0">
                <a:sym typeface="Symbol" pitchFamily="18" charset="2"/>
              </a:rPr>
              <a:t></a:t>
            </a:r>
            <a:endParaRPr lang="zh-CN" altLang="en-US" sz="2000" dirty="0"/>
          </a:p>
        </p:txBody>
      </p:sp>
    </p:spTree>
    <p:extLst>
      <p:ext uri="{BB962C8B-B14F-4D97-AF65-F5344CB8AC3E}">
        <p14:creationId xmlns:p14="http://schemas.microsoft.com/office/powerpoint/2010/main" val="3677756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69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69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69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69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69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uiExpand="1" build="p"/>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p:cNvSpPr>
            <a:spLocks noGrp="1"/>
          </p:cNvSpPr>
          <p:nvPr>
            <p:ph type="title"/>
          </p:nvPr>
        </p:nvSpPr>
        <p:spPr>
          <a:xfrm>
            <a:off x="179512" y="267494"/>
            <a:ext cx="2160240" cy="1008112"/>
          </a:xfrm>
        </p:spPr>
        <p:txBody>
          <a:bodyPr>
            <a:noAutofit/>
          </a:bodyPr>
          <a:lstStyle/>
          <a:p>
            <a:r>
              <a:rPr lang="zh-CN" altLang="en-US" sz="3200" dirty="0"/>
              <a:t>语法分析主程序</a:t>
            </a:r>
          </a:p>
        </p:txBody>
      </p:sp>
      <p:sp>
        <p:nvSpPr>
          <p:cNvPr id="6" name="Rectangle 3"/>
          <p:cNvSpPr txBox="1">
            <a:spLocks noChangeArrowheads="1"/>
          </p:cNvSpPr>
          <p:nvPr/>
        </p:nvSpPr>
        <p:spPr>
          <a:xfrm>
            <a:off x="179512" y="1851670"/>
            <a:ext cx="6084168" cy="3291830"/>
          </a:xfrm>
          <a:prstGeom prst="rect">
            <a:avLst/>
          </a:prstGeom>
          <a:solidFill>
            <a:schemeClr val="bg1"/>
          </a:solidFill>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spcBef>
                <a:spcPts val="0"/>
              </a:spcBef>
              <a:buFontTx/>
              <a:buNone/>
            </a:pPr>
            <a:r>
              <a:rPr lang="en-US" altLang="zh-CN" sz="1600" dirty="0">
                <a:latin typeface="+mj-lt"/>
              </a:rPr>
              <a:t>void Parser( )  /*</a:t>
            </a:r>
            <a:r>
              <a:rPr lang="zh-CN" altLang="zh-CN" sz="1600" dirty="0">
                <a:latin typeface="+mj-lt"/>
              </a:rPr>
              <a:t>语法</a:t>
            </a:r>
            <a:r>
              <a:rPr lang="zh-CN" altLang="en-US" sz="1600" dirty="0">
                <a:latin typeface="+mj-lt"/>
              </a:rPr>
              <a:t>分析</a:t>
            </a:r>
            <a:r>
              <a:rPr lang="zh-CN" altLang="zh-CN" sz="1600" dirty="0">
                <a:latin typeface="+mj-lt"/>
              </a:rPr>
              <a:t>的总控程序</a:t>
            </a:r>
            <a:r>
              <a:rPr lang="en-US" altLang="zh-CN" sz="1600" dirty="0">
                <a:latin typeface="+mj-lt"/>
              </a:rPr>
              <a:t>*/</a:t>
            </a:r>
            <a:endParaRPr lang="zh-CN" altLang="zh-CN" sz="1600" dirty="0">
              <a:latin typeface="+mj-lt"/>
            </a:endParaRPr>
          </a:p>
          <a:p>
            <a:pPr>
              <a:spcBef>
                <a:spcPts val="0"/>
              </a:spcBef>
              <a:buFontTx/>
              <a:buNone/>
            </a:pPr>
            <a:r>
              <a:rPr lang="en-US" altLang="zh-CN" sz="1600" dirty="0">
                <a:latin typeface="+mj-lt"/>
              </a:rPr>
              <a:t>{</a:t>
            </a:r>
            <a:endParaRPr lang="zh-CN" altLang="zh-CN" sz="1600" dirty="0">
              <a:latin typeface="+mj-lt"/>
            </a:endParaRPr>
          </a:p>
          <a:p>
            <a:pPr>
              <a:spcBef>
                <a:spcPts val="0"/>
              </a:spcBef>
              <a:buFontTx/>
              <a:buNone/>
            </a:pPr>
            <a:r>
              <a:rPr lang="en-US" altLang="zh-CN" sz="1600" dirty="0">
                <a:latin typeface="+mj-lt"/>
              </a:rPr>
              <a:t>	……</a:t>
            </a:r>
            <a:endParaRPr lang="zh-CN" altLang="zh-CN" sz="1600" dirty="0">
              <a:latin typeface="+mj-lt"/>
            </a:endParaRPr>
          </a:p>
          <a:p>
            <a:pPr>
              <a:spcBef>
                <a:spcPts val="0"/>
              </a:spcBef>
              <a:buFontTx/>
              <a:buNone/>
            </a:pPr>
            <a:r>
              <a:rPr lang="en-US" altLang="zh-CN" sz="1600" dirty="0">
                <a:latin typeface="+mj-lt"/>
              </a:rPr>
              <a:t>	if (token == “main”) {    //</a:t>
            </a:r>
            <a:r>
              <a:rPr lang="zh-CN" altLang="zh-CN" sz="1600" dirty="0">
                <a:latin typeface="+mj-lt"/>
              </a:rPr>
              <a:t>分析器读入词法符号</a:t>
            </a:r>
            <a:r>
              <a:rPr lang="en-US" altLang="zh-CN" sz="1600" dirty="0">
                <a:latin typeface="+mj-lt"/>
              </a:rPr>
              <a:t>main</a:t>
            </a:r>
            <a:endParaRPr lang="zh-CN" altLang="zh-CN" sz="1600" dirty="0">
              <a:latin typeface="+mj-lt"/>
            </a:endParaRPr>
          </a:p>
          <a:p>
            <a:pPr>
              <a:spcBef>
                <a:spcPts val="0"/>
              </a:spcBef>
              <a:buFontTx/>
              <a:buNone/>
            </a:pPr>
            <a:r>
              <a:rPr lang="en-US" altLang="zh-CN" sz="1600" b="1" dirty="0">
                <a:latin typeface="+mj-lt"/>
              </a:rPr>
              <a:t>		</a:t>
            </a:r>
            <a:r>
              <a:rPr lang="en-US" altLang="zh-CN" sz="1600" dirty="0">
                <a:latin typeface="+mj-lt"/>
              </a:rPr>
              <a:t>token = </a:t>
            </a:r>
            <a:r>
              <a:rPr lang="en-US" altLang="zh-CN" sz="1600" dirty="0" err="1">
                <a:latin typeface="+mj-lt"/>
              </a:rPr>
              <a:t>GetNextToken</a:t>
            </a:r>
            <a:r>
              <a:rPr lang="en-US" altLang="zh-CN" sz="1600" dirty="0">
                <a:latin typeface="+mj-lt"/>
              </a:rPr>
              <a:t>();</a:t>
            </a:r>
            <a:endParaRPr lang="zh-CN" altLang="zh-CN" sz="1600" dirty="0">
              <a:latin typeface="+mj-lt"/>
            </a:endParaRPr>
          </a:p>
          <a:p>
            <a:pPr>
              <a:spcBef>
                <a:spcPts val="0"/>
              </a:spcBef>
              <a:buFontTx/>
              <a:buNone/>
            </a:pPr>
            <a:r>
              <a:rPr lang="en-US" altLang="zh-CN" sz="1600" dirty="0">
                <a:latin typeface="+mj-lt"/>
              </a:rPr>
              <a:t>		if (token </a:t>
            </a:r>
            <a:r>
              <a:rPr lang="zh-CN" altLang="zh-CN" sz="1600" dirty="0">
                <a:latin typeface="+mj-lt"/>
              </a:rPr>
              <a:t>不是  </a:t>
            </a:r>
            <a:r>
              <a:rPr lang="en-US" altLang="zh-CN" sz="1600" dirty="0">
                <a:latin typeface="+mj-lt"/>
              </a:rPr>
              <a:t>''('' ) </a:t>
            </a:r>
            <a:r>
              <a:rPr lang="en-US" altLang="zh-CN" sz="1600" dirty="0" err="1">
                <a:latin typeface="+mj-lt"/>
              </a:rPr>
              <a:t>SyntaxError</a:t>
            </a:r>
            <a:r>
              <a:rPr lang="en-US" altLang="zh-CN" sz="1600" dirty="0">
                <a:latin typeface="+mj-lt"/>
              </a:rPr>
              <a:t>();  //</a:t>
            </a:r>
            <a:r>
              <a:rPr lang="zh-CN" altLang="zh-CN" sz="1600" dirty="0">
                <a:latin typeface="+mj-lt"/>
              </a:rPr>
              <a:t>调用错误处理</a:t>
            </a:r>
          </a:p>
          <a:p>
            <a:pPr>
              <a:spcBef>
                <a:spcPts val="0"/>
              </a:spcBef>
              <a:buFontTx/>
              <a:buNone/>
            </a:pPr>
            <a:r>
              <a:rPr lang="en-US" altLang="zh-CN" sz="1600" dirty="0">
                <a:latin typeface="+mj-lt"/>
              </a:rPr>
              <a:t>		token = </a:t>
            </a:r>
            <a:r>
              <a:rPr lang="en-US" altLang="zh-CN" sz="1600" dirty="0" err="1">
                <a:latin typeface="+mj-lt"/>
              </a:rPr>
              <a:t>GetNextToken</a:t>
            </a:r>
            <a:r>
              <a:rPr lang="en-US" altLang="zh-CN" sz="1600" dirty="0">
                <a:latin typeface="+mj-lt"/>
              </a:rPr>
              <a:t>();</a:t>
            </a:r>
            <a:endParaRPr lang="zh-CN" altLang="zh-CN" sz="1600" dirty="0">
              <a:latin typeface="+mj-lt"/>
            </a:endParaRPr>
          </a:p>
          <a:p>
            <a:pPr>
              <a:spcBef>
                <a:spcPts val="0"/>
              </a:spcBef>
              <a:buFontTx/>
              <a:buNone/>
            </a:pPr>
            <a:r>
              <a:rPr lang="en-US" altLang="zh-CN" sz="1600" dirty="0">
                <a:latin typeface="+mj-lt"/>
              </a:rPr>
              <a:t>		if (token </a:t>
            </a:r>
            <a:r>
              <a:rPr lang="zh-CN" altLang="zh-CN" sz="1600" dirty="0">
                <a:latin typeface="+mj-lt"/>
              </a:rPr>
              <a:t>不是</a:t>
            </a:r>
            <a:r>
              <a:rPr lang="en-US" altLang="zh-CN" sz="1600" dirty="0">
                <a:latin typeface="+mj-lt"/>
              </a:rPr>
              <a:t>  '')'' ) </a:t>
            </a:r>
            <a:r>
              <a:rPr lang="en-US" altLang="zh-CN" sz="1600" dirty="0" err="1">
                <a:latin typeface="+mj-lt"/>
              </a:rPr>
              <a:t>SyntaxError</a:t>
            </a:r>
            <a:r>
              <a:rPr lang="en-US" altLang="zh-CN" sz="1600" dirty="0">
                <a:latin typeface="+mj-lt"/>
              </a:rPr>
              <a:t>();  //</a:t>
            </a:r>
            <a:r>
              <a:rPr lang="zh-CN" altLang="zh-CN" sz="1600" dirty="0">
                <a:latin typeface="+mj-lt"/>
              </a:rPr>
              <a:t>调用错误处理</a:t>
            </a:r>
          </a:p>
          <a:p>
            <a:pPr>
              <a:spcBef>
                <a:spcPts val="0"/>
              </a:spcBef>
              <a:buFontTx/>
              <a:buNone/>
            </a:pPr>
            <a:r>
              <a:rPr lang="en-US" altLang="zh-CN" sz="1600" dirty="0">
                <a:latin typeface="+mj-lt"/>
              </a:rPr>
              <a:t>		</a:t>
            </a:r>
            <a:r>
              <a:rPr lang="en-US" altLang="zh-CN" sz="1600" dirty="0" err="1">
                <a:latin typeface="+mj-lt"/>
              </a:rPr>
              <a:t>CompoundSentenceAnalyzer</a:t>
            </a:r>
            <a:r>
              <a:rPr lang="en-US" altLang="zh-CN" sz="1600" dirty="0">
                <a:latin typeface="+mj-lt"/>
              </a:rPr>
              <a:t>();//</a:t>
            </a:r>
            <a:r>
              <a:rPr lang="zh-CN" altLang="zh-CN" sz="1600" dirty="0">
                <a:latin typeface="+mj-lt"/>
              </a:rPr>
              <a:t>处理复合语句</a:t>
            </a:r>
          </a:p>
          <a:p>
            <a:pPr>
              <a:spcBef>
                <a:spcPts val="0"/>
              </a:spcBef>
              <a:buFontTx/>
              <a:buNone/>
            </a:pPr>
            <a:r>
              <a:rPr lang="en-US" altLang="zh-CN" sz="1600" b="1" dirty="0">
                <a:latin typeface="+mj-lt"/>
              </a:rPr>
              <a:t>		</a:t>
            </a:r>
            <a:r>
              <a:rPr lang="en-US" altLang="zh-CN" sz="1600" dirty="0">
                <a:latin typeface="+mj-lt"/>
              </a:rPr>
              <a:t>token = </a:t>
            </a:r>
            <a:r>
              <a:rPr lang="en-US" altLang="zh-CN" sz="1600" dirty="0" err="1">
                <a:latin typeface="+mj-lt"/>
              </a:rPr>
              <a:t>GetNextToken</a:t>
            </a:r>
            <a:r>
              <a:rPr lang="en-US" altLang="zh-CN" sz="1600" dirty="0">
                <a:latin typeface="+mj-lt"/>
              </a:rPr>
              <a:t>();</a:t>
            </a:r>
            <a:endParaRPr lang="zh-CN" altLang="zh-CN" sz="1600" dirty="0">
              <a:latin typeface="+mj-lt"/>
            </a:endParaRPr>
          </a:p>
          <a:p>
            <a:pPr>
              <a:spcBef>
                <a:spcPts val="0"/>
              </a:spcBef>
              <a:buFontTx/>
              <a:buNone/>
            </a:pPr>
            <a:r>
              <a:rPr lang="en-US" altLang="zh-CN" sz="1600" dirty="0">
                <a:latin typeface="+mj-lt"/>
              </a:rPr>
              <a:t>		……    //</a:t>
            </a:r>
            <a:r>
              <a:rPr lang="zh-CN" altLang="zh-CN" sz="1600" dirty="0">
                <a:latin typeface="+mj-lt"/>
              </a:rPr>
              <a:t>处理其他函数定义</a:t>
            </a:r>
          </a:p>
          <a:p>
            <a:pPr>
              <a:spcBef>
                <a:spcPts val="0"/>
              </a:spcBef>
              <a:buFontTx/>
              <a:buNone/>
            </a:pPr>
            <a:r>
              <a:rPr lang="en-US" altLang="zh-CN" sz="1600" dirty="0">
                <a:latin typeface="+mj-lt"/>
              </a:rPr>
              <a:t>		} </a:t>
            </a:r>
            <a:endParaRPr lang="zh-CN" altLang="zh-CN" sz="1600" dirty="0">
              <a:latin typeface="+mj-lt"/>
            </a:endParaRPr>
          </a:p>
          <a:p>
            <a:pPr>
              <a:spcBef>
                <a:spcPts val="0"/>
              </a:spcBef>
              <a:buFontTx/>
              <a:buNone/>
            </a:pPr>
            <a:r>
              <a:rPr lang="en-US" altLang="zh-CN" sz="1600" dirty="0">
                <a:latin typeface="+mj-lt"/>
              </a:rPr>
              <a:t>   }</a:t>
            </a:r>
            <a:endParaRPr lang="zh-CN" altLang="zh-CN" sz="1600" dirty="0">
              <a:latin typeface="+mj-lt"/>
            </a:endParaRPr>
          </a:p>
          <a:p>
            <a:pPr>
              <a:lnSpc>
                <a:spcPct val="85000"/>
              </a:lnSpc>
              <a:spcBef>
                <a:spcPts val="0"/>
              </a:spcBef>
              <a:buFontTx/>
              <a:buNone/>
            </a:pPr>
            <a:endParaRPr lang="en-US" altLang="zh-CN" sz="1800" dirty="0">
              <a:latin typeface="+mj-lt"/>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856821060"/>
              </p:ext>
            </p:extLst>
          </p:nvPr>
        </p:nvGraphicFramePr>
        <p:xfrm>
          <a:off x="4113161" y="20736"/>
          <a:ext cx="5030839" cy="2479006"/>
        </p:xfrm>
        <a:graphic>
          <a:graphicData uri="http://schemas.openxmlformats.org/presentationml/2006/ole">
            <mc:AlternateContent xmlns:mc="http://schemas.openxmlformats.org/markup-compatibility/2006">
              <mc:Choice xmlns:v="urn:schemas-microsoft-com:vml" Requires="v">
                <p:oleObj spid="_x0000_s39941" name="Visio" r:id="rId3" imgW="4308724" imgH="2280015" progId="Visio.Drawing.11">
                  <p:embed/>
                </p:oleObj>
              </mc:Choice>
              <mc:Fallback>
                <p:oleObj name="Visio" r:id="rId3" imgW="4308724" imgH="2280015" progId="Visio.Drawing.11">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3161" y="20736"/>
                        <a:ext cx="5030839" cy="2479006"/>
                      </a:xfrm>
                      <a:prstGeom prst="rect">
                        <a:avLst/>
                      </a:prstGeom>
                      <a:noFill/>
                      <a:ln>
                        <a:noFill/>
                      </a:ln>
                    </p:spPr>
                  </p:pic>
                </p:oleObj>
              </mc:Fallback>
            </mc:AlternateContent>
          </a:graphicData>
        </a:graphic>
      </p:graphicFrame>
      <p:sp>
        <p:nvSpPr>
          <p:cNvPr id="4" name="TextBox 3"/>
          <p:cNvSpPr txBox="1"/>
          <p:nvPr/>
        </p:nvSpPr>
        <p:spPr>
          <a:xfrm>
            <a:off x="7236296" y="2859782"/>
            <a:ext cx="1440160" cy="147732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altLang="zh-CN" dirty="0"/>
              <a:t>main()</a:t>
            </a:r>
          </a:p>
          <a:p>
            <a:r>
              <a:rPr lang="en-US" altLang="zh-CN" dirty="0"/>
              <a:t>{</a:t>
            </a:r>
          </a:p>
          <a:p>
            <a:endParaRPr lang="en-US" altLang="zh-CN" dirty="0"/>
          </a:p>
          <a:p>
            <a:endParaRPr lang="en-US" altLang="zh-CN" dirty="0"/>
          </a:p>
          <a:p>
            <a:r>
              <a:rPr lang="en-US" altLang="zh-CN" dirty="0"/>
              <a:t>}</a:t>
            </a:r>
            <a:endParaRPr lang="zh-CN" altLang="en-US" dirty="0"/>
          </a:p>
        </p:txBody>
      </p:sp>
      <p:cxnSp>
        <p:nvCxnSpPr>
          <p:cNvPr id="14" name="曲线连接符 13"/>
          <p:cNvCxnSpPr/>
          <p:nvPr/>
        </p:nvCxnSpPr>
        <p:spPr>
          <a:xfrm rot="10800000">
            <a:off x="3995936" y="2895785"/>
            <a:ext cx="2880320" cy="252028"/>
          </a:xfrm>
          <a:prstGeom prst="curvedConnector3">
            <a:avLst>
              <a:gd name="adj1" fmla="val 50000"/>
            </a:avLst>
          </a:prstGeom>
          <a:ln w="57150">
            <a:solidFill>
              <a:srgbClr val="CC00FF"/>
            </a:solidFill>
            <a:tailEnd type="arrow"/>
          </a:ln>
        </p:spPr>
        <p:style>
          <a:lnRef idx="1">
            <a:schemeClr val="accent1"/>
          </a:lnRef>
          <a:fillRef idx="0">
            <a:schemeClr val="accent1"/>
          </a:fillRef>
          <a:effectRef idx="0">
            <a:schemeClr val="accent1"/>
          </a:effectRef>
          <a:fontRef idx="minor">
            <a:schemeClr val="tx1"/>
          </a:fontRef>
        </p:style>
      </p:cxnSp>
      <p:cxnSp>
        <p:nvCxnSpPr>
          <p:cNvPr id="23" name="曲线连接符 22"/>
          <p:cNvCxnSpPr/>
          <p:nvPr/>
        </p:nvCxnSpPr>
        <p:spPr>
          <a:xfrm rot="10800000">
            <a:off x="3779912" y="4092881"/>
            <a:ext cx="2880320" cy="252028"/>
          </a:xfrm>
          <a:prstGeom prst="curvedConnector3">
            <a:avLst>
              <a:gd name="adj1" fmla="val 50000"/>
            </a:avLst>
          </a:prstGeom>
          <a:ln w="57150">
            <a:solidFill>
              <a:srgbClr val="CC00FF"/>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9887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3"/>
          <p:cNvSpPr>
            <a:spLocks noGrp="1" noChangeArrowheads="1"/>
          </p:cNvSpPr>
          <p:nvPr>
            <p:ph type="body" sz="half" idx="1"/>
          </p:nvPr>
        </p:nvSpPr>
        <p:spPr>
          <a:xfrm>
            <a:off x="323528" y="895028"/>
            <a:ext cx="8820472" cy="4248472"/>
          </a:xfrm>
          <a:solidFill>
            <a:schemeClr val="bg1"/>
          </a:solidFill>
        </p:spPr>
        <p:txBody>
          <a:bodyPr>
            <a:noAutofit/>
          </a:bodyPr>
          <a:lstStyle/>
          <a:p>
            <a:pPr>
              <a:spcBef>
                <a:spcPts val="0"/>
              </a:spcBef>
              <a:buFontTx/>
              <a:buNone/>
            </a:pPr>
            <a:r>
              <a:rPr lang="en-US" altLang="zh-CN" sz="1800" dirty="0"/>
              <a:t>void </a:t>
            </a:r>
            <a:r>
              <a:rPr lang="en-US" altLang="zh-CN" sz="1800" dirty="0" err="1"/>
              <a:t>ParserSemantic</a:t>
            </a:r>
            <a:r>
              <a:rPr lang="en-US" altLang="zh-CN" sz="1800" dirty="0"/>
              <a:t>( )  /*</a:t>
            </a:r>
            <a:r>
              <a:rPr lang="zh-CN" altLang="zh-CN" sz="1800" dirty="0"/>
              <a:t>语法制导翻译的总控程序</a:t>
            </a:r>
            <a:r>
              <a:rPr lang="en-US" altLang="zh-CN" sz="1800" dirty="0"/>
              <a:t>*/</a:t>
            </a:r>
            <a:endParaRPr lang="zh-CN" altLang="zh-CN" sz="1800" dirty="0"/>
          </a:p>
          <a:p>
            <a:pPr>
              <a:spcBef>
                <a:spcPts val="0"/>
              </a:spcBef>
              <a:buFontTx/>
              <a:buNone/>
            </a:pPr>
            <a:r>
              <a:rPr lang="en-US" altLang="zh-CN" sz="1800" dirty="0"/>
              <a:t>{</a:t>
            </a:r>
            <a:endParaRPr lang="zh-CN" altLang="zh-CN" sz="1800" dirty="0"/>
          </a:p>
          <a:p>
            <a:pPr>
              <a:spcBef>
                <a:spcPts val="0"/>
              </a:spcBef>
              <a:buFontTx/>
              <a:buNone/>
            </a:pPr>
            <a:r>
              <a:rPr lang="en-US" altLang="zh-CN" sz="1800" dirty="0"/>
              <a:t>	……</a:t>
            </a:r>
            <a:endParaRPr lang="zh-CN" altLang="zh-CN" sz="1800" dirty="0"/>
          </a:p>
          <a:p>
            <a:pPr>
              <a:spcBef>
                <a:spcPts val="0"/>
              </a:spcBef>
              <a:buFontTx/>
              <a:buNone/>
            </a:pPr>
            <a:r>
              <a:rPr lang="en-US" altLang="zh-CN" sz="1800" dirty="0"/>
              <a:t>	if (token == “main” ) {    //</a:t>
            </a:r>
            <a:r>
              <a:rPr lang="zh-CN" altLang="zh-CN" sz="1800" dirty="0"/>
              <a:t>分析器读入词法符号</a:t>
            </a:r>
            <a:r>
              <a:rPr lang="en-US" altLang="zh-CN" sz="1800" dirty="0"/>
              <a:t>main</a:t>
            </a:r>
            <a:endParaRPr lang="zh-CN" altLang="zh-CN" sz="1800" dirty="0"/>
          </a:p>
          <a:p>
            <a:pPr>
              <a:spcBef>
                <a:spcPts val="0"/>
              </a:spcBef>
              <a:buFontTx/>
              <a:buNone/>
            </a:pPr>
            <a:r>
              <a:rPr lang="en-US" altLang="zh-CN" sz="1800" b="1" dirty="0"/>
              <a:t>		</a:t>
            </a:r>
            <a:r>
              <a:rPr lang="en-US" altLang="zh-CN" sz="1800" b="1" u="sng" dirty="0" err="1">
                <a:solidFill>
                  <a:srgbClr val="FF0000"/>
                </a:solidFill>
              </a:rPr>
              <a:t>gencode</a:t>
            </a:r>
            <a:r>
              <a:rPr lang="en-US" altLang="zh-CN" sz="1800" b="1" u="sng" dirty="0">
                <a:solidFill>
                  <a:srgbClr val="FF0000"/>
                </a:solidFill>
              </a:rPr>
              <a:t>(“main”,  ,  ,  );</a:t>
            </a:r>
            <a:r>
              <a:rPr lang="en-US" altLang="zh-CN" sz="1800" dirty="0">
                <a:solidFill>
                  <a:srgbClr val="FF0000"/>
                </a:solidFill>
              </a:rPr>
              <a:t>   //</a:t>
            </a:r>
            <a:r>
              <a:rPr lang="zh-CN" altLang="zh-CN" sz="1800" dirty="0">
                <a:solidFill>
                  <a:srgbClr val="FF0000"/>
                </a:solidFill>
              </a:rPr>
              <a:t>主函数开始</a:t>
            </a:r>
          </a:p>
          <a:p>
            <a:pPr>
              <a:spcBef>
                <a:spcPts val="0"/>
              </a:spcBef>
              <a:buFontTx/>
              <a:buNone/>
            </a:pPr>
            <a:r>
              <a:rPr lang="en-US" altLang="zh-CN" sz="1800" dirty="0"/>
              <a:t>       	token = </a:t>
            </a:r>
            <a:r>
              <a:rPr lang="en-US" altLang="zh-CN" sz="1800" dirty="0" err="1"/>
              <a:t>GetNextToken</a:t>
            </a:r>
            <a:r>
              <a:rPr lang="en-US" altLang="zh-CN" sz="1800" dirty="0"/>
              <a:t>();</a:t>
            </a:r>
            <a:endParaRPr lang="zh-CN" altLang="zh-CN" sz="1800" dirty="0"/>
          </a:p>
          <a:p>
            <a:pPr>
              <a:spcBef>
                <a:spcPts val="0"/>
              </a:spcBef>
              <a:buFontTx/>
              <a:buNone/>
            </a:pPr>
            <a:r>
              <a:rPr lang="en-US" altLang="zh-CN" sz="1800" dirty="0"/>
              <a:t>		if (token </a:t>
            </a:r>
            <a:r>
              <a:rPr lang="zh-CN" altLang="zh-CN" sz="1800" dirty="0"/>
              <a:t>不是  </a:t>
            </a:r>
            <a:r>
              <a:rPr lang="en-US" altLang="zh-CN" sz="1800" dirty="0"/>
              <a:t>''('' ) </a:t>
            </a:r>
            <a:r>
              <a:rPr lang="en-US" altLang="zh-CN" sz="1800" dirty="0" err="1"/>
              <a:t>SyntaxError</a:t>
            </a:r>
            <a:r>
              <a:rPr lang="en-US" altLang="zh-CN" sz="1800" dirty="0"/>
              <a:t>();  //</a:t>
            </a:r>
            <a:r>
              <a:rPr lang="zh-CN" altLang="zh-CN" sz="1800" dirty="0"/>
              <a:t>调用错误处理</a:t>
            </a:r>
          </a:p>
          <a:p>
            <a:pPr>
              <a:spcBef>
                <a:spcPts val="0"/>
              </a:spcBef>
              <a:buFontTx/>
              <a:buNone/>
            </a:pPr>
            <a:r>
              <a:rPr lang="en-US" altLang="zh-CN" sz="1800" dirty="0"/>
              <a:t>		token = </a:t>
            </a:r>
            <a:r>
              <a:rPr lang="en-US" altLang="zh-CN" sz="1800" dirty="0" err="1"/>
              <a:t>GetNextToken</a:t>
            </a:r>
            <a:r>
              <a:rPr lang="en-US" altLang="zh-CN" sz="1800" dirty="0"/>
              <a:t>();</a:t>
            </a:r>
            <a:endParaRPr lang="zh-CN" altLang="zh-CN" sz="1800" dirty="0"/>
          </a:p>
          <a:p>
            <a:pPr>
              <a:spcBef>
                <a:spcPts val="0"/>
              </a:spcBef>
              <a:buFontTx/>
              <a:buNone/>
            </a:pPr>
            <a:r>
              <a:rPr lang="en-US" altLang="zh-CN" sz="1800" dirty="0"/>
              <a:t>		if (token </a:t>
            </a:r>
            <a:r>
              <a:rPr lang="zh-CN" altLang="zh-CN" sz="1800" dirty="0"/>
              <a:t>不是</a:t>
            </a:r>
            <a:r>
              <a:rPr lang="en-US" altLang="zh-CN" sz="1800" dirty="0"/>
              <a:t>  '')'' ) </a:t>
            </a:r>
            <a:r>
              <a:rPr lang="en-US" altLang="zh-CN" sz="1800" dirty="0" err="1"/>
              <a:t>SyntaxError</a:t>
            </a:r>
            <a:r>
              <a:rPr lang="en-US" altLang="zh-CN" sz="1800" dirty="0"/>
              <a:t>();  //</a:t>
            </a:r>
            <a:r>
              <a:rPr lang="zh-CN" altLang="zh-CN" sz="1800" dirty="0"/>
              <a:t>调用错误处理</a:t>
            </a:r>
          </a:p>
          <a:p>
            <a:pPr>
              <a:spcBef>
                <a:spcPts val="0"/>
              </a:spcBef>
              <a:buFontTx/>
              <a:buNone/>
            </a:pPr>
            <a:r>
              <a:rPr lang="en-US" altLang="zh-CN" sz="1800" dirty="0"/>
              <a:t>		</a:t>
            </a:r>
            <a:r>
              <a:rPr lang="en-US" altLang="zh-CN" sz="1800" dirty="0" err="1"/>
              <a:t>CompoundSentenceAnalyzer</a:t>
            </a:r>
            <a:r>
              <a:rPr lang="en-US" altLang="zh-CN" sz="1800" dirty="0"/>
              <a:t>();//</a:t>
            </a:r>
            <a:r>
              <a:rPr lang="zh-CN" altLang="zh-CN" sz="1800" dirty="0"/>
              <a:t>处理复合语句</a:t>
            </a:r>
          </a:p>
          <a:p>
            <a:pPr>
              <a:spcBef>
                <a:spcPts val="0"/>
              </a:spcBef>
              <a:buFontTx/>
              <a:buNone/>
            </a:pPr>
            <a:r>
              <a:rPr lang="en-US" altLang="zh-CN" sz="1800" b="1" dirty="0"/>
              <a:t>		</a:t>
            </a:r>
            <a:r>
              <a:rPr lang="en-US" altLang="zh-CN" sz="1800" b="1" u="sng" dirty="0" err="1">
                <a:solidFill>
                  <a:srgbClr val="FF0000"/>
                </a:solidFill>
              </a:rPr>
              <a:t>gencode</a:t>
            </a:r>
            <a:r>
              <a:rPr lang="en-US" altLang="zh-CN" sz="1800" b="1" u="sng" dirty="0">
                <a:solidFill>
                  <a:srgbClr val="FF0000"/>
                </a:solidFill>
              </a:rPr>
              <a:t>(“sys”,  ,  ,_);</a:t>
            </a:r>
            <a:r>
              <a:rPr lang="en-US" altLang="zh-CN" sz="1800" dirty="0">
                <a:solidFill>
                  <a:srgbClr val="FF0000"/>
                </a:solidFill>
              </a:rPr>
              <a:t>   //</a:t>
            </a:r>
            <a:r>
              <a:rPr lang="zh-CN" altLang="zh-CN" sz="1800" dirty="0">
                <a:solidFill>
                  <a:srgbClr val="FF0000"/>
                </a:solidFill>
              </a:rPr>
              <a:t>主函数结束</a:t>
            </a:r>
          </a:p>
          <a:p>
            <a:pPr>
              <a:spcBef>
                <a:spcPts val="0"/>
              </a:spcBef>
              <a:buFontTx/>
              <a:buNone/>
            </a:pPr>
            <a:r>
              <a:rPr lang="en-US" altLang="zh-CN" sz="1800" dirty="0"/>
              <a:t>		token = </a:t>
            </a:r>
            <a:r>
              <a:rPr lang="en-US" altLang="zh-CN" sz="1800" dirty="0" err="1"/>
              <a:t>GetNextToken</a:t>
            </a:r>
            <a:r>
              <a:rPr lang="en-US" altLang="zh-CN" sz="1800" dirty="0"/>
              <a:t>();</a:t>
            </a:r>
            <a:endParaRPr lang="zh-CN" altLang="zh-CN" sz="1800" dirty="0"/>
          </a:p>
          <a:p>
            <a:pPr>
              <a:spcBef>
                <a:spcPts val="0"/>
              </a:spcBef>
              <a:buFontTx/>
              <a:buNone/>
            </a:pPr>
            <a:r>
              <a:rPr lang="en-US" altLang="zh-CN" sz="1800" dirty="0"/>
              <a:t>		……    //</a:t>
            </a:r>
            <a:r>
              <a:rPr lang="zh-CN" altLang="zh-CN" sz="1800" dirty="0"/>
              <a:t>处理其他函数定义</a:t>
            </a:r>
          </a:p>
          <a:p>
            <a:pPr>
              <a:spcBef>
                <a:spcPts val="0"/>
              </a:spcBef>
              <a:buFontTx/>
              <a:buNone/>
            </a:pPr>
            <a:r>
              <a:rPr lang="en-US" altLang="zh-CN" sz="1800" dirty="0"/>
              <a:t>		} </a:t>
            </a:r>
            <a:endParaRPr lang="zh-CN" altLang="zh-CN" sz="1800" dirty="0"/>
          </a:p>
          <a:p>
            <a:pPr>
              <a:spcBef>
                <a:spcPts val="0"/>
              </a:spcBef>
              <a:buFontTx/>
              <a:buNone/>
            </a:pPr>
            <a:r>
              <a:rPr lang="en-US" altLang="zh-CN" sz="1800" dirty="0"/>
              <a:t>   }</a:t>
            </a:r>
            <a:endParaRPr lang="zh-CN" altLang="zh-CN" sz="1800" dirty="0"/>
          </a:p>
          <a:p>
            <a:pPr eaLnBrk="1" hangingPunct="1">
              <a:lnSpc>
                <a:spcPct val="85000"/>
              </a:lnSpc>
              <a:spcBef>
                <a:spcPts val="0"/>
              </a:spcBef>
              <a:buFontTx/>
              <a:buNone/>
            </a:pPr>
            <a:endParaRPr lang="en-US" altLang="zh-CN" sz="2000" dirty="0"/>
          </a:p>
        </p:txBody>
      </p:sp>
      <p:sp>
        <p:nvSpPr>
          <p:cNvPr id="3" name="Rectangle 2"/>
          <p:cNvSpPr>
            <a:spLocks noGrp="1" noChangeArrowheads="1"/>
          </p:cNvSpPr>
          <p:nvPr>
            <p:ph type="title"/>
          </p:nvPr>
        </p:nvSpPr>
        <p:spPr>
          <a:xfrm>
            <a:off x="107504" y="123478"/>
            <a:ext cx="8784976" cy="576064"/>
          </a:xfrm>
        </p:spPr>
        <p:txBody>
          <a:bodyPr>
            <a:normAutofit fontScale="90000"/>
          </a:bodyPr>
          <a:lstStyle/>
          <a:p>
            <a:pPr eaLnBrk="1" hangingPunct="1"/>
            <a:r>
              <a:rPr lang="zh-CN" altLang="en-US" sz="3600" dirty="0">
                <a:solidFill>
                  <a:srgbClr val="CC0066"/>
                </a:solidFill>
              </a:rPr>
              <a:t>递归下降翻译器的总控程序</a:t>
            </a:r>
          </a:p>
        </p:txBody>
      </p:sp>
    </p:spTree>
    <p:extLst>
      <p:ext uri="{BB962C8B-B14F-4D97-AF65-F5344CB8AC3E}">
        <p14:creationId xmlns:p14="http://schemas.microsoft.com/office/powerpoint/2010/main" val="295804272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a:xfrm>
            <a:off x="76200" y="-20637"/>
            <a:ext cx="5387975" cy="576164"/>
          </a:xfrm>
        </p:spPr>
        <p:txBody>
          <a:bodyPr>
            <a:noAutofit/>
          </a:bodyPr>
          <a:lstStyle/>
          <a:p>
            <a:r>
              <a:rPr lang="zh-CN" altLang="en-US" sz="3200" dirty="0"/>
              <a:t>复合语句处理：分类</a:t>
            </a:r>
          </a:p>
        </p:txBody>
      </p:sp>
      <p:sp>
        <p:nvSpPr>
          <p:cNvPr id="95235" name="Rectangle 2"/>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endParaRPr lang="zh-CN" altLang="en-US" sz="2400">
              <a:ea typeface="华文行楷" pitchFamily="2" charset="-122"/>
            </a:endParaRPr>
          </a:p>
        </p:txBody>
      </p:sp>
      <p:sp>
        <p:nvSpPr>
          <p:cNvPr id="6" name="矩形 5"/>
          <p:cNvSpPr/>
          <p:nvPr/>
        </p:nvSpPr>
        <p:spPr>
          <a:xfrm>
            <a:off x="5780088" y="20638"/>
            <a:ext cx="3363912" cy="1477328"/>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en-US" altLang="zh-CN" dirty="0"/>
              <a:t>main(){</a:t>
            </a:r>
          </a:p>
          <a:p>
            <a:pPr>
              <a:defRPr/>
            </a:pPr>
            <a:r>
              <a:rPr lang="en-US" altLang="zh-CN" dirty="0"/>
              <a:t>    </a:t>
            </a:r>
            <a:r>
              <a:rPr lang="en-US" altLang="zh-CN" dirty="0" err="1"/>
              <a:t>int</a:t>
            </a:r>
            <a:r>
              <a:rPr lang="en-US" altLang="zh-CN" dirty="0"/>
              <a:t> N = read() ;</a:t>
            </a:r>
          </a:p>
          <a:p>
            <a:pPr>
              <a:defRPr/>
            </a:pPr>
            <a:r>
              <a:rPr lang="en-US" altLang="zh-CN" dirty="0"/>
              <a:t>    a = sum(sum(3,4),N) ;</a:t>
            </a:r>
          </a:p>
          <a:p>
            <a:pPr>
              <a:defRPr/>
            </a:pPr>
            <a:r>
              <a:rPr lang="en-US" altLang="zh-CN" dirty="0"/>
              <a:t>    write(a);</a:t>
            </a:r>
          </a:p>
          <a:p>
            <a:pPr>
              <a:defRPr/>
            </a:pPr>
            <a:r>
              <a:rPr lang="en-US" altLang="zh-CN" dirty="0"/>
              <a:t>}</a:t>
            </a:r>
          </a:p>
        </p:txBody>
      </p:sp>
      <p:sp>
        <p:nvSpPr>
          <p:cNvPr id="2" name="矩形 1"/>
          <p:cNvSpPr/>
          <p:nvPr/>
        </p:nvSpPr>
        <p:spPr>
          <a:xfrm>
            <a:off x="161596" y="555526"/>
            <a:ext cx="5621338" cy="255454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spcAft>
                <a:spcPts val="0"/>
              </a:spcAft>
              <a:defRPr/>
            </a:pPr>
            <a:r>
              <a:rPr lang="en-US" altLang="zh-CN" sz="1600" i="1" kern="100" dirty="0"/>
              <a:t>&lt;</a:t>
            </a:r>
            <a:r>
              <a:rPr lang="zh-CN" altLang="zh-CN" sz="1600" i="1" kern="100" dirty="0"/>
              <a:t>复合语句</a:t>
            </a:r>
            <a:r>
              <a:rPr lang="en-US" altLang="zh-CN" sz="1600" i="1" kern="100" dirty="0"/>
              <a:t>&gt;</a:t>
            </a:r>
            <a:r>
              <a:rPr lang="zh-CN" altLang="zh-CN" sz="1600" i="1" kern="100" dirty="0"/>
              <a:t>→</a:t>
            </a:r>
            <a:r>
              <a:rPr lang="en-US" altLang="zh-CN" sz="1600" i="1" kern="100" dirty="0"/>
              <a:t>{&lt;</a:t>
            </a:r>
            <a:r>
              <a:rPr lang="zh-CN" altLang="zh-CN" sz="1600" i="1" kern="100" dirty="0"/>
              <a:t>语句表</a:t>
            </a:r>
            <a:r>
              <a:rPr lang="en-US" altLang="zh-CN" sz="1600" i="1" kern="100" dirty="0"/>
              <a:t>&gt; }</a:t>
            </a:r>
            <a:endParaRPr lang="zh-CN" altLang="zh-CN" sz="1600" kern="100" dirty="0"/>
          </a:p>
          <a:p>
            <a:pPr>
              <a:defRPr/>
            </a:pPr>
            <a:r>
              <a:rPr lang="en-US" altLang="zh-CN" sz="1600" i="1" kern="100" dirty="0"/>
              <a:t>&lt;</a:t>
            </a:r>
            <a:r>
              <a:rPr lang="zh-CN" altLang="zh-CN" sz="1600" i="1" kern="100" dirty="0">
                <a:cs typeface="Times New Roman" panose="02020603050405020304" pitchFamily="18" charset="0"/>
              </a:rPr>
              <a:t>语句表</a:t>
            </a:r>
            <a:r>
              <a:rPr lang="en-US" altLang="zh-CN" sz="1600" i="1" kern="100" dirty="0"/>
              <a:t>&gt;</a:t>
            </a:r>
            <a:r>
              <a:rPr lang="zh-CN" altLang="zh-CN" sz="1600" i="1" kern="100" dirty="0">
                <a:cs typeface="Times New Roman" panose="02020603050405020304" pitchFamily="18" charset="0"/>
              </a:rPr>
              <a:t>→</a:t>
            </a:r>
            <a:r>
              <a:rPr lang="en-US" altLang="zh-CN" sz="1600" i="1" kern="100" dirty="0"/>
              <a:t>&lt;</a:t>
            </a:r>
            <a:r>
              <a:rPr lang="zh-CN" altLang="zh-CN" sz="1600" i="1" kern="100" dirty="0">
                <a:cs typeface="Times New Roman" panose="02020603050405020304" pitchFamily="18" charset="0"/>
              </a:rPr>
              <a:t>语句</a:t>
            </a:r>
            <a:r>
              <a:rPr lang="en-US" altLang="zh-CN" sz="1600" i="1" kern="100" dirty="0"/>
              <a:t>&gt; | &lt;</a:t>
            </a:r>
            <a:r>
              <a:rPr lang="zh-CN" altLang="zh-CN" sz="1600" i="1" kern="100" dirty="0">
                <a:cs typeface="Times New Roman" panose="02020603050405020304" pitchFamily="18" charset="0"/>
              </a:rPr>
              <a:t>语句</a:t>
            </a:r>
            <a:r>
              <a:rPr lang="en-US" altLang="zh-CN" sz="1600" i="1" kern="100" dirty="0"/>
              <a:t>&gt;&lt;</a:t>
            </a:r>
            <a:r>
              <a:rPr lang="zh-CN" altLang="zh-CN" sz="1600" i="1" kern="100" dirty="0">
                <a:cs typeface="Times New Roman" panose="02020603050405020304" pitchFamily="18" charset="0"/>
              </a:rPr>
              <a:t>语句表</a:t>
            </a:r>
            <a:r>
              <a:rPr lang="en-US" altLang="zh-CN" sz="1600" i="1" kern="100" dirty="0"/>
              <a:t>&gt;</a:t>
            </a:r>
          </a:p>
          <a:p>
            <a:pPr>
              <a:defRPr/>
            </a:pPr>
            <a:r>
              <a:rPr lang="en-US" altLang="zh-CN" sz="1600" dirty="0"/>
              <a:t>&lt;</a:t>
            </a:r>
            <a:r>
              <a:rPr lang="zh-CN" altLang="zh-CN" sz="1600" dirty="0"/>
              <a:t>语句</a:t>
            </a:r>
            <a:r>
              <a:rPr lang="en-US" altLang="zh-CN" sz="1600" dirty="0"/>
              <a:t>&gt;</a:t>
            </a:r>
            <a:r>
              <a:rPr lang="zh-CN" altLang="zh-CN" sz="1600" dirty="0"/>
              <a:t>→</a:t>
            </a:r>
            <a:r>
              <a:rPr lang="en-US" altLang="zh-CN" sz="1600" dirty="0"/>
              <a:t>&lt;</a:t>
            </a:r>
            <a:r>
              <a:rPr lang="zh-CN" altLang="zh-CN" sz="1600" dirty="0"/>
              <a:t>声明语句</a:t>
            </a:r>
            <a:r>
              <a:rPr lang="en-US" altLang="zh-CN" sz="1600" dirty="0"/>
              <a:t>&gt;|&lt;</a:t>
            </a:r>
            <a:r>
              <a:rPr lang="zh-CN" altLang="zh-CN" sz="1600" dirty="0"/>
              <a:t>执行语句</a:t>
            </a:r>
            <a:r>
              <a:rPr lang="en-US" altLang="zh-CN" sz="1600" dirty="0"/>
              <a:t>&gt;</a:t>
            </a:r>
            <a:endParaRPr lang="zh-CN" altLang="zh-CN" sz="1600" dirty="0"/>
          </a:p>
          <a:p>
            <a:r>
              <a:rPr lang="en-US" altLang="zh-CN" sz="1600" dirty="0"/>
              <a:t>&lt;</a:t>
            </a:r>
            <a:r>
              <a:rPr lang="zh-CN" altLang="zh-CN" sz="1600" dirty="0"/>
              <a:t>执行语句</a:t>
            </a:r>
            <a:r>
              <a:rPr lang="en-US" altLang="zh-CN" sz="1600" dirty="0"/>
              <a:t>&gt;</a:t>
            </a:r>
            <a:r>
              <a:rPr lang="zh-CN" altLang="zh-CN" sz="1600" dirty="0"/>
              <a:t>→</a:t>
            </a:r>
            <a:r>
              <a:rPr lang="en-US" altLang="zh-CN" sz="1600" dirty="0"/>
              <a:t>&lt;</a:t>
            </a:r>
            <a:r>
              <a:rPr lang="zh-CN" altLang="zh-CN" sz="1600" dirty="0"/>
              <a:t>数据处理语句</a:t>
            </a:r>
            <a:r>
              <a:rPr lang="en-US" altLang="zh-CN" sz="1600" dirty="0"/>
              <a:t>&gt;|&lt;</a:t>
            </a:r>
            <a:r>
              <a:rPr lang="zh-CN" altLang="zh-CN" sz="1600" dirty="0"/>
              <a:t>控制语句</a:t>
            </a:r>
            <a:r>
              <a:rPr lang="en-US" altLang="zh-CN" sz="1600" dirty="0"/>
              <a:t>&gt;|&lt;</a:t>
            </a:r>
            <a:r>
              <a:rPr lang="zh-CN" altLang="zh-CN" sz="1600" dirty="0"/>
              <a:t>复合语句</a:t>
            </a:r>
            <a:r>
              <a:rPr lang="en-US" altLang="zh-CN" sz="1600" dirty="0"/>
              <a:t>&gt;</a:t>
            </a:r>
            <a:endParaRPr lang="zh-CN" altLang="zh-CN" sz="1600" dirty="0"/>
          </a:p>
          <a:p>
            <a:r>
              <a:rPr lang="en-US" altLang="zh-CN" sz="1600" dirty="0"/>
              <a:t>&lt;</a:t>
            </a:r>
            <a:r>
              <a:rPr lang="zh-CN" altLang="zh-CN" sz="1600" dirty="0"/>
              <a:t>数据处理语句</a:t>
            </a:r>
            <a:r>
              <a:rPr lang="en-US" altLang="zh-CN" sz="1600" dirty="0"/>
              <a:t>&gt;</a:t>
            </a:r>
            <a:r>
              <a:rPr lang="zh-CN" altLang="zh-CN" sz="1600" dirty="0"/>
              <a:t>→</a:t>
            </a:r>
            <a:r>
              <a:rPr lang="en-US" altLang="zh-CN" sz="1600" dirty="0"/>
              <a:t>&lt;</a:t>
            </a:r>
            <a:r>
              <a:rPr lang="zh-CN" altLang="zh-CN" sz="1600" dirty="0"/>
              <a:t>赋值语句</a:t>
            </a:r>
            <a:r>
              <a:rPr lang="en-US" altLang="zh-CN" sz="1600" dirty="0"/>
              <a:t>&gt;|&lt;</a:t>
            </a:r>
            <a:r>
              <a:rPr lang="zh-CN" altLang="zh-CN" sz="1600" dirty="0"/>
              <a:t>函数调用语句</a:t>
            </a:r>
            <a:r>
              <a:rPr lang="en-US" altLang="zh-CN" sz="1600" dirty="0"/>
              <a:t>&gt;</a:t>
            </a:r>
            <a:endParaRPr lang="zh-CN" altLang="zh-CN" sz="1600" dirty="0"/>
          </a:p>
          <a:p>
            <a:r>
              <a:rPr lang="en-US" altLang="zh-CN" sz="1600" dirty="0"/>
              <a:t>&lt;</a:t>
            </a:r>
            <a:r>
              <a:rPr lang="zh-CN" altLang="zh-CN" sz="1600" dirty="0"/>
              <a:t>赋值语句</a:t>
            </a:r>
            <a:r>
              <a:rPr lang="en-US" altLang="zh-CN" sz="1600" dirty="0"/>
              <a:t>&gt;</a:t>
            </a:r>
            <a:r>
              <a:rPr lang="zh-CN" altLang="zh-CN" sz="1600" dirty="0"/>
              <a:t>→</a:t>
            </a:r>
            <a:r>
              <a:rPr lang="en-US" altLang="zh-CN" sz="1600" dirty="0"/>
              <a:t>&lt;</a:t>
            </a:r>
            <a:r>
              <a:rPr lang="zh-CN" altLang="zh-CN" sz="1600" dirty="0"/>
              <a:t>赋值表达式</a:t>
            </a:r>
            <a:r>
              <a:rPr lang="en-US" altLang="zh-CN" sz="1600" dirty="0"/>
              <a:t>&gt;;</a:t>
            </a:r>
            <a:endParaRPr lang="zh-CN" altLang="zh-CN" sz="1600" dirty="0"/>
          </a:p>
          <a:p>
            <a:r>
              <a:rPr lang="en-US" altLang="zh-CN" sz="1600" dirty="0"/>
              <a:t>&lt;</a:t>
            </a:r>
            <a:r>
              <a:rPr lang="zh-CN" altLang="zh-CN" sz="1600" dirty="0"/>
              <a:t>函数调用语句</a:t>
            </a:r>
            <a:r>
              <a:rPr lang="en-US" altLang="zh-CN" sz="1600" dirty="0"/>
              <a:t>&gt;</a:t>
            </a:r>
            <a:r>
              <a:rPr lang="zh-CN" altLang="zh-CN" sz="1600" dirty="0"/>
              <a:t>→</a:t>
            </a:r>
            <a:r>
              <a:rPr lang="en-US" altLang="zh-CN" sz="1600" dirty="0"/>
              <a:t>&lt;</a:t>
            </a:r>
            <a:r>
              <a:rPr lang="zh-CN" altLang="zh-CN" sz="1600" dirty="0"/>
              <a:t>函数调用</a:t>
            </a:r>
            <a:r>
              <a:rPr lang="en-US" altLang="zh-CN" sz="1600" dirty="0"/>
              <a:t>&gt;;</a:t>
            </a:r>
            <a:endParaRPr lang="zh-CN" altLang="zh-CN" sz="1600" dirty="0"/>
          </a:p>
          <a:p>
            <a:r>
              <a:rPr lang="en-US" altLang="zh-CN" sz="1600" dirty="0"/>
              <a:t>&lt;</a:t>
            </a:r>
            <a:r>
              <a:rPr lang="zh-CN" altLang="zh-CN" sz="1600" dirty="0"/>
              <a:t>控制语句</a:t>
            </a:r>
            <a:r>
              <a:rPr lang="en-US" altLang="zh-CN" sz="1600" dirty="0"/>
              <a:t>&gt;</a:t>
            </a:r>
            <a:r>
              <a:rPr lang="zh-CN" altLang="zh-CN" sz="1600" dirty="0"/>
              <a:t>→</a:t>
            </a:r>
            <a:r>
              <a:rPr lang="en-US" altLang="zh-CN" sz="1600" dirty="0"/>
              <a:t>&lt;if</a:t>
            </a:r>
            <a:r>
              <a:rPr lang="zh-CN" altLang="zh-CN" sz="1600" dirty="0"/>
              <a:t>语句</a:t>
            </a:r>
            <a:r>
              <a:rPr lang="en-US" altLang="zh-CN" sz="1600" dirty="0"/>
              <a:t>&gt;|&lt;for</a:t>
            </a:r>
            <a:r>
              <a:rPr lang="zh-CN" altLang="zh-CN" sz="1600" dirty="0"/>
              <a:t>语句</a:t>
            </a:r>
            <a:r>
              <a:rPr lang="en-US" altLang="zh-CN" sz="1600" dirty="0"/>
              <a:t>&gt;|&lt;while</a:t>
            </a:r>
            <a:r>
              <a:rPr lang="zh-CN" altLang="zh-CN" sz="1600" dirty="0"/>
              <a:t>语句</a:t>
            </a:r>
            <a:r>
              <a:rPr lang="en-US" altLang="zh-CN" sz="1600" dirty="0"/>
              <a:t>&gt;|&lt;do while</a:t>
            </a:r>
            <a:r>
              <a:rPr lang="zh-CN" altLang="zh-CN" sz="1600" dirty="0"/>
              <a:t>语句</a:t>
            </a:r>
            <a:r>
              <a:rPr lang="en-US" altLang="zh-CN" sz="1600" dirty="0"/>
              <a:t>&gt;|&lt;return</a:t>
            </a:r>
            <a:r>
              <a:rPr lang="zh-CN" altLang="zh-CN" sz="1600" dirty="0"/>
              <a:t>语句</a:t>
            </a:r>
            <a:r>
              <a:rPr lang="en-US" altLang="zh-CN" sz="1600" dirty="0"/>
              <a:t>&gt;</a:t>
            </a:r>
          </a:p>
          <a:p>
            <a:r>
              <a:rPr lang="en-US" altLang="zh-CN" sz="1600" i="1" kern="100" dirty="0"/>
              <a:t>…… </a:t>
            </a:r>
            <a:endParaRPr lang="zh-CN" altLang="en-US" sz="1600" dirty="0"/>
          </a:p>
        </p:txBody>
      </p:sp>
      <p:graphicFrame>
        <p:nvGraphicFramePr>
          <p:cNvPr id="95236" name="对象 4"/>
          <p:cNvGraphicFramePr>
            <a:graphicFrameLocks noChangeAspect="1"/>
          </p:cNvGraphicFramePr>
          <p:nvPr>
            <p:extLst>
              <p:ext uri="{D42A27DB-BD31-4B8C-83A1-F6EECF244321}">
                <p14:modId xmlns:p14="http://schemas.microsoft.com/office/powerpoint/2010/main" val="2506518599"/>
              </p:ext>
            </p:extLst>
          </p:nvPr>
        </p:nvGraphicFramePr>
        <p:xfrm>
          <a:off x="2483768" y="2355726"/>
          <a:ext cx="6755405" cy="2827461"/>
        </p:xfrm>
        <a:graphic>
          <a:graphicData uri="http://schemas.openxmlformats.org/presentationml/2006/ole">
            <mc:AlternateContent xmlns:mc="http://schemas.openxmlformats.org/markup-compatibility/2006">
              <mc:Choice xmlns:v="urn:schemas-microsoft-com:vml" Requires="v">
                <p:oleObj spid="_x0000_s40965" name="Visio" r:id="rId3" imgW="5235859" imgH="3092570" progId="Visio.Drawing.11">
                  <p:embed/>
                </p:oleObj>
              </mc:Choice>
              <mc:Fallback>
                <p:oleObj name="Visio" r:id="rId3" imgW="5235859" imgH="3092570" progId="Visio.Drawing.11">
                  <p:embed/>
                  <p:pic>
                    <p:nvPicPr>
                      <p:cNvPr id="95236"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3768" y="2355726"/>
                        <a:ext cx="6755405" cy="2827461"/>
                      </a:xfrm>
                      <a:prstGeom prst="rect">
                        <a:avLst/>
                      </a:prstGeom>
                      <a:noFill/>
                      <a:ln>
                        <a:noFill/>
                      </a:ln>
                    </p:spPr>
                  </p:pic>
                </p:oleObj>
              </mc:Fallback>
            </mc:AlternateContent>
          </a:graphicData>
        </a:graphic>
      </p:graphicFrame>
      <p:sp>
        <p:nvSpPr>
          <p:cNvPr id="7" name="TextBox 6"/>
          <p:cNvSpPr txBox="1"/>
          <p:nvPr/>
        </p:nvSpPr>
        <p:spPr>
          <a:xfrm>
            <a:off x="3059832" y="51470"/>
            <a:ext cx="6048672" cy="196361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nSpc>
                <a:spcPct val="95000"/>
              </a:lnSpc>
            </a:pPr>
            <a:r>
              <a:rPr lang="zh-CN" altLang="en-US" sz="2000" dirty="0">
                <a:latin typeface="宋体" panose="02010600030101010101" pitchFamily="2" charset="-122"/>
                <a:ea typeface="宋体" panose="02010600030101010101" pitchFamily="2" charset="-122"/>
              </a:rPr>
              <a:t>处理的语法单位</a:t>
            </a:r>
            <a:endParaRPr lang="en-US" altLang="zh-CN" sz="2000" dirty="0">
              <a:latin typeface="宋体" panose="02010600030101010101" pitchFamily="2" charset="-122"/>
              <a:ea typeface="宋体" panose="02010600030101010101" pitchFamily="2" charset="-122"/>
            </a:endParaRPr>
          </a:p>
          <a:p>
            <a:pPr>
              <a:lnSpc>
                <a:spcPct val="95000"/>
              </a:lnSpc>
            </a:pP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）带类型的简单变量声明、常量声明。</a:t>
            </a:r>
          </a:p>
          <a:p>
            <a:pPr>
              <a:lnSpc>
                <a:spcPct val="95000"/>
              </a:lnSpc>
            </a:pP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）各种表达式：算术表达式、布尔表达式、关系表达式、赋值表达式。</a:t>
            </a:r>
          </a:p>
          <a:p>
            <a:pPr>
              <a:lnSpc>
                <a:spcPct val="95000"/>
              </a:lnSpc>
            </a:pP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3</a:t>
            </a:r>
            <a:r>
              <a:rPr lang="zh-CN" altLang="zh-CN" dirty="0">
                <a:latin typeface="宋体" panose="02010600030101010101" pitchFamily="2" charset="-122"/>
                <a:ea typeface="宋体" panose="02010600030101010101" pitchFamily="2" charset="-122"/>
              </a:rPr>
              <a:t>）简单赋值语句。</a:t>
            </a:r>
          </a:p>
          <a:p>
            <a:pPr>
              <a:lnSpc>
                <a:spcPct val="95000"/>
              </a:lnSpc>
            </a:pP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4</a:t>
            </a:r>
            <a:r>
              <a:rPr lang="zh-CN" altLang="zh-CN" dirty="0">
                <a:latin typeface="宋体" panose="02010600030101010101" pitchFamily="2" charset="-122"/>
                <a:ea typeface="宋体" panose="02010600030101010101" pitchFamily="2" charset="-122"/>
              </a:rPr>
              <a:t>）各种控制语句：如</a:t>
            </a:r>
            <a:r>
              <a:rPr lang="en-US" altLang="zh-CN" dirty="0">
                <a:latin typeface="宋体" panose="02010600030101010101" pitchFamily="2" charset="-122"/>
                <a:ea typeface="宋体" panose="02010600030101010101" pitchFamily="2" charset="-122"/>
              </a:rPr>
              <a:t>if</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while</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do</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while</a:t>
            </a:r>
            <a:r>
              <a:rPr lang="zh-CN" altLang="zh-CN" dirty="0">
                <a:latin typeface="宋体" panose="02010600030101010101" pitchFamily="2" charset="-122"/>
                <a:ea typeface="宋体" panose="02010600030101010101" pitchFamily="2" charset="-122"/>
              </a:rPr>
              <a:t>和</a:t>
            </a:r>
            <a:r>
              <a:rPr lang="en-US" altLang="zh-CN" dirty="0">
                <a:latin typeface="宋体" panose="02010600030101010101" pitchFamily="2" charset="-122"/>
                <a:ea typeface="宋体" panose="02010600030101010101" pitchFamily="2" charset="-122"/>
              </a:rPr>
              <a:t>for</a:t>
            </a:r>
            <a:r>
              <a:rPr lang="zh-CN" altLang="zh-CN" dirty="0">
                <a:latin typeface="宋体" panose="02010600030101010101" pitchFamily="2" charset="-122"/>
                <a:ea typeface="宋体" panose="02010600030101010101" pitchFamily="2" charset="-122"/>
              </a:rPr>
              <a:t>语句。</a:t>
            </a:r>
          </a:p>
          <a:p>
            <a:pPr>
              <a:lnSpc>
                <a:spcPct val="95000"/>
              </a:lnSpc>
            </a:pP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5</a:t>
            </a:r>
            <a:r>
              <a:rPr lang="zh-CN" altLang="zh-CN" dirty="0">
                <a:latin typeface="宋体" panose="02010600030101010101" pitchFamily="2" charset="-122"/>
                <a:ea typeface="宋体" panose="02010600030101010101" pitchFamily="2" charset="-122"/>
              </a:rPr>
              <a:t>）函数声明、函数定义和函数调用。</a:t>
            </a:r>
          </a:p>
        </p:txBody>
      </p:sp>
    </p:spTree>
    <p:extLst>
      <p:ext uri="{BB962C8B-B14F-4D97-AF65-F5344CB8AC3E}">
        <p14:creationId xmlns:p14="http://schemas.microsoft.com/office/powerpoint/2010/main" val="3392485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0" y="-92546"/>
            <a:ext cx="9144000" cy="519113"/>
          </a:xfrm>
        </p:spPr>
        <p:txBody>
          <a:bodyPr>
            <a:noAutofit/>
          </a:bodyPr>
          <a:lstStyle/>
          <a:p>
            <a:pPr eaLnBrk="1" hangingPunct="1"/>
            <a:r>
              <a:rPr kumimoji="1" lang="zh-CN" altLang="en-US" sz="3200" b="1" dirty="0">
                <a:solidFill>
                  <a:srgbClr val="CC0099"/>
                </a:solidFill>
                <a:latin typeface="Times New Roman" pitchFamily="18" charset="0"/>
                <a:ea typeface="隶书" pitchFamily="49" charset="-122"/>
              </a:rPr>
              <a:t>举例：为</a:t>
            </a:r>
            <a:r>
              <a:rPr kumimoji="1" lang="en-US" altLang="zh-CN" sz="3200" b="1" dirty="0">
                <a:solidFill>
                  <a:srgbClr val="CC0099"/>
                </a:solidFill>
                <a:latin typeface="Times New Roman" pitchFamily="18" charset="0"/>
                <a:ea typeface="隶书" pitchFamily="49" charset="-122"/>
              </a:rPr>
              <a:t>IF</a:t>
            </a:r>
            <a:r>
              <a:rPr kumimoji="1" lang="zh-CN" altLang="en-US" sz="3200" b="1" dirty="0">
                <a:solidFill>
                  <a:srgbClr val="CC0099"/>
                </a:solidFill>
                <a:latin typeface="Times New Roman" pitchFamily="18" charset="0"/>
                <a:ea typeface="隶书" pitchFamily="49" charset="-122"/>
              </a:rPr>
              <a:t>语句添加语义处理</a:t>
            </a:r>
          </a:p>
        </p:txBody>
      </p:sp>
      <p:sp>
        <p:nvSpPr>
          <p:cNvPr id="2" name="矩形 1"/>
          <p:cNvSpPr/>
          <p:nvPr/>
        </p:nvSpPr>
        <p:spPr>
          <a:xfrm>
            <a:off x="365125" y="411510"/>
            <a:ext cx="8497888" cy="4801314"/>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lgn="just">
              <a:lnSpc>
                <a:spcPct val="100000"/>
              </a:lnSpc>
              <a:spcBef>
                <a:spcPct val="0"/>
              </a:spcBef>
              <a:spcAft>
                <a:spcPts val="0"/>
              </a:spcAft>
              <a:buFontTx/>
              <a:buNone/>
              <a:defRPr/>
            </a:pPr>
            <a:r>
              <a:rPr lang="en-US" altLang="zh-CN" kern="100" dirty="0">
                <a:latin typeface="Times New Roman"/>
                <a:cs typeface="Times New Roman"/>
              </a:rPr>
              <a:t>ifs( )  { /*if</a:t>
            </a:r>
            <a:r>
              <a:rPr lang="zh-CN" altLang="en-US" kern="100" dirty="0">
                <a:latin typeface="Times New Roman"/>
                <a:cs typeface="Times New Roman"/>
              </a:rPr>
              <a:t>语句的语法分析程序</a:t>
            </a:r>
            <a:r>
              <a:rPr lang="en-US" altLang="zh-CN" kern="100" dirty="0">
                <a:latin typeface="Times New Roman"/>
                <a:cs typeface="Times New Roman"/>
              </a:rPr>
              <a:t>*/</a:t>
            </a:r>
            <a:endParaRPr lang="zh-CN" altLang="zh-CN" kern="100" dirty="0">
              <a:latin typeface="Times New Roman"/>
              <a:cs typeface="Times New Roman"/>
            </a:endParaRPr>
          </a:p>
          <a:p>
            <a:pPr indent="228600" algn="just">
              <a:lnSpc>
                <a:spcPct val="100000"/>
              </a:lnSpc>
              <a:spcBef>
                <a:spcPct val="0"/>
              </a:spcBef>
              <a:spcAft>
                <a:spcPts val="0"/>
              </a:spcAft>
              <a:buFontTx/>
              <a:buNone/>
              <a:defRPr/>
            </a:pPr>
            <a:r>
              <a:rPr lang="en-US" altLang="zh-CN" kern="100" dirty="0">
                <a:latin typeface="Times New Roman"/>
                <a:cs typeface="Times New Roman"/>
              </a:rPr>
              <a:t>token = </a:t>
            </a:r>
            <a:r>
              <a:rPr lang="en-US" altLang="zh-CN" kern="100" dirty="0" err="1">
                <a:latin typeface="Times New Roman"/>
                <a:cs typeface="Times New Roman"/>
              </a:rPr>
              <a:t>GetNextToken</a:t>
            </a:r>
            <a:r>
              <a:rPr lang="en-US" altLang="zh-CN" kern="100" dirty="0">
                <a:latin typeface="Times New Roman"/>
                <a:cs typeface="Times New Roman"/>
              </a:rPr>
              <a:t>();    //</a:t>
            </a:r>
            <a:r>
              <a:rPr lang="zh-CN" altLang="zh-CN" kern="100" dirty="0">
                <a:latin typeface="Times New Roman"/>
                <a:cs typeface="Times New Roman"/>
              </a:rPr>
              <a:t>从输入串中读一个单词，指针后移一个单词</a:t>
            </a:r>
          </a:p>
          <a:p>
            <a:pPr indent="228600" algn="just">
              <a:lnSpc>
                <a:spcPct val="100000"/>
              </a:lnSpc>
              <a:spcBef>
                <a:spcPct val="0"/>
              </a:spcBef>
              <a:spcAft>
                <a:spcPts val="0"/>
              </a:spcAft>
              <a:buFontTx/>
              <a:buNone/>
              <a:defRPr/>
            </a:pPr>
            <a:r>
              <a:rPr lang="en-US" altLang="zh-CN" kern="100" dirty="0">
                <a:latin typeface="Times New Roman"/>
                <a:cs typeface="Times New Roman"/>
              </a:rPr>
              <a:t>if (token </a:t>
            </a:r>
            <a:r>
              <a:rPr lang="zh-CN" altLang="zh-CN" kern="100" dirty="0">
                <a:latin typeface="Times New Roman"/>
                <a:cs typeface="Times New Roman"/>
              </a:rPr>
              <a:t>不是</a:t>
            </a:r>
            <a:r>
              <a:rPr lang="en-US" altLang="zh-CN" kern="100" dirty="0">
                <a:latin typeface="Times New Roman"/>
                <a:cs typeface="Times New Roman"/>
              </a:rPr>
              <a:t>  ''if'' )   // </a:t>
            </a:r>
            <a:r>
              <a:rPr lang="zh-CN" altLang="zh-CN" kern="100" dirty="0">
                <a:latin typeface="Times New Roman"/>
                <a:cs typeface="Times New Roman"/>
              </a:rPr>
              <a:t>如果调用函数已经读取了</a:t>
            </a:r>
            <a:r>
              <a:rPr lang="en-US" altLang="zh-CN" kern="100" dirty="0">
                <a:latin typeface="Times New Roman"/>
                <a:cs typeface="Times New Roman"/>
              </a:rPr>
              <a:t>if</a:t>
            </a:r>
            <a:r>
              <a:rPr lang="zh-CN" altLang="zh-CN" kern="100" dirty="0">
                <a:latin typeface="Times New Roman"/>
                <a:cs typeface="Times New Roman"/>
              </a:rPr>
              <a:t>，此处不再读入和判断</a:t>
            </a:r>
          </a:p>
          <a:p>
            <a:pPr indent="514350" algn="just">
              <a:lnSpc>
                <a:spcPct val="100000"/>
              </a:lnSpc>
              <a:spcBef>
                <a:spcPct val="0"/>
              </a:spcBef>
              <a:spcAft>
                <a:spcPts val="0"/>
              </a:spcAft>
              <a:buFontTx/>
              <a:buNone/>
              <a:defRPr/>
            </a:pPr>
            <a:r>
              <a:rPr lang="en-US" altLang="zh-CN" kern="100" dirty="0" err="1">
                <a:latin typeface="Times New Roman"/>
                <a:cs typeface="Times New Roman"/>
              </a:rPr>
              <a:t>SyntaxError</a:t>
            </a:r>
            <a:r>
              <a:rPr lang="en-US" altLang="zh-CN" kern="100" dirty="0">
                <a:latin typeface="Times New Roman"/>
                <a:cs typeface="Times New Roman"/>
              </a:rPr>
              <a:t>();  //</a:t>
            </a:r>
            <a:r>
              <a:rPr lang="zh-CN" altLang="zh-CN" kern="100" dirty="0">
                <a:latin typeface="Times New Roman"/>
                <a:cs typeface="Times New Roman"/>
              </a:rPr>
              <a:t>调用错误处理</a:t>
            </a:r>
          </a:p>
          <a:p>
            <a:pPr indent="228600" algn="just">
              <a:lnSpc>
                <a:spcPct val="100000"/>
              </a:lnSpc>
              <a:spcBef>
                <a:spcPct val="0"/>
              </a:spcBef>
              <a:spcAft>
                <a:spcPts val="0"/>
              </a:spcAft>
              <a:buFontTx/>
              <a:buNone/>
              <a:defRPr/>
            </a:pPr>
            <a:r>
              <a:rPr lang="en-US" altLang="zh-CN" kern="100" dirty="0">
                <a:latin typeface="Times New Roman"/>
                <a:cs typeface="Times New Roman"/>
              </a:rPr>
              <a:t>token = </a:t>
            </a:r>
            <a:r>
              <a:rPr lang="en-US" altLang="zh-CN" kern="100" dirty="0" err="1">
                <a:latin typeface="Times New Roman"/>
                <a:cs typeface="Times New Roman"/>
              </a:rPr>
              <a:t>GetNextToken</a:t>
            </a:r>
            <a:r>
              <a:rPr lang="en-US" altLang="zh-CN" kern="100" dirty="0">
                <a:latin typeface="Times New Roman"/>
                <a:cs typeface="Times New Roman"/>
              </a:rPr>
              <a:t>();  </a:t>
            </a:r>
            <a:endParaRPr lang="zh-CN" altLang="zh-CN" kern="100" dirty="0">
              <a:latin typeface="Times New Roman"/>
              <a:cs typeface="Times New Roman"/>
            </a:endParaRPr>
          </a:p>
          <a:p>
            <a:pPr indent="228600" algn="just">
              <a:lnSpc>
                <a:spcPct val="100000"/>
              </a:lnSpc>
              <a:spcBef>
                <a:spcPct val="0"/>
              </a:spcBef>
              <a:spcAft>
                <a:spcPts val="0"/>
              </a:spcAft>
              <a:buFontTx/>
              <a:buNone/>
              <a:defRPr/>
            </a:pPr>
            <a:r>
              <a:rPr lang="en-US" altLang="zh-CN" kern="100" dirty="0">
                <a:latin typeface="Times New Roman"/>
                <a:cs typeface="Times New Roman"/>
              </a:rPr>
              <a:t>if (token </a:t>
            </a:r>
            <a:r>
              <a:rPr lang="zh-CN" altLang="zh-CN" kern="100" dirty="0">
                <a:latin typeface="Times New Roman"/>
                <a:cs typeface="Times New Roman"/>
              </a:rPr>
              <a:t>不是</a:t>
            </a:r>
            <a:r>
              <a:rPr lang="en-US" altLang="zh-CN" kern="100" dirty="0">
                <a:latin typeface="Times New Roman"/>
                <a:cs typeface="Times New Roman"/>
              </a:rPr>
              <a:t>  ''('' ) </a:t>
            </a:r>
            <a:r>
              <a:rPr lang="en-US" altLang="zh-CN" kern="100" dirty="0" err="1">
                <a:latin typeface="Times New Roman"/>
                <a:cs typeface="Times New Roman"/>
              </a:rPr>
              <a:t>SyntaxError</a:t>
            </a:r>
            <a:r>
              <a:rPr lang="en-US" altLang="zh-CN" kern="100" dirty="0">
                <a:latin typeface="Times New Roman"/>
                <a:cs typeface="Times New Roman"/>
              </a:rPr>
              <a:t>();  //</a:t>
            </a:r>
            <a:r>
              <a:rPr lang="zh-CN" altLang="zh-CN" kern="100" dirty="0">
                <a:latin typeface="Times New Roman"/>
                <a:cs typeface="Times New Roman"/>
              </a:rPr>
              <a:t>调用错误处理</a:t>
            </a:r>
          </a:p>
          <a:p>
            <a:pPr indent="228600" algn="just">
              <a:lnSpc>
                <a:spcPct val="100000"/>
              </a:lnSpc>
              <a:spcBef>
                <a:spcPct val="0"/>
              </a:spcBef>
              <a:spcAft>
                <a:spcPts val="0"/>
              </a:spcAft>
              <a:buFontTx/>
              <a:buNone/>
              <a:defRPr/>
            </a:pPr>
            <a:r>
              <a:rPr lang="en-US" altLang="zh-CN" kern="100" dirty="0">
                <a:latin typeface="Times New Roman"/>
                <a:cs typeface="Times New Roman"/>
              </a:rPr>
              <a:t>token = </a:t>
            </a:r>
            <a:r>
              <a:rPr lang="en-US" altLang="zh-CN" kern="100" dirty="0" err="1">
                <a:latin typeface="Times New Roman"/>
                <a:cs typeface="Times New Roman"/>
              </a:rPr>
              <a:t>GetNextToken</a:t>
            </a:r>
            <a:r>
              <a:rPr lang="en-US" altLang="zh-CN" kern="100" dirty="0">
                <a:latin typeface="Times New Roman"/>
                <a:cs typeface="Times New Roman"/>
              </a:rPr>
              <a:t>();</a:t>
            </a:r>
            <a:endParaRPr lang="zh-CN" altLang="zh-CN" kern="100" dirty="0">
              <a:latin typeface="Times New Roman"/>
              <a:cs typeface="Times New Roman"/>
            </a:endParaRPr>
          </a:p>
          <a:p>
            <a:pPr indent="228600" algn="just">
              <a:lnSpc>
                <a:spcPct val="100000"/>
              </a:lnSpc>
              <a:spcBef>
                <a:spcPct val="0"/>
              </a:spcBef>
              <a:spcAft>
                <a:spcPts val="0"/>
              </a:spcAft>
              <a:buFontTx/>
              <a:buNone/>
              <a:defRPr/>
            </a:pPr>
            <a:r>
              <a:rPr lang="en-US" altLang="zh-CN" kern="100" dirty="0" err="1">
                <a:latin typeface="Times New Roman"/>
                <a:cs typeface="Times New Roman"/>
              </a:rPr>
              <a:t>BoolExpressionAnalyzer</a:t>
            </a:r>
            <a:r>
              <a:rPr lang="en-US" altLang="zh-CN" kern="100" dirty="0">
                <a:latin typeface="Times New Roman"/>
                <a:cs typeface="Times New Roman"/>
              </a:rPr>
              <a:t>();         //</a:t>
            </a:r>
            <a:r>
              <a:rPr lang="zh-CN" altLang="zh-CN" kern="100" dirty="0">
                <a:latin typeface="Times New Roman"/>
                <a:cs typeface="Times New Roman"/>
              </a:rPr>
              <a:t>调用分析表达式的函数</a:t>
            </a:r>
          </a:p>
          <a:p>
            <a:pPr indent="228600" algn="just">
              <a:lnSpc>
                <a:spcPct val="100000"/>
              </a:lnSpc>
              <a:spcBef>
                <a:spcPct val="0"/>
              </a:spcBef>
              <a:spcAft>
                <a:spcPts val="0"/>
              </a:spcAft>
              <a:buFontTx/>
              <a:buNone/>
              <a:defRPr/>
            </a:pPr>
            <a:r>
              <a:rPr lang="en-US" altLang="zh-CN" kern="100" dirty="0">
                <a:latin typeface="Times New Roman"/>
                <a:cs typeface="Times New Roman"/>
              </a:rPr>
              <a:t>token = </a:t>
            </a:r>
            <a:r>
              <a:rPr lang="en-US" altLang="zh-CN" kern="100" dirty="0" err="1">
                <a:latin typeface="Times New Roman"/>
                <a:cs typeface="Times New Roman"/>
              </a:rPr>
              <a:t>GetNextToken</a:t>
            </a:r>
            <a:r>
              <a:rPr lang="en-US" altLang="zh-CN" kern="100" dirty="0">
                <a:latin typeface="Times New Roman"/>
                <a:cs typeface="Times New Roman"/>
              </a:rPr>
              <a:t>();</a:t>
            </a:r>
            <a:endParaRPr lang="zh-CN" altLang="zh-CN" kern="100" dirty="0">
              <a:latin typeface="Times New Roman"/>
              <a:cs typeface="Times New Roman"/>
            </a:endParaRPr>
          </a:p>
          <a:p>
            <a:pPr indent="228600" algn="just">
              <a:lnSpc>
                <a:spcPct val="100000"/>
              </a:lnSpc>
              <a:spcBef>
                <a:spcPct val="0"/>
              </a:spcBef>
              <a:spcAft>
                <a:spcPts val="0"/>
              </a:spcAft>
              <a:buFontTx/>
              <a:buNone/>
              <a:defRPr/>
            </a:pPr>
            <a:r>
              <a:rPr lang="en-US" altLang="zh-CN" kern="100" dirty="0">
                <a:latin typeface="Times New Roman"/>
                <a:cs typeface="Times New Roman"/>
              </a:rPr>
              <a:t>if (token </a:t>
            </a:r>
            <a:r>
              <a:rPr lang="zh-CN" altLang="zh-CN" kern="100" dirty="0">
                <a:latin typeface="Times New Roman"/>
                <a:cs typeface="Times New Roman"/>
              </a:rPr>
              <a:t>不是</a:t>
            </a:r>
            <a:r>
              <a:rPr lang="en-US" altLang="zh-CN" kern="100" dirty="0">
                <a:latin typeface="Times New Roman"/>
                <a:cs typeface="Times New Roman"/>
              </a:rPr>
              <a:t>  '')'' ) </a:t>
            </a:r>
            <a:r>
              <a:rPr lang="en-US" altLang="zh-CN" kern="100" dirty="0" err="1">
                <a:latin typeface="Times New Roman"/>
                <a:cs typeface="Times New Roman"/>
              </a:rPr>
              <a:t>SyntaxError</a:t>
            </a:r>
            <a:r>
              <a:rPr lang="en-US" altLang="zh-CN" kern="100" dirty="0">
                <a:latin typeface="Times New Roman"/>
                <a:cs typeface="Times New Roman"/>
              </a:rPr>
              <a:t>();  //</a:t>
            </a:r>
            <a:r>
              <a:rPr lang="zh-CN" altLang="zh-CN" kern="100" dirty="0">
                <a:latin typeface="Times New Roman"/>
                <a:cs typeface="Times New Roman"/>
              </a:rPr>
              <a:t>调用错误处理</a:t>
            </a:r>
          </a:p>
          <a:p>
            <a:pPr indent="228600" algn="just">
              <a:lnSpc>
                <a:spcPct val="100000"/>
              </a:lnSpc>
              <a:spcBef>
                <a:spcPct val="0"/>
              </a:spcBef>
              <a:spcAft>
                <a:spcPts val="0"/>
              </a:spcAft>
              <a:buFontTx/>
              <a:buNone/>
              <a:defRPr/>
            </a:pPr>
            <a:r>
              <a:rPr lang="en-US" altLang="zh-CN" kern="100" dirty="0" err="1">
                <a:latin typeface="Times New Roman"/>
                <a:cs typeface="Times New Roman"/>
              </a:rPr>
              <a:t>CompoundSentenceAnalyzer</a:t>
            </a:r>
            <a:r>
              <a:rPr lang="en-US" altLang="zh-CN" kern="100" dirty="0">
                <a:latin typeface="Times New Roman"/>
                <a:cs typeface="Times New Roman"/>
              </a:rPr>
              <a:t>();//</a:t>
            </a:r>
            <a:r>
              <a:rPr lang="zh-CN" altLang="zh-CN" kern="100" dirty="0">
                <a:latin typeface="Times New Roman"/>
                <a:cs typeface="Times New Roman"/>
              </a:rPr>
              <a:t>处理复合语句</a:t>
            </a:r>
          </a:p>
          <a:p>
            <a:pPr indent="228600" algn="just">
              <a:lnSpc>
                <a:spcPct val="100000"/>
              </a:lnSpc>
              <a:spcBef>
                <a:spcPct val="0"/>
              </a:spcBef>
              <a:spcAft>
                <a:spcPts val="0"/>
              </a:spcAft>
              <a:buFontTx/>
              <a:buNone/>
              <a:defRPr/>
            </a:pPr>
            <a:r>
              <a:rPr lang="en-US" altLang="zh-CN" kern="100" dirty="0">
                <a:latin typeface="Times New Roman"/>
                <a:cs typeface="Times New Roman"/>
              </a:rPr>
              <a:t>token = </a:t>
            </a:r>
            <a:r>
              <a:rPr lang="en-US" altLang="zh-CN" kern="100" dirty="0" err="1">
                <a:latin typeface="Times New Roman"/>
                <a:cs typeface="Times New Roman"/>
              </a:rPr>
              <a:t>GetNextToken</a:t>
            </a:r>
            <a:r>
              <a:rPr lang="en-US" altLang="zh-CN" kern="100" dirty="0">
                <a:latin typeface="Times New Roman"/>
                <a:cs typeface="Times New Roman"/>
              </a:rPr>
              <a:t>();</a:t>
            </a:r>
            <a:endParaRPr lang="zh-CN" altLang="zh-CN" kern="100" dirty="0">
              <a:latin typeface="Times New Roman"/>
              <a:cs typeface="Times New Roman"/>
            </a:endParaRPr>
          </a:p>
          <a:p>
            <a:pPr indent="228600" algn="just">
              <a:lnSpc>
                <a:spcPct val="100000"/>
              </a:lnSpc>
              <a:spcBef>
                <a:spcPct val="0"/>
              </a:spcBef>
              <a:spcAft>
                <a:spcPts val="0"/>
              </a:spcAft>
              <a:buFontTx/>
              <a:buNone/>
              <a:defRPr/>
            </a:pPr>
            <a:r>
              <a:rPr lang="en-US" altLang="zh-CN" kern="100" dirty="0">
                <a:latin typeface="Times New Roman"/>
                <a:cs typeface="Times New Roman"/>
              </a:rPr>
              <a:t>if(token </a:t>
            </a:r>
            <a:r>
              <a:rPr lang="zh-CN" altLang="zh-CN" kern="100" dirty="0">
                <a:latin typeface="Times New Roman"/>
                <a:cs typeface="Times New Roman"/>
              </a:rPr>
              <a:t>是</a:t>
            </a:r>
            <a:r>
              <a:rPr lang="en-US" altLang="zh-CN" kern="100" dirty="0">
                <a:latin typeface="Times New Roman"/>
                <a:cs typeface="Times New Roman"/>
              </a:rPr>
              <a:t> "else") {  /* </a:t>
            </a:r>
            <a:r>
              <a:rPr lang="zh-CN" altLang="zh-CN" kern="100" dirty="0">
                <a:latin typeface="Times New Roman"/>
                <a:cs typeface="Times New Roman"/>
              </a:rPr>
              <a:t>带有</a:t>
            </a:r>
            <a:r>
              <a:rPr lang="en-US" altLang="zh-CN" kern="100" dirty="0">
                <a:latin typeface="Times New Roman"/>
                <a:cs typeface="Times New Roman"/>
              </a:rPr>
              <a:t>else</a:t>
            </a:r>
            <a:r>
              <a:rPr lang="zh-CN" altLang="zh-CN" kern="100" dirty="0">
                <a:latin typeface="Times New Roman"/>
                <a:cs typeface="Times New Roman"/>
              </a:rPr>
              <a:t>部分时处理</a:t>
            </a:r>
            <a:r>
              <a:rPr lang="en-US" altLang="zh-CN" kern="100" dirty="0">
                <a:latin typeface="Times New Roman"/>
                <a:cs typeface="Times New Roman"/>
              </a:rPr>
              <a:t>else</a:t>
            </a:r>
            <a:r>
              <a:rPr lang="zh-CN" altLang="zh-CN" kern="100" dirty="0">
                <a:latin typeface="Times New Roman"/>
                <a:cs typeface="Times New Roman"/>
              </a:rPr>
              <a:t>部分</a:t>
            </a:r>
            <a:r>
              <a:rPr lang="en-US" altLang="zh-CN" kern="100" dirty="0">
                <a:latin typeface="Times New Roman"/>
                <a:cs typeface="Times New Roman"/>
              </a:rPr>
              <a:t>*/</a:t>
            </a:r>
            <a:endParaRPr lang="zh-CN" altLang="zh-CN" kern="100" dirty="0">
              <a:latin typeface="Times New Roman"/>
              <a:cs typeface="Times New Roman"/>
            </a:endParaRPr>
          </a:p>
          <a:p>
            <a:pPr indent="342900" algn="just">
              <a:lnSpc>
                <a:spcPct val="100000"/>
              </a:lnSpc>
              <a:spcBef>
                <a:spcPct val="0"/>
              </a:spcBef>
              <a:spcAft>
                <a:spcPts val="0"/>
              </a:spcAft>
              <a:buFontTx/>
              <a:buNone/>
              <a:defRPr/>
            </a:pPr>
            <a:r>
              <a:rPr lang="en-US" altLang="zh-CN" kern="100" dirty="0">
                <a:latin typeface="Times New Roman"/>
                <a:cs typeface="Times New Roman"/>
              </a:rPr>
              <a:t>token = </a:t>
            </a:r>
            <a:r>
              <a:rPr lang="en-US" altLang="zh-CN" kern="100" dirty="0" err="1">
                <a:latin typeface="Times New Roman"/>
                <a:cs typeface="Times New Roman"/>
              </a:rPr>
              <a:t>GetNextToken</a:t>
            </a:r>
            <a:r>
              <a:rPr lang="en-US" altLang="zh-CN" kern="100" dirty="0">
                <a:latin typeface="Times New Roman"/>
                <a:cs typeface="Times New Roman"/>
              </a:rPr>
              <a:t>();</a:t>
            </a:r>
            <a:endParaRPr lang="zh-CN" altLang="zh-CN" kern="100" dirty="0">
              <a:latin typeface="Times New Roman"/>
              <a:cs typeface="Times New Roman"/>
            </a:endParaRPr>
          </a:p>
          <a:p>
            <a:pPr indent="342900" algn="just">
              <a:lnSpc>
                <a:spcPct val="100000"/>
              </a:lnSpc>
              <a:spcBef>
                <a:spcPct val="0"/>
              </a:spcBef>
              <a:spcAft>
                <a:spcPts val="0"/>
              </a:spcAft>
              <a:buFontTx/>
              <a:buNone/>
              <a:defRPr/>
            </a:pPr>
            <a:r>
              <a:rPr lang="en-US" altLang="zh-CN" kern="100" dirty="0" err="1">
                <a:latin typeface="Times New Roman"/>
                <a:cs typeface="Times New Roman"/>
              </a:rPr>
              <a:t>CompoundSentenceAnalyzer</a:t>
            </a:r>
            <a:r>
              <a:rPr lang="en-US" altLang="zh-CN" kern="100" dirty="0">
                <a:latin typeface="Times New Roman"/>
                <a:cs typeface="Times New Roman"/>
              </a:rPr>
              <a:t>();  //</a:t>
            </a:r>
            <a:r>
              <a:rPr lang="zh-CN" altLang="zh-CN" kern="100" dirty="0">
                <a:latin typeface="Times New Roman"/>
                <a:cs typeface="Times New Roman"/>
              </a:rPr>
              <a:t>处理</a:t>
            </a:r>
            <a:r>
              <a:rPr lang="en-US" altLang="zh-CN" kern="100" dirty="0">
                <a:latin typeface="Times New Roman"/>
                <a:cs typeface="Times New Roman"/>
              </a:rPr>
              <a:t>else</a:t>
            </a:r>
            <a:r>
              <a:rPr lang="zh-CN" altLang="zh-CN" kern="100" dirty="0">
                <a:latin typeface="Times New Roman"/>
                <a:cs typeface="Times New Roman"/>
              </a:rPr>
              <a:t>后的复合语句</a:t>
            </a:r>
          </a:p>
          <a:p>
            <a:pPr indent="228600" algn="just">
              <a:lnSpc>
                <a:spcPct val="100000"/>
              </a:lnSpc>
              <a:spcBef>
                <a:spcPct val="0"/>
              </a:spcBef>
              <a:spcAft>
                <a:spcPts val="0"/>
              </a:spcAft>
              <a:buFontTx/>
              <a:buNone/>
              <a:defRPr/>
            </a:pPr>
            <a:r>
              <a:rPr lang="en-US" altLang="zh-CN" kern="100" dirty="0">
                <a:latin typeface="Times New Roman"/>
                <a:cs typeface="Times New Roman"/>
              </a:rPr>
              <a:t>}</a:t>
            </a:r>
            <a:endParaRPr lang="zh-CN" altLang="zh-CN" kern="100" dirty="0">
              <a:latin typeface="Times New Roman"/>
              <a:cs typeface="Times New Roman"/>
            </a:endParaRPr>
          </a:p>
          <a:p>
            <a:pPr algn="just">
              <a:lnSpc>
                <a:spcPct val="100000"/>
              </a:lnSpc>
              <a:spcBef>
                <a:spcPct val="0"/>
              </a:spcBef>
              <a:spcAft>
                <a:spcPts val="0"/>
              </a:spcAft>
              <a:buFontTx/>
              <a:buNone/>
              <a:defRPr/>
            </a:pPr>
            <a:r>
              <a:rPr lang="en-US" altLang="zh-CN" kern="100" dirty="0">
                <a:latin typeface="Times New Roman"/>
                <a:cs typeface="Times New Roman"/>
              </a:rPr>
              <a:t>}</a:t>
            </a:r>
            <a:endParaRPr lang="zh-CN" altLang="zh-CN" kern="100" dirty="0">
              <a:latin typeface="Times New Roman"/>
              <a:cs typeface="Times New Roman"/>
            </a:endParaRPr>
          </a:p>
        </p:txBody>
      </p:sp>
    </p:spTree>
    <p:extLst>
      <p:ext uri="{BB962C8B-B14F-4D97-AF65-F5344CB8AC3E}">
        <p14:creationId xmlns:p14="http://schemas.microsoft.com/office/powerpoint/2010/main" val="354274566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extLst>
              <p:ext uri="{D42A27DB-BD31-4B8C-83A1-F6EECF244321}">
                <p14:modId xmlns:p14="http://schemas.microsoft.com/office/powerpoint/2010/main" val="3737899799"/>
              </p:ext>
            </p:extLst>
          </p:nvPr>
        </p:nvGraphicFramePr>
        <p:xfrm>
          <a:off x="285751" y="-20241"/>
          <a:ext cx="8429625" cy="4995863"/>
        </p:xfrm>
        <a:graphic>
          <a:graphicData uri="http://schemas.openxmlformats.org/drawingml/2006/table">
            <a:tbl>
              <a:tblPr/>
              <a:tblGrid>
                <a:gridCol w="8429625">
                  <a:extLst>
                    <a:ext uri="{9D8B030D-6E8A-4147-A177-3AD203B41FA5}">
                      <a16:colId xmlns:a16="http://schemas.microsoft.com/office/drawing/2014/main" val="20000"/>
                    </a:ext>
                  </a:extLst>
                </a:gridCol>
              </a:tblGrid>
              <a:tr h="4995863">
                <a:tc>
                  <a:txBody>
                    <a:bodyPr/>
                    <a:lstStyle/>
                    <a:p>
                      <a:pPr algn="just">
                        <a:lnSpc>
                          <a:spcPct val="100000"/>
                        </a:lnSpc>
                        <a:spcAft>
                          <a:spcPts val="0"/>
                        </a:spcAft>
                      </a:pPr>
                      <a:r>
                        <a:rPr lang="en-US" sz="1400" kern="100" dirty="0" err="1">
                          <a:latin typeface="Times New Roman"/>
                          <a:ea typeface="宋体"/>
                          <a:cs typeface="Times New Roman"/>
                        </a:rPr>
                        <a:t>int</a:t>
                      </a:r>
                      <a:r>
                        <a:rPr lang="en-US" sz="1400" kern="100" dirty="0">
                          <a:latin typeface="Times New Roman"/>
                          <a:ea typeface="宋体"/>
                          <a:cs typeface="Times New Roman"/>
                        </a:rPr>
                        <a:t> *</a:t>
                      </a:r>
                      <a:r>
                        <a:rPr lang="en-US" sz="1400" kern="100" dirty="0">
                          <a:solidFill>
                            <a:srgbClr val="0000FF"/>
                          </a:solidFill>
                          <a:latin typeface="Times New Roman"/>
                          <a:ea typeface="宋体"/>
                          <a:cs typeface="Times New Roman"/>
                        </a:rPr>
                        <a:t>ifs</a:t>
                      </a:r>
                      <a:r>
                        <a:rPr lang="en-US" sz="1400" kern="100" dirty="0">
                          <a:latin typeface="Times New Roman"/>
                          <a:ea typeface="宋体"/>
                          <a:cs typeface="Times New Roman"/>
                        </a:rPr>
                        <a:t>( )  {     /*</a:t>
                      </a:r>
                      <a:r>
                        <a:rPr lang="zh-CN" altLang="en-US" sz="1400" kern="100" dirty="0">
                          <a:latin typeface="Times New Roman"/>
                          <a:ea typeface="宋体"/>
                          <a:cs typeface="Times New Roman"/>
                        </a:rPr>
                        <a:t>添加了语义处理子语句的</a:t>
                      </a:r>
                      <a:r>
                        <a:rPr lang="en-US" altLang="zh-CN" sz="1400" kern="100" dirty="0">
                          <a:latin typeface="Times New Roman"/>
                          <a:ea typeface="宋体"/>
                          <a:cs typeface="Times New Roman"/>
                        </a:rPr>
                        <a:t>if</a:t>
                      </a:r>
                      <a:r>
                        <a:rPr lang="zh-CN" altLang="en-US" sz="1400" kern="100" dirty="0">
                          <a:latin typeface="Times New Roman"/>
                          <a:ea typeface="宋体"/>
                          <a:cs typeface="Times New Roman"/>
                        </a:rPr>
                        <a:t>语句</a:t>
                      </a:r>
                      <a:r>
                        <a:rPr lang="en-US" sz="1400" kern="100" dirty="0">
                          <a:latin typeface="Times New Roman"/>
                          <a:ea typeface="宋体"/>
                          <a:cs typeface="Times New Roman"/>
                        </a:rPr>
                        <a:t>*/</a:t>
                      </a:r>
                      <a:endParaRPr lang="zh-CN" sz="1400" kern="100" dirty="0">
                        <a:latin typeface="Times New Roman"/>
                        <a:ea typeface="宋体"/>
                        <a:cs typeface="Times New Roman"/>
                      </a:endParaRPr>
                    </a:p>
                    <a:p>
                      <a:pPr indent="228600" algn="just">
                        <a:lnSpc>
                          <a:spcPct val="100000"/>
                        </a:lnSpc>
                        <a:spcAft>
                          <a:spcPts val="0"/>
                        </a:spcAft>
                      </a:pPr>
                      <a:r>
                        <a:rPr lang="en-US" sz="1400" kern="100" dirty="0">
                          <a:latin typeface="Times New Roman"/>
                          <a:ea typeface="宋体"/>
                          <a:cs typeface="Times New Roman"/>
                        </a:rPr>
                        <a:t>token = </a:t>
                      </a:r>
                      <a:r>
                        <a:rPr lang="en-US" sz="1400" kern="100" dirty="0" err="1">
                          <a:latin typeface="Times New Roman"/>
                          <a:ea typeface="宋体"/>
                          <a:cs typeface="Times New Roman"/>
                        </a:rPr>
                        <a:t>GetNextToken</a:t>
                      </a:r>
                      <a:r>
                        <a:rPr lang="en-US" sz="1400" kern="100" dirty="0">
                          <a:latin typeface="Times New Roman"/>
                          <a:ea typeface="宋体"/>
                          <a:cs typeface="Times New Roman"/>
                        </a:rPr>
                        <a:t>();  </a:t>
                      </a:r>
                      <a:endParaRPr lang="zh-CN" sz="1400" kern="100" dirty="0">
                        <a:latin typeface="Times New Roman"/>
                        <a:ea typeface="宋体"/>
                        <a:cs typeface="Times New Roman"/>
                      </a:endParaRPr>
                    </a:p>
                    <a:p>
                      <a:pPr indent="228600" algn="just">
                        <a:lnSpc>
                          <a:spcPct val="100000"/>
                        </a:lnSpc>
                        <a:spcAft>
                          <a:spcPts val="0"/>
                        </a:spcAft>
                      </a:pPr>
                      <a:r>
                        <a:rPr lang="en-US" sz="1400" kern="100" dirty="0">
                          <a:latin typeface="Times New Roman"/>
                          <a:ea typeface="宋体"/>
                          <a:cs typeface="Times New Roman"/>
                        </a:rPr>
                        <a:t>if (token </a:t>
                      </a:r>
                      <a:r>
                        <a:rPr lang="zh-CN" sz="1400" kern="100" dirty="0">
                          <a:latin typeface="Times New Roman"/>
                          <a:ea typeface="宋体"/>
                          <a:cs typeface="Times New Roman"/>
                        </a:rPr>
                        <a:t>不是</a:t>
                      </a:r>
                      <a:r>
                        <a:rPr lang="en-US" sz="1400" kern="100" dirty="0">
                          <a:latin typeface="Times New Roman"/>
                          <a:ea typeface="宋体"/>
                          <a:cs typeface="Times New Roman"/>
                        </a:rPr>
                        <a:t>  ''('' ) </a:t>
                      </a:r>
                      <a:r>
                        <a:rPr lang="en-US" sz="1400" kern="100" dirty="0" err="1">
                          <a:latin typeface="Times New Roman"/>
                          <a:ea typeface="宋体"/>
                          <a:cs typeface="Times New Roman"/>
                        </a:rPr>
                        <a:t>SyntaxError</a:t>
                      </a:r>
                      <a:r>
                        <a:rPr lang="en-US" sz="1400" kern="100" dirty="0">
                          <a:latin typeface="Times New Roman"/>
                          <a:ea typeface="宋体"/>
                          <a:cs typeface="Times New Roman"/>
                        </a:rPr>
                        <a:t>();  //</a:t>
                      </a:r>
                      <a:r>
                        <a:rPr lang="zh-CN" sz="1400" kern="100" dirty="0">
                          <a:latin typeface="Times New Roman"/>
                          <a:ea typeface="宋体"/>
                          <a:cs typeface="Times New Roman"/>
                        </a:rPr>
                        <a:t>调用错误处理</a:t>
                      </a:r>
                    </a:p>
                    <a:p>
                      <a:pPr indent="228600" algn="just">
                        <a:lnSpc>
                          <a:spcPct val="100000"/>
                        </a:lnSpc>
                        <a:spcAft>
                          <a:spcPts val="0"/>
                        </a:spcAft>
                      </a:pPr>
                      <a:r>
                        <a:rPr lang="en-US" sz="1400" kern="100" dirty="0">
                          <a:latin typeface="Times New Roman"/>
                          <a:ea typeface="宋体"/>
                          <a:cs typeface="Times New Roman"/>
                        </a:rPr>
                        <a:t>token = </a:t>
                      </a:r>
                      <a:r>
                        <a:rPr lang="en-US" sz="1400" kern="100" dirty="0" err="1">
                          <a:latin typeface="Times New Roman"/>
                          <a:ea typeface="宋体"/>
                          <a:cs typeface="Times New Roman"/>
                        </a:rPr>
                        <a:t>GetNextToken</a:t>
                      </a:r>
                      <a:r>
                        <a:rPr lang="en-US" sz="1400" kern="100" dirty="0">
                          <a:latin typeface="Times New Roman"/>
                          <a:ea typeface="宋体"/>
                          <a:cs typeface="Times New Roman"/>
                        </a:rPr>
                        <a:t>();</a:t>
                      </a:r>
                      <a:endParaRPr lang="zh-CN" sz="1400" kern="100" dirty="0">
                        <a:latin typeface="Times New Roman"/>
                        <a:ea typeface="宋体"/>
                        <a:cs typeface="Times New Roman"/>
                      </a:endParaRPr>
                    </a:p>
                    <a:p>
                      <a:pPr indent="229235" algn="just">
                        <a:lnSpc>
                          <a:spcPct val="100000"/>
                        </a:lnSpc>
                        <a:spcAft>
                          <a:spcPts val="0"/>
                        </a:spcAft>
                      </a:pPr>
                      <a:r>
                        <a:rPr lang="en-US" sz="1400" b="1" u="sng" kern="100" dirty="0">
                          <a:solidFill>
                            <a:srgbClr val="0000FF"/>
                          </a:solidFill>
                          <a:latin typeface="Times New Roman"/>
                          <a:ea typeface="宋体"/>
                          <a:cs typeface="Times New Roman"/>
                        </a:rPr>
                        <a:t>(</a:t>
                      </a:r>
                      <a:r>
                        <a:rPr lang="en-US" sz="1400" b="1" u="sng" kern="100" dirty="0" err="1">
                          <a:solidFill>
                            <a:srgbClr val="0000FF"/>
                          </a:solidFill>
                          <a:latin typeface="Times New Roman"/>
                          <a:ea typeface="宋体"/>
                          <a:cs typeface="Times New Roman"/>
                        </a:rPr>
                        <a:t>e_tc</a:t>
                      </a:r>
                      <a:r>
                        <a:rPr lang="en-US" sz="1400" b="1" u="sng" kern="100" dirty="0">
                          <a:solidFill>
                            <a:srgbClr val="0000FF"/>
                          </a:solidFill>
                          <a:latin typeface="Times New Roman"/>
                          <a:ea typeface="宋体"/>
                          <a:cs typeface="Times New Roman"/>
                        </a:rPr>
                        <a:t>, </a:t>
                      </a:r>
                      <a:r>
                        <a:rPr lang="en-US" sz="1400" b="1" u="sng" kern="100" dirty="0" err="1">
                          <a:solidFill>
                            <a:srgbClr val="0000FF"/>
                          </a:solidFill>
                          <a:latin typeface="Times New Roman"/>
                          <a:ea typeface="宋体"/>
                          <a:cs typeface="Times New Roman"/>
                        </a:rPr>
                        <a:t>e_fc</a:t>
                      </a:r>
                      <a:r>
                        <a:rPr lang="en-US" sz="1400" b="1" u="sng" kern="100" dirty="0">
                          <a:solidFill>
                            <a:srgbClr val="0000FF"/>
                          </a:solidFill>
                          <a:latin typeface="Times New Roman"/>
                          <a:ea typeface="宋体"/>
                          <a:cs typeface="Times New Roman"/>
                        </a:rPr>
                        <a:t>) = </a:t>
                      </a:r>
                      <a:r>
                        <a:rPr lang="en-US" sz="1400" b="1" u="sng" kern="100" dirty="0" err="1">
                          <a:solidFill>
                            <a:srgbClr val="0000FF"/>
                          </a:solidFill>
                          <a:latin typeface="Times New Roman"/>
                          <a:ea typeface="宋体"/>
                          <a:cs typeface="Times New Roman"/>
                        </a:rPr>
                        <a:t>BoolExpressionAnalyzer</a:t>
                      </a:r>
                      <a:r>
                        <a:rPr lang="en-US" sz="1400" b="1" u="sng" kern="100" dirty="0">
                          <a:solidFill>
                            <a:srgbClr val="0000FF"/>
                          </a:solidFill>
                          <a:latin typeface="Times New Roman"/>
                          <a:ea typeface="宋体"/>
                          <a:cs typeface="Times New Roman"/>
                        </a:rPr>
                        <a:t>();</a:t>
                      </a:r>
                      <a:r>
                        <a:rPr lang="en-US" sz="1400" b="1" u="sng" kern="100" dirty="0">
                          <a:solidFill>
                            <a:srgbClr val="FF0000"/>
                          </a:solidFill>
                          <a:latin typeface="Times New Roman"/>
                          <a:ea typeface="宋体"/>
                          <a:cs typeface="Times New Roman"/>
                        </a:rPr>
                        <a:t> </a:t>
                      </a:r>
                      <a:r>
                        <a:rPr lang="en-US" sz="1400" kern="100" dirty="0">
                          <a:solidFill>
                            <a:srgbClr val="FF0000"/>
                          </a:solidFill>
                          <a:latin typeface="Times New Roman"/>
                          <a:ea typeface="宋体"/>
                          <a:cs typeface="Times New Roman"/>
                        </a:rPr>
                        <a:t> </a:t>
                      </a:r>
                      <a:r>
                        <a:rPr lang="en-US" sz="1400" kern="100" dirty="0">
                          <a:latin typeface="Times New Roman"/>
                          <a:ea typeface="宋体"/>
                          <a:cs typeface="Times New Roman"/>
                        </a:rPr>
                        <a:t>//</a:t>
                      </a:r>
                      <a:r>
                        <a:rPr lang="zh-CN" sz="1400" kern="100" dirty="0">
                          <a:latin typeface="Times New Roman"/>
                          <a:ea typeface="宋体"/>
                          <a:cs typeface="Times New Roman"/>
                        </a:rPr>
                        <a:t>调用分析表达式的函数，返回真假出口</a:t>
                      </a:r>
                      <a:r>
                        <a:rPr lang="en-US" sz="1400" kern="100" dirty="0">
                          <a:latin typeface="Times New Roman"/>
                          <a:ea typeface="宋体"/>
                          <a:cs typeface="Times New Roman"/>
                        </a:rPr>
                        <a:t>*/</a:t>
                      </a:r>
                      <a:endParaRPr lang="zh-CN" sz="1400" kern="100" dirty="0">
                        <a:latin typeface="Times New Roman"/>
                        <a:ea typeface="宋体"/>
                        <a:cs typeface="Times New Roman"/>
                      </a:endParaRPr>
                    </a:p>
                    <a:p>
                      <a:pPr indent="228600" algn="just">
                        <a:lnSpc>
                          <a:spcPct val="100000"/>
                        </a:lnSpc>
                        <a:spcAft>
                          <a:spcPts val="0"/>
                        </a:spcAft>
                      </a:pPr>
                      <a:r>
                        <a:rPr lang="en-US" sz="1400" kern="100" dirty="0">
                          <a:latin typeface="Times New Roman"/>
                          <a:ea typeface="宋体"/>
                          <a:cs typeface="Times New Roman"/>
                        </a:rPr>
                        <a:t>token = </a:t>
                      </a:r>
                      <a:r>
                        <a:rPr lang="en-US" sz="1400" kern="100" dirty="0" err="1">
                          <a:latin typeface="Times New Roman"/>
                          <a:ea typeface="宋体"/>
                          <a:cs typeface="Times New Roman"/>
                        </a:rPr>
                        <a:t>GetNextToken</a:t>
                      </a:r>
                      <a:r>
                        <a:rPr lang="en-US" sz="1400" kern="100" dirty="0">
                          <a:latin typeface="Times New Roman"/>
                          <a:ea typeface="宋体"/>
                          <a:cs typeface="Times New Roman"/>
                        </a:rPr>
                        <a:t>();</a:t>
                      </a:r>
                      <a:endParaRPr lang="zh-CN" sz="1400" kern="100" dirty="0">
                        <a:latin typeface="Times New Roman"/>
                        <a:ea typeface="宋体"/>
                        <a:cs typeface="Times New Roman"/>
                      </a:endParaRPr>
                    </a:p>
                    <a:p>
                      <a:pPr indent="228600" algn="just">
                        <a:lnSpc>
                          <a:spcPct val="100000"/>
                        </a:lnSpc>
                        <a:spcAft>
                          <a:spcPts val="0"/>
                        </a:spcAft>
                      </a:pPr>
                      <a:r>
                        <a:rPr lang="en-US" sz="1400" kern="100" dirty="0">
                          <a:latin typeface="Times New Roman"/>
                          <a:ea typeface="宋体"/>
                          <a:cs typeface="Times New Roman"/>
                        </a:rPr>
                        <a:t>if (token </a:t>
                      </a:r>
                      <a:r>
                        <a:rPr lang="zh-CN" sz="1400" kern="100" dirty="0">
                          <a:latin typeface="Times New Roman"/>
                          <a:ea typeface="宋体"/>
                          <a:cs typeface="Times New Roman"/>
                        </a:rPr>
                        <a:t>不是</a:t>
                      </a:r>
                      <a:r>
                        <a:rPr lang="en-US" sz="1400" kern="100" dirty="0">
                          <a:latin typeface="Times New Roman"/>
                          <a:ea typeface="宋体"/>
                          <a:cs typeface="Times New Roman"/>
                        </a:rPr>
                        <a:t>  '')'' ) </a:t>
                      </a:r>
                      <a:r>
                        <a:rPr lang="en-US" sz="1400" kern="100" dirty="0" err="1">
                          <a:latin typeface="Times New Roman"/>
                          <a:ea typeface="宋体"/>
                          <a:cs typeface="Times New Roman"/>
                        </a:rPr>
                        <a:t>SyntaxError</a:t>
                      </a:r>
                      <a:r>
                        <a:rPr lang="en-US" sz="1400" kern="100" dirty="0">
                          <a:latin typeface="Times New Roman"/>
                          <a:ea typeface="宋体"/>
                          <a:cs typeface="Times New Roman"/>
                        </a:rPr>
                        <a:t>();  //</a:t>
                      </a:r>
                      <a:r>
                        <a:rPr lang="zh-CN" sz="1400" kern="100" dirty="0">
                          <a:latin typeface="Times New Roman"/>
                          <a:ea typeface="宋体"/>
                          <a:cs typeface="Times New Roman"/>
                        </a:rPr>
                        <a:t>调用错误处理</a:t>
                      </a:r>
                    </a:p>
                    <a:p>
                      <a:pPr indent="229235" algn="just">
                        <a:lnSpc>
                          <a:spcPct val="100000"/>
                        </a:lnSpc>
                        <a:spcAft>
                          <a:spcPts val="0"/>
                        </a:spcAft>
                      </a:pPr>
                      <a:r>
                        <a:rPr lang="en-US" sz="1400" b="1" u="sng" kern="100" dirty="0" err="1">
                          <a:solidFill>
                            <a:srgbClr val="FF0000"/>
                          </a:solidFill>
                          <a:latin typeface="Times New Roman"/>
                          <a:ea typeface="宋体"/>
                          <a:cs typeface="Times New Roman"/>
                        </a:rPr>
                        <a:t>backpatch</a:t>
                      </a:r>
                      <a:r>
                        <a:rPr lang="en-US" sz="1400" b="1" u="sng" kern="100" dirty="0">
                          <a:solidFill>
                            <a:srgbClr val="FF0000"/>
                          </a:solidFill>
                          <a:latin typeface="Times New Roman"/>
                          <a:ea typeface="宋体"/>
                          <a:cs typeface="Times New Roman"/>
                        </a:rPr>
                        <a:t>(e.tc, NXQ);</a:t>
                      </a:r>
                      <a:r>
                        <a:rPr lang="en-US" sz="1400" b="1" kern="100" dirty="0">
                          <a:solidFill>
                            <a:srgbClr val="FF0000"/>
                          </a:solidFill>
                          <a:latin typeface="Times New Roman"/>
                          <a:ea typeface="宋体"/>
                          <a:cs typeface="Times New Roman"/>
                        </a:rPr>
                        <a:t> </a:t>
                      </a:r>
                      <a:r>
                        <a:rPr lang="en-US" sz="1400" kern="100" dirty="0">
                          <a:solidFill>
                            <a:srgbClr val="FF0000"/>
                          </a:solidFill>
                          <a:latin typeface="Times New Roman"/>
                          <a:ea typeface="宋体"/>
                          <a:cs typeface="Times New Roman"/>
                        </a:rPr>
                        <a:t>   </a:t>
                      </a:r>
                      <a:r>
                        <a:rPr lang="en-US" sz="1400" kern="100" dirty="0">
                          <a:latin typeface="Times New Roman"/>
                          <a:ea typeface="宋体"/>
                          <a:cs typeface="Times New Roman"/>
                        </a:rPr>
                        <a:t>   /*</a:t>
                      </a:r>
                      <a:r>
                        <a:rPr lang="zh-CN" sz="1400" kern="100" dirty="0">
                          <a:latin typeface="Times New Roman"/>
                          <a:ea typeface="宋体"/>
                          <a:cs typeface="Times New Roman"/>
                        </a:rPr>
                        <a:t>回填布尔表达式的真出口</a:t>
                      </a:r>
                      <a:r>
                        <a:rPr lang="en-US" sz="1400" kern="100" dirty="0">
                          <a:latin typeface="Times New Roman"/>
                          <a:ea typeface="宋体"/>
                          <a:cs typeface="Times New Roman"/>
                        </a:rPr>
                        <a:t>e.tc*/</a:t>
                      </a:r>
                      <a:endParaRPr lang="zh-CN" sz="1400" kern="100" dirty="0">
                        <a:latin typeface="Times New Roman"/>
                        <a:ea typeface="宋体"/>
                        <a:cs typeface="Times New Roman"/>
                      </a:endParaRPr>
                    </a:p>
                    <a:p>
                      <a:pPr indent="229235" algn="just">
                        <a:lnSpc>
                          <a:spcPct val="100000"/>
                        </a:lnSpc>
                        <a:spcAft>
                          <a:spcPts val="0"/>
                        </a:spcAft>
                      </a:pPr>
                      <a:r>
                        <a:rPr lang="en-US" sz="1400" b="1" u="sng" kern="100" dirty="0">
                          <a:solidFill>
                            <a:srgbClr val="FF0000"/>
                          </a:solidFill>
                          <a:latin typeface="Times New Roman"/>
                          <a:ea typeface="宋体"/>
                          <a:cs typeface="Times New Roman"/>
                        </a:rPr>
                        <a:t>s1.chain</a:t>
                      </a:r>
                      <a:r>
                        <a:rPr lang="en-US" sz="1400" b="1" u="sng" kern="100" dirty="0">
                          <a:latin typeface="Times New Roman"/>
                          <a:ea typeface="宋体"/>
                          <a:cs typeface="Times New Roman"/>
                        </a:rPr>
                        <a:t> = </a:t>
                      </a:r>
                      <a:r>
                        <a:rPr lang="en-US" sz="1400" b="1" u="sng" kern="100" dirty="0" err="1">
                          <a:solidFill>
                            <a:srgbClr val="0000FF"/>
                          </a:solidFill>
                          <a:latin typeface="Times New Roman"/>
                          <a:ea typeface="宋体"/>
                          <a:cs typeface="Times New Roman"/>
                        </a:rPr>
                        <a:t>CompoundSentenceAnalyzer</a:t>
                      </a:r>
                      <a:r>
                        <a:rPr lang="en-US" sz="1400" b="1" u="sng" kern="100" dirty="0">
                          <a:solidFill>
                            <a:srgbClr val="0000FF"/>
                          </a:solidFill>
                          <a:latin typeface="Times New Roman"/>
                          <a:ea typeface="宋体"/>
                          <a:cs typeface="Times New Roman"/>
                        </a:rPr>
                        <a:t>()</a:t>
                      </a:r>
                      <a:r>
                        <a:rPr lang="en-US" sz="1400" b="1" u="sng" kern="100" dirty="0">
                          <a:latin typeface="Times New Roman"/>
                          <a:ea typeface="宋体"/>
                          <a:cs typeface="Times New Roman"/>
                        </a:rPr>
                        <a:t>;</a:t>
                      </a:r>
                      <a:r>
                        <a:rPr lang="en-US" sz="1400" kern="100" dirty="0">
                          <a:latin typeface="Times New Roman"/>
                          <a:ea typeface="宋体"/>
                          <a:cs typeface="Times New Roman"/>
                        </a:rPr>
                        <a:t>//</a:t>
                      </a:r>
                      <a:r>
                        <a:rPr lang="zh-CN" sz="1400" kern="100" dirty="0">
                          <a:latin typeface="Times New Roman"/>
                          <a:ea typeface="宋体"/>
                          <a:cs typeface="Times New Roman"/>
                        </a:rPr>
                        <a:t>处理复合语句，返回待填链首</a:t>
                      </a:r>
                    </a:p>
                    <a:p>
                      <a:pPr indent="228600" algn="just">
                        <a:lnSpc>
                          <a:spcPct val="100000"/>
                        </a:lnSpc>
                        <a:spcAft>
                          <a:spcPts val="0"/>
                        </a:spcAft>
                      </a:pPr>
                      <a:r>
                        <a:rPr lang="en-US" sz="1400" kern="100" dirty="0">
                          <a:latin typeface="Times New Roman"/>
                          <a:ea typeface="宋体"/>
                          <a:cs typeface="Times New Roman"/>
                        </a:rPr>
                        <a:t>token = </a:t>
                      </a:r>
                      <a:r>
                        <a:rPr lang="en-US" sz="1400" kern="100" dirty="0" err="1">
                          <a:latin typeface="Times New Roman"/>
                          <a:ea typeface="宋体"/>
                          <a:cs typeface="Times New Roman"/>
                        </a:rPr>
                        <a:t>GetNextToken</a:t>
                      </a:r>
                      <a:r>
                        <a:rPr lang="en-US" sz="1400" kern="100" dirty="0">
                          <a:latin typeface="Times New Roman"/>
                          <a:ea typeface="宋体"/>
                          <a:cs typeface="Times New Roman"/>
                        </a:rPr>
                        <a:t>();</a:t>
                      </a:r>
                      <a:endParaRPr lang="zh-CN" sz="1400" kern="100" dirty="0">
                        <a:latin typeface="Times New Roman"/>
                        <a:ea typeface="宋体"/>
                        <a:cs typeface="Times New Roman"/>
                      </a:endParaRPr>
                    </a:p>
                    <a:p>
                      <a:pPr indent="228600" algn="just">
                        <a:lnSpc>
                          <a:spcPct val="100000"/>
                        </a:lnSpc>
                        <a:spcAft>
                          <a:spcPts val="0"/>
                        </a:spcAft>
                      </a:pPr>
                      <a:r>
                        <a:rPr lang="en-US" sz="1400" kern="100" dirty="0">
                          <a:latin typeface="Times New Roman"/>
                          <a:ea typeface="宋体"/>
                          <a:cs typeface="Times New Roman"/>
                        </a:rPr>
                        <a:t>if(token </a:t>
                      </a:r>
                      <a:r>
                        <a:rPr lang="zh-CN" sz="1400" kern="100" dirty="0">
                          <a:latin typeface="Times New Roman"/>
                          <a:ea typeface="宋体"/>
                          <a:cs typeface="Times New Roman"/>
                        </a:rPr>
                        <a:t>是</a:t>
                      </a:r>
                      <a:r>
                        <a:rPr lang="en-US" sz="1400" kern="100" dirty="0">
                          <a:latin typeface="Times New Roman"/>
                          <a:ea typeface="宋体"/>
                          <a:cs typeface="Times New Roman"/>
                        </a:rPr>
                        <a:t> "else") {  /* </a:t>
                      </a:r>
                      <a:r>
                        <a:rPr lang="zh-CN" sz="1400" kern="100" dirty="0">
                          <a:latin typeface="Times New Roman"/>
                          <a:ea typeface="宋体"/>
                          <a:cs typeface="Times New Roman"/>
                        </a:rPr>
                        <a:t>带有</a:t>
                      </a:r>
                      <a:r>
                        <a:rPr lang="en-US" sz="1400" kern="100" dirty="0">
                          <a:latin typeface="Times New Roman"/>
                          <a:ea typeface="宋体"/>
                          <a:cs typeface="Times New Roman"/>
                        </a:rPr>
                        <a:t>else</a:t>
                      </a:r>
                      <a:r>
                        <a:rPr lang="zh-CN" sz="1400" kern="100" dirty="0">
                          <a:latin typeface="Times New Roman"/>
                          <a:ea typeface="宋体"/>
                          <a:cs typeface="Times New Roman"/>
                        </a:rPr>
                        <a:t>部分时处理</a:t>
                      </a:r>
                      <a:r>
                        <a:rPr lang="en-US" sz="1400" kern="100" dirty="0">
                          <a:latin typeface="Times New Roman"/>
                          <a:ea typeface="宋体"/>
                          <a:cs typeface="Times New Roman"/>
                        </a:rPr>
                        <a:t>else</a:t>
                      </a:r>
                      <a:r>
                        <a:rPr lang="zh-CN" sz="1400" kern="100" dirty="0">
                          <a:latin typeface="Times New Roman"/>
                          <a:ea typeface="宋体"/>
                          <a:cs typeface="Times New Roman"/>
                        </a:rPr>
                        <a:t>部分</a:t>
                      </a:r>
                      <a:r>
                        <a:rPr lang="en-US" sz="1400" kern="100" dirty="0">
                          <a:latin typeface="Times New Roman"/>
                          <a:ea typeface="宋体"/>
                          <a:cs typeface="Times New Roman"/>
                        </a:rPr>
                        <a:t>*/</a:t>
                      </a:r>
                    </a:p>
                    <a:p>
                      <a:pPr indent="228600" algn="just">
                        <a:lnSpc>
                          <a:spcPct val="100000"/>
                        </a:lnSpc>
                        <a:spcAft>
                          <a:spcPts val="0"/>
                        </a:spcAft>
                      </a:pPr>
                      <a:r>
                        <a:rPr lang="en-US" sz="1400" b="1" u="none" kern="100" baseline="0" dirty="0">
                          <a:solidFill>
                            <a:srgbClr val="FF0000"/>
                          </a:solidFill>
                          <a:latin typeface="Times New Roman"/>
                          <a:ea typeface="宋体"/>
                          <a:cs typeface="Times New Roman"/>
                        </a:rPr>
                        <a:t>   </a:t>
                      </a:r>
                      <a:r>
                        <a:rPr lang="en-US" sz="1400" b="1" u="sng" kern="100" dirty="0">
                          <a:solidFill>
                            <a:srgbClr val="FF0000"/>
                          </a:solidFill>
                          <a:latin typeface="Times New Roman"/>
                          <a:ea typeface="宋体"/>
                          <a:cs typeface="Times New Roman"/>
                        </a:rPr>
                        <a:t>q = NXQ;</a:t>
                      </a:r>
                      <a:endParaRPr lang="zh-CN" sz="1400" kern="100" dirty="0">
                        <a:solidFill>
                          <a:srgbClr val="FF0000"/>
                        </a:solidFill>
                        <a:latin typeface="Times New Roman"/>
                        <a:ea typeface="宋体"/>
                        <a:cs typeface="Times New Roman"/>
                      </a:endParaRPr>
                    </a:p>
                    <a:p>
                      <a:pPr algn="just">
                        <a:lnSpc>
                          <a:spcPct val="100000"/>
                        </a:lnSpc>
                        <a:spcAft>
                          <a:spcPts val="0"/>
                        </a:spcAft>
                      </a:pPr>
                      <a:r>
                        <a:rPr lang="en-US" sz="1400" kern="100" dirty="0">
                          <a:solidFill>
                            <a:srgbClr val="FF0000"/>
                          </a:solidFill>
                          <a:latin typeface="Times New Roman"/>
                          <a:ea typeface="宋体"/>
                          <a:cs typeface="Times New Roman"/>
                        </a:rPr>
                        <a:t>        </a:t>
                      </a:r>
                      <a:r>
                        <a:rPr lang="en-US" sz="1400" b="1" u="sng" kern="100" dirty="0" err="1">
                          <a:solidFill>
                            <a:srgbClr val="FF0000"/>
                          </a:solidFill>
                          <a:latin typeface="Times New Roman"/>
                          <a:ea typeface="宋体"/>
                          <a:cs typeface="Times New Roman"/>
                        </a:rPr>
                        <a:t>gencode</a:t>
                      </a:r>
                      <a:r>
                        <a:rPr lang="en-US" sz="1400" b="1" u="sng" kern="100" dirty="0">
                          <a:solidFill>
                            <a:srgbClr val="FF0000"/>
                          </a:solidFill>
                          <a:latin typeface="Times New Roman"/>
                          <a:ea typeface="宋体"/>
                          <a:cs typeface="Times New Roman"/>
                        </a:rPr>
                        <a:t>(j,   ,   , 0); </a:t>
                      </a:r>
                      <a:r>
                        <a:rPr lang="en-US" sz="1400" kern="100" dirty="0">
                          <a:solidFill>
                            <a:srgbClr val="FF0000"/>
                          </a:solidFill>
                          <a:latin typeface="Times New Roman"/>
                          <a:ea typeface="宋体"/>
                          <a:cs typeface="Times New Roman"/>
                        </a:rPr>
                        <a:t>    /* </a:t>
                      </a:r>
                      <a:r>
                        <a:rPr lang="zh-CN" sz="1400" kern="100" dirty="0">
                          <a:solidFill>
                            <a:srgbClr val="FF0000"/>
                          </a:solidFill>
                          <a:latin typeface="Times New Roman"/>
                          <a:ea typeface="宋体"/>
                          <a:cs typeface="Times New Roman"/>
                        </a:rPr>
                        <a:t>跳过</a:t>
                      </a:r>
                      <a:r>
                        <a:rPr lang="en-US" sz="1400" kern="100" dirty="0">
                          <a:solidFill>
                            <a:srgbClr val="FF0000"/>
                          </a:solidFill>
                          <a:latin typeface="Times New Roman"/>
                          <a:ea typeface="宋体"/>
                          <a:cs typeface="Times New Roman"/>
                        </a:rPr>
                        <a:t>S2*/</a:t>
                      </a:r>
                      <a:endParaRPr lang="zh-CN" sz="1400" kern="100" dirty="0">
                        <a:solidFill>
                          <a:srgbClr val="FF0000"/>
                        </a:solidFill>
                        <a:latin typeface="Times New Roman"/>
                        <a:ea typeface="宋体"/>
                        <a:cs typeface="Times New Roman"/>
                      </a:endParaRPr>
                    </a:p>
                    <a:p>
                      <a:pPr algn="just">
                        <a:lnSpc>
                          <a:spcPct val="100000"/>
                        </a:lnSpc>
                        <a:spcAft>
                          <a:spcPts val="0"/>
                        </a:spcAft>
                      </a:pPr>
                      <a:r>
                        <a:rPr lang="en-US" sz="1400" kern="100" dirty="0">
                          <a:solidFill>
                            <a:srgbClr val="FF0000"/>
                          </a:solidFill>
                          <a:latin typeface="Times New Roman"/>
                          <a:ea typeface="宋体"/>
                          <a:cs typeface="Times New Roman"/>
                        </a:rPr>
                        <a:t>        </a:t>
                      </a:r>
                      <a:r>
                        <a:rPr lang="en-US" sz="1400" b="1" u="sng" kern="100" dirty="0" err="1">
                          <a:solidFill>
                            <a:srgbClr val="FF0000"/>
                          </a:solidFill>
                          <a:latin typeface="Times New Roman"/>
                          <a:ea typeface="宋体"/>
                          <a:cs typeface="Times New Roman"/>
                        </a:rPr>
                        <a:t>backpatch</a:t>
                      </a:r>
                      <a:r>
                        <a:rPr lang="en-US" sz="1400" b="1" u="sng" kern="100" dirty="0">
                          <a:solidFill>
                            <a:srgbClr val="FF0000"/>
                          </a:solidFill>
                          <a:latin typeface="Times New Roman"/>
                          <a:ea typeface="宋体"/>
                          <a:cs typeface="Times New Roman"/>
                        </a:rPr>
                        <a:t>(</a:t>
                      </a:r>
                      <a:r>
                        <a:rPr lang="en-US" sz="1400" b="1" u="sng" kern="100" dirty="0" err="1">
                          <a:solidFill>
                            <a:srgbClr val="FF0000"/>
                          </a:solidFill>
                          <a:latin typeface="Times New Roman"/>
                          <a:ea typeface="宋体"/>
                          <a:cs typeface="Times New Roman"/>
                        </a:rPr>
                        <a:t>e.fc</a:t>
                      </a:r>
                      <a:r>
                        <a:rPr lang="en-US" sz="1400" b="1" u="sng" kern="100" dirty="0">
                          <a:solidFill>
                            <a:srgbClr val="FF0000"/>
                          </a:solidFill>
                          <a:latin typeface="Times New Roman"/>
                          <a:ea typeface="宋体"/>
                          <a:cs typeface="Times New Roman"/>
                        </a:rPr>
                        <a:t>, NXQ);</a:t>
                      </a:r>
                      <a:r>
                        <a:rPr lang="en-US" sz="1400" u="sng" kern="100" dirty="0">
                          <a:solidFill>
                            <a:srgbClr val="FF0000"/>
                          </a:solidFill>
                          <a:latin typeface="Times New Roman"/>
                          <a:ea typeface="宋体"/>
                          <a:cs typeface="Times New Roman"/>
                        </a:rPr>
                        <a:t> </a:t>
                      </a:r>
                      <a:r>
                        <a:rPr lang="en-US" sz="1400" kern="100" dirty="0">
                          <a:solidFill>
                            <a:srgbClr val="FF0000"/>
                          </a:solidFill>
                          <a:latin typeface="Times New Roman"/>
                          <a:ea typeface="宋体"/>
                          <a:cs typeface="Times New Roman"/>
                        </a:rPr>
                        <a:t>    /*</a:t>
                      </a:r>
                      <a:r>
                        <a:rPr lang="zh-CN" sz="1400" kern="100" dirty="0">
                          <a:solidFill>
                            <a:srgbClr val="FF0000"/>
                          </a:solidFill>
                          <a:latin typeface="Times New Roman"/>
                          <a:ea typeface="宋体"/>
                          <a:cs typeface="Times New Roman"/>
                        </a:rPr>
                        <a:t>回填布尔表达式的假出口</a:t>
                      </a:r>
                      <a:r>
                        <a:rPr lang="en-US" sz="1400" kern="100" dirty="0" err="1">
                          <a:solidFill>
                            <a:srgbClr val="FF0000"/>
                          </a:solidFill>
                          <a:latin typeface="Times New Roman"/>
                          <a:ea typeface="宋体"/>
                          <a:cs typeface="Times New Roman"/>
                        </a:rPr>
                        <a:t>e.fc</a:t>
                      </a:r>
                      <a:r>
                        <a:rPr lang="en-US" sz="1400" kern="100" dirty="0">
                          <a:solidFill>
                            <a:srgbClr val="FF0000"/>
                          </a:solidFill>
                          <a:latin typeface="Times New Roman"/>
                          <a:ea typeface="宋体"/>
                          <a:cs typeface="Times New Roman"/>
                        </a:rPr>
                        <a:t>*/</a:t>
                      </a:r>
                      <a:endParaRPr lang="zh-CN" sz="1400" kern="100" dirty="0">
                        <a:solidFill>
                          <a:srgbClr val="FF0000"/>
                        </a:solidFill>
                        <a:latin typeface="Times New Roman"/>
                        <a:ea typeface="宋体"/>
                        <a:cs typeface="Times New Roman"/>
                      </a:endParaRPr>
                    </a:p>
                    <a:p>
                      <a:pPr algn="just">
                        <a:lnSpc>
                          <a:spcPct val="100000"/>
                        </a:lnSpc>
                        <a:spcAft>
                          <a:spcPts val="0"/>
                        </a:spcAft>
                      </a:pPr>
                      <a:r>
                        <a:rPr lang="en-US" sz="1400" kern="100" dirty="0">
                          <a:solidFill>
                            <a:srgbClr val="FF0000"/>
                          </a:solidFill>
                          <a:latin typeface="Times New Roman"/>
                          <a:ea typeface="宋体"/>
                          <a:cs typeface="Times New Roman"/>
                        </a:rPr>
                        <a:t>        </a:t>
                      </a:r>
                      <a:r>
                        <a:rPr lang="en-US" sz="1400" b="1" u="sng" kern="100" dirty="0" err="1">
                          <a:solidFill>
                            <a:srgbClr val="FF0000"/>
                          </a:solidFill>
                          <a:latin typeface="Times New Roman"/>
                          <a:ea typeface="宋体"/>
                          <a:cs typeface="Times New Roman"/>
                        </a:rPr>
                        <a:t>t.chain</a:t>
                      </a:r>
                      <a:r>
                        <a:rPr lang="en-US" sz="1400" b="1" u="sng" kern="100" dirty="0">
                          <a:solidFill>
                            <a:srgbClr val="FF0000"/>
                          </a:solidFill>
                          <a:latin typeface="Times New Roman"/>
                          <a:ea typeface="宋体"/>
                          <a:cs typeface="Times New Roman"/>
                        </a:rPr>
                        <a:t> = merge(s1.chain, q</a:t>
                      </a:r>
                      <a:r>
                        <a:rPr lang="en-US" sz="1400" u="sng" kern="100" dirty="0">
                          <a:solidFill>
                            <a:srgbClr val="FF0000"/>
                          </a:solidFill>
                          <a:latin typeface="Times New Roman"/>
                          <a:ea typeface="宋体"/>
                          <a:cs typeface="Times New Roman"/>
                        </a:rPr>
                        <a:t>);</a:t>
                      </a:r>
                      <a:r>
                        <a:rPr lang="en-US" sz="1400" kern="100" dirty="0">
                          <a:solidFill>
                            <a:srgbClr val="FF0000"/>
                          </a:solidFill>
                          <a:latin typeface="Times New Roman"/>
                          <a:ea typeface="宋体"/>
                          <a:cs typeface="Times New Roman"/>
                        </a:rPr>
                        <a:t>       </a:t>
                      </a:r>
                      <a:r>
                        <a:rPr lang="en-US" sz="1400" kern="100" dirty="0">
                          <a:latin typeface="Times New Roman"/>
                          <a:ea typeface="宋体"/>
                          <a:cs typeface="Times New Roman"/>
                        </a:rPr>
                        <a:t>/*</a:t>
                      </a:r>
                      <a:r>
                        <a:rPr lang="zh-CN" sz="1400" kern="100" dirty="0">
                          <a:latin typeface="Times New Roman"/>
                          <a:ea typeface="宋体"/>
                          <a:cs typeface="Times New Roman"/>
                        </a:rPr>
                        <a:t>合并两个链</a:t>
                      </a:r>
                      <a:r>
                        <a:rPr lang="en-US" sz="1400" kern="100" dirty="0">
                          <a:latin typeface="Times New Roman"/>
                          <a:ea typeface="宋体"/>
                          <a:cs typeface="Times New Roman"/>
                        </a:rPr>
                        <a:t>*/</a:t>
                      </a:r>
                      <a:endParaRPr lang="zh-CN" sz="1400" kern="100" dirty="0">
                        <a:latin typeface="Times New Roman"/>
                        <a:ea typeface="宋体"/>
                        <a:cs typeface="Times New Roman"/>
                      </a:endParaRPr>
                    </a:p>
                    <a:p>
                      <a:pPr indent="457200" algn="just">
                        <a:lnSpc>
                          <a:spcPct val="100000"/>
                        </a:lnSpc>
                        <a:spcAft>
                          <a:spcPts val="0"/>
                        </a:spcAft>
                      </a:pPr>
                      <a:r>
                        <a:rPr lang="en-US" sz="1400" kern="100" dirty="0">
                          <a:latin typeface="Times New Roman"/>
                          <a:ea typeface="宋体"/>
                          <a:cs typeface="Times New Roman"/>
                        </a:rPr>
                        <a:t>token = </a:t>
                      </a:r>
                      <a:r>
                        <a:rPr lang="en-US" sz="1400" kern="100" dirty="0" err="1">
                          <a:latin typeface="Times New Roman"/>
                          <a:ea typeface="宋体"/>
                          <a:cs typeface="Times New Roman"/>
                        </a:rPr>
                        <a:t>GetNextToken</a:t>
                      </a:r>
                      <a:r>
                        <a:rPr lang="en-US" sz="1400" kern="100" dirty="0">
                          <a:latin typeface="Times New Roman"/>
                          <a:ea typeface="宋体"/>
                          <a:cs typeface="Times New Roman"/>
                        </a:rPr>
                        <a:t>();</a:t>
                      </a:r>
                      <a:endParaRPr lang="zh-CN" sz="1400" kern="100" dirty="0">
                        <a:latin typeface="Times New Roman"/>
                        <a:ea typeface="宋体"/>
                        <a:cs typeface="Times New Roman"/>
                      </a:endParaRPr>
                    </a:p>
                    <a:p>
                      <a:pPr indent="459105" algn="just">
                        <a:lnSpc>
                          <a:spcPct val="100000"/>
                        </a:lnSpc>
                        <a:spcAft>
                          <a:spcPts val="0"/>
                        </a:spcAft>
                      </a:pPr>
                      <a:r>
                        <a:rPr lang="en-US" sz="1400" b="1" u="sng" kern="100" dirty="0">
                          <a:solidFill>
                            <a:srgbClr val="FF0000"/>
                          </a:solidFill>
                          <a:latin typeface="Times New Roman"/>
                          <a:ea typeface="宋体"/>
                          <a:cs typeface="Times New Roman"/>
                        </a:rPr>
                        <a:t>s2.chain = </a:t>
                      </a:r>
                      <a:r>
                        <a:rPr lang="en-US" sz="1400" b="1" u="sng" kern="100" dirty="0" err="1">
                          <a:solidFill>
                            <a:srgbClr val="0000FF"/>
                          </a:solidFill>
                          <a:latin typeface="Times New Roman"/>
                          <a:ea typeface="宋体"/>
                          <a:cs typeface="Times New Roman"/>
                        </a:rPr>
                        <a:t>CompoundSentenceAnalyzer</a:t>
                      </a:r>
                      <a:r>
                        <a:rPr lang="en-US" sz="1400" b="1" u="sng" kern="100" dirty="0">
                          <a:solidFill>
                            <a:srgbClr val="0000FF"/>
                          </a:solidFill>
                          <a:latin typeface="Times New Roman"/>
                          <a:ea typeface="宋体"/>
                          <a:cs typeface="Times New Roman"/>
                        </a:rPr>
                        <a:t>()</a:t>
                      </a:r>
                      <a:r>
                        <a:rPr lang="en-US" sz="1400" b="1" u="sng" kern="100" dirty="0">
                          <a:solidFill>
                            <a:srgbClr val="FF0000"/>
                          </a:solidFill>
                          <a:latin typeface="Times New Roman"/>
                          <a:ea typeface="宋体"/>
                          <a:cs typeface="Times New Roman"/>
                        </a:rPr>
                        <a:t>;</a:t>
                      </a:r>
                      <a:r>
                        <a:rPr lang="en-US" sz="1400" kern="100" dirty="0">
                          <a:solidFill>
                            <a:srgbClr val="FF0000"/>
                          </a:solidFill>
                          <a:latin typeface="Times New Roman"/>
                          <a:ea typeface="宋体"/>
                          <a:cs typeface="Times New Roman"/>
                        </a:rPr>
                        <a:t>  //</a:t>
                      </a:r>
                      <a:r>
                        <a:rPr lang="zh-CN" sz="1400" kern="100" dirty="0">
                          <a:solidFill>
                            <a:srgbClr val="FF0000"/>
                          </a:solidFill>
                          <a:latin typeface="Times New Roman"/>
                          <a:ea typeface="宋体"/>
                          <a:cs typeface="Times New Roman"/>
                        </a:rPr>
                        <a:t>处理</a:t>
                      </a:r>
                      <a:r>
                        <a:rPr lang="en-US" sz="1400" kern="100" dirty="0">
                          <a:solidFill>
                            <a:srgbClr val="FF0000"/>
                          </a:solidFill>
                          <a:latin typeface="Times New Roman"/>
                          <a:ea typeface="宋体"/>
                          <a:cs typeface="Times New Roman"/>
                        </a:rPr>
                        <a:t>else</a:t>
                      </a:r>
                      <a:r>
                        <a:rPr lang="zh-CN" sz="1400" kern="100" dirty="0">
                          <a:solidFill>
                            <a:srgbClr val="FF0000"/>
                          </a:solidFill>
                          <a:latin typeface="Times New Roman"/>
                          <a:ea typeface="宋体"/>
                          <a:cs typeface="Times New Roman"/>
                        </a:rPr>
                        <a:t>后的复合语句</a:t>
                      </a:r>
                    </a:p>
                    <a:p>
                      <a:pPr indent="459105" algn="just">
                        <a:lnSpc>
                          <a:spcPct val="100000"/>
                        </a:lnSpc>
                        <a:spcAft>
                          <a:spcPts val="0"/>
                        </a:spcAft>
                      </a:pPr>
                      <a:r>
                        <a:rPr lang="en-US" sz="1400" b="1" u="sng" kern="100" dirty="0">
                          <a:solidFill>
                            <a:srgbClr val="FF0000"/>
                          </a:solidFill>
                          <a:latin typeface="Times New Roman"/>
                          <a:ea typeface="宋体"/>
                          <a:cs typeface="Times New Roman"/>
                        </a:rPr>
                        <a:t>return (merge(</a:t>
                      </a:r>
                      <a:r>
                        <a:rPr lang="en-US" sz="1400" b="1" u="sng" kern="100" dirty="0" err="1">
                          <a:solidFill>
                            <a:srgbClr val="FF0000"/>
                          </a:solidFill>
                          <a:latin typeface="Times New Roman"/>
                          <a:ea typeface="宋体"/>
                          <a:cs typeface="Times New Roman"/>
                        </a:rPr>
                        <a:t>t.chain</a:t>
                      </a:r>
                      <a:r>
                        <a:rPr lang="en-US" sz="1400" b="1" u="sng" kern="100" dirty="0">
                          <a:solidFill>
                            <a:srgbClr val="FF0000"/>
                          </a:solidFill>
                          <a:latin typeface="Times New Roman"/>
                          <a:ea typeface="宋体"/>
                          <a:cs typeface="Times New Roman"/>
                        </a:rPr>
                        <a:t>, s2.chain)); </a:t>
                      </a:r>
                      <a:r>
                        <a:rPr lang="en-US" sz="1400" kern="100" dirty="0">
                          <a:solidFill>
                            <a:srgbClr val="FF0000"/>
                          </a:solidFill>
                          <a:latin typeface="Times New Roman"/>
                          <a:ea typeface="宋体"/>
                          <a:cs typeface="Times New Roman"/>
                        </a:rPr>
                        <a:t>   </a:t>
                      </a:r>
                      <a:r>
                        <a:rPr lang="en-US" sz="1400" kern="100" dirty="0">
                          <a:latin typeface="Times New Roman"/>
                          <a:ea typeface="宋体"/>
                          <a:cs typeface="Times New Roman"/>
                        </a:rPr>
                        <a:t>/* </a:t>
                      </a:r>
                      <a:r>
                        <a:rPr lang="zh-CN" sz="1400" kern="100" dirty="0">
                          <a:latin typeface="Times New Roman"/>
                          <a:ea typeface="宋体"/>
                          <a:cs typeface="Times New Roman"/>
                        </a:rPr>
                        <a:t>传递整个语句的链</a:t>
                      </a:r>
                      <a:r>
                        <a:rPr lang="en-US" sz="1400" kern="100" dirty="0">
                          <a:latin typeface="Times New Roman"/>
                          <a:ea typeface="宋体"/>
                          <a:cs typeface="Times New Roman"/>
                        </a:rPr>
                        <a:t>*/</a:t>
                      </a:r>
                      <a:endParaRPr lang="zh-CN" sz="1400" kern="100" dirty="0">
                        <a:latin typeface="Times New Roman"/>
                        <a:ea typeface="宋体"/>
                        <a:cs typeface="Times New Roman"/>
                      </a:endParaRPr>
                    </a:p>
                    <a:p>
                      <a:pPr indent="228600" algn="just">
                        <a:lnSpc>
                          <a:spcPct val="100000"/>
                        </a:lnSpc>
                        <a:spcAft>
                          <a:spcPts val="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p>
                      <a:pPr indent="228600" algn="just">
                        <a:lnSpc>
                          <a:spcPct val="100000"/>
                        </a:lnSpc>
                        <a:spcAft>
                          <a:spcPts val="0"/>
                        </a:spcAft>
                      </a:pPr>
                      <a:r>
                        <a:rPr lang="en-US" sz="1400" kern="100" dirty="0">
                          <a:latin typeface="Times New Roman"/>
                          <a:ea typeface="宋体"/>
                          <a:cs typeface="Times New Roman"/>
                        </a:rPr>
                        <a:t>else if (token </a:t>
                      </a:r>
                      <a:r>
                        <a:rPr lang="zh-CN" sz="1400" kern="100" dirty="0">
                          <a:latin typeface="Times New Roman"/>
                          <a:ea typeface="宋体"/>
                          <a:cs typeface="Times New Roman"/>
                        </a:rPr>
                        <a:t>是 </a:t>
                      </a:r>
                      <a:r>
                        <a:rPr lang="en-US" sz="1400" kern="100" dirty="0">
                          <a:latin typeface="Times New Roman"/>
                          <a:ea typeface="宋体"/>
                          <a:cs typeface="Times New Roman"/>
                        </a:rPr>
                        <a:t>";")      /* </a:t>
                      </a:r>
                      <a:r>
                        <a:rPr lang="zh-CN" sz="1400" kern="100" dirty="0">
                          <a:latin typeface="Times New Roman"/>
                          <a:ea typeface="宋体"/>
                          <a:cs typeface="Times New Roman"/>
                        </a:rPr>
                        <a:t>无</a:t>
                      </a:r>
                      <a:r>
                        <a:rPr lang="en-US" sz="1400" kern="100" dirty="0">
                          <a:latin typeface="Times New Roman"/>
                          <a:ea typeface="宋体"/>
                          <a:cs typeface="Times New Roman"/>
                        </a:rPr>
                        <a:t>else</a:t>
                      </a:r>
                      <a:r>
                        <a:rPr lang="zh-CN" sz="1400" kern="100" dirty="0">
                          <a:latin typeface="Times New Roman"/>
                          <a:ea typeface="宋体"/>
                          <a:cs typeface="Times New Roman"/>
                        </a:rPr>
                        <a:t>的</a:t>
                      </a:r>
                      <a:r>
                        <a:rPr lang="en-US" sz="1400" kern="100" dirty="0">
                          <a:latin typeface="Times New Roman"/>
                          <a:ea typeface="宋体"/>
                          <a:cs typeface="Times New Roman"/>
                        </a:rPr>
                        <a:t>if -- then</a:t>
                      </a:r>
                      <a:r>
                        <a:rPr lang="zh-CN" sz="1400" kern="100" dirty="0">
                          <a:latin typeface="Times New Roman"/>
                          <a:ea typeface="宋体"/>
                          <a:cs typeface="Times New Roman"/>
                        </a:rPr>
                        <a:t>结构</a:t>
                      </a:r>
                      <a:r>
                        <a:rPr lang="en-US" sz="1400" kern="100" dirty="0">
                          <a:latin typeface="Times New Roman"/>
                          <a:ea typeface="宋体"/>
                          <a:cs typeface="Times New Roman"/>
                        </a:rPr>
                        <a:t>*/</a:t>
                      </a:r>
                      <a:endParaRPr lang="zh-CN" sz="1400" kern="100" dirty="0">
                        <a:latin typeface="Times New Roman"/>
                        <a:ea typeface="宋体"/>
                        <a:cs typeface="Times New Roman"/>
                      </a:endParaRPr>
                    </a:p>
                    <a:p>
                      <a:pPr algn="just">
                        <a:lnSpc>
                          <a:spcPct val="100000"/>
                        </a:lnSpc>
                        <a:spcAft>
                          <a:spcPts val="0"/>
                        </a:spcAft>
                      </a:pPr>
                      <a:r>
                        <a:rPr lang="en-US" sz="1400" kern="100" dirty="0">
                          <a:solidFill>
                            <a:srgbClr val="FF0000"/>
                          </a:solidFill>
                          <a:latin typeface="Times New Roman"/>
                          <a:ea typeface="宋体"/>
                          <a:cs typeface="Times New Roman"/>
                        </a:rPr>
                        <a:t>       </a:t>
                      </a:r>
                      <a:r>
                        <a:rPr lang="en-US" sz="1400" b="1" u="sng" kern="100" dirty="0">
                          <a:solidFill>
                            <a:srgbClr val="FF0000"/>
                          </a:solidFill>
                          <a:latin typeface="Times New Roman"/>
                          <a:ea typeface="宋体"/>
                          <a:cs typeface="Times New Roman"/>
                        </a:rPr>
                        <a:t>return(merge(s1.chain, </a:t>
                      </a:r>
                      <a:r>
                        <a:rPr lang="en-US" sz="1400" b="1" u="sng" kern="100" dirty="0" err="1">
                          <a:solidFill>
                            <a:srgbClr val="FF0000"/>
                          </a:solidFill>
                          <a:latin typeface="Times New Roman"/>
                          <a:ea typeface="宋体"/>
                          <a:cs typeface="Times New Roman"/>
                        </a:rPr>
                        <a:t>e.fc</a:t>
                      </a:r>
                      <a:r>
                        <a:rPr lang="en-US" sz="1400" b="1" u="sng" kern="100" dirty="0">
                          <a:solidFill>
                            <a:srgbClr val="FF0000"/>
                          </a:solidFill>
                          <a:latin typeface="Times New Roman"/>
                          <a:ea typeface="宋体"/>
                          <a:cs typeface="Times New Roman"/>
                        </a:rPr>
                        <a:t>)); </a:t>
                      </a:r>
                      <a:r>
                        <a:rPr lang="en-US" sz="1400" kern="100" dirty="0">
                          <a:solidFill>
                            <a:srgbClr val="FF0000"/>
                          </a:solidFill>
                          <a:latin typeface="Times New Roman"/>
                          <a:ea typeface="宋体"/>
                          <a:cs typeface="Times New Roman"/>
                        </a:rPr>
                        <a:t>   </a:t>
                      </a:r>
                      <a:r>
                        <a:rPr lang="en-US" sz="1400" kern="100" dirty="0">
                          <a:latin typeface="Times New Roman"/>
                          <a:ea typeface="宋体"/>
                          <a:cs typeface="Times New Roman"/>
                        </a:rPr>
                        <a:t>/* </a:t>
                      </a:r>
                      <a:r>
                        <a:rPr lang="zh-CN" sz="1400" kern="100" dirty="0">
                          <a:latin typeface="Times New Roman"/>
                          <a:ea typeface="宋体"/>
                          <a:cs typeface="Times New Roman"/>
                        </a:rPr>
                        <a:t>传递整个语句的链</a:t>
                      </a:r>
                      <a:r>
                        <a:rPr lang="en-US" sz="1400" kern="100" dirty="0">
                          <a:latin typeface="Times New Roman"/>
                          <a:ea typeface="宋体"/>
                          <a:cs typeface="Times New Roman"/>
                        </a:rPr>
                        <a:t>*/</a:t>
                      </a:r>
                      <a:endParaRPr lang="zh-CN" sz="1400" kern="100" dirty="0">
                        <a:latin typeface="Times New Roman"/>
                        <a:ea typeface="宋体"/>
                        <a:cs typeface="Times New Roman"/>
                      </a:endParaRPr>
                    </a:p>
                    <a:p>
                      <a:pPr algn="just">
                        <a:lnSpc>
                          <a:spcPct val="100000"/>
                        </a:lnSpc>
                        <a:spcAft>
                          <a:spcPts val="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2311300392"/>
              </p:ext>
            </p:extLst>
          </p:nvPr>
        </p:nvGraphicFramePr>
        <p:xfrm>
          <a:off x="3995936" y="493330"/>
          <a:ext cx="5112568" cy="2663776"/>
        </p:xfrm>
        <a:graphic>
          <a:graphicData uri="http://schemas.openxmlformats.org/drawingml/2006/table">
            <a:tbl>
              <a:tblPr/>
              <a:tblGrid>
                <a:gridCol w="511421">
                  <a:extLst>
                    <a:ext uri="{9D8B030D-6E8A-4147-A177-3AD203B41FA5}">
                      <a16:colId xmlns:a16="http://schemas.microsoft.com/office/drawing/2014/main" val="20000"/>
                    </a:ext>
                  </a:extLst>
                </a:gridCol>
                <a:gridCol w="908737">
                  <a:extLst>
                    <a:ext uri="{9D8B030D-6E8A-4147-A177-3AD203B41FA5}">
                      <a16:colId xmlns:a16="http://schemas.microsoft.com/office/drawing/2014/main" val="20001"/>
                    </a:ext>
                  </a:extLst>
                </a:gridCol>
                <a:gridCol w="3692410">
                  <a:extLst>
                    <a:ext uri="{9D8B030D-6E8A-4147-A177-3AD203B41FA5}">
                      <a16:colId xmlns:a16="http://schemas.microsoft.com/office/drawing/2014/main" val="20002"/>
                    </a:ext>
                  </a:extLst>
                </a:gridCol>
              </a:tblGrid>
              <a:tr h="261938">
                <a:tc>
                  <a:txBody>
                    <a:bodyPr/>
                    <a:lstStyle/>
                    <a:p>
                      <a:pPr algn="l">
                        <a:spcAft>
                          <a:spcPts val="0"/>
                        </a:spcAft>
                      </a:pPr>
                      <a:r>
                        <a:rPr lang="zh-CN" sz="1400" kern="100" dirty="0">
                          <a:latin typeface="Times New Roman"/>
                          <a:ea typeface="宋体"/>
                          <a:cs typeface="Times New Roman"/>
                        </a:rPr>
                        <a:t>编号</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zh-CN" sz="1400" kern="100">
                          <a:latin typeface="Times New Roman"/>
                          <a:ea typeface="宋体"/>
                          <a:cs typeface="Times New Roman"/>
                        </a:rPr>
                        <a:t>产生式</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ctr">
                        <a:spcAft>
                          <a:spcPts val="0"/>
                        </a:spcAft>
                      </a:pPr>
                      <a:r>
                        <a:rPr lang="zh-CN" sz="1400" kern="100">
                          <a:latin typeface="Times New Roman"/>
                          <a:ea typeface="宋体"/>
                          <a:cs typeface="Times New Roman"/>
                        </a:rPr>
                        <a:t>语义规则</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extLst>
                  <a:ext uri="{0D108BD9-81ED-4DB2-BD59-A6C34878D82A}">
                    <a16:rowId xmlns:a16="http://schemas.microsoft.com/office/drawing/2014/main" val="10000"/>
                  </a:ext>
                </a:extLst>
              </a:tr>
              <a:tr h="349870">
                <a:tc>
                  <a:txBody>
                    <a:bodyPr/>
                    <a:lstStyle/>
                    <a:p>
                      <a:pPr algn="l">
                        <a:spcAft>
                          <a:spcPts val="0"/>
                        </a:spcAft>
                      </a:pPr>
                      <a:r>
                        <a:rPr lang="zh-CN" sz="1400" kern="100" dirty="0">
                          <a:latin typeface="Times New Roman"/>
                          <a:ea typeface="宋体"/>
                          <a:cs typeface="Times New Roman"/>
                        </a:rPr>
                        <a:t>（</a:t>
                      </a:r>
                      <a:r>
                        <a:rPr lang="fr-FR" sz="1400" kern="100" dirty="0">
                          <a:latin typeface="Times New Roman"/>
                          <a:ea typeface="宋体"/>
                          <a:cs typeface="Times New Roman"/>
                        </a:rPr>
                        <a:t>1</a:t>
                      </a:r>
                      <a:r>
                        <a:rPr lang="zh-CN" sz="14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fr-FR" sz="1400" kern="100">
                          <a:latin typeface="Times New Roman"/>
                          <a:ea typeface="宋体"/>
                          <a:cs typeface="Times New Roman"/>
                        </a:rPr>
                        <a:t>S</a:t>
                      </a:r>
                      <a:r>
                        <a:rPr lang="en-US" sz="1400" kern="100">
                          <a:latin typeface="Times New Roman"/>
                          <a:ea typeface="宋体"/>
                          <a:cs typeface="Times New Roman"/>
                        </a:rPr>
                        <a:t>→</a:t>
                      </a:r>
                      <a:r>
                        <a:rPr lang="fr-FR" sz="1400" kern="100">
                          <a:latin typeface="Times New Roman"/>
                          <a:ea typeface="宋体"/>
                          <a:cs typeface="Times New Roman"/>
                        </a:rPr>
                        <a:t>C S</a:t>
                      </a:r>
                      <a:r>
                        <a:rPr lang="fr-FR" sz="1400" kern="100" baseline="300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fr-FR" sz="1400" kern="100" dirty="0">
                          <a:latin typeface="Times New Roman"/>
                          <a:ea typeface="宋体"/>
                          <a:cs typeface="Times New Roman"/>
                        </a:rPr>
                        <a:t>{  S.CHAIN =merge(C.CHAIN</a:t>
                      </a:r>
                      <a:r>
                        <a:rPr lang="zh-CN" sz="1400" kern="100" dirty="0">
                          <a:latin typeface="Times New Roman"/>
                          <a:ea typeface="宋体"/>
                          <a:cs typeface="Times New Roman"/>
                        </a:rPr>
                        <a:t>，</a:t>
                      </a:r>
                      <a:r>
                        <a:rPr lang="fr-FR" sz="1400" kern="100" dirty="0">
                          <a:latin typeface="Times New Roman"/>
                          <a:ea typeface="宋体"/>
                          <a:cs typeface="Times New Roman"/>
                        </a:rPr>
                        <a:t>S</a:t>
                      </a:r>
                      <a:r>
                        <a:rPr lang="fr-FR" sz="1400" kern="100" baseline="30000" dirty="0">
                          <a:latin typeface="Times New Roman"/>
                          <a:ea typeface="宋体"/>
                          <a:cs typeface="Times New Roman"/>
                        </a:rPr>
                        <a:t>(1)</a:t>
                      </a:r>
                      <a:r>
                        <a:rPr lang="fr-FR" sz="1400" kern="100" dirty="0">
                          <a:latin typeface="Times New Roman"/>
                          <a:ea typeface="宋体"/>
                          <a:cs typeface="Times New Roman"/>
                        </a:rPr>
                        <a:t>.CHAIN)</a:t>
                      </a:r>
                      <a:r>
                        <a:rPr lang="fr-FR" sz="1400" kern="100" baseline="0" dirty="0">
                          <a:latin typeface="Times New Roman"/>
                          <a:ea typeface="宋体"/>
                          <a:cs typeface="Times New Roman"/>
                        </a:rPr>
                        <a:t> </a:t>
                      </a:r>
                      <a:r>
                        <a:rPr lang="fr-FR"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extLst>
                  <a:ext uri="{0D108BD9-81ED-4DB2-BD59-A6C34878D82A}">
                    <a16:rowId xmlns:a16="http://schemas.microsoft.com/office/drawing/2014/main" val="10001"/>
                  </a:ext>
                </a:extLst>
              </a:tr>
              <a:tr h="576064">
                <a:tc>
                  <a:txBody>
                    <a:bodyPr/>
                    <a:lstStyle/>
                    <a:p>
                      <a:pPr algn="l">
                        <a:spcAft>
                          <a:spcPts val="0"/>
                        </a:spcAft>
                      </a:pPr>
                      <a:r>
                        <a:rPr lang="zh-CN" sz="1400" kern="100" dirty="0">
                          <a:latin typeface="Times New Roman"/>
                          <a:ea typeface="宋体"/>
                          <a:cs typeface="Times New Roman"/>
                        </a:rPr>
                        <a:t>（</a:t>
                      </a:r>
                      <a:r>
                        <a:rPr lang="fr-FR" sz="1400" kern="100" dirty="0">
                          <a:latin typeface="Times New Roman"/>
                          <a:ea typeface="宋体"/>
                          <a:cs typeface="Times New Roman"/>
                        </a:rPr>
                        <a:t>2</a:t>
                      </a:r>
                      <a:r>
                        <a:rPr lang="zh-CN" sz="14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en-US" sz="1400" kern="100" dirty="0" err="1">
                          <a:latin typeface="Times New Roman"/>
                          <a:ea typeface="宋体"/>
                          <a:cs typeface="Times New Roman"/>
                        </a:rPr>
                        <a:t>C→if</a:t>
                      </a:r>
                      <a:r>
                        <a:rPr lang="en-US" sz="1400" kern="100" dirty="0">
                          <a:latin typeface="Times New Roman"/>
                          <a:ea typeface="宋体"/>
                          <a:cs typeface="Times New Roman"/>
                        </a:rPr>
                        <a:t> </a:t>
                      </a:r>
                      <a:r>
                        <a:rPr lang="en-US" altLang="zh-CN" sz="1400" kern="100" dirty="0">
                          <a:latin typeface="Times New Roman"/>
                          <a:ea typeface="宋体"/>
                          <a:cs typeface="Times New Roman"/>
                        </a:rPr>
                        <a:t>(E)</a:t>
                      </a:r>
                      <a:r>
                        <a:rPr lang="en-US" sz="1400" kern="100" dirty="0">
                          <a:latin typeface="Times New Roman"/>
                          <a:ea typeface="宋体"/>
                          <a:cs typeface="Times New Roman"/>
                        </a:rPr>
                        <a:t> </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en-US" sz="1400" kern="100" dirty="0">
                          <a:latin typeface="Times New Roman"/>
                          <a:ea typeface="宋体"/>
                          <a:cs typeface="Times New Roman"/>
                        </a:rPr>
                        <a:t>{  </a:t>
                      </a:r>
                      <a:r>
                        <a:rPr lang="en-US" sz="1400" kern="100" dirty="0" err="1">
                          <a:latin typeface="Times New Roman"/>
                          <a:ea typeface="宋体"/>
                          <a:cs typeface="Times New Roman"/>
                        </a:rPr>
                        <a:t>backpatch</a:t>
                      </a:r>
                      <a:r>
                        <a:rPr lang="en-US" sz="1400" kern="100" dirty="0">
                          <a:latin typeface="Times New Roman"/>
                          <a:ea typeface="宋体"/>
                          <a:cs typeface="Times New Roman"/>
                        </a:rPr>
                        <a:t>(E.TC</a:t>
                      </a:r>
                      <a:r>
                        <a:rPr lang="zh-CN" sz="1400" kern="100" dirty="0">
                          <a:latin typeface="Times New Roman"/>
                          <a:ea typeface="宋体"/>
                          <a:cs typeface="Times New Roman"/>
                        </a:rPr>
                        <a:t>，</a:t>
                      </a:r>
                      <a:r>
                        <a:rPr lang="en-US" sz="1400" kern="100" dirty="0">
                          <a:latin typeface="Times New Roman"/>
                          <a:ea typeface="宋体"/>
                          <a:cs typeface="Times New Roman"/>
                        </a:rPr>
                        <a:t>NXQ);</a:t>
                      </a:r>
                      <a:endParaRPr lang="zh-CN" sz="1400" kern="100" dirty="0">
                        <a:latin typeface="Times New Roman"/>
                        <a:ea typeface="宋体"/>
                        <a:cs typeface="Times New Roman"/>
                      </a:endParaRPr>
                    </a:p>
                    <a:p>
                      <a:pPr indent="171450" algn="just">
                        <a:spcAft>
                          <a:spcPts val="0"/>
                        </a:spcAft>
                      </a:pPr>
                      <a:r>
                        <a:rPr lang="fr-FR" sz="1400" kern="100" dirty="0">
                          <a:latin typeface="Times New Roman"/>
                          <a:ea typeface="宋体"/>
                          <a:cs typeface="Times New Roman"/>
                        </a:rPr>
                        <a:t>C.CHAIN=E.FC          }</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extLst>
                  <a:ext uri="{0D108BD9-81ED-4DB2-BD59-A6C34878D82A}">
                    <a16:rowId xmlns:a16="http://schemas.microsoft.com/office/drawing/2014/main" val="10002"/>
                  </a:ext>
                </a:extLst>
              </a:tr>
              <a:tr h="428153">
                <a:tc>
                  <a:txBody>
                    <a:bodyPr/>
                    <a:lstStyle/>
                    <a:p>
                      <a:pPr algn="l">
                        <a:spcAft>
                          <a:spcPts val="0"/>
                        </a:spcAft>
                      </a:pPr>
                      <a:r>
                        <a:rPr lang="zh-CN" sz="1400" kern="100">
                          <a:latin typeface="Times New Roman"/>
                          <a:ea typeface="宋体"/>
                          <a:cs typeface="Times New Roman"/>
                        </a:rPr>
                        <a:t>（</a:t>
                      </a:r>
                      <a:r>
                        <a:rPr lang="fr-FR" sz="1400" kern="100">
                          <a:latin typeface="Times New Roman"/>
                          <a:ea typeface="宋体"/>
                          <a:cs typeface="Times New Roman"/>
                        </a:rPr>
                        <a:t>3</a:t>
                      </a:r>
                      <a:r>
                        <a:rPr lang="zh-CN" sz="1400" kern="10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fr-FR" sz="1400" kern="100" dirty="0">
                          <a:latin typeface="Times New Roman"/>
                          <a:ea typeface="宋体"/>
                          <a:cs typeface="Times New Roman"/>
                        </a:rPr>
                        <a:t>S</a:t>
                      </a:r>
                      <a:r>
                        <a:rPr lang="en-US" sz="1400" kern="100" dirty="0">
                          <a:latin typeface="Times New Roman"/>
                          <a:ea typeface="宋体"/>
                          <a:cs typeface="Times New Roman"/>
                        </a:rPr>
                        <a:t>→</a:t>
                      </a:r>
                      <a:r>
                        <a:rPr lang="fr-FR" sz="1400" kern="100" dirty="0">
                          <a:latin typeface="Times New Roman"/>
                          <a:ea typeface="宋体"/>
                          <a:cs typeface="Times New Roman"/>
                        </a:rPr>
                        <a:t>T S</a:t>
                      </a:r>
                      <a:r>
                        <a:rPr lang="fr-FR" sz="1400" kern="100" baseline="30000" dirty="0">
                          <a:latin typeface="Times New Roman"/>
                          <a:ea typeface="宋体"/>
                          <a:cs typeface="Times New Roman"/>
                        </a:rPr>
                        <a:t>(2)</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fr-FR" sz="1400" kern="100" dirty="0">
                          <a:latin typeface="Times New Roman"/>
                          <a:ea typeface="宋体"/>
                          <a:cs typeface="Times New Roman"/>
                        </a:rPr>
                        <a:t>{  S.CHAIN=merge(T.CHAIN</a:t>
                      </a:r>
                      <a:r>
                        <a:rPr lang="zh-CN" sz="1400" kern="100" dirty="0">
                          <a:latin typeface="Times New Roman"/>
                          <a:ea typeface="宋体"/>
                          <a:cs typeface="Times New Roman"/>
                        </a:rPr>
                        <a:t>，</a:t>
                      </a:r>
                      <a:r>
                        <a:rPr lang="fr-FR" sz="1400" kern="100" dirty="0">
                          <a:latin typeface="Times New Roman"/>
                          <a:ea typeface="宋体"/>
                          <a:cs typeface="Times New Roman"/>
                        </a:rPr>
                        <a:t>S</a:t>
                      </a:r>
                      <a:r>
                        <a:rPr lang="fr-FR" sz="1400" kern="100" baseline="30000" dirty="0">
                          <a:latin typeface="Times New Roman"/>
                          <a:ea typeface="宋体"/>
                          <a:cs typeface="Times New Roman"/>
                        </a:rPr>
                        <a:t>(2)</a:t>
                      </a:r>
                      <a:r>
                        <a:rPr lang="fr-FR" sz="1400" kern="100" dirty="0">
                          <a:latin typeface="Times New Roman"/>
                          <a:ea typeface="宋体"/>
                          <a:cs typeface="Times New Roman"/>
                        </a:rPr>
                        <a:t>.CHAIN) }</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extLst>
                  <a:ext uri="{0D108BD9-81ED-4DB2-BD59-A6C34878D82A}">
                    <a16:rowId xmlns:a16="http://schemas.microsoft.com/office/drawing/2014/main" val="10003"/>
                  </a:ext>
                </a:extLst>
              </a:tr>
              <a:tr h="1047751">
                <a:tc>
                  <a:txBody>
                    <a:bodyPr/>
                    <a:lstStyle/>
                    <a:p>
                      <a:pPr algn="l">
                        <a:spcAft>
                          <a:spcPts val="0"/>
                        </a:spcAft>
                      </a:pPr>
                      <a:r>
                        <a:rPr lang="zh-CN" sz="1400" kern="100" dirty="0">
                          <a:latin typeface="Times New Roman"/>
                          <a:ea typeface="宋体"/>
                          <a:cs typeface="Times New Roman"/>
                        </a:rPr>
                        <a:t>（</a:t>
                      </a:r>
                      <a:r>
                        <a:rPr lang="fr-FR" sz="1400" kern="100" dirty="0">
                          <a:latin typeface="Times New Roman"/>
                          <a:ea typeface="宋体"/>
                          <a:cs typeface="Times New Roman"/>
                        </a:rPr>
                        <a:t>4</a:t>
                      </a:r>
                      <a:r>
                        <a:rPr lang="zh-CN" sz="1400" kern="100" dirty="0">
                          <a:latin typeface="Times New Roman"/>
                          <a:ea typeface="宋体"/>
                          <a:cs typeface="Times New Roman"/>
                        </a:rPr>
                        <a: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en-US" sz="1400" kern="100" dirty="0">
                          <a:latin typeface="Times New Roman"/>
                          <a:ea typeface="宋体"/>
                          <a:cs typeface="Times New Roman"/>
                        </a:rPr>
                        <a:t>T→C</a:t>
                      </a:r>
                      <a:r>
                        <a:rPr lang="fr-FR" altLang="zh-CN" sz="1400" kern="100" dirty="0">
                          <a:latin typeface="Times New Roman"/>
                          <a:ea typeface="+mn-ea"/>
                          <a:cs typeface="Times New Roman"/>
                        </a:rPr>
                        <a:t> </a:t>
                      </a:r>
                      <a:r>
                        <a:rPr lang="en-US" sz="1400" kern="100" dirty="0">
                          <a:latin typeface="Times New Roman"/>
                          <a:ea typeface="宋体"/>
                          <a:cs typeface="Times New Roman"/>
                        </a:rPr>
                        <a:t>S</a:t>
                      </a:r>
                      <a:r>
                        <a:rPr lang="en-US" sz="1400" kern="100" baseline="30000" dirty="0">
                          <a:latin typeface="Times New Roman"/>
                          <a:ea typeface="宋体"/>
                          <a:cs typeface="Times New Roman"/>
                        </a:rPr>
                        <a:t>(1)</a:t>
                      </a:r>
                      <a:r>
                        <a:rPr lang="en-US" sz="1400" kern="100" dirty="0">
                          <a:latin typeface="Times New Roman"/>
                          <a:ea typeface="宋体"/>
                          <a:cs typeface="Times New Roman"/>
                        </a:rPr>
                        <a:t> </a:t>
                      </a:r>
                    </a:p>
                    <a:p>
                      <a:pPr algn="just">
                        <a:spcAft>
                          <a:spcPts val="0"/>
                        </a:spcAft>
                      </a:pPr>
                      <a:r>
                        <a:rPr lang="en-US" sz="1400" kern="100" dirty="0">
                          <a:latin typeface="Times New Roman"/>
                          <a:ea typeface="宋体"/>
                          <a:cs typeface="Times New Roman"/>
                        </a:rPr>
                        <a:t>       else</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tc>
                  <a:txBody>
                    <a:bodyPr/>
                    <a:lstStyle/>
                    <a:p>
                      <a:pPr algn="just">
                        <a:spcAft>
                          <a:spcPts val="0"/>
                        </a:spcAft>
                      </a:pPr>
                      <a:r>
                        <a:rPr lang="fr-FR" sz="1400" kern="100" dirty="0">
                          <a:latin typeface="Times New Roman"/>
                          <a:ea typeface="宋体"/>
                          <a:cs typeface="Times New Roman"/>
                        </a:rPr>
                        <a:t>{  q=NXQ;</a:t>
                      </a:r>
                      <a:endParaRPr lang="zh-CN" sz="1400" kern="100" dirty="0">
                        <a:latin typeface="Times New Roman"/>
                        <a:ea typeface="宋体"/>
                        <a:cs typeface="Times New Roman"/>
                      </a:endParaRPr>
                    </a:p>
                    <a:p>
                      <a:pPr indent="171450" algn="just">
                        <a:spcAft>
                          <a:spcPts val="0"/>
                        </a:spcAft>
                      </a:pPr>
                      <a:r>
                        <a:rPr lang="fr-FR" sz="1400" kern="100" dirty="0">
                          <a:latin typeface="Times New Roman"/>
                          <a:ea typeface="宋体"/>
                          <a:cs typeface="Times New Roman"/>
                        </a:rPr>
                        <a:t>gencode(j</a:t>
                      </a:r>
                      <a:r>
                        <a:rPr lang="zh-CN" sz="1400" kern="100" dirty="0">
                          <a:latin typeface="Times New Roman"/>
                          <a:ea typeface="宋体"/>
                          <a:cs typeface="Times New Roman"/>
                        </a:rPr>
                        <a:t>， ， ，</a:t>
                      </a:r>
                      <a:r>
                        <a:rPr lang="fr-FR" sz="1400" kern="100" dirty="0">
                          <a:latin typeface="Times New Roman"/>
                          <a:ea typeface="宋体"/>
                          <a:cs typeface="Times New Roman"/>
                        </a:rPr>
                        <a:t>0);</a:t>
                      </a:r>
                      <a:endParaRPr lang="zh-CN" sz="1400" kern="100" dirty="0">
                        <a:latin typeface="Times New Roman"/>
                        <a:ea typeface="宋体"/>
                        <a:cs typeface="Times New Roman"/>
                      </a:endParaRPr>
                    </a:p>
                    <a:p>
                      <a:pPr indent="171450" algn="just">
                        <a:spcAft>
                          <a:spcPts val="0"/>
                        </a:spcAft>
                      </a:pPr>
                      <a:r>
                        <a:rPr lang="en-US" sz="1400" kern="100" dirty="0" err="1">
                          <a:latin typeface="Times New Roman"/>
                          <a:ea typeface="宋体"/>
                          <a:cs typeface="Times New Roman"/>
                        </a:rPr>
                        <a:t>backpatch</a:t>
                      </a:r>
                      <a:r>
                        <a:rPr lang="en-US" sz="1400" kern="100" dirty="0">
                          <a:latin typeface="Times New Roman"/>
                          <a:ea typeface="宋体"/>
                          <a:cs typeface="Times New Roman"/>
                        </a:rPr>
                        <a:t>(C.CHAIN</a:t>
                      </a:r>
                      <a:r>
                        <a:rPr lang="zh-CN" sz="1400" kern="100" dirty="0">
                          <a:latin typeface="Times New Roman"/>
                          <a:ea typeface="宋体"/>
                          <a:cs typeface="Times New Roman"/>
                        </a:rPr>
                        <a:t>，</a:t>
                      </a:r>
                      <a:r>
                        <a:rPr lang="en-US" sz="1400" kern="100" dirty="0">
                          <a:latin typeface="Times New Roman"/>
                          <a:ea typeface="宋体"/>
                          <a:cs typeface="Times New Roman"/>
                        </a:rPr>
                        <a:t>NXQ);</a:t>
                      </a:r>
                      <a:endParaRPr lang="zh-CN" sz="1400" kern="100" dirty="0">
                        <a:latin typeface="Times New Roman"/>
                        <a:ea typeface="宋体"/>
                        <a:cs typeface="Times New Roman"/>
                      </a:endParaRPr>
                    </a:p>
                    <a:p>
                      <a:pPr indent="171450" algn="just">
                        <a:spcAft>
                          <a:spcPts val="0"/>
                        </a:spcAft>
                      </a:pPr>
                      <a:r>
                        <a:rPr lang="fr-FR" sz="1400" kern="100" dirty="0">
                          <a:latin typeface="Times New Roman"/>
                          <a:ea typeface="宋体"/>
                          <a:cs typeface="Times New Roman"/>
                        </a:rPr>
                        <a:t>T·CHAIN=merge(S</a:t>
                      </a:r>
                      <a:r>
                        <a:rPr lang="fr-FR" sz="1400" kern="100" baseline="30000" dirty="0">
                          <a:latin typeface="Times New Roman"/>
                          <a:ea typeface="宋体"/>
                          <a:cs typeface="Times New Roman"/>
                        </a:rPr>
                        <a:t>(1)</a:t>
                      </a:r>
                      <a:r>
                        <a:rPr lang="fr-FR" sz="1400" kern="100" dirty="0">
                          <a:latin typeface="Times New Roman"/>
                          <a:ea typeface="宋体"/>
                          <a:cs typeface="Times New Roman"/>
                        </a:rPr>
                        <a:t> .CHAIN</a:t>
                      </a:r>
                      <a:r>
                        <a:rPr lang="zh-CN" sz="1400" kern="100" dirty="0">
                          <a:latin typeface="Times New Roman"/>
                          <a:ea typeface="宋体"/>
                          <a:cs typeface="Times New Roman"/>
                        </a:rPr>
                        <a:t>，</a:t>
                      </a:r>
                      <a:r>
                        <a:rPr lang="fr-FR" sz="1400" kern="100" dirty="0">
                          <a:latin typeface="Times New Roman"/>
                          <a:ea typeface="宋体"/>
                          <a:cs typeface="Times New Roman"/>
                        </a:rPr>
                        <a:t>q)  }</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FF1CB"/>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917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模板1">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模板1</Template>
  <TotalTime>35738</TotalTime>
  <Words>24272</Words>
  <Application>Microsoft Office PowerPoint</Application>
  <PresentationFormat>全屏显示(16:9)</PresentationFormat>
  <Paragraphs>2893</Paragraphs>
  <Slides>167</Slides>
  <Notes>72</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vt:i4>
      </vt:variant>
      <vt:variant>
        <vt:lpstr>幻灯片标题</vt:lpstr>
      </vt:variant>
      <vt:variant>
        <vt:i4>167</vt:i4>
      </vt:variant>
    </vt:vector>
  </HeadingPairs>
  <TitlesOfParts>
    <vt:vector size="186" baseType="lpstr">
      <vt:lpstr>Arial Unicode MS</vt:lpstr>
      <vt:lpstr>sans serif</vt:lpstr>
      <vt:lpstr>黑体</vt:lpstr>
      <vt:lpstr>华文行楷</vt:lpstr>
      <vt:lpstr>楷体_GB2312</vt:lpstr>
      <vt:lpstr>隶书</vt:lpstr>
      <vt:lpstr>宋体</vt:lpstr>
      <vt:lpstr>Arial</vt:lpstr>
      <vt:lpstr>Calibri</vt:lpstr>
      <vt:lpstr>Lucida Sans Unicode</vt:lpstr>
      <vt:lpstr>Symbol</vt:lpstr>
      <vt:lpstr>Times New Roman</vt:lpstr>
      <vt:lpstr>Verdana</vt:lpstr>
      <vt:lpstr>Wingdings</vt:lpstr>
      <vt:lpstr>Wingdings 2</vt:lpstr>
      <vt:lpstr>Wingdings 3</vt:lpstr>
      <vt:lpstr>模板1</vt:lpstr>
      <vt:lpstr>Visio</vt:lpstr>
      <vt:lpstr>BMP 图像</vt:lpstr>
      <vt:lpstr>第五章  中间代码生成</vt:lpstr>
      <vt:lpstr>本章要求</vt:lpstr>
      <vt:lpstr>PowerPoint 演示文稿</vt:lpstr>
      <vt:lpstr>中间代码生成程序所处的位置：</vt:lpstr>
      <vt:lpstr>概述</vt:lpstr>
      <vt:lpstr>概述</vt:lpstr>
      <vt:lpstr>概述</vt:lpstr>
      <vt:lpstr>概述</vt:lpstr>
      <vt:lpstr>PowerPoint 演示文稿</vt:lpstr>
      <vt:lpstr>概述</vt:lpstr>
      <vt:lpstr>1、逆波兰式</vt:lpstr>
      <vt:lpstr>练习</vt:lpstr>
      <vt:lpstr>后缀式的推广</vt:lpstr>
      <vt:lpstr>2、三地址码</vt:lpstr>
      <vt:lpstr>PowerPoint 演示文稿</vt:lpstr>
      <vt:lpstr>PowerPoint 演示文稿</vt:lpstr>
      <vt:lpstr>三地址代码与四元式的对应关系 </vt:lpstr>
      <vt:lpstr>PowerPoint 演示文稿</vt:lpstr>
      <vt:lpstr>练习</vt:lpstr>
      <vt:lpstr>3、抽象语法树</vt:lpstr>
      <vt:lpstr>抽象语法树的建立过程 </vt:lpstr>
      <vt:lpstr>抽象语法树的建立过程 </vt:lpstr>
      <vt:lpstr>例 算术表达式 A+B*(C-D)+E/(C-D)/N</vt:lpstr>
      <vt:lpstr>4、DAG表示</vt:lpstr>
      <vt:lpstr>DAG表示</vt:lpstr>
      <vt:lpstr>到目前为止，已知  输入的语法单位， 又知道     要翻译的结果的形式， 翻译的方法是什么？</vt:lpstr>
      <vt:lpstr>PowerPoint 演示文稿</vt:lpstr>
      <vt:lpstr>属性文法</vt:lpstr>
      <vt:lpstr>属性文法</vt:lpstr>
      <vt:lpstr>综合属性和继承属性</vt:lpstr>
      <vt:lpstr>综合属性和继承属性</vt:lpstr>
      <vt:lpstr>继承属性和综合属性</vt:lpstr>
      <vt:lpstr>语义规则 </vt:lpstr>
      <vt:lpstr>PowerPoint 演示文稿</vt:lpstr>
      <vt:lpstr>综合属性的计算</vt:lpstr>
      <vt:lpstr>PowerPoint 演示文稿</vt:lpstr>
      <vt:lpstr>PowerPoint 演示文稿</vt:lpstr>
      <vt:lpstr>综合属性的计算</vt:lpstr>
      <vt:lpstr>继承属性的计算</vt:lpstr>
      <vt:lpstr>PowerPoint 演示文稿</vt:lpstr>
      <vt:lpstr>PowerPoint 演示文稿</vt:lpstr>
      <vt:lpstr>属性的计算顺序</vt:lpstr>
      <vt:lpstr>语法制导翻译</vt:lpstr>
      <vt:lpstr>深度优先遍历树进行属性计算</vt:lpstr>
      <vt:lpstr>属性计算过程</vt:lpstr>
      <vt:lpstr>L-属性文法</vt:lpstr>
      <vt:lpstr>L-属性文法</vt:lpstr>
      <vt:lpstr>PowerPoint 演示文稿</vt:lpstr>
      <vt:lpstr>5.3.4 语法制导翻译的实现方法</vt:lpstr>
      <vt:lpstr>例5.10 右面是是简单表达式的属性文法，其语义规则是将中缀表示形式改写成后缀表示形式，此处只定义了产生式对应的语义规则，没有定义各语义规则应该在什么时候执行？</vt:lpstr>
      <vt:lpstr>例5.10 右面是是简单表达式的属性文法，其语义规则是将中缀表示形式改写成后缀表示形式，此处只定义了产生式对应的语义规则，没有定义各语义规则应该在什么时候执行？</vt:lpstr>
      <vt:lpstr>建立翻译模式</vt:lpstr>
      <vt:lpstr>PowerPoint 演示文稿</vt:lpstr>
      <vt:lpstr>语义子程序的调用时机</vt:lpstr>
      <vt:lpstr>PowerPoint 演示文稿</vt:lpstr>
      <vt:lpstr>排版软件</vt:lpstr>
      <vt:lpstr>基于数学格式语言EQN</vt:lpstr>
      <vt:lpstr>盒子的语法制导的属性文法</vt:lpstr>
      <vt:lpstr>盒子的语法制导的翻译模式</vt:lpstr>
      <vt:lpstr>PowerPoint 演示文稿</vt:lpstr>
      <vt:lpstr>S属性文法自下而上的翻译</vt:lpstr>
      <vt:lpstr>PowerPoint 演示文稿</vt:lpstr>
      <vt:lpstr>自下而上翻译</vt:lpstr>
      <vt:lpstr>PowerPoint 演示文稿</vt:lpstr>
      <vt:lpstr>PowerPoint 演示文稿</vt:lpstr>
      <vt:lpstr>结论</vt:lpstr>
      <vt:lpstr>PowerPoint 演示文稿</vt:lpstr>
      <vt:lpstr>L-属性文法的自上而下的翻译</vt:lpstr>
      <vt:lpstr>L-属性文法的自上而下的翻译</vt:lpstr>
      <vt:lpstr>带左递归的文法消除左递归时，翻译模式要随之改变</vt:lpstr>
      <vt:lpstr>带左递归的文法消除左递归时，翻译模式要随之改变</vt:lpstr>
      <vt:lpstr>计算表达式9－5＋2 </vt:lpstr>
      <vt:lpstr>计算表达式4＋3－5</vt:lpstr>
      <vt:lpstr>PowerPoint 演示文稿</vt:lpstr>
      <vt:lpstr>PowerPoint 演示文稿</vt:lpstr>
      <vt:lpstr>5.4 常见语句的语法制导的翻译</vt:lpstr>
      <vt:lpstr>声明语句的处理</vt:lpstr>
      <vt:lpstr>PowerPoint 演示文稿</vt:lpstr>
      <vt:lpstr>常量声明语句的语义处理</vt:lpstr>
      <vt:lpstr>PowerPoint 演示文稿</vt:lpstr>
      <vt:lpstr>PowerPoint 演示文稿</vt:lpstr>
      <vt:lpstr>PowerPoint 演示文稿</vt:lpstr>
      <vt:lpstr>变量声明语句</vt:lpstr>
      <vt:lpstr>变量声明语句的语义处理</vt:lpstr>
      <vt:lpstr>int i,j,k=3;的语法树</vt:lpstr>
      <vt:lpstr>变量声明语句的语义规则</vt:lpstr>
      <vt:lpstr>变量声明语句的语义处理</vt:lpstr>
      <vt:lpstr>int i,j,k = 3；的带注释的语法树</vt:lpstr>
      <vt:lpstr>属性文法</vt:lpstr>
      <vt:lpstr>PASCAL语言中的变量声明语句</vt:lpstr>
      <vt:lpstr>var id1,id2,id3:integer;的归约过程</vt:lpstr>
      <vt:lpstr>PowerPoint 演示文稿</vt:lpstr>
      <vt:lpstr>3．函数声明语句</vt:lpstr>
      <vt:lpstr>函数声明int sum(int,int,char);的语法树 （适合自下而上语法分析）</vt:lpstr>
      <vt:lpstr>语义规则</vt:lpstr>
      <vt:lpstr>函数声明int sum(int,int,char);的语法树 （适合自上而下）</vt:lpstr>
      <vt:lpstr>语义规则（适合自上而下分析）</vt:lpstr>
      <vt:lpstr>PowerPoint 演示文稿</vt:lpstr>
      <vt:lpstr>可执行语句的翻译</vt:lpstr>
      <vt:lpstr>表达式的翻译</vt:lpstr>
      <vt:lpstr>定义后续使用的语义变量和函数</vt:lpstr>
      <vt:lpstr>赋值表达式和算术表达式的翻译</vt:lpstr>
      <vt:lpstr>PowerPoint 演示文稿</vt:lpstr>
      <vt:lpstr>例：赋值句A=B+C*(-D)的自下而上分析的同时进行语义处理</vt:lpstr>
      <vt:lpstr>PowerPoint 演示文稿</vt:lpstr>
      <vt:lpstr>布尔表达式的翻译</vt:lpstr>
      <vt:lpstr>PowerPoint 演示文稿</vt:lpstr>
      <vt:lpstr>PowerPoint 演示文稿</vt:lpstr>
      <vt:lpstr>PowerPoint 演示文稿</vt:lpstr>
      <vt:lpstr>布尔表达式的语义规则</vt:lpstr>
      <vt:lpstr>例：布尔表达式a&lt;b || c&lt;d &amp;&amp; e&gt;f的翻译结果 </vt:lpstr>
      <vt:lpstr>打卡，发答案来</vt:lpstr>
      <vt:lpstr>PowerPoint 演示文稿</vt:lpstr>
      <vt:lpstr>PowerPoint 演示文稿</vt:lpstr>
      <vt:lpstr>PowerPoint 演示文稿</vt:lpstr>
      <vt:lpstr>PowerPoint 演示文稿</vt:lpstr>
      <vt:lpstr>语义函数——merge(p1,p2)</vt:lpstr>
      <vt:lpstr>语义函数——backpatch(P,t)</vt:lpstr>
      <vt:lpstr>6、布尔运算的语义处理</vt:lpstr>
      <vt:lpstr>6、布尔表达式的语义处理</vt:lpstr>
      <vt:lpstr>6、布尔表达式的语义处理</vt:lpstr>
      <vt:lpstr>PowerPoint 演示文稿</vt:lpstr>
      <vt:lpstr> 6. 总结前面的分析，各产生式的语义动作为：</vt:lpstr>
      <vt:lpstr> 6. 总结前面的分析，各产生式的语义动作为：</vt:lpstr>
      <vt:lpstr>6. 总结前面的分析，各产生式的语义动作为：</vt:lpstr>
      <vt:lpstr>6. 总结前面的分析，各产生式的语义动作为：</vt:lpstr>
      <vt:lpstr>控制语句的翻译</vt:lpstr>
      <vt:lpstr>PowerPoint 演示文稿</vt:lpstr>
      <vt:lpstr>IF语句的翻译</vt:lpstr>
      <vt:lpstr>PowerPoint 演示文稿</vt:lpstr>
      <vt:lpstr>PowerPoint 演示文稿</vt:lpstr>
      <vt:lpstr>PowerPoint 演示文稿</vt:lpstr>
      <vt:lpstr>例：将下面的IF语句翻译为四元式序列</vt:lpstr>
      <vt:lpstr>例：将下面的IF语句翻译为四元式序列</vt:lpstr>
      <vt:lpstr>练习:将下面的语句翻译为四元式序列</vt:lpstr>
      <vt:lpstr>PowerPoint 演示文稿</vt:lpstr>
      <vt:lpstr>Do while语句的翻译</vt:lpstr>
      <vt:lpstr>PowerPoint 演示文稿</vt:lpstr>
      <vt:lpstr>PowerPoint 演示文稿</vt:lpstr>
      <vt:lpstr>PowerPoint 演示文稿</vt:lpstr>
      <vt:lpstr>PowerPoint 演示文稿</vt:lpstr>
      <vt:lpstr>FOR语句的翻译</vt:lpstr>
      <vt:lpstr>FOR语句的翻译</vt:lpstr>
      <vt:lpstr>FOR语句的翻译</vt:lpstr>
      <vt:lpstr>将下面的语句翻译为四元式序列</vt:lpstr>
      <vt:lpstr>将下面的语句翻译为四元式序列</vt:lpstr>
      <vt:lpstr>PowerPoint 演示文稿</vt:lpstr>
      <vt:lpstr>函数定义的翻译</vt:lpstr>
      <vt:lpstr>PowerPoint 演示文稿</vt:lpstr>
      <vt:lpstr>函数定义的文法</vt:lpstr>
      <vt:lpstr>PowerPoint 演示文稿</vt:lpstr>
      <vt:lpstr>PowerPoint 演示文稿</vt:lpstr>
      <vt:lpstr>PowerPoint 演示文稿</vt:lpstr>
      <vt:lpstr>PowerPoint 演示文稿</vt:lpstr>
      <vt:lpstr>函数调用过程</vt:lpstr>
      <vt:lpstr>函数调用过程</vt:lpstr>
      <vt:lpstr>函数调用的翻译</vt:lpstr>
      <vt:lpstr>PowerPoint 演示文稿</vt:lpstr>
      <vt:lpstr>PowerPoint 演示文稿</vt:lpstr>
      <vt:lpstr>PowerPoint 演示文稿</vt:lpstr>
      <vt:lpstr>中间代码生成器的设计</vt:lpstr>
      <vt:lpstr>程序开始和结束的四元式</vt:lpstr>
      <vt:lpstr>语法分析主程序</vt:lpstr>
      <vt:lpstr>递归下降翻译器的总控程序</vt:lpstr>
      <vt:lpstr>复合语句处理：分类</vt:lpstr>
      <vt:lpstr>举例：为IF语句添加语义处理</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中间代码生成</dc:title>
  <dc:creator>hxy</dc:creator>
  <cp:lastModifiedBy>Administrator</cp:lastModifiedBy>
  <cp:revision>461</cp:revision>
  <dcterms:created xsi:type="dcterms:W3CDTF">2020-03-21T08:47:53Z</dcterms:created>
  <dcterms:modified xsi:type="dcterms:W3CDTF">2026-04-14T01:16:26Z</dcterms:modified>
</cp:coreProperties>
</file>