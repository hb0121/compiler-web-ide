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heme/themeOverride1.xml" ContentType="application/vnd.openxmlformats-officedocument.themeOverr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20" r:id="rId1"/>
  </p:sldMasterIdLst>
  <p:notesMasterIdLst>
    <p:notesMasterId r:id="rId74"/>
  </p:notesMasterIdLst>
  <p:sldIdLst>
    <p:sldId id="256" r:id="rId2"/>
    <p:sldId id="307" r:id="rId3"/>
    <p:sldId id="310" r:id="rId4"/>
    <p:sldId id="308" r:id="rId5"/>
    <p:sldId id="377" r:id="rId6"/>
    <p:sldId id="309" r:id="rId7"/>
    <p:sldId id="314" r:id="rId8"/>
    <p:sldId id="311" r:id="rId9"/>
    <p:sldId id="315" r:id="rId10"/>
    <p:sldId id="384" r:id="rId11"/>
    <p:sldId id="316" r:id="rId12"/>
    <p:sldId id="317" r:id="rId13"/>
    <p:sldId id="318" r:id="rId14"/>
    <p:sldId id="319" r:id="rId15"/>
    <p:sldId id="320" r:id="rId16"/>
    <p:sldId id="374" r:id="rId17"/>
    <p:sldId id="322" r:id="rId18"/>
    <p:sldId id="323" r:id="rId19"/>
    <p:sldId id="324" r:id="rId20"/>
    <p:sldId id="325" r:id="rId21"/>
    <p:sldId id="375" r:id="rId22"/>
    <p:sldId id="376" r:id="rId23"/>
    <p:sldId id="378" r:id="rId24"/>
    <p:sldId id="326" r:id="rId25"/>
    <p:sldId id="327" r:id="rId26"/>
    <p:sldId id="328" r:id="rId27"/>
    <p:sldId id="329" r:id="rId28"/>
    <p:sldId id="330" r:id="rId29"/>
    <p:sldId id="331" r:id="rId30"/>
    <p:sldId id="332" r:id="rId31"/>
    <p:sldId id="333" r:id="rId32"/>
    <p:sldId id="334" r:id="rId33"/>
    <p:sldId id="335" r:id="rId34"/>
    <p:sldId id="336" r:id="rId35"/>
    <p:sldId id="337" r:id="rId36"/>
    <p:sldId id="338" r:id="rId37"/>
    <p:sldId id="339" r:id="rId38"/>
    <p:sldId id="340" r:id="rId39"/>
    <p:sldId id="341" r:id="rId40"/>
    <p:sldId id="381" r:id="rId41"/>
    <p:sldId id="342" r:id="rId42"/>
    <p:sldId id="343" r:id="rId43"/>
    <p:sldId id="344" r:id="rId44"/>
    <p:sldId id="345" r:id="rId45"/>
    <p:sldId id="346" r:id="rId46"/>
    <p:sldId id="347" r:id="rId47"/>
    <p:sldId id="348" r:id="rId48"/>
    <p:sldId id="349" r:id="rId49"/>
    <p:sldId id="350" r:id="rId50"/>
    <p:sldId id="351" r:id="rId51"/>
    <p:sldId id="353" r:id="rId52"/>
    <p:sldId id="354" r:id="rId53"/>
    <p:sldId id="379" r:id="rId54"/>
    <p:sldId id="355" r:id="rId55"/>
    <p:sldId id="356" r:id="rId56"/>
    <p:sldId id="357" r:id="rId57"/>
    <p:sldId id="358" r:id="rId58"/>
    <p:sldId id="359" r:id="rId59"/>
    <p:sldId id="360" r:id="rId60"/>
    <p:sldId id="363" r:id="rId61"/>
    <p:sldId id="364" r:id="rId62"/>
    <p:sldId id="365" r:id="rId63"/>
    <p:sldId id="366" r:id="rId64"/>
    <p:sldId id="382" r:id="rId65"/>
    <p:sldId id="367" r:id="rId66"/>
    <p:sldId id="368" r:id="rId67"/>
    <p:sldId id="369" r:id="rId68"/>
    <p:sldId id="370" r:id="rId69"/>
    <p:sldId id="383" r:id="rId70"/>
    <p:sldId id="371" r:id="rId71"/>
    <p:sldId id="372" r:id="rId72"/>
    <p:sldId id="410" r:id="rId73"/>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0000FF"/>
    <a:srgbClr val="CC00FF"/>
    <a:srgbClr val="B3D7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74" autoAdjust="0"/>
    <p:restoredTop sz="89107" autoAdjust="0"/>
  </p:normalViewPr>
  <p:slideViewPr>
    <p:cSldViewPr>
      <p:cViewPr varScale="1">
        <p:scale>
          <a:sx n="99" d="100"/>
          <a:sy n="99" d="100"/>
        </p:scale>
        <p:origin x="78" y="52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3FB6CE-4A83-4EA5-8A28-5A2599315B17}" type="datetimeFigureOut">
              <a:rPr lang="zh-CN" altLang="en-US" smtClean="0"/>
              <a:t>2023/7/16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99E8391-A7AA-438B-8953-8185EA502C58}" type="slidenum">
              <a:rPr lang="zh-CN" altLang="en-US" smtClean="0"/>
              <a:t>‹#›</a:t>
            </a:fld>
            <a:endParaRPr lang="zh-CN" altLang="en-US"/>
          </a:p>
        </p:txBody>
      </p:sp>
    </p:spTree>
    <p:extLst>
      <p:ext uri="{BB962C8B-B14F-4D97-AF65-F5344CB8AC3E}">
        <p14:creationId xmlns:p14="http://schemas.microsoft.com/office/powerpoint/2010/main" val="3539896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9B20FD52-429A-420C-993F-A562B95B0EE7}" type="slidenum">
              <a:rPr lang="en-US" altLang="zh-CN" smtClean="0"/>
              <a:pPr eaLnBrk="1" hangingPunct="1">
                <a:spcBef>
                  <a:spcPct val="0"/>
                </a:spcBef>
              </a:pPr>
              <a:t>2</a:t>
            </a:fld>
            <a:endParaRPr lang="en-US" altLang="zh-CN"/>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DD949BCB-042F-4962-A367-55F6EAB37274}" type="slidenum">
              <a:rPr lang="en-US" altLang="zh-CN" smtClean="0"/>
              <a:pPr eaLnBrk="1" hangingPunct="1">
                <a:spcBef>
                  <a:spcPct val="0"/>
                </a:spcBef>
              </a:pPr>
              <a:t>3</a:t>
            </a:fld>
            <a:endParaRPr lang="en-US" altLang="zh-CN"/>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F5A50AC3-B8AD-49E5-ABF9-2BEEE057C1DA}" type="slidenum">
              <a:rPr lang="en-US" altLang="zh-CN" smtClean="0">
                <a:latin typeface="Arial" pitchFamily="34" charset="0"/>
              </a:rPr>
              <a:pPr eaLnBrk="1" hangingPunct="1">
                <a:spcBef>
                  <a:spcPct val="0"/>
                </a:spcBef>
              </a:pPr>
              <a:t>4</a:t>
            </a:fld>
            <a:endParaRPr lang="en-US" altLang="zh-CN">
              <a:latin typeface="Arial" pitchFamily="3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65D701F3-4DA0-4E1F-8EAC-7897F0EF9398}" type="slidenum">
              <a:rPr lang="en-US" altLang="zh-CN" smtClean="0"/>
              <a:pPr eaLnBrk="1" hangingPunct="1">
                <a:spcBef>
                  <a:spcPct val="0"/>
                </a:spcBef>
              </a:pPr>
              <a:t>6</a:t>
            </a:fld>
            <a:endParaRPr lang="en-US" altLang="zh-CN"/>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49328187-6B30-4E1F-9F7D-1873D6BA0223}" type="slidenum">
              <a:rPr lang="en-US" altLang="zh-CN" smtClean="0"/>
              <a:pPr eaLnBrk="1" hangingPunct="1">
                <a:spcBef>
                  <a:spcPct val="0"/>
                </a:spcBef>
              </a:pPr>
              <a:t>7</a:t>
            </a:fld>
            <a:endParaRPr lang="en-US" altLang="zh-CN"/>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5C7CFD47-51BE-4266-BF14-CB08A349FDE6}" type="slidenum">
              <a:rPr lang="en-US" altLang="zh-CN" smtClean="0"/>
              <a:pPr eaLnBrk="1" hangingPunct="1">
                <a:spcBef>
                  <a:spcPct val="0"/>
                </a:spcBef>
              </a:pPr>
              <a:t>8</a:t>
            </a:fld>
            <a:endParaRPr lang="en-US" altLang="zh-CN"/>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5D808CA4-A6BB-4932-8068-EAD2B199D61C}" type="slidenum">
              <a:rPr lang="en-US" altLang="zh-CN" smtClean="0"/>
              <a:pPr eaLnBrk="1" hangingPunct="1">
                <a:spcBef>
                  <a:spcPct val="0"/>
                </a:spcBef>
              </a:pPr>
              <a:t>9</a:t>
            </a:fld>
            <a:endParaRPr lang="en-US" altLang="zh-CN"/>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29CAAC42-4F59-427B-9F63-D21FBFB786A7}" type="slidenum">
              <a:rPr lang="en-US" altLang="zh-CN" smtClean="0"/>
              <a:pPr eaLnBrk="1" hangingPunct="1">
                <a:spcBef>
                  <a:spcPct val="0"/>
                </a:spcBef>
              </a:pPr>
              <a:t>11</a:t>
            </a:fld>
            <a:endParaRPr lang="en-US" altLang="zh-CN"/>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29BF3279-6EFF-4F9D-8587-D2ABAF033515}" type="slidenum">
              <a:rPr lang="en-US" altLang="zh-CN" smtClean="0"/>
              <a:pPr eaLnBrk="1" hangingPunct="1">
                <a:spcBef>
                  <a:spcPct val="0"/>
                </a:spcBef>
              </a:pPr>
              <a:t>12</a:t>
            </a:fld>
            <a:endParaRPr lang="en-US" altLang="zh-CN"/>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E896792D-A9B1-4CF5-8420-A920D6F3F939}" type="slidenum">
              <a:rPr lang="en-US" altLang="zh-CN" smtClean="0"/>
              <a:pPr eaLnBrk="1" hangingPunct="1">
                <a:spcBef>
                  <a:spcPct val="0"/>
                </a:spcBef>
              </a:pPr>
              <a:t>13</a:t>
            </a:fld>
            <a:endParaRPr lang="en-US" altLang="zh-CN"/>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E9FE1654-9809-4AE4-B39E-3F09CFE79FB2}" type="slidenum">
              <a:rPr lang="en-US" altLang="zh-CN" smtClean="0"/>
              <a:pPr eaLnBrk="1" hangingPunct="1">
                <a:spcBef>
                  <a:spcPct val="0"/>
                </a:spcBef>
              </a:pPr>
              <a:t>14</a:t>
            </a:fld>
            <a:endParaRPr lang="en-US" altLang="zh-CN"/>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16C51508-4DB6-47B2-9F02-73577023BB5A}" type="slidenum">
              <a:rPr lang="en-US" altLang="zh-CN" smtClean="0"/>
              <a:pPr eaLnBrk="1" hangingPunct="1">
                <a:spcBef>
                  <a:spcPct val="0"/>
                </a:spcBef>
              </a:pPr>
              <a:t>17</a:t>
            </a:fld>
            <a:endParaRPr lang="en-US" altLang="zh-CN"/>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78ADEB60-AE4B-409C-869D-516F73726EE8}" type="slidenum">
              <a:rPr lang="en-US" altLang="zh-CN" smtClean="0"/>
              <a:pPr eaLnBrk="1" hangingPunct="1">
                <a:spcBef>
                  <a:spcPct val="0"/>
                </a:spcBef>
              </a:pPr>
              <a:t>18</a:t>
            </a:fld>
            <a:endParaRPr lang="en-US" altLang="zh-CN"/>
          </a:p>
        </p:txBody>
      </p:sp>
      <p:sp>
        <p:nvSpPr>
          <p:cNvPr id="88067" name="Rectangle 2"/>
          <p:cNvSpPr>
            <a:spLocks noGrp="1" noRot="1" noChangeAspect="1" noChangeArrowheads="1" noTextEdit="1"/>
          </p:cNvSpPr>
          <p:nvPr>
            <p:ph type="sldImg"/>
          </p:nvPr>
        </p:nvSpPr>
        <p:spPr>
          <a:solidFill>
            <a:srgbClr val="FFFFFF"/>
          </a:solidFill>
          <a:ln/>
        </p:spPr>
      </p:sp>
      <p:sp>
        <p:nvSpPr>
          <p:cNvPr id="88068" name="Rectangle 3"/>
          <p:cNvSpPr>
            <a:spLocks noGrp="1" noChangeArrowheads="1"/>
          </p:cNvSpPr>
          <p:nvPr>
            <p:ph type="body" idx="1"/>
          </p:nvPr>
        </p:nvSpPr>
        <p:spPr>
          <a:xfrm>
            <a:off x="914400" y="4341813"/>
            <a:ext cx="5029200" cy="4116387"/>
          </a:xfrm>
          <a:solidFill>
            <a:srgbClr val="FFFFFF"/>
          </a:solidFill>
          <a:ln>
            <a:solidFill>
              <a:srgbClr val="000000"/>
            </a:solidFill>
          </a:ln>
        </p:spPr>
        <p:txBody>
          <a:bodyPr/>
          <a:lstStyle/>
          <a:p>
            <a:pPr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CAD552D0-3EED-4C3F-9CDF-43DF2912F0B9}" type="slidenum">
              <a:rPr lang="en-US" altLang="zh-CN" smtClean="0"/>
              <a:pPr eaLnBrk="1" hangingPunct="1">
                <a:spcBef>
                  <a:spcPct val="0"/>
                </a:spcBef>
              </a:pPr>
              <a:t>19</a:t>
            </a:fld>
            <a:endParaRPr lang="en-US" altLang="zh-CN"/>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45F5BE54-6E01-4300-9E88-AA416A45F084}" type="slidenum">
              <a:rPr lang="en-US" altLang="zh-CN" smtClean="0"/>
              <a:pPr eaLnBrk="1" hangingPunct="1">
                <a:spcBef>
                  <a:spcPct val="0"/>
                </a:spcBef>
              </a:pPr>
              <a:t>20</a:t>
            </a:fld>
            <a:endParaRPr lang="en-US" altLang="zh-CN"/>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589C18A8-16F4-4C2D-B475-11EBABAEE80B}" type="slidenum">
              <a:rPr lang="en-US" altLang="zh-CN" smtClean="0"/>
              <a:pPr eaLnBrk="1" hangingPunct="1">
                <a:spcBef>
                  <a:spcPct val="0"/>
                </a:spcBef>
              </a:pPr>
              <a:t>25</a:t>
            </a:fld>
            <a:endParaRPr lang="en-US" altLang="zh-CN"/>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5C565F09-807F-4534-894B-4066E14254CF}" type="slidenum">
              <a:rPr lang="en-US" altLang="zh-CN" smtClean="0"/>
              <a:pPr eaLnBrk="1" hangingPunct="1">
                <a:spcBef>
                  <a:spcPct val="0"/>
                </a:spcBef>
              </a:pPr>
              <a:t>26</a:t>
            </a:fld>
            <a:endParaRPr lang="en-US" altLang="zh-CN"/>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93301F19-A42B-4122-8E45-73A988D5B801}" type="slidenum">
              <a:rPr lang="en-US" altLang="zh-CN" smtClean="0"/>
              <a:pPr eaLnBrk="1" hangingPunct="1">
                <a:spcBef>
                  <a:spcPct val="0"/>
                </a:spcBef>
              </a:pPr>
              <a:t>27</a:t>
            </a:fld>
            <a:endParaRPr lang="en-US" altLang="zh-CN"/>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D36004C6-276A-42D3-8E9C-F0406DA86F0E}" type="slidenum">
              <a:rPr lang="en-US" altLang="zh-CN" smtClean="0"/>
              <a:pPr eaLnBrk="1" hangingPunct="1">
                <a:spcBef>
                  <a:spcPct val="0"/>
                </a:spcBef>
              </a:pPr>
              <a:t>35</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0C9522BD-3504-4535-A57D-D9BB18C6147A}" type="slidenum">
              <a:rPr lang="en-US" altLang="zh-CN" smtClean="0"/>
              <a:pPr eaLnBrk="1" hangingPunct="1">
                <a:spcBef>
                  <a:spcPct val="0"/>
                </a:spcBef>
              </a:pPr>
              <a:t>36</a:t>
            </a:fld>
            <a:endParaRPr lang="en-US" altLang="zh-CN"/>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7D5FC772-DB1C-425D-AE1C-2E8A6FF53248}" type="slidenum">
              <a:rPr lang="en-US" altLang="zh-CN" smtClean="0"/>
              <a:pPr eaLnBrk="1" hangingPunct="1">
                <a:spcBef>
                  <a:spcPct val="0"/>
                </a:spcBef>
              </a:pPr>
              <a:t>37</a:t>
            </a:fld>
            <a:endParaRPr lang="en-US" altLang="zh-CN"/>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4CE98BBF-76B1-4A4B-9B29-00EB4AC47F6B}" type="slidenum">
              <a:rPr lang="en-US" altLang="zh-CN" smtClean="0"/>
              <a:pPr eaLnBrk="1" hangingPunct="1">
                <a:spcBef>
                  <a:spcPct val="0"/>
                </a:spcBef>
              </a:pPr>
              <a:t>38</a:t>
            </a:fld>
            <a:endParaRPr lang="en-US" altLang="zh-CN"/>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E8546A30-BC27-4374-AAF4-CB41285A2C75}" type="slidenum">
              <a:rPr lang="en-US" altLang="zh-CN" smtClean="0"/>
              <a:pPr eaLnBrk="1" hangingPunct="1">
                <a:spcBef>
                  <a:spcPct val="0"/>
                </a:spcBef>
              </a:pPr>
              <a:t>39</a:t>
            </a:fld>
            <a:endParaRPr lang="en-US" altLang="zh-CN"/>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CF75302C-D1FD-483C-A9E9-403C1CEB52D2}" type="slidenum">
              <a:rPr lang="en-US" altLang="zh-CN" smtClean="0"/>
              <a:pPr eaLnBrk="1" hangingPunct="1">
                <a:spcBef>
                  <a:spcPct val="0"/>
                </a:spcBef>
              </a:pPr>
              <a:t>41</a:t>
            </a:fld>
            <a:endParaRPr lang="en-US" altLang="zh-CN"/>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7D457675-5EB2-4BE6-BD8A-0F42C156D6F9}" type="slidenum">
              <a:rPr lang="en-US" altLang="zh-CN" smtClean="0"/>
              <a:pPr eaLnBrk="1" hangingPunct="1">
                <a:spcBef>
                  <a:spcPct val="0"/>
                </a:spcBef>
              </a:pPr>
              <a:t>42</a:t>
            </a:fld>
            <a:endParaRPr lang="en-US" altLang="zh-CN"/>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00F32CD6-A4AC-4A20-8B36-CE28936D80E8}" type="slidenum">
              <a:rPr lang="en-US" altLang="zh-CN" smtClean="0"/>
              <a:pPr eaLnBrk="1" hangingPunct="1">
                <a:spcBef>
                  <a:spcPct val="0"/>
                </a:spcBef>
              </a:pPr>
              <a:t>43</a:t>
            </a:fld>
            <a:endParaRPr lang="en-US" altLang="zh-CN"/>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5188E867-F669-4639-AC12-94189AEFB050}" type="slidenum">
              <a:rPr lang="en-US" altLang="zh-CN" smtClean="0"/>
              <a:pPr eaLnBrk="1" hangingPunct="1">
                <a:spcBef>
                  <a:spcPct val="0"/>
                </a:spcBef>
              </a:pPr>
              <a:t>44</a:t>
            </a:fld>
            <a:endParaRPr lang="en-US" altLang="zh-CN"/>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1AC64F3A-A826-4390-A278-40EB58476864}" type="slidenum">
              <a:rPr lang="en-US" altLang="zh-CN" smtClean="0"/>
              <a:pPr eaLnBrk="1" hangingPunct="1">
                <a:spcBef>
                  <a:spcPct val="0"/>
                </a:spcBef>
              </a:pPr>
              <a:t>45</a:t>
            </a:fld>
            <a:endParaRPr lang="en-US" altLang="zh-CN"/>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4C5B8BCA-EFBB-4B90-9B12-EE59EB1EC771}" type="slidenum">
              <a:rPr lang="en-US" altLang="zh-CN" smtClean="0"/>
              <a:pPr eaLnBrk="1" hangingPunct="1">
                <a:spcBef>
                  <a:spcPct val="0"/>
                </a:spcBef>
              </a:pPr>
              <a:t>46</a:t>
            </a:fld>
            <a:endParaRPr lang="en-US" altLang="zh-CN"/>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1127A250-99EB-45C3-8C40-0C2D725BF162}" type="slidenum">
              <a:rPr lang="en-US" altLang="zh-CN" smtClean="0"/>
              <a:pPr eaLnBrk="1" hangingPunct="1">
                <a:spcBef>
                  <a:spcPct val="0"/>
                </a:spcBef>
              </a:pPr>
              <a:t>47</a:t>
            </a:fld>
            <a:endParaRPr lang="en-US" altLang="zh-CN"/>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623D76BB-B35E-4F2C-8E29-50BED7B596D6}" type="slidenum">
              <a:rPr lang="en-US" altLang="zh-CN" smtClean="0"/>
              <a:pPr eaLnBrk="1" hangingPunct="1">
                <a:spcBef>
                  <a:spcPct val="0"/>
                </a:spcBef>
              </a:pPr>
              <a:t>48</a:t>
            </a:fld>
            <a:endParaRPr lang="en-US" altLang="zh-CN"/>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50A9C5D7-7200-45E6-A250-F30B58A88ABB}" type="slidenum">
              <a:rPr lang="en-US" altLang="zh-CN" smtClean="0"/>
              <a:pPr eaLnBrk="1" hangingPunct="1">
                <a:spcBef>
                  <a:spcPct val="0"/>
                </a:spcBef>
              </a:pPr>
              <a:t>49</a:t>
            </a:fld>
            <a:endParaRPr lang="en-US" altLang="zh-CN"/>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3516F815-239D-4C45-84B1-5C20F664E7C8}" type="slidenum">
              <a:rPr lang="en-US" altLang="zh-CN" smtClean="0"/>
              <a:pPr eaLnBrk="1" hangingPunct="1">
                <a:spcBef>
                  <a:spcPct val="0"/>
                </a:spcBef>
              </a:pPr>
              <a:t>54</a:t>
            </a:fld>
            <a:endParaRPr lang="en-US" altLang="zh-CN"/>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147B0CAD-F4EE-4082-9679-5EBDF41A3C83}" type="slidenum">
              <a:rPr lang="en-US" altLang="zh-CN" smtClean="0"/>
              <a:pPr eaLnBrk="1" hangingPunct="1">
                <a:spcBef>
                  <a:spcPct val="0"/>
                </a:spcBef>
              </a:pPr>
              <a:t>55</a:t>
            </a:fld>
            <a:endParaRPr lang="en-US" altLang="zh-CN"/>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896DB1CF-CF5A-4FFB-A5DD-CA0C5DF119F5}" type="slidenum">
              <a:rPr lang="en-US" altLang="zh-CN" smtClean="0"/>
              <a:pPr eaLnBrk="1" hangingPunct="1">
                <a:spcBef>
                  <a:spcPct val="0"/>
                </a:spcBef>
              </a:pPr>
              <a:t>57</a:t>
            </a:fld>
            <a:endParaRPr lang="en-US" altLang="zh-CN"/>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DD38BC95-ABD8-45BC-BF40-5B20F2194F1D}" type="slidenum">
              <a:rPr lang="en-US" altLang="zh-CN" smtClean="0"/>
              <a:pPr eaLnBrk="1" hangingPunct="1">
                <a:spcBef>
                  <a:spcPct val="0"/>
                </a:spcBef>
              </a:pPr>
              <a:t>59</a:t>
            </a:fld>
            <a:endParaRPr lang="en-US" altLang="zh-CN"/>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4B13DD9F-EE92-43B5-8710-BADEA272E536}" type="slidenum">
              <a:rPr lang="en-US" altLang="zh-CN" smtClean="0"/>
              <a:pPr eaLnBrk="1" hangingPunct="1">
                <a:spcBef>
                  <a:spcPct val="0"/>
                </a:spcBef>
              </a:pPr>
              <a:t>60</a:t>
            </a:fld>
            <a:endParaRPr lang="en-US" altLang="zh-CN"/>
          </a:p>
        </p:txBody>
      </p:sp>
      <p:sp>
        <p:nvSpPr>
          <p:cNvPr id="114691" name="Rectangle 2"/>
          <p:cNvSpPr>
            <a:spLocks noGrp="1" noRot="1" noChangeAspect="1" noChangeArrowheads="1" noTextEdit="1"/>
          </p:cNvSpPr>
          <p:nvPr>
            <p:ph type="sldImg"/>
          </p:nvPr>
        </p:nvSpPr>
        <p:spPr>
          <a:solidFill>
            <a:srgbClr val="FFFFFF"/>
          </a:solidFill>
          <a:ln/>
        </p:spPr>
      </p:sp>
      <p:sp>
        <p:nvSpPr>
          <p:cNvPr id="114692" name="Rectangle 3"/>
          <p:cNvSpPr>
            <a:spLocks noGrp="1" noChangeArrowheads="1"/>
          </p:cNvSpPr>
          <p:nvPr>
            <p:ph type="body" idx="1"/>
          </p:nvPr>
        </p:nvSpPr>
        <p:spPr>
          <a:xfrm>
            <a:off x="914400" y="4341813"/>
            <a:ext cx="5029200" cy="4116387"/>
          </a:xfrm>
          <a:solidFill>
            <a:srgbClr val="FFFFFF"/>
          </a:solidFill>
          <a:ln>
            <a:solidFill>
              <a:srgbClr val="000000"/>
            </a:solidFill>
          </a:ln>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0ADAAE12-4F8F-4AA5-BBBA-47EC7937C9FA}" type="slidenum">
              <a:rPr lang="en-US" altLang="zh-CN" smtClean="0"/>
              <a:pPr eaLnBrk="1" hangingPunct="1">
                <a:spcBef>
                  <a:spcPct val="0"/>
                </a:spcBef>
              </a:pPr>
              <a:t>61</a:t>
            </a:fld>
            <a:endParaRPr lang="en-US" altLang="zh-CN"/>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3F38228B-C39B-4C5A-AB75-69DBFF3A1457}" type="slidenum">
              <a:rPr lang="en-US" altLang="zh-CN" smtClean="0"/>
              <a:pPr eaLnBrk="1" hangingPunct="1">
                <a:spcBef>
                  <a:spcPct val="0"/>
                </a:spcBef>
              </a:pPr>
              <a:t>62</a:t>
            </a:fld>
            <a:endParaRPr lang="en-US" altLang="zh-CN"/>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9571339B-A892-4A68-A5F7-7C906AA79811}" type="slidenum">
              <a:rPr lang="en-US" altLang="zh-CN" smtClean="0"/>
              <a:pPr eaLnBrk="1" hangingPunct="1">
                <a:spcBef>
                  <a:spcPct val="0"/>
                </a:spcBef>
              </a:pPr>
              <a:t>63</a:t>
            </a:fld>
            <a:endParaRPr lang="en-US" altLang="zh-CN"/>
          </a:p>
        </p:txBody>
      </p:sp>
      <p:sp>
        <p:nvSpPr>
          <p:cNvPr id="117763" name="Rectangle 2"/>
          <p:cNvSpPr>
            <a:spLocks noGrp="1" noRot="1" noChangeAspect="1" noChangeArrowheads="1" noTextEdit="1"/>
          </p:cNvSpPr>
          <p:nvPr>
            <p:ph type="sldImg"/>
          </p:nvPr>
        </p:nvSpPr>
        <p:spPr>
          <a:solidFill>
            <a:srgbClr val="FFFFFF"/>
          </a:solidFill>
          <a:ln/>
        </p:spPr>
      </p:sp>
      <p:sp>
        <p:nvSpPr>
          <p:cNvPr id="117764" name="Rectangle 3"/>
          <p:cNvSpPr>
            <a:spLocks noGrp="1" noChangeArrowheads="1"/>
          </p:cNvSpPr>
          <p:nvPr>
            <p:ph type="body" idx="1"/>
          </p:nvPr>
        </p:nvSpPr>
        <p:spPr>
          <a:xfrm>
            <a:off x="914400" y="4341813"/>
            <a:ext cx="5029200" cy="4116387"/>
          </a:xfrm>
          <a:solidFill>
            <a:srgbClr val="FFFFFF"/>
          </a:solidFill>
          <a:ln>
            <a:solidFill>
              <a:srgbClr val="000000"/>
            </a:solidFill>
          </a:ln>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CC559986-EBBA-4D50-812E-97BFE00F62E3}" type="slidenum">
              <a:rPr lang="en-US" altLang="zh-CN" smtClean="0"/>
              <a:pPr eaLnBrk="1" hangingPunct="1">
                <a:spcBef>
                  <a:spcPct val="0"/>
                </a:spcBef>
              </a:pPr>
              <a:t>65</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8F48F509-FF5A-4BA8-84FD-762A12C4E1E8}" type="slidenum">
              <a:rPr lang="en-US" altLang="zh-CN" smtClean="0"/>
              <a:pPr eaLnBrk="1" hangingPunct="1">
                <a:spcBef>
                  <a:spcPct val="0"/>
                </a:spcBef>
              </a:pPr>
              <a:t>66</a:t>
            </a:fld>
            <a:endParaRPr lang="en-US" altLang="zh-CN"/>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B86262E3-D705-44AA-A1AF-6EA7EA1AB5AF}" type="slidenum">
              <a:rPr lang="en-US" altLang="zh-CN" smtClean="0"/>
              <a:pPr eaLnBrk="1" hangingPunct="1">
                <a:spcBef>
                  <a:spcPct val="0"/>
                </a:spcBef>
              </a:pPr>
              <a:t>67</a:t>
            </a:fld>
            <a:endParaRPr lang="en-US" altLang="zh-CN"/>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095F13C9-07AF-4561-83C6-4ED685C8F57A}" type="slidenum">
              <a:rPr lang="en-US" altLang="zh-CN" smtClean="0"/>
              <a:pPr eaLnBrk="1" hangingPunct="1">
                <a:spcBef>
                  <a:spcPct val="0"/>
                </a:spcBef>
              </a:pPr>
              <a:t>68</a:t>
            </a:fld>
            <a:endParaRPr lang="en-US" altLang="zh-CN"/>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A428B8DD-21AB-496B-BD52-5352F787DE8C}" type="slidenum">
              <a:rPr lang="en-US" altLang="zh-CN" smtClean="0"/>
              <a:pPr eaLnBrk="1" hangingPunct="1">
                <a:spcBef>
                  <a:spcPct val="0"/>
                </a:spcBef>
              </a:pPr>
              <a:t>69</a:t>
            </a:fld>
            <a:endParaRPr lang="en-US" altLang="zh-CN"/>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A428B8DD-21AB-496B-BD52-5352F787DE8C}" type="slidenum">
              <a:rPr lang="en-US" altLang="zh-CN" smtClean="0"/>
              <a:pPr eaLnBrk="1" hangingPunct="1">
                <a:spcBef>
                  <a:spcPct val="0"/>
                </a:spcBef>
              </a:pPr>
              <a:t>70</a:t>
            </a:fld>
            <a:endParaRPr lang="en-US" altLang="zh-CN"/>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D3AE2DEF-8EBF-455A-A5A8-D7D26148DDCD}" type="slidenum">
              <a:rPr lang="en-US" altLang="zh-CN" smtClean="0"/>
              <a:pPr eaLnBrk="1" hangingPunct="1">
                <a:spcBef>
                  <a:spcPct val="0"/>
                </a:spcBef>
              </a:pPr>
              <a:t>71</a:t>
            </a:fld>
            <a:endParaRPr lang="en-US" altLang="zh-CN"/>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直角三角形 9"/>
          <p:cNvSpPr/>
          <p:nvPr/>
        </p:nvSpPr>
        <p:spPr>
          <a:xfrm>
            <a:off x="-2" y="3498110"/>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314451"/>
            <a:ext cx="7772400" cy="137232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zh-CN" altLang="en-US"/>
              <a:t>单击此处编辑母版标题样式</a:t>
            </a:r>
            <a:endParaRPr kumimoji="0" lang="en-US" dirty="0"/>
          </a:p>
        </p:txBody>
      </p:sp>
      <p:sp>
        <p:nvSpPr>
          <p:cNvPr id="17" name="副标题 16"/>
          <p:cNvSpPr>
            <a:spLocks noGrp="1"/>
          </p:cNvSpPr>
          <p:nvPr>
            <p:ph type="subTitle" idx="1"/>
          </p:nvPr>
        </p:nvSpPr>
        <p:spPr>
          <a:xfrm>
            <a:off x="685800" y="2708705"/>
            <a:ext cx="7772400" cy="899778"/>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grpSp>
        <p:nvGrpSpPr>
          <p:cNvPr id="2" name="组合 1"/>
          <p:cNvGrpSpPr/>
          <p:nvPr/>
        </p:nvGrpSpPr>
        <p:grpSpPr>
          <a:xfrm>
            <a:off x="-3765" y="3714750"/>
            <a:ext cx="9147765" cy="1434066"/>
            <a:chOff x="-3765" y="4832896"/>
            <a:chExt cx="9147765" cy="2032192"/>
          </a:xfrm>
        </p:grpSpPr>
        <p:sp>
          <p:nvSpPr>
            <p:cNvPr id="7" name="任意多边形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extLst/>
          </a:lstStyle>
          <a:p>
            <a:fld id="{222983CD-40B6-4A0F-A754-6514ADAC0847}" type="datetimeFigureOut">
              <a:rPr lang="zh-CN" altLang="en-US" smtClean="0"/>
              <a:t>2023/7/16</a:t>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extLst/>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extLst/>
          </a:lstStyle>
          <a:p>
            <a:fld id="{48ABA68F-732D-4838-AEEE-E87A7C2BC0F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lvl1pPr>
              <a:defRPr sz="2400">
                <a:latin typeface="宋体" panose="02010600030101010101" pitchFamily="2" charset="-122"/>
                <a:ea typeface="宋体" panose="02010600030101010101" pitchFamily="2" charset="-122"/>
              </a:defRPr>
            </a:lvl1pPr>
            <a:lvl2pPr>
              <a:defRPr sz="2200">
                <a:latin typeface="宋体" panose="02010600030101010101" pitchFamily="2" charset="-122"/>
                <a:ea typeface="宋体" panose="02010600030101010101" pitchFamily="2" charset="-122"/>
              </a:defRPr>
            </a:lvl2pPr>
            <a:lvl3pPr>
              <a:defRPr sz="2000">
                <a:latin typeface="宋体" panose="02010600030101010101" pitchFamily="2" charset="-122"/>
                <a:ea typeface="宋体" panose="02010600030101010101" pitchFamily="2" charset="-122"/>
              </a:defRPr>
            </a:lvl3pPr>
            <a:lvl4pPr>
              <a:defRPr sz="2000">
                <a:latin typeface="宋体" panose="02010600030101010101" pitchFamily="2" charset="-122"/>
                <a:ea typeface="宋体" panose="02010600030101010101" pitchFamily="2" charset="-122"/>
              </a:defRPr>
            </a:lvl4pPr>
            <a:lvl5pPr>
              <a:defRPr sz="2000">
                <a:latin typeface="宋体" panose="02010600030101010101" pitchFamily="2" charset="-122"/>
                <a:ea typeface="宋体" panose="02010600030101010101" pitchFamily="2" charset="-122"/>
              </a:defRPr>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4" name="日期占位符 3"/>
          <p:cNvSpPr>
            <a:spLocks noGrp="1"/>
          </p:cNvSpPr>
          <p:nvPr>
            <p:ph type="dt" sz="half" idx="10"/>
          </p:nvPr>
        </p:nvSpPr>
        <p:spPr/>
        <p:txBody>
          <a:bodyPr/>
          <a:lstStyle/>
          <a:p>
            <a:fld id="{222983CD-40B6-4A0F-A754-6514ADAC0847}" type="datetimeFigureOut">
              <a:rPr lang="zh-CN" altLang="en-US" smtClean="0"/>
              <a:t>2023/7/16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ABA68F-732D-4838-AEEE-E87A7C2BC0FD}" type="slidenum">
              <a:rPr lang="zh-CN" altLang="en-US" smtClean="0"/>
              <a:t>‹#›</a:t>
            </a:fld>
            <a:endParaRPr lang="zh-CN" altLang="en-US"/>
          </a:p>
        </p:txBody>
      </p:sp>
      <p:sp>
        <p:nvSpPr>
          <p:cNvPr id="7" name="标题 6"/>
          <p:cNvSpPr>
            <a:spLocks noGrp="1"/>
          </p:cNvSpPr>
          <p:nvPr>
            <p:ph type="title"/>
          </p:nvPr>
        </p:nvSpPr>
        <p:spPr>
          <a:xfrm>
            <a:off x="107504" y="123478"/>
            <a:ext cx="8229600" cy="576064"/>
          </a:xfrm>
        </p:spPr>
        <p:txBody>
          <a:bodyPr rtlCol="0">
            <a:normAutofit/>
          </a:bodyPr>
          <a:lstStyle>
            <a:lvl1pPr>
              <a:defRPr sz="3600">
                <a:latin typeface="隶书" panose="02010509060101010101" pitchFamily="49" charset="-122"/>
                <a:ea typeface="隶书" panose="02010509060101010101" pitchFamily="49" charset="-122"/>
              </a:defRPr>
            </a:lvl1pPr>
            <a:extLst/>
          </a:lstStyle>
          <a:p>
            <a:r>
              <a:rPr kumimoji="0" lang="zh-CN" altLang="en-US"/>
              <a:t>单击此处编辑母版标题样式</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8229600" cy="857250"/>
          </a:xfrm>
        </p:spPr>
        <p:txBody>
          <a:bodyPr anchor="ctr">
            <a:normAutofit/>
          </a:bodyPr>
          <a:lstStyle>
            <a:lvl1pPr>
              <a:defRPr sz="3600"/>
            </a:lvl1pPr>
            <a:extLst/>
          </a:lstStyle>
          <a:p>
            <a:r>
              <a:rPr kumimoji="0" lang="zh-CN" altLang="en-US"/>
              <a:t>单击此处编辑母版标题样式</a:t>
            </a:r>
            <a:endParaRPr kumimoji="0" lang="en-US" dirty="0"/>
          </a:p>
        </p:txBody>
      </p:sp>
      <p:sp>
        <p:nvSpPr>
          <p:cNvPr id="3" name="文本占位符 2"/>
          <p:cNvSpPr>
            <a:spLocks noGrp="1"/>
          </p:cNvSpPr>
          <p:nvPr>
            <p:ph type="body" idx="1"/>
          </p:nvPr>
        </p:nvSpPr>
        <p:spPr>
          <a:xfrm>
            <a:off x="457200" y="4057650"/>
            <a:ext cx="4040188"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45027" y="4057650"/>
            <a:ext cx="4041775"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1083221"/>
            <a:ext cx="4040188" cy="2956322"/>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6" name="内容占位符 5"/>
          <p:cNvSpPr>
            <a:spLocks noGrp="1"/>
          </p:cNvSpPr>
          <p:nvPr>
            <p:ph sz="quarter" idx="4"/>
          </p:nvPr>
        </p:nvSpPr>
        <p:spPr>
          <a:xfrm>
            <a:off x="4645026" y="1083221"/>
            <a:ext cx="4041775" cy="2956322"/>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7" name="日期占位符 6"/>
          <p:cNvSpPr>
            <a:spLocks noGrp="1"/>
          </p:cNvSpPr>
          <p:nvPr>
            <p:ph type="dt" sz="half" idx="10"/>
          </p:nvPr>
        </p:nvSpPr>
        <p:spPr/>
        <p:txBody>
          <a:bodyPr/>
          <a:lstStyle/>
          <a:p>
            <a:fld id="{222983CD-40B6-4A0F-A754-6514ADAC0847}" type="datetimeFigureOut">
              <a:rPr lang="zh-CN" altLang="en-US" smtClean="0"/>
              <a:t>2023/7/16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8ABA68F-732D-4838-AEEE-E87A7C2BC0FD}"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57200"/>
            <a:ext cx="77724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5CE682A1-1A1D-48C5-8454-CAC72D967F0C}" type="slidenum">
              <a:rPr lang="en-US" altLang="zh-CN"/>
              <a:pPr>
                <a:defRPr/>
              </a:pPr>
              <a:t>‹#›</a:t>
            </a:fld>
            <a:endParaRPr lang="en-US" altLang="zh-CN"/>
          </a:p>
        </p:txBody>
      </p:sp>
    </p:spTree>
    <p:extLst>
      <p:ext uri="{BB962C8B-B14F-4D97-AF65-F5344CB8AC3E}">
        <p14:creationId xmlns:p14="http://schemas.microsoft.com/office/powerpoint/2010/main" val="3100272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485900"/>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485900"/>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2FF3FE5-B9BC-45A0-97E5-A3F3B3C242D9}" type="slidenum">
              <a:rPr lang="en-US" altLang="zh-CN"/>
              <a:pPr>
                <a:defRPr/>
              </a:pPr>
              <a:t>‹#›</a:t>
            </a:fld>
            <a:endParaRPr lang="en-US" altLang="zh-CN"/>
          </a:p>
        </p:txBody>
      </p:sp>
    </p:spTree>
    <p:extLst>
      <p:ext uri="{BB962C8B-B14F-4D97-AF65-F5344CB8AC3E}">
        <p14:creationId xmlns:p14="http://schemas.microsoft.com/office/powerpoint/2010/main" val="1783375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FEBE5D5-FE9A-420B-A513-0DB4698D86C4}" type="slidenum">
              <a:rPr lang="en-US" altLang="zh-CN"/>
              <a:pPr>
                <a:defRPr/>
              </a:pPr>
              <a:t>‹#›</a:t>
            </a:fld>
            <a:endParaRPr lang="en-US" altLang="zh-CN"/>
          </a:p>
        </p:txBody>
      </p:sp>
    </p:spTree>
    <p:extLst>
      <p:ext uri="{BB962C8B-B14F-4D97-AF65-F5344CB8AC3E}">
        <p14:creationId xmlns:p14="http://schemas.microsoft.com/office/powerpoint/2010/main" val="3857292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485900"/>
            <a:ext cx="3810000" cy="3086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485900"/>
            <a:ext cx="3810000" cy="3086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9700DCC-3504-467D-B0C9-BA99D29778B7}" type="slidenum">
              <a:rPr lang="en-US" altLang="zh-CN"/>
              <a:pPr>
                <a:defRPr/>
              </a:pPr>
              <a:t>‹#›</a:t>
            </a:fld>
            <a:endParaRPr lang="en-US" altLang="zh-CN"/>
          </a:p>
        </p:txBody>
      </p:sp>
    </p:spTree>
    <p:extLst>
      <p:ext uri="{BB962C8B-B14F-4D97-AF65-F5344CB8AC3E}">
        <p14:creationId xmlns:p14="http://schemas.microsoft.com/office/powerpoint/2010/main" val="2405855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Chart">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485900"/>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图表占位符 3"/>
          <p:cNvSpPr>
            <a:spLocks noGrp="1"/>
          </p:cNvSpPr>
          <p:nvPr>
            <p:ph type="chart" sz="half" idx="2"/>
          </p:nvPr>
        </p:nvSpPr>
        <p:spPr>
          <a:xfrm>
            <a:off x="4648200" y="1485900"/>
            <a:ext cx="3810000" cy="3086100"/>
          </a:xfrm>
        </p:spPr>
        <p:txBody>
          <a:bodyPr/>
          <a:lstStyle/>
          <a:p>
            <a:pPr lvl="0"/>
            <a:endParaRPr lang="zh-CN" altLang="en-US" noProof="0"/>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19097C1-966F-4F10-9F69-05B25E60FEB9}" type="slidenum">
              <a:rPr lang="en-US" altLang="zh-CN"/>
              <a:pPr>
                <a:defRPr/>
              </a:pPr>
              <a:t>‹#›</a:t>
            </a:fld>
            <a:endParaRPr lang="en-US" altLang="zh-CN"/>
          </a:p>
        </p:txBody>
      </p:sp>
    </p:spTree>
    <p:extLst>
      <p:ext uri="{BB962C8B-B14F-4D97-AF65-F5344CB8AC3E}">
        <p14:creationId xmlns:p14="http://schemas.microsoft.com/office/powerpoint/2010/main" val="2591712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26A3AEC9-3F80-48EB-BD2F-CCEF1A7A5C56}" type="slidenum">
              <a:rPr lang="en-US" altLang="zh-CN"/>
              <a:pPr>
                <a:defRPr/>
              </a:pPr>
              <a:t>‹#›</a:t>
            </a:fld>
            <a:endParaRPr lang="en-US" altLang="zh-CN"/>
          </a:p>
        </p:txBody>
      </p:sp>
    </p:spTree>
    <p:extLst>
      <p:ext uri="{BB962C8B-B14F-4D97-AF65-F5344CB8AC3E}">
        <p14:creationId xmlns:p14="http://schemas.microsoft.com/office/powerpoint/2010/main" val="1378130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a:spLocks/>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a:spLocks/>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直角三角形 13"/>
          <p:cNvSpPr>
            <a:spLocks/>
          </p:cNvSpPr>
          <p:nvPr/>
        </p:nvSpPr>
        <p:spPr bwMode="auto">
          <a:xfrm>
            <a:off x="-6042" y="4343440"/>
            <a:ext cx="3402314" cy="810651"/>
          </a:xfrm>
          <a:prstGeom prst="rtTriangle">
            <a:avLst/>
          </a:prstGeom>
          <a:blipFill>
            <a:blip r:embed="rId11">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直接连接符 14"/>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05979"/>
            <a:ext cx="8229600" cy="85725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dirty="0"/>
              <a:t>单击此处编辑母版标题样式</a:t>
            </a:r>
            <a:endParaRPr kumimoji="0" lang="en-US" dirty="0"/>
          </a:p>
        </p:txBody>
      </p:sp>
      <p:sp>
        <p:nvSpPr>
          <p:cNvPr id="30" name="文本占位符 29"/>
          <p:cNvSpPr>
            <a:spLocks noGrp="1"/>
          </p:cNvSpPr>
          <p:nvPr>
            <p:ph type="body" idx="1"/>
          </p:nvPr>
        </p:nvSpPr>
        <p:spPr>
          <a:xfrm>
            <a:off x="457200" y="1110997"/>
            <a:ext cx="8229600" cy="3394472"/>
          </a:xfrm>
          <a:prstGeom prst="rect">
            <a:avLst/>
          </a:prstGeom>
        </p:spPr>
        <p:txBody>
          <a:bodyPr vert="horz">
            <a:normAutofit/>
          </a:bodyPr>
          <a:lstStyle/>
          <a:p>
            <a:pPr lvl="0" eaLnBrk="1" latinLnBrk="0" hangingPunct="1"/>
            <a:r>
              <a:rPr kumimoji="0" lang="zh-CN" altLang="en-US" dirty="0"/>
              <a:t>单击此处编辑母版文本样式</a:t>
            </a:r>
          </a:p>
          <a:p>
            <a:pPr lvl="1" eaLnBrk="1" latinLnBrk="0" hangingPunct="1"/>
            <a:r>
              <a:rPr kumimoji="0" lang="zh-CN" altLang="en-US" dirty="0"/>
              <a:t>第二级</a:t>
            </a:r>
          </a:p>
          <a:p>
            <a:pPr lvl="2" eaLnBrk="1" latinLnBrk="0" hangingPunct="1"/>
            <a:r>
              <a:rPr kumimoji="0" lang="zh-CN" altLang="en-US" dirty="0"/>
              <a:t>第三级</a:t>
            </a:r>
          </a:p>
          <a:p>
            <a:pPr lvl="3" eaLnBrk="1" latinLnBrk="0" hangingPunct="1"/>
            <a:r>
              <a:rPr kumimoji="0" lang="zh-CN" altLang="en-US" dirty="0"/>
              <a:t>第四级</a:t>
            </a:r>
          </a:p>
          <a:p>
            <a:pPr lvl="4" eaLnBrk="1" latinLnBrk="0" hangingPunct="1"/>
            <a:r>
              <a:rPr kumimoji="0" lang="zh-CN" altLang="en-US" dirty="0"/>
              <a:t>第五级</a:t>
            </a:r>
            <a:endParaRPr kumimoji="0" lang="en-US" dirty="0"/>
          </a:p>
        </p:txBody>
      </p:sp>
      <p:sp>
        <p:nvSpPr>
          <p:cNvPr id="10" name="日期占位符 9"/>
          <p:cNvSpPr>
            <a:spLocks noGrp="1"/>
          </p:cNvSpPr>
          <p:nvPr>
            <p:ph type="dt" sz="half" idx="2"/>
          </p:nvPr>
        </p:nvSpPr>
        <p:spPr>
          <a:xfrm>
            <a:off x="6727032" y="4805958"/>
            <a:ext cx="1920240" cy="274320"/>
          </a:xfrm>
          <a:prstGeom prst="rect">
            <a:avLst/>
          </a:prstGeom>
        </p:spPr>
        <p:txBody>
          <a:bodyPr vert="horz" anchor="b"/>
          <a:lstStyle>
            <a:lvl1pPr algn="l" eaLnBrk="1" latinLnBrk="0" hangingPunct="1">
              <a:defRPr kumimoji="0" sz="1000">
                <a:solidFill>
                  <a:schemeClr val="tx1"/>
                </a:solidFill>
              </a:defRPr>
            </a:lvl1pPr>
            <a:extLst/>
          </a:lstStyle>
          <a:p>
            <a:fld id="{222983CD-40B6-4A0F-A754-6514ADAC0847}" type="datetimeFigureOut">
              <a:rPr lang="zh-CN" altLang="en-US" smtClean="0"/>
              <a:t>2023/7/16</a:t>
            </a:fld>
            <a:endParaRPr lang="zh-CN" altLang="en-US"/>
          </a:p>
        </p:txBody>
      </p:sp>
      <p:sp>
        <p:nvSpPr>
          <p:cNvPr id="22" name="页脚占位符 21"/>
          <p:cNvSpPr>
            <a:spLocks noGrp="1"/>
          </p:cNvSpPr>
          <p:nvPr>
            <p:ph type="ftr" sz="quarter" idx="3"/>
          </p:nvPr>
        </p:nvSpPr>
        <p:spPr>
          <a:xfrm>
            <a:off x="4380073" y="4805958"/>
            <a:ext cx="2350681" cy="273844"/>
          </a:xfrm>
          <a:prstGeom prst="rect">
            <a:avLst/>
          </a:prstGeom>
        </p:spPr>
        <p:txBody>
          <a:bodyPr vert="horz" anchor="b"/>
          <a:lstStyle>
            <a:lvl1pPr algn="r" eaLnBrk="1" latinLnBrk="0" hangingPunct="1">
              <a:defRPr kumimoji="0" sz="1000">
                <a:solidFill>
                  <a:schemeClr val="tx1"/>
                </a:solidFill>
              </a:defRPr>
            </a:lvl1pPr>
            <a:extLst/>
          </a:lstStyle>
          <a:p>
            <a:endParaRPr lang="zh-CN" altLang="en-US"/>
          </a:p>
        </p:txBody>
      </p:sp>
      <p:sp>
        <p:nvSpPr>
          <p:cNvPr id="18" name="灯片编号占位符 17"/>
          <p:cNvSpPr>
            <a:spLocks noGrp="1"/>
          </p:cNvSpPr>
          <p:nvPr>
            <p:ph type="sldNum" sz="quarter" idx="4"/>
          </p:nvPr>
        </p:nvSpPr>
        <p:spPr>
          <a:xfrm>
            <a:off x="8647272" y="4805958"/>
            <a:ext cx="365760" cy="273844"/>
          </a:xfrm>
          <a:prstGeom prst="rect">
            <a:avLst/>
          </a:prstGeom>
        </p:spPr>
        <p:txBody>
          <a:bodyPr vert="horz" anchor="b"/>
          <a:lstStyle>
            <a:lvl1pPr algn="r" eaLnBrk="1" latinLnBrk="0" hangingPunct="1">
              <a:defRPr kumimoji="0" sz="1000" b="0">
                <a:solidFill>
                  <a:schemeClr val="tx1"/>
                </a:solidFill>
              </a:defRPr>
            </a:lvl1pPr>
            <a:extLst/>
          </a:lstStyle>
          <a:p>
            <a:fld id="{48ABA68F-732D-4838-AEEE-E87A7C2BC0F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5" r:id="rId3"/>
    <p:sldLayoutId id="2147483726" r:id="rId4"/>
    <p:sldLayoutId id="2147483727" r:id="rId5"/>
    <p:sldLayoutId id="2147483728" r:id="rId6"/>
    <p:sldLayoutId id="2147483729" r:id="rId7"/>
    <p:sldLayoutId id="2147483730" r:id="rId8"/>
    <p:sldLayoutId id="2147483731" r:id="rId9"/>
  </p:sldLayoutIdLst>
  <p:txStyles>
    <p:title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7.emf"/><Relationship Id="rId5" Type="http://schemas.openxmlformats.org/officeDocument/2006/relationships/oleObject" Target="../embeddings/oleObject5.bin"/><Relationship Id="rId4" Type="http://schemas.openxmlformats.org/officeDocument/2006/relationships/image" Target="../media/image6.wmf"/></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Visio___.vsdx"/><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9.emf"/><Relationship Id="rId5" Type="http://schemas.openxmlformats.org/officeDocument/2006/relationships/oleObject" Target="../embeddings/oleObject8.bin"/><Relationship Id="rId4" Type="http://schemas.openxmlformats.org/officeDocument/2006/relationships/image" Target="../media/image10.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hemeOverride" Target="../theme/themeOverride1.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16.jpeg"/><Relationship Id="rId4" Type="http://schemas.openxmlformats.org/officeDocument/2006/relationships/image" Target="../media/image15.jpeg"/></Relationships>
</file>

<file path=ppt/slides/_rels/slide4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16.jpeg"/><Relationship Id="rId4" Type="http://schemas.openxmlformats.org/officeDocument/2006/relationships/image" Target="../media/image18.jpeg"/></Relationships>
</file>

<file path=ppt/slides/_rels/slide4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18.jpeg"/></Relationships>
</file>

<file path=ppt/slides/_rels/slide4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19.jpeg"/></Relationships>
</file>

<file path=ppt/slides/_rels/slide4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0.jpeg"/></Relationships>
</file>

<file path=ppt/slides/_rels/slide4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2.xml"/><Relationship Id="rId1" Type="http://schemas.openxmlformats.org/officeDocument/2006/relationships/slideLayout" Target="../slideLayouts/slideLayout8.xml"/><Relationship Id="rId5" Type="http://schemas.openxmlformats.org/officeDocument/2006/relationships/image" Target="../media/image22.emf"/><Relationship Id="rId4" Type="http://schemas.openxmlformats.org/officeDocument/2006/relationships/oleObject" Target="../embeddings/oleObject9.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5.wmf"/></Relationships>
</file>

<file path=ppt/slides/_rels/slide56.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5.wmf"/></Relationships>
</file>

<file path=ppt/slides/_rels/slide58.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3.bin"/><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25.w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9.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0.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package" Target="../embeddings/Microsoft_Visio___1.vsdx"/><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27584" y="1995686"/>
            <a:ext cx="5904656" cy="742950"/>
          </a:xfrm>
        </p:spPr>
        <p:txBody>
          <a:bodyPr>
            <a:noAutofit/>
          </a:bodyPr>
          <a:lstStyle/>
          <a:p>
            <a:pPr algn="l"/>
            <a:r>
              <a:rPr lang="zh-CN" altLang="en-US" dirty="0"/>
              <a:t>第七章</a:t>
            </a:r>
            <a:r>
              <a:rPr lang="en-US" altLang="zh-CN" dirty="0"/>
              <a:t> </a:t>
            </a:r>
            <a:r>
              <a:rPr lang="zh-CN" altLang="en-US" dirty="0"/>
              <a:t>代码优化</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9164638" cy="1621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7396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6"/>
          <p:cNvSpPr>
            <a:spLocks noChangeArrowheads="1"/>
          </p:cNvSpPr>
          <p:nvPr/>
        </p:nvSpPr>
        <p:spPr bwMode="auto">
          <a:xfrm>
            <a:off x="4640264" y="1122760"/>
            <a:ext cx="238848"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3700" b="1">
                <a:solidFill>
                  <a:srgbClr val="000000"/>
                </a:solidFill>
                <a:latin typeface="宋体" pitchFamily="2" charset="-122"/>
              </a:rPr>
              <a:t> </a:t>
            </a:r>
            <a:endParaRPr lang="en-US" altLang="zh-CN" sz="2400"/>
          </a:p>
        </p:txBody>
      </p:sp>
      <p:sp>
        <p:nvSpPr>
          <p:cNvPr id="3075" name="Rectangle 28"/>
          <p:cNvSpPr>
            <a:spLocks noGrp="1" noChangeArrowheads="1"/>
          </p:cNvSpPr>
          <p:nvPr>
            <p:ph type="title" idx="4294967295"/>
          </p:nvPr>
        </p:nvSpPr>
        <p:spPr>
          <a:xfrm>
            <a:off x="539750" y="250031"/>
            <a:ext cx="7772400" cy="857250"/>
          </a:xfrm>
        </p:spPr>
        <p:txBody>
          <a:bodyPr/>
          <a:lstStyle/>
          <a:p>
            <a:pPr eaLnBrk="1" hangingPunct="1"/>
            <a:r>
              <a:rPr kumimoji="0" lang="zh-CN" altLang="en-US" sz="4800" b="1">
                <a:solidFill>
                  <a:srgbClr val="663399"/>
                </a:solidFill>
                <a:latin typeface="Arial" pitchFamily="34" charset="0"/>
                <a:ea typeface="隶书" pitchFamily="49" charset="-122"/>
              </a:rPr>
              <a:t>本章要求</a:t>
            </a:r>
          </a:p>
        </p:txBody>
      </p:sp>
      <p:sp>
        <p:nvSpPr>
          <p:cNvPr id="3076" name="Rectangle 29"/>
          <p:cNvSpPr>
            <a:spLocks noGrp="1" noChangeArrowheads="1"/>
          </p:cNvSpPr>
          <p:nvPr>
            <p:ph type="body" idx="4294967295"/>
          </p:nvPr>
        </p:nvSpPr>
        <p:spPr>
          <a:xfrm>
            <a:off x="1116014" y="1059656"/>
            <a:ext cx="7272337" cy="3401616"/>
          </a:xfrm>
        </p:spPr>
        <p:txBody>
          <a:bodyPr>
            <a:normAutofit fontScale="92500" lnSpcReduction="10000"/>
          </a:bodyPr>
          <a:lstStyle/>
          <a:p>
            <a:pPr eaLnBrk="1" hangingPunct="1">
              <a:spcBef>
                <a:spcPct val="30000"/>
              </a:spcBef>
            </a:pPr>
            <a:r>
              <a:rPr lang="zh-CN" altLang="en-US" sz="2800" b="1" dirty="0">
                <a:solidFill>
                  <a:srgbClr val="FF0000"/>
                </a:solidFill>
              </a:rPr>
              <a:t>主要内容</a:t>
            </a:r>
            <a:r>
              <a:rPr lang="zh-CN" altLang="en-US" sz="2800" dirty="0"/>
              <a:t>：</a:t>
            </a:r>
            <a:endParaRPr lang="en-US" altLang="zh-CN" sz="2800" dirty="0"/>
          </a:p>
          <a:p>
            <a:pPr lvl="1" eaLnBrk="1" hangingPunct="1">
              <a:spcBef>
                <a:spcPct val="30000"/>
              </a:spcBef>
            </a:pPr>
            <a:r>
              <a:rPr lang="zh-CN" altLang="en-US" sz="2400" b="1" dirty="0"/>
              <a:t>代码优化的主要功能</a:t>
            </a:r>
            <a:endParaRPr lang="en-US" altLang="zh-CN" sz="2400" b="1" dirty="0"/>
          </a:p>
          <a:p>
            <a:pPr lvl="1" eaLnBrk="1" hangingPunct="1">
              <a:spcBef>
                <a:spcPct val="30000"/>
              </a:spcBef>
            </a:pPr>
            <a:r>
              <a:rPr lang="zh-CN" altLang="en-US" sz="2400" b="1" dirty="0"/>
              <a:t>基本块及流图</a:t>
            </a:r>
            <a:endParaRPr lang="en-US" altLang="zh-CN" sz="2400" b="1" dirty="0"/>
          </a:p>
          <a:p>
            <a:pPr lvl="1" eaLnBrk="1" hangingPunct="1">
              <a:spcBef>
                <a:spcPct val="30000"/>
              </a:spcBef>
            </a:pPr>
            <a:r>
              <a:rPr lang="zh-CN" altLang="en-US" sz="2400" b="1" dirty="0"/>
              <a:t>局部优化、全局优化和循环优化技术</a:t>
            </a:r>
          </a:p>
          <a:p>
            <a:pPr eaLnBrk="1" hangingPunct="1">
              <a:spcBef>
                <a:spcPct val="30000"/>
              </a:spcBef>
            </a:pPr>
            <a:r>
              <a:rPr lang="zh-CN" altLang="en-US" sz="2800" b="1" dirty="0">
                <a:solidFill>
                  <a:srgbClr val="FF0000"/>
                </a:solidFill>
              </a:rPr>
              <a:t>重点掌握：</a:t>
            </a:r>
            <a:endParaRPr lang="en-US" altLang="zh-CN" sz="2800" b="1" dirty="0">
              <a:solidFill>
                <a:srgbClr val="FF0000"/>
              </a:solidFill>
            </a:endParaRPr>
          </a:p>
          <a:p>
            <a:pPr lvl="1" eaLnBrk="1" hangingPunct="1">
              <a:spcBef>
                <a:spcPct val="30000"/>
              </a:spcBef>
            </a:pPr>
            <a:r>
              <a:rPr lang="zh-CN" altLang="en-US" sz="2400" b="1" dirty="0"/>
              <a:t>基本块，流图</a:t>
            </a:r>
            <a:endParaRPr lang="en-US" altLang="zh-CN" sz="2400" b="1" dirty="0"/>
          </a:p>
          <a:p>
            <a:pPr lvl="1" eaLnBrk="1" hangingPunct="1">
              <a:spcBef>
                <a:spcPct val="30000"/>
              </a:spcBef>
            </a:pPr>
            <a:r>
              <a:rPr lang="en-US" altLang="zh-CN" sz="2400" b="1" dirty="0"/>
              <a:t>DAG</a:t>
            </a:r>
            <a:r>
              <a:rPr lang="zh-CN" altLang="en-US" sz="2400" b="1" dirty="0"/>
              <a:t>表示及优化</a:t>
            </a:r>
            <a:endParaRPr lang="en-US" altLang="zh-CN" sz="2400" b="1" dirty="0"/>
          </a:p>
          <a:p>
            <a:pPr lvl="1" eaLnBrk="1" hangingPunct="1">
              <a:spcBef>
                <a:spcPct val="30000"/>
              </a:spcBef>
            </a:pPr>
            <a:r>
              <a:rPr lang="zh-CN" altLang="en-US" sz="2400" b="1" dirty="0"/>
              <a:t>必经结点、回边和循环</a:t>
            </a:r>
          </a:p>
        </p:txBody>
      </p:sp>
    </p:spTree>
    <p:extLst>
      <p:ext uri="{BB962C8B-B14F-4D97-AF65-F5344CB8AC3E}">
        <p14:creationId xmlns:p14="http://schemas.microsoft.com/office/powerpoint/2010/main" val="806201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1732" name="Object 4"/>
          <p:cNvGraphicFramePr>
            <a:graphicFrameLocks noGrp="1" noChangeAspect="1"/>
          </p:cNvGraphicFramePr>
          <p:nvPr>
            <p:ph idx="1"/>
            <p:extLst>
              <p:ext uri="{D42A27DB-BD31-4B8C-83A1-F6EECF244321}">
                <p14:modId xmlns:p14="http://schemas.microsoft.com/office/powerpoint/2010/main" val="2104540562"/>
              </p:ext>
            </p:extLst>
          </p:nvPr>
        </p:nvGraphicFramePr>
        <p:xfrm>
          <a:off x="279223" y="2787997"/>
          <a:ext cx="8388350" cy="1985963"/>
        </p:xfrm>
        <a:graphic>
          <a:graphicData uri="http://schemas.openxmlformats.org/presentationml/2006/ole">
            <mc:AlternateContent xmlns:mc="http://schemas.openxmlformats.org/markup-compatibility/2006">
              <mc:Choice xmlns:v="urn:schemas-microsoft-com:vml" Requires="v">
                <p:oleObj name="Visio" r:id="rId3" imgW="3676095" imgH="1160494" progId="Visio.Drawing.11">
                  <p:embed/>
                </p:oleObj>
              </mc:Choice>
              <mc:Fallback>
                <p:oleObj name="Visio" r:id="rId3" imgW="3676095" imgH="1160494"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223" y="2787997"/>
                        <a:ext cx="8388350" cy="1985963"/>
                      </a:xfrm>
                      <a:prstGeom prst="rect">
                        <a:avLst/>
                      </a:prstGeom>
                      <a:solidFill>
                        <a:schemeClr val="bg1"/>
                      </a:solidFill>
                      <a:ln>
                        <a:noFill/>
                      </a:ln>
                      <a:effectLst/>
                    </p:spPr>
                  </p:pic>
                </p:oleObj>
              </mc:Fallback>
            </mc:AlternateContent>
          </a:graphicData>
        </a:graphic>
      </p:graphicFrame>
      <p:sp>
        <p:nvSpPr>
          <p:cNvPr id="201735" name="Rectangle 7"/>
          <p:cNvSpPr>
            <a:spLocks noChangeArrowheads="1"/>
          </p:cNvSpPr>
          <p:nvPr/>
        </p:nvSpPr>
        <p:spPr bwMode="auto">
          <a:xfrm>
            <a:off x="467544" y="447550"/>
            <a:ext cx="8209607" cy="756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marL="0" indent="0" eaLnBrk="1" hangingPunct="1">
              <a:buNone/>
            </a:pPr>
            <a:r>
              <a:rPr lang="zh-CN" altLang="en-US" sz="2200" dirty="0"/>
              <a:t>代码优化：对程序进行等价变换，使得从变换后的程序出发，能够生成更有效的目标代码。</a:t>
            </a:r>
          </a:p>
        </p:txBody>
      </p:sp>
      <p:sp>
        <p:nvSpPr>
          <p:cNvPr id="5" name="Rectangle 7"/>
          <p:cNvSpPr>
            <a:spLocks noChangeArrowheads="1"/>
          </p:cNvSpPr>
          <p:nvPr/>
        </p:nvSpPr>
        <p:spPr bwMode="auto">
          <a:xfrm>
            <a:off x="478384" y="1616816"/>
            <a:ext cx="8209607" cy="756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marL="0" indent="0" eaLnBrk="1" hangingPunct="1">
              <a:buNone/>
            </a:pPr>
            <a:r>
              <a:rPr lang="zh-CN" altLang="en-US" sz="2200" dirty="0"/>
              <a:t>实际上很多地方可以对代码的执行效率进行改进，主要讲对中间代码的优化</a:t>
            </a:r>
          </a:p>
        </p:txBody>
      </p:sp>
    </p:spTree>
    <p:extLst>
      <p:ext uri="{BB962C8B-B14F-4D97-AF65-F5344CB8AC3E}">
        <p14:creationId xmlns:p14="http://schemas.microsoft.com/office/powerpoint/2010/main" val="2300042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17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0"/>
            <a:ext cx="7342188" cy="628650"/>
          </a:xfrm>
        </p:spPr>
        <p:txBody>
          <a:bodyPr>
            <a:normAutofit fontScale="90000"/>
          </a:bodyPr>
          <a:lstStyle/>
          <a:p>
            <a:pPr algn="l" eaLnBrk="1" hangingPunct="1"/>
            <a:r>
              <a:rPr lang="zh-CN" altLang="en-US" sz="4000" b="1">
                <a:solidFill>
                  <a:srgbClr val="0000CC"/>
                </a:solidFill>
                <a:ea typeface="楷体_GB2312" pitchFamily="1" charset="-122"/>
              </a:rPr>
              <a:t>代码优化所处的位置：</a:t>
            </a:r>
          </a:p>
        </p:txBody>
      </p:sp>
      <p:sp>
        <p:nvSpPr>
          <p:cNvPr id="4099" name="Rectangle 3"/>
          <p:cNvSpPr>
            <a:spLocks noGrp="1" noChangeArrowheads="1"/>
          </p:cNvSpPr>
          <p:nvPr>
            <p:ph type="body" idx="1"/>
          </p:nvPr>
        </p:nvSpPr>
        <p:spPr>
          <a:xfrm>
            <a:off x="457200" y="4336256"/>
            <a:ext cx="8229600" cy="258366"/>
          </a:xfrm>
        </p:spPr>
        <p:txBody>
          <a:bodyPr>
            <a:normAutofit fontScale="55000" lnSpcReduction="20000"/>
          </a:bodyPr>
          <a:lstStyle/>
          <a:p>
            <a:pPr eaLnBrk="1" hangingPunct="1"/>
            <a:endParaRPr lang="zh-CN" altLang="zh-CN"/>
          </a:p>
        </p:txBody>
      </p:sp>
      <p:sp>
        <p:nvSpPr>
          <p:cNvPr id="4100" name="Rectangle 21"/>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800">
              <a:latin typeface="Arial" pitchFamily="34" charset="0"/>
            </a:endParaRPr>
          </a:p>
        </p:txBody>
      </p:sp>
      <p:sp>
        <p:nvSpPr>
          <p:cNvPr id="4101" name="Rectangle 23"/>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800">
              <a:latin typeface="Arial" pitchFamily="34" charset="0"/>
            </a:endParaRPr>
          </a:p>
        </p:txBody>
      </p:sp>
      <p:graphicFrame>
        <p:nvGraphicFramePr>
          <p:cNvPr id="4102" name="对象 5"/>
          <p:cNvGraphicFramePr>
            <a:graphicFrameLocks noChangeAspect="1"/>
          </p:cNvGraphicFramePr>
          <p:nvPr/>
        </p:nvGraphicFramePr>
        <p:xfrm>
          <a:off x="58739" y="701279"/>
          <a:ext cx="8670925" cy="3380184"/>
        </p:xfrm>
        <a:graphic>
          <a:graphicData uri="http://schemas.openxmlformats.org/presentationml/2006/ole">
            <mc:AlternateContent xmlns:mc="http://schemas.openxmlformats.org/markup-compatibility/2006">
              <mc:Choice xmlns:v="urn:schemas-microsoft-com:vml" Requires="v">
                <p:oleObj name="Visio" r:id="rId3" imgW="3775629" imgH="1962078" progId="Visio.Drawing.11">
                  <p:embed/>
                </p:oleObj>
              </mc:Choice>
              <mc:Fallback>
                <p:oleObj name="Visio" r:id="rId3" imgW="3775629" imgH="1962078"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39" y="701279"/>
                        <a:ext cx="8670925" cy="3380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1"/>
          <p:cNvGrpSpPr>
            <a:grpSpLocks/>
          </p:cNvGrpSpPr>
          <p:nvPr/>
        </p:nvGrpSpPr>
        <p:grpSpPr bwMode="auto">
          <a:xfrm>
            <a:off x="20638" y="1168004"/>
            <a:ext cx="8755062" cy="2430065"/>
            <a:chOff x="20340" y="1556792"/>
            <a:chExt cx="8755360" cy="3240360"/>
          </a:xfrm>
        </p:grpSpPr>
        <p:sp>
          <p:nvSpPr>
            <p:cNvPr id="4104" name="Rectangle 20"/>
            <p:cNvSpPr>
              <a:spLocks noChangeArrowheads="1"/>
            </p:cNvSpPr>
            <p:nvPr/>
          </p:nvSpPr>
          <p:spPr bwMode="auto">
            <a:xfrm>
              <a:off x="7020212" y="1725613"/>
              <a:ext cx="1755488" cy="3071539"/>
            </a:xfrm>
            <a:prstGeom prst="rect">
              <a:avLst/>
            </a:prstGeom>
            <a:solidFill>
              <a:srgbClr val="FFFFCC">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800">
                <a:latin typeface="Arial" pitchFamily="34" charset="0"/>
              </a:endParaRPr>
            </a:p>
          </p:txBody>
        </p:sp>
        <p:sp>
          <p:nvSpPr>
            <p:cNvPr id="4105" name="Rectangle 20"/>
            <p:cNvSpPr>
              <a:spLocks noChangeArrowheads="1"/>
            </p:cNvSpPr>
            <p:nvPr/>
          </p:nvSpPr>
          <p:spPr bwMode="auto">
            <a:xfrm>
              <a:off x="20340" y="1556792"/>
              <a:ext cx="5199611" cy="3096344"/>
            </a:xfrm>
            <a:prstGeom prst="rect">
              <a:avLst/>
            </a:prstGeom>
            <a:solidFill>
              <a:srgbClr val="FFFFCC">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800">
                <a:latin typeface="Arial" pitchFamily="34" charset="0"/>
              </a:endParaRPr>
            </a:p>
          </p:txBody>
        </p:sp>
      </p:grpSp>
    </p:spTree>
    <p:extLst>
      <p:ext uri="{BB962C8B-B14F-4D97-AF65-F5344CB8AC3E}">
        <p14:creationId xmlns:p14="http://schemas.microsoft.com/office/powerpoint/2010/main" val="184583394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2239716" cy="769441"/>
          </a:xfrm>
          <a:prstGeom prst="rect">
            <a:avLst/>
          </a:prstGeom>
        </p:spPr>
        <p:txBody>
          <a:bodyPr wrap="none">
            <a:spAutoFit/>
          </a:bodyPr>
          <a:lstStyle/>
          <a:p>
            <a:r>
              <a:rPr lang="en-US" altLang="zh-CN" sz="4400" b="1" dirty="0">
                <a:solidFill>
                  <a:srgbClr val="CC0099"/>
                </a:solidFill>
                <a:ea typeface="隶书" pitchFamily="49" charset="-122"/>
              </a:rPr>
              <a:t>1</a:t>
            </a:r>
            <a:r>
              <a:rPr lang="zh-CN" altLang="en-US" sz="4400" b="1" dirty="0">
                <a:solidFill>
                  <a:srgbClr val="CC0099"/>
                </a:solidFill>
                <a:ea typeface="隶书" pitchFamily="49" charset="-122"/>
              </a:rPr>
              <a:t>、概述</a:t>
            </a:r>
          </a:p>
        </p:txBody>
      </p:sp>
    </p:spTree>
    <p:extLst>
      <p:ext uri="{BB962C8B-B14F-4D97-AF65-F5344CB8AC3E}">
        <p14:creationId xmlns:p14="http://schemas.microsoft.com/office/powerpoint/2010/main" val="1080421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1"/>
          <p:cNvSpPr>
            <a:spLocks noChangeArrowheads="1"/>
          </p:cNvSpPr>
          <p:nvPr/>
        </p:nvSpPr>
        <p:spPr bwMode="auto">
          <a:xfrm>
            <a:off x="179389" y="0"/>
            <a:ext cx="2592387"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5400" b="1">
              <a:solidFill>
                <a:srgbClr val="CC0099"/>
              </a:solidFill>
              <a:ea typeface="隶书" pitchFamily="49" charset="-122"/>
            </a:endParaRPr>
          </a:p>
        </p:txBody>
      </p:sp>
      <p:sp>
        <p:nvSpPr>
          <p:cNvPr id="5123" name="标题 8"/>
          <p:cNvSpPr>
            <a:spLocks noGrp="1"/>
          </p:cNvSpPr>
          <p:nvPr>
            <p:ph type="title"/>
          </p:nvPr>
        </p:nvSpPr>
        <p:spPr/>
        <p:txBody>
          <a:bodyPr>
            <a:normAutofit fontScale="90000"/>
          </a:bodyPr>
          <a:lstStyle/>
          <a:p>
            <a:r>
              <a:rPr lang="zh-CN" altLang="en-US" sz="4800" b="1" dirty="0">
                <a:solidFill>
                  <a:srgbClr val="CC0099"/>
                </a:solidFill>
                <a:ea typeface="隶书" pitchFamily="49" charset="-122"/>
              </a:rPr>
              <a:t>概述</a:t>
            </a:r>
            <a:endParaRPr lang="zh-CN" altLang="en-US" sz="4800" dirty="0"/>
          </a:p>
        </p:txBody>
      </p:sp>
      <p:sp>
        <p:nvSpPr>
          <p:cNvPr id="5124" name="矩形 9"/>
          <p:cNvSpPr>
            <a:spLocks noChangeArrowheads="1"/>
          </p:cNvSpPr>
          <p:nvPr/>
        </p:nvSpPr>
        <p:spPr bwMode="auto">
          <a:xfrm>
            <a:off x="395536" y="958211"/>
            <a:ext cx="8501063" cy="324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180975"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0"/>
              </a:spcBef>
              <a:buFontTx/>
              <a:buNone/>
            </a:pPr>
            <a:r>
              <a:rPr lang="zh-CN" altLang="zh-CN" sz="2200" dirty="0"/>
              <a:t>代码优化是指为了提高目标程序的</a:t>
            </a:r>
            <a:r>
              <a:rPr lang="zh-CN" altLang="zh-CN" sz="2200" dirty="0">
                <a:solidFill>
                  <a:srgbClr val="FF0000"/>
                </a:solidFill>
              </a:rPr>
              <a:t>质量</a:t>
            </a:r>
            <a:r>
              <a:rPr lang="zh-CN" altLang="zh-CN" sz="2200" dirty="0"/>
              <a:t>而对源程序或中间代码进行的各种合理的等价变换，使得从变换后的程序出发能生成</a:t>
            </a:r>
            <a:r>
              <a:rPr lang="zh-CN" altLang="zh-CN" sz="2200" dirty="0">
                <a:solidFill>
                  <a:srgbClr val="FF0000"/>
                </a:solidFill>
              </a:rPr>
              <a:t>更有效</a:t>
            </a:r>
            <a:r>
              <a:rPr lang="zh-CN" altLang="zh-CN" sz="2200" dirty="0"/>
              <a:t>的目标代码。</a:t>
            </a:r>
            <a:endParaRPr lang="en-US" altLang="zh-CN" sz="2200" dirty="0"/>
          </a:p>
          <a:p>
            <a:pPr marL="523875" lvl="1" indent="-342900" algn="just">
              <a:lnSpc>
                <a:spcPct val="90000"/>
              </a:lnSpc>
              <a:buFont typeface="Wingdings" panose="05000000000000000000" pitchFamily="2" charset="2"/>
              <a:buChar char="u"/>
            </a:pPr>
            <a:r>
              <a:rPr lang="zh-CN" altLang="en-US" sz="2200" b="1" dirty="0">
                <a:solidFill>
                  <a:srgbClr val="C00000"/>
                </a:solidFill>
              </a:rPr>
              <a:t>等价：</a:t>
            </a:r>
            <a:r>
              <a:rPr lang="zh-CN" altLang="en-US" sz="2000" dirty="0"/>
              <a:t>指不改变程序的功能、输入和输出，也不能引入更多的错误</a:t>
            </a:r>
          </a:p>
          <a:p>
            <a:pPr marL="523875" lvl="1" indent="-342900" algn="just">
              <a:lnSpc>
                <a:spcPct val="90000"/>
              </a:lnSpc>
              <a:buFont typeface="Wingdings" panose="05000000000000000000" pitchFamily="2" charset="2"/>
              <a:buChar char="u"/>
            </a:pPr>
            <a:r>
              <a:rPr lang="zh-CN" altLang="en-US" sz="2200" b="1" dirty="0">
                <a:solidFill>
                  <a:srgbClr val="C00000"/>
                </a:solidFill>
              </a:rPr>
              <a:t>有效：</a:t>
            </a:r>
            <a:r>
              <a:rPr lang="zh-CN" altLang="en-US" sz="2200" dirty="0"/>
              <a:t>指目标代码运行时间短，占用的存储空间小</a:t>
            </a:r>
            <a:endParaRPr lang="en-US" altLang="zh-CN" sz="2200" dirty="0"/>
          </a:p>
          <a:p>
            <a:pPr marL="523875" lvl="1" indent="-342900" algn="just">
              <a:lnSpc>
                <a:spcPct val="90000"/>
              </a:lnSpc>
              <a:buFont typeface="Wingdings" panose="05000000000000000000" pitchFamily="2" charset="2"/>
              <a:buChar char="u"/>
            </a:pPr>
            <a:r>
              <a:rPr lang="zh-CN" altLang="en-US" sz="2200" b="1" dirty="0">
                <a:solidFill>
                  <a:srgbClr val="C00000"/>
                </a:solidFill>
              </a:rPr>
              <a:t>合算</a:t>
            </a:r>
            <a:r>
              <a:rPr lang="zh-CN" altLang="en-US" sz="2200" dirty="0"/>
              <a:t>： 应尽量以最小的代价获得更好的优化效果</a:t>
            </a:r>
            <a:endParaRPr lang="en-US" altLang="zh-CN" sz="2200" dirty="0"/>
          </a:p>
          <a:p>
            <a:pPr eaLnBrk="1" hangingPunct="1">
              <a:lnSpc>
                <a:spcPct val="150000"/>
              </a:lnSpc>
              <a:spcBef>
                <a:spcPct val="0"/>
              </a:spcBef>
              <a:buFontTx/>
              <a:buNone/>
            </a:pPr>
            <a:r>
              <a:rPr lang="zh-CN" altLang="zh-CN" sz="2200" b="1" dirty="0"/>
              <a:t>目的</a:t>
            </a:r>
            <a:r>
              <a:rPr lang="zh-CN" altLang="en-US" sz="2200" dirty="0"/>
              <a:t>：</a:t>
            </a:r>
            <a:r>
              <a:rPr lang="zh-CN" altLang="zh-CN" sz="2200" b="1" dirty="0">
                <a:solidFill>
                  <a:srgbClr val="C00000"/>
                </a:solidFill>
              </a:rPr>
              <a:t>节省时间和空间</a:t>
            </a:r>
            <a:endParaRPr lang="en-US" altLang="zh-CN" sz="2200" b="1" dirty="0">
              <a:solidFill>
                <a:srgbClr val="C00000"/>
              </a:solidFill>
            </a:endParaRPr>
          </a:p>
        </p:txBody>
      </p:sp>
    </p:spTree>
    <p:extLst>
      <p:ext uri="{BB962C8B-B14F-4D97-AF65-F5344CB8AC3E}">
        <p14:creationId xmlns:p14="http://schemas.microsoft.com/office/powerpoint/2010/main" val="1326420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84731" y="0"/>
            <a:ext cx="7772400" cy="857250"/>
          </a:xfrm>
          <a:noFill/>
        </p:spPr>
        <p:txBody>
          <a:bodyPr>
            <a:normAutofit/>
          </a:bodyPr>
          <a:lstStyle/>
          <a:p>
            <a:pPr eaLnBrk="1" hangingPunct="1"/>
            <a:r>
              <a:rPr lang="zh-CN" altLang="en-US" b="1" dirty="0"/>
              <a:t>中间代码优化的方法</a:t>
            </a:r>
          </a:p>
        </p:txBody>
      </p:sp>
      <p:sp>
        <p:nvSpPr>
          <p:cNvPr id="10243" name="Rectangle 3"/>
          <p:cNvSpPr>
            <a:spLocks noGrp="1" noChangeArrowheads="1"/>
          </p:cNvSpPr>
          <p:nvPr>
            <p:ph type="body" idx="1"/>
          </p:nvPr>
        </p:nvSpPr>
        <p:spPr>
          <a:xfrm>
            <a:off x="683568" y="2929334"/>
            <a:ext cx="7772400" cy="1946672"/>
          </a:xfrm>
        </p:spPr>
        <p:txBody>
          <a:bodyPr>
            <a:normAutofit/>
          </a:bodyPr>
          <a:lstStyle/>
          <a:p>
            <a:pPr eaLnBrk="1" hangingPunct="1"/>
            <a:r>
              <a:rPr lang="zh-CN" altLang="en-US" sz="2000" dirty="0">
                <a:latin typeface="宋体" pitchFamily="2" charset="-122"/>
                <a:sym typeface="Symbol" pitchFamily="18" charset="2"/>
              </a:rPr>
              <a:t>优化工作</a:t>
            </a:r>
          </a:p>
          <a:p>
            <a:pPr eaLnBrk="1" hangingPunct="1">
              <a:buFontTx/>
              <a:buNone/>
            </a:pPr>
            <a:r>
              <a:rPr lang="zh-CN" altLang="en-US" sz="2000" dirty="0">
                <a:latin typeface="宋体" pitchFamily="2" charset="-122"/>
                <a:sym typeface="Symbol" pitchFamily="18" charset="2"/>
              </a:rPr>
              <a:t>  数据流分析</a:t>
            </a:r>
            <a:r>
              <a:rPr lang="en-US" altLang="zh-CN" sz="2000" dirty="0">
                <a:latin typeface="宋体" pitchFamily="2" charset="-122"/>
                <a:sym typeface="Symbol" pitchFamily="18" charset="2"/>
              </a:rPr>
              <a:t>(data-flow analysis)</a:t>
            </a:r>
          </a:p>
          <a:p>
            <a:pPr eaLnBrk="1" hangingPunct="1">
              <a:buFontTx/>
              <a:buNone/>
            </a:pPr>
            <a:r>
              <a:rPr lang="en-US" altLang="zh-CN" sz="2000" dirty="0">
                <a:latin typeface="宋体" pitchFamily="2" charset="-122"/>
                <a:sym typeface="Symbol" pitchFamily="18" charset="2"/>
              </a:rPr>
              <a:t>  </a:t>
            </a:r>
            <a:r>
              <a:rPr lang="zh-CN" altLang="en-US" sz="2000" dirty="0">
                <a:latin typeface="宋体" pitchFamily="2" charset="-122"/>
                <a:sym typeface="Symbol" pitchFamily="18" charset="2"/>
              </a:rPr>
              <a:t>控制流分析</a:t>
            </a:r>
            <a:r>
              <a:rPr lang="en-US" altLang="zh-CN" sz="2000" dirty="0">
                <a:latin typeface="宋体" pitchFamily="2" charset="-122"/>
                <a:sym typeface="Symbol" pitchFamily="18" charset="2"/>
              </a:rPr>
              <a:t>(control-flow analysis)                           </a:t>
            </a:r>
            <a:r>
              <a:rPr lang="zh-CN" altLang="en-US" sz="2000" dirty="0">
                <a:latin typeface="宋体" pitchFamily="2" charset="-122"/>
                <a:sym typeface="Symbol" pitchFamily="18" charset="2"/>
              </a:rPr>
              <a:t>变换</a:t>
            </a:r>
            <a:r>
              <a:rPr lang="en-US" altLang="zh-CN" sz="2000" dirty="0">
                <a:latin typeface="宋体" pitchFamily="2" charset="-122"/>
                <a:sym typeface="Symbol" pitchFamily="18" charset="2"/>
              </a:rPr>
              <a:t>(transformations)</a:t>
            </a:r>
          </a:p>
        </p:txBody>
      </p:sp>
      <p:sp>
        <p:nvSpPr>
          <p:cNvPr id="10244" name="Rectangle 5"/>
          <p:cNvSpPr>
            <a:spLocks noChangeArrowheads="1"/>
          </p:cNvSpPr>
          <p:nvPr/>
        </p:nvSpPr>
        <p:spPr bwMode="auto">
          <a:xfrm>
            <a:off x="0" y="1951584"/>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400"/>
          </a:p>
        </p:txBody>
      </p:sp>
      <p:graphicFrame>
        <p:nvGraphicFramePr>
          <p:cNvPr id="10245" name="Object 4"/>
          <p:cNvGraphicFramePr>
            <a:graphicFrameLocks noChangeAspect="1"/>
          </p:cNvGraphicFramePr>
          <p:nvPr/>
        </p:nvGraphicFramePr>
        <p:xfrm>
          <a:off x="323850" y="1059656"/>
          <a:ext cx="8459788" cy="1729979"/>
        </p:xfrm>
        <a:graphic>
          <a:graphicData uri="http://schemas.openxmlformats.org/presentationml/2006/ole">
            <mc:AlternateContent xmlns:mc="http://schemas.openxmlformats.org/markup-compatibility/2006">
              <mc:Choice xmlns:v="urn:schemas-microsoft-com:vml" Requires="v">
                <p:oleObj name="Visio" r:id="rId3" imgW="4744946" imgH="1306286" progId="Visio.Drawing.11">
                  <p:embed/>
                </p:oleObj>
              </mc:Choice>
              <mc:Fallback>
                <p:oleObj name="Visio" r:id="rId3" imgW="4744946" imgH="1306286"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059656"/>
                        <a:ext cx="8459788" cy="1729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12482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79512" y="0"/>
            <a:ext cx="7772400" cy="681038"/>
          </a:xfrm>
          <a:noFill/>
        </p:spPr>
        <p:txBody>
          <a:bodyPr>
            <a:normAutofit fontScale="90000"/>
          </a:bodyPr>
          <a:lstStyle/>
          <a:p>
            <a:pPr eaLnBrk="1" hangingPunct="1"/>
            <a:r>
              <a:rPr lang="zh-CN" altLang="en-US" sz="4000" b="1" dirty="0"/>
              <a:t>优化分类</a:t>
            </a:r>
          </a:p>
        </p:txBody>
      </p:sp>
      <p:sp>
        <p:nvSpPr>
          <p:cNvPr id="7171" name="Rectangle 3"/>
          <p:cNvSpPr>
            <a:spLocks noGrp="1" noChangeArrowheads="1"/>
          </p:cNvSpPr>
          <p:nvPr>
            <p:ph type="body" sz="half" idx="1"/>
          </p:nvPr>
        </p:nvSpPr>
        <p:spPr>
          <a:xfrm>
            <a:off x="539552" y="843558"/>
            <a:ext cx="8064500" cy="1584176"/>
          </a:xfrm>
        </p:spPr>
        <p:txBody>
          <a:bodyPr>
            <a:normAutofit/>
          </a:bodyPr>
          <a:lstStyle/>
          <a:p>
            <a:pPr eaLnBrk="1" hangingPunct="1"/>
            <a:r>
              <a:rPr lang="zh-CN" altLang="en-US" sz="2000" b="1" dirty="0">
                <a:latin typeface="宋体" pitchFamily="2" charset="-122"/>
              </a:rPr>
              <a:t>根据优化所涉及的程序范围分成</a:t>
            </a:r>
            <a:r>
              <a:rPr lang="en-US" altLang="zh-CN" sz="2000" b="1" dirty="0">
                <a:latin typeface="宋体" pitchFamily="2" charset="-122"/>
              </a:rPr>
              <a:t>:</a:t>
            </a:r>
          </a:p>
          <a:p>
            <a:pPr eaLnBrk="1" hangingPunct="1">
              <a:buFontTx/>
              <a:buNone/>
            </a:pPr>
            <a:r>
              <a:rPr lang="en-US" altLang="zh-CN" sz="2000" dirty="0">
                <a:latin typeface="宋体" pitchFamily="2" charset="-122"/>
              </a:rPr>
              <a:t>   (1)</a:t>
            </a:r>
            <a:r>
              <a:rPr lang="zh-CN" altLang="en-US" sz="2000" dirty="0">
                <a:latin typeface="宋体" pitchFamily="2" charset="-122"/>
              </a:rPr>
              <a:t>局部优化</a:t>
            </a:r>
            <a:r>
              <a:rPr lang="en-US" altLang="zh-CN" sz="2000" dirty="0">
                <a:latin typeface="宋体" pitchFamily="2" charset="-122"/>
              </a:rPr>
              <a:t>:</a:t>
            </a:r>
            <a:r>
              <a:rPr lang="zh-CN" altLang="en-US" sz="2000" dirty="0">
                <a:latin typeface="宋体" pitchFamily="2" charset="-122"/>
              </a:rPr>
              <a:t>局部范围内</a:t>
            </a:r>
            <a:r>
              <a:rPr lang="en-US" altLang="zh-CN" sz="2000" dirty="0">
                <a:latin typeface="宋体" pitchFamily="2" charset="-122"/>
              </a:rPr>
              <a:t>(</a:t>
            </a:r>
            <a:r>
              <a:rPr lang="zh-CN" altLang="en-US" sz="2000" dirty="0">
                <a:latin typeface="宋体" pitchFamily="2" charset="-122"/>
              </a:rPr>
              <a:t>基本块</a:t>
            </a:r>
            <a:r>
              <a:rPr lang="en-US" altLang="zh-CN" sz="2000" dirty="0">
                <a:latin typeface="宋体" pitchFamily="2" charset="-122"/>
              </a:rPr>
              <a:t>)</a:t>
            </a:r>
          </a:p>
          <a:p>
            <a:pPr eaLnBrk="1" hangingPunct="1">
              <a:buFontTx/>
              <a:buNone/>
            </a:pPr>
            <a:r>
              <a:rPr lang="en-US" altLang="zh-CN" sz="2000" dirty="0">
                <a:latin typeface="宋体" pitchFamily="2" charset="-122"/>
              </a:rPr>
              <a:t>   (2)</a:t>
            </a:r>
            <a:r>
              <a:rPr lang="zh-CN" altLang="en-US" sz="2000" dirty="0">
                <a:latin typeface="宋体" pitchFamily="2" charset="-122"/>
              </a:rPr>
              <a:t>循环优化</a:t>
            </a:r>
            <a:r>
              <a:rPr lang="en-US" altLang="zh-CN" sz="2000" dirty="0">
                <a:latin typeface="宋体" pitchFamily="2" charset="-122"/>
              </a:rPr>
              <a:t>:</a:t>
            </a:r>
            <a:r>
              <a:rPr lang="zh-CN" altLang="en-US" sz="2000" dirty="0">
                <a:latin typeface="宋体" pitchFamily="2" charset="-122"/>
              </a:rPr>
              <a:t>对循环中的代码进行优化</a:t>
            </a:r>
          </a:p>
          <a:p>
            <a:pPr eaLnBrk="1" hangingPunct="1">
              <a:buFontTx/>
              <a:buNone/>
            </a:pPr>
            <a:r>
              <a:rPr lang="zh-CN" altLang="en-US" sz="2000" dirty="0">
                <a:latin typeface="宋体" pitchFamily="2" charset="-122"/>
              </a:rPr>
              <a:t>   </a:t>
            </a:r>
            <a:r>
              <a:rPr lang="en-US" altLang="zh-CN" sz="2000" dirty="0">
                <a:latin typeface="宋体" pitchFamily="2" charset="-122"/>
              </a:rPr>
              <a:t>(3)</a:t>
            </a:r>
            <a:r>
              <a:rPr lang="zh-CN" altLang="en-US" sz="2000" dirty="0">
                <a:latin typeface="宋体" pitchFamily="2" charset="-122"/>
              </a:rPr>
              <a:t>全局优化</a:t>
            </a:r>
            <a:r>
              <a:rPr lang="en-US" altLang="zh-CN" sz="2000" dirty="0">
                <a:latin typeface="宋体" pitchFamily="2" charset="-122"/>
              </a:rPr>
              <a:t>:</a:t>
            </a:r>
            <a:r>
              <a:rPr lang="zh-CN" altLang="en-US" sz="2000" dirty="0">
                <a:latin typeface="宋体" pitchFamily="2" charset="-122"/>
              </a:rPr>
              <a:t>大范围的优化</a:t>
            </a:r>
          </a:p>
        </p:txBody>
      </p:sp>
      <p:sp>
        <p:nvSpPr>
          <p:cNvPr id="4" name="内容占位符 5"/>
          <p:cNvSpPr>
            <a:spLocks noGrp="1" noChangeArrowheads="1"/>
          </p:cNvSpPr>
          <p:nvPr>
            <p:ph idx="1"/>
          </p:nvPr>
        </p:nvSpPr>
        <p:spPr>
          <a:xfrm>
            <a:off x="611560" y="2499742"/>
            <a:ext cx="3491880" cy="2499742"/>
          </a:xfrm>
        </p:spPr>
        <p:style>
          <a:lnRef idx="2">
            <a:schemeClr val="accent1"/>
          </a:lnRef>
          <a:fillRef idx="1">
            <a:schemeClr val="lt1"/>
          </a:fillRef>
          <a:effectRef idx="0">
            <a:schemeClr val="accent1"/>
          </a:effectRef>
          <a:fontRef idx="minor">
            <a:schemeClr val="dk1"/>
          </a:fontRef>
        </p:style>
        <p:txBody>
          <a:bodyPr>
            <a:normAutofit/>
          </a:bodyPr>
          <a:lstStyle/>
          <a:p>
            <a:pPr lvl="1">
              <a:lnSpc>
                <a:spcPct val="120000"/>
              </a:lnSpc>
              <a:spcBef>
                <a:spcPct val="0"/>
              </a:spcBef>
            </a:pPr>
            <a:r>
              <a:rPr lang="zh-CN" altLang="en-US" dirty="0"/>
              <a:t>局部优化</a:t>
            </a:r>
            <a:endParaRPr lang="en-US" altLang="zh-CN" dirty="0">
              <a:latin typeface="宋体" pitchFamily="2" charset="-122"/>
            </a:endParaRPr>
          </a:p>
          <a:p>
            <a:pPr lvl="2">
              <a:lnSpc>
                <a:spcPct val="120000"/>
              </a:lnSpc>
              <a:spcBef>
                <a:spcPct val="0"/>
              </a:spcBef>
            </a:pPr>
            <a:r>
              <a:rPr lang="zh-CN" altLang="en-US" dirty="0"/>
              <a:t>合并已知量</a:t>
            </a:r>
          </a:p>
          <a:p>
            <a:pPr lvl="2">
              <a:lnSpc>
                <a:spcPct val="120000"/>
              </a:lnSpc>
              <a:spcBef>
                <a:spcPct val="0"/>
              </a:spcBef>
            </a:pPr>
            <a:r>
              <a:rPr lang="zh-CN" altLang="en-US" dirty="0">
                <a:latin typeface="宋体" pitchFamily="2" charset="-122"/>
              </a:rPr>
              <a:t>删除公用子表达式</a:t>
            </a:r>
          </a:p>
          <a:p>
            <a:pPr lvl="2">
              <a:lnSpc>
                <a:spcPct val="120000"/>
              </a:lnSpc>
              <a:spcBef>
                <a:spcPct val="0"/>
              </a:spcBef>
            </a:pPr>
            <a:r>
              <a:rPr lang="zh-CN" altLang="en-US" dirty="0"/>
              <a:t>删除无用赋值</a:t>
            </a:r>
            <a:endParaRPr lang="en-US" altLang="zh-CN" dirty="0"/>
          </a:p>
          <a:p>
            <a:pPr lvl="2">
              <a:lnSpc>
                <a:spcPct val="120000"/>
              </a:lnSpc>
              <a:spcBef>
                <a:spcPct val="0"/>
              </a:spcBef>
            </a:pPr>
            <a:r>
              <a:rPr lang="zh-CN" altLang="zh-CN" dirty="0"/>
              <a:t>利用代数恒等变换</a:t>
            </a:r>
            <a:endParaRPr lang="zh-CN" altLang="en-US" dirty="0"/>
          </a:p>
        </p:txBody>
      </p:sp>
      <p:sp>
        <p:nvSpPr>
          <p:cNvPr id="5" name="内容占位符 5"/>
          <p:cNvSpPr>
            <a:spLocks noGrp="1" noChangeArrowheads="1"/>
          </p:cNvSpPr>
          <p:nvPr>
            <p:ph idx="1"/>
          </p:nvPr>
        </p:nvSpPr>
        <p:spPr>
          <a:xfrm>
            <a:off x="4355976" y="2499742"/>
            <a:ext cx="3744416" cy="2499742"/>
          </a:xfrm>
        </p:spPr>
        <p:style>
          <a:lnRef idx="2">
            <a:schemeClr val="accent1"/>
          </a:lnRef>
          <a:fillRef idx="1">
            <a:schemeClr val="lt1"/>
          </a:fillRef>
          <a:effectRef idx="0">
            <a:schemeClr val="accent1"/>
          </a:effectRef>
          <a:fontRef idx="minor">
            <a:schemeClr val="dk1"/>
          </a:fontRef>
        </p:style>
        <p:txBody>
          <a:bodyPr>
            <a:normAutofit/>
          </a:bodyPr>
          <a:lstStyle/>
          <a:p>
            <a:pPr lvl="1">
              <a:lnSpc>
                <a:spcPct val="120000"/>
              </a:lnSpc>
              <a:spcBef>
                <a:spcPct val="0"/>
              </a:spcBef>
            </a:pPr>
            <a:r>
              <a:rPr lang="zh-CN" altLang="en-US" dirty="0">
                <a:latin typeface="宋体" pitchFamily="2" charset="-122"/>
              </a:rPr>
              <a:t>循环优化</a:t>
            </a:r>
            <a:endParaRPr lang="en-US" altLang="zh-CN" dirty="0">
              <a:latin typeface="宋体" pitchFamily="2" charset="-122"/>
            </a:endParaRPr>
          </a:p>
          <a:p>
            <a:pPr lvl="2">
              <a:lnSpc>
                <a:spcPct val="120000"/>
              </a:lnSpc>
              <a:spcBef>
                <a:spcPct val="0"/>
              </a:spcBef>
            </a:pPr>
            <a:r>
              <a:rPr lang="zh-CN" altLang="en-US" dirty="0">
                <a:latin typeface="宋体" pitchFamily="2" charset="-122"/>
              </a:rPr>
              <a:t>代码外提</a:t>
            </a:r>
          </a:p>
          <a:p>
            <a:pPr lvl="2">
              <a:lnSpc>
                <a:spcPct val="120000"/>
              </a:lnSpc>
              <a:spcBef>
                <a:spcPct val="0"/>
              </a:spcBef>
            </a:pPr>
            <a:r>
              <a:rPr lang="zh-CN" altLang="en-US" dirty="0">
                <a:latin typeface="宋体" pitchFamily="2" charset="-122"/>
              </a:rPr>
              <a:t>强度消弱</a:t>
            </a:r>
          </a:p>
          <a:p>
            <a:pPr lvl="2">
              <a:lnSpc>
                <a:spcPct val="120000"/>
              </a:lnSpc>
              <a:spcBef>
                <a:spcPct val="0"/>
              </a:spcBef>
            </a:pPr>
            <a:r>
              <a:rPr lang="zh-CN" altLang="en-US" dirty="0">
                <a:latin typeface="宋体" pitchFamily="2" charset="-122"/>
              </a:rPr>
              <a:t>变换循环控制条件</a:t>
            </a:r>
          </a:p>
          <a:p>
            <a:pPr lvl="1">
              <a:lnSpc>
                <a:spcPct val="120000"/>
              </a:lnSpc>
              <a:spcBef>
                <a:spcPct val="0"/>
              </a:spcBef>
            </a:pPr>
            <a:r>
              <a:rPr lang="zh-CN" altLang="en-US" dirty="0">
                <a:latin typeface="宋体" pitchFamily="2" charset="-122"/>
              </a:rPr>
              <a:t>全局优化</a:t>
            </a:r>
            <a:endParaRPr lang="en-US" altLang="zh-CN" dirty="0">
              <a:latin typeface="宋体" pitchFamily="2" charset="-122"/>
            </a:endParaRPr>
          </a:p>
          <a:p>
            <a:pPr lvl="2">
              <a:lnSpc>
                <a:spcPct val="120000"/>
              </a:lnSpc>
              <a:spcBef>
                <a:spcPct val="0"/>
              </a:spcBef>
            </a:pPr>
            <a:r>
              <a:rPr lang="zh-CN" altLang="en-US" dirty="0">
                <a:latin typeface="宋体" pitchFamily="2" charset="-122"/>
              </a:rPr>
              <a:t>复写传播</a:t>
            </a:r>
          </a:p>
        </p:txBody>
      </p:sp>
    </p:spTree>
    <p:extLst>
      <p:ext uri="{BB962C8B-B14F-4D97-AF65-F5344CB8AC3E}">
        <p14:creationId xmlns:p14="http://schemas.microsoft.com/office/powerpoint/2010/main" val="2293008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323164"/>
            <a:ext cx="4267200" cy="571500"/>
          </a:xfrm>
        </p:spPr>
        <p:txBody>
          <a:bodyPr>
            <a:normAutofit fontScale="90000"/>
          </a:bodyPr>
          <a:lstStyle/>
          <a:p>
            <a:pPr eaLnBrk="1" hangingPunct="1"/>
            <a:r>
              <a:rPr lang="zh-CN" altLang="en-US" sz="4000" b="1" dirty="0">
                <a:ea typeface="楷体_GB2312" pitchFamily="1" charset="-122"/>
              </a:rPr>
              <a:t>快速排序程序</a:t>
            </a:r>
          </a:p>
        </p:txBody>
      </p:sp>
      <p:sp>
        <p:nvSpPr>
          <p:cNvPr id="11267" name="Rectangle 3"/>
          <p:cNvSpPr>
            <a:spLocks noGrp="1" noChangeArrowheads="1"/>
          </p:cNvSpPr>
          <p:nvPr>
            <p:ph type="body" idx="1"/>
          </p:nvPr>
        </p:nvSpPr>
        <p:spPr>
          <a:xfrm>
            <a:off x="92365" y="1131590"/>
            <a:ext cx="3779838" cy="3456384"/>
          </a:xfrm>
        </p:spPr>
        <p:style>
          <a:lnRef idx="2">
            <a:schemeClr val="accent1"/>
          </a:lnRef>
          <a:fillRef idx="1">
            <a:schemeClr val="lt1"/>
          </a:fillRef>
          <a:effectRef idx="0">
            <a:schemeClr val="accent1"/>
          </a:effectRef>
          <a:fontRef idx="minor">
            <a:schemeClr val="dk1"/>
          </a:fontRef>
        </p:style>
        <p:txBody>
          <a:bodyPr>
            <a:normAutofit fontScale="77500" lnSpcReduction="20000"/>
          </a:bodyPr>
          <a:lstStyle/>
          <a:p>
            <a:pPr eaLnBrk="1" hangingPunct="1">
              <a:lnSpc>
                <a:spcPct val="110000"/>
              </a:lnSpc>
              <a:spcBef>
                <a:spcPts val="0"/>
              </a:spcBef>
              <a:buFontTx/>
              <a:buNone/>
            </a:pPr>
            <a:r>
              <a:rPr lang="en-US" altLang="zh-CN" sz="2200" dirty="0"/>
              <a:t>void quicksort(</a:t>
            </a:r>
            <a:r>
              <a:rPr lang="en-US" altLang="zh-CN" sz="2200" dirty="0" err="1"/>
              <a:t>int</a:t>
            </a:r>
            <a:r>
              <a:rPr lang="en-US" altLang="zh-CN" sz="2200" dirty="0"/>
              <a:t> </a:t>
            </a:r>
            <a:r>
              <a:rPr lang="en-US" altLang="zh-CN" sz="2200" dirty="0" err="1"/>
              <a:t>m,int</a:t>
            </a:r>
            <a:r>
              <a:rPr lang="en-US" altLang="zh-CN" sz="2200" dirty="0"/>
              <a:t> n)</a:t>
            </a:r>
          </a:p>
          <a:p>
            <a:pPr eaLnBrk="1" hangingPunct="1">
              <a:lnSpc>
                <a:spcPct val="110000"/>
              </a:lnSpc>
              <a:spcBef>
                <a:spcPts val="0"/>
              </a:spcBef>
              <a:buFontTx/>
              <a:buNone/>
            </a:pPr>
            <a:r>
              <a:rPr lang="en-US" altLang="zh-CN" sz="2200" dirty="0"/>
              <a:t>{  </a:t>
            </a:r>
            <a:r>
              <a:rPr lang="en-US" altLang="zh-CN" sz="2200" dirty="0" err="1"/>
              <a:t>int</a:t>
            </a:r>
            <a:r>
              <a:rPr lang="en-US" altLang="zh-CN" sz="2200" dirty="0"/>
              <a:t> </a:t>
            </a:r>
            <a:r>
              <a:rPr lang="en-US" altLang="zh-CN" sz="2200" dirty="0" err="1"/>
              <a:t>i,j</a:t>
            </a:r>
            <a:r>
              <a:rPr lang="en-US" altLang="zh-CN" sz="2200" dirty="0"/>
              <a:t>, </a:t>
            </a:r>
            <a:r>
              <a:rPr lang="en-US" altLang="zh-CN" sz="2200" dirty="0" err="1"/>
              <a:t>v,x</a:t>
            </a:r>
            <a:r>
              <a:rPr lang="en-US" altLang="zh-CN" sz="2200" dirty="0"/>
              <a:t>;</a:t>
            </a:r>
          </a:p>
          <a:p>
            <a:pPr eaLnBrk="1" hangingPunct="1">
              <a:lnSpc>
                <a:spcPct val="110000"/>
              </a:lnSpc>
              <a:spcBef>
                <a:spcPts val="0"/>
              </a:spcBef>
              <a:buFontTx/>
              <a:buNone/>
            </a:pPr>
            <a:r>
              <a:rPr lang="en-US" altLang="zh-CN" sz="2200" dirty="0"/>
              <a:t>	if (n&lt;m) return;</a:t>
            </a:r>
          </a:p>
          <a:p>
            <a:pPr eaLnBrk="1" hangingPunct="1">
              <a:lnSpc>
                <a:spcPct val="110000"/>
              </a:lnSpc>
              <a:spcBef>
                <a:spcPts val="0"/>
              </a:spcBef>
              <a:buFontTx/>
              <a:buNone/>
            </a:pPr>
            <a:r>
              <a:rPr lang="en-US" altLang="zh-CN" sz="2200" dirty="0"/>
              <a:t>	</a:t>
            </a:r>
            <a:r>
              <a:rPr lang="en-US" altLang="zh-CN" sz="2200" b="1" dirty="0" err="1">
                <a:solidFill>
                  <a:schemeClr val="accent2"/>
                </a:solidFill>
              </a:rPr>
              <a:t>i</a:t>
            </a:r>
            <a:r>
              <a:rPr lang="en-US" altLang="zh-CN" sz="2200" b="1" dirty="0">
                <a:solidFill>
                  <a:schemeClr val="accent2"/>
                </a:solidFill>
              </a:rPr>
              <a:t>=m-1;j=</a:t>
            </a:r>
            <a:r>
              <a:rPr lang="en-US" altLang="zh-CN" sz="2200" b="1" dirty="0" err="1">
                <a:solidFill>
                  <a:schemeClr val="accent2"/>
                </a:solidFill>
              </a:rPr>
              <a:t>n;v</a:t>
            </a:r>
            <a:r>
              <a:rPr lang="en-US" altLang="zh-CN" sz="2200" b="1" dirty="0">
                <a:solidFill>
                  <a:schemeClr val="accent2"/>
                </a:solidFill>
              </a:rPr>
              <a:t>=a[n];</a:t>
            </a:r>
          </a:p>
          <a:p>
            <a:pPr eaLnBrk="1" hangingPunct="1">
              <a:lnSpc>
                <a:spcPct val="110000"/>
              </a:lnSpc>
              <a:spcBef>
                <a:spcPts val="0"/>
              </a:spcBef>
              <a:buFontTx/>
              <a:buNone/>
            </a:pPr>
            <a:r>
              <a:rPr lang="en-US" altLang="zh-CN" sz="2200" b="1" dirty="0">
                <a:solidFill>
                  <a:schemeClr val="accent2"/>
                </a:solidFill>
              </a:rPr>
              <a:t>	while(1) {</a:t>
            </a:r>
          </a:p>
          <a:p>
            <a:pPr eaLnBrk="1" hangingPunct="1">
              <a:lnSpc>
                <a:spcPct val="110000"/>
              </a:lnSpc>
              <a:spcBef>
                <a:spcPts val="0"/>
              </a:spcBef>
              <a:buFontTx/>
              <a:buNone/>
            </a:pPr>
            <a:r>
              <a:rPr lang="en-US" altLang="zh-CN" sz="2200" b="1" dirty="0">
                <a:solidFill>
                  <a:schemeClr val="accent2"/>
                </a:solidFill>
              </a:rPr>
              <a:t>		do </a:t>
            </a:r>
            <a:r>
              <a:rPr lang="en-US" altLang="zh-CN" sz="2200" b="1" dirty="0" err="1">
                <a:solidFill>
                  <a:schemeClr val="accent2"/>
                </a:solidFill>
              </a:rPr>
              <a:t>i</a:t>
            </a:r>
            <a:r>
              <a:rPr lang="en-US" altLang="zh-CN" sz="2200" b="1" dirty="0">
                <a:solidFill>
                  <a:schemeClr val="accent2"/>
                </a:solidFill>
              </a:rPr>
              <a:t>=i+1; while(a[</a:t>
            </a:r>
            <a:r>
              <a:rPr lang="en-US" altLang="zh-CN" sz="2200" b="1" dirty="0" err="1">
                <a:solidFill>
                  <a:schemeClr val="accent2"/>
                </a:solidFill>
              </a:rPr>
              <a:t>i</a:t>
            </a:r>
            <a:r>
              <a:rPr lang="en-US" altLang="zh-CN" sz="2200" b="1" dirty="0">
                <a:solidFill>
                  <a:schemeClr val="accent2"/>
                </a:solidFill>
              </a:rPr>
              <a:t>]&lt;v);</a:t>
            </a:r>
          </a:p>
          <a:p>
            <a:pPr eaLnBrk="1" hangingPunct="1">
              <a:lnSpc>
                <a:spcPct val="110000"/>
              </a:lnSpc>
              <a:spcBef>
                <a:spcPts val="0"/>
              </a:spcBef>
              <a:buFontTx/>
              <a:buNone/>
            </a:pPr>
            <a:r>
              <a:rPr lang="en-US" altLang="zh-CN" sz="2200" b="1" dirty="0">
                <a:solidFill>
                  <a:schemeClr val="accent2"/>
                </a:solidFill>
              </a:rPr>
              <a:t>		do j=j-1; while(a[j]&gt;v);</a:t>
            </a:r>
          </a:p>
          <a:p>
            <a:pPr eaLnBrk="1" hangingPunct="1">
              <a:lnSpc>
                <a:spcPct val="110000"/>
              </a:lnSpc>
              <a:spcBef>
                <a:spcPts val="0"/>
              </a:spcBef>
              <a:buFontTx/>
              <a:buNone/>
            </a:pPr>
            <a:r>
              <a:rPr lang="en-US" altLang="zh-CN" sz="2200" b="1" dirty="0">
                <a:solidFill>
                  <a:schemeClr val="accent2"/>
                </a:solidFill>
              </a:rPr>
              <a:t>	      if (</a:t>
            </a:r>
            <a:r>
              <a:rPr lang="en-US" altLang="zh-CN" sz="2200" b="1" dirty="0" err="1">
                <a:solidFill>
                  <a:schemeClr val="accent2"/>
                </a:solidFill>
              </a:rPr>
              <a:t>i</a:t>
            </a:r>
            <a:r>
              <a:rPr lang="en-US" altLang="zh-CN" sz="2200" b="1" dirty="0">
                <a:solidFill>
                  <a:schemeClr val="accent2"/>
                </a:solidFill>
              </a:rPr>
              <a:t>&gt;=j) break;</a:t>
            </a:r>
          </a:p>
          <a:p>
            <a:pPr eaLnBrk="1" hangingPunct="1">
              <a:lnSpc>
                <a:spcPct val="110000"/>
              </a:lnSpc>
              <a:spcBef>
                <a:spcPts val="0"/>
              </a:spcBef>
              <a:buFontTx/>
              <a:buNone/>
            </a:pPr>
            <a:r>
              <a:rPr lang="en-US" altLang="zh-CN" sz="2200" b="1" dirty="0">
                <a:solidFill>
                  <a:schemeClr val="accent2"/>
                </a:solidFill>
              </a:rPr>
              <a:t>		x=a[</a:t>
            </a:r>
            <a:r>
              <a:rPr lang="en-US" altLang="zh-CN" sz="2200" b="1" dirty="0" err="1">
                <a:solidFill>
                  <a:schemeClr val="accent2"/>
                </a:solidFill>
              </a:rPr>
              <a:t>i</a:t>
            </a:r>
            <a:r>
              <a:rPr lang="en-US" altLang="zh-CN" sz="2200" b="1" dirty="0">
                <a:solidFill>
                  <a:schemeClr val="accent2"/>
                </a:solidFill>
              </a:rPr>
              <a:t>];a[</a:t>
            </a:r>
            <a:r>
              <a:rPr lang="en-US" altLang="zh-CN" sz="2200" b="1" dirty="0" err="1">
                <a:solidFill>
                  <a:schemeClr val="accent2"/>
                </a:solidFill>
              </a:rPr>
              <a:t>i</a:t>
            </a:r>
            <a:r>
              <a:rPr lang="en-US" altLang="zh-CN" sz="2200" b="1" dirty="0">
                <a:solidFill>
                  <a:schemeClr val="accent2"/>
                </a:solidFill>
              </a:rPr>
              <a:t>]=a[j];a[j]=x;</a:t>
            </a:r>
          </a:p>
          <a:p>
            <a:pPr eaLnBrk="1" hangingPunct="1">
              <a:lnSpc>
                <a:spcPct val="110000"/>
              </a:lnSpc>
              <a:spcBef>
                <a:spcPts val="0"/>
              </a:spcBef>
              <a:buFontTx/>
              <a:buNone/>
            </a:pPr>
            <a:r>
              <a:rPr lang="en-US" altLang="zh-CN" sz="2200" b="1" dirty="0">
                <a:solidFill>
                  <a:schemeClr val="accent2"/>
                </a:solidFill>
              </a:rPr>
              <a:t>    }</a:t>
            </a:r>
          </a:p>
          <a:p>
            <a:pPr eaLnBrk="1" hangingPunct="1">
              <a:lnSpc>
                <a:spcPct val="110000"/>
              </a:lnSpc>
              <a:spcBef>
                <a:spcPts val="0"/>
              </a:spcBef>
              <a:buFontTx/>
              <a:buNone/>
            </a:pPr>
            <a:r>
              <a:rPr lang="en-US" altLang="zh-CN" sz="2200" b="1" dirty="0">
                <a:solidFill>
                  <a:schemeClr val="accent2"/>
                </a:solidFill>
              </a:rPr>
              <a:t>	x=a[</a:t>
            </a:r>
            <a:r>
              <a:rPr lang="en-US" altLang="zh-CN" sz="2200" b="1" dirty="0" err="1">
                <a:solidFill>
                  <a:schemeClr val="accent2"/>
                </a:solidFill>
              </a:rPr>
              <a:t>i</a:t>
            </a:r>
            <a:r>
              <a:rPr lang="en-US" altLang="zh-CN" sz="2200" b="1" dirty="0">
                <a:solidFill>
                  <a:schemeClr val="accent2"/>
                </a:solidFill>
              </a:rPr>
              <a:t>];a[</a:t>
            </a:r>
            <a:r>
              <a:rPr lang="en-US" altLang="zh-CN" sz="2200" b="1" dirty="0" err="1">
                <a:solidFill>
                  <a:schemeClr val="accent2"/>
                </a:solidFill>
              </a:rPr>
              <a:t>i</a:t>
            </a:r>
            <a:r>
              <a:rPr lang="en-US" altLang="zh-CN" sz="2200" b="1" dirty="0">
                <a:solidFill>
                  <a:schemeClr val="accent2"/>
                </a:solidFill>
              </a:rPr>
              <a:t>]=a[n];a[n]=x; </a:t>
            </a:r>
          </a:p>
          <a:p>
            <a:pPr eaLnBrk="1" hangingPunct="1">
              <a:lnSpc>
                <a:spcPct val="110000"/>
              </a:lnSpc>
              <a:spcBef>
                <a:spcPts val="0"/>
              </a:spcBef>
              <a:buFontTx/>
              <a:buNone/>
            </a:pPr>
            <a:r>
              <a:rPr lang="en-US" altLang="zh-CN" sz="2200" dirty="0"/>
              <a:t>	quicksort(</a:t>
            </a:r>
            <a:r>
              <a:rPr lang="en-US" altLang="zh-CN" sz="2200" dirty="0" err="1"/>
              <a:t>m,j</a:t>
            </a:r>
            <a:r>
              <a:rPr lang="en-US" altLang="zh-CN" sz="2200" dirty="0"/>
              <a:t>);</a:t>
            </a:r>
          </a:p>
          <a:p>
            <a:pPr eaLnBrk="1" hangingPunct="1">
              <a:lnSpc>
                <a:spcPct val="110000"/>
              </a:lnSpc>
              <a:spcBef>
                <a:spcPts val="0"/>
              </a:spcBef>
              <a:buFontTx/>
              <a:buNone/>
            </a:pPr>
            <a:r>
              <a:rPr lang="en-US" altLang="zh-CN" sz="2200" dirty="0"/>
              <a:t>     quicksort(i+1,n);</a:t>
            </a:r>
          </a:p>
          <a:p>
            <a:pPr eaLnBrk="1" hangingPunct="1">
              <a:lnSpc>
                <a:spcPct val="110000"/>
              </a:lnSpc>
              <a:spcBef>
                <a:spcPts val="0"/>
              </a:spcBef>
              <a:buFontTx/>
              <a:buNone/>
            </a:pPr>
            <a:r>
              <a:rPr lang="en-US" altLang="zh-CN" sz="2200" dirty="0"/>
              <a:t>}</a:t>
            </a:r>
          </a:p>
        </p:txBody>
      </p:sp>
      <p:sp>
        <p:nvSpPr>
          <p:cNvPr id="11268" name="Rectangle 4"/>
          <p:cNvSpPr>
            <a:spLocks noChangeArrowheads="1"/>
          </p:cNvSpPr>
          <p:nvPr/>
        </p:nvSpPr>
        <p:spPr bwMode="auto">
          <a:xfrm>
            <a:off x="0" y="1364606"/>
            <a:ext cx="184731" cy="461665"/>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400"/>
          </a:p>
        </p:txBody>
      </p:sp>
      <p:graphicFrame>
        <p:nvGraphicFramePr>
          <p:cNvPr id="196662" name="Group 54"/>
          <p:cNvGraphicFramePr>
            <a:graphicFrameLocks noGrp="1"/>
          </p:cNvGraphicFramePr>
          <p:nvPr>
            <p:extLst>
              <p:ext uri="{D42A27DB-BD31-4B8C-83A1-F6EECF244321}">
                <p14:modId xmlns:p14="http://schemas.microsoft.com/office/powerpoint/2010/main" val="1115083147"/>
              </p:ext>
            </p:extLst>
          </p:nvPr>
        </p:nvGraphicFramePr>
        <p:xfrm>
          <a:off x="4592776" y="758607"/>
          <a:ext cx="4537025" cy="4257675"/>
        </p:xfrm>
        <a:graphic>
          <a:graphicData uri="http://schemas.openxmlformats.org/drawingml/2006/table">
            <a:tbl>
              <a:tblPr/>
              <a:tblGrid>
                <a:gridCol w="2372723">
                  <a:extLst>
                    <a:ext uri="{9D8B030D-6E8A-4147-A177-3AD203B41FA5}">
                      <a16:colId xmlns:a16="http://schemas.microsoft.com/office/drawing/2014/main" val="20000"/>
                    </a:ext>
                  </a:extLst>
                </a:gridCol>
                <a:gridCol w="2164302">
                  <a:extLst>
                    <a:ext uri="{9D8B030D-6E8A-4147-A177-3AD203B41FA5}">
                      <a16:colId xmlns:a16="http://schemas.microsoft.com/office/drawing/2014/main" val="20001"/>
                    </a:ext>
                  </a:extLst>
                </a:gridCol>
              </a:tblGrid>
              <a:tr h="42576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(1) i =m – 1</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(2) j =n</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(3) 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1</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=4 * n</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(4) v = a[T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1</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(5) </a:t>
                      </a:r>
                      <a:r>
                        <a:rPr kumimoji="1" lang="en-US" altLang="zh-CN" sz="1800" b="0" i="0" u="none" strike="noStrike" cap="none" normalizeH="0" baseline="0" dirty="0" err="1">
                          <a:ln>
                            <a:noFill/>
                          </a:ln>
                          <a:solidFill>
                            <a:srgbClr val="000000"/>
                          </a:solidFill>
                          <a:effectLst/>
                          <a:latin typeface="Times New Roman" pitchFamily="18" charset="0"/>
                          <a:ea typeface="宋体" pitchFamily="2" charset="-122"/>
                        </a:rPr>
                        <a:t>i</a:t>
                      </a: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 = </a:t>
                      </a:r>
                      <a:r>
                        <a:rPr kumimoji="1" lang="en-US" altLang="zh-CN" sz="1800" b="0" i="0" u="none" strike="noStrike" cap="none" normalizeH="0" baseline="0" dirty="0" err="1">
                          <a:ln>
                            <a:noFill/>
                          </a:ln>
                          <a:solidFill>
                            <a:srgbClr val="000000"/>
                          </a:solidFill>
                          <a:effectLst/>
                          <a:latin typeface="Times New Roman" pitchFamily="18" charset="0"/>
                          <a:ea typeface="宋体" pitchFamily="2" charset="-122"/>
                        </a:rPr>
                        <a:t>i</a:t>
                      </a: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 + 1</a:t>
                      </a:r>
                      <a:endParaRPr kumimoji="1"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(6) T</a:t>
                      </a:r>
                      <a:r>
                        <a:rPr kumimoji="1" lang="en-US" altLang="zh-CN" sz="1800" b="0" i="0" u="none" strike="noStrike" cap="none" normalizeH="0" baseline="-30000" dirty="0">
                          <a:ln>
                            <a:noFill/>
                          </a:ln>
                          <a:solidFill>
                            <a:srgbClr val="000000"/>
                          </a:solidFill>
                          <a:effectLst/>
                          <a:latin typeface="Times New Roman" pitchFamily="18" charset="0"/>
                          <a:ea typeface="宋体" pitchFamily="2" charset="-122"/>
                        </a:rPr>
                        <a:t>2</a:t>
                      </a: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 = 4 * </a:t>
                      </a:r>
                      <a:r>
                        <a:rPr kumimoji="1" lang="en-US" altLang="zh-CN" sz="1800" b="0" i="0" u="none" strike="noStrike" cap="none" normalizeH="0" baseline="0" dirty="0" err="1">
                          <a:ln>
                            <a:noFill/>
                          </a:ln>
                          <a:solidFill>
                            <a:srgbClr val="000000"/>
                          </a:solidFill>
                          <a:effectLst/>
                          <a:latin typeface="Times New Roman" pitchFamily="18" charset="0"/>
                          <a:ea typeface="宋体" pitchFamily="2" charset="-122"/>
                        </a:rPr>
                        <a:t>i</a:t>
                      </a:r>
                      <a:endParaRPr kumimoji="1"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(7) T</a:t>
                      </a:r>
                      <a:r>
                        <a:rPr kumimoji="1" lang="en-US" altLang="zh-CN" sz="1800" b="0" i="0" u="none" strike="noStrike" cap="none" normalizeH="0" baseline="-30000" dirty="0">
                          <a:ln>
                            <a:noFill/>
                          </a:ln>
                          <a:solidFill>
                            <a:srgbClr val="000000"/>
                          </a:solidFill>
                          <a:effectLst/>
                          <a:latin typeface="Times New Roman" pitchFamily="18" charset="0"/>
                          <a:ea typeface="宋体" pitchFamily="2" charset="-122"/>
                        </a:rPr>
                        <a:t>3</a:t>
                      </a: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 = a[T</a:t>
                      </a:r>
                      <a:r>
                        <a:rPr kumimoji="1" lang="en-US" altLang="zh-CN" sz="1800" b="0" i="0" u="none" strike="noStrike" cap="none" normalizeH="0" baseline="-30000" dirty="0">
                          <a:ln>
                            <a:noFill/>
                          </a:ln>
                          <a:solidFill>
                            <a:srgbClr val="000000"/>
                          </a:solidFill>
                          <a:effectLst/>
                          <a:latin typeface="Times New Roman" pitchFamily="18" charset="0"/>
                          <a:ea typeface="宋体" pitchFamily="2" charset="-122"/>
                        </a:rPr>
                        <a:t>2</a:t>
                      </a: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a:t>
                      </a:r>
                      <a:endParaRPr kumimoji="1"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(8) if T</a:t>
                      </a:r>
                      <a:r>
                        <a:rPr kumimoji="1" lang="en-US" altLang="zh-CN" sz="1800" b="0" i="0" u="none" strike="noStrike" cap="none" normalizeH="0" baseline="-30000" dirty="0">
                          <a:ln>
                            <a:noFill/>
                          </a:ln>
                          <a:solidFill>
                            <a:srgbClr val="000000"/>
                          </a:solidFill>
                          <a:effectLst/>
                          <a:latin typeface="Times New Roman" pitchFamily="18" charset="0"/>
                          <a:ea typeface="宋体" pitchFamily="2" charset="-122"/>
                        </a:rPr>
                        <a:t>3</a:t>
                      </a: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 &lt; v </a:t>
                      </a:r>
                      <a:r>
                        <a:rPr kumimoji="1" lang="en-US" altLang="zh-CN" sz="1800" b="0" i="0" u="none" strike="noStrike" cap="none" normalizeH="0" baseline="0" dirty="0" err="1">
                          <a:ln>
                            <a:noFill/>
                          </a:ln>
                          <a:solidFill>
                            <a:srgbClr val="000000"/>
                          </a:solidFill>
                          <a:effectLst/>
                          <a:latin typeface="Times New Roman" pitchFamily="18" charset="0"/>
                          <a:ea typeface="宋体" pitchFamily="2" charset="-122"/>
                        </a:rPr>
                        <a:t>goto</a:t>
                      </a: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 (5)</a:t>
                      </a:r>
                      <a:endParaRPr kumimoji="1"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(9) j = j – 1</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(10) 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4</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 4 * j</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(11) 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5</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 a[T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4</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(12) if 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5</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&gt; v goto (9)</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(13) if </a:t>
                      </a:r>
                      <a:r>
                        <a:rPr kumimoji="1" lang="en-US" altLang="zh-CN" sz="1800" b="0" i="0" u="none" strike="noStrike" cap="none" normalizeH="0" baseline="0" dirty="0" err="1">
                          <a:ln>
                            <a:noFill/>
                          </a:ln>
                          <a:solidFill>
                            <a:srgbClr val="000000"/>
                          </a:solidFill>
                          <a:effectLst/>
                          <a:latin typeface="Times New Roman" pitchFamily="18" charset="0"/>
                          <a:ea typeface="宋体" pitchFamily="2" charset="-122"/>
                        </a:rPr>
                        <a:t>i</a:t>
                      </a: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 &gt;= j </a:t>
                      </a:r>
                      <a:r>
                        <a:rPr kumimoji="1" lang="en-US" altLang="zh-CN" sz="1800" b="0" i="0" u="none" strike="noStrike" cap="none" normalizeH="0" baseline="0" dirty="0" err="1">
                          <a:ln>
                            <a:noFill/>
                          </a:ln>
                          <a:solidFill>
                            <a:srgbClr val="000000"/>
                          </a:solidFill>
                          <a:effectLst/>
                          <a:latin typeface="Times New Roman" pitchFamily="18" charset="0"/>
                          <a:ea typeface="宋体" pitchFamily="2" charset="-122"/>
                        </a:rPr>
                        <a:t>goto</a:t>
                      </a: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 (23)</a:t>
                      </a:r>
                      <a:endParaRPr kumimoji="1"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(14) T</a:t>
                      </a:r>
                      <a:r>
                        <a:rPr kumimoji="1" lang="en-US" altLang="zh-CN" sz="1800" b="0" i="0" u="none" strike="noStrike" cap="none" normalizeH="0" baseline="-30000" dirty="0">
                          <a:ln>
                            <a:noFill/>
                          </a:ln>
                          <a:solidFill>
                            <a:srgbClr val="000000"/>
                          </a:solidFill>
                          <a:effectLst/>
                          <a:latin typeface="Times New Roman" pitchFamily="18" charset="0"/>
                          <a:ea typeface="宋体" pitchFamily="2" charset="-122"/>
                        </a:rPr>
                        <a:t>6</a:t>
                      </a: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 = 4 * </a:t>
                      </a:r>
                      <a:r>
                        <a:rPr kumimoji="1" lang="en-US" altLang="zh-CN" sz="1800" b="0" i="0" u="none" strike="noStrike" cap="none" normalizeH="0" baseline="0" dirty="0" err="1">
                          <a:ln>
                            <a:noFill/>
                          </a:ln>
                          <a:solidFill>
                            <a:srgbClr val="000000"/>
                          </a:solidFill>
                          <a:effectLst/>
                          <a:latin typeface="Times New Roman" pitchFamily="18" charset="0"/>
                          <a:ea typeface="宋体" pitchFamily="2" charset="-122"/>
                        </a:rPr>
                        <a:t>i</a:t>
                      </a:r>
                      <a:endParaRPr kumimoji="1"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(15) x = a[T</a:t>
                      </a:r>
                      <a:r>
                        <a:rPr kumimoji="1" lang="en-US" altLang="zh-CN" sz="1800" b="0" i="0" u="none" strike="noStrike" cap="none" normalizeH="0" baseline="-30000" dirty="0">
                          <a:ln>
                            <a:noFill/>
                          </a:ln>
                          <a:solidFill>
                            <a:srgbClr val="000000"/>
                          </a:solidFill>
                          <a:effectLst/>
                          <a:latin typeface="Times New Roman" pitchFamily="18" charset="0"/>
                          <a:ea typeface="宋体" pitchFamily="2" charset="-122"/>
                        </a:rPr>
                        <a:t>6</a:t>
                      </a:r>
                      <a:r>
                        <a:rPr kumimoji="1" lang="en-US" altLang="zh-CN" sz="1800" b="0" i="0" u="none" strike="noStrike" cap="none" normalizeH="0" baseline="0" dirty="0">
                          <a:ln>
                            <a:noFill/>
                          </a:ln>
                          <a:solidFill>
                            <a:srgbClr val="000000"/>
                          </a:solidFill>
                          <a:effectLst/>
                          <a:latin typeface="Times New Roman" pitchFamily="18" charset="0"/>
                          <a:ea typeface="宋体" pitchFamily="2" charset="-122"/>
                        </a:rPr>
                        <a:t>]</a:t>
                      </a:r>
                      <a:endParaRPr kumimoji="1" lang="en-US" altLang="zh-CN" sz="18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horzOverflow="overflow">
                    <a:lnL w="28575" cap="flat" cmpd="sng" algn="ctr">
                      <a:solidFill>
                        <a:srgbClr val="00FF0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00FF00"/>
                      </a:solidFill>
                      <a:prstDash val="solid"/>
                      <a:round/>
                      <a:headEnd type="none" w="med" len="med"/>
                      <a:tailEnd type="none" w="med" len="med"/>
                    </a:lnT>
                    <a:lnB w="28575" cap="flat" cmpd="sng" algn="ctr">
                      <a:solidFill>
                        <a:srgbClr val="00FF00"/>
                      </a:solidFill>
                      <a:prstDash val="solid"/>
                      <a:round/>
                      <a:headEnd type="none" w="med" len="med"/>
                      <a:tailEnd type="none" w="med" len="med"/>
                    </a:lnB>
                    <a:lnTlToBr>
                      <a:noFill/>
                    </a:lnTlToBr>
                    <a:lnBlToTr>
                      <a:noFill/>
                    </a:lnBlToTr>
                    <a:solidFill>
                      <a:schemeClr val="bg1"/>
                    </a:solidFill>
                  </a:tcPr>
                </a:tc>
                <a:tc>
                  <a:txBody>
                    <a:bodyPr/>
                    <a:lstStyle/>
                    <a:p>
                      <a:pPr marL="0" marR="0" lvl="0" indent="160338" algn="l" defTabSz="914400" rtl="0" eaLnBrk="1" fontAlgn="base" latinLnBrk="0" hangingPunct="1">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(16) 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7</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 4 * i</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(17) 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8</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 4 * j</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(18) 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9</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 a[T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8</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(19) a[T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7</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 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9</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(20) 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10</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 4 * j</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(21) a[T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10</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 x</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(22) goto (5)</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(23) 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11</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 4 * j</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(24) x = a[T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11</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(25) 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12</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 4 * i</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(26) 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13</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 4 * n</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(27) 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14</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 a[T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13</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(28) a[T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12</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 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14</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(29) 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15</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 4 * n</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(30) a[T</a:t>
                      </a:r>
                      <a:r>
                        <a:rPr kumimoji="1" lang="fr-FR" altLang="zh-CN" sz="1800" b="0" i="0" u="none" strike="noStrike" cap="none" normalizeH="0" baseline="-30000" dirty="0">
                          <a:ln>
                            <a:noFill/>
                          </a:ln>
                          <a:solidFill>
                            <a:srgbClr val="000000"/>
                          </a:solidFill>
                          <a:effectLst/>
                          <a:latin typeface="Times New Roman" pitchFamily="18" charset="0"/>
                          <a:ea typeface="宋体" pitchFamily="2" charset="-122"/>
                        </a:rPr>
                        <a:t>15</a:t>
                      </a:r>
                      <a:r>
                        <a:rPr kumimoji="1" lang="fr-FR" altLang="zh-CN" sz="1800" b="0" i="0" u="none" strike="noStrike" cap="none" normalizeH="0" baseline="0" dirty="0">
                          <a:ln>
                            <a:noFill/>
                          </a:ln>
                          <a:solidFill>
                            <a:srgbClr val="000000"/>
                          </a:solidFill>
                          <a:effectLst/>
                          <a:latin typeface="Times New Roman" pitchFamily="18" charset="0"/>
                          <a:ea typeface="宋体" pitchFamily="2" charset="-122"/>
                        </a:rPr>
                        <a:t>] = x</a:t>
                      </a:r>
                      <a:endParaRPr kumimoji="1" lang="fr-FR" altLang="zh-CN" sz="18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rgbClr val="00FF00"/>
                      </a:solidFill>
                      <a:prstDash val="solid"/>
                      <a:round/>
                      <a:headEnd type="none" w="med" len="med"/>
                      <a:tailEnd type="none" w="med" len="med"/>
                    </a:lnR>
                    <a:lnT w="28575" cap="flat" cmpd="sng" algn="ctr">
                      <a:solidFill>
                        <a:srgbClr val="00FF00"/>
                      </a:solidFill>
                      <a:prstDash val="solid"/>
                      <a:round/>
                      <a:headEnd type="none" w="med" len="med"/>
                      <a:tailEnd type="none" w="med" len="med"/>
                    </a:lnT>
                    <a:lnB w="28575" cap="flat" cmpd="sng" algn="ctr">
                      <a:solidFill>
                        <a:srgbClr val="00FF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196656" name="Text Box 48"/>
          <p:cNvSpPr txBox="1">
            <a:spLocks noChangeArrowheads="1"/>
          </p:cNvSpPr>
          <p:nvPr/>
        </p:nvSpPr>
        <p:spPr bwMode="auto">
          <a:xfrm>
            <a:off x="5004048" y="-1"/>
            <a:ext cx="280828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zh-CN" altLang="en-US" sz="3600" dirty="0"/>
              <a:t>中间代码</a:t>
            </a:r>
          </a:p>
        </p:txBody>
      </p:sp>
    </p:spTree>
    <p:extLst>
      <p:ext uri="{BB962C8B-B14F-4D97-AF65-F5344CB8AC3E}">
        <p14:creationId xmlns:p14="http://schemas.microsoft.com/office/powerpoint/2010/main" val="2647252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66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1966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6"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4503156" cy="769441"/>
          </a:xfrm>
          <a:prstGeom prst="rect">
            <a:avLst/>
          </a:prstGeom>
        </p:spPr>
        <p:txBody>
          <a:bodyPr wrap="none">
            <a:spAutoFit/>
          </a:bodyPr>
          <a:lstStyle/>
          <a:p>
            <a:r>
              <a:rPr lang="en-US" altLang="zh-CN" sz="4400" b="1" dirty="0">
                <a:solidFill>
                  <a:srgbClr val="CC0099"/>
                </a:solidFill>
                <a:ea typeface="隶书" pitchFamily="49" charset="-122"/>
              </a:rPr>
              <a:t>2</a:t>
            </a:r>
            <a:r>
              <a:rPr lang="zh-CN" altLang="en-US" sz="4400" b="1" dirty="0">
                <a:solidFill>
                  <a:srgbClr val="CC0099"/>
                </a:solidFill>
                <a:ea typeface="隶书" pitchFamily="49" charset="-122"/>
              </a:rPr>
              <a:t>、</a:t>
            </a:r>
            <a:r>
              <a:rPr lang="zh-CN" altLang="en-US" sz="4400" b="1">
                <a:solidFill>
                  <a:srgbClr val="CC0099"/>
                </a:solidFill>
                <a:ea typeface="隶书" pitchFamily="49" charset="-122"/>
              </a:rPr>
              <a:t>基本块和流图</a:t>
            </a:r>
            <a:endParaRPr lang="zh-CN" altLang="en-US" sz="4400" b="1" dirty="0">
              <a:solidFill>
                <a:srgbClr val="CC0099"/>
              </a:solidFill>
              <a:ea typeface="隶书" pitchFamily="49" charset="-122"/>
            </a:endParaRPr>
          </a:p>
        </p:txBody>
      </p:sp>
    </p:spTree>
    <p:extLst>
      <p:ext uri="{BB962C8B-B14F-4D97-AF65-F5344CB8AC3E}">
        <p14:creationId xmlns:p14="http://schemas.microsoft.com/office/powerpoint/2010/main" val="2586299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title" idx="4294967295"/>
          </p:nvPr>
        </p:nvSpPr>
        <p:spPr>
          <a:xfrm>
            <a:off x="238064" y="123478"/>
            <a:ext cx="8248650" cy="742950"/>
          </a:xfrm>
        </p:spPr>
        <p:txBody>
          <a:bodyPr>
            <a:noAutofit/>
          </a:bodyPr>
          <a:lstStyle/>
          <a:p>
            <a:pPr eaLnBrk="1" hangingPunct="1"/>
            <a:r>
              <a:rPr lang="zh-CN" altLang="en-US" b="1" dirty="0">
                <a:solidFill>
                  <a:srgbClr val="CC0099"/>
                </a:solidFill>
                <a:ea typeface="隶书" pitchFamily="49" charset="-122"/>
              </a:rPr>
              <a:t>基本块的</a:t>
            </a:r>
            <a:r>
              <a:rPr lang="zh-CN" altLang="zh-CN" b="1" dirty="0">
                <a:solidFill>
                  <a:srgbClr val="CC0099"/>
                </a:solidFill>
                <a:ea typeface="隶书" pitchFamily="49" charset="-122"/>
              </a:rPr>
              <a:t>概念及流图</a:t>
            </a:r>
            <a:endParaRPr lang="zh-CN" altLang="en-US" b="1" dirty="0">
              <a:solidFill>
                <a:srgbClr val="CC0099"/>
              </a:solidFill>
              <a:ea typeface="隶书" pitchFamily="49" charset="-122"/>
            </a:endParaRPr>
          </a:p>
        </p:txBody>
      </p:sp>
      <p:sp>
        <p:nvSpPr>
          <p:cNvPr id="12291" name="Text Box 9"/>
          <p:cNvSpPr txBox="1">
            <a:spLocks noChangeArrowheads="1"/>
          </p:cNvSpPr>
          <p:nvPr/>
        </p:nvSpPr>
        <p:spPr bwMode="auto">
          <a:xfrm>
            <a:off x="438089" y="1244926"/>
            <a:ext cx="7848600" cy="1954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pPr>
            <a:r>
              <a:rPr lang="zh-CN" altLang="en-US" sz="2200" b="1" dirty="0">
                <a:solidFill>
                  <a:srgbClr val="FF0000"/>
                </a:solidFill>
              </a:rPr>
              <a:t>基本块</a:t>
            </a:r>
            <a:r>
              <a:rPr lang="zh-CN" altLang="en-US" sz="2200" dirty="0"/>
              <a:t>：是指程序中一顺序执行的语句序列，其中只有一个入口语句和一个出口语句</a:t>
            </a:r>
            <a:r>
              <a:rPr kumimoji="0" lang="zh-CN" altLang="en-US" sz="2200" dirty="0"/>
              <a:t>，</a:t>
            </a:r>
            <a:r>
              <a:rPr lang="zh-CN" altLang="en-US" sz="2200" dirty="0"/>
              <a:t>入口是其第一个语句，出口是其最后一个语句</a:t>
            </a:r>
            <a:endParaRPr lang="en-US" altLang="zh-CN" sz="2200" dirty="0"/>
          </a:p>
          <a:p>
            <a:pPr eaLnBrk="1" hangingPunct="1">
              <a:spcBef>
                <a:spcPct val="50000"/>
              </a:spcBef>
            </a:pPr>
            <a:r>
              <a:rPr lang="zh-CN" altLang="en-US" sz="2200" dirty="0"/>
              <a:t>基本块的执行：对于一个基本块，执行时只能从其入口进入，从其出口退出</a:t>
            </a:r>
          </a:p>
        </p:txBody>
      </p:sp>
      <p:sp>
        <p:nvSpPr>
          <p:cNvPr id="18437" name="Rectangle 5"/>
          <p:cNvSpPr>
            <a:spLocks noChangeArrowheads="1"/>
          </p:cNvSpPr>
          <p:nvPr/>
        </p:nvSpPr>
        <p:spPr bwMode="auto">
          <a:xfrm>
            <a:off x="6156325" y="2992370"/>
            <a:ext cx="2160588" cy="1754326"/>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nchor="ctr">
            <a:spAutoFit/>
          </a:bodyPr>
          <a:lstStyle/>
          <a:p>
            <a:pPr indent="261938" eaLnBrk="0" hangingPunct="0">
              <a:defRPr/>
            </a:pPr>
            <a:r>
              <a:rPr lang="fr-FR" altLang="zh-CN" dirty="0">
                <a:solidFill>
                  <a:srgbClr val="000000"/>
                </a:solidFill>
              </a:rPr>
              <a:t>T</a:t>
            </a:r>
            <a:r>
              <a:rPr lang="fr-FR" altLang="zh-CN" baseline="-30000" dirty="0">
                <a:solidFill>
                  <a:srgbClr val="000000"/>
                </a:solidFill>
              </a:rPr>
              <a:t>1 </a:t>
            </a:r>
            <a:r>
              <a:rPr lang="fr-FR" altLang="zh-CN" dirty="0">
                <a:solidFill>
                  <a:srgbClr val="000000"/>
                </a:solidFill>
              </a:rPr>
              <a:t>= a * a</a:t>
            </a:r>
            <a:endParaRPr lang="fr-FR" altLang="zh-CN" dirty="0">
              <a:solidFill>
                <a:schemeClr val="tx1"/>
              </a:solidFill>
            </a:endParaRPr>
          </a:p>
          <a:p>
            <a:pPr indent="261938" eaLnBrk="0" hangingPunct="0">
              <a:defRPr/>
            </a:pPr>
            <a:r>
              <a:rPr lang="fr-FR" altLang="zh-CN" dirty="0">
                <a:solidFill>
                  <a:srgbClr val="000000"/>
                </a:solidFill>
              </a:rPr>
              <a:t>T</a:t>
            </a:r>
            <a:r>
              <a:rPr lang="fr-FR" altLang="zh-CN" baseline="-30000" dirty="0">
                <a:solidFill>
                  <a:srgbClr val="000000"/>
                </a:solidFill>
              </a:rPr>
              <a:t>2 </a:t>
            </a:r>
            <a:r>
              <a:rPr lang="fr-FR" altLang="zh-CN" dirty="0">
                <a:solidFill>
                  <a:srgbClr val="000000"/>
                </a:solidFill>
              </a:rPr>
              <a:t>= a * b</a:t>
            </a:r>
            <a:endParaRPr lang="fr-FR" altLang="zh-CN" dirty="0">
              <a:solidFill>
                <a:schemeClr val="tx1"/>
              </a:solidFill>
            </a:endParaRPr>
          </a:p>
          <a:p>
            <a:pPr indent="261938" eaLnBrk="0" hangingPunct="0">
              <a:defRPr/>
            </a:pPr>
            <a:r>
              <a:rPr lang="fr-FR" altLang="zh-CN" dirty="0">
                <a:solidFill>
                  <a:srgbClr val="000000"/>
                </a:solidFill>
              </a:rPr>
              <a:t>T</a:t>
            </a:r>
            <a:r>
              <a:rPr lang="fr-FR" altLang="zh-CN" baseline="-30000" dirty="0">
                <a:solidFill>
                  <a:srgbClr val="000000"/>
                </a:solidFill>
              </a:rPr>
              <a:t>3 </a:t>
            </a:r>
            <a:r>
              <a:rPr lang="fr-FR" altLang="zh-CN" dirty="0">
                <a:solidFill>
                  <a:srgbClr val="000000"/>
                </a:solidFill>
              </a:rPr>
              <a:t>= a * 2</a:t>
            </a:r>
            <a:endParaRPr lang="fr-FR" altLang="zh-CN" dirty="0">
              <a:solidFill>
                <a:schemeClr val="tx1"/>
              </a:solidFill>
            </a:endParaRPr>
          </a:p>
          <a:p>
            <a:pPr indent="261938" eaLnBrk="0" hangingPunct="0">
              <a:defRPr/>
            </a:pPr>
            <a:r>
              <a:rPr lang="fr-FR" altLang="zh-CN" dirty="0">
                <a:solidFill>
                  <a:srgbClr val="000000"/>
                </a:solidFill>
              </a:rPr>
              <a:t>T</a:t>
            </a:r>
            <a:r>
              <a:rPr lang="fr-FR" altLang="zh-CN" baseline="-30000" dirty="0">
                <a:solidFill>
                  <a:srgbClr val="000000"/>
                </a:solidFill>
              </a:rPr>
              <a:t>4 </a:t>
            </a:r>
            <a:r>
              <a:rPr lang="fr-FR" altLang="zh-CN" dirty="0">
                <a:solidFill>
                  <a:srgbClr val="000000"/>
                </a:solidFill>
              </a:rPr>
              <a:t>= T</a:t>
            </a:r>
            <a:r>
              <a:rPr lang="fr-FR" altLang="zh-CN" baseline="-30000" dirty="0">
                <a:solidFill>
                  <a:srgbClr val="000000"/>
                </a:solidFill>
              </a:rPr>
              <a:t>1</a:t>
            </a:r>
            <a:r>
              <a:rPr lang="zh-CN" altLang="fr-FR" dirty="0">
                <a:solidFill>
                  <a:srgbClr val="000000"/>
                </a:solidFill>
              </a:rPr>
              <a:t>＋</a:t>
            </a:r>
            <a:r>
              <a:rPr lang="fr-FR" altLang="zh-CN" dirty="0">
                <a:solidFill>
                  <a:srgbClr val="000000"/>
                </a:solidFill>
              </a:rPr>
              <a:t>T</a:t>
            </a:r>
            <a:r>
              <a:rPr lang="fr-FR" altLang="zh-CN" baseline="-30000" dirty="0">
                <a:solidFill>
                  <a:srgbClr val="000000"/>
                </a:solidFill>
              </a:rPr>
              <a:t>2</a:t>
            </a:r>
            <a:endParaRPr lang="fr-FR" altLang="zh-CN" dirty="0">
              <a:solidFill>
                <a:schemeClr val="tx1"/>
              </a:solidFill>
            </a:endParaRPr>
          </a:p>
          <a:p>
            <a:pPr indent="261938" eaLnBrk="0" hangingPunct="0">
              <a:defRPr/>
            </a:pPr>
            <a:r>
              <a:rPr lang="fr-FR" altLang="zh-CN" dirty="0">
                <a:solidFill>
                  <a:srgbClr val="000000"/>
                </a:solidFill>
              </a:rPr>
              <a:t>T</a:t>
            </a:r>
            <a:r>
              <a:rPr lang="fr-FR" altLang="zh-CN" baseline="-30000" dirty="0">
                <a:solidFill>
                  <a:srgbClr val="000000"/>
                </a:solidFill>
              </a:rPr>
              <a:t>5 </a:t>
            </a:r>
            <a:r>
              <a:rPr lang="fr-FR" altLang="zh-CN" dirty="0">
                <a:solidFill>
                  <a:srgbClr val="000000"/>
                </a:solidFill>
              </a:rPr>
              <a:t>= b * b</a:t>
            </a:r>
          </a:p>
          <a:p>
            <a:pPr indent="261938" eaLnBrk="0" hangingPunct="0">
              <a:defRPr/>
            </a:pPr>
            <a:r>
              <a:rPr lang="fr-FR" altLang="zh-CN" dirty="0">
                <a:solidFill>
                  <a:srgbClr val="000000"/>
                </a:solidFill>
              </a:rPr>
              <a:t>T</a:t>
            </a:r>
            <a:r>
              <a:rPr lang="fr-FR" altLang="zh-CN" baseline="-30000" dirty="0">
                <a:solidFill>
                  <a:srgbClr val="000000"/>
                </a:solidFill>
              </a:rPr>
              <a:t>6 </a:t>
            </a:r>
            <a:r>
              <a:rPr lang="fr-FR" altLang="zh-CN" dirty="0">
                <a:solidFill>
                  <a:srgbClr val="000000"/>
                </a:solidFill>
              </a:rPr>
              <a:t>= T</a:t>
            </a:r>
            <a:r>
              <a:rPr lang="fr-FR" altLang="zh-CN" baseline="-30000" dirty="0">
                <a:solidFill>
                  <a:srgbClr val="000000"/>
                </a:solidFill>
              </a:rPr>
              <a:t>4</a:t>
            </a:r>
            <a:r>
              <a:rPr lang="zh-CN" altLang="fr-FR" dirty="0">
                <a:solidFill>
                  <a:srgbClr val="000000"/>
                </a:solidFill>
                <a:cs typeface="Times New Roman" pitchFamily="18" charset="0"/>
              </a:rPr>
              <a:t>＋</a:t>
            </a:r>
            <a:r>
              <a:rPr lang="fr-FR" altLang="zh-CN" dirty="0">
                <a:solidFill>
                  <a:srgbClr val="000000"/>
                </a:solidFill>
              </a:rPr>
              <a:t>T</a:t>
            </a:r>
            <a:r>
              <a:rPr lang="fr-FR" altLang="zh-CN" baseline="-30000" dirty="0">
                <a:solidFill>
                  <a:srgbClr val="000000"/>
                </a:solidFill>
              </a:rPr>
              <a:t>5</a:t>
            </a:r>
            <a:r>
              <a:rPr lang="fr-FR" altLang="zh-CN" dirty="0">
                <a:solidFill>
                  <a:schemeClr val="tx1"/>
                </a:solidFill>
              </a:rPr>
              <a:t> </a:t>
            </a:r>
          </a:p>
        </p:txBody>
      </p:sp>
    </p:spTree>
    <p:extLst>
      <p:ext uri="{BB962C8B-B14F-4D97-AF65-F5344CB8AC3E}">
        <p14:creationId xmlns:p14="http://schemas.microsoft.com/office/powerpoint/2010/main" val="388576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07504" y="123478"/>
            <a:ext cx="7772400" cy="576063"/>
          </a:xfrm>
        </p:spPr>
        <p:txBody>
          <a:bodyPr>
            <a:noAutofit/>
          </a:bodyPr>
          <a:lstStyle/>
          <a:p>
            <a:pPr eaLnBrk="1" hangingPunct="1"/>
            <a:r>
              <a:rPr lang="zh-CN" altLang="en-US" dirty="0">
                <a:solidFill>
                  <a:srgbClr val="CC00FF"/>
                </a:solidFill>
              </a:rPr>
              <a:t>如何划分基本块</a:t>
            </a:r>
            <a:endParaRPr lang="zh-CN" altLang="zh-CN" dirty="0">
              <a:solidFill>
                <a:srgbClr val="CC00FF"/>
              </a:solidFill>
            </a:endParaRPr>
          </a:p>
        </p:txBody>
      </p:sp>
      <p:sp>
        <p:nvSpPr>
          <p:cNvPr id="13315" name="Rectangle 3"/>
          <p:cNvSpPr>
            <a:spLocks noGrp="1" noChangeArrowheads="1"/>
          </p:cNvSpPr>
          <p:nvPr>
            <p:ph type="body" orient="vert" idx="1"/>
          </p:nvPr>
        </p:nvSpPr>
        <p:spPr>
          <a:xfrm>
            <a:off x="539552" y="843559"/>
            <a:ext cx="7912100" cy="2088232"/>
          </a:xfrm>
        </p:spPr>
        <p:style>
          <a:lnRef idx="2">
            <a:schemeClr val="accent1"/>
          </a:lnRef>
          <a:fillRef idx="1">
            <a:schemeClr val="lt1"/>
          </a:fillRef>
          <a:effectRef idx="0">
            <a:schemeClr val="accent1"/>
          </a:effectRef>
          <a:fontRef idx="minor">
            <a:schemeClr val="dk1"/>
          </a:fontRef>
        </p:style>
        <p:txBody>
          <a:bodyPr vert="horz">
            <a:noAutofit/>
          </a:bodyPr>
          <a:lstStyle/>
          <a:p>
            <a:pPr eaLnBrk="1" hangingPunct="1">
              <a:spcBef>
                <a:spcPts val="0"/>
              </a:spcBef>
              <a:buFontTx/>
              <a:buNone/>
            </a:pPr>
            <a:r>
              <a:rPr lang="zh-CN" altLang="en-US" sz="2200" b="1" dirty="0"/>
              <a:t>首先确定入口语句：</a:t>
            </a:r>
          </a:p>
          <a:p>
            <a:pPr eaLnBrk="1" hangingPunct="1">
              <a:spcBef>
                <a:spcPts val="0"/>
              </a:spcBef>
            </a:pPr>
            <a:r>
              <a:rPr lang="en-US" altLang="zh-CN" sz="2200" dirty="0"/>
              <a:t>1</a:t>
            </a:r>
            <a:r>
              <a:rPr lang="zh-CN" altLang="en-US" sz="2200" dirty="0"/>
              <a:t>．程序的</a:t>
            </a:r>
            <a:r>
              <a:rPr lang="zh-CN" altLang="en-US" sz="2200" b="1" dirty="0">
                <a:solidFill>
                  <a:srgbClr val="FF0000"/>
                </a:solidFill>
              </a:rPr>
              <a:t>第一个语句</a:t>
            </a:r>
            <a:r>
              <a:rPr lang="zh-CN" altLang="en-US" sz="2200" dirty="0"/>
              <a:t>；</a:t>
            </a:r>
          </a:p>
          <a:p>
            <a:pPr eaLnBrk="1" hangingPunct="1">
              <a:spcBef>
                <a:spcPts val="0"/>
              </a:spcBef>
            </a:pPr>
            <a:r>
              <a:rPr lang="en-US" altLang="zh-CN" sz="2200" dirty="0"/>
              <a:t>2</a:t>
            </a:r>
            <a:r>
              <a:rPr lang="zh-CN" altLang="en-US" sz="2200" dirty="0"/>
              <a:t>．条件转移语句或无条件转移语句的</a:t>
            </a:r>
            <a:r>
              <a:rPr lang="zh-CN" altLang="en-US" sz="2200" b="1" dirty="0">
                <a:solidFill>
                  <a:srgbClr val="FF0000"/>
                </a:solidFill>
              </a:rPr>
              <a:t>转移目标语句</a:t>
            </a:r>
            <a:r>
              <a:rPr lang="zh-CN" altLang="en-US" sz="2200" dirty="0"/>
              <a:t>（此处的转移语句包括各种控制的转向，如</a:t>
            </a:r>
            <a:r>
              <a:rPr lang="en-US" altLang="zh-CN" sz="2200" dirty="0"/>
              <a:t>call</a:t>
            </a:r>
            <a:r>
              <a:rPr lang="zh-CN" altLang="en-US" sz="2200" dirty="0"/>
              <a:t>，</a:t>
            </a:r>
            <a:r>
              <a:rPr lang="en-US" altLang="zh-CN" sz="2200" dirty="0"/>
              <a:t>return</a:t>
            </a:r>
            <a:r>
              <a:rPr lang="zh-CN" altLang="en-US" sz="2200" dirty="0"/>
              <a:t>，</a:t>
            </a:r>
            <a:r>
              <a:rPr lang="en-US" altLang="zh-CN" sz="2200" dirty="0"/>
              <a:t>end</a:t>
            </a:r>
            <a:r>
              <a:rPr lang="zh-CN" altLang="en-US" sz="2200" dirty="0"/>
              <a:t>，</a:t>
            </a:r>
            <a:r>
              <a:rPr lang="en-US" altLang="zh-CN" sz="2200" dirty="0"/>
              <a:t>stop</a:t>
            </a:r>
            <a:r>
              <a:rPr lang="zh-CN" altLang="en-US" sz="2200" dirty="0"/>
              <a:t>等） ；</a:t>
            </a:r>
          </a:p>
          <a:p>
            <a:pPr eaLnBrk="1" hangingPunct="1">
              <a:spcBef>
                <a:spcPts val="0"/>
              </a:spcBef>
            </a:pPr>
            <a:r>
              <a:rPr lang="en-US" altLang="zh-CN" sz="2200" dirty="0"/>
              <a:t>3</a:t>
            </a:r>
            <a:r>
              <a:rPr lang="zh-CN" altLang="en-US" sz="2200" dirty="0"/>
              <a:t>．</a:t>
            </a:r>
            <a:r>
              <a:rPr lang="zh-CN" altLang="en-US" sz="2200" b="1" dirty="0">
                <a:solidFill>
                  <a:srgbClr val="FF0000"/>
                </a:solidFill>
              </a:rPr>
              <a:t>紧跟</a:t>
            </a:r>
            <a:r>
              <a:rPr lang="zh-CN" altLang="en-US" sz="2200" dirty="0"/>
              <a:t>在</a:t>
            </a:r>
            <a:r>
              <a:rPr lang="zh-CN" altLang="en-US" sz="2200" b="1" dirty="0">
                <a:solidFill>
                  <a:srgbClr val="FF0000"/>
                </a:solidFill>
              </a:rPr>
              <a:t>条件转移语句后面</a:t>
            </a:r>
            <a:r>
              <a:rPr lang="zh-CN" altLang="en-US" sz="2200" dirty="0"/>
              <a:t>的语句。</a:t>
            </a:r>
          </a:p>
        </p:txBody>
      </p:sp>
      <p:sp>
        <p:nvSpPr>
          <p:cNvPr id="4" name="Rectangle 3"/>
          <p:cNvSpPr txBox="1">
            <a:spLocks noChangeArrowheads="1"/>
          </p:cNvSpPr>
          <p:nvPr/>
        </p:nvSpPr>
        <p:spPr>
          <a:xfrm>
            <a:off x="539552" y="3147814"/>
            <a:ext cx="7912100" cy="1872208"/>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marL="109728" indent="0">
              <a:spcBef>
                <a:spcPts val="0"/>
              </a:spcBef>
              <a:buNone/>
            </a:pPr>
            <a:r>
              <a:rPr lang="zh-CN" altLang="en-US" sz="2200" b="1" dirty="0"/>
              <a:t>对已求出的每一个入口语句构造一个基本块</a:t>
            </a:r>
            <a:r>
              <a:rPr lang="zh-CN" altLang="en-US" sz="2200" dirty="0"/>
              <a:t>。</a:t>
            </a:r>
            <a:endParaRPr lang="en-US" altLang="zh-CN" sz="2200" dirty="0"/>
          </a:p>
          <a:p>
            <a:pPr>
              <a:spcBef>
                <a:spcPts val="0"/>
              </a:spcBef>
            </a:pPr>
            <a:r>
              <a:rPr lang="zh-CN" altLang="en-US" sz="2200" dirty="0"/>
              <a:t>它是由该入口语句到下一个入口语句（不包括此入口语句）、或到一个转移语句（包括此转移语句）、或到一个停语句（包括此停语句）之间的语句序列组成。</a:t>
            </a:r>
            <a:endParaRPr lang="en-US" altLang="zh-CN" sz="2200" dirty="0"/>
          </a:p>
          <a:p>
            <a:pPr>
              <a:spcBef>
                <a:spcPts val="0"/>
              </a:spcBef>
            </a:pPr>
            <a:r>
              <a:rPr lang="zh-CN" altLang="zh-CN" sz="2000" dirty="0"/>
              <a:t>一般把过程调用语句作为一个单独的基本块。</a:t>
            </a:r>
            <a:endParaRPr lang="zh-CN" altLang="en-US" sz="2200" dirty="0"/>
          </a:p>
        </p:txBody>
      </p:sp>
    </p:spTree>
    <p:extLst>
      <p:ext uri="{BB962C8B-B14F-4D97-AF65-F5344CB8AC3E}">
        <p14:creationId xmlns:p14="http://schemas.microsoft.com/office/powerpoint/2010/main" val="1453471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title" idx="4294967295"/>
          </p:nvPr>
        </p:nvSpPr>
        <p:spPr>
          <a:xfrm>
            <a:off x="400000" y="171451"/>
            <a:ext cx="7772400" cy="564356"/>
          </a:xfrm>
          <a:noFill/>
        </p:spPr>
        <p:txBody>
          <a:bodyPr>
            <a:normAutofit fontScale="90000"/>
          </a:bodyPr>
          <a:lstStyle/>
          <a:p>
            <a:pPr eaLnBrk="1" hangingPunct="1"/>
            <a:r>
              <a:rPr lang="zh-CN" altLang="en-US" sz="4000" b="1" dirty="0">
                <a:ea typeface="楷体_GB2312" pitchFamily="1" charset="-122"/>
              </a:rPr>
              <a:t>划分基本块的算法</a:t>
            </a:r>
          </a:p>
        </p:txBody>
      </p:sp>
      <p:graphicFrame>
        <p:nvGraphicFramePr>
          <p:cNvPr id="4" name="表格 3"/>
          <p:cNvGraphicFramePr>
            <a:graphicFrameLocks noGrp="1"/>
          </p:cNvGraphicFramePr>
          <p:nvPr>
            <p:extLst>
              <p:ext uri="{D42A27DB-BD31-4B8C-83A1-F6EECF244321}">
                <p14:modId xmlns:p14="http://schemas.microsoft.com/office/powerpoint/2010/main" val="3949556934"/>
              </p:ext>
            </p:extLst>
          </p:nvPr>
        </p:nvGraphicFramePr>
        <p:xfrm>
          <a:off x="467544" y="857250"/>
          <a:ext cx="8208912" cy="4114800"/>
        </p:xfrm>
        <a:graphic>
          <a:graphicData uri="http://schemas.openxmlformats.org/drawingml/2006/table">
            <a:tbl>
              <a:tblPr/>
              <a:tblGrid>
                <a:gridCol w="8208912">
                  <a:extLst>
                    <a:ext uri="{9D8B030D-6E8A-4147-A177-3AD203B41FA5}">
                      <a16:colId xmlns:a16="http://schemas.microsoft.com/office/drawing/2014/main" val="20000"/>
                    </a:ext>
                  </a:extLst>
                </a:gridCol>
              </a:tblGrid>
              <a:tr h="4114800">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输入：三地址代码</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输出：基本块序列</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步骤：</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itchFamily="2" charset="-122"/>
                          <a:ea typeface="宋体" pitchFamily="2" charset="-122"/>
                          <a:cs typeface="Times New Roman" pitchFamily="18" charset="0"/>
                        </a:rPr>
                        <a:t>(1) </a:t>
                      </a: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采用如下规则确定各个基本块的入口语句。</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① 代码序列的第一个语句是一个入口语句。</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② 转移语句转移到的那条语句是一个入口语句（转移语句包括各种控制的转向，如条件和无条件转移、</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call</a:t>
                      </a: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return</a:t>
                      </a: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等）。</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③ 紧接在转移语句之后的那条语句是一个入口语句。</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itchFamily="2" charset="-122"/>
                          <a:ea typeface="宋体" pitchFamily="2" charset="-122"/>
                          <a:cs typeface="Times New Roman" pitchFamily="18" charset="0"/>
                        </a:rPr>
                        <a:t>(2) </a:t>
                      </a: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对上述求出的每一个入口语句构造其所在的基本块。它是由该入口语句到下一个入口语句（不包括此入口语句）、或到一个转移语句（包括此转移语句）、或到一个停语句（包括此停语句）之间的语句序列组成。</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itchFamily="2" charset="-122"/>
                          <a:ea typeface="宋体" pitchFamily="2" charset="-122"/>
                          <a:cs typeface="Times New Roman" pitchFamily="18" charset="0"/>
                        </a:rPr>
                        <a:t>(3) </a:t>
                      </a: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凡未被纳入某一基本块中的语句，都是程序中控制流程无法到达的语句，从而也是不会被执行到的语句，可以将它从程序中删除。</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itchFamily="2" charset="-122"/>
                          <a:ea typeface="宋体" pitchFamily="2" charset="-122"/>
                          <a:cs typeface="Times New Roman" pitchFamily="18" charset="0"/>
                        </a:rPr>
                        <a:t>(4) </a:t>
                      </a: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一般把过程调用语句作为一个单独的基本块。</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15953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5401" name="Group 57"/>
          <p:cNvGraphicFramePr>
            <a:graphicFrameLocks noGrp="1"/>
          </p:cNvGraphicFramePr>
          <p:nvPr>
            <p:ph sz="half" idx="2"/>
            <p:extLst>
              <p:ext uri="{D42A27DB-BD31-4B8C-83A1-F6EECF244321}">
                <p14:modId xmlns:p14="http://schemas.microsoft.com/office/powerpoint/2010/main" val="1660187008"/>
              </p:ext>
            </p:extLst>
          </p:nvPr>
        </p:nvGraphicFramePr>
        <p:xfrm>
          <a:off x="3275856" y="1539875"/>
          <a:ext cx="3312368" cy="3557091"/>
        </p:xfrm>
        <a:graphic>
          <a:graphicData uri="http://schemas.openxmlformats.org/drawingml/2006/table">
            <a:tbl>
              <a:tblPr/>
              <a:tblGrid>
                <a:gridCol w="2396182">
                  <a:extLst>
                    <a:ext uri="{9D8B030D-6E8A-4147-A177-3AD203B41FA5}">
                      <a16:colId xmlns:a16="http://schemas.microsoft.com/office/drawing/2014/main" val="20000"/>
                    </a:ext>
                  </a:extLst>
                </a:gridCol>
                <a:gridCol w="916186">
                  <a:extLst>
                    <a:ext uri="{9D8B030D-6E8A-4147-A177-3AD203B41FA5}">
                      <a16:colId xmlns:a16="http://schemas.microsoft.com/office/drawing/2014/main" val="20001"/>
                    </a:ext>
                  </a:extLst>
                </a:gridCol>
              </a:tblGrid>
              <a:tr h="786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dirty="0">
                          <a:ln>
                            <a:noFill/>
                          </a:ln>
                          <a:solidFill>
                            <a:srgbClr val="FF0000"/>
                          </a:solidFill>
                          <a:effectLst/>
                          <a:latin typeface="Times New Roman" pitchFamily="18" charset="0"/>
                          <a:ea typeface="宋体" pitchFamily="2" charset="-122"/>
                        </a:rPr>
                        <a:t>*</a:t>
                      </a:r>
                      <a:r>
                        <a:rPr kumimoji="1" lang="en-US" altLang="zh-CN" sz="2200" b="1" i="0" u="none" strike="noStrike" cap="none" normalizeH="0" baseline="0" dirty="0">
                          <a:ln>
                            <a:noFill/>
                          </a:ln>
                          <a:solidFill>
                            <a:schemeClr val="tx1"/>
                          </a:solidFill>
                          <a:effectLst/>
                          <a:latin typeface="Times New Roman" pitchFamily="18" charset="0"/>
                          <a:ea typeface="宋体" pitchFamily="2" charset="-122"/>
                        </a:rPr>
                        <a:t>(1)read  x</a:t>
                      </a: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2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tx1"/>
                          </a:solidFill>
                          <a:effectLst/>
                          <a:latin typeface="Times New Roman" pitchFamily="18" charset="0"/>
                          <a:ea typeface="宋体" pitchFamily="2" charset="-122"/>
                        </a:rPr>
                        <a:t>B1</a:t>
                      </a:r>
                    </a:p>
                  </a:txBody>
                  <a:tcPr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6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dirty="0">
                          <a:ln>
                            <a:noFill/>
                          </a:ln>
                          <a:solidFill>
                            <a:srgbClr val="FF0000"/>
                          </a:solidFill>
                          <a:effectLst/>
                          <a:latin typeface="Times New Roman" pitchFamily="18" charset="0"/>
                          <a:ea typeface="宋体" pitchFamily="2" charset="-122"/>
                        </a:rPr>
                        <a:t>*</a:t>
                      </a:r>
                      <a:r>
                        <a:rPr kumimoji="1" lang="en-US" altLang="zh-CN" sz="2200" b="1" i="0" u="none" strike="noStrike" cap="none" normalizeH="0" baseline="0" dirty="0">
                          <a:ln>
                            <a:noFill/>
                          </a:ln>
                          <a:solidFill>
                            <a:schemeClr val="tx1"/>
                          </a:solidFill>
                          <a:effectLst/>
                          <a:latin typeface="Times New Roman" pitchFamily="18" charset="0"/>
                          <a:ea typeface="宋体" pitchFamily="2" charset="-122"/>
                        </a:rPr>
                        <a:t>(3)r=x mod y</a:t>
                      </a:r>
                    </a:p>
                  </a:txBody>
                  <a:tcPr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3D7B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tx1"/>
                          </a:solidFill>
                          <a:effectLst/>
                          <a:latin typeface="Times New Roman" pitchFamily="18" charset="0"/>
                          <a:ea typeface="宋体" pitchFamily="2" charset="-122"/>
                        </a:rPr>
                        <a:t>B2</a:t>
                      </a:r>
                    </a:p>
                  </a:txBody>
                  <a:tcPr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7834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fr-FR" altLang="zh-CN" sz="2200" b="1" i="0" u="none" strike="noStrike" cap="none" normalizeH="0" baseline="0" dirty="0">
                          <a:ln>
                            <a:noFill/>
                          </a:ln>
                          <a:solidFill>
                            <a:srgbClr val="FF0000"/>
                          </a:solidFill>
                          <a:effectLst/>
                          <a:latin typeface="Times New Roman" pitchFamily="18" charset="0"/>
                          <a:ea typeface="宋体" pitchFamily="2" charset="-122"/>
                        </a:rPr>
                        <a:t>*</a:t>
                      </a:r>
                      <a:r>
                        <a:rPr kumimoji="1" lang="fr-FR" altLang="zh-CN" sz="2200" b="1" i="0" u="none" strike="noStrike" cap="none" normalizeH="0" baseline="0" dirty="0">
                          <a:ln>
                            <a:noFill/>
                          </a:ln>
                          <a:solidFill>
                            <a:schemeClr val="tx1"/>
                          </a:solidFill>
                          <a:effectLst/>
                          <a:latin typeface="Times New Roman" pitchFamily="18" charset="0"/>
                          <a:ea typeface="宋体" pitchFamily="2" charset="-122"/>
                        </a:rPr>
                        <a:t>(5)x=y</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fr-FR" altLang="zh-CN" sz="2200" b="1" i="0" u="none" strike="noStrike" cap="none" normalizeH="0" baseline="0" dirty="0">
                          <a:ln>
                            <a:noFill/>
                          </a:ln>
                          <a:solidFill>
                            <a:schemeClr val="tx1"/>
                          </a:solidFill>
                          <a:effectLst/>
                          <a:latin typeface="Times New Roman" pitchFamily="18" charset="0"/>
                          <a:ea typeface="宋体" pitchFamily="2" charset="-122"/>
                        </a:rPr>
                        <a:t>  </a:t>
                      </a:r>
                      <a:endParaRPr kumimoji="1" lang="en-US" altLang="zh-CN" sz="22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tx1"/>
                          </a:solidFill>
                          <a:effectLst/>
                          <a:latin typeface="Times New Roman" pitchFamily="18" charset="0"/>
                          <a:ea typeface="宋体" pitchFamily="2" charset="-122"/>
                        </a:rPr>
                        <a:t>B3</a:t>
                      </a:r>
                    </a:p>
                  </a:txBody>
                  <a:tcPr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86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fr-FR" altLang="zh-CN" sz="2200" b="1" i="0" u="none" strike="noStrike" cap="none" normalizeH="0" baseline="0" dirty="0">
                          <a:ln>
                            <a:noFill/>
                          </a:ln>
                          <a:solidFill>
                            <a:srgbClr val="FF0000"/>
                          </a:solidFill>
                          <a:effectLst/>
                          <a:latin typeface="Times New Roman" pitchFamily="18" charset="0"/>
                          <a:ea typeface="宋体" pitchFamily="2" charset="-122"/>
                        </a:rPr>
                        <a:t>*</a:t>
                      </a:r>
                      <a:r>
                        <a:rPr kumimoji="1" lang="fr-FR" altLang="zh-CN" sz="2200" b="1" i="0" u="none" strike="noStrike" cap="none" normalizeH="0" baseline="0" dirty="0">
                          <a:ln>
                            <a:noFill/>
                          </a:ln>
                          <a:solidFill>
                            <a:schemeClr val="tx1"/>
                          </a:solidFill>
                          <a:effectLst/>
                          <a:latin typeface="Times New Roman" pitchFamily="18" charset="0"/>
                          <a:ea typeface="宋体" pitchFamily="2" charset="-122"/>
                        </a:rPr>
                        <a:t>(8)write y</a:t>
                      </a:r>
                      <a:endParaRPr kumimoji="1" lang="en-US" altLang="zh-CN" sz="2200" b="1" i="0" u="none" strike="noStrike" cap="none" normalizeH="0" baseline="0" dirty="0">
                        <a:ln>
                          <a:noFill/>
                        </a:ln>
                        <a:solidFill>
                          <a:schemeClr val="tx1"/>
                        </a:solidFill>
                        <a:effectLst/>
                        <a:latin typeface="Times New Roman" pitchFamily="18" charset="0"/>
                        <a:ea typeface="宋体" pitchFamily="2" charset="-122"/>
                      </a:endParaRPr>
                    </a:p>
                  </a:txBody>
                  <a:tcPr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3D7B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tx1"/>
                          </a:solidFill>
                          <a:effectLst/>
                          <a:latin typeface="Times New Roman" pitchFamily="18" charset="0"/>
                          <a:ea typeface="宋体" pitchFamily="2" charset="-122"/>
                        </a:rPr>
                        <a:t>B4</a:t>
                      </a:r>
                    </a:p>
                  </a:txBody>
                  <a:tcPr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5379" name="Text Box 21"/>
          <p:cNvSpPr txBox="1">
            <a:spLocks noChangeArrowheads="1"/>
          </p:cNvSpPr>
          <p:nvPr/>
        </p:nvSpPr>
        <p:spPr bwMode="auto">
          <a:xfrm>
            <a:off x="278594" y="1131590"/>
            <a:ext cx="2349190" cy="3139321"/>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200" b="1" dirty="0">
                <a:solidFill>
                  <a:srgbClr val="FF0000"/>
                </a:solidFill>
              </a:rPr>
              <a:t>*</a:t>
            </a:r>
            <a:r>
              <a:rPr lang="en-US" altLang="zh-CN" sz="2200" b="1" dirty="0"/>
              <a:t>(1)read  x</a:t>
            </a:r>
          </a:p>
          <a:p>
            <a:pPr eaLnBrk="1" hangingPunct="1">
              <a:spcBef>
                <a:spcPct val="0"/>
              </a:spcBef>
              <a:buFontTx/>
              <a:buNone/>
            </a:pPr>
            <a:r>
              <a:rPr lang="en-US" altLang="zh-CN" sz="2200" b="1" dirty="0"/>
              <a:t>  (2)read y</a:t>
            </a:r>
          </a:p>
          <a:p>
            <a:pPr eaLnBrk="1" hangingPunct="1">
              <a:spcBef>
                <a:spcPct val="0"/>
              </a:spcBef>
              <a:buFontTx/>
              <a:buNone/>
            </a:pPr>
            <a:r>
              <a:rPr lang="en-US" altLang="zh-CN" sz="2200" b="1" dirty="0">
                <a:solidFill>
                  <a:srgbClr val="FF0000"/>
                </a:solidFill>
              </a:rPr>
              <a:t>*</a:t>
            </a:r>
            <a:r>
              <a:rPr lang="en-US" altLang="zh-CN" sz="2200" b="1" dirty="0"/>
              <a:t>(3)r=x mod y</a:t>
            </a:r>
          </a:p>
          <a:p>
            <a:pPr eaLnBrk="1" hangingPunct="1">
              <a:spcBef>
                <a:spcPct val="0"/>
              </a:spcBef>
              <a:buFontTx/>
              <a:buNone/>
            </a:pPr>
            <a:r>
              <a:rPr lang="en-US" altLang="zh-CN" sz="2200" b="1" dirty="0"/>
              <a:t>  (4)if r=0 </a:t>
            </a:r>
            <a:r>
              <a:rPr lang="en-US" altLang="zh-CN" sz="2200" b="1" dirty="0" err="1"/>
              <a:t>goto</a:t>
            </a:r>
            <a:r>
              <a:rPr lang="en-US" altLang="zh-CN" sz="2200" b="1" dirty="0"/>
              <a:t> (8)</a:t>
            </a:r>
            <a:endParaRPr lang="fr-FR" altLang="zh-CN" sz="2200" b="1" dirty="0"/>
          </a:p>
          <a:p>
            <a:pPr eaLnBrk="1" hangingPunct="1">
              <a:spcBef>
                <a:spcPct val="0"/>
              </a:spcBef>
              <a:buFontTx/>
              <a:buNone/>
            </a:pPr>
            <a:r>
              <a:rPr lang="fr-FR" altLang="zh-CN" sz="2200" b="1" dirty="0">
                <a:solidFill>
                  <a:srgbClr val="FF0000"/>
                </a:solidFill>
              </a:rPr>
              <a:t>*</a:t>
            </a:r>
            <a:r>
              <a:rPr lang="fr-FR" altLang="zh-CN" sz="2200" b="1" dirty="0"/>
              <a:t>(5)x=y</a:t>
            </a:r>
          </a:p>
          <a:p>
            <a:pPr eaLnBrk="1" hangingPunct="1">
              <a:spcBef>
                <a:spcPct val="0"/>
              </a:spcBef>
              <a:buFontTx/>
              <a:buNone/>
            </a:pPr>
            <a:r>
              <a:rPr lang="fr-FR" altLang="zh-CN" sz="2200" b="1" dirty="0"/>
              <a:t>  (6)y=r</a:t>
            </a:r>
          </a:p>
          <a:p>
            <a:pPr eaLnBrk="1" hangingPunct="1">
              <a:spcBef>
                <a:spcPct val="0"/>
              </a:spcBef>
              <a:buFontTx/>
              <a:buNone/>
            </a:pPr>
            <a:r>
              <a:rPr lang="fr-FR" altLang="zh-CN" sz="2200" b="1" dirty="0"/>
              <a:t>  (7)goto(3)</a:t>
            </a:r>
          </a:p>
          <a:p>
            <a:pPr eaLnBrk="1" hangingPunct="1">
              <a:spcBef>
                <a:spcPct val="0"/>
              </a:spcBef>
              <a:buFontTx/>
              <a:buNone/>
            </a:pPr>
            <a:r>
              <a:rPr lang="fr-FR" altLang="zh-CN" sz="2200" b="1" dirty="0">
                <a:solidFill>
                  <a:srgbClr val="FF0000"/>
                </a:solidFill>
              </a:rPr>
              <a:t>*</a:t>
            </a:r>
            <a:r>
              <a:rPr lang="fr-FR" altLang="zh-CN" sz="2200" b="1" dirty="0"/>
              <a:t>(8)write y</a:t>
            </a:r>
            <a:endParaRPr lang="en-US" altLang="zh-CN" sz="2200" b="1" dirty="0"/>
          </a:p>
          <a:p>
            <a:pPr eaLnBrk="1" hangingPunct="1">
              <a:spcBef>
                <a:spcPct val="0"/>
              </a:spcBef>
              <a:buFontTx/>
              <a:buNone/>
            </a:pPr>
            <a:r>
              <a:rPr lang="en-US" altLang="zh-CN" sz="2200" b="1" dirty="0"/>
              <a:t>  (9)halt</a:t>
            </a:r>
          </a:p>
        </p:txBody>
      </p:sp>
      <p:sp>
        <p:nvSpPr>
          <p:cNvPr id="2" name="矩形 1"/>
          <p:cNvSpPr/>
          <p:nvPr/>
        </p:nvSpPr>
        <p:spPr>
          <a:xfrm>
            <a:off x="258308" y="195486"/>
            <a:ext cx="2567441" cy="830997"/>
          </a:xfrm>
          <a:prstGeom prst="rect">
            <a:avLst/>
          </a:prstGeom>
        </p:spPr>
        <p:txBody>
          <a:bodyPr wrap="square">
            <a:spAutoFit/>
          </a:bodyPr>
          <a:lstStyle/>
          <a:p>
            <a:pPr lvl="0">
              <a:spcBef>
                <a:spcPct val="0"/>
              </a:spcBef>
            </a:pPr>
            <a:r>
              <a:rPr lang="zh-CN" altLang="en-US" sz="2400" b="1" dirty="0">
                <a:solidFill>
                  <a:prstClr val="black"/>
                </a:solidFill>
              </a:rPr>
              <a:t>例，求下面程序的基本块。</a:t>
            </a:r>
          </a:p>
        </p:txBody>
      </p:sp>
      <p:graphicFrame>
        <p:nvGraphicFramePr>
          <p:cNvPr id="5" name="Group 57"/>
          <p:cNvGraphicFramePr>
            <a:graphicFrameLocks noGrp="1"/>
          </p:cNvGraphicFramePr>
          <p:nvPr>
            <p:ph sz="half" idx="2"/>
            <p:extLst>
              <p:ext uri="{D42A27DB-BD31-4B8C-83A1-F6EECF244321}">
                <p14:modId xmlns:p14="http://schemas.microsoft.com/office/powerpoint/2010/main" val="2359113528"/>
              </p:ext>
            </p:extLst>
          </p:nvPr>
        </p:nvGraphicFramePr>
        <p:xfrm>
          <a:off x="3275856" y="1536578"/>
          <a:ext cx="2396182" cy="3627120"/>
        </p:xfrm>
        <a:graphic>
          <a:graphicData uri="http://schemas.openxmlformats.org/drawingml/2006/table">
            <a:tbl>
              <a:tblPr/>
              <a:tblGrid>
                <a:gridCol w="2396182">
                  <a:extLst>
                    <a:ext uri="{9D8B030D-6E8A-4147-A177-3AD203B41FA5}">
                      <a16:colId xmlns:a16="http://schemas.microsoft.com/office/drawing/2014/main" val="20000"/>
                    </a:ext>
                  </a:extLst>
                </a:gridCol>
              </a:tblGrid>
              <a:tr h="786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200" b="1" i="0" u="none" strike="noStrike" cap="none" normalizeH="0" baseline="0" dirty="0">
                        <a:ln>
                          <a:noFill/>
                        </a:ln>
                        <a:solidFill>
                          <a:srgbClr val="FF0000"/>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dirty="0">
                          <a:ln>
                            <a:noFill/>
                          </a:ln>
                          <a:solidFill>
                            <a:schemeClr val="tx1"/>
                          </a:solidFill>
                          <a:effectLst/>
                          <a:latin typeface="Times New Roman" pitchFamily="18" charset="0"/>
                          <a:ea typeface="宋体" pitchFamily="2" charset="-122"/>
                        </a:rPr>
                        <a:t>  (2)read y</a:t>
                      </a:r>
                      <a:endParaRPr kumimoji="1" lang="en-US" altLang="zh-CN" sz="22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6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200" b="1" i="0" u="none" strike="noStrike" cap="none" normalizeH="0" baseline="0" dirty="0">
                        <a:ln>
                          <a:noFill/>
                        </a:ln>
                        <a:solidFill>
                          <a:srgbClr val="FF0000"/>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dirty="0">
                          <a:ln>
                            <a:noFill/>
                          </a:ln>
                          <a:solidFill>
                            <a:schemeClr val="tx1"/>
                          </a:solidFill>
                          <a:effectLst/>
                          <a:latin typeface="Times New Roman" pitchFamily="18" charset="0"/>
                          <a:ea typeface="宋体" pitchFamily="2" charset="-122"/>
                        </a:rPr>
                        <a:t>  (4)if r=0 </a:t>
                      </a:r>
                      <a:r>
                        <a:rPr kumimoji="1" lang="en-US" altLang="zh-CN" sz="2200" b="1" i="0" u="none" strike="noStrike" cap="none" normalizeH="0" baseline="0" dirty="0" err="1">
                          <a:ln>
                            <a:noFill/>
                          </a:ln>
                          <a:solidFill>
                            <a:schemeClr val="tx1"/>
                          </a:solidFill>
                          <a:effectLst/>
                          <a:latin typeface="Times New Roman" pitchFamily="18" charset="0"/>
                          <a:ea typeface="宋体" pitchFamily="2" charset="-122"/>
                        </a:rPr>
                        <a:t>goto</a:t>
                      </a:r>
                      <a:r>
                        <a:rPr kumimoji="1" lang="en-US" altLang="zh-CN" sz="2200" b="1" i="0" u="none" strike="noStrike" cap="none" normalizeH="0" baseline="0" dirty="0">
                          <a:ln>
                            <a:noFill/>
                          </a:ln>
                          <a:solidFill>
                            <a:schemeClr val="tx1"/>
                          </a:solidFill>
                          <a:effectLst/>
                          <a:latin typeface="Times New Roman" pitchFamily="18" charset="0"/>
                          <a:ea typeface="宋体" pitchFamily="2" charset="-122"/>
                        </a:rPr>
                        <a:t> (8)</a:t>
                      </a:r>
                      <a:endParaRPr kumimoji="1" lang="en-US" altLang="zh-CN" sz="22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7834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fr-FR" altLang="zh-CN" sz="2200" b="1" i="0" u="none" strike="noStrike" cap="none" normalizeH="0" baseline="0" dirty="0">
                        <a:ln>
                          <a:noFill/>
                        </a:ln>
                        <a:solidFill>
                          <a:srgbClr val="FF0000"/>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fr-FR" altLang="zh-CN" sz="2200" b="1" i="0" u="none" strike="noStrike" cap="none" normalizeH="0" baseline="0" dirty="0">
                          <a:ln>
                            <a:noFill/>
                          </a:ln>
                          <a:solidFill>
                            <a:schemeClr val="tx1"/>
                          </a:solidFill>
                          <a:effectLst/>
                          <a:latin typeface="Times New Roman" pitchFamily="18" charset="0"/>
                          <a:ea typeface="宋体" pitchFamily="2" charset="-122"/>
                        </a:rPr>
                        <a:t>  (6)y=r</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fr-FR" altLang="zh-CN" sz="2200" b="1" i="0" u="none" strike="noStrike" cap="none" normalizeH="0" baseline="0" dirty="0">
                          <a:ln>
                            <a:noFill/>
                          </a:ln>
                          <a:solidFill>
                            <a:schemeClr val="tx1"/>
                          </a:solidFill>
                          <a:effectLst/>
                          <a:latin typeface="Times New Roman" pitchFamily="18" charset="0"/>
                          <a:ea typeface="宋体" pitchFamily="2" charset="-122"/>
                        </a:rPr>
                        <a:t>  (7)goto(3)</a:t>
                      </a:r>
                      <a:endParaRPr kumimoji="1" lang="en-US" altLang="zh-CN" sz="2200" b="0" i="0" u="none" strike="noStrike" cap="none" normalizeH="0" baseline="0" dirty="0">
                        <a:ln>
                          <a:noFill/>
                        </a:ln>
                        <a:solidFill>
                          <a:schemeClr val="tx1"/>
                        </a:solidFill>
                        <a:effectLst/>
                        <a:latin typeface="Times New Roman" pitchFamily="18" charset="0"/>
                        <a:ea typeface="宋体" pitchFamily="2" charset="-122"/>
                      </a:endParaRPr>
                    </a:p>
                  </a:txBody>
                  <a:tcPr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86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200" b="1" i="0" u="none" strike="noStrike" cap="none" normalizeH="0" baseline="0" dirty="0">
                        <a:ln>
                          <a:noFill/>
                        </a:ln>
                        <a:solidFill>
                          <a:srgbClr val="FF0000"/>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dirty="0">
                          <a:ln>
                            <a:noFill/>
                          </a:ln>
                          <a:solidFill>
                            <a:schemeClr val="tx1"/>
                          </a:solidFill>
                          <a:effectLst/>
                          <a:latin typeface="Times New Roman" pitchFamily="18" charset="0"/>
                          <a:ea typeface="宋体" pitchFamily="2" charset="-122"/>
                        </a:rPr>
                        <a:t>  (9)halt</a:t>
                      </a:r>
                    </a:p>
                  </a:txBody>
                  <a:tcPr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 name="Rectangle 3"/>
          <p:cNvSpPr txBox="1">
            <a:spLocks noChangeArrowheads="1"/>
          </p:cNvSpPr>
          <p:nvPr/>
        </p:nvSpPr>
        <p:spPr>
          <a:xfrm>
            <a:off x="4867276" y="37424"/>
            <a:ext cx="4303364" cy="1499156"/>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a:spcBef>
                <a:spcPts val="0"/>
              </a:spcBef>
              <a:buFontTx/>
              <a:buNone/>
            </a:pPr>
            <a:r>
              <a:rPr lang="zh-CN" altLang="en-US" sz="1600" b="1" dirty="0"/>
              <a:t>首先确定入口语句：</a:t>
            </a:r>
          </a:p>
          <a:p>
            <a:pPr>
              <a:spcBef>
                <a:spcPts val="0"/>
              </a:spcBef>
            </a:pPr>
            <a:r>
              <a:rPr lang="en-US" altLang="zh-CN" sz="1600" dirty="0"/>
              <a:t>1</a:t>
            </a:r>
            <a:r>
              <a:rPr lang="zh-CN" altLang="en-US" sz="1600" dirty="0"/>
              <a:t>．程序的</a:t>
            </a:r>
            <a:r>
              <a:rPr lang="zh-CN" altLang="en-US" sz="1600" b="1" dirty="0">
                <a:solidFill>
                  <a:srgbClr val="FF0000"/>
                </a:solidFill>
              </a:rPr>
              <a:t>第一个语句</a:t>
            </a:r>
            <a:r>
              <a:rPr lang="zh-CN" altLang="en-US" sz="1600" dirty="0"/>
              <a:t>；</a:t>
            </a:r>
          </a:p>
          <a:p>
            <a:pPr>
              <a:spcBef>
                <a:spcPts val="0"/>
              </a:spcBef>
            </a:pPr>
            <a:r>
              <a:rPr lang="en-US" altLang="zh-CN" sz="1600" dirty="0"/>
              <a:t>2</a:t>
            </a:r>
            <a:r>
              <a:rPr lang="zh-CN" altLang="en-US" sz="1600" dirty="0"/>
              <a:t>．条件转移语句或无条件转移语句的</a:t>
            </a:r>
            <a:r>
              <a:rPr lang="zh-CN" altLang="en-US" sz="1600" b="1" dirty="0">
                <a:solidFill>
                  <a:srgbClr val="FF0000"/>
                </a:solidFill>
              </a:rPr>
              <a:t>转移目标语句</a:t>
            </a:r>
            <a:r>
              <a:rPr lang="zh-CN" altLang="en-US" sz="1600" dirty="0"/>
              <a:t>（转移语句包括各种控制的转向，如</a:t>
            </a:r>
            <a:r>
              <a:rPr lang="en-US" altLang="zh-CN" sz="1600" dirty="0"/>
              <a:t>call</a:t>
            </a:r>
            <a:r>
              <a:rPr lang="zh-CN" altLang="en-US" sz="1600" dirty="0"/>
              <a:t>，</a:t>
            </a:r>
            <a:r>
              <a:rPr lang="en-US" altLang="zh-CN" sz="1600" dirty="0"/>
              <a:t>return</a:t>
            </a:r>
            <a:r>
              <a:rPr lang="zh-CN" altLang="en-US" sz="1600" dirty="0"/>
              <a:t>，</a:t>
            </a:r>
            <a:r>
              <a:rPr lang="en-US" altLang="zh-CN" sz="1600" dirty="0"/>
              <a:t>end</a:t>
            </a:r>
            <a:r>
              <a:rPr lang="zh-CN" altLang="en-US" sz="1600" dirty="0"/>
              <a:t>，</a:t>
            </a:r>
            <a:r>
              <a:rPr lang="en-US" altLang="zh-CN" sz="1600" dirty="0"/>
              <a:t>stop</a:t>
            </a:r>
            <a:r>
              <a:rPr lang="zh-CN" altLang="en-US" sz="1600" dirty="0"/>
              <a:t>等）；</a:t>
            </a:r>
          </a:p>
          <a:p>
            <a:pPr>
              <a:spcBef>
                <a:spcPts val="0"/>
              </a:spcBef>
            </a:pPr>
            <a:r>
              <a:rPr lang="en-US" altLang="zh-CN" sz="1600" dirty="0"/>
              <a:t>3</a:t>
            </a:r>
            <a:r>
              <a:rPr lang="zh-CN" altLang="en-US" sz="1600" dirty="0"/>
              <a:t>．</a:t>
            </a:r>
            <a:r>
              <a:rPr lang="zh-CN" altLang="en-US" sz="1600" b="1" dirty="0">
                <a:solidFill>
                  <a:srgbClr val="FF0000"/>
                </a:solidFill>
              </a:rPr>
              <a:t>紧跟</a:t>
            </a:r>
            <a:r>
              <a:rPr lang="zh-CN" altLang="en-US" sz="1600" dirty="0"/>
              <a:t>在</a:t>
            </a:r>
            <a:r>
              <a:rPr lang="zh-CN" altLang="en-US" sz="1600" b="1" dirty="0">
                <a:solidFill>
                  <a:srgbClr val="FF0000"/>
                </a:solidFill>
              </a:rPr>
              <a:t>条件转移语句后面</a:t>
            </a:r>
            <a:r>
              <a:rPr lang="zh-CN" altLang="en-US" sz="1600" dirty="0"/>
              <a:t>的语句。</a:t>
            </a:r>
            <a:endParaRPr lang="en-US" altLang="zh-CN" sz="1600" dirty="0"/>
          </a:p>
        </p:txBody>
      </p:sp>
      <p:sp>
        <p:nvSpPr>
          <p:cNvPr id="7" name="Rectangle 3"/>
          <p:cNvSpPr txBox="1">
            <a:spLocks noChangeArrowheads="1"/>
          </p:cNvSpPr>
          <p:nvPr/>
        </p:nvSpPr>
        <p:spPr>
          <a:xfrm>
            <a:off x="4840636" y="64482"/>
            <a:ext cx="4303364" cy="1499156"/>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marL="109728" indent="0">
              <a:spcBef>
                <a:spcPts val="0"/>
              </a:spcBef>
              <a:buNone/>
            </a:pPr>
            <a:r>
              <a:rPr lang="zh-CN" altLang="en-US" sz="1600" b="1" dirty="0"/>
              <a:t>对已求出的每一个入口语句构造一个基本块</a:t>
            </a:r>
            <a:r>
              <a:rPr lang="zh-CN" altLang="en-US" sz="1600" dirty="0"/>
              <a:t>。</a:t>
            </a:r>
            <a:endParaRPr lang="en-US" altLang="zh-CN" sz="1600" dirty="0"/>
          </a:p>
          <a:p>
            <a:pPr>
              <a:spcBef>
                <a:spcPts val="0"/>
              </a:spcBef>
            </a:pPr>
            <a:r>
              <a:rPr lang="zh-CN" altLang="en-US" sz="1600" dirty="0"/>
              <a:t>它是由该入口语句到下一个入口语句（不包括此入口语句）、或到一个转移语句（包括此转移语句）、或到一个停语句（包括此停语句）之间的语句序列组成。</a:t>
            </a:r>
            <a:endParaRPr lang="en-US" altLang="zh-CN" sz="1600" dirty="0"/>
          </a:p>
          <a:p>
            <a:pPr>
              <a:spcBef>
                <a:spcPts val="0"/>
              </a:spcBef>
            </a:pPr>
            <a:r>
              <a:rPr lang="zh-CN" altLang="zh-CN" sz="1400" dirty="0"/>
              <a:t>一般把过程调用语句作为一个单独的基本块。</a:t>
            </a:r>
            <a:endParaRPr lang="zh-CN" altLang="en-US" sz="1600" dirty="0"/>
          </a:p>
          <a:p>
            <a:pPr>
              <a:lnSpc>
                <a:spcPct val="95000"/>
              </a:lnSpc>
              <a:spcBef>
                <a:spcPts val="0"/>
              </a:spcBef>
            </a:pPr>
            <a:endParaRPr lang="zh-CN" altLang="en-US" sz="1600" dirty="0"/>
          </a:p>
        </p:txBody>
      </p:sp>
    </p:spTree>
    <p:extLst>
      <p:ext uri="{BB962C8B-B14F-4D97-AF65-F5344CB8AC3E}">
        <p14:creationId xmlns:p14="http://schemas.microsoft.com/office/powerpoint/2010/main" val="31443466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54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251520" y="195486"/>
            <a:ext cx="8229600" cy="857250"/>
          </a:xfrm>
        </p:spPr>
        <p:txBody>
          <a:bodyPr>
            <a:normAutofit/>
          </a:bodyPr>
          <a:lstStyle/>
          <a:p>
            <a:r>
              <a:rPr lang="zh-CN" altLang="en-US" dirty="0">
                <a:solidFill>
                  <a:srgbClr val="CC00FF"/>
                </a:solidFill>
              </a:rPr>
              <a:t>几个概念</a:t>
            </a:r>
          </a:p>
        </p:txBody>
      </p:sp>
      <p:sp>
        <p:nvSpPr>
          <p:cNvPr id="3" name="竖排文字占位符 2"/>
          <p:cNvSpPr>
            <a:spLocks noGrp="1"/>
          </p:cNvSpPr>
          <p:nvPr>
            <p:ph type="body" orient="vert" idx="1"/>
          </p:nvPr>
        </p:nvSpPr>
        <p:spPr>
          <a:xfrm>
            <a:off x="457200" y="1347613"/>
            <a:ext cx="8229600" cy="3157855"/>
          </a:xfrm>
        </p:spPr>
        <p:txBody>
          <a:bodyPr vert="horz">
            <a:normAutofit/>
          </a:bodyPr>
          <a:lstStyle/>
          <a:p>
            <a:pPr marL="268288" indent="-268288">
              <a:spcBef>
                <a:spcPct val="50000"/>
              </a:spcBef>
              <a:defRPr/>
            </a:pPr>
            <a:r>
              <a:rPr lang="zh-CN" altLang="en-US" sz="2200" b="1" dirty="0">
                <a:solidFill>
                  <a:srgbClr val="FF0000"/>
                </a:solidFill>
              </a:rPr>
              <a:t>定值</a:t>
            </a:r>
            <a:r>
              <a:rPr lang="zh-CN" altLang="en-US" sz="2200" dirty="0"/>
              <a:t>：如果</a:t>
            </a:r>
            <a:r>
              <a:rPr lang="en-US" altLang="zh-CN" sz="2200" dirty="0"/>
              <a:t>x=</a:t>
            </a:r>
            <a:r>
              <a:rPr lang="en-US" altLang="zh-CN" sz="2200" dirty="0" err="1"/>
              <a:t>y+z</a:t>
            </a:r>
            <a:r>
              <a:rPr lang="en-US" altLang="zh-CN" sz="2200" dirty="0"/>
              <a:t> </a:t>
            </a:r>
            <a:r>
              <a:rPr lang="zh-CN" altLang="en-US" sz="2200" dirty="0"/>
              <a:t>则称对</a:t>
            </a:r>
            <a:r>
              <a:rPr lang="en-US" altLang="zh-CN" sz="2200" dirty="0"/>
              <a:t>x</a:t>
            </a:r>
            <a:r>
              <a:rPr lang="zh-CN" altLang="en-US" sz="2200" dirty="0"/>
              <a:t>定值</a:t>
            </a:r>
            <a:r>
              <a:rPr lang="en-US" altLang="zh-CN" sz="2200" dirty="0"/>
              <a:t>, </a:t>
            </a:r>
            <a:r>
              <a:rPr lang="zh-CN" altLang="en-US" sz="2200" dirty="0"/>
              <a:t>引用</a:t>
            </a:r>
            <a:r>
              <a:rPr lang="en-US" altLang="zh-CN" sz="2200" dirty="0"/>
              <a:t>y</a:t>
            </a:r>
            <a:r>
              <a:rPr lang="zh-CN" altLang="en-US" sz="2200" dirty="0"/>
              <a:t>和</a:t>
            </a:r>
            <a:r>
              <a:rPr lang="en-US" altLang="zh-CN" sz="2200" dirty="0"/>
              <a:t>z</a:t>
            </a:r>
          </a:p>
          <a:p>
            <a:pPr marL="268288" indent="-268288">
              <a:spcBef>
                <a:spcPct val="50000"/>
              </a:spcBef>
              <a:defRPr/>
            </a:pPr>
            <a:r>
              <a:rPr lang="zh-CN" altLang="en-US" sz="2200" b="1" dirty="0">
                <a:solidFill>
                  <a:srgbClr val="FF0000"/>
                </a:solidFill>
              </a:rPr>
              <a:t>一个名字是活跃的</a:t>
            </a:r>
            <a:r>
              <a:rPr lang="zh-CN" altLang="en-US" sz="2200" dirty="0"/>
              <a:t>：在一个基本块内的一个名字</a:t>
            </a:r>
            <a:r>
              <a:rPr lang="en-US" altLang="zh-CN" sz="2200" dirty="0"/>
              <a:t>, </a:t>
            </a:r>
            <a:r>
              <a:rPr lang="zh-CN" altLang="en-US" sz="2200" dirty="0"/>
              <a:t>在程序中的某个给定点是活跃的，是指如果在程序中它的</a:t>
            </a:r>
            <a:r>
              <a:rPr lang="zh-CN" altLang="en-US" sz="2200" b="1" dirty="0">
                <a:solidFill>
                  <a:srgbClr val="FF0000"/>
                </a:solidFill>
              </a:rPr>
              <a:t>值在该点之后被引用。</a:t>
            </a:r>
            <a:endParaRPr lang="en-US" altLang="zh-CN" sz="2200" b="1" dirty="0">
              <a:solidFill>
                <a:srgbClr val="FF0000"/>
              </a:solidFill>
            </a:endParaRPr>
          </a:p>
          <a:p>
            <a:pPr>
              <a:defRPr/>
            </a:pPr>
            <a:endParaRPr lang="zh-CN" altLang="en-US" sz="2200" dirty="0"/>
          </a:p>
        </p:txBody>
      </p:sp>
      <p:sp>
        <p:nvSpPr>
          <p:cNvPr id="4" name="Rectangle 5"/>
          <p:cNvSpPr>
            <a:spLocks noChangeArrowheads="1"/>
          </p:cNvSpPr>
          <p:nvPr/>
        </p:nvSpPr>
        <p:spPr bwMode="auto">
          <a:xfrm>
            <a:off x="6156325" y="2992370"/>
            <a:ext cx="2160588" cy="1754326"/>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nchor="ctr">
            <a:spAutoFit/>
          </a:bodyPr>
          <a:lstStyle/>
          <a:p>
            <a:pPr indent="261938" eaLnBrk="0" hangingPunct="0">
              <a:defRPr/>
            </a:pPr>
            <a:r>
              <a:rPr lang="fr-FR" altLang="zh-CN" dirty="0">
                <a:solidFill>
                  <a:srgbClr val="000000"/>
                </a:solidFill>
              </a:rPr>
              <a:t>T</a:t>
            </a:r>
            <a:r>
              <a:rPr lang="fr-FR" altLang="zh-CN" baseline="-30000" dirty="0">
                <a:solidFill>
                  <a:srgbClr val="000000"/>
                </a:solidFill>
              </a:rPr>
              <a:t>1 </a:t>
            </a:r>
            <a:r>
              <a:rPr lang="fr-FR" altLang="zh-CN" dirty="0">
                <a:solidFill>
                  <a:srgbClr val="000000"/>
                </a:solidFill>
              </a:rPr>
              <a:t>= a * a</a:t>
            </a:r>
            <a:endParaRPr lang="fr-FR" altLang="zh-CN" dirty="0">
              <a:solidFill>
                <a:schemeClr val="tx1"/>
              </a:solidFill>
            </a:endParaRPr>
          </a:p>
          <a:p>
            <a:pPr indent="261938" eaLnBrk="0" hangingPunct="0">
              <a:defRPr/>
            </a:pPr>
            <a:r>
              <a:rPr lang="fr-FR" altLang="zh-CN" dirty="0">
                <a:solidFill>
                  <a:srgbClr val="000000"/>
                </a:solidFill>
              </a:rPr>
              <a:t>T</a:t>
            </a:r>
            <a:r>
              <a:rPr lang="fr-FR" altLang="zh-CN" baseline="-30000" dirty="0">
                <a:solidFill>
                  <a:srgbClr val="000000"/>
                </a:solidFill>
              </a:rPr>
              <a:t>2 </a:t>
            </a:r>
            <a:r>
              <a:rPr lang="fr-FR" altLang="zh-CN" dirty="0">
                <a:solidFill>
                  <a:srgbClr val="000000"/>
                </a:solidFill>
              </a:rPr>
              <a:t>= a * b</a:t>
            </a:r>
            <a:endParaRPr lang="fr-FR" altLang="zh-CN" dirty="0">
              <a:solidFill>
                <a:schemeClr val="tx1"/>
              </a:solidFill>
            </a:endParaRPr>
          </a:p>
          <a:p>
            <a:pPr indent="261938" eaLnBrk="0" hangingPunct="0">
              <a:defRPr/>
            </a:pPr>
            <a:r>
              <a:rPr lang="fr-FR" altLang="zh-CN" dirty="0">
                <a:solidFill>
                  <a:srgbClr val="000000"/>
                </a:solidFill>
              </a:rPr>
              <a:t>T</a:t>
            </a:r>
            <a:r>
              <a:rPr lang="fr-FR" altLang="zh-CN" baseline="-30000" dirty="0">
                <a:solidFill>
                  <a:srgbClr val="000000"/>
                </a:solidFill>
              </a:rPr>
              <a:t>3 </a:t>
            </a:r>
            <a:r>
              <a:rPr lang="fr-FR" altLang="zh-CN" dirty="0">
                <a:solidFill>
                  <a:srgbClr val="000000"/>
                </a:solidFill>
              </a:rPr>
              <a:t>= a * 2</a:t>
            </a:r>
            <a:endParaRPr lang="fr-FR" altLang="zh-CN" dirty="0">
              <a:solidFill>
                <a:schemeClr val="tx1"/>
              </a:solidFill>
            </a:endParaRPr>
          </a:p>
          <a:p>
            <a:pPr indent="261938" eaLnBrk="0" hangingPunct="0">
              <a:defRPr/>
            </a:pPr>
            <a:r>
              <a:rPr lang="fr-FR" altLang="zh-CN" dirty="0">
                <a:solidFill>
                  <a:srgbClr val="000000"/>
                </a:solidFill>
              </a:rPr>
              <a:t>T</a:t>
            </a:r>
            <a:r>
              <a:rPr lang="fr-FR" altLang="zh-CN" baseline="-30000" dirty="0">
                <a:solidFill>
                  <a:srgbClr val="000000"/>
                </a:solidFill>
              </a:rPr>
              <a:t>4 </a:t>
            </a:r>
            <a:r>
              <a:rPr lang="fr-FR" altLang="zh-CN" dirty="0">
                <a:solidFill>
                  <a:srgbClr val="000000"/>
                </a:solidFill>
              </a:rPr>
              <a:t>= T</a:t>
            </a:r>
            <a:r>
              <a:rPr lang="fr-FR" altLang="zh-CN" baseline="-30000" dirty="0">
                <a:solidFill>
                  <a:srgbClr val="000000"/>
                </a:solidFill>
              </a:rPr>
              <a:t>1</a:t>
            </a:r>
            <a:r>
              <a:rPr lang="zh-CN" altLang="fr-FR" dirty="0">
                <a:solidFill>
                  <a:srgbClr val="000000"/>
                </a:solidFill>
              </a:rPr>
              <a:t>＋</a:t>
            </a:r>
            <a:r>
              <a:rPr lang="fr-FR" altLang="zh-CN" dirty="0">
                <a:solidFill>
                  <a:srgbClr val="000000"/>
                </a:solidFill>
              </a:rPr>
              <a:t>T</a:t>
            </a:r>
            <a:r>
              <a:rPr lang="fr-FR" altLang="zh-CN" baseline="-30000" dirty="0">
                <a:solidFill>
                  <a:srgbClr val="000000"/>
                </a:solidFill>
              </a:rPr>
              <a:t>2</a:t>
            </a:r>
            <a:endParaRPr lang="fr-FR" altLang="zh-CN" dirty="0">
              <a:solidFill>
                <a:schemeClr val="tx1"/>
              </a:solidFill>
            </a:endParaRPr>
          </a:p>
          <a:p>
            <a:pPr indent="261938" eaLnBrk="0" hangingPunct="0">
              <a:defRPr/>
            </a:pPr>
            <a:r>
              <a:rPr lang="fr-FR" altLang="zh-CN" dirty="0">
                <a:solidFill>
                  <a:srgbClr val="000000"/>
                </a:solidFill>
              </a:rPr>
              <a:t>T</a:t>
            </a:r>
            <a:r>
              <a:rPr lang="fr-FR" altLang="zh-CN" baseline="-30000" dirty="0">
                <a:solidFill>
                  <a:srgbClr val="000000"/>
                </a:solidFill>
              </a:rPr>
              <a:t>5 </a:t>
            </a:r>
            <a:r>
              <a:rPr lang="fr-FR" altLang="zh-CN" dirty="0">
                <a:solidFill>
                  <a:srgbClr val="000000"/>
                </a:solidFill>
              </a:rPr>
              <a:t>= b * b</a:t>
            </a:r>
          </a:p>
          <a:p>
            <a:pPr indent="261938" eaLnBrk="0" hangingPunct="0">
              <a:defRPr/>
            </a:pPr>
            <a:r>
              <a:rPr lang="fr-FR" altLang="zh-CN" dirty="0">
                <a:solidFill>
                  <a:srgbClr val="000000"/>
                </a:solidFill>
              </a:rPr>
              <a:t>T</a:t>
            </a:r>
            <a:r>
              <a:rPr lang="fr-FR" altLang="zh-CN" baseline="-30000" dirty="0">
                <a:solidFill>
                  <a:srgbClr val="000000"/>
                </a:solidFill>
              </a:rPr>
              <a:t>6 </a:t>
            </a:r>
            <a:r>
              <a:rPr lang="fr-FR" altLang="zh-CN" dirty="0">
                <a:solidFill>
                  <a:srgbClr val="000000"/>
                </a:solidFill>
              </a:rPr>
              <a:t>= T</a:t>
            </a:r>
            <a:r>
              <a:rPr lang="fr-FR" altLang="zh-CN" baseline="-30000" dirty="0">
                <a:solidFill>
                  <a:srgbClr val="000000"/>
                </a:solidFill>
              </a:rPr>
              <a:t>4</a:t>
            </a:r>
            <a:r>
              <a:rPr lang="zh-CN" altLang="fr-FR" dirty="0">
                <a:solidFill>
                  <a:srgbClr val="000000"/>
                </a:solidFill>
                <a:cs typeface="Times New Roman" pitchFamily="18" charset="0"/>
              </a:rPr>
              <a:t>＋</a:t>
            </a:r>
            <a:r>
              <a:rPr lang="fr-FR" altLang="zh-CN" dirty="0">
                <a:solidFill>
                  <a:srgbClr val="000000"/>
                </a:solidFill>
              </a:rPr>
              <a:t>T</a:t>
            </a:r>
            <a:r>
              <a:rPr lang="fr-FR" altLang="zh-CN" baseline="-30000" dirty="0">
                <a:solidFill>
                  <a:srgbClr val="000000"/>
                </a:solidFill>
              </a:rPr>
              <a:t>5</a:t>
            </a:r>
            <a:r>
              <a:rPr lang="fr-FR" altLang="zh-CN" dirty="0">
                <a:solidFill>
                  <a:schemeClr val="tx1"/>
                </a:solidFill>
              </a:rPr>
              <a:t> </a:t>
            </a:r>
          </a:p>
        </p:txBody>
      </p:sp>
    </p:spTree>
    <p:extLst>
      <p:ext uri="{BB962C8B-B14F-4D97-AF65-F5344CB8AC3E}">
        <p14:creationId xmlns:p14="http://schemas.microsoft.com/office/powerpoint/2010/main" val="10845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627534"/>
            <a:ext cx="8229600" cy="2267543"/>
          </a:xfrm>
        </p:spPr>
        <p:txBody>
          <a:bodyPr>
            <a:noAutofit/>
          </a:bodyPr>
          <a:lstStyle/>
          <a:p>
            <a:pPr indent="-285750">
              <a:lnSpc>
                <a:spcPct val="120000"/>
              </a:lnSpc>
              <a:spcBef>
                <a:spcPct val="0"/>
              </a:spcBef>
            </a:pPr>
            <a:r>
              <a:rPr lang="zh-CN" altLang="en-US" dirty="0"/>
              <a:t>流图</a:t>
            </a:r>
            <a:r>
              <a:rPr lang="en-US" altLang="zh-CN" dirty="0"/>
              <a:t>	</a:t>
            </a:r>
          </a:p>
          <a:p>
            <a:pPr lvl="1" indent="-285750">
              <a:lnSpc>
                <a:spcPct val="120000"/>
              </a:lnSpc>
              <a:spcBef>
                <a:spcPct val="0"/>
              </a:spcBef>
            </a:pPr>
            <a:r>
              <a:rPr lang="zh-CN" altLang="zh-CN" dirty="0"/>
              <a:t>如果在某个执行顺序中，基本块</a:t>
            </a:r>
            <a:r>
              <a:rPr lang="en-US" altLang="zh-CN" dirty="0"/>
              <a:t>B2</a:t>
            </a:r>
            <a:r>
              <a:rPr lang="zh-CN" altLang="zh-CN" dirty="0"/>
              <a:t>紧接在基本块</a:t>
            </a:r>
            <a:r>
              <a:rPr lang="en-US" altLang="zh-CN" dirty="0"/>
              <a:t>B1</a:t>
            </a:r>
            <a:r>
              <a:rPr lang="zh-CN" altLang="zh-CN" dirty="0"/>
              <a:t>之后执行，则从</a:t>
            </a:r>
            <a:r>
              <a:rPr lang="en-US" altLang="zh-CN" dirty="0"/>
              <a:t>B1</a:t>
            </a:r>
            <a:r>
              <a:rPr lang="zh-CN" altLang="zh-CN" dirty="0"/>
              <a:t>到</a:t>
            </a:r>
            <a:r>
              <a:rPr lang="en-US" altLang="zh-CN" dirty="0"/>
              <a:t>B2</a:t>
            </a:r>
            <a:r>
              <a:rPr lang="zh-CN" altLang="zh-CN" dirty="0"/>
              <a:t>画一条有向边。</a:t>
            </a:r>
            <a:r>
              <a:rPr lang="zh-CN" altLang="en-US" dirty="0"/>
              <a:t>这样画出的关于基本块的有向图称为</a:t>
            </a:r>
            <a:r>
              <a:rPr lang="zh-CN" altLang="en-US" dirty="0">
                <a:solidFill>
                  <a:srgbClr val="FF0000"/>
                </a:solidFill>
              </a:rPr>
              <a:t>流图</a:t>
            </a:r>
            <a:r>
              <a:rPr lang="zh-CN" altLang="en-US" dirty="0"/>
              <a:t>。它是将控制流的信息增加到基本块的集合上。</a:t>
            </a:r>
            <a:endParaRPr lang="en-US" altLang="zh-CN" dirty="0"/>
          </a:p>
          <a:p>
            <a:pPr lvl="1" indent="-285750">
              <a:lnSpc>
                <a:spcPct val="120000"/>
              </a:lnSpc>
              <a:spcBef>
                <a:spcPct val="0"/>
              </a:spcBef>
            </a:pPr>
            <a:r>
              <a:rPr lang="zh-CN" altLang="zh-CN" dirty="0"/>
              <a:t>流图的结点是基本块，包含第一条语句的基本块称为首结点。</a:t>
            </a:r>
            <a:endParaRPr lang="en-US" altLang="zh-CN" dirty="0"/>
          </a:p>
          <a:p>
            <a:pPr>
              <a:lnSpc>
                <a:spcPct val="120000"/>
              </a:lnSpc>
            </a:pPr>
            <a:endParaRPr lang="zh-CN" altLang="en-US" sz="2200" dirty="0"/>
          </a:p>
        </p:txBody>
      </p:sp>
      <p:sp>
        <p:nvSpPr>
          <p:cNvPr id="3" name="标题 2"/>
          <p:cNvSpPr>
            <a:spLocks noGrp="1"/>
          </p:cNvSpPr>
          <p:nvPr>
            <p:ph type="title"/>
          </p:nvPr>
        </p:nvSpPr>
        <p:spPr>
          <a:xfrm>
            <a:off x="107504" y="-20538"/>
            <a:ext cx="8229600" cy="576064"/>
          </a:xfrm>
        </p:spPr>
        <p:txBody>
          <a:bodyPr>
            <a:normAutofit fontScale="90000"/>
          </a:bodyPr>
          <a:lstStyle/>
          <a:p>
            <a:r>
              <a:rPr lang="zh-CN" altLang="zh-CN" dirty="0">
                <a:solidFill>
                  <a:srgbClr val="CC00FF"/>
                </a:solidFill>
                <a:latin typeface="宋体" panose="02010600030101010101" pitchFamily="2" charset="-122"/>
              </a:rPr>
              <a:t>基本块之间</a:t>
            </a:r>
            <a:r>
              <a:rPr lang="zh-CN" altLang="en-US" dirty="0">
                <a:solidFill>
                  <a:srgbClr val="CC00FF"/>
                </a:solidFill>
                <a:latin typeface="宋体" panose="02010600030101010101" pitchFamily="2" charset="-122"/>
              </a:rPr>
              <a:t>的关系</a:t>
            </a:r>
            <a:endParaRPr lang="zh-CN" altLang="en-US" dirty="0">
              <a:solidFill>
                <a:srgbClr val="CC00FF"/>
              </a:solidFill>
            </a:endParaRPr>
          </a:p>
        </p:txBody>
      </p:sp>
      <p:sp>
        <p:nvSpPr>
          <p:cNvPr id="4" name="Text Box 3"/>
          <p:cNvSpPr txBox="1">
            <a:spLocks noChangeArrowheads="1"/>
          </p:cNvSpPr>
          <p:nvPr/>
        </p:nvSpPr>
        <p:spPr bwMode="auto">
          <a:xfrm>
            <a:off x="750193" y="2849617"/>
            <a:ext cx="7854255" cy="1954381"/>
          </a:xfrm>
          <a:prstGeom prst="rect">
            <a:avLst/>
          </a:prstGeom>
          <a:solidFill>
            <a:schemeClr val="bg1"/>
          </a:solidFill>
          <a:ln>
            <a:noFill/>
          </a:ln>
        </p:spPr>
        <p:txBody>
          <a:bodyPr wrap="square">
            <a:spAutoFit/>
          </a:bodyPr>
          <a:lstStyle>
            <a:lvl1pPr marL="268288" indent="-268288" eaLnBrk="0" hangingPunct="0">
              <a:spcBef>
                <a:spcPct val="20000"/>
              </a:spcBef>
              <a:buChar char="•"/>
              <a:defRPr kumimoji="1" sz="3200">
                <a:solidFill>
                  <a:schemeClr val="tx1"/>
                </a:solidFill>
                <a:latin typeface="Times New Roman" pitchFamily="18" charset="0"/>
                <a:ea typeface="宋体" pitchFamily="2" charset="-122"/>
              </a:defRPr>
            </a:lvl1pPr>
            <a:lvl2pPr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10000"/>
              </a:lnSpc>
              <a:spcBef>
                <a:spcPct val="0"/>
              </a:spcBef>
            </a:pPr>
            <a:r>
              <a:rPr lang="en-US" altLang="zh-CN" sz="2200" dirty="0">
                <a:latin typeface="宋体" pitchFamily="2" charset="-122"/>
              </a:rPr>
              <a:t>B1</a:t>
            </a:r>
            <a:r>
              <a:rPr lang="zh-CN" altLang="en-US" sz="2200" dirty="0">
                <a:latin typeface="宋体" pitchFamily="2" charset="-122"/>
              </a:rPr>
              <a:t>是</a:t>
            </a:r>
            <a:r>
              <a:rPr lang="en-US" altLang="zh-CN" sz="2200" dirty="0">
                <a:latin typeface="宋体" pitchFamily="2" charset="-122"/>
              </a:rPr>
              <a:t>B2</a:t>
            </a:r>
            <a:r>
              <a:rPr lang="zh-CN" altLang="en-US" sz="2200" dirty="0">
                <a:latin typeface="宋体" pitchFamily="2" charset="-122"/>
              </a:rPr>
              <a:t>的</a:t>
            </a:r>
            <a:r>
              <a:rPr lang="zh-CN" altLang="en-US" sz="2200" b="1" i="1" u="sng" dirty="0">
                <a:latin typeface="宋体" pitchFamily="2" charset="-122"/>
              </a:rPr>
              <a:t>直接前驱</a:t>
            </a:r>
            <a:r>
              <a:rPr lang="zh-CN" altLang="en-US" sz="2200" dirty="0">
                <a:latin typeface="宋体" pitchFamily="2" charset="-122"/>
              </a:rPr>
              <a:t>，</a:t>
            </a:r>
            <a:r>
              <a:rPr lang="en-US" altLang="zh-CN" sz="2200" dirty="0">
                <a:latin typeface="宋体" pitchFamily="2" charset="-122"/>
              </a:rPr>
              <a:t>B2</a:t>
            </a:r>
            <a:r>
              <a:rPr lang="zh-CN" altLang="en-US" sz="2200" dirty="0">
                <a:latin typeface="宋体" pitchFamily="2" charset="-122"/>
              </a:rPr>
              <a:t>是</a:t>
            </a:r>
            <a:r>
              <a:rPr lang="en-US" altLang="zh-CN" sz="2200" dirty="0">
                <a:latin typeface="宋体" pitchFamily="2" charset="-122"/>
              </a:rPr>
              <a:t>B1</a:t>
            </a:r>
            <a:r>
              <a:rPr lang="zh-CN" altLang="en-US" sz="2200" dirty="0">
                <a:latin typeface="宋体" pitchFamily="2" charset="-122"/>
              </a:rPr>
              <a:t>的</a:t>
            </a:r>
            <a:r>
              <a:rPr lang="zh-CN" altLang="en-US" sz="2200" b="1" i="1" u="sng" dirty="0">
                <a:latin typeface="宋体" pitchFamily="2" charset="-122"/>
              </a:rPr>
              <a:t>直接后继</a:t>
            </a:r>
            <a:r>
              <a:rPr lang="en-US" altLang="zh-CN" sz="2200" dirty="0">
                <a:latin typeface="宋体" pitchFamily="2" charset="-122"/>
              </a:rPr>
              <a:t>: </a:t>
            </a:r>
          </a:p>
          <a:p>
            <a:pPr lvl="1" indent="-285750" eaLnBrk="1" hangingPunct="1">
              <a:lnSpc>
                <a:spcPct val="110000"/>
              </a:lnSpc>
              <a:spcBef>
                <a:spcPct val="0"/>
              </a:spcBef>
              <a:buFontTx/>
              <a:buChar char="–"/>
            </a:pPr>
            <a:r>
              <a:rPr lang="zh-CN" altLang="en-US" sz="2200" dirty="0">
                <a:latin typeface="宋体" pitchFamily="2" charset="-122"/>
              </a:rPr>
              <a:t>有一个条件或无条件转移语句从</a:t>
            </a:r>
            <a:r>
              <a:rPr lang="en-US" altLang="zh-CN" sz="2200" dirty="0">
                <a:latin typeface="宋体" pitchFamily="2" charset="-122"/>
              </a:rPr>
              <a:t>B1</a:t>
            </a:r>
            <a:r>
              <a:rPr lang="zh-CN" altLang="en-US" sz="2200" dirty="0">
                <a:latin typeface="宋体" pitchFamily="2" charset="-122"/>
              </a:rPr>
              <a:t>的最后一条语句转移到</a:t>
            </a:r>
            <a:r>
              <a:rPr lang="en-US" altLang="zh-CN" sz="2200" dirty="0">
                <a:latin typeface="宋体" pitchFamily="2" charset="-122"/>
              </a:rPr>
              <a:t>B2</a:t>
            </a:r>
            <a:r>
              <a:rPr lang="zh-CN" altLang="en-US" sz="2200" dirty="0">
                <a:latin typeface="宋体" pitchFamily="2" charset="-122"/>
              </a:rPr>
              <a:t>的第一条语句；</a:t>
            </a:r>
          </a:p>
          <a:p>
            <a:pPr lvl="1" indent="-285750" eaLnBrk="1" hangingPunct="1">
              <a:lnSpc>
                <a:spcPct val="110000"/>
              </a:lnSpc>
              <a:spcBef>
                <a:spcPct val="0"/>
              </a:spcBef>
              <a:buFontTx/>
              <a:buChar char="–"/>
            </a:pPr>
            <a:r>
              <a:rPr lang="zh-CN" altLang="en-US" sz="2200" dirty="0">
                <a:latin typeface="宋体" pitchFamily="2" charset="-122"/>
              </a:rPr>
              <a:t>在程序的序列中，</a:t>
            </a:r>
            <a:r>
              <a:rPr lang="en-US" altLang="zh-CN" sz="2200" dirty="0">
                <a:latin typeface="宋体" pitchFamily="2" charset="-122"/>
              </a:rPr>
              <a:t>B2</a:t>
            </a:r>
            <a:r>
              <a:rPr lang="zh-CN" altLang="en-US" sz="2200" dirty="0">
                <a:latin typeface="宋体" pitchFamily="2" charset="-122"/>
              </a:rPr>
              <a:t>紧接在</a:t>
            </a:r>
            <a:r>
              <a:rPr lang="en-US" altLang="zh-CN" sz="2200" dirty="0">
                <a:latin typeface="宋体" pitchFamily="2" charset="-122"/>
              </a:rPr>
              <a:t>B1</a:t>
            </a:r>
            <a:r>
              <a:rPr lang="zh-CN" altLang="en-US" sz="2200" dirty="0">
                <a:latin typeface="宋体" pitchFamily="2" charset="-122"/>
              </a:rPr>
              <a:t>的后面，并且</a:t>
            </a:r>
            <a:r>
              <a:rPr lang="en-US" altLang="zh-CN" sz="2200" dirty="0">
                <a:latin typeface="宋体" pitchFamily="2" charset="-122"/>
              </a:rPr>
              <a:t>B1</a:t>
            </a:r>
            <a:r>
              <a:rPr lang="zh-CN" altLang="en-US" sz="2200" dirty="0">
                <a:latin typeface="宋体" pitchFamily="2" charset="-122"/>
              </a:rPr>
              <a:t>的最后一条语句不是一个无条件转移语句。</a:t>
            </a:r>
          </a:p>
        </p:txBody>
      </p:sp>
    </p:spTree>
    <p:extLst>
      <p:ext uri="{BB962C8B-B14F-4D97-AF65-F5344CB8AC3E}">
        <p14:creationId xmlns:p14="http://schemas.microsoft.com/office/powerpoint/2010/main" val="2103423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6"/>
          <p:cNvSpPr>
            <a:spLocks noGrp="1" noChangeArrowheads="1"/>
          </p:cNvSpPr>
          <p:nvPr>
            <p:ph type="title"/>
          </p:nvPr>
        </p:nvSpPr>
        <p:spPr>
          <a:xfrm>
            <a:off x="33468" y="51470"/>
            <a:ext cx="5978692" cy="641226"/>
          </a:xfrm>
        </p:spPr>
        <p:txBody>
          <a:bodyPr>
            <a:normAutofit/>
          </a:bodyPr>
          <a:lstStyle/>
          <a:p>
            <a:pPr eaLnBrk="1" hangingPunct="1"/>
            <a:r>
              <a:rPr lang="zh-CN" altLang="en-US" sz="3200" dirty="0"/>
              <a:t>画出这个程序的基本块的流图</a:t>
            </a:r>
            <a:endParaRPr lang="zh-CN" altLang="zh-CN" sz="3200" dirty="0"/>
          </a:p>
        </p:txBody>
      </p:sp>
      <p:graphicFrame>
        <p:nvGraphicFramePr>
          <p:cNvPr id="173060" name="Object 4"/>
          <p:cNvGraphicFramePr>
            <a:graphicFrameLocks noChangeAspect="1"/>
          </p:cNvGraphicFramePr>
          <p:nvPr>
            <p:extLst>
              <p:ext uri="{D42A27DB-BD31-4B8C-83A1-F6EECF244321}">
                <p14:modId xmlns:p14="http://schemas.microsoft.com/office/powerpoint/2010/main" val="3482870013"/>
              </p:ext>
            </p:extLst>
          </p:nvPr>
        </p:nvGraphicFramePr>
        <p:xfrm>
          <a:off x="6122750" y="176184"/>
          <a:ext cx="2335450" cy="1875536"/>
        </p:xfrm>
        <a:graphic>
          <a:graphicData uri="http://schemas.openxmlformats.org/presentationml/2006/ole">
            <mc:AlternateContent xmlns:mc="http://schemas.openxmlformats.org/markup-compatibility/2006">
              <mc:Choice xmlns:v="urn:schemas-microsoft-com:vml" Requires="v">
                <p:oleObj name="文档" r:id="rId3" imgW="2725947" imgH="2078966" progId="Word.Document.8">
                  <p:embed/>
                </p:oleObj>
              </mc:Choice>
              <mc:Fallback>
                <p:oleObj name="文档" r:id="rId3" imgW="2725947" imgH="2078966"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2750" y="176184"/>
                        <a:ext cx="2335450" cy="1875536"/>
                      </a:xfrm>
                      <a:prstGeom prst="rect">
                        <a:avLst/>
                      </a:prstGeom>
                      <a:noFill/>
                      <a:ln>
                        <a:noFill/>
                      </a:ln>
                      <a:effectLst/>
                    </p:spPr>
                  </p:pic>
                </p:oleObj>
              </mc:Fallback>
            </mc:AlternateContent>
          </a:graphicData>
        </a:graphic>
      </p:graphicFrame>
      <p:sp>
        <p:nvSpPr>
          <p:cNvPr id="18436" name="Text Box 9"/>
          <p:cNvSpPr txBox="1">
            <a:spLocks noChangeArrowheads="1"/>
          </p:cNvSpPr>
          <p:nvPr/>
        </p:nvSpPr>
        <p:spPr bwMode="auto">
          <a:xfrm>
            <a:off x="323528" y="1002938"/>
            <a:ext cx="2016224" cy="2862322"/>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b="1" dirty="0">
                <a:solidFill>
                  <a:srgbClr val="FF0000"/>
                </a:solidFill>
              </a:rPr>
              <a:t>*</a:t>
            </a:r>
            <a:r>
              <a:rPr lang="en-US" altLang="zh-CN" sz="2000" b="1" dirty="0"/>
              <a:t>(1)read  x</a:t>
            </a:r>
          </a:p>
          <a:p>
            <a:pPr eaLnBrk="1" hangingPunct="1">
              <a:spcBef>
                <a:spcPct val="0"/>
              </a:spcBef>
              <a:buFontTx/>
              <a:buNone/>
            </a:pPr>
            <a:r>
              <a:rPr lang="en-US" altLang="zh-CN" sz="2000" b="1" dirty="0"/>
              <a:t>  (2)read y</a:t>
            </a:r>
          </a:p>
          <a:p>
            <a:pPr eaLnBrk="1" hangingPunct="1">
              <a:spcBef>
                <a:spcPct val="0"/>
              </a:spcBef>
              <a:buFontTx/>
              <a:buNone/>
            </a:pPr>
            <a:r>
              <a:rPr lang="en-US" altLang="zh-CN" sz="2000" b="1" dirty="0">
                <a:solidFill>
                  <a:srgbClr val="FF0000"/>
                </a:solidFill>
              </a:rPr>
              <a:t>*</a:t>
            </a:r>
            <a:r>
              <a:rPr lang="en-US" altLang="zh-CN" sz="2000" b="1" dirty="0"/>
              <a:t>(3)r=x mod y</a:t>
            </a:r>
          </a:p>
          <a:p>
            <a:pPr eaLnBrk="1" hangingPunct="1">
              <a:spcBef>
                <a:spcPct val="0"/>
              </a:spcBef>
              <a:buFontTx/>
              <a:buNone/>
            </a:pPr>
            <a:r>
              <a:rPr lang="en-US" altLang="zh-CN" sz="2000" b="1" dirty="0"/>
              <a:t>  (4)if r=0 </a:t>
            </a:r>
            <a:r>
              <a:rPr lang="en-US" altLang="zh-CN" sz="2000" b="1" dirty="0" err="1"/>
              <a:t>goto</a:t>
            </a:r>
            <a:r>
              <a:rPr lang="en-US" altLang="zh-CN" sz="2000" b="1" dirty="0"/>
              <a:t> (8)</a:t>
            </a:r>
            <a:endParaRPr lang="fr-FR" altLang="zh-CN" sz="2000" b="1" dirty="0"/>
          </a:p>
          <a:p>
            <a:pPr eaLnBrk="1" hangingPunct="1">
              <a:spcBef>
                <a:spcPct val="0"/>
              </a:spcBef>
              <a:buFontTx/>
              <a:buNone/>
            </a:pPr>
            <a:r>
              <a:rPr lang="fr-FR" altLang="zh-CN" sz="2000" b="1" dirty="0">
                <a:solidFill>
                  <a:srgbClr val="FF0000"/>
                </a:solidFill>
              </a:rPr>
              <a:t>*</a:t>
            </a:r>
            <a:r>
              <a:rPr lang="fr-FR" altLang="zh-CN" sz="2000" b="1" dirty="0"/>
              <a:t>(5)x=y</a:t>
            </a:r>
          </a:p>
          <a:p>
            <a:pPr eaLnBrk="1" hangingPunct="1">
              <a:spcBef>
                <a:spcPct val="0"/>
              </a:spcBef>
              <a:buFontTx/>
              <a:buNone/>
            </a:pPr>
            <a:r>
              <a:rPr lang="fr-FR" altLang="zh-CN" sz="2000" b="1" dirty="0"/>
              <a:t>  (6)y=r</a:t>
            </a:r>
          </a:p>
          <a:p>
            <a:pPr eaLnBrk="1" hangingPunct="1">
              <a:spcBef>
                <a:spcPct val="0"/>
              </a:spcBef>
              <a:buFontTx/>
              <a:buNone/>
            </a:pPr>
            <a:r>
              <a:rPr lang="fr-FR" altLang="zh-CN" sz="2000" b="1" dirty="0"/>
              <a:t>  (7)goto(3)</a:t>
            </a:r>
          </a:p>
          <a:p>
            <a:pPr eaLnBrk="1" hangingPunct="1">
              <a:spcBef>
                <a:spcPct val="0"/>
              </a:spcBef>
              <a:buFontTx/>
              <a:buNone/>
            </a:pPr>
            <a:r>
              <a:rPr lang="fr-FR" altLang="zh-CN" sz="2000" b="1" dirty="0">
                <a:solidFill>
                  <a:srgbClr val="FF0000"/>
                </a:solidFill>
              </a:rPr>
              <a:t>*</a:t>
            </a:r>
            <a:r>
              <a:rPr lang="fr-FR" altLang="zh-CN" sz="2000" b="1" dirty="0"/>
              <a:t>(8)write y</a:t>
            </a:r>
            <a:endParaRPr lang="en-US" altLang="zh-CN" sz="2000" b="1" dirty="0"/>
          </a:p>
          <a:p>
            <a:pPr eaLnBrk="1" hangingPunct="1">
              <a:spcBef>
                <a:spcPct val="0"/>
              </a:spcBef>
              <a:buFontTx/>
              <a:buNone/>
            </a:pPr>
            <a:r>
              <a:rPr lang="en-US" altLang="zh-CN" sz="2000" b="1" dirty="0"/>
              <a:t>  (9)halt</a:t>
            </a:r>
          </a:p>
        </p:txBody>
      </p:sp>
      <p:graphicFrame>
        <p:nvGraphicFramePr>
          <p:cNvPr id="18437" name="Object 10"/>
          <p:cNvGraphicFramePr>
            <a:graphicFrameLocks noGrp="1" noChangeAspect="1"/>
          </p:cNvGraphicFramePr>
          <p:nvPr>
            <p:ph sz="half" idx="2"/>
            <p:extLst>
              <p:ext uri="{D42A27DB-BD31-4B8C-83A1-F6EECF244321}">
                <p14:modId xmlns:p14="http://schemas.microsoft.com/office/powerpoint/2010/main" val="390465565"/>
              </p:ext>
            </p:extLst>
          </p:nvPr>
        </p:nvGraphicFramePr>
        <p:xfrm>
          <a:off x="5847151" y="2051720"/>
          <a:ext cx="3029884" cy="2520280"/>
        </p:xfrm>
        <a:graphic>
          <a:graphicData uri="http://schemas.openxmlformats.org/presentationml/2006/ole">
            <mc:AlternateContent xmlns:mc="http://schemas.openxmlformats.org/markup-compatibility/2006">
              <mc:Choice xmlns:v="urn:schemas-microsoft-com:vml" Requires="v">
                <p:oleObj name="Visio" r:id="rId5" imgW="2156527" imgH="1965850" progId="Visio.Drawing.11">
                  <p:embed/>
                </p:oleObj>
              </mc:Choice>
              <mc:Fallback>
                <p:oleObj name="Visio" r:id="rId5" imgW="2156527" imgH="1965850"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47151" y="2051720"/>
                        <a:ext cx="3029884" cy="2520280"/>
                      </a:xfrm>
                      <a:prstGeom prst="rect">
                        <a:avLst/>
                      </a:prstGeom>
                      <a:noFill/>
                      <a:ln>
                        <a:noFill/>
                      </a:ln>
                    </p:spPr>
                  </p:pic>
                </p:oleObj>
              </mc:Fallback>
            </mc:AlternateContent>
          </a:graphicData>
        </a:graphic>
      </p:graphicFrame>
      <p:graphicFrame>
        <p:nvGraphicFramePr>
          <p:cNvPr id="6" name="Group 57"/>
          <p:cNvGraphicFramePr>
            <a:graphicFrameLocks noGrp="1"/>
          </p:cNvGraphicFramePr>
          <p:nvPr>
            <p:ph sz="half" idx="2"/>
            <p:extLst>
              <p:ext uri="{D42A27DB-BD31-4B8C-83A1-F6EECF244321}">
                <p14:modId xmlns:p14="http://schemas.microsoft.com/office/powerpoint/2010/main" val="3644740276"/>
              </p:ext>
            </p:extLst>
          </p:nvPr>
        </p:nvGraphicFramePr>
        <p:xfrm>
          <a:off x="2591780" y="833538"/>
          <a:ext cx="2664296" cy="3413760"/>
        </p:xfrm>
        <a:graphic>
          <a:graphicData uri="http://schemas.openxmlformats.org/drawingml/2006/table">
            <a:tbl>
              <a:tblPr/>
              <a:tblGrid>
                <a:gridCol w="2059179">
                  <a:extLst>
                    <a:ext uri="{9D8B030D-6E8A-4147-A177-3AD203B41FA5}">
                      <a16:colId xmlns:a16="http://schemas.microsoft.com/office/drawing/2014/main" val="20000"/>
                    </a:ext>
                  </a:extLst>
                </a:gridCol>
                <a:gridCol w="605117">
                  <a:extLst>
                    <a:ext uri="{9D8B030D-6E8A-4147-A177-3AD203B41FA5}">
                      <a16:colId xmlns:a16="http://schemas.microsoft.com/office/drawing/2014/main" val="20001"/>
                    </a:ext>
                  </a:extLst>
                </a:gridCol>
              </a:tblGrid>
              <a:tr h="72029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FF0000"/>
                          </a:solidFill>
                          <a:effectLst/>
                          <a:latin typeface="Times New Roman" pitchFamily="18" charset="0"/>
                          <a:ea typeface="宋体" pitchFamily="2" charset="-122"/>
                        </a:rPr>
                        <a:t>*</a:t>
                      </a: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(1)read  x</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  (2)read y</a:t>
                      </a:r>
                      <a:endParaRPr kumimoji="1"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itchFamily="18" charset="0"/>
                          <a:ea typeface="宋体" pitchFamily="2" charset="-122"/>
                        </a:rPr>
                        <a:t>B1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029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FF0000"/>
                          </a:solidFill>
                          <a:effectLst/>
                          <a:latin typeface="Times New Roman" pitchFamily="18" charset="0"/>
                          <a:ea typeface="宋体" pitchFamily="2" charset="-122"/>
                        </a:rPr>
                        <a:t>*</a:t>
                      </a: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(3)r=x mod y</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  (4)if r=0 </a:t>
                      </a:r>
                      <a:r>
                        <a:rPr kumimoji="1" lang="en-US" altLang="zh-CN" sz="2000" b="1" i="0" u="none" strike="noStrike" cap="none" normalizeH="0" baseline="0" dirty="0" err="1">
                          <a:ln>
                            <a:noFill/>
                          </a:ln>
                          <a:solidFill>
                            <a:schemeClr val="tx1"/>
                          </a:solidFill>
                          <a:effectLst/>
                          <a:latin typeface="Times New Roman" pitchFamily="18" charset="0"/>
                          <a:ea typeface="宋体" pitchFamily="2" charset="-122"/>
                        </a:rPr>
                        <a:t>goto</a:t>
                      </a: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 (8)</a:t>
                      </a:r>
                      <a:endParaRPr kumimoji="1"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B2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794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fr-FR" altLang="zh-CN" sz="2000" b="1" i="0" u="none" strike="noStrike" cap="none" normalizeH="0" baseline="0" dirty="0">
                          <a:ln>
                            <a:noFill/>
                          </a:ln>
                          <a:solidFill>
                            <a:srgbClr val="FF0000"/>
                          </a:solidFill>
                          <a:effectLst/>
                          <a:latin typeface="Times New Roman" pitchFamily="18" charset="0"/>
                          <a:ea typeface="宋体" pitchFamily="2" charset="-122"/>
                        </a:rPr>
                        <a:t>*</a:t>
                      </a:r>
                      <a:r>
                        <a:rPr kumimoji="1" lang="fr-FR" altLang="zh-CN" sz="2000" b="1" i="0" u="none" strike="noStrike" cap="none" normalizeH="0" baseline="0" dirty="0">
                          <a:ln>
                            <a:noFill/>
                          </a:ln>
                          <a:solidFill>
                            <a:schemeClr val="tx1"/>
                          </a:solidFill>
                          <a:effectLst/>
                          <a:latin typeface="Times New Roman" pitchFamily="18" charset="0"/>
                          <a:ea typeface="宋体" pitchFamily="2" charset="-122"/>
                        </a:rPr>
                        <a:t>(5)x=y</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fr-FR" altLang="zh-CN" sz="2000" b="1" i="0" u="none" strike="noStrike" cap="none" normalizeH="0" baseline="0" dirty="0">
                          <a:ln>
                            <a:noFill/>
                          </a:ln>
                          <a:solidFill>
                            <a:schemeClr val="tx1"/>
                          </a:solidFill>
                          <a:effectLst/>
                          <a:latin typeface="Times New Roman" pitchFamily="18" charset="0"/>
                          <a:ea typeface="宋体" pitchFamily="2" charset="-122"/>
                        </a:rPr>
                        <a:t>  (6)y=r</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fr-FR" altLang="zh-CN" sz="2000" b="1" i="0" u="none" strike="noStrike" cap="none" normalizeH="0" baseline="0" dirty="0">
                          <a:ln>
                            <a:noFill/>
                          </a:ln>
                          <a:solidFill>
                            <a:schemeClr val="tx1"/>
                          </a:solidFill>
                          <a:effectLst/>
                          <a:latin typeface="Times New Roman" pitchFamily="18" charset="0"/>
                          <a:ea typeface="宋体" pitchFamily="2" charset="-122"/>
                        </a:rPr>
                        <a:t>  (7)goto(3)</a:t>
                      </a:r>
                      <a:endParaRPr kumimoji="1"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B3</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2029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fr-FR" altLang="zh-CN" sz="2000" b="1" i="0" u="none" strike="noStrike" cap="none" normalizeH="0" baseline="0" dirty="0">
                          <a:ln>
                            <a:noFill/>
                          </a:ln>
                          <a:solidFill>
                            <a:srgbClr val="FF0000"/>
                          </a:solidFill>
                          <a:effectLst/>
                          <a:latin typeface="Times New Roman" pitchFamily="18" charset="0"/>
                          <a:ea typeface="宋体" pitchFamily="2" charset="-122"/>
                        </a:rPr>
                        <a:t>*</a:t>
                      </a:r>
                      <a:r>
                        <a:rPr kumimoji="1" lang="fr-FR" altLang="zh-CN" sz="2000" b="1" i="0" u="none" strike="noStrike" cap="none" normalizeH="0" baseline="0" dirty="0">
                          <a:ln>
                            <a:noFill/>
                          </a:ln>
                          <a:solidFill>
                            <a:schemeClr val="tx1"/>
                          </a:solidFill>
                          <a:effectLst/>
                          <a:latin typeface="Times New Roman" pitchFamily="18" charset="0"/>
                          <a:ea typeface="宋体" pitchFamily="2" charset="-122"/>
                        </a:rPr>
                        <a:t>(8)write y</a:t>
                      </a:r>
                      <a:endParaRPr kumimoji="1" lang="en-US" altLang="zh-CN" sz="20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  (9)halt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itchFamily="18" charset="0"/>
                          <a:ea typeface="宋体" pitchFamily="2" charset="-122"/>
                        </a:rPr>
                        <a:t>B4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65359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730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755650" y="1"/>
            <a:ext cx="7772400" cy="411956"/>
          </a:xfrm>
          <a:noFill/>
        </p:spPr>
        <p:txBody>
          <a:bodyPr>
            <a:normAutofit fontScale="90000"/>
          </a:bodyPr>
          <a:lstStyle/>
          <a:p>
            <a:pPr eaLnBrk="1" hangingPunct="1"/>
            <a:r>
              <a:rPr lang="zh-CN" altLang="en-US" sz="4000" b="1" dirty="0">
                <a:ea typeface="楷体_GB2312" pitchFamily="1" charset="-122"/>
              </a:rPr>
              <a:t>练习</a:t>
            </a:r>
          </a:p>
        </p:txBody>
      </p:sp>
      <p:sp>
        <p:nvSpPr>
          <p:cNvPr id="19460" name="Rectangle 4"/>
          <p:cNvSpPr>
            <a:spLocks noChangeArrowheads="1"/>
          </p:cNvSpPr>
          <p:nvPr/>
        </p:nvSpPr>
        <p:spPr bwMode="auto">
          <a:xfrm>
            <a:off x="3106941" y="411956"/>
            <a:ext cx="2530474" cy="4343399"/>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800" dirty="0">
                <a:latin typeface="Tahoma" pitchFamily="34" charset="0"/>
              </a:rPr>
              <a:t>       f0 = 0</a:t>
            </a:r>
          </a:p>
          <a:p>
            <a:pPr eaLnBrk="1" hangingPunct="1">
              <a:spcBef>
                <a:spcPct val="0"/>
              </a:spcBef>
              <a:buFontTx/>
              <a:buNone/>
            </a:pPr>
            <a:r>
              <a:rPr lang="en-US" altLang="zh-CN" sz="1800" dirty="0">
                <a:latin typeface="Tahoma" pitchFamily="34" charset="0"/>
              </a:rPr>
              <a:t>       f1 = 1</a:t>
            </a:r>
          </a:p>
          <a:p>
            <a:pPr eaLnBrk="1" hangingPunct="1">
              <a:spcBef>
                <a:spcPct val="0"/>
              </a:spcBef>
              <a:buFontTx/>
              <a:buNone/>
            </a:pPr>
            <a:r>
              <a:rPr lang="en-US" altLang="zh-CN" sz="1800" dirty="0">
                <a:latin typeface="Tahoma" pitchFamily="34" charset="0"/>
              </a:rPr>
              <a:t>       if  m&lt;=1 </a:t>
            </a:r>
            <a:r>
              <a:rPr lang="en-US" altLang="zh-CN" sz="1800" dirty="0" err="1">
                <a:latin typeface="Tahoma" pitchFamily="34" charset="0"/>
              </a:rPr>
              <a:t>goto</a:t>
            </a:r>
            <a:r>
              <a:rPr lang="en-US" altLang="zh-CN" sz="1800" dirty="0">
                <a:latin typeface="Tahoma" pitchFamily="34" charset="0"/>
              </a:rPr>
              <a:t> L3</a:t>
            </a:r>
          </a:p>
          <a:p>
            <a:pPr eaLnBrk="1" hangingPunct="1">
              <a:spcBef>
                <a:spcPct val="0"/>
              </a:spcBef>
              <a:buFontTx/>
              <a:buNone/>
            </a:pPr>
            <a:endParaRPr lang="en-US" altLang="zh-CN" sz="1000" dirty="0">
              <a:latin typeface="Tahoma" pitchFamily="34" charset="0"/>
            </a:endParaRPr>
          </a:p>
          <a:p>
            <a:pPr eaLnBrk="1" hangingPunct="1">
              <a:spcBef>
                <a:spcPct val="0"/>
              </a:spcBef>
              <a:buFontTx/>
              <a:buNone/>
            </a:pPr>
            <a:r>
              <a:rPr lang="en-US" altLang="zh-CN" sz="1800" dirty="0">
                <a:latin typeface="Tahoma" pitchFamily="34" charset="0"/>
              </a:rPr>
              <a:t>       </a:t>
            </a:r>
            <a:r>
              <a:rPr lang="en-US" altLang="zh-CN" sz="1800" dirty="0" err="1">
                <a:latin typeface="Tahoma" pitchFamily="34" charset="0"/>
              </a:rPr>
              <a:t>i</a:t>
            </a:r>
            <a:r>
              <a:rPr lang="en-US" altLang="zh-CN" sz="1800" dirty="0">
                <a:latin typeface="Tahoma" pitchFamily="34" charset="0"/>
              </a:rPr>
              <a:t> = 2</a:t>
            </a:r>
          </a:p>
          <a:p>
            <a:pPr eaLnBrk="1" hangingPunct="1">
              <a:spcBef>
                <a:spcPct val="0"/>
              </a:spcBef>
              <a:buFontTx/>
              <a:buNone/>
            </a:pPr>
            <a:endParaRPr lang="en-US" altLang="zh-CN" sz="1000" dirty="0">
              <a:latin typeface="Tahoma" pitchFamily="34" charset="0"/>
            </a:endParaRPr>
          </a:p>
          <a:p>
            <a:pPr eaLnBrk="1" hangingPunct="1">
              <a:spcBef>
                <a:spcPct val="0"/>
              </a:spcBef>
              <a:buFontTx/>
              <a:buNone/>
            </a:pPr>
            <a:r>
              <a:rPr lang="en-US" altLang="zh-CN" sz="1800" dirty="0">
                <a:latin typeface="Tahoma" pitchFamily="34" charset="0"/>
              </a:rPr>
              <a:t>L1:  if </a:t>
            </a:r>
            <a:r>
              <a:rPr lang="en-US" altLang="zh-CN" sz="1800" dirty="0" err="1">
                <a:latin typeface="Tahoma" pitchFamily="34" charset="0"/>
              </a:rPr>
              <a:t>i</a:t>
            </a:r>
            <a:r>
              <a:rPr lang="en-US" altLang="zh-CN" sz="1800" dirty="0">
                <a:latin typeface="Tahoma" pitchFamily="34" charset="0"/>
              </a:rPr>
              <a:t> &lt;= m </a:t>
            </a:r>
            <a:r>
              <a:rPr lang="en-US" altLang="zh-CN" sz="1800" dirty="0" err="1">
                <a:latin typeface="Tahoma" pitchFamily="34" charset="0"/>
              </a:rPr>
              <a:t>goto</a:t>
            </a:r>
            <a:r>
              <a:rPr lang="en-US" altLang="zh-CN" sz="1800" dirty="0">
                <a:latin typeface="Tahoma" pitchFamily="34" charset="0"/>
              </a:rPr>
              <a:t> L2</a:t>
            </a:r>
          </a:p>
          <a:p>
            <a:pPr eaLnBrk="1" hangingPunct="1">
              <a:spcBef>
                <a:spcPct val="0"/>
              </a:spcBef>
              <a:buFontTx/>
              <a:buNone/>
            </a:pPr>
            <a:r>
              <a:rPr lang="en-US" altLang="zh-CN" sz="1200" dirty="0">
                <a:latin typeface="Tahoma" pitchFamily="34" charset="0"/>
              </a:rPr>
              <a:t>   </a:t>
            </a:r>
            <a:r>
              <a:rPr lang="en-US" altLang="zh-CN" sz="700" dirty="0">
                <a:latin typeface="Tahoma" pitchFamily="34" charset="0"/>
              </a:rPr>
              <a:t>   </a:t>
            </a:r>
            <a:endParaRPr lang="en-US" altLang="zh-CN" sz="1000" dirty="0">
              <a:latin typeface="Tahoma" pitchFamily="34" charset="0"/>
            </a:endParaRPr>
          </a:p>
          <a:p>
            <a:pPr eaLnBrk="1" hangingPunct="1">
              <a:spcBef>
                <a:spcPct val="0"/>
              </a:spcBef>
              <a:buFontTx/>
              <a:buNone/>
            </a:pPr>
            <a:r>
              <a:rPr lang="en-US" altLang="zh-CN" sz="1800" dirty="0">
                <a:latin typeface="Tahoma" pitchFamily="34" charset="0"/>
              </a:rPr>
              <a:t>      return f2</a:t>
            </a:r>
          </a:p>
          <a:p>
            <a:pPr eaLnBrk="1" hangingPunct="1">
              <a:spcBef>
                <a:spcPct val="0"/>
              </a:spcBef>
              <a:buFontTx/>
              <a:buNone/>
            </a:pPr>
            <a:endParaRPr lang="en-US" altLang="zh-CN" sz="1200" dirty="0">
              <a:latin typeface="Tahoma" pitchFamily="34" charset="0"/>
            </a:endParaRPr>
          </a:p>
          <a:p>
            <a:pPr eaLnBrk="1" hangingPunct="1">
              <a:spcBef>
                <a:spcPct val="0"/>
              </a:spcBef>
              <a:buFontTx/>
              <a:buNone/>
            </a:pPr>
            <a:r>
              <a:rPr lang="en-US" altLang="zh-CN" sz="1800" dirty="0">
                <a:latin typeface="Tahoma" pitchFamily="34" charset="0"/>
              </a:rPr>
              <a:t>L2:  f2 = f0 + f1</a:t>
            </a:r>
          </a:p>
          <a:p>
            <a:pPr eaLnBrk="1" hangingPunct="1">
              <a:spcBef>
                <a:spcPct val="0"/>
              </a:spcBef>
              <a:buFontTx/>
              <a:buNone/>
            </a:pPr>
            <a:r>
              <a:rPr lang="en-US" altLang="zh-CN" sz="1800" dirty="0">
                <a:latin typeface="Tahoma" pitchFamily="34" charset="0"/>
              </a:rPr>
              <a:t>      f0 = f1</a:t>
            </a:r>
          </a:p>
          <a:p>
            <a:pPr eaLnBrk="1" hangingPunct="1">
              <a:spcBef>
                <a:spcPct val="0"/>
              </a:spcBef>
              <a:buFontTx/>
              <a:buNone/>
            </a:pPr>
            <a:r>
              <a:rPr lang="en-US" altLang="zh-CN" sz="1800" dirty="0">
                <a:latin typeface="Tahoma" pitchFamily="34" charset="0"/>
              </a:rPr>
              <a:t>      f1 = f2</a:t>
            </a:r>
          </a:p>
          <a:p>
            <a:pPr eaLnBrk="1" hangingPunct="1">
              <a:spcBef>
                <a:spcPct val="0"/>
              </a:spcBef>
              <a:buFontTx/>
              <a:buNone/>
            </a:pPr>
            <a:r>
              <a:rPr lang="en-US" altLang="zh-CN" sz="1800" dirty="0">
                <a:latin typeface="Tahoma" pitchFamily="34" charset="0"/>
              </a:rPr>
              <a:t>      </a:t>
            </a:r>
            <a:r>
              <a:rPr lang="en-US" altLang="zh-CN" sz="1800" dirty="0" err="1">
                <a:latin typeface="Tahoma" pitchFamily="34" charset="0"/>
              </a:rPr>
              <a:t>i</a:t>
            </a:r>
            <a:r>
              <a:rPr lang="en-US" altLang="zh-CN" sz="1800" dirty="0">
                <a:latin typeface="Tahoma" pitchFamily="34" charset="0"/>
              </a:rPr>
              <a:t> = </a:t>
            </a:r>
            <a:r>
              <a:rPr lang="en-US" altLang="zh-CN" sz="1800" dirty="0" err="1">
                <a:latin typeface="Tahoma" pitchFamily="34" charset="0"/>
              </a:rPr>
              <a:t>i</a:t>
            </a:r>
            <a:r>
              <a:rPr lang="en-US" altLang="zh-CN" sz="1800" dirty="0">
                <a:latin typeface="Tahoma" pitchFamily="34" charset="0"/>
              </a:rPr>
              <a:t> +1</a:t>
            </a:r>
          </a:p>
          <a:p>
            <a:pPr eaLnBrk="1" hangingPunct="1">
              <a:spcBef>
                <a:spcPct val="0"/>
              </a:spcBef>
              <a:buFontTx/>
              <a:buNone/>
            </a:pPr>
            <a:r>
              <a:rPr lang="en-US" altLang="zh-CN" sz="1800" dirty="0">
                <a:latin typeface="Tahoma" pitchFamily="34" charset="0"/>
              </a:rPr>
              <a:t>      </a:t>
            </a:r>
            <a:r>
              <a:rPr lang="en-US" altLang="zh-CN" sz="1800" dirty="0" err="1">
                <a:latin typeface="Tahoma" pitchFamily="34" charset="0"/>
              </a:rPr>
              <a:t>goto</a:t>
            </a:r>
            <a:r>
              <a:rPr lang="en-US" altLang="zh-CN" sz="1800" dirty="0">
                <a:latin typeface="Tahoma" pitchFamily="34" charset="0"/>
              </a:rPr>
              <a:t> L1</a:t>
            </a:r>
          </a:p>
          <a:p>
            <a:pPr eaLnBrk="1" hangingPunct="1">
              <a:spcBef>
                <a:spcPct val="0"/>
              </a:spcBef>
              <a:buFontTx/>
              <a:buNone/>
            </a:pPr>
            <a:endParaRPr lang="en-US" altLang="zh-CN" sz="1200" dirty="0">
              <a:latin typeface="Tahoma" pitchFamily="34" charset="0"/>
            </a:endParaRPr>
          </a:p>
          <a:p>
            <a:pPr eaLnBrk="1" hangingPunct="1">
              <a:spcBef>
                <a:spcPct val="0"/>
              </a:spcBef>
              <a:buFontTx/>
              <a:buNone/>
            </a:pPr>
            <a:r>
              <a:rPr lang="en-US" altLang="zh-CN" sz="1800" dirty="0">
                <a:latin typeface="Tahoma" pitchFamily="34" charset="0"/>
              </a:rPr>
              <a:t>L3:  return m</a:t>
            </a:r>
          </a:p>
        </p:txBody>
      </p:sp>
      <p:sp>
        <p:nvSpPr>
          <p:cNvPr id="19461" name="Line 5"/>
          <p:cNvSpPr>
            <a:spLocks noChangeShapeType="1"/>
          </p:cNvSpPr>
          <p:nvPr/>
        </p:nvSpPr>
        <p:spPr bwMode="auto">
          <a:xfrm flipV="1">
            <a:off x="3104556" y="1388267"/>
            <a:ext cx="2526510" cy="23814"/>
          </a:xfrm>
          <a:prstGeom prst="line">
            <a:avLst/>
          </a:prstGeom>
          <a:noFill/>
          <a:ln w="19050">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62" name="Line 6"/>
          <p:cNvSpPr>
            <a:spLocks noChangeShapeType="1"/>
          </p:cNvSpPr>
          <p:nvPr/>
        </p:nvSpPr>
        <p:spPr bwMode="auto">
          <a:xfrm>
            <a:off x="3100588" y="1821659"/>
            <a:ext cx="2549527" cy="38097"/>
          </a:xfrm>
          <a:prstGeom prst="line">
            <a:avLst/>
          </a:prstGeom>
          <a:noFill/>
          <a:ln w="19050">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63" name="Line 7"/>
          <p:cNvSpPr>
            <a:spLocks noChangeShapeType="1"/>
          </p:cNvSpPr>
          <p:nvPr/>
        </p:nvSpPr>
        <p:spPr bwMode="auto">
          <a:xfrm flipV="1">
            <a:off x="3117260" y="4287418"/>
            <a:ext cx="2513805" cy="12524"/>
          </a:xfrm>
          <a:prstGeom prst="line">
            <a:avLst/>
          </a:prstGeom>
          <a:noFill/>
          <a:ln w="19050">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64" name="Line 8"/>
          <p:cNvSpPr>
            <a:spLocks noChangeShapeType="1"/>
          </p:cNvSpPr>
          <p:nvPr/>
        </p:nvSpPr>
        <p:spPr bwMode="auto">
          <a:xfrm flipV="1">
            <a:off x="3117260" y="2308101"/>
            <a:ext cx="2526508" cy="16669"/>
          </a:xfrm>
          <a:prstGeom prst="line">
            <a:avLst/>
          </a:prstGeom>
          <a:noFill/>
          <a:ln w="19050">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6921" name="Rectangle 9"/>
          <p:cNvSpPr>
            <a:spLocks noChangeArrowheads="1"/>
          </p:cNvSpPr>
          <p:nvPr/>
        </p:nvSpPr>
        <p:spPr bwMode="auto">
          <a:xfrm>
            <a:off x="5396269" y="697706"/>
            <a:ext cx="158596"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a:solidFill>
                  <a:srgbClr val="063DE8"/>
                </a:solidFill>
                <a:latin typeface="Monotype Corsiva" pitchFamily="66" charset="0"/>
              </a:rPr>
              <a:t>1</a:t>
            </a:r>
          </a:p>
        </p:txBody>
      </p:sp>
      <p:sp>
        <p:nvSpPr>
          <p:cNvPr id="166922" name="Rectangle 10"/>
          <p:cNvSpPr>
            <a:spLocks noChangeArrowheads="1"/>
          </p:cNvSpPr>
          <p:nvPr/>
        </p:nvSpPr>
        <p:spPr bwMode="auto">
          <a:xfrm>
            <a:off x="5472469" y="1440656"/>
            <a:ext cx="158596"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a:solidFill>
                  <a:srgbClr val="063DE8"/>
                </a:solidFill>
                <a:latin typeface="Monotype Corsiva" pitchFamily="66" charset="0"/>
              </a:rPr>
              <a:t>2</a:t>
            </a:r>
          </a:p>
        </p:txBody>
      </p:sp>
      <p:sp>
        <p:nvSpPr>
          <p:cNvPr id="166923" name="Rectangle 11"/>
          <p:cNvSpPr>
            <a:spLocks noChangeArrowheads="1"/>
          </p:cNvSpPr>
          <p:nvPr/>
        </p:nvSpPr>
        <p:spPr bwMode="auto">
          <a:xfrm>
            <a:off x="5493524" y="2069306"/>
            <a:ext cx="158596"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dirty="0">
                <a:solidFill>
                  <a:srgbClr val="063DE8"/>
                </a:solidFill>
                <a:latin typeface="Monotype Corsiva" pitchFamily="66" charset="0"/>
              </a:rPr>
              <a:t>3</a:t>
            </a:r>
          </a:p>
        </p:txBody>
      </p:sp>
      <p:sp>
        <p:nvSpPr>
          <p:cNvPr id="166924" name="Rectangle 12"/>
          <p:cNvSpPr>
            <a:spLocks noChangeArrowheads="1"/>
          </p:cNvSpPr>
          <p:nvPr/>
        </p:nvSpPr>
        <p:spPr bwMode="auto">
          <a:xfrm>
            <a:off x="5396269" y="2983706"/>
            <a:ext cx="158596"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dirty="0">
                <a:solidFill>
                  <a:srgbClr val="063DE8"/>
                </a:solidFill>
                <a:latin typeface="Monotype Corsiva" pitchFamily="66" charset="0"/>
              </a:rPr>
              <a:t>5</a:t>
            </a:r>
          </a:p>
        </p:txBody>
      </p:sp>
      <p:sp>
        <p:nvSpPr>
          <p:cNvPr id="166925" name="Rectangle 13"/>
          <p:cNvSpPr>
            <a:spLocks noChangeArrowheads="1"/>
          </p:cNvSpPr>
          <p:nvPr/>
        </p:nvSpPr>
        <p:spPr bwMode="auto">
          <a:xfrm>
            <a:off x="5396269" y="4183856"/>
            <a:ext cx="158596"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dirty="0">
                <a:solidFill>
                  <a:srgbClr val="063DE8"/>
                </a:solidFill>
                <a:latin typeface="Monotype Corsiva" pitchFamily="66" charset="0"/>
              </a:rPr>
              <a:t>6</a:t>
            </a:r>
          </a:p>
        </p:txBody>
      </p:sp>
      <p:sp>
        <p:nvSpPr>
          <p:cNvPr id="166938" name="AutoShape 26"/>
          <p:cNvSpPr>
            <a:spLocks noChangeArrowheads="1"/>
          </p:cNvSpPr>
          <p:nvPr/>
        </p:nvSpPr>
        <p:spPr bwMode="auto">
          <a:xfrm>
            <a:off x="4597379" y="551911"/>
            <a:ext cx="609601" cy="147631"/>
          </a:xfrm>
          <a:prstGeom prst="leftArrow">
            <a:avLst>
              <a:gd name="adj1" fmla="val 50000"/>
              <a:gd name="adj2" fmla="val 200000"/>
            </a:avLst>
          </a:prstGeom>
          <a:solidFill>
            <a:schemeClr val="accent1"/>
          </a:solidFill>
          <a:ln w="9525">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400"/>
          </a:p>
        </p:txBody>
      </p:sp>
      <p:sp>
        <p:nvSpPr>
          <p:cNvPr id="166939" name="AutoShape 27"/>
          <p:cNvSpPr>
            <a:spLocks noChangeArrowheads="1"/>
          </p:cNvSpPr>
          <p:nvPr/>
        </p:nvSpPr>
        <p:spPr bwMode="auto">
          <a:xfrm>
            <a:off x="4749780" y="1554956"/>
            <a:ext cx="614588" cy="152401"/>
          </a:xfrm>
          <a:prstGeom prst="leftArrow">
            <a:avLst>
              <a:gd name="adj1" fmla="val 50000"/>
              <a:gd name="adj2" fmla="val 200000"/>
            </a:avLst>
          </a:prstGeom>
          <a:solidFill>
            <a:schemeClr val="accent1"/>
          </a:solidFill>
          <a:ln w="9525">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400"/>
          </a:p>
        </p:txBody>
      </p:sp>
      <p:sp>
        <p:nvSpPr>
          <p:cNvPr id="166940" name="AutoShape 28"/>
          <p:cNvSpPr>
            <a:spLocks noChangeArrowheads="1"/>
          </p:cNvSpPr>
          <p:nvPr/>
        </p:nvSpPr>
        <p:spPr bwMode="auto">
          <a:xfrm>
            <a:off x="4825979" y="4298156"/>
            <a:ext cx="570289" cy="114299"/>
          </a:xfrm>
          <a:prstGeom prst="leftArrow">
            <a:avLst>
              <a:gd name="adj1" fmla="val 50000"/>
              <a:gd name="adj2" fmla="val 200000"/>
            </a:avLst>
          </a:prstGeom>
          <a:solidFill>
            <a:schemeClr val="accent1"/>
          </a:solidFill>
          <a:ln w="9525">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400"/>
          </a:p>
        </p:txBody>
      </p:sp>
      <p:sp>
        <p:nvSpPr>
          <p:cNvPr id="166941" name="AutoShape 29"/>
          <p:cNvSpPr>
            <a:spLocks noChangeArrowheads="1"/>
          </p:cNvSpPr>
          <p:nvPr/>
        </p:nvSpPr>
        <p:spPr bwMode="auto">
          <a:xfrm>
            <a:off x="4920343" y="1851670"/>
            <a:ext cx="652686" cy="159536"/>
          </a:xfrm>
          <a:prstGeom prst="leftArrow">
            <a:avLst>
              <a:gd name="adj1" fmla="val 50000"/>
              <a:gd name="adj2" fmla="val 200000"/>
            </a:avLst>
          </a:prstGeom>
          <a:solidFill>
            <a:schemeClr val="accent1"/>
          </a:solidFill>
          <a:ln w="9525">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400"/>
          </a:p>
        </p:txBody>
      </p:sp>
      <p:sp>
        <p:nvSpPr>
          <p:cNvPr id="166942" name="AutoShape 30"/>
          <p:cNvSpPr>
            <a:spLocks noChangeArrowheads="1"/>
          </p:cNvSpPr>
          <p:nvPr/>
        </p:nvSpPr>
        <p:spPr bwMode="auto">
          <a:xfrm>
            <a:off x="5054580" y="2499742"/>
            <a:ext cx="500286" cy="147636"/>
          </a:xfrm>
          <a:prstGeom prst="leftArrow">
            <a:avLst>
              <a:gd name="adj1" fmla="val 50000"/>
              <a:gd name="adj2" fmla="val 200000"/>
            </a:avLst>
          </a:prstGeom>
          <a:solidFill>
            <a:schemeClr val="accent1"/>
          </a:solidFill>
          <a:ln w="9525">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400"/>
          </a:p>
        </p:txBody>
      </p:sp>
      <p:sp>
        <p:nvSpPr>
          <p:cNvPr id="9" name="文本框 8">
            <a:extLst>
              <a:ext uri="{FF2B5EF4-FFF2-40B4-BE49-F238E27FC236}">
                <a16:creationId xmlns:a16="http://schemas.microsoft.com/office/drawing/2014/main" id="{A5A5290A-A928-8E0A-3719-493AF6885313}"/>
              </a:ext>
            </a:extLst>
          </p:cNvPr>
          <p:cNvSpPr txBox="1"/>
          <p:nvPr/>
        </p:nvSpPr>
        <p:spPr>
          <a:xfrm>
            <a:off x="42170" y="876360"/>
            <a:ext cx="3098840" cy="830997"/>
          </a:xfrm>
          <a:prstGeom prst="rect">
            <a:avLst/>
          </a:prstGeom>
          <a:noFill/>
        </p:spPr>
        <p:txBody>
          <a:bodyPr wrap="square">
            <a:spAutoFit/>
          </a:bodyPr>
          <a:lstStyle/>
          <a:p>
            <a:r>
              <a:rPr lang="zh-CN" altLang="en-US" sz="1600" dirty="0"/>
              <a:t>下面是求第</a:t>
            </a:r>
            <a:r>
              <a:rPr lang="en-US" altLang="zh-CN" sz="1600" dirty="0"/>
              <a:t>m</a:t>
            </a:r>
            <a:r>
              <a:rPr lang="zh-CN" altLang="en-US" sz="1600" dirty="0"/>
              <a:t>个斐波拉契数的函数，写出中间代码，划分基本块，画出流图</a:t>
            </a:r>
          </a:p>
        </p:txBody>
      </p:sp>
      <p:sp>
        <p:nvSpPr>
          <p:cNvPr id="10" name="文本框 9">
            <a:extLst>
              <a:ext uri="{FF2B5EF4-FFF2-40B4-BE49-F238E27FC236}">
                <a16:creationId xmlns:a16="http://schemas.microsoft.com/office/drawing/2014/main" id="{488B1C84-003F-2884-811C-6DBB7B686E9A}"/>
              </a:ext>
            </a:extLst>
          </p:cNvPr>
          <p:cNvSpPr txBox="1"/>
          <p:nvPr/>
        </p:nvSpPr>
        <p:spPr>
          <a:xfrm>
            <a:off x="201535" y="1676401"/>
            <a:ext cx="2602525" cy="3200876"/>
          </a:xfrm>
          <a:prstGeom prst="rect">
            <a:avLst/>
          </a:prstGeom>
          <a:solidFill>
            <a:schemeClr val="bg2"/>
          </a:solidFill>
          <a:ln>
            <a:solidFill>
              <a:schemeClr val="accent1"/>
            </a:solidFill>
          </a:ln>
        </p:spPr>
        <p:txBody>
          <a:bodyPr wrap="square" rtlCol="0">
            <a:spAutoFit/>
          </a:bodyPr>
          <a:lstStyle/>
          <a:p>
            <a:pPr>
              <a:lnSpc>
                <a:spcPct val="90000"/>
              </a:lnSpc>
            </a:pPr>
            <a:r>
              <a:rPr lang="en-US" altLang="zh-CN" sz="1600" dirty="0"/>
              <a:t>int fib(int m)</a:t>
            </a:r>
          </a:p>
          <a:p>
            <a:pPr>
              <a:lnSpc>
                <a:spcPct val="90000"/>
              </a:lnSpc>
            </a:pPr>
            <a:r>
              <a:rPr lang="en-US" altLang="zh-CN" sz="1600" dirty="0"/>
              <a:t>{</a:t>
            </a:r>
          </a:p>
          <a:p>
            <a:pPr>
              <a:lnSpc>
                <a:spcPct val="90000"/>
              </a:lnSpc>
            </a:pPr>
            <a:r>
              <a:rPr lang="en-US" altLang="zh-CN" sz="1600" dirty="0"/>
              <a:t>   int f0=0,f1=1,f2,i;</a:t>
            </a:r>
          </a:p>
          <a:p>
            <a:pPr>
              <a:lnSpc>
                <a:spcPct val="90000"/>
              </a:lnSpc>
            </a:pPr>
            <a:r>
              <a:rPr lang="en-US" altLang="zh-CN" sz="1600" dirty="0"/>
              <a:t>   if(m&lt;=1) </a:t>
            </a:r>
          </a:p>
          <a:p>
            <a:pPr>
              <a:lnSpc>
                <a:spcPct val="90000"/>
              </a:lnSpc>
            </a:pPr>
            <a:r>
              <a:rPr lang="en-US" altLang="zh-CN" sz="1600" dirty="0"/>
              <a:t>        return  m;</a:t>
            </a:r>
          </a:p>
          <a:p>
            <a:pPr>
              <a:lnSpc>
                <a:spcPct val="90000"/>
              </a:lnSpc>
            </a:pPr>
            <a:r>
              <a:rPr lang="en-US" altLang="zh-CN" sz="1600" dirty="0"/>
              <a:t>   else{</a:t>
            </a:r>
          </a:p>
          <a:p>
            <a:pPr>
              <a:lnSpc>
                <a:spcPct val="90000"/>
              </a:lnSpc>
            </a:pPr>
            <a:r>
              <a:rPr lang="en-US" altLang="zh-CN" sz="1600" dirty="0"/>
              <a:t>      for(</a:t>
            </a:r>
            <a:r>
              <a:rPr lang="en-US" altLang="zh-CN" sz="1600" dirty="0" err="1"/>
              <a:t>i</a:t>
            </a:r>
            <a:r>
              <a:rPr lang="en-US" altLang="zh-CN" sz="1600" dirty="0"/>
              <a:t>=2;i&lt;=m; </a:t>
            </a:r>
            <a:r>
              <a:rPr lang="en-US" altLang="zh-CN" sz="1600" dirty="0" err="1"/>
              <a:t>i</a:t>
            </a:r>
            <a:r>
              <a:rPr lang="en-US" altLang="zh-CN" sz="1600" dirty="0"/>
              <a:t>++){</a:t>
            </a:r>
          </a:p>
          <a:p>
            <a:pPr>
              <a:lnSpc>
                <a:spcPct val="90000"/>
              </a:lnSpc>
            </a:pPr>
            <a:r>
              <a:rPr lang="en-US" altLang="zh-CN" sz="1600" dirty="0"/>
              <a:t>         f2=f0+f1;</a:t>
            </a:r>
          </a:p>
          <a:p>
            <a:pPr>
              <a:lnSpc>
                <a:spcPct val="90000"/>
              </a:lnSpc>
            </a:pPr>
            <a:r>
              <a:rPr lang="en-US" altLang="zh-CN" sz="1600" dirty="0"/>
              <a:t>         f0=f1;</a:t>
            </a:r>
          </a:p>
          <a:p>
            <a:pPr>
              <a:lnSpc>
                <a:spcPct val="90000"/>
              </a:lnSpc>
            </a:pPr>
            <a:r>
              <a:rPr lang="en-US" altLang="zh-CN" sz="1600" dirty="0"/>
              <a:t>         f1=f2</a:t>
            </a:r>
          </a:p>
          <a:p>
            <a:pPr>
              <a:lnSpc>
                <a:spcPct val="90000"/>
              </a:lnSpc>
            </a:pPr>
            <a:r>
              <a:rPr lang="en-US" altLang="zh-CN" sz="1600" dirty="0"/>
              <a:t>      }</a:t>
            </a:r>
          </a:p>
          <a:p>
            <a:pPr>
              <a:lnSpc>
                <a:spcPct val="90000"/>
              </a:lnSpc>
            </a:pPr>
            <a:r>
              <a:rPr lang="en-US" altLang="zh-CN" sz="1600" dirty="0"/>
              <a:t>      return f2;</a:t>
            </a:r>
          </a:p>
          <a:p>
            <a:pPr>
              <a:lnSpc>
                <a:spcPct val="90000"/>
              </a:lnSpc>
            </a:pPr>
            <a:r>
              <a:rPr lang="en-US" altLang="zh-CN" sz="1600" dirty="0"/>
              <a:t>    }</a:t>
            </a:r>
          </a:p>
          <a:p>
            <a:pPr>
              <a:lnSpc>
                <a:spcPct val="90000"/>
              </a:lnSpc>
            </a:pPr>
            <a:r>
              <a:rPr lang="en-US" altLang="zh-CN" sz="1600" dirty="0"/>
              <a:t>}</a:t>
            </a:r>
            <a:endParaRPr lang="zh-CN" altLang="en-US" sz="1600" dirty="0"/>
          </a:p>
        </p:txBody>
      </p:sp>
      <p:sp>
        <p:nvSpPr>
          <p:cNvPr id="11" name="Line 8">
            <a:extLst>
              <a:ext uri="{FF2B5EF4-FFF2-40B4-BE49-F238E27FC236}">
                <a16:creationId xmlns:a16="http://schemas.microsoft.com/office/drawing/2014/main" id="{88A80C83-3000-ADFC-09ED-CCA6946760EC}"/>
              </a:ext>
            </a:extLst>
          </p:cNvPr>
          <p:cNvSpPr>
            <a:spLocks noChangeShapeType="1"/>
          </p:cNvSpPr>
          <p:nvPr/>
        </p:nvSpPr>
        <p:spPr bwMode="auto">
          <a:xfrm flipV="1">
            <a:off x="3117260" y="2716523"/>
            <a:ext cx="2526508" cy="15154"/>
          </a:xfrm>
          <a:prstGeom prst="line">
            <a:avLst/>
          </a:prstGeom>
          <a:noFill/>
          <a:ln w="19050">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 name="AutoShape 30">
            <a:extLst>
              <a:ext uri="{FF2B5EF4-FFF2-40B4-BE49-F238E27FC236}">
                <a16:creationId xmlns:a16="http://schemas.microsoft.com/office/drawing/2014/main" id="{6F9B6342-AEC7-BF4F-3DBD-2DDA8474612E}"/>
              </a:ext>
            </a:extLst>
          </p:cNvPr>
          <p:cNvSpPr>
            <a:spLocks noChangeArrowheads="1"/>
          </p:cNvSpPr>
          <p:nvPr/>
        </p:nvSpPr>
        <p:spPr bwMode="auto">
          <a:xfrm>
            <a:off x="5054580" y="2814038"/>
            <a:ext cx="500286" cy="147636"/>
          </a:xfrm>
          <a:prstGeom prst="leftArrow">
            <a:avLst>
              <a:gd name="adj1" fmla="val 50000"/>
              <a:gd name="adj2" fmla="val 200000"/>
            </a:avLst>
          </a:prstGeom>
          <a:solidFill>
            <a:schemeClr val="accent1"/>
          </a:solidFill>
          <a:ln w="9525">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400"/>
          </a:p>
        </p:txBody>
      </p:sp>
      <p:sp>
        <p:nvSpPr>
          <p:cNvPr id="13" name="Rectangle 12">
            <a:extLst>
              <a:ext uri="{FF2B5EF4-FFF2-40B4-BE49-F238E27FC236}">
                <a16:creationId xmlns:a16="http://schemas.microsoft.com/office/drawing/2014/main" id="{085862C0-19F5-923D-D376-2C730D0A5F9F}"/>
              </a:ext>
            </a:extLst>
          </p:cNvPr>
          <p:cNvSpPr>
            <a:spLocks noChangeArrowheads="1"/>
          </p:cNvSpPr>
          <p:nvPr/>
        </p:nvSpPr>
        <p:spPr bwMode="auto">
          <a:xfrm>
            <a:off x="5633092" y="2417126"/>
            <a:ext cx="158596"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dirty="0">
                <a:solidFill>
                  <a:srgbClr val="063DE8"/>
                </a:solidFill>
                <a:latin typeface="Monotype Corsiva" pitchFamily="66" charset="0"/>
              </a:rPr>
              <a:t>4</a:t>
            </a:r>
          </a:p>
        </p:txBody>
      </p:sp>
      <p:graphicFrame>
        <p:nvGraphicFramePr>
          <p:cNvPr id="15" name="对象 14">
            <a:extLst>
              <a:ext uri="{FF2B5EF4-FFF2-40B4-BE49-F238E27FC236}">
                <a16:creationId xmlns:a16="http://schemas.microsoft.com/office/drawing/2014/main" id="{3B954EEB-E9B3-2641-BDE5-5257DFE849F0}"/>
              </a:ext>
            </a:extLst>
          </p:cNvPr>
          <p:cNvGraphicFramePr>
            <a:graphicFrameLocks noChangeAspect="1"/>
          </p:cNvGraphicFramePr>
          <p:nvPr>
            <p:extLst>
              <p:ext uri="{D42A27DB-BD31-4B8C-83A1-F6EECF244321}">
                <p14:modId xmlns:p14="http://schemas.microsoft.com/office/powerpoint/2010/main" val="3238995431"/>
              </p:ext>
            </p:extLst>
          </p:nvPr>
        </p:nvGraphicFramePr>
        <p:xfrm>
          <a:off x="6042327" y="913757"/>
          <a:ext cx="3059503" cy="3602209"/>
        </p:xfrm>
        <a:graphic>
          <a:graphicData uri="http://schemas.openxmlformats.org/presentationml/2006/ole">
            <mc:AlternateContent xmlns:mc="http://schemas.openxmlformats.org/markup-compatibility/2006">
              <mc:Choice xmlns:v="urn:schemas-microsoft-com:vml" Requires="v">
                <p:oleObj name="Visio" r:id="rId3" imgW="4295923" imgH="5057878" progId="Visio.Drawing.15">
                  <p:embed/>
                </p:oleObj>
              </mc:Choice>
              <mc:Fallback>
                <p:oleObj name="Visio" r:id="rId3" imgW="4295923" imgH="5057878"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2327" y="913757"/>
                        <a:ext cx="3059503" cy="3602209"/>
                      </a:xfrm>
                      <a:prstGeom prst="rect">
                        <a:avLst/>
                      </a:prstGeom>
                      <a:noFill/>
                    </p:spPr>
                  </p:pic>
                </p:oleObj>
              </mc:Fallback>
            </mc:AlternateContent>
          </a:graphicData>
        </a:graphic>
      </p:graphicFrame>
    </p:spTree>
    <p:extLst>
      <p:ext uri="{BB962C8B-B14F-4D97-AF65-F5344CB8AC3E}">
        <p14:creationId xmlns:p14="http://schemas.microsoft.com/office/powerpoint/2010/main" val="35760856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9461"/>
                                        </p:tgtEl>
                                        <p:attrNameLst>
                                          <p:attrName>style.visibility</p:attrName>
                                        </p:attrNameLst>
                                      </p:cBhvr>
                                      <p:to>
                                        <p:strVal val="visible"/>
                                      </p:to>
                                    </p:set>
                                    <p:animEffect transition="in" filter="wipe(left)">
                                      <p:cBhvr>
                                        <p:cTn id="11" dur="500"/>
                                        <p:tgtEl>
                                          <p:spTgt spid="19461"/>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9462"/>
                                        </p:tgtEl>
                                        <p:attrNameLst>
                                          <p:attrName>style.visibility</p:attrName>
                                        </p:attrNameLst>
                                      </p:cBhvr>
                                      <p:to>
                                        <p:strVal val="visible"/>
                                      </p:to>
                                    </p:set>
                                    <p:animEffect transition="in" filter="wipe(left)">
                                      <p:cBhvr>
                                        <p:cTn id="14" dur="500"/>
                                        <p:tgtEl>
                                          <p:spTgt spid="19462"/>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9464"/>
                                        </p:tgtEl>
                                        <p:attrNameLst>
                                          <p:attrName>style.visibility</p:attrName>
                                        </p:attrNameLst>
                                      </p:cBhvr>
                                      <p:to>
                                        <p:strVal val="visible"/>
                                      </p:to>
                                    </p:set>
                                    <p:animEffect transition="in" filter="wipe(left)">
                                      <p:cBhvr>
                                        <p:cTn id="20" dur="500"/>
                                        <p:tgtEl>
                                          <p:spTgt spid="19464"/>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9463"/>
                                        </p:tgtEl>
                                        <p:attrNameLst>
                                          <p:attrName>style.visibility</p:attrName>
                                        </p:attrNameLst>
                                      </p:cBhvr>
                                      <p:to>
                                        <p:strVal val="visible"/>
                                      </p:to>
                                    </p:set>
                                    <p:animEffect transition="in" filter="wipe(left)">
                                      <p:cBhvr>
                                        <p:cTn id="23" dur="500"/>
                                        <p:tgtEl>
                                          <p:spTgt spid="19463"/>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66938"/>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166940"/>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166941"/>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166939"/>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166942"/>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166921"/>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166922"/>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grpId="0" nodeType="clickEffect">
                                  <p:stCondLst>
                                    <p:cond delay="0"/>
                                  </p:stCondLst>
                                  <p:childTnLst>
                                    <p:set>
                                      <p:cBhvr>
                                        <p:cTn id="55" dur="1" fill="hold">
                                          <p:stCondLst>
                                            <p:cond delay="499"/>
                                          </p:stCondLst>
                                        </p:cTn>
                                        <p:tgtEl>
                                          <p:spTgt spid="166923"/>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166924"/>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499"/>
                                          </p:stCondLst>
                                        </p:cTn>
                                        <p:tgtEl>
                                          <p:spTgt spid="16692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499"/>
                                          </p:stCondLst>
                                        </p:cTn>
                                        <p:tgtEl>
                                          <p:spTgt spid="12"/>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499"/>
                                          </p:stCondLst>
                                        </p:cTn>
                                        <p:tgtEl>
                                          <p:spTgt spid="13"/>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animBg="1"/>
      <p:bldP spid="19461" grpId="0" animBg="1"/>
      <p:bldP spid="19462" grpId="0" animBg="1"/>
      <p:bldP spid="19463" grpId="0" animBg="1"/>
      <p:bldP spid="19464" grpId="0" animBg="1"/>
      <p:bldP spid="166921" grpId="0" autoUpdateAnimBg="0"/>
      <p:bldP spid="166922" grpId="0" autoUpdateAnimBg="0"/>
      <p:bldP spid="166923" grpId="0" autoUpdateAnimBg="0"/>
      <p:bldP spid="166924" grpId="0" autoUpdateAnimBg="0"/>
      <p:bldP spid="166925" grpId="0" autoUpdateAnimBg="0"/>
      <p:bldP spid="166938" grpId="0" animBg="1"/>
      <p:bldP spid="166939" grpId="0" animBg="1"/>
      <p:bldP spid="166940" grpId="0" animBg="1"/>
      <p:bldP spid="166941" grpId="0" animBg="1"/>
      <p:bldP spid="166942" grpId="0" animBg="1"/>
      <p:bldP spid="11" grpId="0" animBg="1"/>
      <p:bldP spid="12" grpId="0" animBg="1"/>
      <p:bldP spid="13"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5943600" y="735806"/>
            <a:ext cx="2946400" cy="3257550"/>
            <a:chOff x="3312" y="1632"/>
            <a:chExt cx="1184" cy="1680"/>
          </a:xfrm>
        </p:grpSpPr>
        <p:sp>
          <p:nvSpPr>
            <p:cNvPr id="20505" name="Oval 5"/>
            <p:cNvSpPr>
              <a:spLocks noChangeArrowheads="1"/>
            </p:cNvSpPr>
            <p:nvPr/>
          </p:nvSpPr>
          <p:spPr bwMode="auto">
            <a:xfrm>
              <a:off x="3536" y="1632"/>
              <a:ext cx="240" cy="240"/>
            </a:xfrm>
            <a:prstGeom prst="ellipse">
              <a:avLst/>
            </a:prstGeom>
            <a:solidFill>
              <a:srgbClr val="EAEAEA"/>
            </a:solidFill>
            <a:ln w="19050">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800"/>
                <a:t>1</a:t>
              </a:r>
            </a:p>
          </p:txBody>
        </p:sp>
        <p:sp>
          <p:nvSpPr>
            <p:cNvPr id="20506" name="Oval 6"/>
            <p:cNvSpPr>
              <a:spLocks noChangeArrowheads="1"/>
            </p:cNvSpPr>
            <p:nvPr/>
          </p:nvSpPr>
          <p:spPr bwMode="auto">
            <a:xfrm>
              <a:off x="3536" y="2160"/>
              <a:ext cx="240" cy="240"/>
            </a:xfrm>
            <a:prstGeom prst="ellipse">
              <a:avLst/>
            </a:prstGeom>
            <a:solidFill>
              <a:srgbClr val="EAEAEA"/>
            </a:solidFill>
            <a:ln w="19050">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800"/>
                <a:t>2</a:t>
              </a:r>
            </a:p>
          </p:txBody>
        </p:sp>
        <p:sp>
          <p:nvSpPr>
            <p:cNvPr id="20507" name="Oval 7"/>
            <p:cNvSpPr>
              <a:spLocks noChangeArrowheads="1"/>
            </p:cNvSpPr>
            <p:nvPr/>
          </p:nvSpPr>
          <p:spPr bwMode="auto">
            <a:xfrm>
              <a:off x="3536" y="2640"/>
              <a:ext cx="240" cy="240"/>
            </a:xfrm>
            <a:prstGeom prst="ellipse">
              <a:avLst/>
            </a:prstGeom>
            <a:solidFill>
              <a:srgbClr val="EAEAEA"/>
            </a:solidFill>
            <a:ln w="19050">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800"/>
                <a:t>3</a:t>
              </a:r>
            </a:p>
          </p:txBody>
        </p:sp>
        <p:sp>
          <p:nvSpPr>
            <p:cNvPr id="20508" name="Oval 8"/>
            <p:cNvSpPr>
              <a:spLocks noChangeArrowheads="1"/>
            </p:cNvSpPr>
            <p:nvPr/>
          </p:nvSpPr>
          <p:spPr bwMode="auto">
            <a:xfrm>
              <a:off x="3536" y="3072"/>
              <a:ext cx="240" cy="240"/>
            </a:xfrm>
            <a:prstGeom prst="ellipse">
              <a:avLst/>
            </a:prstGeom>
            <a:solidFill>
              <a:srgbClr val="EAEAEA"/>
            </a:solidFill>
            <a:ln w="19050">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800"/>
                <a:t>4</a:t>
              </a:r>
            </a:p>
          </p:txBody>
        </p:sp>
        <p:sp>
          <p:nvSpPr>
            <p:cNvPr id="20509" name="Oval 9"/>
            <p:cNvSpPr>
              <a:spLocks noChangeArrowheads="1"/>
            </p:cNvSpPr>
            <p:nvPr/>
          </p:nvSpPr>
          <p:spPr bwMode="auto">
            <a:xfrm>
              <a:off x="4256" y="3024"/>
              <a:ext cx="240" cy="240"/>
            </a:xfrm>
            <a:prstGeom prst="ellipse">
              <a:avLst/>
            </a:prstGeom>
            <a:solidFill>
              <a:srgbClr val="EAEAEA"/>
            </a:solidFill>
            <a:ln w="19050">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800"/>
                <a:t>5</a:t>
              </a:r>
            </a:p>
          </p:txBody>
        </p:sp>
        <p:sp>
          <p:nvSpPr>
            <p:cNvPr id="20510" name="Line 10"/>
            <p:cNvSpPr>
              <a:spLocks noChangeShapeType="1"/>
            </p:cNvSpPr>
            <p:nvPr/>
          </p:nvSpPr>
          <p:spPr bwMode="auto">
            <a:xfrm flipH="1">
              <a:off x="3632" y="1872"/>
              <a:ext cx="0" cy="288"/>
            </a:xfrm>
            <a:prstGeom prst="line">
              <a:avLst/>
            </a:prstGeom>
            <a:noFill/>
            <a:ln w="19050">
              <a:solidFill>
                <a:schemeClr val="tx1"/>
              </a:solidFill>
              <a:miter lim="800000"/>
              <a:headEnd/>
              <a:tailEnd type="stealth" w="sm" len="med"/>
            </a:ln>
            <a:extLst>
              <a:ext uri="{909E8E84-426E-40DD-AFC4-6F175D3DCCD1}">
                <a14:hiddenFill xmlns:a14="http://schemas.microsoft.com/office/drawing/2010/main">
                  <a:noFill/>
                </a14:hiddenFill>
              </a:ext>
            </a:extLst>
          </p:spPr>
          <p:txBody>
            <a:bodyPr wrap="none"/>
            <a:lstStyle/>
            <a:p>
              <a:endParaRPr lang="zh-CN" altLang="en-US"/>
            </a:p>
          </p:txBody>
        </p:sp>
        <p:sp>
          <p:nvSpPr>
            <p:cNvPr id="20511" name="Line 11"/>
            <p:cNvSpPr>
              <a:spLocks noChangeShapeType="1"/>
            </p:cNvSpPr>
            <p:nvPr/>
          </p:nvSpPr>
          <p:spPr bwMode="auto">
            <a:xfrm flipH="1">
              <a:off x="3632" y="2400"/>
              <a:ext cx="0" cy="240"/>
            </a:xfrm>
            <a:prstGeom prst="line">
              <a:avLst/>
            </a:prstGeom>
            <a:noFill/>
            <a:ln w="19050">
              <a:solidFill>
                <a:schemeClr val="tx1"/>
              </a:solidFill>
              <a:miter lim="800000"/>
              <a:headEnd/>
              <a:tailEnd type="stealth" w="sm" len="med"/>
            </a:ln>
            <a:extLst>
              <a:ext uri="{909E8E84-426E-40DD-AFC4-6F175D3DCCD1}">
                <a14:hiddenFill xmlns:a14="http://schemas.microsoft.com/office/drawing/2010/main">
                  <a:noFill/>
                </a14:hiddenFill>
              </a:ext>
            </a:extLst>
          </p:spPr>
          <p:txBody>
            <a:bodyPr wrap="none"/>
            <a:lstStyle/>
            <a:p>
              <a:endParaRPr lang="zh-CN" altLang="en-US"/>
            </a:p>
          </p:txBody>
        </p:sp>
        <p:sp>
          <p:nvSpPr>
            <p:cNvPr id="20512" name="Line 12"/>
            <p:cNvSpPr>
              <a:spLocks noChangeShapeType="1"/>
            </p:cNvSpPr>
            <p:nvPr/>
          </p:nvSpPr>
          <p:spPr bwMode="auto">
            <a:xfrm>
              <a:off x="3632" y="2880"/>
              <a:ext cx="0" cy="192"/>
            </a:xfrm>
            <a:prstGeom prst="line">
              <a:avLst/>
            </a:prstGeom>
            <a:noFill/>
            <a:ln w="19050">
              <a:solidFill>
                <a:schemeClr val="tx1"/>
              </a:solidFill>
              <a:miter lim="800000"/>
              <a:headEnd/>
              <a:tailEnd type="stealth" w="sm" len="med"/>
            </a:ln>
            <a:extLst>
              <a:ext uri="{909E8E84-426E-40DD-AFC4-6F175D3DCCD1}">
                <a14:hiddenFill xmlns:a14="http://schemas.microsoft.com/office/drawing/2010/main">
                  <a:noFill/>
                </a14:hiddenFill>
              </a:ext>
            </a:extLst>
          </p:spPr>
          <p:txBody>
            <a:bodyPr wrap="none"/>
            <a:lstStyle/>
            <a:p>
              <a:endParaRPr lang="zh-CN" altLang="en-US"/>
            </a:p>
          </p:txBody>
        </p:sp>
        <p:sp>
          <p:nvSpPr>
            <p:cNvPr id="20513" name="Line 13"/>
            <p:cNvSpPr>
              <a:spLocks noChangeShapeType="1"/>
            </p:cNvSpPr>
            <p:nvPr/>
          </p:nvSpPr>
          <p:spPr bwMode="auto">
            <a:xfrm>
              <a:off x="3776" y="2771"/>
              <a:ext cx="528" cy="253"/>
            </a:xfrm>
            <a:prstGeom prst="line">
              <a:avLst/>
            </a:prstGeom>
            <a:noFill/>
            <a:ln w="19050">
              <a:solidFill>
                <a:schemeClr val="tx1"/>
              </a:solidFill>
              <a:miter lim="800000"/>
              <a:headEnd/>
              <a:tailEnd type="stealth" w="sm" len="med"/>
            </a:ln>
            <a:extLst>
              <a:ext uri="{909E8E84-426E-40DD-AFC4-6F175D3DCCD1}">
                <a14:hiddenFill xmlns:a14="http://schemas.microsoft.com/office/drawing/2010/main">
                  <a:noFill/>
                </a14:hiddenFill>
              </a:ext>
            </a:extLst>
          </p:spPr>
          <p:txBody>
            <a:bodyPr wrap="none"/>
            <a:lstStyle/>
            <a:p>
              <a:endParaRPr lang="zh-CN" altLang="en-US"/>
            </a:p>
          </p:txBody>
        </p:sp>
        <p:sp>
          <p:nvSpPr>
            <p:cNvPr id="20514" name="Line 14"/>
            <p:cNvSpPr>
              <a:spLocks noChangeShapeType="1"/>
            </p:cNvSpPr>
            <p:nvPr/>
          </p:nvSpPr>
          <p:spPr bwMode="auto">
            <a:xfrm>
              <a:off x="3728" y="1872"/>
              <a:ext cx="624" cy="1152"/>
            </a:xfrm>
            <a:prstGeom prst="line">
              <a:avLst/>
            </a:prstGeom>
            <a:noFill/>
            <a:ln w="19050">
              <a:solidFill>
                <a:schemeClr val="tx1"/>
              </a:solidFill>
              <a:miter lim="800000"/>
              <a:headEnd/>
              <a:tailEnd type="stealth" w="sm" len="med"/>
            </a:ln>
            <a:extLst>
              <a:ext uri="{909E8E84-426E-40DD-AFC4-6F175D3DCCD1}">
                <a14:hiddenFill xmlns:a14="http://schemas.microsoft.com/office/drawing/2010/main">
                  <a:noFill/>
                </a14:hiddenFill>
              </a:ext>
            </a:extLst>
          </p:spPr>
          <p:txBody>
            <a:bodyPr wrap="none"/>
            <a:lstStyle/>
            <a:p>
              <a:endParaRPr lang="zh-CN" altLang="en-US"/>
            </a:p>
          </p:txBody>
        </p:sp>
        <p:sp>
          <p:nvSpPr>
            <p:cNvPr id="20515" name="Freeform 15"/>
            <p:cNvSpPr>
              <a:spLocks/>
            </p:cNvSpPr>
            <p:nvPr/>
          </p:nvSpPr>
          <p:spPr bwMode="auto">
            <a:xfrm>
              <a:off x="3312" y="2688"/>
              <a:ext cx="224" cy="552"/>
            </a:xfrm>
            <a:custGeom>
              <a:avLst/>
              <a:gdLst>
                <a:gd name="T0" fmla="*/ 224 w 224"/>
                <a:gd name="T1" fmla="*/ 25 h 1536"/>
                <a:gd name="T2" fmla="*/ 32 w 224"/>
                <a:gd name="T3" fmla="*/ 22 h 1536"/>
                <a:gd name="T4" fmla="*/ 32 w 224"/>
                <a:gd name="T5" fmla="*/ 4 h 1536"/>
                <a:gd name="T6" fmla="*/ 224 w 224"/>
                <a:gd name="T7" fmla="*/ 0 h 1536"/>
                <a:gd name="T8" fmla="*/ 0 60000 65536"/>
                <a:gd name="T9" fmla="*/ 0 60000 65536"/>
                <a:gd name="T10" fmla="*/ 0 60000 65536"/>
                <a:gd name="T11" fmla="*/ 0 60000 65536"/>
                <a:gd name="T12" fmla="*/ 0 w 224"/>
                <a:gd name="T13" fmla="*/ 0 h 1536"/>
                <a:gd name="T14" fmla="*/ 224 w 224"/>
                <a:gd name="T15" fmla="*/ 1536 h 1536"/>
              </a:gdLst>
              <a:ahLst/>
              <a:cxnLst>
                <a:cxn ang="T8">
                  <a:pos x="T0" y="T1"/>
                </a:cxn>
                <a:cxn ang="T9">
                  <a:pos x="T2" y="T3"/>
                </a:cxn>
                <a:cxn ang="T10">
                  <a:pos x="T4" y="T5"/>
                </a:cxn>
                <a:cxn ang="T11">
                  <a:pos x="T6" y="T7"/>
                </a:cxn>
              </a:cxnLst>
              <a:rect l="T12" t="T13" r="T14" b="T15"/>
              <a:pathLst>
                <a:path w="224" h="1536">
                  <a:moveTo>
                    <a:pt x="224" y="1512"/>
                  </a:moveTo>
                  <a:cubicBezTo>
                    <a:pt x="144" y="1524"/>
                    <a:pt x="64" y="1536"/>
                    <a:pt x="32" y="1320"/>
                  </a:cubicBezTo>
                  <a:cubicBezTo>
                    <a:pt x="0" y="1104"/>
                    <a:pt x="0" y="432"/>
                    <a:pt x="32" y="216"/>
                  </a:cubicBezTo>
                  <a:cubicBezTo>
                    <a:pt x="64" y="0"/>
                    <a:pt x="192" y="56"/>
                    <a:pt x="224" y="24"/>
                  </a:cubicBezTo>
                </a:path>
              </a:pathLst>
            </a:custGeom>
            <a:noFill/>
            <a:ln w="19050"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3" name="组合 2"/>
          <p:cNvGrpSpPr/>
          <p:nvPr/>
        </p:nvGrpSpPr>
        <p:grpSpPr>
          <a:xfrm>
            <a:off x="1219200" y="86916"/>
            <a:ext cx="3733800" cy="4541044"/>
            <a:chOff x="1219200" y="86916"/>
            <a:chExt cx="3733800" cy="4541044"/>
          </a:xfrm>
        </p:grpSpPr>
        <p:grpSp>
          <p:nvGrpSpPr>
            <p:cNvPr id="20483" name="Group 41"/>
            <p:cNvGrpSpPr>
              <a:grpSpLocks/>
            </p:cNvGrpSpPr>
            <p:nvPr/>
          </p:nvGrpSpPr>
          <p:grpSpPr bwMode="auto">
            <a:xfrm>
              <a:off x="1219200" y="86916"/>
              <a:ext cx="3733800" cy="4541044"/>
              <a:chOff x="768" y="240"/>
              <a:chExt cx="2352" cy="3814"/>
            </a:xfrm>
          </p:grpSpPr>
          <p:sp>
            <p:nvSpPr>
              <p:cNvPr id="20484" name="Rectangle 16"/>
              <p:cNvSpPr>
                <a:spLocks noChangeArrowheads="1"/>
              </p:cNvSpPr>
              <p:nvPr/>
            </p:nvSpPr>
            <p:spPr bwMode="auto">
              <a:xfrm>
                <a:off x="1104" y="240"/>
                <a:ext cx="1632" cy="77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800" dirty="0">
                    <a:latin typeface="Tahoma" pitchFamily="34" charset="0"/>
                  </a:rPr>
                  <a:t>f0 = 0</a:t>
                </a:r>
              </a:p>
              <a:p>
                <a:pPr eaLnBrk="1" hangingPunct="1">
                  <a:spcBef>
                    <a:spcPct val="0"/>
                  </a:spcBef>
                  <a:buFontTx/>
                  <a:buNone/>
                </a:pPr>
                <a:r>
                  <a:rPr lang="en-US" altLang="zh-CN" sz="1800" dirty="0">
                    <a:latin typeface="Tahoma" pitchFamily="34" charset="0"/>
                  </a:rPr>
                  <a:t>f1 = 1</a:t>
                </a:r>
              </a:p>
              <a:p>
                <a:pPr eaLnBrk="1" hangingPunct="1">
                  <a:spcBef>
                    <a:spcPct val="0"/>
                  </a:spcBef>
                  <a:buFontTx/>
                  <a:buNone/>
                </a:pPr>
                <a:r>
                  <a:rPr lang="en-US" altLang="zh-CN" sz="1800" dirty="0">
                    <a:latin typeface="Tahoma" pitchFamily="34" charset="0"/>
                  </a:rPr>
                  <a:t>if  m&lt;=1 </a:t>
                </a:r>
                <a:r>
                  <a:rPr lang="en-US" altLang="zh-CN" sz="1800" dirty="0" err="1">
                    <a:latin typeface="Tahoma" pitchFamily="34" charset="0"/>
                  </a:rPr>
                  <a:t>goto</a:t>
                </a:r>
                <a:r>
                  <a:rPr lang="en-US" altLang="zh-CN" sz="1800" dirty="0">
                    <a:latin typeface="Tahoma" pitchFamily="34" charset="0"/>
                  </a:rPr>
                  <a:t> L3</a:t>
                </a:r>
              </a:p>
            </p:txBody>
          </p:sp>
          <p:sp>
            <p:nvSpPr>
              <p:cNvPr id="20485" name="Rectangle 17"/>
              <p:cNvSpPr>
                <a:spLocks noChangeArrowheads="1"/>
              </p:cNvSpPr>
              <p:nvPr/>
            </p:nvSpPr>
            <p:spPr bwMode="auto">
              <a:xfrm>
                <a:off x="1392" y="1200"/>
                <a:ext cx="426" cy="3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800">
                    <a:latin typeface="Tahoma" pitchFamily="34" charset="0"/>
                  </a:rPr>
                  <a:t>i = 2</a:t>
                </a:r>
              </a:p>
            </p:txBody>
          </p:sp>
          <p:sp>
            <p:nvSpPr>
              <p:cNvPr id="20486" name="Rectangle 18"/>
              <p:cNvSpPr>
                <a:spLocks noChangeArrowheads="1"/>
              </p:cNvSpPr>
              <p:nvPr/>
            </p:nvSpPr>
            <p:spPr bwMode="auto">
              <a:xfrm>
                <a:off x="912" y="1776"/>
                <a:ext cx="1480" cy="3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800">
                    <a:latin typeface="Tahoma" pitchFamily="34" charset="0"/>
                  </a:rPr>
                  <a:t>L1:if  i &lt;= m goto L3</a:t>
                </a:r>
              </a:p>
            </p:txBody>
          </p:sp>
          <p:sp>
            <p:nvSpPr>
              <p:cNvPr id="20487" name="Rectangle 19"/>
              <p:cNvSpPr>
                <a:spLocks noChangeArrowheads="1"/>
              </p:cNvSpPr>
              <p:nvPr/>
            </p:nvSpPr>
            <p:spPr bwMode="auto">
              <a:xfrm>
                <a:off x="1008" y="2352"/>
                <a:ext cx="1440" cy="124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800">
                    <a:latin typeface="Tahoma" pitchFamily="34" charset="0"/>
                  </a:rPr>
                  <a:t>L2:f2 = f0 + f1</a:t>
                </a:r>
              </a:p>
              <a:p>
                <a:pPr eaLnBrk="1" hangingPunct="1">
                  <a:spcBef>
                    <a:spcPct val="0"/>
                  </a:spcBef>
                  <a:buFontTx/>
                  <a:buNone/>
                </a:pPr>
                <a:r>
                  <a:rPr lang="en-US" altLang="zh-CN" sz="1800">
                    <a:latin typeface="Tahoma" pitchFamily="34" charset="0"/>
                  </a:rPr>
                  <a:t>f0 = f1</a:t>
                </a:r>
              </a:p>
              <a:p>
                <a:pPr eaLnBrk="1" hangingPunct="1">
                  <a:spcBef>
                    <a:spcPct val="0"/>
                  </a:spcBef>
                  <a:buFontTx/>
                  <a:buNone/>
                </a:pPr>
                <a:r>
                  <a:rPr lang="en-US" altLang="zh-CN" sz="1800">
                    <a:latin typeface="Tahoma" pitchFamily="34" charset="0"/>
                  </a:rPr>
                  <a:t>f1 = f2</a:t>
                </a:r>
              </a:p>
              <a:p>
                <a:pPr eaLnBrk="1" hangingPunct="1">
                  <a:spcBef>
                    <a:spcPct val="0"/>
                  </a:spcBef>
                  <a:buFontTx/>
                  <a:buNone/>
                </a:pPr>
                <a:r>
                  <a:rPr lang="en-US" altLang="zh-CN" sz="1800">
                    <a:latin typeface="Tahoma" pitchFamily="34" charset="0"/>
                  </a:rPr>
                  <a:t>i = i +1</a:t>
                </a:r>
              </a:p>
              <a:p>
                <a:pPr eaLnBrk="1" hangingPunct="1">
                  <a:spcBef>
                    <a:spcPct val="0"/>
                  </a:spcBef>
                  <a:buFontTx/>
                  <a:buNone/>
                </a:pPr>
                <a:r>
                  <a:rPr lang="en-US" altLang="zh-CN" sz="1800">
                    <a:latin typeface="Tahoma" pitchFamily="34" charset="0"/>
                  </a:rPr>
                  <a:t>goto L1</a:t>
                </a:r>
              </a:p>
            </p:txBody>
          </p:sp>
          <p:sp>
            <p:nvSpPr>
              <p:cNvPr id="20488" name="Rectangle 20"/>
              <p:cNvSpPr>
                <a:spLocks noChangeArrowheads="1"/>
              </p:cNvSpPr>
              <p:nvPr/>
            </p:nvSpPr>
            <p:spPr bwMode="auto">
              <a:xfrm>
                <a:off x="1056" y="3744"/>
                <a:ext cx="1248" cy="3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800">
                    <a:latin typeface="Tahoma" pitchFamily="34" charset="0"/>
                  </a:rPr>
                  <a:t>L3: return m</a:t>
                </a:r>
              </a:p>
            </p:txBody>
          </p:sp>
          <p:sp>
            <p:nvSpPr>
              <p:cNvPr id="20489" name="Line 21"/>
              <p:cNvSpPr>
                <a:spLocks noChangeShapeType="1"/>
              </p:cNvSpPr>
              <p:nvPr/>
            </p:nvSpPr>
            <p:spPr bwMode="auto">
              <a:xfrm>
                <a:off x="1584" y="1008"/>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20490" name="Line 22"/>
              <p:cNvSpPr>
                <a:spLocks noChangeShapeType="1"/>
              </p:cNvSpPr>
              <p:nvPr/>
            </p:nvSpPr>
            <p:spPr bwMode="auto">
              <a:xfrm>
                <a:off x="1584" y="1488"/>
                <a:ext cx="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20491" name="Line 23"/>
              <p:cNvSpPr>
                <a:spLocks noChangeShapeType="1"/>
              </p:cNvSpPr>
              <p:nvPr/>
            </p:nvSpPr>
            <p:spPr bwMode="auto">
              <a:xfrm>
                <a:off x="1584" y="2064"/>
                <a:ext cx="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20492" name="Line 26"/>
              <p:cNvSpPr>
                <a:spLocks noChangeShapeType="1"/>
              </p:cNvSpPr>
              <p:nvPr/>
            </p:nvSpPr>
            <p:spPr bwMode="auto">
              <a:xfrm>
                <a:off x="2736" y="912"/>
                <a:ext cx="3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20493" name="Line 27"/>
              <p:cNvSpPr>
                <a:spLocks noChangeShapeType="1"/>
              </p:cNvSpPr>
              <p:nvPr/>
            </p:nvSpPr>
            <p:spPr bwMode="auto">
              <a:xfrm>
                <a:off x="3120" y="912"/>
                <a:ext cx="0" cy="30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20494" name="Line 28"/>
              <p:cNvSpPr>
                <a:spLocks noChangeShapeType="1"/>
              </p:cNvSpPr>
              <p:nvPr/>
            </p:nvSpPr>
            <p:spPr bwMode="auto">
              <a:xfrm>
                <a:off x="2736" y="1964"/>
                <a:ext cx="0" cy="18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20495" name="Line 29"/>
              <p:cNvSpPr>
                <a:spLocks noChangeShapeType="1"/>
              </p:cNvSpPr>
              <p:nvPr/>
            </p:nvSpPr>
            <p:spPr bwMode="auto">
              <a:xfrm flipH="1">
                <a:off x="768" y="2928"/>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20496" name="Line 30"/>
              <p:cNvSpPr>
                <a:spLocks noChangeShapeType="1"/>
              </p:cNvSpPr>
              <p:nvPr/>
            </p:nvSpPr>
            <p:spPr bwMode="auto">
              <a:xfrm flipV="1">
                <a:off x="768" y="2016"/>
                <a:ext cx="0" cy="9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20497" name="Line 31"/>
              <p:cNvSpPr>
                <a:spLocks noChangeShapeType="1"/>
              </p:cNvSpPr>
              <p:nvPr/>
            </p:nvSpPr>
            <p:spPr bwMode="auto">
              <a:xfrm>
                <a:off x="768" y="2016"/>
                <a:ext cx="1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20498" name="Rectangle 34"/>
              <p:cNvSpPr>
                <a:spLocks noChangeArrowheads="1"/>
              </p:cNvSpPr>
              <p:nvPr/>
            </p:nvSpPr>
            <p:spPr bwMode="auto">
              <a:xfrm>
                <a:off x="2496" y="288"/>
                <a:ext cx="180"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400">
                    <a:solidFill>
                      <a:srgbClr val="063DE8"/>
                    </a:solidFill>
                    <a:latin typeface="Monotype Corsiva" pitchFamily="66" charset="0"/>
                  </a:rPr>
                  <a:t>1</a:t>
                </a:r>
              </a:p>
            </p:txBody>
          </p:sp>
          <p:sp>
            <p:nvSpPr>
              <p:cNvPr id="20499" name="Rectangle 35"/>
              <p:cNvSpPr>
                <a:spLocks noChangeArrowheads="1"/>
              </p:cNvSpPr>
              <p:nvPr/>
            </p:nvSpPr>
            <p:spPr bwMode="auto">
              <a:xfrm>
                <a:off x="1968" y="1200"/>
                <a:ext cx="180"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400">
                    <a:solidFill>
                      <a:srgbClr val="063DE8"/>
                    </a:solidFill>
                    <a:latin typeface="Monotype Corsiva" pitchFamily="66" charset="0"/>
                  </a:rPr>
                  <a:t>2</a:t>
                </a:r>
              </a:p>
            </p:txBody>
          </p:sp>
          <p:sp>
            <p:nvSpPr>
              <p:cNvPr id="20500" name="Rectangle 36"/>
              <p:cNvSpPr>
                <a:spLocks noChangeArrowheads="1"/>
              </p:cNvSpPr>
              <p:nvPr/>
            </p:nvSpPr>
            <p:spPr bwMode="auto">
              <a:xfrm>
                <a:off x="2844" y="1776"/>
                <a:ext cx="180"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400">
                    <a:solidFill>
                      <a:srgbClr val="063DE8"/>
                    </a:solidFill>
                    <a:latin typeface="Monotype Corsiva" pitchFamily="66" charset="0"/>
                  </a:rPr>
                  <a:t>3</a:t>
                </a:r>
              </a:p>
            </p:txBody>
          </p:sp>
          <p:sp>
            <p:nvSpPr>
              <p:cNvPr id="20501" name="Rectangle 37"/>
              <p:cNvSpPr>
                <a:spLocks noChangeArrowheads="1"/>
              </p:cNvSpPr>
              <p:nvPr/>
            </p:nvSpPr>
            <p:spPr bwMode="auto">
              <a:xfrm>
                <a:off x="2208" y="2640"/>
                <a:ext cx="180"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400">
                    <a:solidFill>
                      <a:srgbClr val="063DE8"/>
                    </a:solidFill>
                    <a:latin typeface="Monotype Corsiva" pitchFamily="66" charset="0"/>
                  </a:rPr>
                  <a:t>4</a:t>
                </a:r>
              </a:p>
            </p:txBody>
          </p:sp>
          <p:sp>
            <p:nvSpPr>
              <p:cNvPr id="20502" name="Rectangle 38"/>
              <p:cNvSpPr>
                <a:spLocks noChangeArrowheads="1"/>
              </p:cNvSpPr>
              <p:nvPr/>
            </p:nvSpPr>
            <p:spPr bwMode="auto">
              <a:xfrm>
                <a:off x="2448" y="3600"/>
                <a:ext cx="180"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400">
                    <a:solidFill>
                      <a:srgbClr val="063DE8"/>
                    </a:solidFill>
                    <a:latin typeface="Monotype Corsiva" pitchFamily="66" charset="0"/>
                  </a:rPr>
                  <a:t>5</a:t>
                </a:r>
              </a:p>
            </p:txBody>
          </p:sp>
          <p:sp>
            <p:nvSpPr>
              <p:cNvPr id="20503" name="Line 39"/>
              <p:cNvSpPr>
                <a:spLocks noChangeShapeType="1"/>
              </p:cNvSpPr>
              <p:nvPr/>
            </p:nvSpPr>
            <p:spPr bwMode="auto">
              <a:xfrm flipH="1">
                <a:off x="2304" y="3840"/>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20504" name="Line 40"/>
              <p:cNvSpPr>
                <a:spLocks noChangeShapeType="1"/>
              </p:cNvSpPr>
              <p:nvPr/>
            </p:nvSpPr>
            <p:spPr bwMode="auto">
              <a:xfrm flipH="1">
                <a:off x="2304" y="3936"/>
                <a:ext cx="81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grpSp>
        <p:sp>
          <p:nvSpPr>
            <p:cNvPr id="36" name="Line 26"/>
            <p:cNvSpPr>
              <a:spLocks noChangeShapeType="1"/>
            </p:cNvSpPr>
            <p:nvPr/>
          </p:nvSpPr>
          <p:spPr bwMode="auto">
            <a:xfrm>
              <a:off x="3818384" y="2139870"/>
              <a:ext cx="52501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grpSp>
    </p:spTree>
    <p:extLst>
      <p:ext uri="{BB962C8B-B14F-4D97-AF65-F5344CB8AC3E}">
        <p14:creationId xmlns:p14="http://schemas.microsoft.com/office/powerpoint/2010/main" val="16577632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4867276" y="37423"/>
            <a:ext cx="4303364" cy="2998313"/>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a:spcBef>
                <a:spcPts val="0"/>
              </a:spcBef>
              <a:buFontTx/>
              <a:buNone/>
            </a:pPr>
            <a:r>
              <a:rPr lang="zh-CN" altLang="en-US" sz="1600" b="1" dirty="0"/>
              <a:t>首先确定入口语句：</a:t>
            </a:r>
          </a:p>
          <a:p>
            <a:pPr>
              <a:spcBef>
                <a:spcPts val="0"/>
              </a:spcBef>
            </a:pPr>
            <a:r>
              <a:rPr lang="en-US" altLang="zh-CN" sz="1600" dirty="0"/>
              <a:t>1</a:t>
            </a:r>
            <a:r>
              <a:rPr lang="zh-CN" altLang="en-US" sz="1600" dirty="0"/>
              <a:t>．程序的</a:t>
            </a:r>
            <a:r>
              <a:rPr lang="zh-CN" altLang="en-US" sz="1600" b="1" dirty="0">
                <a:solidFill>
                  <a:srgbClr val="FF0000"/>
                </a:solidFill>
              </a:rPr>
              <a:t>第一个语句</a:t>
            </a:r>
            <a:r>
              <a:rPr lang="zh-CN" altLang="en-US" sz="1600" dirty="0"/>
              <a:t>；</a:t>
            </a:r>
          </a:p>
          <a:p>
            <a:pPr>
              <a:spcBef>
                <a:spcPts val="0"/>
              </a:spcBef>
            </a:pPr>
            <a:r>
              <a:rPr lang="en-US" altLang="zh-CN" sz="1600" dirty="0"/>
              <a:t>2</a:t>
            </a:r>
            <a:r>
              <a:rPr lang="zh-CN" altLang="en-US" sz="1600" dirty="0"/>
              <a:t>．条件转移语句或无条件转移语句的</a:t>
            </a:r>
            <a:r>
              <a:rPr lang="zh-CN" altLang="en-US" sz="1600" b="1" dirty="0">
                <a:solidFill>
                  <a:srgbClr val="FF0000"/>
                </a:solidFill>
              </a:rPr>
              <a:t>转移目标语句</a:t>
            </a:r>
            <a:r>
              <a:rPr lang="zh-CN" altLang="en-US" sz="1600" dirty="0"/>
              <a:t>（转移语句包括各种控制的转向，如</a:t>
            </a:r>
            <a:r>
              <a:rPr lang="en-US" altLang="zh-CN" sz="1600" dirty="0"/>
              <a:t>call</a:t>
            </a:r>
            <a:r>
              <a:rPr lang="zh-CN" altLang="en-US" sz="1600" dirty="0"/>
              <a:t>，</a:t>
            </a:r>
            <a:r>
              <a:rPr lang="en-US" altLang="zh-CN" sz="1600" dirty="0"/>
              <a:t>return</a:t>
            </a:r>
            <a:r>
              <a:rPr lang="zh-CN" altLang="en-US" sz="1600" dirty="0"/>
              <a:t>，</a:t>
            </a:r>
            <a:r>
              <a:rPr lang="en-US" altLang="zh-CN" sz="1600" dirty="0"/>
              <a:t>end</a:t>
            </a:r>
            <a:r>
              <a:rPr lang="zh-CN" altLang="en-US" sz="1600" dirty="0"/>
              <a:t>，</a:t>
            </a:r>
            <a:r>
              <a:rPr lang="en-US" altLang="zh-CN" sz="1600" dirty="0"/>
              <a:t>stop</a:t>
            </a:r>
            <a:r>
              <a:rPr lang="zh-CN" altLang="en-US" sz="1600" dirty="0"/>
              <a:t>等）；</a:t>
            </a:r>
          </a:p>
          <a:p>
            <a:pPr>
              <a:spcBef>
                <a:spcPts val="0"/>
              </a:spcBef>
            </a:pPr>
            <a:r>
              <a:rPr lang="en-US" altLang="zh-CN" sz="1600" dirty="0"/>
              <a:t>3</a:t>
            </a:r>
            <a:r>
              <a:rPr lang="zh-CN" altLang="en-US" sz="1600" dirty="0"/>
              <a:t>．</a:t>
            </a:r>
            <a:r>
              <a:rPr lang="zh-CN" altLang="en-US" sz="1600" b="1" dirty="0">
                <a:solidFill>
                  <a:srgbClr val="FF0000"/>
                </a:solidFill>
              </a:rPr>
              <a:t>紧跟</a:t>
            </a:r>
            <a:r>
              <a:rPr lang="zh-CN" altLang="en-US" sz="1600" dirty="0"/>
              <a:t>在</a:t>
            </a:r>
            <a:r>
              <a:rPr lang="zh-CN" altLang="en-US" sz="1600" b="1" dirty="0">
                <a:solidFill>
                  <a:srgbClr val="FF0000"/>
                </a:solidFill>
              </a:rPr>
              <a:t>条件转移语句后面</a:t>
            </a:r>
            <a:r>
              <a:rPr lang="zh-CN" altLang="en-US" sz="1600" dirty="0"/>
              <a:t>的语句。</a:t>
            </a:r>
            <a:endParaRPr lang="en-US" altLang="zh-CN" sz="1600" dirty="0"/>
          </a:p>
          <a:p>
            <a:pPr marL="109728" indent="0">
              <a:spcBef>
                <a:spcPts val="0"/>
              </a:spcBef>
              <a:buNone/>
            </a:pPr>
            <a:r>
              <a:rPr lang="zh-CN" altLang="en-US" sz="1600" b="1" dirty="0"/>
              <a:t>对已求出的每一个入口语句构造一个基本块</a:t>
            </a:r>
            <a:r>
              <a:rPr lang="zh-CN" altLang="en-US" sz="1600" dirty="0"/>
              <a:t>。</a:t>
            </a:r>
            <a:endParaRPr lang="en-US" altLang="zh-CN" sz="1600" dirty="0"/>
          </a:p>
          <a:p>
            <a:pPr>
              <a:spcBef>
                <a:spcPts val="0"/>
              </a:spcBef>
            </a:pPr>
            <a:r>
              <a:rPr lang="zh-CN" altLang="en-US" sz="1600" dirty="0"/>
              <a:t>它是由该入口语句到下一个入口语句（不包括此入口语句）、或到一个转移语句（包括此转移语句）、或到一个停语句（包括此停语句）之间的语句序列组成。</a:t>
            </a:r>
            <a:endParaRPr lang="en-US" altLang="zh-CN" sz="1600" dirty="0"/>
          </a:p>
          <a:p>
            <a:pPr>
              <a:spcBef>
                <a:spcPts val="0"/>
              </a:spcBef>
            </a:pPr>
            <a:r>
              <a:rPr lang="zh-CN" altLang="zh-CN" sz="1400" dirty="0"/>
              <a:t>一般把过程调用语句作为一个单独的基本块。</a:t>
            </a:r>
            <a:endParaRPr lang="zh-CN" altLang="en-US" sz="1600" dirty="0"/>
          </a:p>
          <a:p>
            <a:pPr>
              <a:lnSpc>
                <a:spcPct val="95000"/>
              </a:lnSpc>
              <a:spcBef>
                <a:spcPts val="0"/>
              </a:spcBef>
            </a:pPr>
            <a:endParaRPr lang="zh-CN" altLang="en-US" sz="1600" dirty="0"/>
          </a:p>
        </p:txBody>
      </p:sp>
      <p:sp>
        <p:nvSpPr>
          <p:cNvPr id="23" name="文本框 22"/>
          <p:cNvSpPr txBox="1">
            <a:spLocks noChangeArrowheads="1"/>
          </p:cNvSpPr>
          <p:nvPr/>
        </p:nvSpPr>
        <p:spPr bwMode="auto">
          <a:xfrm>
            <a:off x="20639" y="4017980"/>
            <a:ext cx="484428" cy="400110"/>
          </a:xfrm>
          <a:prstGeom prst="rect">
            <a:avLst/>
          </a:prstGeom>
          <a:solidFill>
            <a:schemeClr val="bg1"/>
          </a:solidFill>
          <a:ln>
            <a:noFill/>
          </a:ln>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dirty="0"/>
              <a:t>B4</a:t>
            </a:r>
            <a:endParaRPr lang="zh-CN" altLang="en-US" sz="2000" dirty="0"/>
          </a:p>
        </p:txBody>
      </p:sp>
      <p:graphicFrame>
        <p:nvGraphicFramePr>
          <p:cNvPr id="156679" name="Object 7"/>
          <p:cNvGraphicFramePr>
            <a:graphicFrameLocks noChangeAspect="1"/>
          </p:cNvGraphicFramePr>
          <p:nvPr>
            <p:extLst>
              <p:ext uri="{D42A27DB-BD31-4B8C-83A1-F6EECF244321}">
                <p14:modId xmlns:p14="http://schemas.microsoft.com/office/powerpoint/2010/main" val="1204806052"/>
              </p:ext>
            </p:extLst>
          </p:nvPr>
        </p:nvGraphicFramePr>
        <p:xfrm>
          <a:off x="3563888" y="70054"/>
          <a:ext cx="5384800" cy="4839891"/>
        </p:xfrm>
        <a:graphic>
          <a:graphicData uri="http://schemas.openxmlformats.org/presentationml/2006/ole">
            <mc:AlternateContent xmlns:mc="http://schemas.openxmlformats.org/markup-compatibility/2006">
              <mc:Choice xmlns:v="urn:schemas-microsoft-com:vml" Requires="v">
                <p:oleObj name="Visio" r:id="rId3" imgW="3493871" imgH="4611751" progId="Visio.Drawing.11">
                  <p:embed/>
                </p:oleObj>
              </mc:Choice>
              <mc:Fallback>
                <p:oleObj name="Visio" r:id="rId3" imgW="3493871" imgH="461175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888" y="70054"/>
                        <a:ext cx="5384800" cy="4839891"/>
                      </a:xfrm>
                      <a:prstGeom prst="rect">
                        <a:avLst/>
                      </a:prstGeom>
                      <a:solidFill>
                        <a:schemeClr val="bg1"/>
                      </a:solidFill>
                      <a:ln>
                        <a:noFill/>
                      </a:ln>
                      <a:effectLst/>
                    </p:spPr>
                  </p:pic>
                </p:oleObj>
              </mc:Fallback>
            </mc:AlternateContent>
          </a:graphicData>
        </a:graphic>
      </p:graphicFrame>
      <p:graphicFrame>
        <p:nvGraphicFramePr>
          <p:cNvPr id="8" name="Group 54"/>
          <p:cNvGraphicFramePr>
            <a:graphicFrameLocks noGrp="1"/>
          </p:cNvGraphicFramePr>
          <p:nvPr>
            <p:extLst>
              <p:ext uri="{D42A27DB-BD31-4B8C-83A1-F6EECF244321}">
                <p14:modId xmlns:p14="http://schemas.microsoft.com/office/powerpoint/2010/main" val="3098115904"/>
              </p:ext>
            </p:extLst>
          </p:nvPr>
        </p:nvGraphicFramePr>
        <p:xfrm>
          <a:off x="684213" y="1751030"/>
          <a:ext cx="4176712" cy="3268992"/>
        </p:xfrm>
        <a:graphic>
          <a:graphicData uri="http://schemas.openxmlformats.org/drawingml/2006/table">
            <a:tbl>
              <a:tblPr/>
              <a:tblGrid>
                <a:gridCol w="2238814">
                  <a:extLst>
                    <a:ext uri="{9D8B030D-6E8A-4147-A177-3AD203B41FA5}">
                      <a16:colId xmlns:a16="http://schemas.microsoft.com/office/drawing/2014/main" val="20000"/>
                    </a:ext>
                  </a:extLst>
                </a:gridCol>
                <a:gridCol w="1937898">
                  <a:extLst>
                    <a:ext uri="{9D8B030D-6E8A-4147-A177-3AD203B41FA5}">
                      <a16:colId xmlns:a16="http://schemas.microsoft.com/office/drawing/2014/main" val="20001"/>
                    </a:ext>
                  </a:extLst>
                </a:gridCol>
              </a:tblGrid>
              <a:tr h="31551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(1) i =m – 1</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(2) j =n</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(3) 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1</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=4 * n</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(4) v = a[T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1</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(5) </a:t>
                      </a:r>
                      <a:r>
                        <a:rPr kumimoji="1" lang="en-US" altLang="zh-CN" sz="1400" b="0" i="0" u="none" strike="noStrike" cap="none" normalizeH="0" baseline="0" dirty="0" err="1">
                          <a:ln>
                            <a:noFill/>
                          </a:ln>
                          <a:solidFill>
                            <a:srgbClr val="000000"/>
                          </a:solidFill>
                          <a:effectLst/>
                          <a:latin typeface="Times New Roman" pitchFamily="18" charset="0"/>
                          <a:ea typeface="宋体" pitchFamily="2" charset="-122"/>
                        </a:rPr>
                        <a:t>i</a:t>
                      </a: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 = </a:t>
                      </a:r>
                      <a:r>
                        <a:rPr kumimoji="1" lang="en-US" altLang="zh-CN" sz="1400" b="0" i="0" u="none" strike="noStrike" cap="none" normalizeH="0" baseline="0" dirty="0" err="1">
                          <a:ln>
                            <a:noFill/>
                          </a:ln>
                          <a:solidFill>
                            <a:srgbClr val="000000"/>
                          </a:solidFill>
                          <a:effectLst/>
                          <a:latin typeface="Times New Roman" pitchFamily="18" charset="0"/>
                          <a:ea typeface="宋体" pitchFamily="2" charset="-122"/>
                        </a:rPr>
                        <a:t>i</a:t>
                      </a: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 + 1</a:t>
                      </a:r>
                      <a:endPar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(6) T</a:t>
                      </a:r>
                      <a:r>
                        <a:rPr kumimoji="1" lang="en-US" altLang="zh-CN" sz="1400" b="0" i="0" u="none" strike="noStrike" cap="none" normalizeH="0" baseline="-30000" dirty="0">
                          <a:ln>
                            <a:noFill/>
                          </a:ln>
                          <a:solidFill>
                            <a:srgbClr val="000000"/>
                          </a:solidFill>
                          <a:effectLst/>
                          <a:latin typeface="Times New Roman" pitchFamily="18" charset="0"/>
                          <a:ea typeface="宋体" pitchFamily="2" charset="-122"/>
                        </a:rPr>
                        <a:t>2</a:t>
                      </a: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 = 4 * </a:t>
                      </a:r>
                      <a:r>
                        <a:rPr kumimoji="1" lang="en-US" altLang="zh-CN" sz="1400" b="0" i="0" u="none" strike="noStrike" cap="none" normalizeH="0" baseline="0" dirty="0" err="1">
                          <a:ln>
                            <a:noFill/>
                          </a:ln>
                          <a:solidFill>
                            <a:srgbClr val="000000"/>
                          </a:solidFill>
                          <a:effectLst/>
                          <a:latin typeface="Times New Roman" pitchFamily="18" charset="0"/>
                          <a:ea typeface="宋体" pitchFamily="2" charset="-122"/>
                        </a:rPr>
                        <a:t>i</a:t>
                      </a:r>
                      <a:endPar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(7) T</a:t>
                      </a:r>
                      <a:r>
                        <a:rPr kumimoji="1" lang="en-US" altLang="zh-CN" sz="1400" b="0" i="0" u="none" strike="noStrike" cap="none" normalizeH="0" baseline="-30000" dirty="0">
                          <a:ln>
                            <a:noFill/>
                          </a:ln>
                          <a:solidFill>
                            <a:srgbClr val="000000"/>
                          </a:solidFill>
                          <a:effectLst/>
                          <a:latin typeface="Times New Roman" pitchFamily="18" charset="0"/>
                          <a:ea typeface="宋体" pitchFamily="2" charset="-122"/>
                        </a:rPr>
                        <a:t>3</a:t>
                      </a: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 = a[T</a:t>
                      </a:r>
                      <a:r>
                        <a:rPr kumimoji="1" lang="en-US" altLang="zh-CN" sz="1400" b="0" i="0" u="none" strike="noStrike" cap="none" normalizeH="0" baseline="-30000" dirty="0">
                          <a:ln>
                            <a:noFill/>
                          </a:ln>
                          <a:solidFill>
                            <a:srgbClr val="000000"/>
                          </a:solidFill>
                          <a:effectLst/>
                          <a:latin typeface="Times New Roman" pitchFamily="18" charset="0"/>
                          <a:ea typeface="宋体" pitchFamily="2" charset="-122"/>
                        </a:rPr>
                        <a:t>2</a:t>
                      </a: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a:t>
                      </a:r>
                      <a:endPar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(8) if T</a:t>
                      </a:r>
                      <a:r>
                        <a:rPr kumimoji="1" lang="en-US" altLang="zh-CN" sz="1400" b="0" i="0" u="none" strike="noStrike" cap="none" normalizeH="0" baseline="-30000" dirty="0">
                          <a:ln>
                            <a:noFill/>
                          </a:ln>
                          <a:solidFill>
                            <a:srgbClr val="000000"/>
                          </a:solidFill>
                          <a:effectLst/>
                          <a:latin typeface="Times New Roman" pitchFamily="18" charset="0"/>
                          <a:ea typeface="宋体" pitchFamily="2" charset="-122"/>
                        </a:rPr>
                        <a:t>3</a:t>
                      </a: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 &lt; v </a:t>
                      </a:r>
                      <a:r>
                        <a:rPr kumimoji="1" lang="en-US" altLang="zh-CN" sz="1400" b="0" i="0" u="none" strike="noStrike" cap="none" normalizeH="0" baseline="0" dirty="0" err="1">
                          <a:ln>
                            <a:noFill/>
                          </a:ln>
                          <a:solidFill>
                            <a:srgbClr val="000000"/>
                          </a:solidFill>
                          <a:effectLst/>
                          <a:latin typeface="Times New Roman" pitchFamily="18" charset="0"/>
                          <a:ea typeface="宋体" pitchFamily="2" charset="-122"/>
                        </a:rPr>
                        <a:t>goto</a:t>
                      </a: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 (5)</a:t>
                      </a:r>
                      <a:endPar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(9) j = j – 1</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(10) 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4</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 4 * j</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(11) 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5</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 a[T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4</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(12) if 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5</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&gt; v goto (9)</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(13) if </a:t>
                      </a:r>
                      <a:r>
                        <a:rPr kumimoji="1" lang="en-US" altLang="zh-CN" sz="1400" b="0" i="0" u="none" strike="noStrike" cap="none" normalizeH="0" baseline="0" dirty="0" err="1">
                          <a:ln>
                            <a:noFill/>
                          </a:ln>
                          <a:solidFill>
                            <a:srgbClr val="000000"/>
                          </a:solidFill>
                          <a:effectLst/>
                          <a:latin typeface="Times New Roman" pitchFamily="18" charset="0"/>
                          <a:ea typeface="宋体" pitchFamily="2" charset="-122"/>
                        </a:rPr>
                        <a:t>i</a:t>
                      </a: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 &gt;= j </a:t>
                      </a:r>
                      <a:r>
                        <a:rPr kumimoji="1" lang="en-US" altLang="zh-CN" sz="1400" b="0" i="0" u="none" strike="noStrike" cap="none" normalizeH="0" baseline="0" dirty="0" err="1">
                          <a:ln>
                            <a:noFill/>
                          </a:ln>
                          <a:solidFill>
                            <a:srgbClr val="000000"/>
                          </a:solidFill>
                          <a:effectLst/>
                          <a:latin typeface="Times New Roman" pitchFamily="18" charset="0"/>
                          <a:ea typeface="宋体" pitchFamily="2" charset="-122"/>
                        </a:rPr>
                        <a:t>goto</a:t>
                      </a: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 (23)</a:t>
                      </a:r>
                      <a:endPar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(14) T</a:t>
                      </a:r>
                      <a:r>
                        <a:rPr kumimoji="1" lang="en-US" altLang="zh-CN" sz="1400" b="0" i="0" u="none" strike="noStrike" cap="none" normalizeH="0" baseline="-30000" dirty="0">
                          <a:ln>
                            <a:noFill/>
                          </a:ln>
                          <a:solidFill>
                            <a:srgbClr val="000000"/>
                          </a:solidFill>
                          <a:effectLst/>
                          <a:latin typeface="Times New Roman" pitchFamily="18" charset="0"/>
                          <a:ea typeface="宋体" pitchFamily="2" charset="-122"/>
                        </a:rPr>
                        <a:t>6</a:t>
                      </a: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 = 4 * </a:t>
                      </a:r>
                      <a:r>
                        <a:rPr kumimoji="1" lang="en-US" altLang="zh-CN" sz="1400" b="0" i="0" u="none" strike="noStrike" cap="none" normalizeH="0" baseline="0" dirty="0" err="1">
                          <a:ln>
                            <a:noFill/>
                          </a:ln>
                          <a:solidFill>
                            <a:srgbClr val="000000"/>
                          </a:solidFill>
                          <a:effectLst/>
                          <a:latin typeface="Times New Roman" pitchFamily="18" charset="0"/>
                          <a:ea typeface="宋体" pitchFamily="2" charset="-122"/>
                        </a:rPr>
                        <a:t>i</a:t>
                      </a:r>
                      <a:endPar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(15) x = a[T</a:t>
                      </a:r>
                      <a:r>
                        <a:rPr kumimoji="1" lang="en-US" altLang="zh-CN" sz="1400" b="0" i="0" u="none" strike="noStrike" cap="none" normalizeH="0" baseline="-30000" dirty="0">
                          <a:ln>
                            <a:noFill/>
                          </a:ln>
                          <a:solidFill>
                            <a:srgbClr val="000000"/>
                          </a:solidFill>
                          <a:effectLst/>
                          <a:latin typeface="Times New Roman" pitchFamily="18" charset="0"/>
                          <a:ea typeface="宋体" pitchFamily="2" charset="-122"/>
                        </a:rPr>
                        <a:t>6</a:t>
                      </a:r>
                      <a:r>
                        <a:rPr kumimoji="1" lang="en-US" altLang="zh-CN" sz="1400" b="0" i="0" u="none" strike="noStrike" cap="none" normalizeH="0" baseline="0" dirty="0">
                          <a:ln>
                            <a:noFill/>
                          </a:ln>
                          <a:solidFill>
                            <a:srgbClr val="000000"/>
                          </a:solidFill>
                          <a:effectLst/>
                          <a:latin typeface="Times New Roman" pitchFamily="18" charset="0"/>
                          <a:ea typeface="宋体" pitchFamily="2" charset="-122"/>
                        </a:rPr>
                        <a:t>]</a:t>
                      </a:r>
                      <a:endParaRPr kumimoji="1" lang="en-US" altLang="zh-CN" sz="1400" b="0" i="0" u="none" strike="noStrike" cap="none" normalizeH="0" baseline="0" dirty="0">
                        <a:ln>
                          <a:noFill/>
                        </a:ln>
                        <a:solidFill>
                          <a:schemeClr val="tx1"/>
                        </a:solidFill>
                        <a:effectLst/>
                        <a:latin typeface="Times New Roman" pitchFamily="18" charset="0"/>
                        <a:ea typeface="宋体" pitchFamily="2" charset="-122"/>
                      </a:endParaRPr>
                    </a:p>
                  </a:txBody>
                  <a:tcPr marL="91445" marR="91445" marT="34296" marB="34296" horzOverflow="overflow">
                    <a:lnL w="28575" cap="flat" cmpd="sng" algn="ctr">
                      <a:solidFill>
                        <a:srgbClr val="00FF0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00FF00"/>
                      </a:solidFill>
                      <a:prstDash val="solid"/>
                      <a:round/>
                      <a:headEnd type="none" w="med" len="med"/>
                      <a:tailEnd type="none" w="med" len="med"/>
                    </a:lnT>
                    <a:lnB w="28575" cap="flat" cmpd="sng" algn="ctr">
                      <a:solidFill>
                        <a:srgbClr val="00FF00"/>
                      </a:solidFill>
                      <a:prstDash val="solid"/>
                      <a:round/>
                      <a:headEnd type="none" w="med" len="med"/>
                      <a:tailEnd type="none" w="med" len="med"/>
                    </a:lnB>
                    <a:lnTlToBr>
                      <a:noFill/>
                    </a:lnTlToBr>
                    <a:lnBlToTr>
                      <a:noFill/>
                    </a:lnBlToTr>
                    <a:solidFill>
                      <a:srgbClr val="FFFFCC"/>
                    </a:solidFill>
                  </a:tcPr>
                </a:tc>
                <a:tc>
                  <a:txBody>
                    <a:bodyPr/>
                    <a:lstStyle/>
                    <a:p>
                      <a:pPr marL="0" marR="0" lvl="0" indent="160338" algn="l" defTabSz="914400" rtl="0" eaLnBrk="1" fontAlgn="base" latinLnBrk="0" hangingPunct="1">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(16) 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7</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 4 * i</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(17) 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8</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 4 * j</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(18) 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9</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 a[T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8</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(19) a[T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7</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 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9</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(20) 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10</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 4 * j</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(21) a[T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10</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 x</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(22) goto (5)</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(23) 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11</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 4 * j</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(24) x = a[T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11</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(25) 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12</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 4 * i</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(26) 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13</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 4 * n</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(27) 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14</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 a[T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13</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(28) a[T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12</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 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14</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(29) 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15</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 4 * n</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160338" algn="l" defTabSz="914400" rtl="0" eaLnBrk="0" fontAlgn="base" latinLnBrk="0" hangingPunct="0">
                        <a:lnSpc>
                          <a:spcPct val="100000"/>
                        </a:lnSpc>
                        <a:spcBef>
                          <a:spcPct val="0"/>
                        </a:spcBef>
                        <a:spcAft>
                          <a:spcPct val="0"/>
                        </a:spcAft>
                        <a:buClrTx/>
                        <a:buSzTx/>
                        <a:buFontTx/>
                        <a:buNone/>
                        <a:tabLst/>
                      </a:pP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(30) a[T</a:t>
                      </a:r>
                      <a:r>
                        <a:rPr kumimoji="1" lang="fr-FR" altLang="zh-CN" sz="1400" b="0" i="0" u="none" strike="noStrike" cap="none" normalizeH="0" baseline="-30000" dirty="0">
                          <a:ln>
                            <a:noFill/>
                          </a:ln>
                          <a:solidFill>
                            <a:srgbClr val="000000"/>
                          </a:solidFill>
                          <a:effectLst/>
                          <a:latin typeface="Times New Roman" pitchFamily="18" charset="0"/>
                          <a:ea typeface="宋体" pitchFamily="2" charset="-122"/>
                        </a:rPr>
                        <a:t>15</a:t>
                      </a:r>
                      <a:r>
                        <a:rPr kumimoji="1" lang="fr-FR" altLang="zh-CN" sz="1400" b="0" i="0" u="none" strike="noStrike" cap="none" normalizeH="0" baseline="0" dirty="0">
                          <a:ln>
                            <a:noFill/>
                          </a:ln>
                          <a:solidFill>
                            <a:srgbClr val="000000"/>
                          </a:solidFill>
                          <a:effectLst/>
                          <a:latin typeface="Times New Roman" pitchFamily="18" charset="0"/>
                          <a:ea typeface="宋体" pitchFamily="2" charset="-122"/>
                        </a:rPr>
                        <a:t>] = x</a:t>
                      </a:r>
                      <a:endParaRPr kumimoji="1" lang="fr-FR" altLang="zh-CN" sz="1400" b="0" i="0" u="none" strike="noStrike" cap="none" normalizeH="0" baseline="0" dirty="0">
                        <a:ln>
                          <a:noFill/>
                        </a:ln>
                        <a:solidFill>
                          <a:schemeClr val="tx1"/>
                        </a:solidFill>
                        <a:effectLst/>
                        <a:latin typeface="Times New Roman" pitchFamily="18" charset="0"/>
                        <a:ea typeface="宋体" pitchFamily="2" charset="-122"/>
                      </a:endParaRPr>
                    </a:p>
                  </a:txBody>
                  <a:tcPr marL="91445" marR="91445" marT="34296" marB="34296" horzOverflow="overflow">
                    <a:lnL w="12700" cap="flat" cmpd="sng" algn="ctr">
                      <a:solidFill>
                        <a:schemeClr val="tx1"/>
                      </a:solidFill>
                      <a:prstDash val="solid"/>
                      <a:round/>
                      <a:headEnd type="none" w="med" len="med"/>
                      <a:tailEnd type="none" w="med" len="med"/>
                    </a:lnL>
                    <a:lnR w="28575" cap="flat" cmpd="sng" algn="ctr">
                      <a:solidFill>
                        <a:srgbClr val="00FF00"/>
                      </a:solidFill>
                      <a:prstDash val="solid"/>
                      <a:round/>
                      <a:headEnd type="none" w="med" len="med"/>
                      <a:tailEnd type="none" w="med" len="med"/>
                    </a:lnR>
                    <a:lnT w="28575" cap="flat" cmpd="sng" algn="ctr">
                      <a:solidFill>
                        <a:srgbClr val="00FF00"/>
                      </a:solidFill>
                      <a:prstDash val="solid"/>
                      <a:round/>
                      <a:headEnd type="none" w="med" len="med"/>
                      <a:tailEnd type="none" w="med" len="med"/>
                    </a:lnT>
                    <a:lnB w="28575" cap="flat" cmpd="sng" algn="ctr">
                      <a:solidFill>
                        <a:srgbClr val="00FF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bl>
          </a:graphicData>
        </a:graphic>
      </p:graphicFrame>
      <p:sp>
        <p:nvSpPr>
          <p:cNvPr id="2" name="箭头: 右 1"/>
          <p:cNvSpPr>
            <a:spLocks noChangeArrowheads="1"/>
          </p:cNvSpPr>
          <p:nvPr/>
        </p:nvSpPr>
        <p:spPr bwMode="auto">
          <a:xfrm>
            <a:off x="107950" y="1828421"/>
            <a:ext cx="431800" cy="107156"/>
          </a:xfrm>
          <a:prstGeom prst="rightArrow">
            <a:avLst>
              <a:gd name="adj1" fmla="val 50000"/>
              <a:gd name="adj2" fmla="val 50370"/>
            </a:avLst>
          </a:prstGeom>
          <a:solidFill>
            <a:schemeClr val="accent1"/>
          </a:solidFill>
          <a:ln w="9525" algn="ctr">
            <a:solidFill>
              <a:schemeClr val="tx1"/>
            </a:solidFill>
            <a:round/>
            <a:headEnd/>
            <a:tailEnd/>
          </a:ln>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7" name="箭头: 右 6"/>
          <p:cNvSpPr>
            <a:spLocks noChangeArrowheads="1"/>
          </p:cNvSpPr>
          <p:nvPr/>
        </p:nvSpPr>
        <p:spPr bwMode="auto">
          <a:xfrm>
            <a:off x="107950" y="2679427"/>
            <a:ext cx="431800" cy="108347"/>
          </a:xfrm>
          <a:prstGeom prst="rightArrow">
            <a:avLst>
              <a:gd name="adj1" fmla="val 50000"/>
              <a:gd name="adj2" fmla="val 49817"/>
            </a:avLst>
          </a:prstGeom>
          <a:solidFill>
            <a:schemeClr val="accent1"/>
          </a:solidFill>
          <a:ln w="9525" algn="ctr">
            <a:solidFill>
              <a:schemeClr val="tx1"/>
            </a:solidFill>
            <a:round/>
            <a:headEnd/>
            <a:tailEnd/>
          </a:ln>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9" name="箭头: 右 8"/>
          <p:cNvSpPr>
            <a:spLocks noChangeArrowheads="1"/>
          </p:cNvSpPr>
          <p:nvPr/>
        </p:nvSpPr>
        <p:spPr bwMode="auto">
          <a:xfrm>
            <a:off x="107950" y="3575389"/>
            <a:ext cx="431800" cy="107156"/>
          </a:xfrm>
          <a:prstGeom prst="rightArrow">
            <a:avLst>
              <a:gd name="adj1" fmla="val 50000"/>
              <a:gd name="adj2" fmla="val 50370"/>
            </a:avLst>
          </a:prstGeom>
          <a:solidFill>
            <a:schemeClr val="accent1"/>
          </a:solidFill>
          <a:ln w="9525" algn="ctr">
            <a:solidFill>
              <a:schemeClr val="tx1"/>
            </a:solidFill>
            <a:round/>
            <a:headEnd/>
            <a:tailEnd/>
          </a:ln>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10" name="箭头: 右 9"/>
          <p:cNvSpPr>
            <a:spLocks noChangeArrowheads="1"/>
          </p:cNvSpPr>
          <p:nvPr/>
        </p:nvSpPr>
        <p:spPr bwMode="auto">
          <a:xfrm>
            <a:off x="107950" y="4383997"/>
            <a:ext cx="431800" cy="108347"/>
          </a:xfrm>
          <a:prstGeom prst="rightArrow">
            <a:avLst>
              <a:gd name="adj1" fmla="val 50000"/>
              <a:gd name="adj2" fmla="val 49817"/>
            </a:avLst>
          </a:prstGeom>
          <a:solidFill>
            <a:srgbClr val="FF0000"/>
          </a:solidFill>
          <a:ln w="9525" algn="ctr">
            <a:solidFill>
              <a:srgbClr val="FF0000"/>
            </a:solidFill>
            <a:round/>
            <a:headEnd/>
            <a:tailEnd/>
          </a:ln>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11" name="箭头: 右 10"/>
          <p:cNvSpPr>
            <a:spLocks noChangeArrowheads="1"/>
          </p:cNvSpPr>
          <p:nvPr/>
        </p:nvSpPr>
        <p:spPr bwMode="auto">
          <a:xfrm>
            <a:off x="107950" y="4582336"/>
            <a:ext cx="431800" cy="149654"/>
          </a:xfrm>
          <a:prstGeom prst="rightArrow">
            <a:avLst>
              <a:gd name="adj1" fmla="val 50000"/>
              <a:gd name="adj2" fmla="val 49817"/>
            </a:avLst>
          </a:prstGeom>
          <a:solidFill>
            <a:srgbClr val="FF0000"/>
          </a:solidFill>
          <a:ln w="9525" algn="ctr">
            <a:solidFill>
              <a:schemeClr val="tx1"/>
            </a:solidFill>
            <a:round/>
            <a:headEnd/>
            <a:tailEnd/>
          </a:ln>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12" name="箭头: 右 11"/>
          <p:cNvSpPr>
            <a:spLocks noChangeArrowheads="1"/>
          </p:cNvSpPr>
          <p:nvPr/>
        </p:nvSpPr>
        <p:spPr bwMode="auto">
          <a:xfrm rot="10800000">
            <a:off x="4860032" y="3327498"/>
            <a:ext cx="431800" cy="108347"/>
          </a:xfrm>
          <a:prstGeom prst="rightArrow">
            <a:avLst>
              <a:gd name="adj1" fmla="val 50000"/>
              <a:gd name="adj2" fmla="val 49817"/>
            </a:avLst>
          </a:prstGeom>
          <a:solidFill>
            <a:srgbClr val="FF0000"/>
          </a:solidFill>
          <a:ln w="9525" algn="ctr">
            <a:solidFill>
              <a:schemeClr val="tx1"/>
            </a:solidFill>
            <a:round/>
            <a:headEnd/>
            <a:tailEnd/>
          </a:ln>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4" name="矩形 3"/>
          <p:cNvSpPr>
            <a:spLocks noChangeArrowheads="1"/>
          </p:cNvSpPr>
          <p:nvPr/>
        </p:nvSpPr>
        <p:spPr bwMode="auto">
          <a:xfrm>
            <a:off x="684213" y="1740313"/>
            <a:ext cx="2208212" cy="897731"/>
          </a:xfrm>
          <a:prstGeom prst="rect">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13" name="矩形 12"/>
          <p:cNvSpPr>
            <a:spLocks noChangeArrowheads="1"/>
          </p:cNvSpPr>
          <p:nvPr/>
        </p:nvSpPr>
        <p:spPr bwMode="auto">
          <a:xfrm>
            <a:off x="700089" y="2654013"/>
            <a:ext cx="2192337" cy="830219"/>
          </a:xfrm>
          <a:prstGeom prst="rect">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14" name="矩形 13"/>
          <p:cNvSpPr>
            <a:spLocks noChangeArrowheads="1"/>
          </p:cNvSpPr>
          <p:nvPr/>
        </p:nvSpPr>
        <p:spPr bwMode="auto">
          <a:xfrm>
            <a:off x="700089" y="3468263"/>
            <a:ext cx="2192337" cy="843801"/>
          </a:xfrm>
          <a:prstGeom prst="rect">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15" name="矩形 14"/>
          <p:cNvSpPr>
            <a:spLocks noChangeArrowheads="1"/>
          </p:cNvSpPr>
          <p:nvPr/>
        </p:nvSpPr>
        <p:spPr bwMode="auto">
          <a:xfrm>
            <a:off x="698501" y="4312064"/>
            <a:ext cx="2193925" cy="270272"/>
          </a:xfrm>
          <a:prstGeom prst="rect">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16" name="矩形 15"/>
          <p:cNvSpPr>
            <a:spLocks noChangeArrowheads="1"/>
          </p:cNvSpPr>
          <p:nvPr/>
        </p:nvSpPr>
        <p:spPr bwMode="auto">
          <a:xfrm>
            <a:off x="2906713" y="1764126"/>
            <a:ext cx="1954212" cy="1557063"/>
          </a:xfrm>
          <a:prstGeom prst="rect">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17" name="矩形 16"/>
          <p:cNvSpPr>
            <a:spLocks noChangeArrowheads="1"/>
          </p:cNvSpPr>
          <p:nvPr/>
        </p:nvSpPr>
        <p:spPr bwMode="auto">
          <a:xfrm>
            <a:off x="698501" y="4576109"/>
            <a:ext cx="2193925" cy="420291"/>
          </a:xfrm>
          <a:prstGeom prst="rect">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19" name="矩形 18"/>
          <p:cNvSpPr>
            <a:spLocks noChangeArrowheads="1"/>
          </p:cNvSpPr>
          <p:nvPr/>
        </p:nvSpPr>
        <p:spPr bwMode="auto">
          <a:xfrm>
            <a:off x="2914651" y="3321190"/>
            <a:ext cx="1952625" cy="1675210"/>
          </a:xfrm>
          <a:prstGeom prst="rect">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5" name="文本框 4"/>
          <p:cNvSpPr txBox="1">
            <a:spLocks noChangeArrowheads="1"/>
          </p:cNvSpPr>
          <p:nvPr/>
        </p:nvSpPr>
        <p:spPr bwMode="auto">
          <a:xfrm>
            <a:off x="74613" y="1556958"/>
            <a:ext cx="4844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t>B1</a:t>
            </a:r>
            <a:endParaRPr lang="zh-CN" altLang="en-US" sz="2000"/>
          </a:p>
        </p:txBody>
      </p:sp>
      <p:sp>
        <p:nvSpPr>
          <p:cNvPr id="21" name="文本框 20"/>
          <p:cNvSpPr txBox="1">
            <a:spLocks noChangeArrowheads="1"/>
          </p:cNvSpPr>
          <p:nvPr/>
        </p:nvSpPr>
        <p:spPr bwMode="auto">
          <a:xfrm>
            <a:off x="68264" y="2386534"/>
            <a:ext cx="4844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t>B2</a:t>
            </a:r>
            <a:endParaRPr lang="zh-CN" altLang="en-US" sz="2000"/>
          </a:p>
        </p:txBody>
      </p:sp>
      <p:sp>
        <p:nvSpPr>
          <p:cNvPr id="22" name="文本框 21"/>
          <p:cNvSpPr txBox="1">
            <a:spLocks noChangeArrowheads="1"/>
          </p:cNvSpPr>
          <p:nvPr/>
        </p:nvSpPr>
        <p:spPr bwMode="auto">
          <a:xfrm>
            <a:off x="95251" y="3268208"/>
            <a:ext cx="4844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t>B3</a:t>
            </a:r>
            <a:endParaRPr lang="zh-CN" altLang="en-US" sz="2000"/>
          </a:p>
        </p:txBody>
      </p:sp>
      <p:sp>
        <p:nvSpPr>
          <p:cNvPr id="24" name="文本框 23"/>
          <p:cNvSpPr txBox="1">
            <a:spLocks noChangeArrowheads="1"/>
          </p:cNvSpPr>
          <p:nvPr/>
        </p:nvSpPr>
        <p:spPr bwMode="auto">
          <a:xfrm>
            <a:off x="127132" y="4763928"/>
            <a:ext cx="484428" cy="400110"/>
          </a:xfrm>
          <a:prstGeom prst="rect">
            <a:avLst/>
          </a:prstGeom>
          <a:solidFill>
            <a:schemeClr val="bg1"/>
          </a:solidFill>
          <a:ln>
            <a:noFill/>
          </a:ln>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dirty="0"/>
              <a:t>B5</a:t>
            </a:r>
            <a:endParaRPr lang="zh-CN" altLang="en-US" sz="2000" dirty="0"/>
          </a:p>
        </p:txBody>
      </p:sp>
      <p:sp>
        <p:nvSpPr>
          <p:cNvPr id="25" name="文本框 24"/>
          <p:cNvSpPr txBox="1">
            <a:spLocks noChangeArrowheads="1"/>
          </p:cNvSpPr>
          <p:nvPr/>
        </p:nvSpPr>
        <p:spPr bwMode="auto">
          <a:xfrm>
            <a:off x="4827588" y="3428912"/>
            <a:ext cx="4844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dirty="0"/>
              <a:t>B6</a:t>
            </a:r>
            <a:endParaRPr lang="zh-CN" altLang="en-US" sz="2000" dirty="0"/>
          </a:p>
        </p:txBody>
      </p:sp>
      <p:sp>
        <p:nvSpPr>
          <p:cNvPr id="21506" name="Rectangle 2"/>
          <p:cNvSpPr>
            <a:spLocks noGrp="1" noChangeArrowheads="1"/>
          </p:cNvSpPr>
          <p:nvPr>
            <p:ph type="title"/>
          </p:nvPr>
        </p:nvSpPr>
        <p:spPr>
          <a:xfrm>
            <a:off x="-6815" y="37423"/>
            <a:ext cx="3642712" cy="845889"/>
          </a:xfrm>
        </p:spPr>
        <p:txBody>
          <a:bodyPr>
            <a:noAutofit/>
          </a:bodyPr>
          <a:lstStyle/>
          <a:p>
            <a:pPr algn="l" eaLnBrk="1" hangingPunct="1"/>
            <a:r>
              <a:rPr lang="zh-CN" altLang="en-US" sz="2400" dirty="0">
                <a:ea typeface="楷体_GB2312" pitchFamily="1" charset="-122"/>
              </a:rPr>
              <a:t>例：写出快速排序算法中间代码的基本块和流图</a:t>
            </a:r>
          </a:p>
        </p:txBody>
      </p:sp>
    </p:spTree>
    <p:extLst>
      <p:ext uri="{BB962C8B-B14F-4D97-AF65-F5344CB8AC3E}">
        <p14:creationId xmlns:p14="http://schemas.microsoft.com/office/powerpoint/2010/main" val="29266351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5"/>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499"/>
                                          </p:stCondLst>
                                        </p:cTn>
                                        <p:tgtEl>
                                          <p:spTgt spid="1566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3" grpId="0" animBg="1"/>
      <p:bldP spid="2" grpId="0" animBg="1"/>
      <p:bldP spid="7" grpId="0" animBg="1"/>
      <p:bldP spid="9" grpId="0" animBg="1"/>
      <p:bldP spid="10" grpId="0" animBg="1"/>
      <p:bldP spid="11" grpId="0" animBg="1"/>
      <p:bldP spid="12" grpId="0" animBg="1"/>
      <p:bldP spid="4" grpId="0" animBg="1"/>
      <p:bldP spid="13" grpId="0" animBg="1"/>
      <p:bldP spid="14" grpId="0" animBg="1"/>
      <p:bldP spid="15" grpId="0" animBg="1"/>
      <p:bldP spid="16" grpId="0" animBg="1"/>
      <p:bldP spid="17" grpId="0" animBg="1"/>
      <p:bldP spid="19" grpId="0" animBg="1"/>
      <p:bldP spid="5" grpId="0"/>
      <p:bldP spid="21" grpId="0"/>
      <p:bldP spid="22" grpId="0"/>
      <p:bldP spid="24" grpId="0" animBg="1"/>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extLst>
              <p:ext uri="{D42A27DB-BD31-4B8C-83A1-F6EECF244321}">
                <p14:modId xmlns:p14="http://schemas.microsoft.com/office/powerpoint/2010/main" val="573797430"/>
              </p:ext>
            </p:extLst>
          </p:nvPr>
        </p:nvGraphicFramePr>
        <p:xfrm>
          <a:off x="1115616" y="1275606"/>
          <a:ext cx="6480720" cy="2520278"/>
        </p:xfrm>
        <a:graphic>
          <a:graphicData uri="http://schemas.openxmlformats.org/drawingml/2006/table">
            <a:tbl>
              <a:tblPr>
                <a:tableStyleId>{5C22544A-7EE6-4342-B048-85BDC9FD1C3A}</a:tableStyleId>
              </a:tblPr>
              <a:tblGrid>
                <a:gridCol w="1203633">
                  <a:extLst>
                    <a:ext uri="{9D8B030D-6E8A-4147-A177-3AD203B41FA5}">
                      <a16:colId xmlns:a16="http://schemas.microsoft.com/office/drawing/2014/main" val="20000"/>
                    </a:ext>
                  </a:extLst>
                </a:gridCol>
                <a:gridCol w="1412527">
                  <a:extLst>
                    <a:ext uri="{9D8B030D-6E8A-4147-A177-3AD203B41FA5}">
                      <a16:colId xmlns:a16="http://schemas.microsoft.com/office/drawing/2014/main" val="20001"/>
                    </a:ext>
                  </a:extLst>
                </a:gridCol>
                <a:gridCol w="1293160">
                  <a:extLst>
                    <a:ext uri="{9D8B030D-6E8A-4147-A177-3AD203B41FA5}">
                      <a16:colId xmlns:a16="http://schemas.microsoft.com/office/drawing/2014/main" val="20002"/>
                    </a:ext>
                  </a:extLst>
                </a:gridCol>
                <a:gridCol w="1362793">
                  <a:extLst>
                    <a:ext uri="{9D8B030D-6E8A-4147-A177-3AD203B41FA5}">
                      <a16:colId xmlns:a16="http://schemas.microsoft.com/office/drawing/2014/main" val="20003"/>
                    </a:ext>
                  </a:extLst>
                </a:gridCol>
                <a:gridCol w="1208607">
                  <a:extLst>
                    <a:ext uri="{9D8B030D-6E8A-4147-A177-3AD203B41FA5}">
                      <a16:colId xmlns:a16="http://schemas.microsoft.com/office/drawing/2014/main" val="20004"/>
                    </a:ext>
                  </a:extLst>
                </a:gridCol>
              </a:tblGrid>
              <a:tr h="386246">
                <a:tc>
                  <a:txBody>
                    <a:bodyPr/>
                    <a:lstStyle/>
                    <a:p>
                      <a:pPr marR="86360" algn="ctr">
                        <a:lnSpc>
                          <a:spcPct val="100000"/>
                        </a:lnSpc>
                        <a:spcAft>
                          <a:spcPts val="0"/>
                        </a:spcAft>
                      </a:pPr>
                      <a:r>
                        <a:rPr lang="zh-CN" sz="1400" kern="0" dirty="0">
                          <a:effectLst/>
                        </a:rPr>
                        <a:t>基本块块号</a:t>
                      </a:r>
                      <a:endParaRPr lang="zh-CN" sz="14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zh-CN" sz="1400" kern="0">
                          <a:effectLst/>
                        </a:rPr>
                        <a:t>入口语句编号</a:t>
                      </a:r>
                      <a:endParaRPr lang="zh-CN" sz="14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zh-CN" sz="1400" kern="0">
                          <a:effectLst/>
                        </a:rPr>
                        <a:t>出口语句编号</a:t>
                      </a:r>
                      <a:endParaRPr lang="zh-CN" sz="14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zh-CN" sz="1400" kern="0">
                          <a:effectLst/>
                        </a:rPr>
                        <a:t>上一块块号</a:t>
                      </a:r>
                      <a:endParaRPr lang="zh-CN" sz="14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zh-CN" sz="1400" kern="0" dirty="0">
                          <a:effectLst/>
                        </a:rPr>
                        <a:t>下一块块号</a:t>
                      </a:r>
                      <a:endParaRPr lang="zh-CN" sz="14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5672">
                <a:tc>
                  <a:txBody>
                    <a:bodyPr/>
                    <a:lstStyle/>
                    <a:p>
                      <a:pPr marR="86360" algn="ctr">
                        <a:lnSpc>
                          <a:spcPct val="100000"/>
                        </a:lnSpc>
                        <a:spcAft>
                          <a:spcPts val="0"/>
                        </a:spcAft>
                      </a:pPr>
                      <a:r>
                        <a:rPr lang="en-US" sz="1800" kern="0" dirty="0">
                          <a:effectLst/>
                        </a:rPr>
                        <a:t>B</a:t>
                      </a:r>
                      <a:r>
                        <a:rPr lang="en-US" sz="1800" kern="100" baseline="-25000" dirty="0">
                          <a:effectLst/>
                        </a:rPr>
                        <a:t>1</a:t>
                      </a:r>
                      <a:endParaRPr lang="zh-CN" sz="18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1</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4</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 </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l">
                        <a:lnSpc>
                          <a:spcPct val="100000"/>
                        </a:lnSpc>
                        <a:spcAft>
                          <a:spcPts val="0"/>
                        </a:spcAft>
                      </a:pPr>
                      <a:r>
                        <a:rPr lang="en-US" sz="1800" kern="0">
                          <a:effectLst/>
                        </a:rPr>
                        <a:t>B</a:t>
                      </a:r>
                      <a:r>
                        <a:rPr lang="en-US" sz="1800" kern="100" baseline="-25000">
                          <a:effectLst/>
                        </a:rPr>
                        <a:t>2</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5672">
                <a:tc>
                  <a:txBody>
                    <a:bodyPr/>
                    <a:lstStyle/>
                    <a:p>
                      <a:pPr marR="86360" algn="ctr">
                        <a:lnSpc>
                          <a:spcPct val="100000"/>
                        </a:lnSpc>
                        <a:spcAft>
                          <a:spcPts val="0"/>
                        </a:spcAft>
                      </a:pPr>
                      <a:r>
                        <a:rPr lang="en-US" sz="1800" kern="0">
                          <a:effectLst/>
                        </a:rPr>
                        <a:t>B</a:t>
                      </a:r>
                      <a:r>
                        <a:rPr lang="en-US" sz="1800" kern="100" baseline="-25000">
                          <a:effectLst/>
                        </a:rPr>
                        <a:t>2</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5</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8</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B</a:t>
                      </a:r>
                      <a:r>
                        <a:rPr lang="en-US" sz="1800" kern="100" baseline="-25000">
                          <a:effectLst/>
                        </a:rPr>
                        <a:t>1</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l">
                        <a:lnSpc>
                          <a:spcPct val="100000"/>
                        </a:lnSpc>
                        <a:spcAft>
                          <a:spcPts val="0"/>
                        </a:spcAft>
                      </a:pPr>
                      <a:r>
                        <a:rPr lang="en-US" sz="1800" kern="0">
                          <a:effectLst/>
                        </a:rPr>
                        <a:t>B</a:t>
                      </a:r>
                      <a:r>
                        <a:rPr lang="en-US" sz="1800" kern="100" baseline="-25000">
                          <a:effectLst/>
                        </a:rPr>
                        <a:t>3</a:t>
                      </a:r>
                      <a:r>
                        <a:rPr lang="zh-CN" sz="1800" kern="0">
                          <a:effectLst/>
                        </a:rPr>
                        <a:t>，</a:t>
                      </a:r>
                      <a:r>
                        <a:rPr lang="en-US" sz="1800" kern="0">
                          <a:effectLst/>
                        </a:rPr>
                        <a:t>B</a:t>
                      </a:r>
                      <a:r>
                        <a:rPr lang="en-US" sz="1800" kern="100" baseline="-25000">
                          <a:effectLst/>
                        </a:rPr>
                        <a:t>2</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55672">
                <a:tc>
                  <a:txBody>
                    <a:bodyPr/>
                    <a:lstStyle/>
                    <a:p>
                      <a:pPr marR="86360" algn="ctr">
                        <a:lnSpc>
                          <a:spcPct val="100000"/>
                        </a:lnSpc>
                        <a:spcAft>
                          <a:spcPts val="0"/>
                        </a:spcAft>
                      </a:pPr>
                      <a:r>
                        <a:rPr lang="en-US" sz="1800" kern="0">
                          <a:effectLst/>
                        </a:rPr>
                        <a:t>B</a:t>
                      </a:r>
                      <a:r>
                        <a:rPr lang="en-US" sz="1800" kern="100" baseline="-25000">
                          <a:effectLst/>
                        </a:rPr>
                        <a:t>3</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9</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12</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B</a:t>
                      </a:r>
                      <a:r>
                        <a:rPr lang="en-US" sz="1800" kern="100" baseline="-25000">
                          <a:effectLst/>
                        </a:rPr>
                        <a:t>2</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l">
                        <a:lnSpc>
                          <a:spcPct val="100000"/>
                        </a:lnSpc>
                        <a:spcAft>
                          <a:spcPts val="0"/>
                        </a:spcAft>
                      </a:pPr>
                      <a:r>
                        <a:rPr lang="en-US" sz="1800" kern="0">
                          <a:effectLst/>
                        </a:rPr>
                        <a:t>B</a:t>
                      </a:r>
                      <a:r>
                        <a:rPr lang="en-US" sz="1800" kern="100" baseline="-25000">
                          <a:effectLst/>
                        </a:rPr>
                        <a:t>4</a:t>
                      </a:r>
                      <a:r>
                        <a:rPr lang="zh-CN" sz="1800" kern="0">
                          <a:effectLst/>
                        </a:rPr>
                        <a:t>，</a:t>
                      </a:r>
                      <a:r>
                        <a:rPr lang="en-US" sz="1800" kern="0">
                          <a:effectLst/>
                        </a:rPr>
                        <a:t>B</a:t>
                      </a:r>
                      <a:r>
                        <a:rPr lang="en-US" sz="1800" kern="100" baseline="-25000">
                          <a:effectLst/>
                        </a:rPr>
                        <a:t>3</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55672">
                <a:tc>
                  <a:txBody>
                    <a:bodyPr/>
                    <a:lstStyle/>
                    <a:p>
                      <a:pPr marR="86360" algn="ctr">
                        <a:lnSpc>
                          <a:spcPct val="100000"/>
                        </a:lnSpc>
                        <a:spcAft>
                          <a:spcPts val="0"/>
                        </a:spcAft>
                      </a:pPr>
                      <a:r>
                        <a:rPr lang="en-US" sz="1800" kern="0">
                          <a:effectLst/>
                        </a:rPr>
                        <a:t>B</a:t>
                      </a:r>
                      <a:r>
                        <a:rPr lang="en-US" sz="1800" kern="100" baseline="-25000">
                          <a:effectLst/>
                        </a:rPr>
                        <a:t>4</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13</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13</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B</a:t>
                      </a:r>
                      <a:r>
                        <a:rPr lang="en-US" sz="1800" kern="100" baseline="-25000">
                          <a:effectLst/>
                        </a:rPr>
                        <a:t>3</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l">
                        <a:lnSpc>
                          <a:spcPct val="100000"/>
                        </a:lnSpc>
                        <a:spcAft>
                          <a:spcPts val="0"/>
                        </a:spcAft>
                      </a:pPr>
                      <a:r>
                        <a:rPr lang="en-US" sz="1800" kern="0">
                          <a:effectLst/>
                        </a:rPr>
                        <a:t>B</a:t>
                      </a:r>
                      <a:r>
                        <a:rPr lang="en-US" sz="1800" kern="100" baseline="-25000">
                          <a:effectLst/>
                        </a:rPr>
                        <a:t>5</a:t>
                      </a:r>
                      <a:r>
                        <a:rPr lang="zh-CN" sz="1800" kern="0">
                          <a:effectLst/>
                        </a:rPr>
                        <a:t>，</a:t>
                      </a:r>
                      <a:r>
                        <a:rPr lang="en-US" sz="1800" kern="0">
                          <a:effectLst/>
                        </a:rPr>
                        <a:t>B</a:t>
                      </a:r>
                      <a:r>
                        <a:rPr lang="en-US" sz="1800" kern="100" baseline="-25000">
                          <a:effectLst/>
                        </a:rPr>
                        <a:t>6</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55672">
                <a:tc>
                  <a:txBody>
                    <a:bodyPr/>
                    <a:lstStyle/>
                    <a:p>
                      <a:pPr marR="86360" algn="ctr">
                        <a:lnSpc>
                          <a:spcPct val="100000"/>
                        </a:lnSpc>
                        <a:spcAft>
                          <a:spcPts val="0"/>
                        </a:spcAft>
                      </a:pPr>
                      <a:r>
                        <a:rPr lang="en-US" sz="1800" kern="0">
                          <a:effectLst/>
                        </a:rPr>
                        <a:t>B</a:t>
                      </a:r>
                      <a:r>
                        <a:rPr lang="en-US" sz="1800" kern="100" baseline="-25000">
                          <a:effectLst/>
                        </a:rPr>
                        <a:t>5</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14</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22</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B</a:t>
                      </a:r>
                      <a:r>
                        <a:rPr lang="en-US" sz="1800" kern="100" baseline="-25000">
                          <a:effectLst/>
                        </a:rPr>
                        <a:t>4</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l">
                        <a:lnSpc>
                          <a:spcPct val="100000"/>
                        </a:lnSpc>
                        <a:spcAft>
                          <a:spcPts val="0"/>
                        </a:spcAft>
                      </a:pPr>
                      <a:r>
                        <a:rPr lang="en-US" sz="1800" kern="0">
                          <a:effectLst/>
                        </a:rPr>
                        <a:t>B</a:t>
                      </a:r>
                      <a:r>
                        <a:rPr lang="en-US" sz="1800" kern="100" baseline="-25000">
                          <a:effectLst/>
                        </a:rPr>
                        <a:t>2</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55672">
                <a:tc>
                  <a:txBody>
                    <a:bodyPr/>
                    <a:lstStyle/>
                    <a:p>
                      <a:pPr marR="86360" algn="ctr">
                        <a:lnSpc>
                          <a:spcPct val="100000"/>
                        </a:lnSpc>
                        <a:spcAft>
                          <a:spcPts val="0"/>
                        </a:spcAft>
                      </a:pPr>
                      <a:r>
                        <a:rPr lang="en-US" sz="1800" kern="0">
                          <a:effectLst/>
                        </a:rPr>
                        <a:t>B</a:t>
                      </a:r>
                      <a:r>
                        <a:rPr lang="en-US" sz="1800" kern="100" baseline="-25000">
                          <a:effectLst/>
                        </a:rPr>
                        <a:t>6</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23</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30</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ctr">
                        <a:lnSpc>
                          <a:spcPct val="100000"/>
                        </a:lnSpc>
                        <a:spcAft>
                          <a:spcPts val="0"/>
                        </a:spcAft>
                      </a:pPr>
                      <a:r>
                        <a:rPr lang="en-US" sz="1800" kern="0">
                          <a:effectLst/>
                        </a:rPr>
                        <a:t>B</a:t>
                      </a:r>
                      <a:r>
                        <a:rPr lang="en-US" sz="1800" kern="100" baseline="-25000">
                          <a:effectLst/>
                        </a:rPr>
                        <a:t>4</a:t>
                      </a:r>
                      <a:endParaRPr lang="zh-CN" sz="18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86360" algn="l">
                        <a:lnSpc>
                          <a:spcPct val="100000"/>
                        </a:lnSpc>
                        <a:spcAft>
                          <a:spcPts val="0"/>
                        </a:spcAft>
                      </a:pPr>
                      <a:r>
                        <a:rPr lang="en-US" sz="1800" kern="0" dirty="0">
                          <a:effectLst/>
                        </a:rPr>
                        <a:t> </a:t>
                      </a:r>
                      <a:endParaRPr lang="zh-CN" sz="18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 name="标题 2"/>
          <p:cNvSpPr>
            <a:spLocks noGrp="1"/>
          </p:cNvSpPr>
          <p:nvPr>
            <p:ph type="title"/>
          </p:nvPr>
        </p:nvSpPr>
        <p:spPr>
          <a:xfrm>
            <a:off x="0" y="267494"/>
            <a:ext cx="8229600" cy="576064"/>
          </a:xfrm>
        </p:spPr>
        <p:txBody>
          <a:bodyPr>
            <a:normAutofit fontScale="90000"/>
          </a:bodyPr>
          <a:lstStyle/>
          <a:p>
            <a:pPr lvl="0"/>
            <a:r>
              <a:rPr lang="zh-CN" altLang="en-US" b="0" dirty="0" bmk="_Ref163411460">
                <a:solidFill>
                  <a:srgbClr val="CC00FF"/>
                </a:solidFill>
                <a:effectLst/>
                <a:cs typeface="Times New Roman" pitchFamily="18" charset="0"/>
              </a:rPr>
              <a:t>基本块之间的关系的表格表示</a:t>
            </a:r>
            <a:endParaRPr lang="zh-CN" altLang="en-US" dirty="0">
              <a:solidFill>
                <a:srgbClr val="CC00FF"/>
              </a:solidFill>
            </a:endParaRPr>
          </a:p>
        </p:txBody>
      </p:sp>
    </p:spTree>
    <p:extLst>
      <p:ext uri="{BB962C8B-B14F-4D97-AF65-F5344CB8AC3E}">
        <p14:creationId xmlns:p14="http://schemas.microsoft.com/office/powerpoint/2010/main" val="1252167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3277967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3371436" cy="769441"/>
          </a:xfrm>
          <a:prstGeom prst="rect">
            <a:avLst/>
          </a:prstGeom>
        </p:spPr>
        <p:txBody>
          <a:bodyPr wrap="none">
            <a:spAutoFit/>
          </a:bodyPr>
          <a:lstStyle/>
          <a:p>
            <a:r>
              <a:rPr lang="en-US" altLang="zh-CN" sz="4400" b="1" dirty="0">
                <a:solidFill>
                  <a:srgbClr val="CC0099"/>
                </a:solidFill>
                <a:ea typeface="隶书" pitchFamily="49" charset="-122"/>
              </a:rPr>
              <a:t>2</a:t>
            </a:r>
            <a:r>
              <a:rPr lang="zh-CN" altLang="en-US" sz="4400" b="1" dirty="0">
                <a:solidFill>
                  <a:srgbClr val="CC0099"/>
                </a:solidFill>
                <a:ea typeface="隶书" pitchFamily="49" charset="-122"/>
              </a:rPr>
              <a:t>、局部优化</a:t>
            </a:r>
          </a:p>
        </p:txBody>
      </p:sp>
    </p:spTree>
    <p:extLst>
      <p:ext uri="{BB962C8B-B14F-4D97-AF65-F5344CB8AC3E}">
        <p14:creationId xmlns:p14="http://schemas.microsoft.com/office/powerpoint/2010/main" val="2881610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normAutofit fontScale="90000"/>
          </a:bodyPr>
          <a:lstStyle/>
          <a:p>
            <a:r>
              <a:rPr lang="zh-CN" altLang="zh-CN" sz="4800" b="1" dirty="0">
                <a:solidFill>
                  <a:srgbClr val="CC0099"/>
                </a:solidFill>
                <a:ea typeface="隶书" pitchFamily="49" charset="-122"/>
              </a:rPr>
              <a:t>局部优化</a:t>
            </a:r>
            <a:endParaRPr lang="zh-CN" altLang="en-US" sz="4800" b="1" dirty="0">
              <a:solidFill>
                <a:srgbClr val="CC0099"/>
              </a:solidFill>
              <a:ea typeface="隶书" pitchFamily="49" charset="-122"/>
            </a:endParaRPr>
          </a:p>
        </p:txBody>
      </p:sp>
      <p:sp>
        <p:nvSpPr>
          <p:cNvPr id="22531" name="内容占位符 2"/>
          <p:cNvSpPr>
            <a:spLocks noGrp="1"/>
          </p:cNvSpPr>
          <p:nvPr>
            <p:ph idx="1"/>
          </p:nvPr>
        </p:nvSpPr>
        <p:spPr>
          <a:xfrm>
            <a:off x="539552" y="1059582"/>
            <a:ext cx="7772400" cy="2880320"/>
          </a:xfrm>
        </p:spPr>
        <p:txBody>
          <a:bodyPr>
            <a:noAutofit/>
          </a:bodyPr>
          <a:lstStyle/>
          <a:p>
            <a:pPr>
              <a:spcBef>
                <a:spcPts val="0"/>
              </a:spcBef>
            </a:pPr>
            <a:r>
              <a:rPr lang="zh-CN" altLang="zh-CN" sz="2200" dirty="0"/>
              <a:t>如果实现变换时只考察一个</a:t>
            </a:r>
            <a:r>
              <a:rPr lang="zh-CN" altLang="zh-CN" sz="2200" b="1" dirty="0">
                <a:solidFill>
                  <a:srgbClr val="9900CC"/>
                </a:solidFill>
              </a:rPr>
              <a:t>基本块内</a:t>
            </a:r>
            <a:r>
              <a:rPr lang="zh-CN" altLang="zh-CN" sz="2200" dirty="0"/>
              <a:t>的语句则称为</a:t>
            </a:r>
            <a:r>
              <a:rPr lang="zh-CN" altLang="zh-CN" sz="2200" b="1" dirty="0">
                <a:solidFill>
                  <a:srgbClr val="C00000"/>
                </a:solidFill>
              </a:rPr>
              <a:t>局部优化</a:t>
            </a:r>
            <a:r>
              <a:rPr lang="zh-CN" altLang="zh-CN" sz="2200" dirty="0"/>
              <a:t>，在</a:t>
            </a:r>
            <a:r>
              <a:rPr lang="zh-CN" altLang="zh-CN" sz="2200" dirty="0">
                <a:solidFill>
                  <a:srgbClr val="9900CC"/>
                </a:solidFill>
              </a:rPr>
              <a:t>整个程序范围</a:t>
            </a:r>
            <a:r>
              <a:rPr lang="zh-CN" altLang="zh-CN" sz="2200" dirty="0"/>
              <a:t>内进行的优化称为</a:t>
            </a:r>
            <a:r>
              <a:rPr lang="zh-CN" altLang="zh-CN" sz="2200" b="1" dirty="0">
                <a:solidFill>
                  <a:srgbClr val="C00000"/>
                </a:solidFill>
              </a:rPr>
              <a:t>全局优化</a:t>
            </a:r>
            <a:r>
              <a:rPr lang="zh-CN" altLang="zh-CN" sz="2200" dirty="0"/>
              <a:t>。</a:t>
            </a:r>
            <a:endParaRPr lang="en-US" altLang="zh-CN" sz="2200" dirty="0"/>
          </a:p>
          <a:p>
            <a:pPr>
              <a:spcBef>
                <a:spcPts val="0"/>
              </a:spcBef>
            </a:pPr>
            <a:r>
              <a:rPr lang="zh-CN" altLang="zh-CN" sz="2200" dirty="0"/>
              <a:t>在基本块内可以进行的优化包括：</a:t>
            </a:r>
            <a:endParaRPr lang="en-US" altLang="zh-CN" sz="2200" dirty="0"/>
          </a:p>
          <a:p>
            <a:pPr lvl="1">
              <a:spcBef>
                <a:spcPts val="0"/>
              </a:spcBef>
            </a:pPr>
            <a:r>
              <a:rPr lang="zh-CN" altLang="zh-CN" dirty="0"/>
              <a:t>删除公共子表达式</a:t>
            </a:r>
            <a:endParaRPr lang="en-US" altLang="zh-CN" dirty="0"/>
          </a:p>
          <a:p>
            <a:pPr lvl="1">
              <a:spcBef>
                <a:spcPts val="0"/>
              </a:spcBef>
            </a:pPr>
            <a:r>
              <a:rPr lang="zh-CN" altLang="en-US" dirty="0"/>
              <a:t>复写传播</a:t>
            </a:r>
            <a:endParaRPr lang="en-US" altLang="zh-CN" dirty="0"/>
          </a:p>
          <a:p>
            <a:pPr lvl="1">
              <a:spcBef>
                <a:spcPts val="0"/>
              </a:spcBef>
            </a:pPr>
            <a:r>
              <a:rPr lang="zh-CN" altLang="zh-CN" dirty="0"/>
              <a:t>删除无用赋值</a:t>
            </a:r>
            <a:endParaRPr lang="en-US" altLang="zh-CN" dirty="0"/>
          </a:p>
          <a:p>
            <a:pPr lvl="1">
              <a:spcBef>
                <a:spcPts val="0"/>
              </a:spcBef>
            </a:pPr>
            <a:r>
              <a:rPr lang="zh-CN" altLang="en-US" dirty="0"/>
              <a:t>代数恒等变换</a:t>
            </a:r>
            <a:endParaRPr lang="en-US" altLang="zh-CN" dirty="0"/>
          </a:p>
          <a:p>
            <a:pPr>
              <a:spcBef>
                <a:spcPts val="0"/>
              </a:spcBef>
            </a:pPr>
            <a:r>
              <a:rPr lang="zh-CN" altLang="en-US" sz="2200" dirty="0"/>
              <a:t>基本块的</a:t>
            </a:r>
            <a:r>
              <a:rPr lang="en-US" altLang="zh-CN" sz="2200" dirty="0"/>
              <a:t>DAG</a:t>
            </a:r>
            <a:r>
              <a:rPr lang="zh-CN" altLang="en-US" sz="2200" dirty="0"/>
              <a:t>表示及优化</a:t>
            </a:r>
            <a:endParaRPr lang="en-US" altLang="zh-CN" sz="2200" dirty="0"/>
          </a:p>
        </p:txBody>
      </p:sp>
      <p:sp>
        <p:nvSpPr>
          <p:cNvPr id="2" name="矩形 1"/>
          <p:cNvSpPr/>
          <p:nvPr/>
        </p:nvSpPr>
        <p:spPr>
          <a:xfrm>
            <a:off x="1259632" y="4227934"/>
            <a:ext cx="7128792" cy="430887"/>
          </a:xfrm>
          <a:prstGeom prst="rect">
            <a:avLst/>
          </a:prstGeom>
        </p:spPr>
        <p:txBody>
          <a:bodyPr wrap="square">
            <a:spAutoFit/>
          </a:bodyPr>
          <a:lstStyle/>
          <a:p>
            <a:pPr>
              <a:spcBef>
                <a:spcPts val="0"/>
              </a:spcBef>
            </a:pPr>
            <a:r>
              <a:rPr lang="zh-CN" altLang="zh-CN" sz="2200" dirty="0"/>
              <a:t>合并已知量、对临时变量改名、对语句变换位置等。</a:t>
            </a:r>
            <a:endParaRPr lang="zh-CN" altLang="en-US" sz="2200" dirty="0"/>
          </a:p>
        </p:txBody>
      </p:sp>
    </p:spTree>
    <p:extLst>
      <p:ext uri="{BB962C8B-B14F-4D97-AF65-F5344CB8AC3E}">
        <p14:creationId xmlns:p14="http://schemas.microsoft.com/office/powerpoint/2010/main" val="412589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04800" y="57150"/>
            <a:ext cx="6211416" cy="514350"/>
          </a:xfrm>
          <a:noFill/>
        </p:spPr>
        <p:txBody>
          <a:bodyPr>
            <a:noAutofit/>
          </a:bodyPr>
          <a:lstStyle/>
          <a:p>
            <a:pPr eaLnBrk="1" hangingPunct="1"/>
            <a:r>
              <a:rPr lang="zh-CN" altLang="en-US" sz="3200" b="1" dirty="0">
                <a:solidFill>
                  <a:srgbClr val="CC00FF"/>
                </a:solidFill>
                <a:sym typeface="Symbol" pitchFamily="18" charset="2"/>
              </a:rPr>
              <a:t>优化技术</a:t>
            </a:r>
            <a:r>
              <a:rPr lang="en-US" altLang="zh-CN" sz="3200" b="1" dirty="0">
                <a:solidFill>
                  <a:srgbClr val="CC00FF"/>
                </a:solidFill>
                <a:sym typeface="Symbol" pitchFamily="18" charset="2"/>
              </a:rPr>
              <a:t>1—</a:t>
            </a:r>
            <a:r>
              <a:rPr lang="zh-CN" altLang="en-US" sz="3200" b="1" dirty="0">
                <a:solidFill>
                  <a:srgbClr val="CC00FF"/>
                </a:solidFill>
                <a:sym typeface="Symbol" pitchFamily="18" charset="2"/>
              </a:rPr>
              <a:t>删除公共子表达式</a:t>
            </a:r>
          </a:p>
        </p:txBody>
      </p:sp>
      <p:sp>
        <p:nvSpPr>
          <p:cNvPr id="23555" name="Rectangle 4"/>
          <p:cNvSpPr>
            <a:spLocks noGrp="1" noChangeArrowheads="1"/>
          </p:cNvSpPr>
          <p:nvPr>
            <p:ph type="body" idx="1"/>
          </p:nvPr>
        </p:nvSpPr>
        <p:spPr>
          <a:xfrm>
            <a:off x="685800" y="742950"/>
            <a:ext cx="7772400" cy="748680"/>
          </a:xfrm>
        </p:spPr>
        <p:txBody>
          <a:bodyPr>
            <a:noAutofit/>
          </a:bodyPr>
          <a:lstStyle/>
          <a:p>
            <a:pPr eaLnBrk="1" hangingPunct="1"/>
            <a:r>
              <a:rPr lang="zh-CN" altLang="en-US" sz="2000" dirty="0"/>
              <a:t>如果表达式</a:t>
            </a:r>
            <a:r>
              <a:rPr lang="en-US" altLang="zh-CN" sz="2000" dirty="0"/>
              <a:t>E</a:t>
            </a:r>
            <a:r>
              <a:rPr lang="zh-CN" altLang="en-US" sz="2000" dirty="0"/>
              <a:t>已经在前面计算过，并在计算之后</a:t>
            </a:r>
            <a:r>
              <a:rPr lang="en-US" altLang="zh-CN" sz="2000" dirty="0"/>
              <a:t>E</a:t>
            </a:r>
            <a:r>
              <a:rPr lang="zh-CN" altLang="en-US" sz="2000" dirty="0"/>
              <a:t>的值没有改变，则称该表达式为公共子表达式。可以避免重复计算。</a:t>
            </a:r>
          </a:p>
        </p:txBody>
      </p:sp>
      <p:sp>
        <p:nvSpPr>
          <p:cNvPr id="23556" name="Rectangle 5"/>
          <p:cNvSpPr>
            <a:spLocks noChangeArrowheads="1"/>
          </p:cNvSpPr>
          <p:nvPr/>
        </p:nvSpPr>
        <p:spPr bwMode="auto">
          <a:xfrm>
            <a:off x="722040" y="1719972"/>
            <a:ext cx="1327768" cy="28623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zh-CN" sz="2000" b="1" dirty="0">
                <a:solidFill>
                  <a:srgbClr val="000000"/>
                </a:solidFill>
                <a:latin typeface="宋体" pitchFamily="2" charset="-122"/>
              </a:rPr>
              <a:t>T6=4*</a:t>
            </a:r>
            <a:r>
              <a:rPr lang="en-US" altLang="zh-CN" sz="2000" b="1" dirty="0" err="1">
                <a:solidFill>
                  <a:srgbClr val="000000"/>
                </a:solidFill>
                <a:latin typeface="宋体" pitchFamily="2" charset="-122"/>
              </a:rPr>
              <a:t>i</a:t>
            </a:r>
            <a:endParaRPr lang="zh-CN" altLang="zh-CN" sz="2000" b="1" dirty="0">
              <a:solidFill>
                <a:srgbClr val="000000"/>
              </a:solidFill>
              <a:latin typeface="宋体" pitchFamily="2" charset="-122"/>
            </a:endParaRPr>
          </a:p>
          <a:p>
            <a:pPr eaLnBrk="1" hangingPunct="1">
              <a:spcBef>
                <a:spcPct val="0"/>
              </a:spcBef>
              <a:buFontTx/>
              <a:buNone/>
            </a:pPr>
            <a:r>
              <a:rPr lang="zh-CN" altLang="zh-CN" sz="2000" b="1" dirty="0">
                <a:solidFill>
                  <a:srgbClr val="000000"/>
                </a:solidFill>
                <a:latin typeface="宋体" pitchFamily="2" charset="-122"/>
              </a:rPr>
              <a:t>x=a[T6]</a:t>
            </a:r>
          </a:p>
          <a:p>
            <a:pPr eaLnBrk="1" hangingPunct="1">
              <a:spcBef>
                <a:spcPct val="0"/>
              </a:spcBef>
              <a:buFontTx/>
              <a:buNone/>
            </a:pPr>
            <a:r>
              <a:rPr lang="zh-CN" altLang="zh-CN" sz="2000" b="1" dirty="0">
                <a:solidFill>
                  <a:srgbClr val="000000"/>
                </a:solidFill>
                <a:latin typeface="宋体" pitchFamily="2" charset="-122"/>
              </a:rPr>
              <a:t>T7=</a:t>
            </a:r>
            <a:r>
              <a:rPr lang="zh-CN" altLang="zh-CN" sz="2000" b="1" dirty="0">
                <a:solidFill>
                  <a:srgbClr val="FF0000"/>
                </a:solidFill>
                <a:latin typeface="宋体" pitchFamily="2" charset="-122"/>
              </a:rPr>
              <a:t>4*i</a:t>
            </a:r>
          </a:p>
          <a:p>
            <a:pPr eaLnBrk="1" hangingPunct="1">
              <a:spcBef>
                <a:spcPct val="0"/>
              </a:spcBef>
              <a:buFontTx/>
              <a:buNone/>
            </a:pPr>
            <a:r>
              <a:rPr lang="zh-CN" altLang="zh-CN" sz="2000" b="1" dirty="0">
                <a:solidFill>
                  <a:srgbClr val="000000"/>
                </a:solidFill>
                <a:latin typeface="宋体" pitchFamily="2" charset="-122"/>
              </a:rPr>
              <a:t>T8=4*j</a:t>
            </a:r>
          </a:p>
          <a:p>
            <a:pPr eaLnBrk="1" hangingPunct="1">
              <a:spcBef>
                <a:spcPct val="0"/>
              </a:spcBef>
              <a:buFontTx/>
              <a:buNone/>
            </a:pPr>
            <a:r>
              <a:rPr lang="zh-CN" altLang="zh-CN" sz="2000" b="1" dirty="0">
                <a:solidFill>
                  <a:srgbClr val="000000"/>
                </a:solidFill>
                <a:latin typeface="宋体" pitchFamily="2" charset="-122"/>
              </a:rPr>
              <a:t>T9=a[T8]</a:t>
            </a:r>
          </a:p>
          <a:p>
            <a:pPr eaLnBrk="1" hangingPunct="1">
              <a:spcBef>
                <a:spcPct val="0"/>
              </a:spcBef>
              <a:buFontTx/>
              <a:buNone/>
            </a:pPr>
            <a:r>
              <a:rPr lang="zh-CN" altLang="zh-CN" sz="2000" b="1" dirty="0">
                <a:solidFill>
                  <a:srgbClr val="000000"/>
                </a:solidFill>
                <a:latin typeface="宋体" pitchFamily="2" charset="-122"/>
              </a:rPr>
              <a:t>a[T7]=T9</a:t>
            </a:r>
          </a:p>
          <a:p>
            <a:pPr eaLnBrk="1" hangingPunct="1">
              <a:spcBef>
                <a:spcPct val="0"/>
              </a:spcBef>
              <a:buFontTx/>
              <a:buNone/>
            </a:pPr>
            <a:r>
              <a:rPr lang="zh-CN" altLang="zh-CN" sz="2000" b="1" dirty="0">
                <a:solidFill>
                  <a:srgbClr val="000000"/>
                </a:solidFill>
                <a:latin typeface="宋体" pitchFamily="2" charset="-122"/>
              </a:rPr>
              <a:t>T10=</a:t>
            </a:r>
            <a:r>
              <a:rPr lang="zh-CN" altLang="zh-CN" sz="2000" b="1" dirty="0">
                <a:solidFill>
                  <a:srgbClr val="FF0000"/>
                </a:solidFill>
                <a:latin typeface="宋体" pitchFamily="2" charset="-122"/>
              </a:rPr>
              <a:t>4*j</a:t>
            </a:r>
          </a:p>
          <a:p>
            <a:pPr eaLnBrk="1" hangingPunct="1">
              <a:spcBef>
                <a:spcPct val="0"/>
              </a:spcBef>
              <a:buFontTx/>
              <a:buNone/>
            </a:pPr>
            <a:r>
              <a:rPr lang="zh-CN" altLang="zh-CN" sz="2000" b="1" dirty="0">
                <a:solidFill>
                  <a:srgbClr val="000000"/>
                </a:solidFill>
                <a:latin typeface="宋体" pitchFamily="2" charset="-122"/>
              </a:rPr>
              <a:t>a[T10]=x</a:t>
            </a:r>
          </a:p>
          <a:p>
            <a:pPr eaLnBrk="1" hangingPunct="1">
              <a:spcBef>
                <a:spcPct val="0"/>
              </a:spcBef>
              <a:buFontTx/>
              <a:buNone/>
            </a:pPr>
            <a:r>
              <a:rPr lang="zh-CN" altLang="zh-CN" sz="2000" b="1" dirty="0">
                <a:solidFill>
                  <a:srgbClr val="000000"/>
                </a:solidFill>
                <a:latin typeface="宋体" pitchFamily="2" charset="-122"/>
              </a:rPr>
              <a:t>goto B2</a:t>
            </a:r>
          </a:p>
        </p:txBody>
      </p:sp>
      <p:sp>
        <p:nvSpPr>
          <p:cNvPr id="114694" name="AutoShape 6"/>
          <p:cNvSpPr>
            <a:spLocks noChangeArrowheads="1"/>
          </p:cNvSpPr>
          <p:nvPr/>
        </p:nvSpPr>
        <p:spPr bwMode="auto">
          <a:xfrm>
            <a:off x="2018184" y="3148722"/>
            <a:ext cx="1831032" cy="342900"/>
          </a:xfrm>
          <a:prstGeom prst="rightArrow">
            <a:avLst>
              <a:gd name="adj1" fmla="val 50000"/>
              <a:gd name="adj2" fmla="val 125000"/>
            </a:avLst>
          </a:prstGeom>
          <a:solidFill>
            <a:schemeClr val="accent1"/>
          </a:solidFill>
          <a:ln w="9525">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1800"/>
          </a:p>
        </p:txBody>
      </p:sp>
      <p:sp>
        <p:nvSpPr>
          <p:cNvPr id="114695" name="Rectangle 7"/>
          <p:cNvSpPr>
            <a:spLocks noChangeArrowheads="1"/>
          </p:cNvSpPr>
          <p:nvPr/>
        </p:nvSpPr>
        <p:spPr bwMode="auto">
          <a:xfrm>
            <a:off x="3890392" y="1719972"/>
            <a:ext cx="1334879" cy="28623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zh-CN" sz="2000" b="1" dirty="0">
                <a:solidFill>
                  <a:srgbClr val="000000"/>
                </a:solidFill>
                <a:latin typeface="宋体" pitchFamily="2" charset="-122"/>
              </a:rPr>
              <a:t>T6=4*</a:t>
            </a:r>
            <a:r>
              <a:rPr lang="en-US" altLang="zh-CN" sz="2000" b="1" dirty="0" err="1">
                <a:solidFill>
                  <a:srgbClr val="000000"/>
                </a:solidFill>
                <a:latin typeface="宋体" pitchFamily="2" charset="-122"/>
              </a:rPr>
              <a:t>i</a:t>
            </a:r>
            <a:endParaRPr lang="zh-CN" altLang="zh-CN" sz="2000" b="1" dirty="0">
              <a:solidFill>
                <a:srgbClr val="000000"/>
              </a:solidFill>
              <a:latin typeface="宋体" pitchFamily="2" charset="-122"/>
            </a:endParaRPr>
          </a:p>
          <a:p>
            <a:pPr eaLnBrk="1" hangingPunct="1">
              <a:spcBef>
                <a:spcPct val="0"/>
              </a:spcBef>
              <a:buFontTx/>
              <a:buNone/>
            </a:pPr>
            <a:r>
              <a:rPr lang="zh-CN" altLang="zh-CN" sz="2000" b="1" dirty="0">
                <a:solidFill>
                  <a:srgbClr val="000000"/>
                </a:solidFill>
                <a:latin typeface="宋体" pitchFamily="2" charset="-122"/>
              </a:rPr>
              <a:t>x=a[T6]</a:t>
            </a:r>
          </a:p>
          <a:p>
            <a:pPr eaLnBrk="1" hangingPunct="1">
              <a:spcBef>
                <a:spcPct val="0"/>
              </a:spcBef>
              <a:buFontTx/>
              <a:buNone/>
            </a:pPr>
            <a:r>
              <a:rPr lang="zh-CN" altLang="zh-CN" sz="2000" b="1" dirty="0">
                <a:solidFill>
                  <a:srgbClr val="FF0000"/>
                </a:solidFill>
                <a:latin typeface="宋体" pitchFamily="2" charset="-122"/>
              </a:rPr>
              <a:t>T7=</a:t>
            </a:r>
            <a:r>
              <a:rPr lang="en-US" altLang="zh-CN" sz="2000" b="1" dirty="0">
                <a:solidFill>
                  <a:srgbClr val="FF0000"/>
                </a:solidFill>
                <a:latin typeface="宋体" pitchFamily="2" charset="-122"/>
              </a:rPr>
              <a:t>T6</a:t>
            </a:r>
            <a:endParaRPr lang="zh-CN" altLang="zh-CN" sz="2000" b="1" dirty="0">
              <a:solidFill>
                <a:srgbClr val="FF0000"/>
              </a:solidFill>
              <a:latin typeface="宋体" pitchFamily="2" charset="-122"/>
            </a:endParaRPr>
          </a:p>
          <a:p>
            <a:pPr eaLnBrk="1" hangingPunct="1">
              <a:spcBef>
                <a:spcPct val="0"/>
              </a:spcBef>
              <a:buFontTx/>
              <a:buNone/>
            </a:pPr>
            <a:r>
              <a:rPr lang="zh-CN" altLang="zh-CN" sz="2000" b="1" dirty="0">
                <a:solidFill>
                  <a:srgbClr val="000000"/>
                </a:solidFill>
                <a:latin typeface="宋体" pitchFamily="2" charset="-122"/>
              </a:rPr>
              <a:t>T8=4*j</a:t>
            </a:r>
          </a:p>
          <a:p>
            <a:pPr eaLnBrk="1" hangingPunct="1">
              <a:spcBef>
                <a:spcPct val="0"/>
              </a:spcBef>
              <a:buFontTx/>
              <a:buNone/>
            </a:pPr>
            <a:r>
              <a:rPr lang="zh-CN" altLang="zh-CN" sz="2000" b="1" dirty="0">
                <a:solidFill>
                  <a:srgbClr val="000000"/>
                </a:solidFill>
                <a:latin typeface="宋体" pitchFamily="2" charset="-122"/>
              </a:rPr>
              <a:t>T9=a[T8]</a:t>
            </a:r>
          </a:p>
          <a:p>
            <a:pPr eaLnBrk="1" hangingPunct="1">
              <a:spcBef>
                <a:spcPct val="0"/>
              </a:spcBef>
              <a:buFontTx/>
              <a:buNone/>
            </a:pPr>
            <a:r>
              <a:rPr lang="zh-CN" altLang="zh-CN" sz="2000" b="1" dirty="0">
                <a:solidFill>
                  <a:srgbClr val="000000"/>
                </a:solidFill>
                <a:latin typeface="宋体" pitchFamily="2" charset="-122"/>
              </a:rPr>
              <a:t>a[T7]=T9</a:t>
            </a:r>
          </a:p>
          <a:p>
            <a:pPr eaLnBrk="1" hangingPunct="1">
              <a:spcBef>
                <a:spcPct val="0"/>
              </a:spcBef>
              <a:buFontTx/>
              <a:buNone/>
            </a:pPr>
            <a:r>
              <a:rPr lang="zh-CN" altLang="zh-CN" sz="2000" b="1" dirty="0">
                <a:solidFill>
                  <a:srgbClr val="FF0000"/>
                </a:solidFill>
                <a:latin typeface="宋体" pitchFamily="2" charset="-122"/>
              </a:rPr>
              <a:t>T10=</a:t>
            </a:r>
            <a:r>
              <a:rPr lang="en-US" altLang="zh-CN" sz="2000" b="1" dirty="0">
                <a:solidFill>
                  <a:srgbClr val="FF0000"/>
                </a:solidFill>
                <a:latin typeface="宋体" pitchFamily="2" charset="-122"/>
              </a:rPr>
              <a:t>T8</a:t>
            </a:r>
            <a:endParaRPr lang="zh-CN" altLang="zh-CN" sz="2000" b="1" dirty="0">
              <a:solidFill>
                <a:srgbClr val="FF0000"/>
              </a:solidFill>
              <a:latin typeface="宋体" pitchFamily="2" charset="-122"/>
            </a:endParaRPr>
          </a:p>
          <a:p>
            <a:pPr eaLnBrk="1" hangingPunct="1">
              <a:spcBef>
                <a:spcPct val="0"/>
              </a:spcBef>
              <a:buFontTx/>
              <a:buNone/>
            </a:pPr>
            <a:r>
              <a:rPr lang="zh-CN" altLang="zh-CN" sz="2000" b="1" dirty="0">
                <a:solidFill>
                  <a:srgbClr val="000000"/>
                </a:solidFill>
                <a:latin typeface="宋体" pitchFamily="2" charset="-122"/>
              </a:rPr>
              <a:t>a[T10]=x</a:t>
            </a:r>
          </a:p>
          <a:p>
            <a:pPr eaLnBrk="1" hangingPunct="1">
              <a:spcBef>
                <a:spcPct val="0"/>
              </a:spcBef>
              <a:buFontTx/>
              <a:buNone/>
            </a:pPr>
            <a:r>
              <a:rPr lang="zh-CN" altLang="zh-CN" sz="2000" b="1" dirty="0">
                <a:solidFill>
                  <a:srgbClr val="000000"/>
                </a:solidFill>
                <a:latin typeface="宋体" pitchFamily="2" charset="-122"/>
              </a:rPr>
              <a:t>goto B2</a:t>
            </a:r>
          </a:p>
        </p:txBody>
      </p:sp>
      <p:sp>
        <p:nvSpPr>
          <p:cNvPr id="114696" name="Text Box 8"/>
          <p:cNvSpPr txBox="1">
            <a:spLocks noChangeArrowheads="1"/>
          </p:cNvSpPr>
          <p:nvPr/>
        </p:nvSpPr>
        <p:spPr bwMode="auto">
          <a:xfrm>
            <a:off x="2265040" y="2589128"/>
            <a:ext cx="1447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800" dirty="0"/>
              <a:t>4*</a:t>
            </a:r>
            <a:r>
              <a:rPr lang="en-US" altLang="zh-CN" sz="1800" dirty="0" err="1"/>
              <a:t>i</a:t>
            </a:r>
            <a:r>
              <a:rPr lang="zh-CN" altLang="en-US" sz="1800" dirty="0"/>
              <a:t>，</a:t>
            </a:r>
            <a:r>
              <a:rPr lang="en-US" altLang="zh-CN" sz="1800" dirty="0"/>
              <a:t>4*j</a:t>
            </a:r>
          </a:p>
          <a:p>
            <a:pPr eaLnBrk="1" hangingPunct="1">
              <a:spcBef>
                <a:spcPct val="0"/>
              </a:spcBef>
              <a:buFontTx/>
              <a:buNone/>
            </a:pPr>
            <a:r>
              <a:rPr lang="zh-CN" altLang="en-US" sz="1800" dirty="0"/>
              <a:t>重复计算</a:t>
            </a:r>
          </a:p>
        </p:txBody>
      </p:sp>
      <p:sp>
        <p:nvSpPr>
          <p:cNvPr id="3" name="矩形 2"/>
          <p:cNvSpPr/>
          <p:nvPr/>
        </p:nvSpPr>
        <p:spPr>
          <a:xfrm>
            <a:off x="7130752" y="1844714"/>
            <a:ext cx="1280120" cy="2862322"/>
          </a:xfrm>
          <a:prstGeom prst="rect">
            <a:avLst/>
          </a:prstGeom>
          <a:ln>
            <a:solidFill>
              <a:schemeClr val="tx1"/>
            </a:solidFill>
          </a:ln>
        </p:spPr>
        <p:txBody>
          <a:bodyPr wrap="square">
            <a:spAutoFit/>
          </a:bodyPr>
          <a:lstStyle/>
          <a:p>
            <a:r>
              <a:rPr lang="en-US" altLang="zh-CN" sz="2000" b="1" dirty="0">
                <a:latin typeface="宋体" panose="02010600030101010101" pitchFamily="2" charset="-122"/>
                <a:ea typeface="宋体" panose="02010600030101010101" pitchFamily="2" charset="-122"/>
              </a:rPr>
              <a:t>T</a:t>
            </a:r>
            <a:r>
              <a:rPr lang="fr-FR" altLang="zh-CN" sz="2000" b="1" dirty="0">
                <a:latin typeface="宋体" panose="02010600030101010101" pitchFamily="2" charset="-122"/>
                <a:ea typeface="宋体" panose="02010600030101010101" pitchFamily="2" charset="-122"/>
              </a:rPr>
              <a:t>6</a:t>
            </a:r>
            <a:r>
              <a:rPr lang="en-US" altLang="zh-CN" sz="2000" b="1" dirty="0">
                <a:latin typeface="宋体" panose="02010600030101010101" pitchFamily="2" charset="-122"/>
                <a:ea typeface="宋体" panose="02010600030101010101" pitchFamily="2" charset="-122"/>
              </a:rPr>
              <a:t>=</a:t>
            </a:r>
            <a:r>
              <a:rPr lang="en-US" altLang="zh-CN" sz="2000" b="1" dirty="0">
                <a:solidFill>
                  <a:srgbClr val="FF0000"/>
                </a:solidFill>
                <a:latin typeface="宋体" panose="02010600030101010101" pitchFamily="2" charset="-122"/>
                <a:ea typeface="宋体" panose="02010600030101010101" pitchFamily="2" charset="-122"/>
              </a:rPr>
              <a:t>T</a:t>
            </a:r>
            <a:r>
              <a:rPr lang="fr-FR" altLang="zh-CN" sz="2000" b="1" dirty="0">
                <a:solidFill>
                  <a:srgbClr val="FF0000"/>
                </a:solidFill>
                <a:latin typeface="宋体" panose="02010600030101010101" pitchFamily="2" charset="-122"/>
                <a:ea typeface="宋体" panose="02010600030101010101" pitchFamily="2" charset="-122"/>
              </a:rPr>
              <a:t>2</a:t>
            </a:r>
            <a:endParaRPr lang="zh-CN" altLang="zh-CN" sz="2000" b="1" dirty="0">
              <a:solidFill>
                <a:srgbClr val="FF0000"/>
              </a:solidFill>
              <a:latin typeface="宋体" panose="02010600030101010101" pitchFamily="2" charset="-122"/>
              <a:ea typeface="宋体" panose="02010600030101010101" pitchFamily="2" charset="-122"/>
            </a:endParaRPr>
          </a:p>
          <a:p>
            <a:r>
              <a:rPr lang="en-US" altLang="zh-CN" sz="2000" b="1" dirty="0">
                <a:latin typeface="宋体" panose="02010600030101010101" pitchFamily="2" charset="-122"/>
                <a:ea typeface="宋体" panose="02010600030101010101" pitchFamily="2" charset="-122"/>
              </a:rPr>
              <a:t>x=a[T</a:t>
            </a:r>
            <a:r>
              <a:rPr lang="fr-FR" altLang="zh-CN" sz="2000" b="1" dirty="0">
                <a:latin typeface="宋体" panose="02010600030101010101" pitchFamily="2" charset="-122"/>
                <a:ea typeface="宋体" panose="02010600030101010101" pitchFamily="2" charset="-122"/>
              </a:rPr>
              <a:t>6</a:t>
            </a:r>
            <a:r>
              <a:rPr lang="en-US" altLang="zh-CN" sz="2000" b="1" dirty="0">
                <a:latin typeface="宋体" panose="02010600030101010101" pitchFamily="2" charset="-122"/>
                <a:ea typeface="宋体" panose="02010600030101010101" pitchFamily="2" charset="-122"/>
              </a:rPr>
              <a:t>]</a:t>
            </a:r>
            <a:endParaRPr lang="zh-CN" altLang="zh-CN" sz="2000" b="1" dirty="0">
              <a:latin typeface="宋体" panose="02010600030101010101" pitchFamily="2" charset="-122"/>
              <a:ea typeface="宋体" panose="02010600030101010101" pitchFamily="2" charset="-122"/>
            </a:endParaRPr>
          </a:p>
          <a:p>
            <a:r>
              <a:rPr lang="en-US" altLang="zh-CN" sz="2000" b="1" dirty="0">
                <a:latin typeface="宋体" panose="02010600030101010101" pitchFamily="2" charset="-122"/>
                <a:ea typeface="宋体" panose="02010600030101010101" pitchFamily="2" charset="-122"/>
              </a:rPr>
              <a:t>T</a:t>
            </a:r>
            <a:r>
              <a:rPr lang="fr-FR" altLang="zh-CN" sz="2000" b="1" dirty="0">
                <a:latin typeface="宋体" panose="02010600030101010101" pitchFamily="2" charset="-122"/>
                <a:ea typeface="宋体" panose="02010600030101010101" pitchFamily="2" charset="-122"/>
              </a:rPr>
              <a:t>7</a:t>
            </a:r>
            <a:r>
              <a:rPr lang="en-US" altLang="zh-CN" sz="2000" b="1" dirty="0">
                <a:latin typeface="宋体" panose="02010600030101010101" pitchFamily="2" charset="-122"/>
                <a:ea typeface="宋体" panose="02010600030101010101" pitchFamily="2" charset="-122"/>
              </a:rPr>
              <a:t>=</a:t>
            </a:r>
            <a:r>
              <a:rPr lang="fr-FR" altLang="zh-CN" sz="2000" b="1" dirty="0">
                <a:latin typeface="宋体" panose="02010600030101010101" pitchFamily="2" charset="-122"/>
                <a:ea typeface="宋体" panose="02010600030101010101" pitchFamily="2" charset="-122"/>
              </a:rPr>
              <a:t>T6</a:t>
            </a:r>
            <a:endParaRPr lang="zh-CN" altLang="zh-CN" sz="2000" b="1" dirty="0">
              <a:latin typeface="宋体" panose="02010600030101010101" pitchFamily="2" charset="-122"/>
              <a:ea typeface="宋体" panose="02010600030101010101" pitchFamily="2" charset="-122"/>
            </a:endParaRPr>
          </a:p>
          <a:p>
            <a:r>
              <a:rPr lang="en-US" altLang="zh-CN" sz="2000" b="1" dirty="0">
                <a:latin typeface="宋体" panose="02010600030101010101" pitchFamily="2" charset="-122"/>
                <a:ea typeface="宋体" panose="02010600030101010101" pitchFamily="2" charset="-122"/>
              </a:rPr>
              <a:t>T</a:t>
            </a:r>
            <a:r>
              <a:rPr lang="fr-FR" altLang="zh-CN" sz="2000" b="1" dirty="0">
                <a:latin typeface="宋体" panose="02010600030101010101" pitchFamily="2" charset="-122"/>
                <a:ea typeface="宋体" panose="02010600030101010101" pitchFamily="2" charset="-122"/>
              </a:rPr>
              <a:t>8</a:t>
            </a:r>
            <a:r>
              <a:rPr lang="en-US" altLang="zh-CN" sz="2000" b="1" dirty="0">
                <a:latin typeface="宋体" panose="02010600030101010101" pitchFamily="2" charset="-122"/>
                <a:ea typeface="宋体" panose="02010600030101010101" pitchFamily="2" charset="-122"/>
              </a:rPr>
              <a:t>=</a:t>
            </a:r>
            <a:r>
              <a:rPr lang="en-US" altLang="zh-CN" sz="2000" b="1" dirty="0">
                <a:solidFill>
                  <a:srgbClr val="FF0000"/>
                </a:solidFill>
                <a:latin typeface="宋体" panose="02010600030101010101" pitchFamily="2" charset="-122"/>
                <a:ea typeface="宋体" panose="02010600030101010101" pitchFamily="2" charset="-122"/>
              </a:rPr>
              <a:t>T</a:t>
            </a:r>
            <a:r>
              <a:rPr lang="fr-FR" altLang="zh-CN" sz="2000" b="1" dirty="0">
                <a:solidFill>
                  <a:srgbClr val="FF0000"/>
                </a:solidFill>
                <a:latin typeface="宋体" panose="02010600030101010101" pitchFamily="2" charset="-122"/>
                <a:ea typeface="宋体" panose="02010600030101010101" pitchFamily="2" charset="-122"/>
              </a:rPr>
              <a:t>4</a:t>
            </a:r>
            <a:endParaRPr lang="zh-CN" altLang="zh-CN" sz="2000" b="1" dirty="0">
              <a:solidFill>
                <a:srgbClr val="FF0000"/>
              </a:solidFill>
              <a:latin typeface="宋体" panose="02010600030101010101" pitchFamily="2" charset="-122"/>
              <a:ea typeface="宋体" panose="02010600030101010101" pitchFamily="2" charset="-122"/>
            </a:endParaRPr>
          </a:p>
          <a:p>
            <a:r>
              <a:rPr lang="en-US" altLang="zh-CN" sz="2000" b="1" dirty="0">
                <a:latin typeface="宋体" panose="02010600030101010101" pitchFamily="2" charset="-122"/>
                <a:ea typeface="宋体" panose="02010600030101010101" pitchFamily="2" charset="-122"/>
              </a:rPr>
              <a:t>T</a:t>
            </a:r>
            <a:r>
              <a:rPr lang="fr-FR" altLang="zh-CN" sz="2000" b="1" dirty="0">
                <a:latin typeface="宋体" panose="02010600030101010101" pitchFamily="2" charset="-122"/>
                <a:ea typeface="宋体" panose="02010600030101010101" pitchFamily="2" charset="-122"/>
              </a:rPr>
              <a:t>9</a:t>
            </a:r>
            <a:r>
              <a:rPr lang="en-US" altLang="zh-CN" sz="2000" b="1" dirty="0">
                <a:latin typeface="宋体" panose="02010600030101010101" pitchFamily="2" charset="-122"/>
                <a:ea typeface="宋体" panose="02010600030101010101" pitchFamily="2" charset="-122"/>
              </a:rPr>
              <a:t>=a[T</a:t>
            </a:r>
            <a:r>
              <a:rPr lang="fr-FR" altLang="zh-CN" sz="2000" b="1" dirty="0">
                <a:latin typeface="宋体" panose="02010600030101010101" pitchFamily="2" charset="-122"/>
                <a:ea typeface="宋体" panose="02010600030101010101" pitchFamily="2" charset="-122"/>
              </a:rPr>
              <a:t>8</a:t>
            </a:r>
            <a:r>
              <a:rPr lang="en-US" altLang="zh-CN" sz="2000" b="1" dirty="0">
                <a:latin typeface="宋体" panose="02010600030101010101" pitchFamily="2" charset="-122"/>
                <a:ea typeface="宋体" panose="02010600030101010101" pitchFamily="2" charset="-122"/>
              </a:rPr>
              <a:t>]</a:t>
            </a:r>
            <a:endParaRPr lang="zh-CN" altLang="zh-CN" sz="2000" b="1" dirty="0">
              <a:latin typeface="宋体" panose="02010600030101010101" pitchFamily="2" charset="-122"/>
              <a:ea typeface="宋体" panose="02010600030101010101" pitchFamily="2" charset="-122"/>
            </a:endParaRPr>
          </a:p>
          <a:p>
            <a:r>
              <a:rPr lang="en-US" altLang="zh-CN" sz="2000" b="1" dirty="0">
                <a:latin typeface="宋体" panose="02010600030101010101" pitchFamily="2" charset="-122"/>
                <a:ea typeface="宋体" panose="02010600030101010101" pitchFamily="2" charset="-122"/>
              </a:rPr>
              <a:t>a[T</a:t>
            </a:r>
            <a:r>
              <a:rPr lang="fr-FR" altLang="zh-CN" sz="2000" b="1" dirty="0">
                <a:latin typeface="宋体" panose="02010600030101010101" pitchFamily="2" charset="-122"/>
                <a:ea typeface="宋体" panose="02010600030101010101" pitchFamily="2" charset="-122"/>
              </a:rPr>
              <a:t>7</a:t>
            </a:r>
            <a:r>
              <a:rPr lang="en-US" altLang="zh-CN" sz="2000" b="1" dirty="0">
                <a:latin typeface="宋体" panose="02010600030101010101" pitchFamily="2" charset="-122"/>
                <a:ea typeface="宋体" panose="02010600030101010101" pitchFamily="2" charset="-122"/>
              </a:rPr>
              <a:t>]=T</a:t>
            </a:r>
            <a:r>
              <a:rPr lang="fr-FR" altLang="zh-CN" sz="2000" b="1" dirty="0">
                <a:latin typeface="宋体" panose="02010600030101010101" pitchFamily="2" charset="-122"/>
                <a:ea typeface="宋体" panose="02010600030101010101" pitchFamily="2" charset="-122"/>
              </a:rPr>
              <a:t>9</a:t>
            </a:r>
            <a:endParaRPr lang="zh-CN" altLang="zh-CN" sz="2000" b="1" dirty="0">
              <a:latin typeface="宋体" panose="02010600030101010101" pitchFamily="2" charset="-122"/>
              <a:ea typeface="宋体" panose="02010600030101010101" pitchFamily="2" charset="-122"/>
            </a:endParaRPr>
          </a:p>
          <a:p>
            <a:r>
              <a:rPr lang="en-US" altLang="zh-CN" sz="2000" b="1" dirty="0">
                <a:latin typeface="宋体" panose="02010600030101010101" pitchFamily="2" charset="-122"/>
                <a:ea typeface="宋体" panose="02010600030101010101" pitchFamily="2" charset="-122"/>
              </a:rPr>
              <a:t>T</a:t>
            </a:r>
            <a:r>
              <a:rPr lang="fr-FR" altLang="zh-CN" sz="2000" b="1" dirty="0">
                <a:latin typeface="宋体" panose="02010600030101010101" pitchFamily="2" charset="-122"/>
                <a:ea typeface="宋体" panose="02010600030101010101" pitchFamily="2" charset="-122"/>
              </a:rPr>
              <a:t>10</a:t>
            </a:r>
            <a:r>
              <a:rPr lang="en-US" altLang="zh-CN" sz="2000" b="1" dirty="0">
                <a:latin typeface="宋体" panose="02010600030101010101" pitchFamily="2" charset="-122"/>
                <a:ea typeface="宋体" panose="02010600030101010101" pitchFamily="2" charset="-122"/>
              </a:rPr>
              <a:t>=</a:t>
            </a:r>
            <a:r>
              <a:rPr lang="fr-FR" altLang="zh-CN" sz="2000" b="1" dirty="0">
                <a:latin typeface="宋体" panose="02010600030101010101" pitchFamily="2" charset="-122"/>
                <a:ea typeface="宋体" panose="02010600030101010101" pitchFamily="2" charset="-122"/>
              </a:rPr>
              <a:t>T8</a:t>
            </a:r>
            <a:endParaRPr lang="zh-CN" altLang="zh-CN" sz="2000" b="1" dirty="0">
              <a:latin typeface="宋体" panose="02010600030101010101" pitchFamily="2" charset="-122"/>
              <a:ea typeface="宋体" panose="02010600030101010101" pitchFamily="2" charset="-122"/>
            </a:endParaRPr>
          </a:p>
          <a:p>
            <a:r>
              <a:rPr lang="en-US" altLang="zh-CN" sz="2000" b="1" dirty="0">
                <a:latin typeface="宋体" panose="02010600030101010101" pitchFamily="2" charset="-122"/>
                <a:ea typeface="宋体" panose="02010600030101010101" pitchFamily="2" charset="-122"/>
              </a:rPr>
              <a:t>a[T</a:t>
            </a:r>
            <a:r>
              <a:rPr lang="fr-FR" altLang="zh-CN" sz="2000" b="1" dirty="0">
                <a:latin typeface="宋体" panose="02010600030101010101" pitchFamily="2" charset="-122"/>
                <a:ea typeface="宋体" panose="02010600030101010101" pitchFamily="2" charset="-122"/>
              </a:rPr>
              <a:t>10</a:t>
            </a:r>
            <a:r>
              <a:rPr lang="en-US" altLang="zh-CN" sz="2000" b="1" dirty="0">
                <a:latin typeface="宋体" panose="02010600030101010101" pitchFamily="2" charset="-122"/>
                <a:ea typeface="宋体" panose="02010600030101010101" pitchFamily="2" charset="-122"/>
              </a:rPr>
              <a:t>]=x</a:t>
            </a:r>
            <a:endParaRPr lang="zh-CN" altLang="zh-CN" sz="2000" b="1" dirty="0">
              <a:latin typeface="宋体" panose="02010600030101010101" pitchFamily="2" charset="-122"/>
              <a:ea typeface="宋体" panose="02010600030101010101" pitchFamily="2" charset="-122"/>
            </a:endParaRPr>
          </a:p>
          <a:p>
            <a:r>
              <a:rPr lang="en-US" altLang="zh-CN" sz="2000" b="1" dirty="0" err="1">
                <a:latin typeface="宋体" panose="02010600030101010101" pitchFamily="2" charset="-122"/>
                <a:ea typeface="宋体" panose="02010600030101010101" pitchFamily="2" charset="-122"/>
              </a:rPr>
              <a:t>goto</a:t>
            </a:r>
            <a:r>
              <a:rPr lang="en-US" altLang="zh-CN" sz="2000" b="1" dirty="0">
                <a:latin typeface="宋体" panose="02010600030101010101" pitchFamily="2" charset="-122"/>
                <a:ea typeface="宋体" panose="02010600030101010101" pitchFamily="2" charset="-122"/>
              </a:rPr>
              <a:t> B</a:t>
            </a:r>
            <a:r>
              <a:rPr lang="fr-FR" altLang="zh-CN" sz="2000" b="1" dirty="0">
                <a:latin typeface="宋体" panose="02010600030101010101" pitchFamily="2" charset="-122"/>
                <a:ea typeface="宋体" panose="02010600030101010101" pitchFamily="2" charset="-122"/>
              </a:rPr>
              <a:t>2</a:t>
            </a:r>
            <a:endParaRPr lang="zh-CN" altLang="en-US" sz="2000" b="1" dirty="0">
              <a:latin typeface="宋体" panose="02010600030101010101" pitchFamily="2" charset="-122"/>
              <a:ea typeface="宋体" panose="02010600030101010101" pitchFamily="2" charset="-122"/>
            </a:endParaRPr>
          </a:p>
        </p:txBody>
      </p:sp>
      <p:sp>
        <p:nvSpPr>
          <p:cNvPr id="10" name="AutoShape 6"/>
          <p:cNvSpPr>
            <a:spLocks noChangeArrowheads="1"/>
          </p:cNvSpPr>
          <p:nvPr/>
        </p:nvSpPr>
        <p:spPr bwMode="auto">
          <a:xfrm>
            <a:off x="5258544" y="3171581"/>
            <a:ext cx="1831032" cy="342900"/>
          </a:xfrm>
          <a:prstGeom prst="rightArrow">
            <a:avLst>
              <a:gd name="adj1" fmla="val 50000"/>
              <a:gd name="adj2" fmla="val 125000"/>
            </a:avLst>
          </a:prstGeom>
          <a:solidFill>
            <a:schemeClr val="accent1"/>
          </a:solidFill>
          <a:ln w="9525">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1800"/>
          </a:p>
        </p:txBody>
      </p:sp>
      <p:sp>
        <p:nvSpPr>
          <p:cNvPr id="11" name="Text Box 8"/>
          <p:cNvSpPr txBox="1">
            <a:spLocks noChangeArrowheads="1"/>
          </p:cNvSpPr>
          <p:nvPr/>
        </p:nvSpPr>
        <p:spPr bwMode="auto">
          <a:xfrm>
            <a:off x="5330552" y="2474754"/>
            <a:ext cx="168701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1800" dirty="0"/>
              <a:t>更大范围内寻找</a:t>
            </a:r>
            <a:r>
              <a:rPr lang="en-US" altLang="zh-CN" sz="1800" dirty="0"/>
              <a:t>4*</a:t>
            </a:r>
            <a:r>
              <a:rPr lang="en-US" altLang="zh-CN" sz="1800" dirty="0" err="1"/>
              <a:t>i</a:t>
            </a:r>
            <a:r>
              <a:rPr lang="zh-CN" altLang="en-US" sz="1800" dirty="0"/>
              <a:t>，</a:t>
            </a:r>
            <a:r>
              <a:rPr lang="en-US" altLang="zh-CN" sz="1800" dirty="0"/>
              <a:t>4*j</a:t>
            </a:r>
          </a:p>
        </p:txBody>
      </p:sp>
      <p:grpSp>
        <p:nvGrpSpPr>
          <p:cNvPr id="7" name="组合 6"/>
          <p:cNvGrpSpPr/>
          <p:nvPr/>
        </p:nvGrpSpPr>
        <p:grpSpPr>
          <a:xfrm>
            <a:off x="6802359" y="30819"/>
            <a:ext cx="2341640" cy="2396915"/>
            <a:chOff x="6802359" y="30819"/>
            <a:chExt cx="2341640" cy="2396915"/>
          </a:xfrm>
        </p:grpSpPr>
        <p:sp>
          <p:nvSpPr>
            <p:cNvPr id="4" name="矩形 3"/>
            <p:cNvSpPr/>
            <p:nvPr/>
          </p:nvSpPr>
          <p:spPr>
            <a:xfrm>
              <a:off x="6802359" y="30819"/>
              <a:ext cx="2327471" cy="1200329"/>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eaLnBrk="0" fontAlgn="base" hangingPunct="0">
                <a:spcBef>
                  <a:spcPct val="0"/>
                </a:spcBef>
                <a:spcAft>
                  <a:spcPct val="0"/>
                </a:spcAft>
              </a:pPr>
              <a:r>
                <a:rPr kumimoji="1" lang="en-US" altLang="zh-CN" dirty="0">
                  <a:solidFill>
                    <a:srgbClr val="000000"/>
                  </a:solidFill>
                  <a:latin typeface="Times New Roman" pitchFamily="18" charset="0"/>
                  <a:ea typeface="宋体" pitchFamily="2" charset="-122"/>
                </a:rPr>
                <a:t>(5) </a:t>
              </a:r>
              <a:r>
                <a:rPr kumimoji="1" lang="en-US" altLang="zh-CN" dirty="0" err="1">
                  <a:solidFill>
                    <a:srgbClr val="000000"/>
                  </a:solidFill>
                  <a:latin typeface="Times New Roman" pitchFamily="18" charset="0"/>
                  <a:ea typeface="宋体" pitchFamily="2" charset="-122"/>
                </a:rPr>
                <a:t>i</a:t>
              </a:r>
              <a:r>
                <a:rPr kumimoji="1" lang="en-US" altLang="zh-CN" dirty="0">
                  <a:solidFill>
                    <a:srgbClr val="000000"/>
                  </a:solidFill>
                  <a:latin typeface="Times New Roman" pitchFamily="18" charset="0"/>
                  <a:ea typeface="宋体" pitchFamily="2" charset="-122"/>
                </a:rPr>
                <a:t> = </a:t>
              </a:r>
              <a:r>
                <a:rPr kumimoji="1" lang="en-US" altLang="zh-CN" dirty="0" err="1">
                  <a:solidFill>
                    <a:srgbClr val="000000"/>
                  </a:solidFill>
                  <a:latin typeface="Times New Roman" pitchFamily="18" charset="0"/>
                  <a:ea typeface="宋体" pitchFamily="2" charset="-122"/>
                </a:rPr>
                <a:t>i</a:t>
              </a:r>
              <a:r>
                <a:rPr kumimoji="1" lang="en-US" altLang="zh-CN" dirty="0">
                  <a:solidFill>
                    <a:srgbClr val="000000"/>
                  </a:solidFill>
                  <a:latin typeface="Times New Roman" pitchFamily="18" charset="0"/>
                  <a:ea typeface="宋体" pitchFamily="2" charset="-122"/>
                </a:rPr>
                <a:t> + 1</a:t>
              </a:r>
              <a:endParaRPr kumimoji="1" lang="en-US"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en-US" altLang="zh-CN" dirty="0">
                  <a:solidFill>
                    <a:srgbClr val="000000"/>
                  </a:solidFill>
                  <a:latin typeface="Times New Roman" pitchFamily="18" charset="0"/>
                  <a:ea typeface="宋体" pitchFamily="2" charset="-122"/>
                </a:rPr>
                <a:t>(6) T2 = 4 * </a:t>
              </a:r>
              <a:r>
                <a:rPr kumimoji="1" lang="en-US" altLang="zh-CN" dirty="0" err="1">
                  <a:solidFill>
                    <a:srgbClr val="000000"/>
                  </a:solidFill>
                  <a:latin typeface="Times New Roman" pitchFamily="18" charset="0"/>
                  <a:ea typeface="宋体" pitchFamily="2" charset="-122"/>
                </a:rPr>
                <a:t>i</a:t>
              </a:r>
              <a:endParaRPr kumimoji="1" lang="en-US"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en-US" altLang="zh-CN" dirty="0">
                  <a:solidFill>
                    <a:srgbClr val="000000"/>
                  </a:solidFill>
                  <a:latin typeface="Times New Roman" pitchFamily="18" charset="0"/>
                  <a:ea typeface="宋体" pitchFamily="2" charset="-122"/>
                </a:rPr>
                <a:t>(7) T3 = a[T2]</a:t>
              </a:r>
              <a:endParaRPr kumimoji="1" lang="en-US"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en-US" altLang="zh-CN" dirty="0">
                  <a:solidFill>
                    <a:srgbClr val="000000"/>
                  </a:solidFill>
                  <a:latin typeface="Times New Roman" pitchFamily="18" charset="0"/>
                  <a:ea typeface="宋体" pitchFamily="2" charset="-122"/>
                </a:rPr>
                <a:t>(8) if T3 &lt; v </a:t>
              </a:r>
              <a:r>
                <a:rPr kumimoji="1" lang="en-US" altLang="zh-CN" dirty="0" err="1">
                  <a:solidFill>
                    <a:srgbClr val="000000"/>
                  </a:solidFill>
                  <a:latin typeface="Times New Roman" pitchFamily="18" charset="0"/>
                  <a:ea typeface="宋体" pitchFamily="2" charset="-122"/>
                </a:rPr>
                <a:t>goto</a:t>
              </a:r>
              <a:r>
                <a:rPr kumimoji="1" lang="en-US" altLang="zh-CN" dirty="0">
                  <a:solidFill>
                    <a:srgbClr val="000000"/>
                  </a:solidFill>
                  <a:latin typeface="Times New Roman" pitchFamily="18" charset="0"/>
                  <a:ea typeface="宋体" pitchFamily="2" charset="-122"/>
                </a:rPr>
                <a:t> (5)</a:t>
              </a:r>
              <a:endParaRPr kumimoji="1" lang="en-US" altLang="zh-CN" dirty="0">
                <a:latin typeface="Times New Roman" pitchFamily="18" charset="0"/>
                <a:ea typeface="宋体" pitchFamily="2" charset="-122"/>
                <a:cs typeface="Times New Roman" pitchFamily="18" charset="0"/>
              </a:endParaRPr>
            </a:p>
          </p:txBody>
        </p:sp>
        <p:sp>
          <p:nvSpPr>
            <p:cNvPr id="5" name="矩形 4"/>
            <p:cNvSpPr/>
            <p:nvPr/>
          </p:nvSpPr>
          <p:spPr>
            <a:xfrm>
              <a:off x="6804248" y="1227405"/>
              <a:ext cx="2339751" cy="1200329"/>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(9) j = j – 1</a:t>
              </a:r>
              <a:endParaRPr kumimoji="1" lang="fr-FR"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(10) T4 = 4 * j</a:t>
              </a:r>
              <a:endParaRPr kumimoji="1" lang="fr-FR"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(11) T5 = a[T4]</a:t>
              </a:r>
              <a:endParaRPr kumimoji="1" lang="fr-FR"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(12) if T5 &gt; v goto (9)</a:t>
              </a:r>
              <a:endParaRPr kumimoji="1" lang="fr-FR" altLang="zh-CN" dirty="0">
                <a:latin typeface="Times New Roman" pitchFamily="18" charset="0"/>
                <a:ea typeface="宋体" pitchFamily="2" charset="-122"/>
                <a:cs typeface="Times New Roman" pitchFamily="18" charset="0"/>
              </a:endParaRPr>
            </a:p>
          </p:txBody>
        </p:sp>
        <p:sp>
          <p:nvSpPr>
            <p:cNvPr id="6" name="TextBox 5"/>
            <p:cNvSpPr txBox="1"/>
            <p:nvPr/>
          </p:nvSpPr>
          <p:spPr>
            <a:xfrm>
              <a:off x="8410872" y="324441"/>
              <a:ext cx="628299" cy="523220"/>
            </a:xfrm>
            <a:prstGeom prst="rect">
              <a:avLst/>
            </a:prstGeom>
            <a:noFill/>
          </p:spPr>
          <p:txBody>
            <a:bodyPr wrap="square" rtlCol="0">
              <a:spAutoFit/>
            </a:bodyPr>
            <a:lstStyle/>
            <a:p>
              <a:r>
                <a:rPr lang="en-US" altLang="zh-CN" sz="2800" dirty="0">
                  <a:solidFill>
                    <a:srgbClr val="CC00FF"/>
                  </a:solidFill>
                </a:rPr>
                <a:t>B2</a:t>
              </a:r>
              <a:endParaRPr lang="zh-CN" altLang="en-US" sz="2800" dirty="0">
                <a:solidFill>
                  <a:srgbClr val="CC00FF"/>
                </a:solidFill>
              </a:endParaRPr>
            </a:p>
          </p:txBody>
        </p:sp>
        <p:sp>
          <p:nvSpPr>
            <p:cNvPr id="15" name="TextBox 14"/>
            <p:cNvSpPr txBox="1"/>
            <p:nvPr/>
          </p:nvSpPr>
          <p:spPr>
            <a:xfrm>
              <a:off x="8410872" y="1458362"/>
              <a:ext cx="628299" cy="523220"/>
            </a:xfrm>
            <a:prstGeom prst="rect">
              <a:avLst/>
            </a:prstGeom>
            <a:noFill/>
          </p:spPr>
          <p:txBody>
            <a:bodyPr wrap="square" rtlCol="0">
              <a:spAutoFit/>
            </a:bodyPr>
            <a:lstStyle/>
            <a:p>
              <a:r>
                <a:rPr lang="en-US" altLang="zh-CN" sz="2800" dirty="0">
                  <a:solidFill>
                    <a:srgbClr val="CC00FF"/>
                  </a:solidFill>
                </a:rPr>
                <a:t>B3</a:t>
              </a:r>
              <a:endParaRPr lang="zh-CN" altLang="en-US" sz="2800" dirty="0">
                <a:solidFill>
                  <a:srgbClr val="CC00FF"/>
                </a:solidFill>
              </a:endParaRPr>
            </a:p>
          </p:txBody>
        </p:sp>
      </p:grpSp>
    </p:spTree>
    <p:extLst>
      <p:ext uri="{BB962C8B-B14F-4D97-AF65-F5344CB8AC3E}">
        <p14:creationId xmlns:p14="http://schemas.microsoft.com/office/powerpoint/2010/main" val="18863098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469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14694"/>
                                        </p:tgtEl>
                                        <p:attrNameLst>
                                          <p:attrName>style.visibility</p:attrName>
                                        </p:attrNameLst>
                                      </p:cBhvr>
                                      <p:to>
                                        <p:strVal val="visible"/>
                                      </p:to>
                                    </p:set>
                                    <p:animEffect transition="in" filter="wipe(left)">
                                      <p:cBhvr>
                                        <p:cTn id="11" dur="500"/>
                                        <p:tgtEl>
                                          <p:spTgt spid="11469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1469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1"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4" grpId="0" animBg="1"/>
      <p:bldP spid="114695" grpId="0" animBg="1" autoUpdateAnimBg="0"/>
      <p:bldP spid="114696" grpId="0" autoUpdateAnimBg="0"/>
      <p:bldP spid="3" grpId="0" animBg="1"/>
      <p:bldP spid="10" grpId="1" animBg="1"/>
      <p:bldP spid="11"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矩形 12"/>
          <p:cNvSpPr/>
          <p:nvPr/>
        </p:nvSpPr>
        <p:spPr>
          <a:xfrm>
            <a:off x="7470004" y="1827569"/>
            <a:ext cx="1569167" cy="2862322"/>
          </a:xfrm>
          <a:prstGeom prst="rect">
            <a:avLst/>
          </a:prstGeom>
          <a:ln>
            <a:solidFill>
              <a:schemeClr val="tx1"/>
            </a:solidFill>
          </a:ln>
        </p:spPr>
        <p:txBody>
          <a:bodyPr wrap="square">
            <a:spAutoFit/>
          </a:bodyPr>
          <a:lstStyle/>
          <a:p>
            <a:r>
              <a:rPr lang="en-US" altLang="zh-CN" sz="2000" b="1" dirty="0">
                <a:solidFill>
                  <a:srgbClr val="000000"/>
                </a:solidFill>
                <a:latin typeface="宋体" pitchFamily="2" charset="-122"/>
                <a:ea typeface="宋体" panose="02010600030101010101" pitchFamily="2" charset="-122"/>
              </a:rPr>
              <a:t>T</a:t>
            </a:r>
            <a:r>
              <a:rPr lang="fr-FR" altLang="zh-CN" sz="2000" b="1" dirty="0">
                <a:solidFill>
                  <a:srgbClr val="000000"/>
                </a:solidFill>
                <a:latin typeface="宋体" pitchFamily="2" charset="-122"/>
                <a:ea typeface="宋体" panose="02010600030101010101" pitchFamily="2" charset="-122"/>
              </a:rPr>
              <a:t>6</a:t>
            </a:r>
            <a:r>
              <a:rPr lang="en-US" altLang="zh-CN" sz="2000" b="1" dirty="0">
                <a:solidFill>
                  <a:srgbClr val="000000"/>
                </a:solidFill>
                <a:latin typeface="宋体" pitchFamily="2" charset="-122"/>
                <a:ea typeface="宋体" panose="02010600030101010101" pitchFamily="2" charset="-122"/>
              </a:rPr>
              <a:t>=T</a:t>
            </a:r>
            <a:r>
              <a:rPr lang="fr-FR" altLang="zh-CN" sz="2000" b="1" dirty="0">
                <a:solidFill>
                  <a:srgbClr val="000000"/>
                </a:solidFill>
                <a:latin typeface="宋体" pitchFamily="2" charset="-122"/>
                <a:ea typeface="宋体" panose="02010600030101010101" pitchFamily="2" charset="-122"/>
              </a:rPr>
              <a:t>2</a:t>
            </a:r>
            <a:endParaRPr lang="zh-CN" altLang="zh-CN" sz="2000" b="1" dirty="0">
              <a:solidFill>
                <a:srgbClr val="000000"/>
              </a:solidFill>
              <a:latin typeface="宋体" pitchFamily="2" charset="-122"/>
              <a:ea typeface="宋体" panose="02010600030101010101" pitchFamily="2" charset="-122"/>
            </a:endParaRPr>
          </a:p>
          <a:p>
            <a:r>
              <a:rPr lang="en-US" altLang="zh-CN" sz="2000" b="1" dirty="0">
                <a:solidFill>
                  <a:srgbClr val="000000"/>
                </a:solidFill>
                <a:latin typeface="宋体" pitchFamily="2" charset="-122"/>
                <a:ea typeface="宋体" panose="02010600030101010101" pitchFamily="2" charset="-122"/>
              </a:rPr>
              <a:t>x=</a:t>
            </a:r>
            <a:r>
              <a:rPr lang="en-US" altLang="zh-CN" sz="2000" b="1" dirty="0">
                <a:solidFill>
                  <a:srgbClr val="FF0000"/>
                </a:solidFill>
                <a:latin typeface="宋体" pitchFamily="2" charset="-122"/>
                <a:ea typeface="宋体" panose="02010600030101010101" pitchFamily="2" charset="-122"/>
              </a:rPr>
              <a:t>T</a:t>
            </a:r>
            <a:r>
              <a:rPr lang="fr-FR" altLang="zh-CN" sz="2000" b="1" dirty="0">
                <a:solidFill>
                  <a:srgbClr val="FF0000"/>
                </a:solidFill>
                <a:latin typeface="宋体" pitchFamily="2" charset="-122"/>
                <a:ea typeface="宋体" panose="02010600030101010101" pitchFamily="2" charset="-122"/>
              </a:rPr>
              <a:t>3</a:t>
            </a:r>
            <a:endParaRPr lang="zh-CN" altLang="zh-CN" sz="2000" b="1" dirty="0">
              <a:solidFill>
                <a:srgbClr val="FF0000"/>
              </a:solidFill>
              <a:latin typeface="宋体" pitchFamily="2" charset="-122"/>
              <a:ea typeface="宋体" panose="02010600030101010101" pitchFamily="2" charset="-122"/>
            </a:endParaRPr>
          </a:p>
          <a:p>
            <a:r>
              <a:rPr lang="en-US" altLang="zh-CN" sz="2000" b="1" dirty="0">
                <a:solidFill>
                  <a:srgbClr val="000000"/>
                </a:solidFill>
                <a:latin typeface="宋体" pitchFamily="2" charset="-122"/>
                <a:ea typeface="宋体" panose="02010600030101010101" pitchFamily="2" charset="-122"/>
              </a:rPr>
              <a:t>T</a:t>
            </a:r>
            <a:r>
              <a:rPr lang="fr-FR" altLang="zh-CN" sz="2000" b="1" dirty="0">
                <a:solidFill>
                  <a:srgbClr val="000000"/>
                </a:solidFill>
                <a:latin typeface="宋体" pitchFamily="2" charset="-122"/>
                <a:ea typeface="宋体" panose="02010600030101010101" pitchFamily="2" charset="-122"/>
              </a:rPr>
              <a:t>7</a:t>
            </a:r>
            <a:r>
              <a:rPr lang="en-US" altLang="zh-CN" sz="2000" b="1" dirty="0">
                <a:solidFill>
                  <a:srgbClr val="000000"/>
                </a:solidFill>
                <a:latin typeface="宋体" pitchFamily="2" charset="-122"/>
                <a:ea typeface="宋体" panose="02010600030101010101" pitchFamily="2" charset="-122"/>
              </a:rPr>
              <a:t>=</a:t>
            </a:r>
            <a:r>
              <a:rPr lang="fr-FR" altLang="zh-CN" sz="2000" b="1" dirty="0">
                <a:solidFill>
                  <a:srgbClr val="000000"/>
                </a:solidFill>
                <a:latin typeface="宋体" pitchFamily="2" charset="-122"/>
                <a:ea typeface="宋体" panose="02010600030101010101" pitchFamily="2" charset="-122"/>
              </a:rPr>
              <a:t>T2</a:t>
            </a:r>
            <a:endParaRPr lang="zh-CN" altLang="zh-CN" sz="2000" b="1" dirty="0">
              <a:solidFill>
                <a:srgbClr val="000000"/>
              </a:solidFill>
              <a:latin typeface="宋体" pitchFamily="2" charset="-122"/>
              <a:ea typeface="宋体" panose="02010600030101010101" pitchFamily="2" charset="-122"/>
            </a:endParaRPr>
          </a:p>
          <a:p>
            <a:r>
              <a:rPr lang="en-US" altLang="zh-CN" sz="2000" b="1" dirty="0">
                <a:solidFill>
                  <a:srgbClr val="000000"/>
                </a:solidFill>
                <a:latin typeface="宋体" pitchFamily="2" charset="-122"/>
                <a:ea typeface="宋体" panose="02010600030101010101" pitchFamily="2" charset="-122"/>
              </a:rPr>
              <a:t>T</a:t>
            </a:r>
            <a:r>
              <a:rPr lang="fr-FR" altLang="zh-CN" sz="2000" b="1" dirty="0">
                <a:solidFill>
                  <a:srgbClr val="000000"/>
                </a:solidFill>
                <a:latin typeface="宋体" pitchFamily="2" charset="-122"/>
                <a:ea typeface="宋体" panose="02010600030101010101" pitchFamily="2" charset="-122"/>
              </a:rPr>
              <a:t>8</a:t>
            </a:r>
            <a:r>
              <a:rPr lang="en-US" altLang="zh-CN" sz="2000" b="1" dirty="0">
                <a:solidFill>
                  <a:srgbClr val="000000"/>
                </a:solidFill>
                <a:latin typeface="宋体" pitchFamily="2" charset="-122"/>
                <a:ea typeface="宋体" panose="02010600030101010101" pitchFamily="2" charset="-122"/>
              </a:rPr>
              <a:t>=T</a:t>
            </a:r>
            <a:r>
              <a:rPr lang="fr-FR" altLang="zh-CN" sz="2000" b="1" dirty="0">
                <a:solidFill>
                  <a:srgbClr val="000000"/>
                </a:solidFill>
                <a:latin typeface="宋体" pitchFamily="2" charset="-122"/>
                <a:ea typeface="宋体" panose="02010600030101010101" pitchFamily="2" charset="-122"/>
              </a:rPr>
              <a:t>4</a:t>
            </a:r>
            <a:endParaRPr lang="zh-CN" altLang="zh-CN" sz="2000" b="1" dirty="0">
              <a:solidFill>
                <a:srgbClr val="000000"/>
              </a:solidFill>
              <a:latin typeface="宋体" pitchFamily="2" charset="-122"/>
              <a:ea typeface="宋体" panose="02010600030101010101" pitchFamily="2" charset="-122"/>
            </a:endParaRPr>
          </a:p>
          <a:p>
            <a:r>
              <a:rPr lang="en-US" altLang="zh-CN" sz="2000" b="1" dirty="0">
                <a:solidFill>
                  <a:srgbClr val="000000"/>
                </a:solidFill>
                <a:latin typeface="宋体" pitchFamily="2" charset="-122"/>
                <a:ea typeface="宋体" panose="02010600030101010101" pitchFamily="2" charset="-122"/>
              </a:rPr>
              <a:t>T</a:t>
            </a:r>
            <a:r>
              <a:rPr lang="fr-FR" altLang="zh-CN" sz="2000" b="1" dirty="0">
                <a:solidFill>
                  <a:srgbClr val="000000"/>
                </a:solidFill>
                <a:latin typeface="宋体" pitchFamily="2" charset="-122"/>
                <a:ea typeface="宋体" panose="02010600030101010101" pitchFamily="2" charset="-122"/>
              </a:rPr>
              <a:t>9</a:t>
            </a:r>
            <a:r>
              <a:rPr lang="en-US" altLang="zh-CN" sz="2000" b="1" dirty="0">
                <a:solidFill>
                  <a:srgbClr val="000000"/>
                </a:solidFill>
                <a:latin typeface="宋体" pitchFamily="2" charset="-122"/>
                <a:ea typeface="宋体" panose="02010600030101010101" pitchFamily="2" charset="-122"/>
              </a:rPr>
              <a:t>=</a:t>
            </a:r>
            <a:r>
              <a:rPr lang="en-US" altLang="zh-CN" sz="2000" b="1" dirty="0">
                <a:solidFill>
                  <a:srgbClr val="FF0000"/>
                </a:solidFill>
                <a:latin typeface="宋体" pitchFamily="2" charset="-122"/>
                <a:ea typeface="宋体" panose="02010600030101010101" pitchFamily="2" charset="-122"/>
              </a:rPr>
              <a:t>T</a:t>
            </a:r>
            <a:r>
              <a:rPr lang="fr-FR" altLang="zh-CN" sz="2000" b="1" dirty="0">
                <a:solidFill>
                  <a:srgbClr val="FF0000"/>
                </a:solidFill>
                <a:latin typeface="宋体" pitchFamily="2" charset="-122"/>
                <a:ea typeface="宋体" panose="02010600030101010101" pitchFamily="2" charset="-122"/>
              </a:rPr>
              <a:t>5</a:t>
            </a:r>
            <a:endParaRPr lang="zh-CN" altLang="zh-CN" sz="2000" b="1" dirty="0">
              <a:solidFill>
                <a:srgbClr val="FF0000"/>
              </a:solidFill>
              <a:latin typeface="宋体" pitchFamily="2" charset="-122"/>
              <a:ea typeface="宋体" panose="02010600030101010101" pitchFamily="2" charset="-122"/>
            </a:endParaRPr>
          </a:p>
          <a:p>
            <a:r>
              <a:rPr lang="en-US" altLang="zh-CN" sz="2000" b="1" dirty="0">
                <a:solidFill>
                  <a:srgbClr val="000000"/>
                </a:solidFill>
                <a:latin typeface="宋体" pitchFamily="2" charset="-122"/>
                <a:ea typeface="宋体" panose="02010600030101010101" pitchFamily="2" charset="-122"/>
              </a:rPr>
              <a:t>a[T</a:t>
            </a:r>
            <a:r>
              <a:rPr lang="fr-FR" altLang="zh-CN" sz="2000" b="1" dirty="0">
                <a:solidFill>
                  <a:srgbClr val="000000"/>
                </a:solidFill>
                <a:latin typeface="宋体" pitchFamily="2" charset="-122"/>
                <a:ea typeface="宋体" panose="02010600030101010101" pitchFamily="2" charset="-122"/>
              </a:rPr>
              <a:t>2</a:t>
            </a:r>
            <a:r>
              <a:rPr lang="en-US" altLang="zh-CN" sz="2000" b="1" dirty="0">
                <a:solidFill>
                  <a:srgbClr val="000000"/>
                </a:solidFill>
                <a:latin typeface="宋体" pitchFamily="2" charset="-122"/>
                <a:ea typeface="宋体" panose="02010600030101010101" pitchFamily="2" charset="-122"/>
              </a:rPr>
              <a:t>]=</a:t>
            </a:r>
            <a:r>
              <a:rPr lang="en-US" altLang="zh-CN" sz="2000" b="1" dirty="0">
                <a:solidFill>
                  <a:srgbClr val="FF0000"/>
                </a:solidFill>
                <a:latin typeface="宋体" pitchFamily="2" charset="-122"/>
                <a:ea typeface="宋体" panose="02010600030101010101" pitchFamily="2" charset="-122"/>
              </a:rPr>
              <a:t>T</a:t>
            </a:r>
            <a:r>
              <a:rPr lang="fr-FR" altLang="zh-CN" sz="2000" b="1" dirty="0">
                <a:solidFill>
                  <a:srgbClr val="FF0000"/>
                </a:solidFill>
                <a:latin typeface="宋体" pitchFamily="2" charset="-122"/>
                <a:ea typeface="宋体" panose="02010600030101010101" pitchFamily="2" charset="-122"/>
              </a:rPr>
              <a:t>5</a:t>
            </a:r>
            <a:endParaRPr lang="zh-CN" altLang="zh-CN" sz="2000" b="1" dirty="0">
              <a:solidFill>
                <a:srgbClr val="FF0000"/>
              </a:solidFill>
              <a:latin typeface="宋体" pitchFamily="2" charset="-122"/>
              <a:ea typeface="宋体" panose="02010600030101010101" pitchFamily="2" charset="-122"/>
            </a:endParaRPr>
          </a:p>
          <a:p>
            <a:r>
              <a:rPr lang="en-US" altLang="zh-CN" sz="2000" b="1" dirty="0">
                <a:solidFill>
                  <a:srgbClr val="000000"/>
                </a:solidFill>
                <a:latin typeface="宋体" pitchFamily="2" charset="-122"/>
                <a:ea typeface="宋体" panose="02010600030101010101" pitchFamily="2" charset="-122"/>
              </a:rPr>
              <a:t>T</a:t>
            </a:r>
            <a:r>
              <a:rPr lang="fr-FR" altLang="zh-CN" sz="2000" b="1" dirty="0">
                <a:solidFill>
                  <a:srgbClr val="000000"/>
                </a:solidFill>
                <a:latin typeface="宋体" pitchFamily="2" charset="-122"/>
                <a:ea typeface="宋体" panose="02010600030101010101" pitchFamily="2" charset="-122"/>
              </a:rPr>
              <a:t>10</a:t>
            </a:r>
            <a:r>
              <a:rPr lang="en-US" altLang="zh-CN" sz="2000" b="1" dirty="0">
                <a:solidFill>
                  <a:srgbClr val="000000"/>
                </a:solidFill>
                <a:latin typeface="宋体" pitchFamily="2" charset="-122"/>
                <a:ea typeface="宋体" panose="02010600030101010101" pitchFamily="2" charset="-122"/>
              </a:rPr>
              <a:t>=</a:t>
            </a:r>
            <a:r>
              <a:rPr lang="fr-FR" altLang="zh-CN" sz="2000" b="1" dirty="0">
                <a:solidFill>
                  <a:srgbClr val="000000"/>
                </a:solidFill>
                <a:latin typeface="宋体" pitchFamily="2" charset="-122"/>
                <a:ea typeface="宋体" panose="02010600030101010101" pitchFamily="2" charset="-122"/>
              </a:rPr>
              <a:t>T4</a:t>
            </a:r>
            <a:endParaRPr lang="zh-CN" altLang="zh-CN" sz="2000" b="1" dirty="0">
              <a:solidFill>
                <a:srgbClr val="000000"/>
              </a:solidFill>
              <a:latin typeface="宋体" pitchFamily="2" charset="-122"/>
              <a:ea typeface="宋体" panose="02010600030101010101" pitchFamily="2" charset="-122"/>
            </a:endParaRPr>
          </a:p>
          <a:p>
            <a:r>
              <a:rPr lang="en-US" altLang="zh-CN" sz="2000" b="1" dirty="0">
                <a:solidFill>
                  <a:srgbClr val="000000"/>
                </a:solidFill>
                <a:latin typeface="宋体" pitchFamily="2" charset="-122"/>
                <a:ea typeface="宋体" panose="02010600030101010101" pitchFamily="2" charset="-122"/>
              </a:rPr>
              <a:t>a[T</a:t>
            </a:r>
            <a:r>
              <a:rPr lang="fr-FR" altLang="zh-CN" sz="2000" b="1" dirty="0">
                <a:solidFill>
                  <a:srgbClr val="000000"/>
                </a:solidFill>
                <a:latin typeface="宋体" pitchFamily="2" charset="-122"/>
                <a:ea typeface="宋体" panose="02010600030101010101" pitchFamily="2" charset="-122"/>
              </a:rPr>
              <a:t>4</a:t>
            </a:r>
            <a:r>
              <a:rPr lang="en-US" altLang="zh-CN" sz="2000" b="1" dirty="0">
                <a:solidFill>
                  <a:srgbClr val="000000"/>
                </a:solidFill>
                <a:latin typeface="宋体" pitchFamily="2" charset="-122"/>
                <a:ea typeface="宋体" panose="02010600030101010101" pitchFamily="2" charset="-122"/>
              </a:rPr>
              <a:t>]= </a:t>
            </a:r>
            <a:r>
              <a:rPr lang="en-US" altLang="zh-CN" sz="2000" b="1" dirty="0">
                <a:solidFill>
                  <a:srgbClr val="FF0000"/>
                </a:solidFill>
                <a:latin typeface="宋体" pitchFamily="2" charset="-122"/>
                <a:ea typeface="宋体" panose="02010600030101010101" pitchFamily="2" charset="-122"/>
              </a:rPr>
              <a:t>T</a:t>
            </a:r>
            <a:r>
              <a:rPr lang="fr-FR" altLang="zh-CN" sz="2000" b="1" dirty="0">
                <a:solidFill>
                  <a:srgbClr val="FF0000"/>
                </a:solidFill>
                <a:latin typeface="宋体" pitchFamily="2" charset="-122"/>
                <a:ea typeface="宋体" panose="02010600030101010101" pitchFamily="2" charset="-122"/>
              </a:rPr>
              <a:t>3</a:t>
            </a:r>
            <a:endParaRPr lang="zh-CN" altLang="zh-CN" sz="2000" b="1" dirty="0">
              <a:solidFill>
                <a:srgbClr val="FF0000"/>
              </a:solidFill>
              <a:latin typeface="宋体" pitchFamily="2" charset="-122"/>
              <a:ea typeface="宋体" panose="02010600030101010101" pitchFamily="2" charset="-122"/>
            </a:endParaRPr>
          </a:p>
          <a:p>
            <a:r>
              <a:rPr lang="en-US" altLang="zh-CN" sz="2000" b="1" dirty="0" err="1">
                <a:solidFill>
                  <a:srgbClr val="000000"/>
                </a:solidFill>
                <a:latin typeface="宋体" pitchFamily="2" charset="-122"/>
                <a:ea typeface="宋体" panose="02010600030101010101" pitchFamily="2" charset="-122"/>
              </a:rPr>
              <a:t>goto</a:t>
            </a:r>
            <a:r>
              <a:rPr lang="en-US" altLang="zh-CN" sz="2000" b="1" dirty="0">
                <a:solidFill>
                  <a:srgbClr val="000000"/>
                </a:solidFill>
                <a:latin typeface="宋体" pitchFamily="2" charset="-122"/>
                <a:ea typeface="宋体" panose="02010600030101010101" pitchFamily="2" charset="-122"/>
              </a:rPr>
              <a:t> B</a:t>
            </a:r>
            <a:r>
              <a:rPr lang="fr-FR" altLang="zh-CN" sz="2000" b="1" dirty="0">
                <a:solidFill>
                  <a:srgbClr val="000000"/>
                </a:solidFill>
                <a:latin typeface="宋体" pitchFamily="2" charset="-122"/>
                <a:ea typeface="宋体" panose="02010600030101010101" pitchFamily="2" charset="-122"/>
              </a:rPr>
              <a:t>2</a:t>
            </a:r>
            <a:endParaRPr lang="zh-CN" altLang="en-US" sz="2000" b="1" dirty="0">
              <a:solidFill>
                <a:srgbClr val="000000"/>
              </a:solidFill>
              <a:latin typeface="宋体" pitchFamily="2" charset="-122"/>
              <a:ea typeface="宋体" panose="02010600030101010101" pitchFamily="2" charset="-122"/>
            </a:endParaRPr>
          </a:p>
        </p:txBody>
      </p:sp>
      <p:sp>
        <p:nvSpPr>
          <p:cNvPr id="24578" name="Rectangle 2"/>
          <p:cNvSpPr>
            <a:spLocks noGrp="1" noChangeArrowheads="1"/>
          </p:cNvSpPr>
          <p:nvPr>
            <p:ph type="title"/>
          </p:nvPr>
        </p:nvSpPr>
        <p:spPr>
          <a:xfrm>
            <a:off x="251520" y="267494"/>
            <a:ext cx="7772400" cy="628650"/>
          </a:xfrm>
          <a:noFill/>
        </p:spPr>
        <p:txBody>
          <a:bodyPr>
            <a:normAutofit/>
          </a:bodyPr>
          <a:lstStyle/>
          <a:p>
            <a:pPr eaLnBrk="1" hangingPunct="1"/>
            <a:r>
              <a:rPr lang="zh-CN" altLang="en-US" sz="3200" dirty="0">
                <a:solidFill>
                  <a:srgbClr val="CC00FF"/>
                </a:solidFill>
                <a:sym typeface="Symbol" pitchFamily="18" charset="2"/>
              </a:rPr>
              <a:t>优化技术</a:t>
            </a:r>
            <a:r>
              <a:rPr lang="en-US" altLang="zh-CN" sz="3200" dirty="0">
                <a:solidFill>
                  <a:srgbClr val="CC00FF"/>
                </a:solidFill>
                <a:sym typeface="Symbol" pitchFamily="18" charset="2"/>
              </a:rPr>
              <a:t>2—</a:t>
            </a:r>
            <a:r>
              <a:rPr lang="zh-CN" altLang="en-US" sz="3200" dirty="0">
                <a:solidFill>
                  <a:srgbClr val="CC00FF"/>
                </a:solidFill>
                <a:sym typeface="Symbol" pitchFamily="18" charset="2"/>
              </a:rPr>
              <a:t>复写传播</a:t>
            </a:r>
          </a:p>
        </p:txBody>
      </p:sp>
      <p:sp>
        <p:nvSpPr>
          <p:cNvPr id="115718" name="Rectangle 6"/>
          <p:cNvSpPr>
            <a:spLocks noGrp="1" noChangeArrowheads="1"/>
          </p:cNvSpPr>
          <p:nvPr>
            <p:ph type="body" sz="half" idx="2"/>
          </p:nvPr>
        </p:nvSpPr>
        <p:spPr>
          <a:xfrm>
            <a:off x="4017145" y="1177478"/>
            <a:ext cx="1576535" cy="3240881"/>
          </a:xfrm>
          <a:ln>
            <a:solidFill>
              <a:schemeClr val="tx1"/>
            </a:solidFill>
            <a:miter lim="800000"/>
            <a:headEnd/>
            <a:tailEnd/>
          </a:ln>
        </p:spPr>
        <p:txBody>
          <a:bodyPr>
            <a:normAutofit/>
          </a:bodyPr>
          <a:lstStyle/>
          <a:p>
            <a:pPr eaLnBrk="1" hangingPunct="1">
              <a:spcBef>
                <a:spcPct val="0"/>
              </a:spcBef>
              <a:buFontTx/>
              <a:buNone/>
            </a:pPr>
            <a:r>
              <a:rPr lang="zh-CN" altLang="zh-CN" sz="2000" b="1" dirty="0">
                <a:solidFill>
                  <a:srgbClr val="000000"/>
                </a:solidFill>
                <a:latin typeface="宋体" pitchFamily="2" charset="-122"/>
              </a:rPr>
              <a:t>T6=T2</a:t>
            </a:r>
          </a:p>
          <a:p>
            <a:pPr>
              <a:spcBef>
                <a:spcPct val="0"/>
              </a:spcBef>
              <a:buNone/>
            </a:pPr>
            <a:r>
              <a:rPr lang="zh-CN" altLang="zh-CN" sz="2000" b="1" dirty="0">
                <a:solidFill>
                  <a:srgbClr val="000000"/>
                </a:solidFill>
                <a:latin typeface="宋体" pitchFamily="2" charset="-122"/>
              </a:rPr>
              <a:t>x=</a:t>
            </a:r>
            <a:r>
              <a:rPr lang="zh-CN" altLang="zh-CN" sz="2000" dirty="0">
                <a:solidFill>
                  <a:srgbClr val="000000"/>
                </a:solidFill>
              </a:rPr>
              <a:t>a[</a:t>
            </a:r>
            <a:r>
              <a:rPr lang="zh-CN" altLang="zh-CN" sz="2000" b="1" dirty="0">
                <a:solidFill>
                  <a:srgbClr val="FF0000"/>
                </a:solidFill>
              </a:rPr>
              <a:t>T</a:t>
            </a:r>
            <a:r>
              <a:rPr lang="en-US" altLang="zh-CN" sz="2000" b="1" dirty="0">
                <a:solidFill>
                  <a:srgbClr val="FF0000"/>
                </a:solidFill>
              </a:rPr>
              <a:t>2</a:t>
            </a:r>
            <a:r>
              <a:rPr lang="zh-CN" altLang="zh-CN" sz="2000" dirty="0">
                <a:solidFill>
                  <a:srgbClr val="000000"/>
                </a:solidFill>
              </a:rPr>
              <a:t>]</a:t>
            </a:r>
            <a:endParaRPr lang="zh-CN" altLang="zh-CN" sz="2000" b="1" dirty="0">
              <a:solidFill>
                <a:srgbClr val="000000"/>
              </a:solidFill>
              <a:latin typeface="宋体" pitchFamily="2" charset="-122"/>
            </a:endParaRPr>
          </a:p>
          <a:p>
            <a:pPr eaLnBrk="1" hangingPunct="1">
              <a:spcBef>
                <a:spcPct val="0"/>
              </a:spcBef>
              <a:buFontTx/>
              <a:buNone/>
            </a:pPr>
            <a:r>
              <a:rPr lang="zh-CN" altLang="zh-CN" sz="2000" b="1" dirty="0">
                <a:solidFill>
                  <a:srgbClr val="000000"/>
                </a:solidFill>
                <a:latin typeface="宋体" pitchFamily="2" charset="-122"/>
              </a:rPr>
              <a:t>T7=</a:t>
            </a:r>
            <a:r>
              <a:rPr lang="zh-CN" altLang="zh-CN" sz="2000" b="1" dirty="0">
                <a:solidFill>
                  <a:srgbClr val="FF0000"/>
                </a:solidFill>
                <a:latin typeface="宋体" pitchFamily="2" charset="-122"/>
              </a:rPr>
              <a:t>T</a:t>
            </a:r>
            <a:r>
              <a:rPr lang="en-US" altLang="zh-CN" sz="2000" b="1" dirty="0">
                <a:solidFill>
                  <a:srgbClr val="FF0000"/>
                </a:solidFill>
                <a:latin typeface="宋体" pitchFamily="2" charset="-122"/>
              </a:rPr>
              <a:t>2</a:t>
            </a:r>
            <a:endParaRPr lang="zh-CN" altLang="zh-CN" sz="2000" b="1" dirty="0">
              <a:solidFill>
                <a:srgbClr val="FF0000"/>
              </a:solidFill>
              <a:latin typeface="宋体" pitchFamily="2" charset="-122"/>
            </a:endParaRPr>
          </a:p>
          <a:p>
            <a:pPr eaLnBrk="1" hangingPunct="1">
              <a:spcBef>
                <a:spcPct val="0"/>
              </a:spcBef>
              <a:buFontTx/>
              <a:buNone/>
            </a:pPr>
            <a:r>
              <a:rPr lang="zh-CN" altLang="zh-CN" sz="2000" b="1" dirty="0">
                <a:solidFill>
                  <a:srgbClr val="000000"/>
                </a:solidFill>
                <a:latin typeface="宋体" pitchFamily="2" charset="-122"/>
              </a:rPr>
              <a:t>T8=T4</a:t>
            </a:r>
          </a:p>
          <a:p>
            <a:pPr>
              <a:spcBef>
                <a:spcPct val="0"/>
              </a:spcBef>
              <a:buNone/>
            </a:pPr>
            <a:r>
              <a:rPr lang="zh-CN" altLang="zh-CN" sz="2000" b="1" dirty="0">
                <a:solidFill>
                  <a:srgbClr val="000000"/>
                </a:solidFill>
                <a:latin typeface="宋体" pitchFamily="2" charset="-122"/>
              </a:rPr>
              <a:t>T9=</a:t>
            </a:r>
            <a:r>
              <a:rPr lang="zh-CN" altLang="zh-CN" sz="2000" dirty="0">
                <a:solidFill>
                  <a:srgbClr val="000000"/>
                </a:solidFill>
              </a:rPr>
              <a:t>a[</a:t>
            </a:r>
            <a:r>
              <a:rPr lang="zh-CN" altLang="zh-CN" sz="2000" b="1" dirty="0">
                <a:solidFill>
                  <a:srgbClr val="FF0000"/>
                </a:solidFill>
              </a:rPr>
              <a:t>T</a:t>
            </a:r>
            <a:r>
              <a:rPr lang="en-US" altLang="zh-CN" sz="2000" b="1" dirty="0">
                <a:solidFill>
                  <a:srgbClr val="FF0000"/>
                </a:solidFill>
              </a:rPr>
              <a:t>4</a:t>
            </a:r>
            <a:r>
              <a:rPr lang="zh-CN" altLang="zh-CN" sz="2000" dirty="0">
                <a:solidFill>
                  <a:srgbClr val="000000"/>
                </a:solidFill>
              </a:rPr>
              <a:t>]</a:t>
            </a:r>
            <a:endParaRPr lang="zh-CN" altLang="zh-CN" sz="2000" b="1" dirty="0">
              <a:solidFill>
                <a:srgbClr val="000000"/>
              </a:solidFill>
              <a:latin typeface="宋体" pitchFamily="2" charset="-122"/>
            </a:endParaRPr>
          </a:p>
          <a:p>
            <a:pPr eaLnBrk="1" hangingPunct="1">
              <a:spcBef>
                <a:spcPct val="0"/>
              </a:spcBef>
              <a:buFontTx/>
              <a:buNone/>
            </a:pPr>
            <a:r>
              <a:rPr lang="zh-CN" altLang="zh-CN" sz="2000" b="1" dirty="0">
                <a:solidFill>
                  <a:srgbClr val="000000"/>
                </a:solidFill>
                <a:latin typeface="宋体" pitchFamily="2" charset="-122"/>
              </a:rPr>
              <a:t>a[</a:t>
            </a:r>
            <a:r>
              <a:rPr lang="zh-CN" altLang="zh-CN" sz="2000" b="1" dirty="0">
                <a:solidFill>
                  <a:srgbClr val="FF0000"/>
                </a:solidFill>
                <a:latin typeface="宋体" pitchFamily="2" charset="-122"/>
              </a:rPr>
              <a:t>T</a:t>
            </a:r>
            <a:r>
              <a:rPr lang="en-US" altLang="zh-CN" sz="2000" b="1" dirty="0">
                <a:solidFill>
                  <a:srgbClr val="FF0000"/>
                </a:solidFill>
                <a:latin typeface="宋体" pitchFamily="2" charset="-122"/>
              </a:rPr>
              <a:t>2</a:t>
            </a:r>
            <a:r>
              <a:rPr lang="zh-CN" altLang="zh-CN" sz="2000" b="1" dirty="0">
                <a:solidFill>
                  <a:srgbClr val="000000"/>
                </a:solidFill>
                <a:latin typeface="宋体" pitchFamily="2" charset="-122"/>
              </a:rPr>
              <a:t>]=T</a:t>
            </a:r>
            <a:r>
              <a:rPr lang="en-US" altLang="zh-CN" sz="2000" b="1" dirty="0">
                <a:solidFill>
                  <a:srgbClr val="000000"/>
                </a:solidFill>
                <a:latin typeface="宋体" pitchFamily="2" charset="-122"/>
              </a:rPr>
              <a:t>9</a:t>
            </a:r>
            <a:endParaRPr lang="zh-CN" altLang="zh-CN" sz="2000" b="1" dirty="0">
              <a:solidFill>
                <a:srgbClr val="000000"/>
              </a:solidFill>
              <a:latin typeface="宋体" pitchFamily="2" charset="-122"/>
            </a:endParaRPr>
          </a:p>
          <a:p>
            <a:pPr eaLnBrk="1" hangingPunct="1">
              <a:spcBef>
                <a:spcPct val="0"/>
              </a:spcBef>
              <a:buFontTx/>
              <a:buNone/>
            </a:pPr>
            <a:r>
              <a:rPr lang="zh-CN" altLang="zh-CN" sz="2000" b="1" dirty="0">
                <a:solidFill>
                  <a:srgbClr val="000000"/>
                </a:solidFill>
                <a:latin typeface="宋体" pitchFamily="2" charset="-122"/>
              </a:rPr>
              <a:t>T10=</a:t>
            </a:r>
            <a:r>
              <a:rPr lang="zh-CN" altLang="zh-CN" sz="2000" b="1" dirty="0">
                <a:solidFill>
                  <a:srgbClr val="FF0000"/>
                </a:solidFill>
                <a:latin typeface="宋体" pitchFamily="2" charset="-122"/>
              </a:rPr>
              <a:t>T</a:t>
            </a:r>
            <a:r>
              <a:rPr lang="en-US" altLang="zh-CN" sz="2000" b="1" dirty="0">
                <a:solidFill>
                  <a:srgbClr val="FF0000"/>
                </a:solidFill>
                <a:latin typeface="宋体" pitchFamily="2" charset="-122"/>
              </a:rPr>
              <a:t>4</a:t>
            </a:r>
            <a:endParaRPr lang="zh-CN" altLang="zh-CN" sz="2000" b="1" dirty="0">
              <a:solidFill>
                <a:srgbClr val="FF0000"/>
              </a:solidFill>
              <a:latin typeface="宋体" pitchFamily="2" charset="-122"/>
            </a:endParaRPr>
          </a:p>
          <a:p>
            <a:pPr eaLnBrk="1" hangingPunct="1">
              <a:spcBef>
                <a:spcPct val="0"/>
              </a:spcBef>
              <a:buFontTx/>
              <a:buNone/>
            </a:pPr>
            <a:r>
              <a:rPr lang="zh-CN" altLang="zh-CN" sz="2000" b="1" dirty="0">
                <a:solidFill>
                  <a:srgbClr val="000000"/>
                </a:solidFill>
                <a:latin typeface="宋体" pitchFamily="2" charset="-122"/>
              </a:rPr>
              <a:t>a[</a:t>
            </a:r>
            <a:r>
              <a:rPr lang="zh-CN" altLang="zh-CN" sz="2000" b="1" dirty="0">
                <a:solidFill>
                  <a:srgbClr val="FF0000"/>
                </a:solidFill>
                <a:latin typeface="宋体" pitchFamily="2" charset="-122"/>
              </a:rPr>
              <a:t>T</a:t>
            </a:r>
            <a:r>
              <a:rPr lang="en-US" altLang="zh-CN" sz="2000" b="1" dirty="0">
                <a:solidFill>
                  <a:srgbClr val="FF0000"/>
                </a:solidFill>
                <a:latin typeface="宋体" pitchFamily="2" charset="-122"/>
              </a:rPr>
              <a:t>4</a:t>
            </a:r>
            <a:r>
              <a:rPr lang="zh-CN" altLang="zh-CN" sz="2000" b="1" dirty="0">
                <a:solidFill>
                  <a:srgbClr val="000000"/>
                </a:solidFill>
                <a:latin typeface="宋体" pitchFamily="2" charset="-122"/>
              </a:rPr>
              <a:t>]=</a:t>
            </a:r>
            <a:r>
              <a:rPr lang="en-US" altLang="zh-CN" sz="2000" b="1" dirty="0">
                <a:solidFill>
                  <a:srgbClr val="000000"/>
                </a:solidFill>
                <a:latin typeface="宋体" pitchFamily="2" charset="-122"/>
              </a:rPr>
              <a:t>x</a:t>
            </a:r>
            <a:endParaRPr lang="zh-CN" altLang="zh-CN" sz="2000" b="1" dirty="0">
              <a:solidFill>
                <a:srgbClr val="000000"/>
              </a:solidFill>
              <a:latin typeface="宋体" pitchFamily="2" charset="-122"/>
            </a:endParaRPr>
          </a:p>
          <a:p>
            <a:pPr eaLnBrk="1" hangingPunct="1">
              <a:spcBef>
                <a:spcPct val="0"/>
              </a:spcBef>
              <a:buFontTx/>
              <a:buNone/>
            </a:pPr>
            <a:r>
              <a:rPr lang="zh-CN" altLang="zh-CN" sz="2000" b="1" dirty="0">
                <a:solidFill>
                  <a:srgbClr val="000000"/>
                </a:solidFill>
                <a:latin typeface="宋体" pitchFamily="2" charset="-122"/>
              </a:rPr>
              <a:t>goto B2</a:t>
            </a:r>
          </a:p>
        </p:txBody>
      </p:sp>
      <p:sp>
        <p:nvSpPr>
          <p:cNvPr id="24580" name="Rectangle 8"/>
          <p:cNvSpPr>
            <a:spLocks noGrp="1" noChangeArrowheads="1"/>
          </p:cNvSpPr>
          <p:nvPr>
            <p:ph type="body" sz="half" idx="1"/>
          </p:nvPr>
        </p:nvSpPr>
        <p:spPr>
          <a:xfrm>
            <a:off x="256059" y="1329929"/>
            <a:ext cx="1500774" cy="3132534"/>
          </a:xfrm>
          <a:noFill/>
          <a:ln>
            <a:solidFill>
              <a:schemeClr val="tx1"/>
            </a:solidFill>
            <a:miter lim="800000"/>
            <a:headEnd/>
            <a:tailEnd/>
          </a:ln>
        </p:spPr>
        <p:txBody>
          <a:bodyPr>
            <a:normAutofit/>
          </a:bodyPr>
          <a:lstStyle/>
          <a:p>
            <a:pPr eaLnBrk="1" hangingPunct="1">
              <a:spcBef>
                <a:spcPct val="0"/>
              </a:spcBef>
              <a:buFontTx/>
              <a:buNone/>
            </a:pPr>
            <a:r>
              <a:rPr lang="zh-CN" altLang="zh-CN" sz="2000" b="1" dirty="0">
                <a:solidFill>
                  <a:srgbClr val="FF0000"/>
                </a:solidFill>
                <a:latin typeface="宋体" pitchFamily="2" charset="-122"/>
              </a:rPr>
              <a:t>T6</a:t>
            </a:r>
            <a:r>
              <a:rPr lang="zh-CN" altLang="zh-CN" sz="2000" b="1" dirty="0">
                <a:solidFill>
                  <a:srgbClr val="000000"/>
                </a:solidFill>
                <a:latin typeface="宋体" pitchFamily="2" charset="-122"/>
              </a:rPr>
              <a:t>=T2</a:t>
            </a:r>
          </a:p>
          <a:p>
            <a:pPr eaLnBrk="1" hangingPunct="1">
              <a:spcBef>
                <a:spcPct val="0"/>
              </a:spcBef>
              <a:buFontTx/>
              <a:buNone/>
            </a:pPr>
            <a:r>
              <a:rPr lang="zh-CN" altLang="zh-CN" sz="2000" b="1" dirty="0">
                <a:solidFill>
                  <a:srgbClr val="000000"/>
                </a:solidFill>
                <a:latin typeface="宋体" pitchFamily="2" charset="-122"/>
              </a:rPr>
              <a:t>x=a[</a:t>
            </a:r>
            <a:r>
              <a:rPr lang="zh-CN" altLang="zh-CN" sz="2000" b="1" dirty="0">
                <a:solidFill>
                  <a:srgbClr val="FF0000"/>
                </a:solidFill>
                <a:latin typeface="宋体" pitchFamily="2" charset="-122"/>
              </a:rPr>
              <a:t>T6</a:t>
            </a:r>
            <a:r>
              <a:rPr lang="zh-CN" altLang="zh-CN" sz="2000" b="1" dirty="0">
                <a:solidFill>
                  <a:srgbClr val="000000"/>
                </a:solidFill>
                <a:latin typeface="宋体" pitchFamily="2" charset="-122"/>
              </a:rPr>
              <a:t>]</a:t>
            </a:r>
          </a:p>
          <a:p>
            <a:pPr eaLnBrk="1" hangingPunct="1">
              <a:spcBef>
                <a:spcPct val="0"/>
              </a:spcBef>
              <a:buFontTx/>
              <a:buNone/>
            </a:pPr>
            <a:r>
              <a:rPr lang="zh-CN" altLang="zh-CN" sz="2000" b="1" dirty="0">
                <a:solidFill>
                  <a:srgbClr val="CC00FF"/>
                </a:solidFill>
                <a:latin typeface="宋体" pitchFamily="2" charset="-122"/>
              </a:rPr>
              <a:t>T7</a:t>
            </a:r>
            <a:r>
              <a:rPr lang="zh-CN" altLang="zh-CN" sz="2000" b="1" dirty="0">
                <a:solidFill>
                  <a:srgbClr val="000000"/>
                </a:solidFill>
                <a:latin typeface="宋体" pitchFamily="2" charset="-122"/>
              </a:rPr>
              <a:t>=</a:t>
            </a:r>
            <a:r>
              <a:rPr lang="zh-CN" altLang="zh-CN" sz="2000" b="1" dirty="0">
                <a:solidFill>
                  <a:srgbClr val="FF0000"/>
                </a:solidFill>
                <a:latin typeface="宋体" pitchFamily="2" charset="-122"/>
              </a:rPr>
              <a:t>T6</a:t>
            </a:r>
          </a:p>
          <a:p>
            <a:pPr eaLnBrk="1" hangingPunct="1">
              <a:spcBef>
                <a:spcPct val="0"/>
              </a:spcBef>
              <a:buFontTx/>
              <a:buNone/>
            </a:pPr>
            <a:r>
              <a:rPr lang="zh-CN" altLang="zh-CN" sz="2000" b="1" dirty="0">
                <a:solidFill>
                  <a:srgbClr val="0000FF"/>
                </a:solidFill>
                <a:latin typeface="宋体" pitchFamily="2" charset="-122"/>
              </a:rPr>
              <a:t>T8</a:t>
            </a:r>
            <a:r>
              <a:rPr lang="zh-CN" altLang="zh-CN" sz="2000" b="1" dirty="0">
                <a:solidFill>
                  <a:srgbClr val="000000"/>
                </a:solidFill>
                <a:latin typeface="宋体" pitchFamily="2" charset="-122"/>
              </a:rPr>
              <a:t>=T4</a:t>
            </a:r>
          </a:p>
          <a:p>
            <a:pPr eaLnBrk="1" hangingPunct="1">
              <a:spcBef>
                <a:spcPct val="0"/>
              </a:spcBef>
              <a:buFontTx/>
              <a:buNone/>
            </a:pPr>
            <a:r>
              <a:rPr lang="zh-CN" altLang="zh-CN" sz="2000" b="1" dirty="0">
                <a:solidFill>
                  <a:srgbClr val="000000"/>
                </a:solidFill>
                <a:latin typeface="宋体" pitchFamily="2" charset="-122"/>
              </a:rPr>
              <a:t>T9=a[</a:t>
            </a:r>
            <a:r>
              <a:rPr lang="zh-CN" altLang="zh-CN" sz="2000" b="1" dirty="0">
                <a:solidFill>
                  <a:srgbClr val="0000FF"/>
                </a:solidFill>
                <a:latin typeface="宋体" pitchFamily="2" charset="-122"/>
              </a:rPr>
              <a:t>T8</a:t>
            </a:r>
            <a:r>
              <a:rPr lang="zh-CN" altLang="zh-CN" sz="2000" b="1" dirty="0">
                <a:solidFill>
                  <a:srgbClr val="000000"/>
                </a:solidFill>
                <a:latin typeface="宋体" pitchFamily="2" charset="-122"/>
              </a:rPr>
              <a:t>]</a:t>
            </a:r>
          </a:p>
          <a:p>
            <a:pPr eaLnBrk="1" hangingPunct="1">
              <a:spcBef>
                <a:spcPct val="0"/>
              </a:spcBef>
              <a:buFontTx/>
              <a:buNone/>
            </a:pPr>
            <a:r>
              <a:rPr lang="zh-CN" altLang="zh-CN" sz="2000" b="1" dirty="0">
                <a:solidFill>
                  <a:srgbClr val="000000"/>
                </a:solidFill>
                <a:latin typeface="宋体" pitchFamily="2" charset="-122"/>
              </a:rPr>
              <a:t>a[</a:t>
            </a:r>
            <a:r>
              <a:rPr lang="zh-CN" altLang="zh-CN" sz="2000" b="1" dirty="0">
                <a:solidFill>
                  <a:srgbClr val="CC00FF"/>
                </a:solidFill>
                <a:latin typeface="宋体" pitchFamily="2" charset="-122"/>
              </a:rPr>
              <a:t>T7</a:t>
            </a:r>
            <a:r>
              <a:rPr lang="zh-CN" altLang="zh-CN" sz="2000" b="1" dirty="0">
                <a:solidFill>
                  <a:srgbClr val="000000"/>
                </a:solidFill>
                <a:latin typeface="宋体" pitchFamily="2" charset="-122"/>
              </a:rPr>
              <a:t>]=T9</a:t>
            </a:r>
          </a:p>
          <a:p>
            <a:pPr eaLnBrk="1" hangingPunct="1">
              <a:spcBef>
                <a:spcPct val="0"/>
              </a:spcBef>
              <a:buFontTx/>
              <a:buNone/>
            </a:pPr>
            <a:r>
              <a:rPr lang="zh-CN" altLang="zh-CN" sz="2000" b="1" dirty="0">
                <a:solidFill>
                  <a:srgbClr val="00B050"/>
                </a:solidFill>
                <a:latin typeface="宋体" pitchFamily="2" charset="-122"/>
              </a:rPr>
              <a:t>T10</a:t>
            </a:r>
            <a:r>
              <a:rPr lang="zh-CN" altLang="zh-CN" sz="2000" b="1" dirty="0">
                <a:solidFill>
                  <a:srgbClr val="000000"/>
                </a:solidFill>
                <a:latin typeface="宋体" pitchFamily="2" charset="-122"/>
              </a:rPr>
              <a:t>=T</a:t>
            </a:r>
            <a:r>
              <a:rPr lang="zh-CN" altLang="zh-CN" sz="2000" b="1" dirty="0">
                <a:solidFill>
                  <a:srgbClr val="0000FF"/>
                </a:solidFill>
                <a:latin typeface="宋体" pitchFamily="2" charset="-122"/>
              </a:rPr>
              <a:t>8</a:t>
            </a:r>
          </a:p>
          <a:p>
            <a:pPr eaLnBrk="1" hangingPunct="1">
              <a:spcBef>
                <a:spcPct val="0"/>
              </a:spcBef>
              <a:buFontTx/>
              <a:buNone/>
            </a:pPr>
            <a:r>
              <a:rPr lang="zh-CN" altLang="zh-CN" sz="2000" b="1" dirty="0">
                <a:solidFill>
                  <a:srgbClr val="000000"/>
                </a:solidFill>
                <a:latin typeface="宋体" pitchFamily="2" charset="-122"/>
              </a:rPr>
              <a:t>a[</a:t>
            </a:r>
            <a:r>
              <a:rPr lang="zh-CN" altLang="zh-CN" sz="2000" b="1" dirty="0">
                <a:solidFill>
                  <a:srgbClr val="00B050"/>
                </a:solidFill>
                <a:latin typeface="宋体" pitchFamily="2" charset="-122"/>
              </a:rPr>
              <a:t>T10</a:t>
            </a:r>
            <a:r>
              <a:rPr lang="zh-CN" altLang="zh-CN" sz="2000" b="1" dirty="0">
                <a:solidFill>
                  <a:srgbClr val="000000"/>
                </a:solidFill>
                <a:latin typeface="宋体" pitchFamily="2" charset="-122"/>
              </a:rPr>
              <a:t>]=x</a:t>
            </a:r>
          </a:p>
          <a:p>
            <a:pPr eaLnBrk="1" hangingPunct="1">
              <a:spcBef>
                <a:spcPct val="0"/>
              </a:spcBef>
              <a:buFontTx/>
              <a:buNone/>
            </a:pPr>
            <a:r>
              <a:rPr lang="zh-CN" altLang="zh-CN" sz="2000" b="1" dirty="0">
                <a:solidFill>
                  <a:srgbClr val="000000"/>
                </a:solidFill>
                <a:latin typeface="宋体" pitchFamily="2" charset="-122"/>
              </a:rPr>
              <a:t>goto B2</a:t>
            </a:r>
          </a:p>
        </p:txBody>
      </p:sp>
      <p:sp>
        <p:nvSpPr>
          <p:cNvPr id="115721" name="Rectangle 9"/>
          <p:cNvSpPr>
            <a:spLocks noChangeArrowheads="1"/>
          </p:cNvSpPr>
          <p:nvPr/>
        </p:nvSpPr>
        <p:spPr bwMode="auto">
          <a:xfrm>
            <a:off x="1763689" y="1475610"/>
            <a:ext cx="223224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zh-CN" altLang="zh-CN" sz="2000" dirty="0">
                <a:solidFill>
                  <a:srgbClr val="000000"/>
                </a:solidFill>
                <a:latin typeface="宋体" pitchFamily="2" charset="-122"/>
              </a:rPr>
              <a:t>T6=T2，x=a[T6]，之间没有改变</a:t>
            </a:r>
            <a:r>
              <a:rPr lang="en-US" altLang="zh-CN" sz="2000" dirty="0">
                <a:solidFill>
                  <a:srgbClr val="000000"/>
                </a:solidFill>
                <a:latin typeface="宋体" pitchFamily="2" charset="-122"/>
              </a:rPr>
              <a:t>T6,</a:t>
            </a:r>
            <a:r>
              <a:rPr lang="zh-CN" altLang="en-US" sz="2000" dirty="0">
                <a:solidFill>
                  <a:srgbClr val="000000"/>
                </a:solidFill>
                <a:latin typeface="宋体" pitchFamily="2" charset="-122"/>
              </a:rPr>
              <a:t>因此，可以直接写</a:t>
            </a:r>
            <a:r>
              <a:rPr lang="zh-CN" altLang="zh-CN" sz="2000" dirty="0">
                <a:solidFill>
                  <a:srgbClr val="000000"/>
                </a:solidFill>
                <a:latin typeface="宋体" pitchFamily="2" charset="-122"/>
              </a:rPr>
              <a:t>x=a[</a:t>
            </a:r>
            <a:r>
              <a:rPr lang="zh-CN" altLang="zh-CN" sz="2000" b="1" dirty="0">
                <a:solidFill>
                  <a:srgbClr val="FF0000"/>
                </a:solidFill>
                <a:latin typeface="宋体" pitchFamily="2" charset="-122"/>
              </a:rPr>
              <a:t>T</a:t>
            </a:r>
            <a:r>
              <a:rPr lang="en-US" altLang="zh-CN" sz="2000" b="1" dirty="0">
                <a:solidFill>
                  <a:srgbClr val="FF0000"/>
                </a:solidFill>
                <a:latin typeface="宋体" pitchFamily="2" charset="-122"/>
              </a:rPr>
              <a:t>2</a:t>
            </a:r>
            <a:r>
              <a:rPr lang="zh-CN" altLang="zh-CN" sz="2000" dirty="0">
                <a:solidFill>
                  <a:srgbClr val="000000"/>
                </a:solidFill>
                <a:latin typeface="宋体" pitchFamily="2" charset="-122"/>
              </a:rPr>
              <a:t>]</a:t>
            </a:r>
          </a:p>
        </p:txBody>
      </p:sp>
      <p:sp>
        <p:nvSpPr>
          <p:cNvPr id="115722" name="AutoShape 10"/>
          <p:cNvSpPr>
            <a:spLocks noChangeArrowheads="1"/>
          </p:cNvSpPr>
          <p:nvPr/>
        </p:nvSpPr>
        <p:spPr bwMode="auto">
          <a:xfrm>
            <a:off x="1828775" y="2769393"/>
            <a:ext cx="2167161" cy="431006"/>
          </a:xfrm>
          <a:prstGeom prst="rightArrow">
            <a:avLst>
              <a:gd name="adj1" fmla="val 50000"/>
              <a:gd name="adj2" fmla="val 154167"/>
            </a:avLst>
          </a:prstGeom>
          <a:solidFill>
            <a:schemeClr val="accent1"/>
          </a:solidFill>
          <a:ln w="9525">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1800"/>
          </a:p>
        </p:txBody>
      </p:sp>
      <p:sp>
        <p:nvSpPr>
          <p:cNvPr id="115723" name="Text Box 11"/>
          <p:cNvSpPr txBox="1">
            <a:spLocks noChangeArrowheads="1"/>
          </p:cNvSpPr>
          <p:nvPr/>
        </p:nvSpPr>
        <p:spPr bwMode="auto">
          <a:xfrm>
            <a:off x="5621288" y="1923678"/>
            <a:ext cx="175902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zh-CN" altLang="en-US" sz="2000" dirty="0"/>
              <a:t>在</a:t>
            </a:r>
            <a:r>
              <a:rPr lang="en-US" altLang="zh-CN" sz="2000" dirty="0"/>
              <a:t>B2</a:t>
            </a:r>
            <a:r>
              <a:rPr lang="zh-CN" altLang="en-US" sz="2000" dirty="0"/>
              <a:t>中</a:t>
            </a:r>
            <a:r>
              <a:rPr lang="en-US" altLang="zh-CN" sz="2000" dirty="0"/>
              <a:t>T3=a[T2],</a:t>
            </a:r>
            <a:r>
              <a:rPr lang="zh-CN" altLang="en-US" sz="2000" dirty="0"/>
              <a:t>因此，</a:t>
            </a:r>
            <a:r>
              <a:rPr lang="en-US" altLang="zh-CN" sz="2000" dirty="0"/>
              <a:t>x=T3</a:t>
            </a:r>
          </a:p>
        </p:txBody>
      </p:sp>
      <p:grpSp>
        <p:nvGrpSpPr>
          <p:cNvPr id="8" name="组合 7"/>
          <p:cNvGrpSpPr/>
          <p:nvPr/>
        </p:nvGrpSpPr>
        <p:grpSpPr>
          <a:xfrm>
            <a:off x="6802359" y="30819"/>
            <a:ext cx="2341640" cy="2396915"/>
            <a:chOff x="6802359" y="30819"/>
            <a:chExt cx="2341640" cy="2396915"/>
          </a:xfrm>
        </p:grpSpPr>
        <p:sp>
          <p:nvSpPr>
            <p:cNvPr id="9" name="矩形 8"/>
            <p:cNvSpPr/>
            <p:nvPr/>
          </p:nvSpPr>
          <p:spPr>
            <a:xfrm>
              <a:off x="6802359" y="30819"/>
              <a:ext cx="2327471" cy="1200329"/>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eaLnBrk="0" fontAlgn="base" hangingPunct="0">
                <a:spcBef>
                  <a:spcPct val="0"/>
                </a:spcBef>
                <a:spcAft>
                  <a:spcPct val="0"/>
                </a:spcAft>
              </a:pPr>
              <a:r>
                <a:rPr kumimoji="1" lang="en-US" altLang="zh-CN" dirty="0">
                  <a:solidFill>
                    <a:srgbClr val="000000"/>
                  </a:solidFill>
                  <a:latin typeface="Times New Roman" pitchFamily="18" charset="0"/>
                  <a:ea typeface="宋体" pitchFamily="2" charset="-122"/>
                </a:rPr>
                <a:t>(5) </a:t>
              </a:r>
              <a:r>
                <a:rPr kumimoji="1" lang="en-US" altLang="zh-CN" dirty="0" err="1">
                  <a:solidFill>
                    <a:srgbClr val="000000"/>
                  </a:solidFill>
                  <a:latin typeface="Times New Roman" pitchFamily="18" charset="0"/>
                  <a:ea typeface="宋体" pitchFamily="2" charset="-122"/>
                </a:rPr>
                <a:t>i</a:t>
              </a:r>
              <a:r>
                <a:rPr kumimoji="1" lang="en-US" altLang="zh-CN" dirty="0">
                  <a:solidFill>
                    <a:srgbClr val="000000"/>
                  </a:solidFill>
                  <a:latin typeface="Times New Roman" pitchFamily="18" charset="0"/>
                  <a:ea typeface="宋体" pitchFamily="2" charset="-122"/>
                </a:rPr>
                <a:t> = </a:t>
              </a:r>
              <a:r>
                <a:rPr kumimoji="1" lang="en-US" altLang="zh-CN" dirty="0" err="1">
                  <a:solidFill>
                    <a:srgbClr val="000000"/>
                  </a:solidFill>
                  <a:latin typeface="Times New Roman" pitchFamily="18" charset="0"/>
                  <a:ea typeface="宋体" pitchFamily="2" charset="-122"/>
                </a:rPr>
                <a:t>i</a:t>
              </a:r>
              <a:r>
                <a:rPr kumimoji="1" lang="en-US" altLang="zh-CN" dirty="0">
                  <a:solidFill>
                    <a:srgbClr val="000000"/>
                  </a:solidFill>
                  <a:latin typeface="Times New Roman" pitchFamily="18" charset="0"/>
                  <a:ea typeface="宋体" pitchFamily="2" charset="-122"/>
                </a:rPr>
                <a:t> + 1</a:t>
              </a:r>
              <a:endParaRPr kumimoji="1" lang="en-US"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en-US" altLang="zh-CN" dirty="0">
                  <a:solidFill>
                    <a:srgbClr val="000000"/>
                  </a:solidFill>
                  <a:latin typeface="Times New Roman" pitchFamily="18" charset="0"/>
                  <a:ea typeface="宋体" pitchFamily="2" charset="-122"/>
                </a:rPr>
                <a:t>(6) T2 = 4 * </a:t>
              </a:r>
              <a:r>
                <a:rPr kumimoji="1" lang="en-US" altLang="zh-CN" dirty="0" err="1">
                  <a:solidFill>
                    <a:srgbClr val="000000"/>
                  </a:solidFill>
                  <a:latin typeface="Times New Roman" pitchFamily="18" charset="0"/>
                  <a:ea typeface="宋体" pitchFamily="2" charset="-122"/>
                </a:rPr>
                <a:t>i</a:t>
              </a:r>
              <a:endParaRPr kumimoji="1" lang="en-US"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en-US" altLang="zh-CN" dirty="0">
                  <a:solidFill>
                    <a:srgbClr val="000000"/>
                  </a:solidFill>
                  <a:latin typeface="Times New Roman" pitchFamily="18" charset="0"/>
                  <a:ea typeface="宋体" pitchFamily="2" charset="-122"/>
                </a:rPr>
                <a:t>(7) </a:t>
              </a:r>
              <a:r>
                <a:rPr kumimoji="1" lang="en-US" altLang="zh-CN" dirty="0">
                  <a:solidFill>
                    <a:srgbClr val="FF0000"/>
                  </a:solidFill>
                  <a:latin typeface="Times New Roman" pitchFamily="18" charset="0"/>
                  <a:ea typeface="宋体" pitchFamily="2" charset="-122"/>
                </a:rPr>
                <a:t>T3 </a:t>
              </a:r>
              <a:r>
                <a:rPr kumimoji="1" lang="en-US" altLang="zh-CN" dirty="0">
                  <a:solidFill>
                    <a:srgbClr val="000000"/>
                  </a:solidFill>
                  <a:latin typeface="Times New Roman" pitchFamily="18" charset="0"/>
                  <a:ea typeface="宋体" pitchFamily="2" charset="-122"/>
                </a:rPr>
                <a:t>= a[T2]</a:t>
              </a:r>
              <a:endParaRPr kumimoji="1" lang="en-US"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en-US" altLang="zh-CN" dirty="0">
                  <a:solidFill>
                    <a:srgbClr val="000000"/>
                  </a:solidFill>
                  <a:latin typeface="Times New Roman" pitchFamily="18" charset="0"/>
                  <a:ea typeface="宋体" pitchFamily="2" charset="-122"/>
                </a:rPr>
                <a:t>(8) if T3 &lt; v </a:t>
              </a:r>
              <a:r>
                <a:rPr kumimoji="1" lang="en-US" altLang="zh-CN" dirty="0" err="1">
                  <a:solidFill>
                    <a:srgbClr val="000000"/>
                  </a:solidFill>
                  <a:latin typeface="Times New Roman" pitchFamily="18" charset="0"/>
                  <a:ea typeface="宋体" pitchFamily="2" charset="-122"/>
                </a:rPr>
                <a:t>goto</a:t>
              </a:r>
              <a:r>
                <a:rPr kumimoji="1" lang="en-US" altLang="zh-CN" dirty="0">
                  <a:solidFill>
                    <a:srgbClr val="000000"/>
                  </a:solidFill>
                  <a:latin typeface="Times New Roman" pitchFamily="18" charset="0"/>
                  <a:ea typeface="宋体" pitchFamily="2" charset="-122"/>
                </a:rPr>
                <a:t> (5)</a:t>
              </a:r>
              <a:endParaRPr kumimoji="1" lang="en-US" altLang="zh-CN" dirty="0">
                <a:latin typeface="Times New Roman" pitchFamily="18" charset="0"/>
                <a:ea typeface="宋体" pitchFamily="2" charset="-122"/>
                <a:cs typeface="Times New Roman" pitchFamily="18" charset="0"/>
              </a:endParaRPr>
            </a:p>
          </p:txBody>
        </p:sp>
        <p:sp>
          <p:nvSpPr>
            <p:cNvPr id="10" name="矩形 9"/>
            <p:cNvSpPr/>
            <p:nvPr/>
          </p:nvSpPr>
          <p:spPr>
            <a:xfrm>
              <a:off x="6804248" y="1227405"/>
              <a:ext cx="2339751" cy="1200329"/>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(9) j = j – 1</a:t>
              </a:r>
              <a:endParaRPr kumimoji="1" lang="fr-FR"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(10) T4 = 4 * j</a:t>
              </a:r>
              <a:endParaRPr kumimoji="1" lang="fr-FR"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(11) </a:t>
              </a:r>
              <a:r>
                <a:rPr kumimoji="1" lang="fr-FR" altLang="zh-CN" dirty="0">
                  <a:solidFill>
                    <a:srgbClr val="FF0000"/>
                  </a:solidFill>
                  <a:latin typeface="Times New Roman" pitchFamily="18" charset="0"/>
                  <a:ea typeface="宋体" pitchFamily="2" charset="-122"/>
                </a:rPr>
                <a:t>T5 </a:t>
              </a:r>
              <a:r>
                <a:rPr kumimoji="1" lang="fr-FR" altLang="zh-CN" dirty="0">
                  <a:solidFill>
                    <a:srgbClr val="000000"/>
                  </a:solidFill>
                  <a:latin typeface="Times New Roman" pitchFamily="18" charset="0"/>
                  <a:ea typeface="宋体" pitchFamily="2" charset="-122"/>
                </a:rPr>
                <a:t>= a[T4]</a:t>
              </a:r>
              <a:endParaRPr kumimoji="1" lang="fr-FR"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(12) if T5 &gt; v goto (9)</a:t>
              </a:r>
              <a:endParaRPr kumimoji="1" lang="fr-FR" altLang="zh-CN" dirty="0">
                <a:latin typeface="Times New Roman" pitchFamily="18" charset="0"/>
                <a:ea typeface="宋体" pitchFamily="2" charset="-122"/>
                <a:cs typeface="Times New Roman" pitchFamily="18" charset="0"/>
              </a:endParaRPr>
            </a:p>
          </p:txBody>
        </p:sp>
        <p:sp>
          <p:nvSpPr>
            <p:cNvPr id="11" name="TextBox 10"/>
            <p:cNvSpPr txBox="1"/>
            <p:nvPr/>
          </p:nvSpPr>
          <p:spPr>
            <a:xfrm>
              <a:off x="8410872" y="324441"/>
              <a:ext cx="628299" cy="523220"/>
            </a:xfrm>
            <a:prstGeom prst="rect">
              <a:avLst/>
            </a:prstGeom>
            <a:noFill/>
          </p:spPr>
          <p:txBody>
            <a:bodyPr wrap="square" rtlCol="0">
              <a:spAutoFit/>
            </a:bodyPr>
            <a:lstStyle/>
            <a:p>
              <a:r>
                <a:rPr lang="en-US" altLang="zh-CN" sz="2800" dirty="0">
                  <a:solidFill>
                    <a:srgbClr val="CC00FF"/>
                  </a:solidFill>
                </a:rPr>
                <a:t>B2</a:t>
              </a:r>
              <a:endParaRPr lang="zh-CN" altLang="en-US" sz="2800" dirty="0">
                <a:solidFill>
                  <a:srgbClr val="CC00FF"/>
                </a:solidFill>
              </a:endParaRPr>
            </a:p>
          </p:txBody>
        </p:sp>
        <p:sp>
          <p:nvSpPr>
            <p:cNvPr id="12" name="TextBox 11"/>
            <p:cNvSpPr txBox="1"/>
            <p:nvPr/>
          </p:nvSpPr>
          <p:spPr>
            <a:xfrm>
              <a:off x="8410872" y="1458362"/>
              <a:ext cx="628299" cy="523220"/>
            </a:xfrm>
            <a:prstGeom prst="rect">
              <a:avLst/>
            </a:prstGeom>
            <a:noFill/>
          </p:spPr>
          <p:txBody>
            <a:bodyPr wrap="square" rtlCol="0">
              <a:spAutoFit/>
            </a:bodyPr>
            <a:lstStyle/>
            <a:p>
              <a:r>
                <a:rPr lang="en-US" altLang="zh-CN" sz="2800" dirty="0">
                  <a:solidFill>
                    <a:srgbClr val="CC00FF"/>
                  </a:solidFill>
                </a:rPr>
                <a:t>B3</a:t>
              </a:r>
              <a:endParaRPr lang="zh-CN" altLang="en-US" sz="2800" dirty="0">
                <a:solidFill>
                  <a:srgbClr val="CC00FF"/>
                </a:solidFill>
              </a:endParaRPr>
            </a:p>
          </p:txBody>
        </p:sp>
      </p:grpSp>
      <p:sp>
        <p:nvSpPr>
          <p:cNvPr id="14" name="AutoShape 6"/>
          <p:cNvSpPr>
            <a:spLocks noChangeArrowheads="1"/>
          </p:cNvSpPr>
          <p:nvPr/>
        </p:nvSpPr>
        <p:spPr bwMode="auto">
          <a:xfrm>
            <a:off x="5580112" y="2800136"/>
            <a:ext cx="1759023" cy="433257"/>
          </a:xfrm>
          <a:prstGeom prst="rightArrow">
            <a:avLst>
              <a:gd name="adj1" fmla="val 50000"/>
              <a:gd name="adj2" fmla="val 125000"/>
            </a:avLst>
          </a:prstGeom>
          <a:solidFill>
            <a:schemeClr val="accent1"/>
          </a:solidFill>
          <a:ln w="9525">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1800"/>
          </a:p>
        </p:txBody>
      </p:sp>
    </p:spTree>
    <p:extLst>
      <p:ext uri="{BB962C8B-B14F-4D97-AF65-F5344CB8AC3E}">
        <p14:creationId xmlns:p14="http://schemas.microsoft.com/office/powerpoint/2010/main" val="29470711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57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15722"/>
                                        </p:tgtEl>
                                        <p:attrNameLst>
                                          <p:attrName>style.visibility</p:attrName>
                                        </p:attrNameLst>
                                      </p:cBhvr>
                                      <p:to>
                                        <p:strVal val="visible"/>
                                      </p:to>
                                    </p:set>
                                    <p:animEffect transition="in" filter="wipe(left)">
                                      <p:cBhvr>
                                        <p:cTn id="11" dur="500"/>
                                        <p:tgtEl>
                                          <p:spTgt spid="11572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5718">
                                            <p:bg/>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15718">
                                            <p:txEl>
                                              <p:pRg st="0" end="0"/>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15718">
                                            <p:txEl>
                                              <p:pRg st="1" end="1"/>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15718">
                                            <p:txEl>
                                              <p:pRg st="2" end="2"/>
                                            </p:txEl>
                                          </p:spTgt>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15718">
                                            <p:txEl>
                                              <p:pRg st="3" end="3"/>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15718">
                                            <p:txEl>
                                              <p:pRg st="4" end="4"/>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15718">
                                            <p:txEl>
                                              <p:pRg st="5" end="5"/>
                                            </p:tx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15718">
                                            <p:txEl>
                                              <p:pRg st="6" end="6"/>
                                            </p:txEl>
                                          </p:spTgt>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15718">
                                            <p:txEl>
                                              <p:pRg st="7" end="7"/>
                                            </p:txEl>
                                          </p:spTgt>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15718">
                                            <p:txEl>
                                              <p:pRg st="8" end="8"/>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115723"/>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left)">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8"/>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15718" grpId="0" uiExpand="1" build="p" animBg="1"/>
      <p:bldP spid="115721" grpId="0" autoUpdateAnimBg="0"/>
      <p:bldP spid="115722" grpId="0" animBg="1"/>
      <p:bldP spid="115723" grpId="0" autoUpdateAnimBg="0"/>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27518" y="195486"/>
            <a:ext cx="7772400" cy="514350"/>
          </a:xfrm>
          <a:noFill/>
        </p:spPr>
        <p:txBody>
          <a:bodyPr>
            <a:noAutofit/>
          </a:bodyPr>
          <a:lstStyle/>
          <a:p>
            <a:pPr eaLnBrk="1" hangingPunct="1"/>
            <a:r>
              <a:rPr lang="zh-CN" altLang="en-US" sz="3200" dirty="0">
                <a:solidFill>
                  <a:srgbClr val="CC00FF"/>
                </a:solidFill>
                <a:sym typeface="Symbol" pitchFamily="18" charset="2"/>
              </a:rPr>
              <a:t>优化技术</a:t>
            </a:r>
            <a:r>
              <a:rPr lang="en-US" altLang="zh-CN" sz="3200" dirty="0">
                <a:solidFill>
                  <a:srgbClr val="CC00FF"/>
                </a:solidFill>
                <a:sym typeface="Symbol" pitchFamily="18" charset="2"/>
              </a:rPr>
              <a:t>3—</a:t>
            </a:r>
            <a:r>
              <a:rPr lang="zh-CN" altLang="en-US" sz="3200" dirty="0">
                <a:solidFill>
                  <a:srgbClr val="CC00FF"/>
                </a:solidFill>
                <a:sym typeface="Symbol" pitchFamily="18" charset="2"/>
              </a:rPr>
              <a:t>删除无用代码</a:t>
            </a:r>
          </a:p>
        </p:txBody>
      </p:sp>
      <p:sp>
        <p:nvSpPr>
          <p:cNvPr id="158724" name="Rectangle 4"/>
          <p:cNvSpPr>
            <a:spLocks noChangeArrowheads="1"/>
          </p:cNvSpPr>
          <p:nvPr/>
        </p:nvSpPr>
        <p:spPr bwMode="auto">
          <a:xfrm>
            <a:off x="5087144" y="2031207"/>
            <a:ext cx="1770856" cy="12834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zh-CN" sz="2000" b="1" dirty="0">
                <a:solidFill>
                  <a:srgbClr val="000000"/>
                </a:solidFill>
                <a:latin typeface="宋体" pitchFamily="2" charset="-122"/>
              </a:rPr>
              <a:t>a[T</a:t>
            </a:r>
            <a:r>
              <a:rPr lang="en-US" altLang="zh-CN" sz="2000" b="1" dirty="0">
                <a:solidFill>
                  <a:srgbClr val="000000"/>
                </a:solidFill>
                <a:latin typeface="宋体" pitchFamily="2" charset="-122"/>
              </a:rPr>
              <a:t>2</a:t>
            </a:r>
            <a:r>
              <a:rPr lang="zh-CN" altLang="zh-CN" sz="2000" b="1" dirty="0">
                <a:solidFill>
                  <a:srgbClr val="000000"/>
                </a:solidFill>
                <a:latin typeface="宋体" pitchFamily="2" charset="-122"/>
              </a:rPr>
              <a:t>]=T</a:t>
            </a:r>
            <a:r>
              <a:rPr lang="en-US" altLang="zh-CN" sz="2000" b="1" dirty="0">
                <a:solidFill>
                  <a:srgbClr val="000000"/>
                </a:solidFill>
                <a:latin typeface="宋体" pitchFamily="2" charset="-122"/>
              </a:rPr>
              <a:t>5</a:t>
            </a:r>
            <a:endParaRPr lang="zh-CN" altLang="zh-CN" sz="2000" b="1" dirty="0">
              <a:solidFill>
                <a:srgbClr val="000000"/>
              </a:solidFill>
              <a:latin typeface="宋体" pitchFamily="2" charset="-122"/>
            </a:endParaRPr>
          </a:p>
          <a:p>
            <a:pPr eaLnBrk="1" hangingPunct="1">
              <a:spcBef>
                <a:spcPct val="0"/>
              </a:spcBef>
              <a:buFontTx/>
              <a:buNone/>
            </a:pPr>
            <a:r>
              <a:rPr lang="zh-CN" altLang="zh-CN" sz="2000" b="1" dirty="0">
                <a:solidFill>
                  <a:srgbClr val="000000"/>
                </a:solidFill>
                <a:latin typeface="宋体" pitchFamily="2" charset="-122"/>
              </a:rPr>
              <a:t>a[T</a:t>
            </a:r>
            <a:r>
              <a:rPr lang="en-US" altLang="zh-CN" sz="2000" b="1" dirty="0">
                <a:solidFill>
                  <a:srgbClr val="000000"/>
                </a:solidFill>
                <a:latin typeface="宋体" pitchFamily="2" charset="-122"/>
              </a:rPr>
              <a:t>4</a:t>
            </a:r>
            <a:r>
              <a:rPr lang="zh-CN" altLang="zh-CN" sz="2000" b="1" dirty="0">
                <a:solidFill>
                  <a:srgbClr val="000000"/>
                </a:solidFill>
                <a:latin typeface="宋体" pitchFamily="2" charset="-122"/>
              </a:rPr>
              <a:t>]=</a:t>
            </a:r>
            <a:r>
              <a:rPr lang="en-US" altLang="zh-CN" sz="2000" b="1" dirty="0">
                <a:solidFill>
                  <a:srgbClr val="000000"/>
                </a:solidFill>
                <a:latin typeface="宋体" pitchFamily="2" charset="-122"/>
              </a:rPr>
              <a:t>T3</a:t>
            </a:r>
            <a:endParaRPr lang="zh-CN" altLang="zh-CN" sz="2000" b="1" dirty="0">
              <a:solidFill>
                <a:srgbClr val="000000"/>
              </a:solidFill>
              <a:latin typeface="宋体" pitchFamily="2" charset="-122"/>
            </a:endParaRPr>
          </a:p>
          <a:p>
            <a:pPr eaLnBrk="1" hangingPunct="1">
              <a:spcBef>
                <a:spcPct val="0"/>
              </a:spcBef>
              <a:buFontTx/>
              <a:buNone/>
            </a:pPr>
            <a:r>
              <a:rPr lang="zh-CN" altLang="zh-CN" sz="2000" b="1" dirty="0">
                <a:solidFill>
                  <a:srgbClr val="000000"/>
                </a:solidFill>
                <a:latin typeface="宋体" pitchFamily="2" charset="-122"/>
              </a:rPr>
              <a:t>goto B2</a:t>
            </a:r>
          </a:p>
        </p:txBody>
      </p:sp>
      <p:sp>
        <p:nvSpPr>
          <p:cNvPr id="158726" name="Rectangle 6"/>
          <p:cNvSpPr>
            <a:spLocks noChangeArrowheads="1"/>
          </p:cNvSpPr>
          <p:nvPr/>
        </p:nvSpPr>
        <p:spPr bwMode="auto">
          <a:xfrm>
            <a:off x="2423319" y="1838445"/>
            <a:ext cx="25146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zh-CN" altLang="zh-CN" sz="1800" dirty="0">
                <a:solidFill>
                  <a:srgbClr val="000000"/>
                </a:solidFill>
                <a:latin typeface="宋体" pitchFamily="2" charset="-122"/>
              </a:rPr>
              <a:t>某些变量的赋值</a:t>
            </a:r>
            <a:r>
              <a:rPr lang="zh-CN" altLang="en-US" sz="1800" dirty="0">
                <a:solidFill>
                  <a:srgbClr val="000000"/>
                </a:solidFill>
                <a:latin typeface="宋体" pitchFamily="2" charset="-122"/>
              </a:rPr>
              <a:t>无效</a:t>
            </a:r>
            <a:r>
              <a:rPr lang="zh-CN" altLang="zh-CN" sz="1800" dirty="0">
                <a:solidFill>
                  <a:srgbClr val="000000"/>
                </a:solidFill>
                <a:latin typeface="宋体" pitchFamily="2" charset="-122"/>
              </a:rPr>
              <a:t>，在后面的程序中不再有用</a:t>
            </a:r>
          </a:p>
        </p:txBody>
      </p:sp>
      <p:sp>
        <p:nvSpPr>
          <p:cNvPr id="158727" name="AutoShape 7"/>
          <p:cNvSpPr>
            <a:spLocks noChangeArrowheads="1"/>
          </p:cNvSpPr>
          <p:nvPr/>
        </p:nvSpPr>
        <p:spPr bwMode="auto">
          <a:xfrm>
            <a:off x="2267744" y="2743200"/>
            <a:ext cx="2819400" cy="342900"/>
          </a:xfrm>
          <a:prstGeom prst="rightArrow">
            <a:avLst>
              <a:gd name="adj1" fmla="val 50000"/>
              <a:gd name="adj2" fmla="val 154167"/>
            </a:avLst>
          </a:prstGeom>
          <a:solidFill>
            <a:schemeClr val="accent1"/>
          </a:solidFill>
          <a:ln w="9525">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1800"/>
          </a:p>
        </p:txBody>
      </p:sp>
      <p:sp>
        <p:nvSpPr>
          <p:cNvPr id="158729" name="Rectangle 9"/>
          <p:cNvSpPr>
            <a:spLocks noChangeArrowheads="1"/>
          </p:cNvSpPr>
          <p:nvPr/>
        </p:nvSpPr>
        <p:spPr bwMode="auto">
          <a:xfrm>
            <a:off x="5243835" y="3739277"/>
            <a:ext cx="1614165" cy="6929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zh-CN" sz="2000" b="1">
                <a:solidFill>
                  <a:srgbClr val="000000"/>
                </a:solidFill>
                <a:latin typeface="宋体" pitchFamily="2" charset="-122"/>
              </a:rPr>
              <a:t>a[T</a:t>
            </a:r>
            <a:r>
              <a:rPr lang="en-US" altLang="zh-CN" sz="2000" b="1">
                <a:solidFill>
                  <a:srgbClr val="000000"/>
                </a:solidFill>
                <a:latin typeface="宋体" pitchFamily="2" charset="-122"/>
              </a:rPr>
              <a:t>2</a:t>
            </a:r>
            <a:r>
              <a:rPr lang="zh-CN" altLang="zh-CN" sz="2000" b="1">
                <a:solidFill>
                  <a:srgbClr val="000000"/>
                </a:solidFill>
                <a:latin typeface="宋体" pitchFamily="2" charset="-122"/>
              </a:rPr>
              <a:t>]=</a:t>
            </a:r>
            <a:r>
              <a:rPr lang="en-US" altLang="zh-CN" sz="2000" b="1">
                <a:solidFill>
                  <a:srgbClr val="000000"/>
                </a:solidFill>
                <a:latin typeface="宋体" pitchFamily="2" charset="-122"/>
              </a:rPr>
              <a:t>v</a:t>
            </a:r>
            <a:endParaRPr lang="zh-CN" altLang="zh-CN" sz="2000" b="1">
              <a:solidFill>
                <a:srgbClr val="000000"/>
              </a:solidFill>
              <a:latin typeface="宋体" pitchFamily="2" charset="-122"/>
            </a:endParaRPr>
          </a:p>
          <a:p>
            <a:pPr eaLnBrk="1" hangingPunct="1">
              <a:spcBef>
                <a:spcPct val="0"/>
              </a:spcBef>
              <a:buFontTx/>
              <a:buNone/>
            </a:pPr>
            <a:r>
              <a:rPr lang="zh-CN" altLang="zh-CN" sz="2000" b="1">
                <a:solidFill>
                  <a:srgbClr val="000000"/>
                </a:solidFill>
                <a:latin typeface="宋体" pitchFamily="2" charset="-122"/>
              </a:rPr>
              <a:t>a[T</a:t>
            </a:r>
            <a:r>
              <a:rPr lang="en-US" altLang="zh-CN" sz="2000" b="1">
                <a:solidFill>
                  <a:srgbClr val="000000"/>
                </a:solidFill>
                <a:latin typeface="宋体" pitchFamily="2" charset="-122"/>
              </a:rPr>
              <a:t>1</a:t>
            </a:r>
            <a:r>
              <a:rPr lang="zh-CN" altLang="zh-CN" sz="2000" b="1">
                <a:solidFill>
                  <a:srgbClr val="000000"/>
                </a:solidFill>
                <a:latin typeface="宋体" pitchFamily="2" charset="-122"/>
              </a:rPr>
              <a:t>]=</a:t>
            </a:r>
            <a:r>
              <a:rPr lang="en-US" altLang="zh-CN" sz="2000" b="1">
                <a:solidFill>
                  <a:srgbClr val="000000"/>
                </a:solidFill>
                <a:latin typeface="宋体" pitchFamily="2" charset="-122"/>
              </a:rPr>
              <a:t>T3</a:t>
            </a:r>
            <a:endParaRPr lang="zh-CN" altLang="zh-CN" sz="2000" b="1">
              <a:solidFill>
                <a:srgbClr val="000000"/>
              </a:solidFill>
              <a:latin typeface="宋体" pitchFamily="2" charset="-122"/>
            </a:endParaRPr>
          </a:p>
        </p:txBody>
      </p:sp>
      <p:sp>
        <p:nvSpPr>
          <p:cNvPr id="25609" name="Text Box 11"/>
          <p:cNvSpPr txBox="1">
            <a:spLocks noChangeArrowheads="1"/>
          </p:cNvSpPr>
          <p:nvPr/>
        </p:nvSpPr>
        <p:spPr bwMode="auto">
          <a:xfrm>
            <a:off x="6425892" y="1653779"/>
            <a:ext cx="462940" cy="377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dirty="0"/>
              <a:t>B5</a:t>
            </a:r>
          </a:p>
        </p:txBody>
      </p:sp>
      <p:sp>
        <p:nvSpPr>
          <p:cNvPr id="10" name="矩形 9"/>
          <p:cNvSpPr/>
          <p:nvPr/>
        </p:nvSpPr>
        <p:spPr>
          <a:xfrm>
            <a:off x="683568" y="1654939"/>
            <a:ext cx="1569167" cy="2862322"/>
          </a:xfrm>
          <a:prstGeom prst="rect">
            <a:avLst/>
          </a:prstGeom>
          <a:ln>
            <a:solidFill>
              <a:schemeClr val="tx1"/>
            </a:solidFill>
          </a:ln>
        </p:spPr>
        <p:txBody>
          <a:bodyPr wrap="square">
            <a:spAutoFit/>
          </a:bodyPr>
          <a:lstStyle/>
          <a:p>
            <a:r>
              <a:rPr lang="en-US" altLang="zh-CN" sz="2000" b="1" dirty="0">
                <a:solidFill>
                  <a:srgbClr val="FF0000"/>
                </a:solidFill>
                <a:latin typeface="宋体" pitchFamily="2" charset="-122"/>
                <a:ea typeface="宋体" panose="02010600030101010101" pitchFamily="2" charset="-122"/>
              </a:rPr>
              <a:t>T</a:t>
            </a:r>
            <a:r>
              <a:rPr lang="fr-FR" altLang="zh-CN" sz="2000" b="1" dirty="0">
                <a:solidFill>
                  <a:srgbClr val="FF0000"/>
                </a:solidFill>
                <a:latin typeface="宋体" pitchFamily="2" charset="-122"/>
                <a:ea typeface="宋体" panose="02010600030101010101" pitchFamily="2" charset="-122"/>
              </a:rPr>
              <a:t>6</a:t>
            </a:r>
            <a:r>
              <a:rPr lang="en-US" altLang="zh-CN" sz="2000" b="1" dirty="0">
                <a:latin typeface="宋体" pitchFamily="2" charset="-122"/>
                <a:ea typeface="宋体" panose="02010600030101010101" pitchFamily="2" charset="-122"/>
              </a:rPr>
              <a:t>=T</a:t>
            </a:r>
            <a:r>
              <a:rPr lang="fr-FR" altLang="zh-CN" sz="2000" b="1" dirty="0">
                <a:latin typeface="宋体" pitchFamily="2" charset="-122"/>
                <a:ea typeface="宋体" panose="02010600030101010101" pitchFamily="2" charset="-122"/>
              </a:rPr>
              <a:t>2</a:t>
            </a:r>
            <a:endParaRPr lang="zh-CN" altLang="zh-CN" sz="2000" b="1" dirty="0">
              <a:latin typeface="宋体" pitchFamily="2" charset="-122"/>
              <a:ea typeface="宋体" panose="02010600030101010101" pitchFamily="2" charset="-122"/>
            </a:endParaRPr>
          </a:p>
          <a:p>
            <a:r>
              <a:rPr lang="en-US" altLang="zh-CN" sz="2000" b="1" dirty="0">
                <a:solidFill>
                  <a:srgbClr val="FF0000"/>
                </a:solidFill>
                <a:latin typeface="宋体" pitchFamily="2" charset="-122"/>
                <a:ea typeface="宋体" panose="02010600030101010101" pitchFamily="2" charset="-122"/>
              </a:rPr>
              <a:t>x</a:t>
            </a:r>
            <a:r>
              <a:rPr lang="en-US" altLang="zh-CN" sz="2000" b="1" dirty="0">
                <a:latin typeface="宋体" pitchFamily="2" charset="-122"/>
                <a:ea typeface="宋体" panose="02010600030101010101" pitchFamily="2" charset="-122"/>
              </a:rPr>
              <a:t>=T</a:t>
            </a:r>
            <a:r>
              <a:rPr lang="fr-FR" altLang="zh-CN" sz="2000" b="1" dirty="0">
                <a:latin typeface="宋体" pitchFamily="2" charset="-122"/>
                <a:ea typeface="宋体" panose="02010600030101010101" pitchFamily="2" charset="-122"/>
              </a:rPr>
              <a:t>3</a:t>
            </a:r>
            <a:endParaRPr lang="zh-CN" altLang="zh-CN" sz="2000" b="1" dirty="0">
              <a:latin typeface="宋体" pitchFamily="2" charset="-122"/>
              <a:ea typeface="宋体" panose="02010600030101010101" pitchFamily="2" charset="-122"/>
            </a:endParaRPr>
          </a:p>
          <a:p>
            <a:r>
              <a:rPr lang="en-US" altLang="zh-CN" sz="2000" b="1" dirty="0">
                <a:solidFill>
                  <a:srgbClr val="FF0000"/>
                </a:solidFill>
                <a:latin typeface="宋体" pitchFamily="2" charset="-122"/>
                <a:ea typeface="宋体" panose="02010600030101010101" pitchFamily="2" charset="-122"/>
              </a:rPr>
              <a:t>T</a:t>
            </a:r>
            <a:r>
              <a:rPr lang="fr-FR" altLang="zh-CN" sz="2000" b="1" dirty="0">
                <a:solidFill>
                  <a:srgbClr val="FF0000"/>
                </a:solidFill>
                <a:latin typeface="宋体" pitchFamily="2" charset="-122"/>
                <a:ea typeface="宋体" panose="02010600030101010101" pitchFamily="2" charset="-122"/>
              </a:rPr>
              <a:t>7</a:t>
            </a:r>
            <a:r>
              <a:rPr lang="en-US" altLang="zh-CN" sz="2000" b="1" dirty="0">
                <a:latin typeface="宋体" pitchFamily="2" charset="-122"/>
                <a:ea typeface="宋体" panose="02010600030101010101" pitchFamily="2" charset="-122"/>
              </a:rPr>
              <a:t>=</a:t>
            </a:r>
            <a:r>
              <a:rPr lang="fr-FR" altLang="zh-CN" sz="2000" b="1" dirty="0">
                <a:latin typeface="宋体" pitchFamily="2" charset="-122"/>
                <a:ea typeface="宋体" panose="02010600030101010101" pitchFamily="2" charset="-122"/>
              </a:rPr>
              <a:t>T2</a:t>
            </a:r>
            <a:endParaRPr lang="zh-CN" altLang="zh-CN" sz="2000" b="1" dirty="0">
              <a:latin typeface="宋体" pitchFamily="2" charset="-122"/>
              <a:ea typeface="宋体" panose="02010600030101010101" pitchFamily="2" charset="-122"/>
            </a:endParaRPr>
          </a:p>
          <a:p>
            <a:r>
              <a:rPr lang="en-US" altLang="zh-CN" sz="2000" b="1" dirty="0">
                <a:solidFill>
                  <a:srgbClr val="FF0000"/>
                </a:solidFill>
                <a:latin typeface="宋体" pitchFamily="2" charset="-122"/>
                <a:ea typeface="宋体" panose="02010600030101010101" pitchFamily="2" charset="-122"/>
              </a:rPr>
              <a:t>T</a:t>
            </a:r>
            <a:r>
              <a:rPr lang="fr-FR" altLang="zh-CN" sz="2000" b="1" dirty="0">
                <a:solidFill>
                  <a:srgbClr val="FF0000"/>
                </a:solidFill>
                <a:latin typeface="宋体" pitchFamily="2" charset="-122"/>
                <a:ea typeface="宋体" panose="02010600030101010101" pitchFamily="2" charset="-122"/>
              </a:rPr>
              <a:t>8</a:t>
            </a:r>
            <a:r>
              <a:rPr lang="en-US" altLang="zh-CN" sz="2000" b="1" dirty="0">
                <a:latin typeface="宋体" pitchFamily="2" charset="-122"/>
                <a:ea typeface="宋体" panose="02010600030101010101" pitchFamily="2" charset="-122"/>
              </a:rPr>
              <a:t>=T</a:t>
            </a:r>
            <a:r>
              <a:rPr lang="fr-FR" altLang="zh-CN" sz="2000" b="1" dirty="0">
                <a:latin typeface="宋体" pitchFamily="2" charset="-122"/>
                <a:ea typeface="宋体" panose="02010600030101010101" pitchFamily="2" charset="-122"/>
              </a:rPr>
              <a:t>4</a:t>
            </a:r>
            <a:endParaRPr lang="zh-CN" altLang="zh-CN" sz="2000" b="1" dirty="0">
              <a:latin typeface="宋体" pitchFamily="2" charset="-122"/>
              <a:ea typeface="宋体" panose="02010600030101010101" pitchFamily="2" charset="-122"/>
            </a:endParaRPr>
          </a:p>
          <a:p>
            <a:r>
              <a:rPr lang="en-US" altLang="zh-CN" sz="2000" b="1" dirty="0">
                <a:solidFill>
                  <a:srgbClr val="FF0000"/>
                </a:solidFill>
                <a:latin typeface="宋体" pitchFamily="2" charset="-122"/>
                <a:ea typeface="宋体" panose="02010600030101010101" pitchFamily="2" charset="-122"/>
              </a:rPr>
              <a:t>T</a:t>
            </a:r>
            <a:r>
              <a:rPr lang="fr-FR" altLang="zh-CN" sz="2000" b="1" dirty="0">
                <a:solidFill>
                  <a:srgbClr val="FF0000"/>
                </a:solidFill>
                <a:latin typeface="宋体" pitchFamily="2" charset="-122"/>
                <a:ea typeface="宋体" panose="02010600030101010101" pitchFamily="2" charset="-122"/>
              </a:rPr>
              <a:t>9</a:t>
            </a:r>
            <a:r>
              <a:rPr lang="en-US" altLang="zh-CN" sz="2000" b="1" dirty="0">
                <a:latin typeface="宋体" pitchFamily="2" charset="-122"/>
                <a:ea typeface="宋体" panose="02010600030101010101" pitchFamily="2" charset="-122"/>
              </a:rPr>
              <a:t>=T</a:t>
            </a:r>
            <a:r>
              <a:rPr lang="fr-FR" altLang="zh-CN" sz="2000" b="1" dirty="0">
                <a:latin typeface="宋体" pitchFamily="2" charset="-122"/>
                <a:ea typeface="宋体" panose="02010600030101010101" pitchFamily="2" charset="-122"/>
              </a:rPr>
              <a:t>5</a:t>
            </a:r>
            <a:endParaRPr lang="zh-CN" altLang="zh-CN" sz="2000" b="1" dirty="0">
              <a:latin typeface="宋体" pitchFamily="2" charset="-122"/>
              <a:ea typeface="宋体" panose="02010600030101010101" pitchFamily="2" charset="-122"/>
            </a:endParaRPr>
          </a:p>
          <a:p>
            <a:r>
              <a:rPr lang="en-US" altLang="zh-CN" sz="2000" b="1" dirty="0">
                <a:latin typeface="宋体" pitchFamily="2" charset="-122"/>
                <a:ea typeface="宋体" panose="02010600030101010101" pitchFamily="2" charset="-122"/>
              </a:rPr>
              <a:t>a[T</a:t>
            </a:r>
            <a:r>
              <a:rPr lang="fr-FR" altLang="zh-CN" sz="2000" b="1" dirty="0">
                <a:latin typeface="宋体" pitchFamily="2" charset="-122"/>
                <a:ea typeface="宋体" panose="02010600030101010101" pitchFamily="2" charset="-122"/>
              </a:rPr>
              <a:t>2</a:t>
            </a:r>
            <a:r>
              <a:rPr lang="en-US" altLang="zh-CN" sz="2000" b="1" dirty="0">
                <a:latin typeface="宋体" pitchFamily="2" charset="-122"/>
                <a:ea typeface="宋体" panose="02010600030101010101" pitchFamily="2" charset="-122"/>
              </a:rPr>
              <a:t>]=T</a:t>
            </a:r>
            <a:r>
              <a:rPr lang="fr-FR" altLang="zh-CN" sz="2000" b="1" dirty="0">
                <a:latin typeface="宋体" pitchFamily="2" charset="-122"/>
                <a:ea typeface="宋体" panose="02010600030101010101" pitchFamily="2" charset="-122"/>
              </a:rPr>
              <a:t>5</a:t>
            </a:r>
            <a:endParaRPr lang="zh-CN" altLang="zh-CN" sz="2000" b="1" dirty="0">
              <a:latin typeface="宋体" pitchFamily="2" charset="-122"/>
              <a:ea typeface="宋体" panose="02010600030101010101" pitchFamily="2" charset="-122"/>
            </a:endParaRPr>
          </a:p>
          <a:p>
            <a:r>
              <a:rPr lang="en-US" altLang="zh-CN" sz="2000" b="1" dirty="0">
                <a:solidFill>
                  <a:srgbClr val="FF0000"/>
                </a:solidFill>
                <a:latin typeface="宋体" pitchFamily="2" charset="-122"/>
                <a:ea typeface="宋体" panose="02010600030101010101" pitchFamily="2" charset="-122"/>
              </a:rPr>
              <a:t>T</a:t>
            </a:r>
            <a:r>
              <a:rPr lang="fr-FR" altLang="zh-CN" sz="2000" b="1" dirty="0">
                <a:solidFill>
                  <a:srgbClr val="FF0000"/>
                </a:solidFill>
                <a:latin typeface="宋体" pitchFamily="2" charset="-122"/>
                <a:ea typeface="宋体" panose="02010600030101010101" pitchFamily="2" charset="-122"/>
              </a:rPr>
              <a:t>10</a:t>
            </a:r>
            <a:r>
              <a:rPr lang="en-US" altLang="zh-CN" sz="2000" b="1" dirty="0">
                <a:latin typeface="宋体" pitchFamily="2" charset="-122"/>
                <a:ea typeface="宋体" panose="02010600030101010101" pitchFamily="2" charset="-122"/>
              </a:rPr>
              <a:t>=</a:t>
            </a:r>
            <a:r>
              <a:rPr lang="fr-FR" altLang="zh-CN" sz="2000" b="1" dirty="0">
                <a:latin typeface="宋体" pitchFamily="2" charset="-122"/>
                <a:ea typeface="宋体" panose="02010600030101010101" pitchFamily="2" charset="-122"/>
              </a:rPr>
              <a:t>T4</a:t>
            </a:r>
            <a:endParaRPr lang="zh-CN" altLang="zh-CN" sz="2000" b="1" dirty="0">
              <a:latin typeface="宋体" pitchFamily="2" charset="-122"/>
              <a:ea typeface="宋体" panose="02010600030101010101" pitchFamily="2" charset="-122"/>
            </a:endParaRPr>
          </a:p>
          <a:p>
            <a:r>
              <a:rPr lang="en-US" altLang="zh-CN" sz="2000" b="1" dirty="0">
                <a:latin typeface="宋体" pitchFamily="2" charset="-122"/>
                <a:ea typeface="宋体" panose="02010600030101010101" pitchFamily="2" charset="-122"/>
              </a:rPr>
              <a:t>a[T</a:t>
            </a:r>
            <a:r>
              <a:rPr lang="fr-FR" altLang="zh-CN" sz="2000" b="1" dirty="0">
                <a:latin typeface="宋体" pitchFamily="2" charset="-122"/>
                <a:ea typeface="宋体" panose="02010600030101010101" pitchFamily="2" charset="-122"/>
              </a:rPr>
              <a:t>4</a:t>
            </a:r>
            <a:r>
              <a:rPr lang="en-US" altLang="zh-CN" sz="2000" b="1" dirty="0">
                <a:latin typeface="宋体" pitchFamily="2" charset="-122"/>
                <a:ea typeface="宋体" panose="02010600030101010101" pitchFamily="2" charset="-122"/>
              </a:rPr>
              <a:t>]= T</a:t>
            </a:r>
            <a:r>
              <a:rPr lang="fr-FR" altLang="zh-CN" sz="2000" b="1" dirty="0">
                <a:latin typeface="宋体" pitchFamily="2" charset="-122"/>
                <a:ea typeface="宋体" panose="02010600030101010101" pitchFamily="2" charset="-122"/>
              </a:rPr>
              <a:t>3</a:t>
            </a:r>
            <a:endParaRPr lang="zh-CN" altLang="zh-CN" sz="2000" b="1" dirty="0">
              <a:latin typeface="宋体" pitchFamily="2" charset="-122"/>
              <a:ea typeface="宋体" panose="02010600030101010101" pitchFamily="2" charset="-122"/>
            </a:endParaRPr>
          </a:p>
          <a:p>
            <a:r>
              <a:rPr lang="en-US" altLang="zh-CN" sz="2000" b="1" dirty="0" err="1">
                <a:latin typeface="宋体" pitchFamily="2" charset="-122"/>
                <a:ea typeface="宋体" panose="02010600030101010101" pitchFamily="2" charset="-122"/>
              </a:rPr>
              <a:t>goto</a:t>
            </a:r>
            <a:r>
              <a:rPr lang="en-US" altLang="zh-CN" sz="2000" b="1" dirty="0">
                <a:latin typeface="宋体" pitchFamily="2" charset="-122"/>
                <a:ea typeface="宋体" panose="02010600030101010101" pitchFamily="2" charset="-122"/>
              </a:rPr>
              <a:t> B</a:t>
            </a:r>
            <a:r>
              <a:rPr lang="fr-FR" altLang="zh-CN" sz="2000" b="1" dirty="0">
                <a:latin typeface="宋体" pitchFamily="2" charset="-122"/>
                <a:ea typeface="宋体" panose="02010600030101010101" pitchFamily="2" charset="-122"/>
              </a:rPr>
              <a:t>2</a:t>
            </a:r>
            <a:endParaRPr lang="zh-CN" altLang="en-US" sz="2000" b="1" dirty="0">
              <a:latin typeface="宋体" pitchFamily="2" charset="-122"/>
              <a:ea typeface="宋体" panose="02010600030101010101" pitchFamily="2" charset="-122"/>
            </a:endParaRPr>
          </a:p>
        </p:txBody>
      </p:sp>
      <p:grpSp>
        <p:nvGrpSpPr>
          <p:cNvPr id="4" name="组合 3"/>
          <p:cNvGrpSpPr/>
          <p:nvPr/>
        </p:nvGrpSpPr>
        <p:grpSpPr>
          <a:xfrm>
            <a:off x="6858000" y="-8214"/>
            <a:ext cx="2430016" cy="2308324"/>
            <a:chOff x="6858000" y="-8214"/>
            <a:chExt cx="2430016" cy="2308324"/>
          </a:xfrm>
        </p:grpSpPr>
        <p:sp>
          <p:nvSpPr>
            <p:cNvPr id="25608" name="Text Box 10"/>
            <p:cNvSpPr txBox="1">
              <a:spLocks noChangeArrowheads="1"/>
            </p:cNvSpPr>
            <p:nvPr/>
          </p:nvSpPr>
          <p:spPr bwMode="auto">
            <a:xfrm>
              <a:off x="7235825" y="1653779"/>
              <a:ext cx="76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a:t>B5</a:t>
              </a:r>
            </a:p>
          </p:txBody>
        </p:sp>
        <p:sp>
          <p:nvSpPr>
            <p:cNvPr id="2" name="矩形 1"/>
            <p:cNvSpPr/>
            <p:nvPr/>
          </p:nvSpPr>
          <p:spPr>
            <a:xfrm>
              <a:off x="6858000" y="-8214"/>
              <a:ext cx="2286000" cy="2308324"/>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(23) T11 = 4 * j</a:t>
              </a:r>
              <a:endParaRPr kumimoji="1" lang="fr-FR"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(24) x = a[T11]</a:t>
              </a:r>
              <a:endParaRPr kumimoji="1" lang="fr-FR"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(25) T12 = 4 * i</a:t>
              </a:r>
              <a:endParaRPr kumimoji="1" lang="fr-FR"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(26) T13 = 4 * n</a:t>
              </a:r>
              <a:endParaRPr kumimoji="1" lang="fr-FR"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(27) T14 = a[T13]</a:t>
              </a:r>
              <a:endParaRPr kumimoji="1" lang="fr-FR"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(28) a[T12] = T14</a:t>
              </a:r>
              <a:endParaRPr kumimoji="1" lang="fr-FR"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(29) T15 = 4 * n</a:t>
              </a:r>
              <a:endParaRPr kumimoji="1" lang="fr-FR" altLang="zh-CN" dirty="0">
                <a:latin typeface="Times New Roman" pitchFamily="18" charset="0"/>
                <a:ea typeface="宋体" pitchFamily="2" charset="-122"/>
                <a:cs typeface="Times New Roman" pitchFamily="18" charset="0"/>
              </a:endParaRPr>
            </a:p>
            <a:p>
              <a:pPr lvl="0" eaLnBrk="0" fontAlgn="base" hangingPunct="0">
                <a:spcBef>
                  <a:spcPct val="0"/>
                </a:spcBef>
                <a:spcAft>
                  <a:spcPct val="0"/>
                </a:spcAft>
              </a:pPr>
              <a:r>
                <a:rPr kumimoji="1" lang="fr-FR" altLang="zh-CN" dirty="0">
                  <a:solidFill>
                    <a:srgbClr val="000000"/>
                  </a:solidFill>
                  <a:latin typeface="Times New Roman" pitchFamily="18" charset="0"/>
                  <a:ea typeface="宋体" pitchFamily="2" charset="-122"/>
                </a:rPr>
                <a:t>(30) a[T15] = x</a:t>
              </a:r>
              <a:endParaRPr lang="zh-CN" altLang="en-US" dirty="0"/>
            </a:p>
          </p:txBody>
        </p:sp>
        <p:sp>
          <p:nvSpPr>
            <p:cNvPr id="3" name="TextBox 2"/>
            <p:cNvSpPr txBox="1"/>
            <p:nvPr/>
          </p:nvSpPr>
          <p:spPr>
            <a:xfrm>
              <a:off x="8532440" y="627534"/>
              <a:ext cx="755576" cy="523220"/>
            </a:xfrm>
            <a:prstGeom prst="rect">
              <a:avLst/>
            </a:prstGeom>
            <a:noFill/>
          </p:spPr>
          <p:txBody>
            <a:bodyPr wrap="square" rtlCol="0">
              <a:spAutoFit/>
            </a:bodyPr>
            <a:lstStyle/>
            <a:p>
              <a:r>
                <a:rPr lang="en-US" altLang="zh-CN" sz="2800" dirty="0">
                  <a:solidFill>
                    <a:srgbClr val="CC00FF"/>
                  </a:solidFill>
                </a:rPr>
                <a:t>B6</a:t>
              </a:r>
              <a:endParaRPr lang="zh-CN" altLang="en-US" sz="2800" dirty="0">
                <a:solidFill>
                  <a:srgbClr val="CC00FF"/>
                </a:solidFill>
              </a:endParaRPr>
            </a:p>
          </p:txBody>
        </p:sp>
      </p:grpSp>
      <p:sp>
        <p:nvSpPr>
          <p:cNvPr id="14" name="Text Box 11"/>
          <p:cNvSpPr txBox="1">
            <a:spLocks noChangeArrowheads="1"/>
          </p:cNvSpPr>
          <p:nvPr/>
        </p:nvSpPr>
        <p:spPr bwMode="auto">
          <a:xfrm>
            <a:off x="6425892" y="3314701"/>
            <a:ext cx="4629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dirty="0"/>
              <a:t>B6</a:t>
            </a:r>
          </a:p>
        </p:txBody>
      </p:sp>
    </p:spTree>
    <p:extLst>
      <p:ext uri="{BB962C8B-B14F-4D97-AF65-F5344CB8AC3E}">
        <p14:creationId xmlns:p14="http://schemas.microsoft.com/office/powerpoint/2010/main" val="1407636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87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58727"/>
                                        </p:tgtEl>
                                        <p:attrNameLst>
                                          <p:attrName>style.visibility</p:attrName>
                                        </p:attrNameLst>
                                      </p:cBhvr>
                                      <p:to>
                                        <p:strVal val="visible"/>
                                      </p:to>
                                    </p:set>
                                    <p:animEffect transition="in" filter="wipe(left)">
                                      <p:cBhvr>
                                        <p:cTn id="11" dur="500"/>
                                        <p:tgtEl>
                                          <p:spTgt spid="15872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5872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5609"/>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5872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4" grpId="0" animBg="1"/>
      <p:bldP spid="158726" grpId="0" autoUpdateAnimBg="0"/>
      <p:bldP spid="158727" grpId="0" animBg="1"/>
      <p:bldP spid="158729" grpId="0" animBg="1"/>
      <p:bldP spid="25609" grpId="0"/>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6626" name="Group 3"/>
          <p:cNvGrpSpPr>
            <a:grpSpLocks/>
          </p:cNvGrpSpPr>
          <p:nvPr/>
        </p:nvGrpSpPr>
        <p:grpSpPr bwMode="auto">
          <a:xfrm>
            <a:off x="685800" y="465535"/>
            <a:ext cx="8458200" cy="4171950"/>
            <a:chOff x="576" y="528"/>
            <a:chExt cx="5328" cy="3504"/>
          </a:xfrm>
        </p:grpSpPr>
        <p:sp>
          <p:nvSpPr>
            <p:cNvPr id="266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dirty="0" err="1"/>
                <a:t>i</a:t>
              </a:r>
              <a:r>
                <a:rPr lang="en-US" altLang="zh-CN" sz="1600" b="1" dirty="0"/>
                <a:t>=m-1</a:t>
              </a:r>
            </a:p>
            <a:p>
              <a:pPr eaLnBrk="1" hangingPunct="1">
                <a:spcBef>
                  <a:spcPct val="0"/>
                </a:spcBef>
                <a:buFontTx/>
                <a:buNone/>
              </a:pPr>
              <a:r>
                <a:rPr lang="en-US" altLang="zh-CN" sz="1600" b="1" dirty="0"/>
                <a:t>j=n</a:t>
              </a:r>
            </a:p>
            <a:p>
              <a:pPr eaLnBrk="1" hangingPunct="1">
                <a:spcBef>
                  <a:spcPct val="0"/>
                </a:spcBef>
                <a:buFontTx/>
                <a:buNone/>
              </a:pPr>
              <a:r>
                <a:rPr lang="en-US" altLang="zh-CN" sz="1600" b="1" dirty="0">
                  <a:solidFill>
                    <a:srgbClr val="FF3300"/>
                  </a:solidFill>
                </a:rPr>
                <a:t>T</a:t>
              </a:r>
              <a:r>
                <a:rPr lang="en-US" altLang="zh-CN" sz="1600" b="1" baseline="-25000" dirty="0">
                  <a:solidFill>
                    <a:srgbClr val="FF3300"/>
                  </a:solidFill>
                </a:rPr>
                <a:t>1</a:t>
              </a:r>
              <a:r>
                <a:rPr lang="en-US" altLang="zh-CN" sz="1600" b="1" dirty="0">
                  <a:solidFill>
                    <a:srgbClr val="FF3300"/>
                  </a:solidFill>
                </a:rPr>
                <a:t>=4*n</a:t>
              </a:r>
            </a:p>
            <a:p>
              <a:pPr eaLnBrk="1" hangingPunct="1">
                <a:spcBef>
                  <a:spcPct val="0"/>
                </a:spcBef>
                <a:buFontTx/>
                <a:buNone/>
              </a:pPr>
              <a:r>
                <a:rPr lang="en-US" altLang="zh-CN" sz="1600" b="1" dirty="0"/>
                <a:t>v=a[T</a:t>
              </a:r>
              <a:r>
                <a:rPr lang="en-US" altLang="zh-CN" sz="1600" b="1" baseline="-25000" dirty="0"/>
                <a:t>1</a:t>
              </a:r>
              <a:r>
                <a:rPr lang="en-US" altLang="zh-CN" sz="1600" b="1" dirty="0"/>
                <a:t>]</a:t>
              </a:r>
            </a:p>
          </p:txBody>
        </p:sp>
        <p:sp>
          <p:nvSpPr>
            <p:cNvPr id="26630" name="Rectangle 5"/>
            <p:cNvSpPr>
              <a:spLocks noChangeArrowheads="1"/>
            </p:cNvSpPr>
            <p:nvPr/>
          </p:nvSpPr>
          <p:spPr bwMode="auto">
            <a:xfrm>
              <a:off x="2064" y="1008"/>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1</a:t>
              </a:r>
              <a:endParaRPr lang="en-US" altLang="zh-CN" sz="1800"/>
            </a:p>
          </p:txBody>
        </p:sp>
        <p:sp>
          <p:nvSpPr>
            <p:cNvPr id="266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dirty="0" err="1"/>
                <a:t>i</a:t>
              </a:r>
              <a:r>
                <a:rPr lang="en-US" altLang="zh-CN" sz="1600" b="1" dirty="0"/>
                <a:t>=i+1</a:t>
              </a:r>
            </a:p>
            <a:p>
              <a:pPr eaLnBrk="1" hangingPunct="1">
                <a:spcBef>
                  <a:spcPct val="0"/>
                </a:spcBef>
                <a:buFontTx/>
                <a:buNone/>
              </a:pPr>
              <a:r>
                <a:rPr lang="en-US" altLang="zh-CN" sz="1600" b="1" dirty="0">
                  <a:solidFill>
                    <a:srgbClr val="FF3300"/>
                  </a:solidFill>
                </a:rPr>
                <a:t>T</a:t>
              </a:r>
              <a:r>
                <a:rPr lang="en-US" altLang="zh-CN" sz="1600" b="1" baseline="-25000" dirty="0">
                  <a:solidFill>
                    <a:srgbClr val="FF3300"/>
                  </a:solidFill>
                </a:rPr>
                <a:t>2</a:t>
              </a:r>
              <a:r>
                <a:rPr lang="en-US" altLang="zh-CN" sz="1600" b="1" dirty="0">
                  <a:solidFill>
                    <a:srgbClr val="FF3300"/>
                  </a:solidFill>
                </a:rPr>
                <a:t>=4*</a:t>
              </a:r>
              <a:r>
                <a:rPr lang="en-US" altLang="zh-CN" sz="1600" b="1" dirty="0" err="1">
                  <a:solidFill>
                    <a:srgbClr val="FF3300"/>
                  </a:solidFill>
                </a:rPr>
                <a:t>i</a:t>
              </a:r>
              <a:r>
                <a:rPr lang="en-US" altLang="zh-CN" sz="1600" b="1" dirty="0"/>
                <a:t> </a:t>
              </a:r>
            </a:p>
            <a:p>
              <a:pPr eaLnBrk="1" hangingPunct="1">
                <a:spcBef>
                  <a:spcPct val="0"/>
                </a:spcBef>
                <a:buFontTx/>
                <a:buNone/>
              </a:pPr>
              <a:r>
                <a:rPr lang="en-US" altLang="zh-CN" sz="1600" b="1" dirty="0"/>
                <a:t>T</a:t>
              </a:r>
              <a:r>
                <a:rPr lang="en-US" altLang="zh-CN" sz="1600" b="1" baseline="-25000" dirty="0"/>
                <a:t>3</a:t>
              </a:r>
              <a:r>
                <a:rPr lang="en-US" altLang="zh-CN" sz="1600" b="1" dirty="0"/>
                <a:t>=a[T</a:t>
              </a:r>
              <a:r>
                <a:rPr lang="en-US" altLang="zh-CN" sz="1600" b="1" baseline="-25000" dirty="0"/>
                <a:t>2</a:t>
              </a:r>
              <a:r>
                <a:rPr lang="en-US" altLang="zh-CN" sz="1600" b="1" dirty="0"/>
                <a:t>]</a:t>
              </a:r>
            </a:p>
            <a:p>
              <a:pPr eaLnBrk="1" hangingPunct="1">
                <a:spcBef>
                  <a:spcPct val="0"/>
                </a:spcBef>
                <a:buFontTx/>
                <a:buNone/>
              </a:pPr>
              <a:r>
                <a:rPr lang="en-US" altLang="zh-CN" sz="1600" b="1" dirty="0"/>
                <a:t>if T</a:t>
              </a:r>
              <a:r>
                <a:rPr lang="en-US" altLang="zh-CN" sz="1600" b="1" baseline="-25000" dirty="0"/>
                <a:t>3</a:t>
              </a:r>
              <a:r>
                <a:rPr lang="en-US" altLang="zh-CN" sz="1600" b="1" dirty="0"/>
                <a:t>&lt;v </a:t>
              </a:r>
              <a:r>
                <a:rPr lang="en-US" altLang="zh-CN" sz="1600" b="1" dirty="0" err="1"/>
                <a:t>goto</a:t>
              </a:r>
              <a:r>
                <a:rPr lang="en-US" altLang="zh-CN" sz="1600" b="1" dirty="0"/>
                <a:t> B</a:t>
              </a:r>
              <a:r>
                <a:rPr lang="en-US" altLang="zh-CN" sz="1600" b="1" baseline="-25000" dirty="0"/>
                <a:t>2</a:t>
              </a:r>
            </a:p>
          </p:txBody>
        </p:sp>
        <p:sp>
          <p:nvSpPr>
            <p:cNvPr id="26632" name="Rectangle 7"/>
            <p:cNvSpPr>
              <a:spLocks noChangeArrowheads="1"/>
            </p:cNvSpPr>
            <p:nvPr/>
          </p:nvSpPr>
          <p:spPr bwMode="auto">
            <a:xfrm>
              <a:off x="2064" y="192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2</a:t>
              </a:r>
              <a:endParaRPr lang="en-US" altLang="zh-CN" sz="1800"/>
            </a:p>
          </p:txBody>
        </p:sp>
        <p:sp>
          <p:nvSpPr>
            <p:cNvPr id="266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j=j-1</a:t>
              </a:r>
            </a:p>
            <a:p>
              <a:pPr eaLnBrk="1" hangingPunct="1">
                <a:spcBef>
                  <a:spcPct val="0"/>
                </a:spcBef>
                <a:buFontTx/>
                <a:buNone/>
              </a:pPr>
              <a:r>
                <a:rPr lang="en-US" altLang="zh-CN" sz="1600" b="1">
                  <a:solidFill>
                    <a:srgbClr val="FF3300"/>
                  </a:solidFill>
                </a:rPr>
                <a:t>T</a:t>
              </a:r>
              <a:r>
                <a:rPr lang="en-US" altLang="zh-CN" sz="1600" b="1" baseline="-25000">
                  <a:solidFill>
                    <a:srgbClr val="FF3300"/>
                  </a:solidFill>
                </a:rPr>
                <a:t>4</a:t>
              </a:r>
              <a:r>
                <a:rPr lang="en-US" altLang="zh-CN" sz="1600" b="1">
                  <a:solidFill>
                    <a:srgbClr val="FF3300"/>
                  </a:solidFill>
                </a:rPr>
                <a:t>=4*j</a:t>
              </a:r>
              <a:r>
                <a:rPr lang="en-US" altLang="zh-CN" sz="1600" b="1"/>
                <a:t> </a:t>
              </a:r>
            </a:p>
            <a:p>
              <a:pPr eaLnBrk="1" hangingPunct="1">
                <a:spcBef>
                  <a:spcPct val="0"/>
                </a:spcBef>
                <a:buFontTx/>
                <a:buNone/>
              </a:pPr>
              <a:r>
                <a:rPr lang="en-US" altLang="zh-CN" sz="1600" b="1"/>
                <a:t>T</a:t>
              </a:r>
              <a:r>
                <a:rPr lang="en-US" altLang="zh-CN" sz="1600" b="1" baseline="-25000"/>
                <a:t>5</a:t>
              </a:r>
              <a:r>
                <a:rPr lang="en-US" altLang="zh-CN" sz="1600" b="1"/>
                <a:t>=a[T</a:t>
              </a:r>
              <a:r>
                <a:rPr lang="en-US" altLang="zh-CN" sz="1600" b="1" baseline="-25000"/>
                <a:t>4</a:t>
              </a:r>
              <a:r>
                <a:rPr lang="en-US" altLang="zh-CN" sz="1600" b="1"/>
                <a:t>]</a:t>
              </a:r>
            </a:p>
            <a:p>
              <a:pPr eaLnBrk="1" hangingPunct="1">
                <a:spcBef>
                  <a:spcPct val="0"/>
                </a:spcBef>
                <a:buFontTx/>
                <a:buNone/>
              </a:pPr>
              <a:r>
                <a:rPr lang="en-US" altLang="zh-CN" sz="1600" b="1"/>
                <a:t>if T</a:t>
              </a:r>
              <a:r>
                <a:rPr lang="en-US" altLang="zh-CN" sz="1600" b="1" baseline="-25000"/>
                <a:t>5</a:t>
              </a:r>
              <a:r>
                <a:rPr lang="en-US" altLang="zh-CN" sz="1600" b="1"/>
                <a:t>&gt;v goto B</a:t>
              </a:r>
              <a:r>
                <a:rPr lang="en-US" altLang="zh-CN" sz="1600" b="1" baseline="-25000"/>
                <a:t>3</a:t>
              </a:r>
            </a:p>
          </p:txBody>
        </p:sp>
        <p:sp>
          <p:nvSpPr>
            <p:cNvPr id="26634" name="Rectangle 9"/>
            <p:cNvSpPr>
              <a:spLocks noChangeArrowheads="1"/>
            </p:cNvSpPr>
            <p:nvPr/>
          </p:nvSpPr>
          <p:spPr bwMode="auto">
            <a:xfrm>
              <a:off x="2064" y="288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3</a:t>
              </a:r>
              <a:endParaRPr lang="en-US" altLang="zh-CN" sz="1800"/>
            </a:p>
          </p:txBody>
        </p:sp>
        <p:sp>
          <p:nvSpPr>
            <p:cNvPr id="266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if i&gt;=j goto B</a:t>
              </a:r>
              <a:r>
                <a:rPr lang="en-US" altLang="zh-CN" sz="1600" b="1" baseline="-25000"/>
                <a:t>6</a:t>
              </a:r>
            </a:p>
          </p:txBody>
        </p:sp>
        <p:sp>
          <p:nvSpPr>
            <p:cNvPr id="26636" name="Rectangle 11"/>
            <p:cNvSpPr>
              <a:spLocks noChangeArrowheads="1"/>
            </p:cNvSpPr>
            <p:nvPr/>
          </p:nvSpPr>
          <p:spPr bwMode="auto">
            <a:xfrm>
              <a:off x="4512" y="96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4</a:t>
              </a:r>
              <a:endParaRPr lang="en-US" altLang="zh-CN" sz="1800"/>
            </a:p>
          </p:txBody>
        </p:sp>
        <p:sp>
          <p:nvSpPr>
            <p:cNvPr id="266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dirty="0">
                  <a:solidFill>
                    <a:srgbClr val="FF3300"/>
                  </a:solidFill>
                </a:rPr>
                <a:t>T</a:t>
              </a:r>
              <a:r>
                <a:rPr lang="en-US" altLang="zh-CN" sz="1600" b="1" baseline="-30000" dirty="0">
                  <a:solidFill>
                    <a:srgbClr val="FF3300"/>
                  </a:solidFill>
                </a:rPr>
                <a:t>6</a:t>
              </a:r>
              <a:r>
                <a:rPr lang="en-US" altLang="zh-CN" sz="1600" b="1" dirty="0">
                  <a:solidFill>
                    <a:srgbClr val="FF3300"/>
                  </a:solidFill>
                </a:rPr>
                <a:t>=4*</a:t>
              </a:r>
              <a:r>
                <a:rPr lang="en-US" altLang="zh-CN" sz="1600" b="1" dirty="0" err="1">
                  <a:solidFill>
                    <a:srgbClr val="FF3300"/>
                  </a:solidFill>
                </a:rPr>
                <a:t>i</a:t>
              </a:r>
              <a:endParaRPr lang="en-US" altLang="zh-CN" sz="1600" b="1" dirty="0">
                <a:solidFill>
                  <a:srgbClr val="FF3300"/>
                </a:solidFill>
              </a:endParaRPr>
            </a:p>
            <a:p>
              <a:pPr eaLnBrk="1" hangingPunct="1">
                <a:spcBef>
                  <a:spcPct val="0"/>
                </a:spcBef>
                <a:buFontTx/>
                <a:buNone/>
              </a:pPr>
              <a:r>
                <a:rPr lang="en-US" altLang="zh-CN" sz="1600" b="1" dirty="0"/>
                <a:t>x=a [T</a:t>
              </a:r>
              <a:r>
                <a:rPr lang="en-US" altLang="zh-CN" sz="1600" b="1" baseline="-30000" dirty="0"/>
                <a:t>6</a:t>
              </a:r>
              <a:r>
                <a:rPr lang="en-US" altLang="zh-CN" sz="1600" b="1" dirty="0"/>
                <a:t>]</a:t>
              </a:r>
            </a:p>
            <a:p>
              <a:pPr eaLnBrk="1" hangingPunct="1">
                <a:spcBef>
                  <a:spcPct val="0"/>
                </a:spcBef>
                <a:buFontTx/>
                <a:buNone/>
              </a:pPr>
              <a:r>
                <a:rPr lang="en-US" altLang="zh-CN" sz="1600" b="1" dirty="0">
                  <a:solidFill>
                    <a:srgbClr val="FF3300"/>
                  </a:solidFill>
                </a:rPr>
                <a:t>T</a:t>
              </a:r>
              <a:r>
                <a:rPr lang="en-US" altLang="zh-CN" sz="1600" b="1" baseline="-30000" dirty="0">
                  <a:solidFill>
                    <a:srgbClr val="FF3300"/>
                  </a:solidFill>
                </a:rPr>
                <a:t>7</a:t>
              </a:r>
              <a:r>
                <a:rPr lang="en-US" altLang="zh-CN" sz="1600" b="1" dirty="0">
                  <a:solidFill>
                    <a:srgbClr val="FF3300"/>
                  </a:solidFill>
                </a:rPr>
                <a:t>=4*</a:t>
              </a:r>
              <a:r>
                <a:rPr lang="en-US" altLang="zh-CN" sz="1600" b="1" dirty="0" err="1">
                  <a:solidFill>
                    <a:srgbClr val="FF3300"/>
                  </a:solidFill>
                </a:rPr>
                <a:t>i</a:t>
              </a:r>
              <a:endParaRPr lang="en-US" altLang="zh-CN" sz="1600" b="1" dirty="0">
                <a:solidFill>
                  <a:srgbClr val="FF3300"/>
                </a:solidFill>
              </a:endParaRPr>
            </a:p>
            <a:p>
              <a:pPr eaLnBrk="1" hangingPunct="1">
                <a:spcBef>
                  <a:spcPct val="0"/>
                </a:spcBef>
                <a:buFontTx/>
                <a:buNone/>
              </a:pPr>
              <a:r>
                <a:rPr lang="en-US" altLang="zh-CN" sz="1600" b="1" dirty="0">
                  <a:solidFill>
                    <a:srgbClr val="FF3300"/>
                  </a:solidFill>
                </a:rPr>
                <a:t>T</a:t>
              </a:r>
              <a:r>
                <a:rPr lang="en-US" altLang="zh-CN" sz="1600" b="1" baseline="-30000" dirty="0">
                  <a:solidFill>
                    <a:srgbClr val="FF3300"/>
                  </a:solidFill>
                </a:rPr>
                <a:t>8</a:t>
              </a:r>
              <a:r>
                <a:rPr lang="en-US" altLang="zh-CN" sz="1600" b="1" dirty="0">
                  <a:solidFill>
                    <a:srgbClr val="FF3300"/>
                  </a:solidFill>
                </a:rPr>
                <a:t>=4*j</a:t>
              </a:r>
            </a:p>
            <a:p>
              <a:pPr eaLnBrk="1" hangingPunct="1">
                <a:spcBef>
                  <a:spcPct val="0"/>
                </a:spcBef>
                <a:buFontTx/>
                <a:buNone/>
              </a:pPr>
              <a:r>
                <a:rPr lang="en-US" altLang="zh-CN" sz="1600" b="1" dirty="0"/>
                <a:t>T</a:t>
              </a:r>
              <a:r>
                <a:rPr lang="en-US" altLang="zh-CN" sz="1600" b="1" baseline="-30000" dirty="0"/>
                <a:t>9</a:t>
              </a:r>
              <a:r>
                <a:rPr lang="en-US" altLang="zh-CN" sz="1600" b="1" dirty="0"/>
                <a:t>=a [T</a:t>
              </a:r>
              <a:r>
                <a:rPr lang="en-US" altLang="zh-CN" sz="1600" b="1" baseline="-30000" dirty="0"/>
                <a:t>8</a:t>
              </a:r>
              <a:r>
                <a:rPr lang="en-US" altLang="zh-CN" sz="1600" b="1" dirty="0"/>
                <a:t>]</a:t>
              </a:r>
            </a:p>
            <a:p>
              <a:pPr eaLnBrk="1" hangingPunct="1">
                <a:spcBef>
                  <a:spcPct val="0"/>
                </a:spcBef>
                <a:buFontTx/>
                <a:buNone/>
              </a:pPr>
              <a:r>
                <a:rPr lang="en-US" altLang="zh-CN" sz="1600" b="1" dirty="0"/>
                <a:t>a [T</a:t>
              </a:r>
              <a:r>
                <a:rPr lang="en-US" altLang="zh-CN" sz="1600" b="1" baseline="-30000" dirty="0"/>
                <a:t>7</a:t>
              </a:r>
              <a:r>
                <a:rPr lang="en-US" altLang="zh-CN" sz="1600" b="1" dirty="0"/>
                <a:t>]=T</a:t>
              </a:r>
              <a:r>
                <a:rPr lang="en-US" altLang="zh-CN" sz="1600" b="1" baseline="-30000" dirty="0"/>
                <a:t>9</a:t>
              </a:r>
              <a:endParaRPr lang="en-US" altLang="zh-CN" sz="1600" b="1" dirty="0"/>
            </a:p>
            <a:p>
              <a:pPr eaLnBrk="1" hangingPunct="1">
                <a:spcBef>
                  <a:spcPct val="0"/>
                </a:spcBef>
                <a:buFontTx/>
                <a:buNone/>
              </a:pPr>
              <a:r>
                <a:rPr lang="en-US" altLang="zh-CN" sz="1600" b="1" dirty="0">
                  <a:solidFill>
                    <a:srgbClr val="FF3300"/>
                  </a:solidFill>
                </a:rPr>
                <a:t>T</a:t>
              </a:r>
              <a:r>
                <a:rPr lang="en-US" altLang="zh-CN" sz="1600" b="1" baseline="-30000" dirty="0">
                  <a:solidFill>
                    <a:srgbClr val="FF3300"/>
                  </a:solidFill>
                </a:rPr>
                <a:t>10</a:t>
              </a:r>
              <a:r>
                <a:rPr lang="en-US" altLang="zh-CN" sz="1600" b="1" dirty="0">
                  <a:solidFill>
                    <a:srgbClr val="FF3300"/>
                  </a:solidFill>
                </a:rPr>
                <a:t>= 4*j</a:t>
              </a:r>
              <a:r>
                <a:rPr lang="en-US" altLang="zh-CN" sz="1600" b="1" baseline="-30000" dirty="0">
                  <a:solidFill>
                    <a:srgbClr val="FF3300"/>
                  </a:solidFill>
                </a:rPr>
                <a:t> </a:t>
              </a:r>
              <a:endParaRPr lang="en-US" altLang="zh-CN" sz="1600" b="1" dirty="0">
                <a:solidFill>
                  <a:srgbClr val="FF3300"/>
                </a:solidFill>
              </a:endParaRPr>
            </a:p>
            <a:p>
              <a:pPr eaLnBrk="1" hangingPunct="1">
                <a:spcBef>
                  <a:spcPct val="0"/>
                </a:spcBef>
                <a:buFontTx/>
                <a:buNone/>
              </a:pPr>
              <a:r>
                <a:rPr lang="en-US" altLang="zh-CN" sz="1600" b="1" dirty="0"/>
                <a:t>a [T</a:t>
              </a:r>
              <a:r>
                <a:rPr lang="en-US" altLang="zh-CN" sz="1600" b="1" baseline="-30000" dirty="0"/>
                <a:t>10</a:t>
              </a:r>
              <a:r>
                <a:rPr lang="en-US" altLang="zh-CN" sz="1600" b="1" dirty="0"/>
                <a:t>]=x</a:t>
              </a:r>
            </a:p>
            <a:p>
              <a:pPr eaLnBrk="1" hangingPunct="1">
                <a:spcBef>
                  <a:spcPct val="0"/>
                </a:spcBef>
                <a:buFontTx/>
                <a:buNone/>
              </a:pPr>
              <a:r>
                <a:rPr lang="en-US" altLang="zh-CN" sz="1600" b="1" dirty="0" err="1"/>
                <a:t>goto</a:t>
              </a:r>
              <a:r>
                <a:rPr lang="en-US" altLang="zh-CN" sz="1600" b="1" dirty="0"/>
                <a:t> B</a:t>
              </a:r>
              <a:r>
                <a:rPr lang="en-US" altLang="zh-CN" sz="1600" b="1" baseline="-30000" dirty="0"/>
                <a:t>2</a:t>
              </a:r>
            </a:p>
          </p:txBody>
        </p:sp>
        <p:sp>
          <p:nvSpPr>
            <p:cNvPr id="26638" name="Rectangle 13"/>
            <p:cNvSpPr>
              <a:spLocks noChangeArrowheads="1"/>
            </p:cNvSpPr>
            <p:nvPr/>
          </p:nvSpPr>
          <p:spPr bwMode="auto">
            <a:xfrm>
              <a:off x="3984" y="1824"/>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5</a:t>
              </a:r>
              <a:endParaRPr lang="en-US" altLang="zh-CN" sz="1800"/>
            </a:p>
          </p:txBody>
        </p:sp>
        <p:sp>
          <p:nvSpPr>
            <p:cNvPr id="266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dirty="0">
                  <a:solidFill>
                    <a:srgbClr val="FF3300"/>
                  </a:solidFill>
                </a:rPr>
                <a:t>T</a:t>
              </a:r>
              <a:r>
                <a:rPr lang="en-US" altLang="zh-CN" sz="1600" b="1" baseline="-30000" dirty="0">
                  <a:solidFill>
                    <a:srgbClr val="FF3300"/>
                  </a:solidFill>
                </a:rPr>
                <a:t>11</a:t>
              </a:r>
              <a:r>
                <a:rPr lang="en-US" altLang="zh-CN" sz="1600" b="1" dirty="0">
                  <a:solidFill>
                    <a:srgbClr val="FF3300"/>
                  </a:solidFill>
                </a:rPr>
                <a:t>=4*</a:t>
              </a:r>
              <a:r>
                <a:rPr lang="en-US" altLang="zh-CN" sz="1600" b="1" dirty="0" err="1">
                  <a:solidFill>
                    <a:srgbClr val="FF3300"/>
                  </a:solidFill>
                </a:rPr>
                <a:t>i</a:t>
              </a:r>
              <a:endParaRPr lang="en-US" altLang="zh-CN" sz="1600" b="1" dirty="0">
                <a:solidFill>
                  <a:srgbClr val="FF3300"/>
                </a:solidFill>
              </a:endParaRPr>
            </a:p>
            <a:p>
              <a:pPr eaLnBrk="1" hangingPunct="1">
                <a:spcBef>
                  <a:spcPct val="0"/>
                </a:spcBef>
                <a:buFontTx/>
                <a:buNone/>
              </a:pPr>
              <a:r>
                <a:rPr lang="en-US" altLang="zh-CN" sz="1600" b="1" dirty="0"/>
                <a:t>x=a [T</a:t>
              </a:r>
              <a:r>
                <a:rPr lang="en-US" altLang="zh-CN" sz="1600" b="1" baseline="-30000" dirty="0"/>
                <a:t>11</a:t>
              </a:r>
              <a:r>
                <a:rPr lang="en-US" altLang="zh-CN" sz="1600" b="1" dirty="0"/>
                <a:t>]</a:t>
              </a:r>
            </a:p>
            <a:p>
              <a:pPr eaLnBrk="1" hangingPunct="1">
                <a:spcBef>
                  <a:spcPct val="0"/>
                </a:spcBef>
                <a:buFontTx/>
                <a:buNone/>
              </a:pPr>
              <a:r>
                <a:rPr lang="en-US" altLang="zh-CN" sz="1600" b="1" dirty="0">
                  <a:solidFill>
                    <a:srgbClr val="FF3300"/>
                  </a:solidFill>
                </a:rPr>
                <a:t>T</a:t>
              </a:r>
              <a:r>
                <a:rPr lang="en-US" altLang="zh-CN" sz="1600" b="1" baseline="-30000" dirty="0">
                  <a:solidFill>
                    <a:srgbClr val="FF3300"/>
                  </a:solidFill>
                </a:rPr>
                <a:t>12</a:t>
              </a:r>
              <a:r>
                <a:rPr lang="en-US" altLang="zh-CN" sz="1600" b="1" dirty="0">
                  <a:solidFill>
                    <a:srgbClr val="FF3300"/>
                  </a:solidFill>
                </a:rPr>
                <a:t>=4*</a:t>
              </a:r>
              <a:r>
                <a:rPr lang="en-US" altLang="zh-CN" sz="1600" b="1" dirty="0" err="1">
                  <a:solidFill>
                    <a:srgbClr val="FF3300"/>
                  </a:solidFill>
                </a:rPr>
                <a:t>i</a:t>
              </a:r>
              <a:endParaRPr lang="en-US" altLang="zh-CN" sz="1600" b="1" dirty="0">
                <a:solidFill>
                  <a:srgbClr val="FF3300"/>
                </a:solidFill>
              </a:endParaRPr>
            </a:p>
            <a:p>
              <a:pPr eaLnBrk="1" hangingPunct="1">
                <a:spcBef>
                  <a:spcPct val="0"/>
                </a:spcBef>
                <a:buFontTx/>
                <a:buNone/>
              </a:pPr>
              <a:r>
                <a:rPr lang="en-US" altLang="zh-CN" sz="1600" b="1" dirty="0">
                  <a:solidFill>
                    <a:srgbClr val="FF3300"/>
                  </a:solidFill>
                </a:rPr>
                <a:t>T</a:t>
              </a:r>
              <a:r>
                <a:rPr lang="en-US" altLang="zh-CN" sz="1600" b="1" baseline="-30000" dirty="0">
                  <a:solidFill>
                    <a:srgbClr val="FF3300"/>
                  </a:solidFill>
                </a:rPr>
                <a:t>13</a:t>
              </a:r>
              <a:r>
                <a:rPr lang="en-US" altLang="zh-CN" sz="1600" b="1" dirty="0">
                  <a:solidFill>
                    <a:srgbClr val="FF3300"/>
                  </a:solidFill>
                </a:rPr>
                <a:t>=4*n</a:t>
              </a:r>
            </a:p>
            <a:p>
              <a:pPr eaLnBrk="1" hangingPunct="1">
                <a:spcBef>
                  <a:spcPct val="0"/>
                </a:spcBef>
                <a:buFontTx/>
                <a:buNone/>
              </a:pPr>
              <a:r>
                <a:rPr lang="en-US" altLang="zh-CN" sz="1600" b="1" dirty="0"/>
                <a:t>T</a:t>
              </a:r>
              <a:r>
                <a:rPr lang="en-US" altLang="zh-CN" sz="1600" b="1" baseline="-30000" dirty="0"/>
                <a:t>14</a:t>
              </a:r>
              <a:r>
                <a:rPr lang="en-US" altLang="zh-CN" sz="1600" b="1" dirty="0"/>
                <a:t>=a [T</a:t>
              </a:r>
              <a:r>
                <a:rPr lang="en-US" altLang="zh-CN" sz="1600" b="1" baseline="-30000" dirty="0"/>
                <a:t>13</a:t>
              </a:r>
              <a:r>
                <a:rPr lang="en-US" altLang="zh-CN" sz="1600" b="1" dirty="0"/>
                <a:t>]</a:t>
              </a:r>
            </a:p>
            <a:p>
              <a:pPr eaLnBrk="1" hangingPunct="1">
                <a:spcBef>
                  <a:spcPct val="0"/>
                </a:spcBef>
                <a:buFontTx/>
                <a:buNone/>
              </a:pPr>
              <a:r>
                <a:rPr lang="en-US" altLang="zh-CN" sz="1600" b="1" dirty="0"/>
                <a:t>a [T</a:t>
              </a:r>
              <a:r>
                <a:rPr lang="en-US" altLang="zh-CN" sz="1600" b="1" baseline="-30000" dirty="0"/>
                <a:t>12</a:t>
              </a:r>
              <a:r>
                <a:rPr lang="en-US" altLang="zh-CN" sz="1600" b="1" dirty="0"/>
                <a:t>]=T</a:t>
              </a:r>
              <a:r>
                <a:rPr lang="en-US" altLang="zh-CN" sz="1600" b="1" baseline="-30000" dirty="0"/>
                <a:t>14</a:t>
              </a:r>
              <a:endParaRPr lang="en-US" altLang="zh-CN" sz="1600" b="1" dirty="0"/>
            </a:p>
            <a:p>
              <a:pPr eaLnBrk="1" hangingPunct="1">
                <a:spcBef>
                  <a:spcPct val="0"/>
                </a:spcBef>
                <a:buFontTx/>
                <a:buNone/>
              </a:pPr>
              <a:r>
                <a:rPr lang="en-US" altLang="zh-CN" sz="1600" b="1" dirty="0">
                  <a:solidFill>
                    <a:srgbClr val="FF3300"/>
                  </a:solidFill>
                </a:rPr>
                <a:t>T</a:t>
              </a:r>
              <a:r>
                <a:rPr lang="en-US" altLang="zh-CN" sz="1600" b="1" baseline="-30000" dirty="0">
                  <a:solidFill>
                    <a:srgbClr val="FF3300"/>
                  </a:solidFill>
                </a:rPr>
                <a:t>15</a:t>
              </a:r>
              <a:r>
                <a:rPr lang="en-US" altLang="zh-CN" sz="1600" b="1" dirty="0">
                  <a:solidFill>
                    <a:srgbClr val="FF3300"/>
                  </a:solidFill>
                </a:rPr>
                <a:t>= 4*n</a:t>
              </a:r>
            </a:p>
            <a:p>
              <a:pPr eaLnBrk="1" hangingPunct="1">
                <a:spcBef>
                  <a:spcPct val="0"/>
                </a:spcBef>
                <a:buFontTx/>
                <a:buNone/>
              </a:pPr>
              <a:r>
                <a:rPr lang="en-US" altLang="zh-CN" sz="1600" b="1" dirty="0"/>
                <a:t>a [T</a:t>
              </a:r>
              <a:r>
                <a:rPr lang="en-US" altLang="zh-CN" sz="1600" b="1" baseline="-30000" dirty="0"/>
                <a:t>15</a:t>
              </a:r>
              <a:r>
                <a:rPr lang="en-US" altLang="zh-CN" sz="1600" b="1" dirty="0"/>
                <a:t>]=x</a:t>
              </a:r>
            </a:p>
            <a:p>
              <a:pPr eaLnBrk="1" hangingPunct="1">
                <a:spcBef>
                  <a:spcPct val="0"/>
                </a:spcBef>
                <a:buFontTx/>
                <a:buNone/>
              </a:pPr>
              <a:endParaRPr lang="en-US" altLang="zh-CN" sz="1600" b="1" baseline="-30000" dirty="0"/>
            </a:p>
          </p:txBody>
        </p:sp>
        <p:sp>
          <p:nvSpPr>
            <p:cNvPr id="26640" name="Rectangle 15"/>
            <p:cNvSpPr>
              <a:spLocks noChangeArrowheads="1"/>
            </p:cNvSpPr>
            <p:nvPr/>
          </p:nvSpPr>
          <p:spPr bwMode="auto">
            <a:xfrm>
              <a:off x="5520" y="1824"/>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6</a:t>
              </a:r>
              <a:endParaRPr lang="en-US" altLang="zh-CN" sz="1800"/>
            </a:p>
          </p:txBody>
        </p:sp>
        <p:sp>
          <p:nvSpPr>
            <p:cNvPr id="266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66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6643" name="Freeform 18"/>
            <p:cNvSpPr>
              <a:spLocks/>
            </p:cNvSpPr>
            <p:nvPr/>
          </p:nvSpPr>
          <p:spPr bwMode="auto">
            <a:xfrm>
              <a:off x="1631" y="528"/>
              <a:ext cx="2448" cy="3408"/>
            </a:xfrm>
            <a:custGeom>
              <a:avLst/>
              <a:gdLst>
                <a:gd name="T0" fmla="*/ 0 w 2448"/>
                <a:gd name="T1" fmla="*/ 3454 h 3264"/>
                <a:gd name="T2" fmla="*/ 0 w 2448"/>
                <a:gd name="T3" fmla="*/ 3558 h 3264"/>
                <a:gd name="T4" fmla="*/ 1008 w 2448"/>
                <a:gd name="T5" fmla="*/ 3558 h 3264"/>
                <a:gd name="T6" fmla="*/ 1008 w 2448"/>
                <a:gd name="T7" fmla="*/ 0 h 3264"/>
                <a:gd name="T8" fmla="*/ 2448 w 2448"/>
                <a:gd name="T9" fmla="*/ 0 h 3264"/>
                <a:gd name="T10" fmla="*/ 2448 w 2448"/>
                <a:gd name="T11" fmla="*/ 523 h 326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66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66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66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66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66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grpSp>
      <p:sp>
        <p:nvSpPr>
          <p:cNvPr id="2" name="矩形 1"/>
          <p:cNvSpPr/>
          <p:nvPr/>
        </p:nvSpPr>
        <p:spPr>
          <a:xfrm>
            <a:off x="4416425" y="71437"/>
            <a:ext cx="4572000" cy="584775"/>
          </a:xfrm>
          <a:prstGeom prst="rect">
            <a:avLst/>
          </a:prstGeom>
          <a:solidFill>
            <a:schemeClr val="bg1">
              <a:lumMod val="95000"/>
            </a:schemeClr>
          </a:solidFill>
        </p:spPr>
        <p:txBody>
          <a:bodyPr>
            <a:spAutoFit/>
          </a:bodyPr>
          <a:lstStyle/>
          <a:p>
            <a:pPr>
              <a:defRPr/>
            </a:pPr>
            <a:r>
              <a:rPr lang="zh-CN" altLang="en-US" sz="1600" dirty="0"/>
              <a:t>如果表达式</a:t>
            </a:r>
            <a:r>
              <a:rPr lang="en-US" altLang="zh-CN" sz="1600" dirty="0"/>
              <a:t>E</a:t>
            </a:r>
            <a:r>
              <a:rPr lang="zh-CN" altLang="en-US" sz="1600" dirty="0"/>
              <a:t>已经在前面计算过，并在计算之后</a:t>
            </a:r>
            <a:r>
              <a:rPr lang="en-US" altLang="zh-CN" sz="1600" dirty="0"/>
              <a:t>E</a:t>
            </a:r>
            <a:r>
              <a:rPr lang="zh-CN" altLang="en-US" sz="1600" dirty="0"/>
              <a:t>的值没有改变，则称该表达式为公共子表达式。</a:t>
            </a:r>
          </a:p>
        </p:txBody>
      </p:sp>
      <p:sp>
        <p:nvSpPr>
          <p:cNvPr id="26" name="Text Box 8"/>
          <p:cNvSpPr txBox="1">
            <a:spLocks noChangeArrowheads="1"/>
          </p:cNvSpPr>
          <p:nvPr/>
        </p:nvSpPr>
        <p:spPr bwMode="auto">
          <a:xfrm>
            <a:off x="6256020" y="4221986"/>
            <a:ext cx="1447800" cy="707886"/>
          </a:xfrm>
          <a:prstGeom prst="rect">
            <a:avLst/>
          </a:prstGeom>
          <a:solidFill>
            <a:schemeClr val="accent1">
              <a:lumMod val="20000"/>
              <a:lumOff val="80000"/>
            </a:schemeClr>
          </a:solidFill>
          <a:ln>
            <a:noFill/>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sz="2000" dirty="0"/>
              <a:t>4*</a:t>
            </a:r>
            <a:r>
              <a:rPr lang="en-US" altLang="zh-CN" sz="2000" dirty="0" err="1"/>
              <a:t>i</a:t>
            </a:r>
            <a:r>
              <a:rPr lang="zh-CN" altLang="en-US" sz="2000" dirty="0"/>
              <a:t>，</a:t>
            </a:r>
            <a:r>
              <a:rPr lang="en-US" altLang="zh-CN" sz="2000" dirty="0"/>
              <a:t>4*j</a:t>
            </a:r>
          </a:p>
          <a:p>
            <a:pPr eaLnBrk="1" hangingPunct="1">
              <a:defRPr/>
            </a:pPr>
            <a:r>
              <a:rPr lang="zh-CN" altLang="en-US" sz="2000" dirty="0"/>
              <a:t>重复计算</a:t>
            </a:r>
          </a:p>
        </p:txBody>
      </p:sp>
    </p:spTree>
    <p:extLst>
      <p:ext uri="{BB962C8B-B14F-4D97-AF65-F5344CB8AC3E}">
        <p14:creationId xmlns:p14="http://schemas.microsoft.com/office/powerpoint/2010/main" val="7345795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5435600" y="4354116"/>
            <a:ext cx="3708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
                <a:schemeClr val="accent2"/>
              </a:buClr>
              <a:buSzPct val="75000"/>
              <a:buFont typeface="Wingdings" pitchFamily="2" charset="2"/>
              <a:buChar char="q"/>
            </a:pPr>
            <a:r>
              <a:rPr lang="zh-CN" altLang="en-US" sz="2000" b="1">
                <a:latin typeface="宋体" pitchFamily="2" charset="-122"/>
              </a:rPr>
              <a:t>删除公用子表达式后</a:t>
            </a:r>
            <a:endParaRPr lang="en-US" altLang="zh-CN" sz="2000" b="1">
              <a:latin typeface="宋体" pitchFamily="2" charset="-122"/>
            </a:endParaRPr>
          </a:p>
        </p:txBody>
      </p:sp>
      <p:grpSp>
        <p:nvGrpSpPr>
          <p:cNvPr id="27651" name="Group 3"/>
          <p:cNvGrpSpPr>
            <a:grpSpLocks/>
          </p:cNvGrpSpPr>
          <p:nvPr/>
        </p:nvGrpSpPr>
        <p:grpSpPr bwMode="auto">
          <a:xfrm>
            <a:off x="685800" y="465535"/>
            <a:ext cx="8458200" cy="4171950"/>
            <a:chOff x="576" y="528"/>
            <a:chExt cx="5328" cy="3504"/>
          </a:xfrm>
        </p:grpSpPr>
        <p:sp>
          <p:nvSpPr>
            <p:cNvPr id="27652"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i=m-1</a:t>
              </a:r>
            </a:p>
            <a:p>
              <a:pPr eaLnBrk="1" hangingPunct="1">
                <a:spcBef>
                  <a:spcPct val="0"/>
                </a:spcBef>
                <a:buFontTx/>
                <a:buNone/>
              </a:pPr>
              <a:r>
                <a:rPr lang="en-US" altLang="zh-CN" sz="1600" b="1"/>
                <a:t>j=n</a:t>
              </a:r>
            </a:p>
            <a:p>
              <a:pPr eaLnBrk="1" hangingPunct="1">
                <a:spcBef>
                  <a:spcPct val="0"/>
                </a:spcBef>
                <a:buFontTx/>
                <a:buNone/>
              </a:pPr>
              <a:r>
                <a:rPr lang="en-US" altLang="zh-CN" sz="1600" b="1"/>
                <a:t>T</a:t>
              </a:r>
              <a:r>
                <a:rPr lang="en-US" altLang="zh-CN" sz="1600" b="1" baseline="-25000"/>
                <a:t>1</a:t>
              </a:r>
              <a:r>
                <a:rPr lang="en-US" altLang="zh-CN" sz="1600" b="1"/>
                <a:t>=4*n</a:t>
              </a:r>
            </a:p>
            <a:p>
              <a:pPr eaLnBrk="1" hangingPunct="1">
                <a:spcBef>
                  <a:spcPct val="0"/>
                </a:spcBef>
                <a:buFontTx/>
                <a:buNone/>
              </a:pPr>
              <a:r>
                <a:rPr lang="en-US" altLang="zh-CN" sz="1600" b="1"/>
                <a:t>v=a[T</a:t>
              </a:r>
              <a:r>
                <a:rPr lang="en-US" altLang="zh-CN" sz="1600" b="1" baseline="-25000"/>
                <a:t>1</a:t>
              </a:r>
              <a:r>
                <a:rPr lang="en-US" altLang="zh-CN" sz="1600" b="1"/>
                <a:t>]</a:t>
              </a:r>
            </a:p>
          </p:txBody>
        </p:sp>
        <p:sp>
          <p:nvSpPr>
            <p:cNvPr id="27653" name="Rectangle 5"/>
            <p:cNvSpPr>
              <a:spLocks noChangeArrowheads="1"/>
            </p:cNvSpPr>
            <p:nvPr/>
          </p:nvSpPr>
          <p:spPr bwMode="auto">
            <a:xfrm>
              <a:off x="2064" y="1008"/>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1</a:t>
              </a:r>
              <a:endParaRPr lang="en-US" altLang="zh-CN" sz="1800"/>
            </a:p>
          </p:txBody>
        </p:sp>
        <p:sp>
          <p:nvSpPr>
            <p:cNvPr id="27654"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i=i+1</a:t>
              </a:r>
            </a:p>
            <a:p>
              <a:pPr eaLnBrk="1" hangingPunct="1">
                <a:spcBef>
                  <a:spcPct val="0"/>
                </a:spcBef>
                <a:buFontTx/>
                <a:buNone/>
              </a:pPr>
              <a:r>
                <a:rPr lang="en-US" altLang="zh-CN" sz="1600" b="1"/>
                <a:t>T</a:t>
              </a:r>
              <a:r>
                <a:rPr lang="en-US" altLang="zh-CN" sz="1600" b="1" baseline="-25000"/>
                <a:t>2</a:t>
              </a:r>
              <a:r>
                <a:rPr lang="en-US" altLang="zh-CN" sz="1600" b="1"/>
                <a:t>=4*i </a:t>
              </a:r>
            </a:p>
            <a:p>
              <a:pPr eaLnBrk="1" hangingPunct="1">
                <a:spcBef>
                  <a:spcPct val="0"/>
                </a:spcBef>
                <a:buFontTx/>
                <a:buNone/>
              </a:pPr>
              <a:r>
                <a:rPr lang="en-US" altLang="zh-CN" sz="1600" b="1"/>
                <a:t>T</a:t>
              </a:r>
              <a:r>
                <a:rPr lang="en-US" altLang="zh-CN" sz="1600" b="1" baseline="-25000"/>
                <a:t>3</a:t>
              </a:r>
              <a:r>
                <a:rPr lang="en-US" altLang="zh-CN" sz="1600" b="1"/>
                <a:t>=a[T</a:t>
              </a:r>
              <a:r>
                <a:rPr lang="en-US" altLang="zh-CN" sz="1600" b="1" baseline="-25000"/>
                <a:t>2</a:t>
              </a:r>
              <a:r>
                <a:rPr lang="en-US" altLang="zh-CN" sz="1600" b="1"/>
                <a:t>]</a:t>
              </a:r>
            </a:p>
            <a:p>
              <a:pPr eaLnBrk="1" hangingPunct="1">
                <a:spcBef>
                  <a:spcPct val="0"/>
                </a:spcBef>
                <a:buFontTx/>
                <a:buNone/>
              </a:pPr>
              <a:r>
                <a:rPr lang="en-US" altLang="zh-CN" sz="1600" b="1"/>
                <a:t>if T</a:t>
              </a:r>
              <a:r>
                <a:rPr lang="en-US" altLang="zh-CN" sz="1600" b="1" baseline="-25000"/>
                <a:t>3</a:t>
              </a:r>
              <a:r>
                <a:rPr lang="en-US" altLang="zh-CN" sz="1600" b="1"/>
                <a:t>&lt;v goto B</a:t>
              </a:r>
              <a:r>
                <a:rPr lang="en-US" altLang="zh-CN" sz="1600" b="1" baseline="-25000"/>
                <a:t>2</a:t>
              </a:r>
            </a:p>
          </p:txBody>
        </p:sp>
        <p:sp>
          <p:nvSpPr>
            <p:cNvPr id="27655" name="Rectangle 7"/>
            <p:cNvSpPr>
              <a:spLocks noChangeArrowheads="1"/>
            </p:cNvSpPr>
            <p:nvPr/>
          </p:nvSpPr>
          <p:spPr bwMode="auto">
            <a:xfrm>
              <a:off x="2064" y="192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2</a:t>
              </a:r>
              <a:endParaRPr lang="en-US" altLang="zh-CN" sz="1800"/>
            </a:p>
          </p:txBody>
        </p:sp>
        <p:sp>
          <p:nvSpPr>
            <p:cNvPr id="27656"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j=j-1</a:t>
              </a:r>
            </a:p>
            <a:p>
              <a:pPr eaLnBrk="1" hangingPunct="1">
                <a:spcBef>
                  <a:spcPct val="0"/>
                </a:spcBef>
                <a:buFontTx/>
                <a:buNone/>
              </a:pPr>
              <a:r>
                <a:rPr lang="en-US" altLang="zh-CN" sz="1600" b="1"/>
                <a:t>T</a:t>
              </a:r>
              <a:r>
                <a:rPr lang="en-US" altLang="zh-CN" sz="1600" b="1" baseline="-25000"/>
                <a:t>4</a:t>
              </a:r>
              <a:r>
                <a:rPr lang="en-US" altLang="zh-CN" sz="1600" b="1"/>
                <a:t>=4*j </a:t>
              </a:r>
            </a:p>
            <a:p>
              <a:pPr eaLnBrk="1" hangingPunct="1">
                <a:spcBef>
                  <a:spcPct val="0"/>
                </a:spcBef>
                <a:buFontTx/>
                <a:buNone/>
              </a:pPr>
              <a:r>
                <a:rPr lang="en-US" altLang="zh-CN" sz="1600" b="1"/>
                <a:t>T</a:t>
              </a:r>
              <a:r>
                <a:rPr lang="en-US" altLang="zh-CN" sz="1600" b="1" baseline="-25000"/>
                <a:t>5</a:t>
              </a:r>
              <a:r>
                <a:rPr lang="en-US" altLang="zh-CN" sz="1600" b="1"/>
                <a:t>=a[T</a:t>
              </a:r>
              <a:r>
                <a:rPr lang="en-US" altLang="zh-CN" sz="1600" b="1" baseline="-25000"/>
                <a:t>4</a:t>
              </a:r>
              <a:r>
                <a:rPr lang="en-US" altLang="zh-CN" sz="1600" b="1"/>
                <a:t>]</a:t>
              </a:r>
            </a:p>
            <a:p>
              <a:pPr eaLnBrk="1" hangingPunct="1">
                <a:spcBef>
                  <a:spcPct val="0"/>
                </a:spcBef>
                <a:buFontTx/>
                <a:buNone/>
              </a:pPr>
              <a:r>
                <a:rPr lang="en-US" altLang="zh-CN" sz="1600" b="1"/>
                <a:t>if T</a:t>
              </a:r>
              <a:r>
                <a:rPr lang="en-US" altLang="zh-CN" sz="1600" b="1" baseline="-25000"/>
                <a:t>5</a:t>
              </a:r>
              <a:r>
                <a:rPr lang="en-US" altLang="zh-CN" sz="1600" b="1"/>
                <a:t>&gt;v goto B</a:t>
              </a:r>
              <a:r>
                <a:rPr lang="en-US" altLang="zh-CN" sz="1600" b="1" baseline="-25000"/>
                <a:t>3</a:t>
              </a:r>
            </a:p>
          </p:txBody>
        </p:sp>
        <p:sp>
          <p:nvSpPr>
            <p:cNvPr id="27657" name="Rectangle 9"/>
            <p:cNvSpPr>
              <a:spLocks noChangeArrowheads="1"/>
            </p:cNvSpPr>
            <p:nvPr/>
          </p:nvSpPr>
          <p:spPr bwMode="auto">
            <a:xfrm>
              <a:off x="2064" y="288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3</a:t>
              </a:r>
              <a:endParaRPr lang="en-US" altLang="zh-CN" sz="1800"/>
            </a:p>
          </p:txBody>
        </p:sp>
        <p:sp>
          <p:nvSpPr>
            <p:cNvPr id="27658"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if i&gt;=j goto B</a:t>
              </a:r>
              <a:r>
                <a:rPr lang="en-US" altLang="zh-CN" sz="1600" b="1" baseline="-25000"/>
                <a:t>6</a:t>
              </a:r>
            </a:p>
          </p:txBody>
        </p:sp>
        <p:sp>
          <p:nvSpPr>
            <p:cNvPr id="27659" name="Rectangle 11"/>
            <p:cNvSpPr>
              <a:spLocks noChangeArrowheads="1"/>
            </p:cNvSpPr>
            <p:nvPr/>
          </p:nvSpPr>
          <p:spPr bwMode="auto">
            <a:xfrm>
              <a:off x="4512" y="96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4</a:t>
              </a:r>
              <a:endParaRPr lang="en-US" altLang="zh-CN" sz="1800"/>
            </a:p>
          </p:txBody>
        </p:sp>
        <p:sp>
          <p:nvSpPr>
            <p:cNvPr id="27660"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solidFill>
                    <a:srgbClr val="0000FF"/>
                  </a:solidFill>
                </a:rPr>
                <a:t>T</a:t>
              </a:r>
              <a:r>
                <a:rPr lang="en-US" altLang="zh-CN" sz="1600" b="1" baseline="-30000">
                  <a:solidFill>
                    <a:srgbClr val="0000FF"/>
                  </a:solidFill>
                </a:rPr>
                <a:t>6</a:t>
              </a:r>
              <a:r>
                <a:rPr lang="en-US" altLang="zh-CN" sz="1600" b="1">
                  <a:solidFill>
                    <a:srgbClr val="0000FF"/>
                  </a:solidFill>
                </a:rPr>
                <a:t>= T</a:t>
              </a:r>
              <a:r>
                <a:rPr lang="en-US" altLang="zh-CN" sz="1600" b="1" baseline="-25000">
                  <a:solidFill>
                    <a:srgbClr val="0000FF"/>
                  </a:solidFill>
                </a:rPr>
                <a:t>2</a:t>
              </a:r>
              <a:endParaRPr lang="en-US" altLang="zh-CN" sz="1600" b="1">
                <a:solidFill>
                  <a:srgbClr val="0000FF"/>
                </a:solidFill>
              </a:endParaRPr>
            </a:p>
            <a:p>
              <a:pPr eaLnBrk="1" hangingPunct="1">
                <a:spcBef>
                  <a:spcPct val="0"/>
                </a:spcBef>
                <a:buFontTx/>
                <a:buNone/>
              </a:pPr>
              <a:r>
                <a:rPr lang="en-US" altLang="zh-CN" sz="1600" b="1"/>
                <a:t>x=a [T</a:t>
              </a:r>
              <a:r>
                <a:rPr lang="en-US" altLang="zh-CN" sz="1600" b="1" baseline="-30000"/>
                <a:t>6</a:t>
              </a:r>
              <a:r>
                <a:rPr lang="en-US" altLang="zh-CN" sz="1600" b="1"/>
                <a:t>]</a:t>
              </a:r>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7</a:t>
              </a:r>
              <a:r>
                <a:rPr lang="en-US" altLang="zh-CN" sz="1600" b="1">
                  <a:solidFill>
                    <a:srgbClr val="0000FF"/>
                  </a:solidFill>
                </a:rPr>
                <a:t>= T</a:t>
              </a:r>
              <a:r>
                <a:rPr lang="en-US" altLang="zh-CN" sz="1600" b="1" baseline="-30000">
                  <a:solidFill>
                    <a:srgbClr val="0000FF"/>
                  </a:solidFill>
                </a:rPr>
                <a:t>6</a:t>
              </a:r>
              <a:endParaRPr lang="en-US" altLang="zh-CN" sz="1600" b="1">
                <a:solidFill>
                  <a:srgbClr val="0000FF"/>
                </a:solidFill>
              </a:endParaRPr>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8</a:t>
              </a:r>
              <a:r>
                <a:rPr lang="en-US" altLang="zh-CN" sz="1600" b="1">
                  <a:solidFill>
                    <a:srgbClr val="0000FF"/>
                  </a:solidFill>
                </a:rPr>
                <a:t>= T</a:t>
              </a:r>
              <a:r>
                <a:rPr lang="en-US" altLang="zh-CN" sz="1600" b="1" baseline="-25000">
                  <a:solidFill>
                    <a:srgbClr val="0000FF"/>
                  </a:solidFill>
                </a:rPr>
                <a:t>4</a:t>
              </a:r>
              <a:endParaRPr lang="en-US" altLang="zh-CN" sz="1600" b="1">
                <a:solidFill>
                  <a:srgbClr val="0000FF"/>
                </a:solidFill>
              </a:endParaRPr>
            </a:p>
            <a:p>
              <a:pPr eaLnBrk="1" hangingPunct="1">
                <a:spcBef>
                  <a:spcPct val="0"/>
                </a:spcBef>
                <a:buFontTx/>
                <a:buNone/>
              </a:pPr>
              <a:r>
                <a:rPr lang="en-US" altLang="zh-CN" sz="1600" b="1"/>
                <a:t>T</a:t>
              </a:r>
              <a:r>
                <a:rPr lang="en-US" altLang="zh-CN" sz="1600" b="1" baseline="-30000"/>
                <a:t>9</a:t>
              </a:r>
              <a:r>
                <a:rPr lang="en-US" altLang="zh-CN" sz="1600" b="1"/>
                <a:t>=a [T</a:t>
              </a:r>
              <a:r>
                <a:rPr lang="en-US" altLang="zh-CN" sz="1600" b="1" baseline="-30000"/>
                <a:t>8</a:t>
              </a:r>
              <a:r>
                <a:rPr lang="en-US" altLang="zh-CN" sz="1600" b="1"/>
                <a:t>]</a:t>
              </a:r>
            </a:p>
            <a:p>
              <a:pPr eaLnBrk="1" hangingPunct="1">
                <a:spcBef>
                  <a:spcPct val="0"/>
                </a:spcBef>
                <a:buFontTx/>
                <a:buNone/>
              </a:pPr>
              <a:r>
                <a:rPr lang="en-US" altLang="zh-CN" sz="1600" b="1"/>
                <a:t>a [T</a:t>
              </a:r>
              <a:r>
                <a:rPr lang="en-US" altLang="zh-CN" sz="1600" b="1" baseline="-30000"/>
                <a:t>7</a:t>
              </a:r>
              <a:r>
                <a:rPr lang="en-US" altLang="zh-CN" sz="1600" b="1"/>
                <a:t>]=T</a:t>
              </a:r>
              <a:r>
                <a:rPr lang="en-US" altLang="zh-CN" sz="1600" b="1" baseline="-30000"/>
                <a:t>9</a:t>
              </a:r>
              <a:endParaRPr lang="en-US" altLang="zh-CN" sz="1600" b="1"/>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10</a:t>
              </a:r>
              <a:r>
                <a:rPr lang="en-US" altLang="zh-CN" sz="1600" b="1">
                  <a:solidFill>
                    <a:srgbClr val="0000FF"/>
                  </a:solidFill>
                </a:rPr>
                <a:t>= T</a:t>
              </a:r>
              <a:r>
                <a:rPr lang="en-US" altLang="zh-CN" sz="1600" b="1" baseline="-30000">
                  <a:solidFill>
                    <a:srgbClr val="0000FF"/>
                  </a:solidFill>
                </a:rPr>
                <a:t>8</a:t>
              </a:r>
              <a:endParaRPr lang="en-US" altLang="zh-CN" sz="1600" b="1">
                <a:solidFill>
                  <a:srgbClr val="0000FF"/>
                </a:solidFill>
              </a:endParaRPr>
            </a:p>
            <a:p>
              <a:pPr eaLnBrk="1" hangingPunct="1">
                <a:spcBef>
                  <a:spcPct val="0"/>
                </a:spcBef>
                <a:buFontTx/>
                <a:buNone/>
              </a:pPr>
              <a:r>
                <a:rPr lang="en-US" altLang="zh-CN" sz="1600" b="1"/>
                <a:t>a [T</a:t>
              </a:r>
              <a:r>
                <a:rPr lang="en-US" altLang="zh-CN" sz="1600" b="1" baseline="-30000"/>
                <a:t>10</a:t>
              </a:r>
              <a:r>
                <a:rPr lang="en-US" altLang="zh-CN" sz="1600" b="1"/>
                <a:t>]=x</a:t>
              </a:r>
            </a:p>
            <a:p>
              <a:pPr eaLnBrk="1" hangingPunct="1">
                <a:spcBef>
                  <a:spcPct val="0"/>
                </a:spcBef>
                <a:buFontTx/>
                <a:buNone/>
              </a:pPr>
              <a:r>
                <a:rPr lang="en-US" altLang="zh-CN" sz="1600" b="1"/>
                <a:t>goto B</a:t>
              </a:r>
              <a:r>
                <a:rPr lang="en-US" altLang="zh-CN" sz="1600" b="1" baseline="-30000"/>
                <a:t>2</a:t>
              </a:r>
            </a:p>
          </p:txBody>
        </p:sp>
        <p:sp>
          <p:nvSpPr>
            <p:cNvPr id="27661" name="Rectangle 13"/>
            <p:cNvSpPr>
              <a:spLocks noChangeArrowheads="1"/>
            </p:cNvSpPr>
            <p:nvPr/>
          </p:nvSpPr>
          <p:spPr bwMode="auto">
            <a:xfrm>
              <a:off x="3984" y="1824"/>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5</a:t>
              </a:r>
              <a:endParaRPr lang="en-US" altLang="zh-CN" sz="1800"/>
            </a:p>
          </p:txBody>
        </p:sp>
        <p:sp>
          <p:nvSpPr>
            <p:cNvPr id="27662"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solidFill>
                    <a:srgbClr val="0000FF"/>
                  </a:solidFill>
                </a:rPr>
                <a:t>T</a:t>
              </a:r>
              <a:r>
                <a:rPr lang="en-US" altLang="zh-CN" sz="1600" b="1" baseline="-30000">
                  <a:solidFill>
                    <a:srgbClr val="0000FF"/>
                  </a:solidFill>
                </a:rPr>
                <a:t>11</a:t>
              </a:r>
              <a:r>
                <a:rPr lang="en-US" altLang="zh-CN" sz="1600" b="1">
                  <a:solidFill>
                    <a:srgbClr val="0000FF"/>
                  </a:solidFill>
                </a:rPr>
                <a:t>= T</a:t>
              </a:r>
              <a:r>
                <a:rPr lang="en-US" altLang="zh-CN" sz="1600" b="1" baseline="-25000">
                  <a:solidFill>
                    <a:srgbClr val="0000FF"/>
                  </a:solidFill>
                </a:rPr>
                <a:t>2</a:t>
              </a:r>
              <a:endParaRPr lang="en-US" altLang="zh-CN" sz="1600" b="1">
                <a:solidFill>
                  <a:srgbClr val="0000FF"/>
                </a:solidFill>
              </a:endParaRPr>
            </a:p>
            <a:p>
              <a:pPr eaLnBrk="1" hangingPunct="1">
                <a:spcBef>
                  <a:spcPct val="0"/>
                </a:spcBef>
                <a:buFontTx/>
                <a:buNone/>
              </a:pPr>
              <a:r>
                <a:rPr lang="en-US" altLang="zh-CN" sz="1600" b="1"/>
                <a:t>x=a [T</a:t>
              </a:r>
              <a:r>
                <a:rPr lang="en-US" altLang="zh-CN" sz="1600" b="1" baseline="-30000"/>
                <a:t>11</a:t>
              </a:r>
              <a:r>
                <a:rPr lang="en-US" altLang="zh-CN" sz="1600" b="1"/>
                <a:t>]</a:t>
              </a:r>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12</a:t>
              </a:r>
              <a:r>
                <a:rPr lang="en-US" altLang="zh-CN" sz="1600" b="1">
                  <a:solidFill>
                    <a:srgbClr val="0000FF"/>
                  </a:solidFill>
                </a:rPr>
                <a:t>= T</a:t>
              </a:r>
              <a:r>
                <a:rPr lang="en-US" altLang="zh-CN" sz="1600" b="1" baseline="-30000">
                  <a:solidFill>
                    <a:srgbClr val="0000FF"/>
                  </a:solidFill>
                </a:rPr>
                <a:t>11</a:t>
              </a:r>
              <a:endParaRPr lang="en-US" altLang="zh-CN" sz="1600" b="1">
                <a:solidFill>
                  <a:srgbClr val="0000FF"/>
                </a:solidFill>
              </a:endParaRPr>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13</a:t>
              </a:r>
              <a:r>
                <a:rPr lang="en-US" altLang="zh-CN" sz="1600" b="1">
                  <a:solidFill>
                    <a:srgbClr val="0000FF"/>
                  </a:solidFill>
                </a:rPr>
                <a:t>= T</a:t>
              </a:r>
              <a:r>
                <a:rPr lang="en-US" altLang="zh-CN" sz="1600" b="1" baseline="-25000">
                  <a:solidFill>
                    <a:srgbClr val="0000FF"/>
                  </a:solidFill>
                </a:rPr>
                <a:t>1</a:t>
              </a:r>
              <a:endParaRPr lang="en-US" altLang="zh-CN" sz="1600" b="1">
                <a:solidFill>
                  <a:srgbClr val="0000FF"/>
                </a:solidFill>
              </a:endParaRPr>
            </a:p>
            <a:p>
              <a:pPr eaLnBrk="1" hangingPunct="1">
                <a:spcBef>
                  <a:spcPct val="0"/>
                </a:spcBef>
                <a:buFontTx/>
                <a:buNone/>
              </a:pPr>
              <a:r>
                <a:rPr lang="en-US" altLang="zh-CN" sz="1600" b="1"/>
                <a:t>T</a:t>
              </a:r>
              <a:r>
                <a:rPr lang="en-US" altLang="zh-CN" sz="1600" b="1" baseline="-30000"/>
                <a:t>14</a:t>
              </a:r>
              <a:r>
                <a:rPr lang="en-US" altLang="zh-CN" sz="1600" b="1"/>
                <a:t>=a [T</a:t>
              </a:r>
              <a:r>
                <a:rPr lang="en-US" altLang="zh-CN" sz="1600" b="1" baseline="-30000"/>
                <a:t>13</a:t>
              </a:r>
              <a:r>
                <a:rPr lang="en-US" altLang="zh-CN" sz="1600" b="1"/>
                <a:t>]</a:t>
              </a:r>
            </a:p>
            <a:p>
              <a:pPr eaLnBrk="1" hangingPunct="1">
                <a:spcBef>
                  <a:spcPct val="0"/>
                </a:spcBef>
                <a:buFontTx/>
                <a:buNone/>
              </a:pPr>
              <a:r>
                <a:rPr lang="en-US" altLang="zh-CN" sz="1600" b="1"/>
                <a:t>a [T</a:t>
              </a:r>
              <a:r>
                <a:rPr lang="en-US" altLang="zh-CN" sz="1600" b="1" baseline="-30000"/>
                <a:t>12</a:t>
              </a:r>
              <a:r>
                <a:rPr lang="en-US" altLang="zh-CN" sz="1600" b="1"/>
                <a:t>]=T</a:t>
              </a:r>
              <a:r>
                <a:rPr lang="en-US" altLang="zh-CN" sz="1600" b="1" baseline="-30000"/>
                <a:t>14</a:t>
              </a:r>
              <a:endParaRPr lang="en-US" altLang="zh-CN" sz="1600" b="1"/>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15</a:t>
              </a:r>
              <a:r>
                <a:rPr lang="en-US" altLang="zh-CN" sz="1600" b="1">
                  <a:solidFill>
                    <a:srgbClr val="0000FF"/>
                  </a:solidFill>
                </a:rPr>
                <a:t>= T</a:t>
              </a:r>
              <a:r>
                <a:rPr lang="en-US" altLang="zh-CN" sz="1600" b="1" baseline="-25000">
                  <a:solidFill>
                    <a:srgbClr val="0000FF"/>
                  </a:solidFill>
                </a:rPr>
                <a:t>13</a:t>
              </a:r>
              <a:endParaRPr lang="en-US" altLang="zh-CN" sz="1600" b="1">
                <a:solidFill>
                  <a:srgbClr val="0000FF"/>
                </a:solidFill>
              </a:endParaRPr>
            </a:p>
            <a:p>
              <a:pPr eaLnBrk="1" hangingPunct="1">
                <a:spcBef>
                  <a:spcPct val="0"/>
                </a:spcBef>
                <a:buFontTx/>
                <a:buNone/>
              </a:pPr>
              <a:r>
                <a:rPr lang="en-US" altLang="zh-CN" sz="1600" b="1"/>
                <a:t>a [T</a:t>
              </a:r>
              <a:r>
                <a:rPr lang="en-US" altLang="zh-CN" sz="1600" b="1" baseline="-30000"/>
                <a:t>15</a:t>
              </a:r>
              <a:r>
                <a:rPr lang="en-US" altLang="zh-CN" sz="1600" b="1"/>
                <a:t>]=x</a:t>
              </a:r>
            </a:p>
            <a:p>
              <a:pPr eaLnBrk="1" hangingPunct="1">
                <a:spcBef>
                  <a:spcPct val="0"/>
                </a:spcBef>
                <a:buFontTx/>
                <a:buNone/>
              </a:pPr>
              <a:endParaRPr lang="en-US" altLang="zh-CN" sz="1600" b="1" baseline="-30000"/>
            </a:p>
          </p:txBody>
        </p:sp>
        <p:sp>
          <p:nvSpPr>
            <p:cNvPr id="27663" name="Rectangle 15"/>
            <p:cNvSpPr>
              <a:spLocks noChangeArrowheads="1"/>
            </p:cNvSpPr>
            <p:nvPr/>
          </p:nvSpPr>
          <p:spPr bwMode="auto">
            <a:xfrm>
              <a:off x="5520" y="1824"/>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6</a:t>
              </a:r>
              <a:endParaRPr lang="en-US" altLang="zh-CN" sz="1800"/>
            </a:p>
          </p:txBody>
        </p:sp>
        <p:sp>
          <p:nvSpPr>
            <p:cNvPr id="27664"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7665"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7666" name="Freeform 18"/>
            <p:cNvSpPr>
              <a:spLocks/>
            </p:cNvSpPr>
            <p:nvPr/>
          </p:nvSpPr>
          <p:spPr bwMode="auto">
            <a:xfrm>
              <a:off x="1631" y="528"/>
              <a:ext cx="2448" cy="3408"/>
            </a:xfrm>
            <a:custGeom>
              <a:avLst/>
              <a:gdLst>
                <a:gd name="T0" fmla="*/ 0 w 2448"/>
                <a:gd name="T1" fmla="*/ 3454 h 3264"/>
                <a:gd name="T2" fmla="*/ 0 w 2448"/>
                <a:gd name="T3" fmla="*/ 3558 h 3264"/>
                <a:gd name="T4" fmla="*/ 1008 w 2448"/>
                <a:gd name="T5" fmla="*/ 3558 h 3264"/>
                <a:gd name="T6" fmla="*/ 1008 w 2448"/>
                <a:gd name="T7" fmla="*/ 0 h 3264"/>
                <a:gd name="T8" fmla="*/ 2448 w 2448"/>
                <a:gd name="T9" fmla="*/ 0 h 3264"/>
                <a:gd name="T10" fmla="*/ 2448 w 2448"/>
                <a:gd name="T11" fmla="*/ 523 h 326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7667"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7668"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7669"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7670"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7671"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grpSp>
    </p:spTree>
    <p:extLst>
      <p:ext uri="{BB962C8B-B14F-4D97-AF65-F5344CB8AC3E}">
        <p14:creationId xmlns:p14="http://schemas.microsoft.com/office/powerpoint/2010/main" val="22927407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6732589" y="185738"/>
            <a:ext cx="22320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
                <a:schemeClr val="accent2"/>
              </a:buClr>
              <a:buSzPct val="75000"/>
              <a:buFont typeface="Wingdings" pitchFamily="2" charset="2"/>
              <a:buChar char="q"/>
            </a:pPr>
            <a:r>
              <a:rPr lang="zh-CN" altLang="en-US" sz="2800" b="1"/>
              <a:t>复写传播</a:t>
            </a:r>
            <a:endParaRPr lang="zh-CN" altLang="en-US" sz="2800" b="1">
              <a:latin typeface="宋体" pitchFamily="2" charset="-122"/>
            </a:endParaRPr>
          </a:p>
        </p:txBody>
      </p:sp>
      <p:grpSp>
        <p:nvGrpSpPr>
          <p:cNvPr id="28675" name="Group 3"/>
          <p:cNvGrpSpPr>
            <a:grpSpLocks/>
          </p:cNvGrpSpPr>
          <p:nvPr/>
        </p:nvGrpSpPr>
        <p:grpSpPr bwMode="auto">
          <a:xfrm>
            <a:off x="685800" y="357188"/>
            <a:ext cx="8458200" cy="4171950"/>
            <a:chOff x="576" y="528"/>
            <a:chExt cx="5328" cy="3504"/>
          </a:xfrm>
        </p:grpSpPr>
        <p:sp>
          <p:nvSpPr>
            <p:cNvPr id="28677"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i=m-1</a:t>
              </a:r>
            </a:p>
            <a:p>
              <a:pPr eaLnBrk="1" hangingPunct="1">
                <a:spcBef>
                  <a:spcPct val="0"/>
                </a:spcBef>
                <a:buFontTx/>
                <a:buNone/>
              </a:pPr>
              <a:r>
                <a:rPr lang="en-US" altLang="zh-CN" sz="1600" b="1"/>
                <a:t>j=n</a:t>
              </a:r>
            </a:p>
            <a:p>
              <a:pPr eaLnBrk="1" hangingPunct="1">
                <a:spcBef>
                  <a:spcPct val="0"/>
                </a:spcBef>
                <a:buFontTx/>
                <a:buNone/>
              </a:pPr>
              <a:r>
                <a:rPr lang="en-US" altLang="zh-CN" sz="1600" b="1"/>
                <a:t>T</a:t>
              </a:r>
              <a:r>
                <a:rPr lang="en-US" altLang="zh-CN" sz="1600" b="1" baseline="-25000"/>
                <a:t>1</a:t>
              </a:r>
              <a:r>
                <a:rPr lang="en-US" altLang="zh-CN" sz="1600" b="1"/>
                <a:t>=4*n</a:t>
              </a:r>
            </a:p>
            <a:p>
              <a:pPr eaLnBrk="1" hangingPunct="1">
                <a:spcBef>
                  <a:spcPct val="0"/>
                </a:spcBef>
                <a:buFontTx/>
                <a:buNone/>
              </a:pPr>
              <a:r>
                <a:rPr lang="en-US" altLang="zh-CN" sz="1600" b="1"/>
                <a:t>v=a[T</a:t>
              </a:r>
              <a:r>
                <a:rPr lang="en-US" altLang="zh-CN" sz="1600" b="1" baseline="-25000"/>
                <a:t>1</a:t>
              </a:r>
              <a:r>
                <a:rPr lang="en-US" altLang="zh-CN" sz="1600" b="1"/>
                <a:t>]</a:t>
              </a:r>
            </a:p>
          </p:txBody>
        </p:sp>
        <p:sp>
          <p:nvSpPr>
            <p:cNvPr id="28678" name="Rectangle 5"/>
            <p:cNvSpPr>
              <a:spLocks noChangeArrowheads="1"/>
            </p:cNvSpPr>
            <p:nvPr/>
          </p:nvSpPr>
          <p:spPr bwMode="auto">
            <a:xfrm>
              <a:off x="2064" y="1008"/>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1</a:t>
              </a:r>
              <a:endParaRPr lang="en-US" altLang="zh-CN" sz="1800"/>
            </a:p>
          </p:txBody>
        </p:sp>
        <p:sp>
          <p:nvSpPr>
            <p:cNvPr id="28679"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i=i+1</a:t>
              </a:r>
            </a:p>
            <a:p>
              <a:pPr eaLnBrk="1" hangingPunct="1">
                <a:spcBef>
                  <a:spcPct val="0"/>
                </a:spcBef>
                <a:buFontTx/>
                <a:buNone/>
              </a:pPr>
              <a:r>
                <a:rPr lang="en-US" altLang="zh-CN" sz="1600" b="1"/>
                <a:t>T</a:t>
              </a:r>
              <a:r>
                <a:rPr lang="en-US" altLang="zh-CN" sz="1600" b="1" baseline="-25000"/>
                <a:t>2</a:t>
              </a:r>
              <a:r>
                <a:rPr lang="en-US" altLang="zh-CN" sz="1600" b="1"/>
                <a:t>=4*i </a:t>
              </a:r>
            </a:p>
            <a:p>
              <a:pPr eaLnBrk="1" hangingPunct="1">
                <a:spcBef>
                  <a:spcPct val="0"/>
                </a:spcBef>
                <a:buFontTx/>
                <a:buNone/>
              </a:pPr>
              <a:r>
                <a:rPr lang="en-US" altLang="zh-CN" sz="1600" b="1"/>
                <a:t>T</a:t>
              </a:r>
              <a:r>
                <a:rPr lang="en-US" altLang="zh-CN" sz="1600" b="1" baseline="-25000"/>
                <a:t>3</a:t>
              </a:r>
              <a:r>
                <a:rPr lang="en-US" altLang="zh-CN" sz="1600" b="1"/>
                <a:t>=a[T</a:t>
              </a:r>
              <a:r>
                <a:rPr lang="en-US" altLang="zh-CN" sz="1600" b="1" baseline="-25000"/>
                <a:t>2</a:t>
              </a:r>
              <a:r>
                <a:rPr lang="en-US" altLang="zh-CN" sz="1600" b="1"/>
                <a:t>]</a:t>
              </a:r>
            </a:p>
            <a:p>
              <a:pPr eaLnBrk="1" hangingPunct="1">
                <a:spcBef>
                  <a:spcPct val="0"/>
                </a:spcBef>
                <a:buFontTx/>
                <a:buNone/>
              </a:pPr>
              <a:r>
                <a:rPr lang="en-US" altLang="zh-CN" sz="1600" b="1"/>
                <a:t>if T</a:t>
              </a:r>
              <a:r>
                <a:rPr lang="en-US" altLang="zh-CN" sz="1600" b="1" baseline="-25000"/>
                <a:t>3</a:t>
              </a:r>
              <a:r>
                <a:rPr lang="en-US" altLang="zh-CN" sz="1600" b="1"/>
                <a:t>&lt;v goto B</a:t>
              </a:r>
              <a:r>
                <a:rPr lang="en-US" altLang="zh-CN" sz="1600" b="1" baseline="-25000"/>
                <a:t>2</a:t>
              </a:r>
            </a:p>
          </p:txBody>
        </p:sp>
        <p:sp>
          <p:nvSpPr>
            <p:cNvPr id="28680" name="Rectangle 7"/>
            <p:cNvSpPr>
              <a:spLocks noChangeArrowheads="1"/>
            </p:cNvSpPr>
            <p:nvPr/>
          </p:nvSpPr>
          <p:spPr bwMode="auto">
            <a:xfrm>
              <a:off x="2064" y="192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2</a:t>
              </a:r>
              <a:endParaRPr lang="en-US" altLang="zh-CN" sz="1800"/>
            </a:p>
          </p:txBody>
        </p:sp>
        <p:sp>
          <p:nvSpPr>
            <p:cNvPr id="28681"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j=j-1</a:t>
              </a:r>
            </a:p>
            <a:p>
              <a:pPr eaLnBrk="1" hangingPunct="1">
                <a:spcBef>
                  <a:spcPct val="0"/>
                </a:spcBef>
                <a:buFontTx/>
                <a:buNone/>
              </a:pPr>
              <a:r>
                <a:rPr lang="en-US" altLang="zh-CN" sz="1600" b="1"/>
                <a:t>T</a:t>
              </a:r>
              <a:r>
                <a:rPr lang="en-US" altLang="zh-CN" sz="1600" b="1" baseline="-25000"/>
                <a:t>4</a:t>
              </a:r>
              <a:r>
                <a:rPr lang="en-US" altLang="zh-CN" sz="1600" b="1"/>
                <a:t>=4*j </a:t>
              </a:r>
            </a:p>
            <a:p>
              <a:pPr eaLnBrk="1" hangingPunct="1">
                <a:spcBef>
                  <a:spcPct val="0"/>
                </a:spcBef>
                <a:buFontTx/>
                <a:buNone/>
              </a:pPr>
              <a:r>
                <a:rPr lang="en-US" altLang="zh-CN" sz="1600" b="1"/>
                <a:t>T</a:t>
              </a:r>
              <a:r>
                <a:rPr lang="en-US" altLang="zh-CN" sz="1600" b="1" baseline="-25000"/>
                <a:t>5</a:t>
              </a:r>
              <a:r>
                <a:rPr lang="en-US" altLang="zh-CN" sz="1600" b="1"/>
                <a:t>=a[T</a:t>
              </a:r>
              <a:r>
                <a:rPr lang="en-US" altLang="zh-CN" sz="1600" b="1" baseline="-25000"/>
                <a:t>4</a:t>
              </a:r>
              <a:r>
                <a:rPr lang="en-US" altLang="zh-CN" sz="1600" b="1"/>
                <a:t>]</a:t>
              </a:r>
            </a:p>
            <a:p>
              <a:pPr eaLnBrk="1" hangingPunct="1">
                <a:spcBef>
                  <a:spcPct val="0"/>
                </a:spcBef>
                <a:buFontTx/>
                <a:buNone/>
              </a:pPr>
              <a:r>
                <a:rPr lang="en-US" altLang="zh-CN" sz="1600" b="1"/>
                <a:t>if T</a:t>
              </a:r>
              <a:r>
                <a:rPr lang="en-US" altLang="zh-CN" sz="1600" b="1" baseline="-25000"/>
                <a:t>5</a:t>
              </a:r>
              <a:r>
                <a:rPr lang="en-US" altLang="zh-CN" sz="1600" b="1"/>
                <a:t>&gt;v goto B</a:t>
              </a:r>
              <a:r>
                <a:rPr lang="en-US" altLang="zh-CN" sz="1600" b="1" baseline="-25000"/>
                <a:t>3</a:t>
              </a:r>
            </a:p>
          </p:txBody>
        </p:sp>
        <p:sp>
          <p:nvSpPr>
            <p:cNvPr id="28682" name="Rectangle 9"/>
            <p:cNvSpPr>
              <a:spLocks noChangeArrowheads="1"/>
            </p:cNvSpPr>
            <p:nvPr/>
          </p:nvSpPr>
          <p:spPr bwMode="auto">
            <a:xfrm>
              <a:off x="2064" y="288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3</a:t>
              </a:r>
              <a:endParaRPr lang="en-US" altLang="zh-CN" sz="1800"/>
            </a:p>
          </p:txBody>
        </p:sp>
        <p:sp>
          <p:nvSpPr>
            <p:cNvPr id="28683"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if i&gt;=j goto B</a:t>
              </a:r>
              <a:r>
                <a:rPr lang="en-US" altLang="zh-CN" sz="1600" b="1" baseline="-25000"/>
                <a:t>6</a:t>
              </a:r>
            </a:p>
          </p:txBody>
        </p:sp>
        <p:sp>
          <p:nvSpPr>
            <p:cNvPr id="28684" name="Rectangle 11"/>
            <p:cNvSpPr>
              <a:spLocks noChangeArrowheads="1"/>
            </p:cNvSpPr>
            <p:nvPr/>
          </p:nvSpPr>
          <p:spPr bwMode="auto">
            <a:xfrm>
              <a:off x="4512" y="96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4</a:t>
              </a:r>
              <a:endParaRPr lang="en-US" altLang="zh-CN" sz="1800"/>
            </a:p>
          </p:txBody>
        </p:sp>
        <p:sp>
          <p:nvSpPr>
            <p:cNvPr id="28685"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T</a:t>
              </a:r>
              <a:r>
                <a:rPr lang="en-US" altLang="zh-CN" sz="1600" b="1" baseline="-30000"/>
                <a:t>6</a:t>
              </a:r>
              <a:r>
                <a:rPr lang="en-US" altLang="zh-CN" sz="1600" b="1"/>
                <a:t>= T</a:t>
              </a:r>
              <a:r>
                <a:rPr lang="en-US" altLang="zh-CN" sz="1600" b="1" baseline="-25000"/>
                <a:t>2</a:t>
              </a:r>
              <a:endParaRPr lang="en-US" altLang="zh-CN" sz="1600" b="1"/>
            </a:p>
            <a:p>
              <a:pPr eaLnBrk="1" hangingPunct="1">
                <a:spcBef>
                  <a:spcPct val="0"/>
                </a:spcBef>
                <a:buFontTx/>
                <a:buNone/>
              </a:pPr>
              <a:r>
                <a:rPr lang="en-US" altLang="zh-CN" sz="1600" b="1">
                  <a:solidFill>
                    <a:srgbClr val="FF3300"/>
                  </a:solidFill>
                </a:rPr>
                <a:t>x=a [T</a:t>
              </a:r>
              <a:r>
                <a:rPr lang="en-US" altLang="zh-CN" sz="1600" b="1" baseline="-30000">
                  <a:solidFill>
                    <a:srgbClr val="FF3300"/>
                  </a:solidFill>
                </a:rPr>
                <a:t>6</a:t>
              </a:r>
              <a:r>
                <a:rPr lang="en-US" altLang="zh-CN" sz="1600" b="1">
                  <a:solidFill>
                    <a:srgbClr val="FF3300"/>
                  </a:solidFill>
                </a:rPr>
                <a:t>]</a:t>
              </a:r>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7</a:t>
              </a:r>
              <a:r>
                <a:rPr lang="en-US" altLang="zh-CN" sz="1600" b="1">
                  <a:solidFill>
                    <a:srgbClr val="FF3300"/>
                  </a:solidFill>
                </a:rPr>
                <a:t>= T</a:t>
              </a:r>
              <a:r>
                <a:rPr lang="en-US" altLang="zh-CN" sz="1600" b="1" baseline="-30000">
                  <a:solidFill>
                    <a:srgbClr val="FF3300"/>
                  </a:solidFill>
                </a:rPr>
                <a:t>6</a:t>
              </a:r>
              <a:endParaRPr lang="en-US" altLang="zh-CN" sz="1600" b="1">
                <a:solidFill>
                  <a:srgbClr val="FF3300"/>
                </a:solidFill>
              </a:endParaRPr>
            </a:p>
            <a:p>
              <a:pPr eaLnBrk="1" hangingPunct="1">
                <a:spcBef>
                  <a:spcPct val="0"/>
                </a:spcBef>
                <a:buFontTx/>
                <a:buNone/>
              </a:pPr>
              <a:r>
                <a:rPr lang="en-US" altLang="zh-CN" sz="1600" b="1"/>
                <a:t>T</a:t>
              </a:r>
              <a:r>
                <a:rPr lang="en-US" altLang="zh-CN" sz="1600" b="1" baseline="-30000"/>
                <a:t>8</a:t>
              </a:r>
              <a:r>
                <a:rPr lang="en-US" altLang="zh-CN" sz="1600" b="1"/>
                <a:t>= T</a:t>
              </a:r>
              <a:r>
                <a:rPr lang="en-US" altLang="zh-CN" sz="1600" b="1" baseline="-25000"/>
                <a:t>4</a:t>
              </a:r>
              <a:endParaRPr lang="en-US" altLang="zh-CN" sz="1600" b="1"/>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9</a:t>
              </a:r>
              <a:r>
                <a:rPr lang="en-US" altLang="zh-CN" sz="1600" b="1">
                  <a:solidFill>
                    <a:srgbClr val="FF3300"/>
                  </a:solidFill>
                </a:rPr>
                <a:t>=a [T</a:t>
              </a:r>
              <a:r>
                <a:rPr lang="en-US" altLang="zh-CN" sz="1600" b="1" baseline="-30000">
                  <a:solidFill>
                    <a:srgbClr val="FF3300"/>
                  </a:solidFill>
                </a:rPr>
                <a:t>8</a:t>
              </a:r>
              <a:r>
                <a:rPr lang="en-US" altLang="zh-CN" sz="1600" b="1">
                  <a:solidFill>
                    <a:srgbClr val="FF3300"/>
                  </a:solidFill>
                </a:rPr>
                <a:t>]</a:t>
              </a:r>
            </a:p>
            <a:p>
              <a:pPr eaLnBrk="1" hangingPunct="1">
                <a:spcBef>
                  <a:spcPct val="0"/>
                </a:spcBef>
                <a:buFontTx/>
                <a:buNone/>
              </a:pPr>
              <a:r>
                <a:rPr lang="en-US" altLang="zh-CN" sz="1600" b="1">
                  <a:solidFill>
                    <a:srgbClr val="FF3300"/>
                  </a:solidFill>
                </a:rPr>
                <a:t>a [T</a:t>
              </a:r>
              <a:r>
                <a:rPr lang="en-US" altLang="zh-CN" sz="1600" b="1" baseline="-30000">
                  <a:solidFill>
                    <a:srgbClr val="FF3300"/>
                  </a:solidFill>
                </a:rPr>
                <a:t>7</a:t>
              </a:r>
              <a:r>
                <a:rPr lang="en-US" altLang="zh-CN" sz="1600" b="1">
                  <a:solidFill>
                    <a:srgbClr val="FF3300"/>
                  </a:solidFill>
                </a:rPr>
                <a:t>]=T</a:t>
              </a:r>
              <a:r>
                <a:rPr lang="en-US" altLang="zh-CN" sz="1600" b="1" baseline="-30000">
                  <a:solidFill>
                    <a:srgbClr val="FF3300"/>
                  </a:solidFill>
                </a:rPr>
                <a:t>9</a:t>
              </a:r>
              <a:endParaRPr lang="en-US" altLang="zh-CN" sz="1600" b="1">
                <a:solidFill>
                  <a:srgbClr val="FF3300"/>
                </a:solidFill>
              </a:endParaRPr>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10</a:t>
              </a:r>
              <a:r>
                <a:rPr lang="en-US" altLang="zh-CN" sz="1600" b="1">
                  <a:solidFill>
                    <a:srgbClr val="FF3300"/>
                  </a:solidFill>
                </a:rPr>
                <a:t>= T</a:t>
              </a:r>
              <a:r>
                <a:rPr lang="en-US" altLang="zh-CN" sz="1600" b="1" baseline="-30000">
                  <a:solidFill>
                    <a:srgbClr val="FF3300"/>
                  </a:solidFill>
                </a:rPr>
                <a:t>8</a:t>
              </a:r>
              <a:endParaRPr lang="en-US" altLang="zh-CN" sz="1600" b="1">
                <a:solidFill>
                  <a:srgbClr val="FF3300"/>
                </a:solidFill>
              </a:endParaRPr>
            </a:p>
            <a:p>
              <a:pPr eaLnBrk="1" hangingPunct="1">
                <a:spcBef>
                  <a:spcPct val="0"/>
                </a:spcBef>
                <a:buFontTx/>
                <a:buNone/>
              </a:pPr>
              <a:r>
                <a:rPr lang="en-US" altLang="zh-CN" sz="1600" b="1">
                  <a:solidFill>
                    <a:srgbClr val="FF3300"/>
                  </a:solidFill>
                </a:rPr>
                <a:t>a [T</a:t>
              </a:r>
              <a:r>
                <a:rPr lang="en-US" altLang="zh-CN" sz="1600" b="1" baseline="-30000">
                  <a:solidFill>
                    <a:srgbClr val="FF3300"/>
                  </a:solidFill>
                </a:rPr>
                <a:t>10</a:t>
              </a:r>
              <a:r>
                <a:rPr lang="en-US" altLang="zh-CN" sz="1600" b="1">
                  <a:solidFill>
                    <a:srgbClr val="FF3300"/>
                  </a:solidFill>
                </a:rPr>
                <a:t>]=x</a:t>
              </a:r>
            </a:p>
            <a:p>
              <a:pPr eaLnBrk="1" hangingPunct="1">
                <a:spcBef>
                  <a:spcPct val="0"/>
                </a:spcBef>
                <a:buFontTx/>
                <a:buNone/>
              </a:pPr>
              <a:r>
                <a:rPr lang="en-US" altLang="zh-CN" sz="1600" b="1"/>
                <a:t>goto B</a:t>
              </a:r>
              <a:r>
                <a:rPr lang="en-US" altLang="zh-CN" sz="1600" b="1" baseline="-30000"/>
                <a:t>2</a:t>
              </a:r>
            </a:p>
          </p:txBody>
        </p:sp>
        <p:sp>
          <p:nvSpPr>
            <p:cNvPr id="28686" name="Rectangle 13"/>
            <p:cNvSpPr>
              <a:spLocks noChangeArrowheads="1"/>
            </p:cNvSpPr>
            <p:nvPr/>
          </p:nvSpPr>
          <p:spPr bwMode="auto">
            <a:xfrm>
              <a:off x="3984" y="1824"/>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5</a:t>
              </a:r>
              <a:endParaRPr lang="en-US" altLang="zh-CN" sz="1800"/>
            </a:p>
          </p:txBody>
        </p:sp>
        <p:sp>
          <p:nvSpPr>
            <p:cNvPr id="28687"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T</a:t>
              </a:r>
              <a:r>
                <a:rPr lang="en-US" altLang="zh-CN" sz="1600" b="1" baseline="-30000"/>
                <a:t>11</a:t>
              </a:r>
              <a:r>
                <a:rPr lang="en-US" altLang="zh-CN" sz="1600" b="1"/>
                <a:t>= T</a:t>
              </a:r>
              <a:r>
                <a:rPr lang="en-US" altLang="zh-CN" sz="1600" b="1" baseline="-25000"/>
                <a:t>2</a:t>
              </a:r>
              <a:endParaRPr lang="en-US" altLang="zh-CN" sz="1600" b="1"/>
            </a:p>
            <a:p>
              <a:pPr eaLnBrk="1" hangingPunct="1">
                <a:spcBef>
                  <a:spcPct val="0"/>
                </a:spcBef>
                <a:buFontTx/>
                <a:buNone/>
              </a:pPr>
              <a:r>
                <a:rPr lang="en-US" altLang="zh-CN" sz="1600" b="1">
                  <a:solidFill>
                    <a:srgbClr val="FF3300"/>
                  </a:solidFill>
                </a:rPr>
                <a:t>x=a [T</a:t>
              </a:r>
              <a:r>
                <a:rPr lang="en-US" altLang="zh-CN" sz="1600" b="1" baseline="-30000">
                  <a:solidFill>
                    <a:srgbClr val="FF3300"/>
                  </a:solidFill>
                </a:rPr>
                <a:t>11</a:t>
              </a:r>
              <a:r>
                <a:rPr lang="en-US" altLang="zh-CN" sz="1600" b="1">
                  <a:solidFill>
                    <a:srgbClr val="FF3300"/>
                  </a:solidFill>
                </a:rPr>
                <a:t>]</a:t>
              </a:r>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12</a:t>
              </a:r>
              <a:r>
                <a:rPr lang="en-US" altLang="zh-CN" sz="1600" b="1">
                  <a:solidFill>
                    <a:srgbClr val="FF3300"/>
                  </a:solidFill>
                </a:rPr>
                <a:t>= T</a:t>
              </a:r>
              <a:r>
                <a:rPr lang="en-US" altLang="zh-CN" sz="1600" b="1" baseline="-30000">
                  <a:solidFill>
                    <a:srgbClr val="FF3300"/>
                  </a:solidFill>
                </a:rPr>
                <a:t>11</a:t>
              </a:r>
              <a:endParaRPr lang="en-US" altLang="zh-CN" sz="1600" b="1">
                <a:solidFill>
                  <a:srgbClr val="FF3300"/>
                </a:solidFill>
              </a:endParaRPr>
            </a:p>
            <a:p>
              <a:pPr eaLnBrk="1" hangingPunct="1">
                <a:spcBef>
                  <a:spcPct val="0"/>
                </a:spcBef>
                <a:buFontTx/>
                <a:buNone/>
              </a:pPr>
              <a:r>
                <a:rPr lang="en-US" altLang="zh-CN" sz="1600" b="1"/>
                <a:t>T</a:t>
              </a:r>
              <a:r>
                <a:rPr lang="en-US" altLang="zh-CN" sz="1600" b="1" baseline="-30000"/>
                <a:t>13</a:t>
              </a:r>
              <a:r>
                <a:rPr lang="en-US" altLang="zh-CN" sz="1600" b="1"/>
                <a:t>= T</a:t>
              </a:r>
              <a:r>
                <a:rPr lang="en-US" altLang="zh-CN" sz="1600" b="1" baseline="-25000"/>
                <a:t>1</a:t>
              </a:r>
              <a:endParaRPr lang="en-US" altLang="zh-CN" sz="1600" b="1"/>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14</a:t>
              </a:r>
              <a:r>
                <a:rPr lang="en-US" altLang="zh-CN" sz="1600" b="1">
                  <a:solidFill>
                    <a:srgbClr val="FF3300"/>
                  </a:solidFill>
                </a:rPr>
                <a:t>=a [T</a:t>
              </a:r>
              <a:r>
                <a:rPr lang="en-US" altLang="zh-CN" sz="1600" b="1" baseline="-30000">
                  <a:solidFill>
                    <a:srgbClr val="FF3300"/>
                  </a:solidFill>
                </a:rPr>
                <a:t>13</a:t>
              </a:r>
              <a:r>
                <a:rPr lang="en-US" altLang="zh-CN" sz="1600" b="1">
                  <a:solidFill>
                    <a:srgbClr val="FF3300"/>
                  </a:solidFill>
                </a:rPr>
                <a:t>]</a:t>
              </a:r>
            </a:p>
            <a:p>
              <a:pPr eaLnBrk="1" hangingPunct="1">
                <a:spcBef>
                  <a:spcPct val="0"/>
                </a:spcBef>
                <a:buFontTx/>
                <a:buNone/>
              </a:pPr>
              <a:r>
                <a:rPr lang="en-US" altLang="zh-CN" sz="1600" b="1">
                  <a:solidFill>
                    <a:srgbClr val="FF3300"/>
                  </a:solidFill>
                </a:rPr>
                <a:t>a [T</a:t>
              </a:r>
              <a:r>
                <a:rPr lang="en-US" altLang="zh-CN" sz="1600" b="1" baseline="-30000">
                  <a:solidFill>
                    <a:srgbClr val="FF3300"/>
                  </a:solidFill>
                </a:rPr>
                <a:t>12</a:t>
              </a:r>
              <a:r>
                <a:rPr lang="en-US" altLang="zh-CN" sz="1600" b="1">
                  <a:solidFill>
                    <a:srgbClr val="FF3300"/>
                  </a:solidFill>
                </a:rPr>
                <a:t>]=T</a:t>
              </a:r>
              <a:r>
                <a:rPr lang="en-US" altLang="zh-CN" sz="1600" b="1" baseline="-30000">
                  <a:solidFill>
                    <a:srgbClr val="FF3300"/>
                  </a:solidFill>
                </a:rPr>
                <a:t>14</a:t>
              </a:r>
              <a:endParaRPr lang="en-US" altLang="zh-CN" sz="1600" b="1">
                <a:solidFill>
                  <a:srgbClr val="FF3300"/>
                </a:solidFill>
              </a:endParaRPr>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15</a:t>
              </a:r>
              <a:r>
                <a:rPr lang="en-US" altLang="zh-CN" sz="1600" b="1">
                  <a:solidFill>
                    <a:srgbClr val="FF3300"/>
                  </a:solidFill>
                </a:rPr>
                <a:t>= T</a:t>
              </a:r>
              <a:r>
                <a:rPr lang="en-US" altLang="zh-CN" sz="1600" b="1" baseline="-25000">
                  <a:solidFill>
                    <a:srgbClr val="FF3300"/>
                  </a:solidFill>
                </a:rPr>
                <a:t>13</a:t>
              </a:r>
              <a:endParaRPr lang="en-US" altLang="zh-CN" sz="1600" b="1">
                <a:solidFill>
                  <a:srgbClr val="FF3300"/>
                </a:solidFill>
              </a:endParaRPr>
            </a:p>
            <a:p>
              <a:pPr eaLnBrk="1" hangingPunct="1">
                <a:spcBef>
                  <a:spcPct val="0"/>
                </a:spcBef>
                <a:buFontTx/>
                <a:buNone/>
              </a:pPr>
              <a:r>
                <a:rPr lang="en-US" altLang="zh-CN" sz="1600" b="1">
                  <a:solidFill>
                    <a:srgbClr val="FF3300"/>
                  </a:solidFill>
                </a:rPr>
                <a:t>a [T</a:t>
              </a:r>
              <a:r>
                <a:rPr lang="en-US" altLang="zh-CN" sz="1600" b="1" baseline="-30000">
                  <a:solidFill>
                    <a:srgbClr val="FF3300"/>
                  </a:solidFill>
                </a:rPr>
                <a:t>15</a:t>
              </a:r>
              <a:r>
                <a:rPr lang="en-US" altLang="zh-CN" sz="1600" b="1">
                  <a:solidFill>
                    <a:srgbClr val="FF3300"/>
                  </a:solidFill>
                </a:rPr>
                <a:t>]=x</a:t>
              </a:r>
            </a:p>
            <a:p>
              <a:pPr eaLnBrk="1" hangingPunct="1">
                <a:spcBef>
                  <a:spcPct val="0"/>
                </a:spcBef>
                <a:buFontTx/>
                <a:buNone/>
              </a:pPr>
              <a:endParaRPr lang="en-US" altLang="zh-CN" sz="1600" b="1" baseline="-30000">
                <a:solidFill>
                  <a:srgbClr val="FF3300"/>
                </a:solidFill>
              </a:endParaRPr>
            </a:p>
          </p:txBody>
        </p:sp>
        <p:sp>
          <p:nvSpPr>
            <p:cNvPr id="28688" name="Rectangle 15"/>
            <p:cNvSpPr>
              <a:spLocks noChangeArrowheads="1"/>
            </p:cNvSpPr>
            <p:nvPr/>
          </p:nvSpPr>
          <p:spPr bwMode="auto">
            <a:xfrm>
              <a:off x="5520" y="1824"/>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6</a:t>
              </a:r>
              <a:endParaRPr lang="en-US" altLang="zh-CN" sz="1800"/>
            </a:p>
          </p:txBody>
        </p:sp>
        <p:sp>
          <p:nvSpPr>
            <p:cNvPr id="28689"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8690"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8691" name="Freeform 18"/>
            <p:cNvSpPr>
              <a:spLocks/>
            </p:cNvSpPr>
            <p:nvPr/>
          </p:nvSpPr>
          <p:spPr bwMode="auto">
            <a:xfrm>
              <a:off x="1631" y="528"/>
              <a:ext cx="2448" cy="3408"/>
            </a:xfrm>
            <a:custGeom>
              <a:avLst/>
              <a:gdLst>
                <a:gd name="T0" fmla="*/ 0 w 2448"/>
                <a:gd name="T1" fmla="*/ 3454 h 3264"/>
                <a:gd name="T2" fmla="*/ 0 w 2448"/>
                <a:gd name="T3" fmla="*/ 3558 h 3264"/>
                <a:gd name="T4" fmla="*/ 1008 w 2448"/>
                <a:gd name="T5" fmla="*/ 3558 h 3264"/>
                <a:gd name="T6" fmla="*/ 1008 w 2448"/>
                <a:gd name="T7" fmla="*/ 0 h 3264"/>
                <a:gd name="T8" fmla="*/ 2448 w 2448"/>
                <a:gd name="T9" fmla="*/ 0 h 3264"/>
                <a:gd name="T10" fmla="*/ 2448 w 2448"/>
                <a:gd name="T11" fmla="*/ 523 h 326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8692"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8693"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8694"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8695"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8696"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grpSp>
      <p:sp>
        <p:nvSpPr>
          <p:cNvPr id="25" name="Rectangle 9"/>
          <p:cNvSpPr>
            <a:spLocks noChangeArrowheads="1"/>
          </p:cNvSpPr>
          <p:nvPr/>
        </p:nvSpPr>
        <p:spPr bwMode="auto">
          <a:xfrm>
            <a:off x="5562601" y="3830242"/>
            <a:ext cx="340042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zh-CN" altLang="zh-CN" sz="2800">
                <a:solidFill>
                  <a:srgbClr val="000000"/>
                </a:solidFill>
                <a:latin typeface="宋体" pitchFamily="2" charset="-122"/>
              </a:rPr>
              <a:t>T6=T2，x=a[T6]，之间没有改变</a:t>
            </a:r>
            <a:r>
              <a:rPr lang="en-US" altLang="zh-CN" sz="2800">
                <a:solidFill>
                  <a:srgbClr val="000000"/>
                </a:solidFill>
                <a:latin typeface="宋体" pitchFamily="2" charset="-122"/>
              </a:rPr>
              <a:t>T6,</a:t>
            </a:r>
            <a:r>
              <a:rPr lang="zh-CN" altLang="en-US" sz="2800">
                <a:solidFill>
                  <a:srgbClr val="000000"/>
                </a:solidFill>
                <a:latin typeface="宋体" pitchFamily="2" charset="-122"/>
              </a:rPr>
              <a:t>因此，可以直接写</a:t>
            </a:r>
            <a:r>
              <a:rPr lang="zh-CN" altLang="zh-CN" sz="2800">
                <a:solidFill>
                  <a:srgbClr val="000000"/>
                </a:solidFill>
                <a:latin typeface="宋体" pitchFamily="2" charset="-122"/>
              </a:rPr>
              <a:t>x=a[T</a:t>
            </a:r>
            <a:r>
              <a:rPr lang="en-US" altLang="zh-CN" sz="2800">
                <a:solidFill>
                  <a:srgbClr val="000000"/>
                </a:solidFill>
                <a:latin typeface="宋体" pitchFamily="2" charset="-122"/>
              </a:rPr>
              <a:t>2</a:t>
            </a:r>
            <a:r>
              <a:rPr lang="zh-CN" altLang="zh-CN" sz="2800">
                <a:solidFill>
                  <a:srgbClr val="000000"/>
                </a:solidFill>
                <a:latin typeface="宋体" pitchFamily="2" charset="-122"/>
              </a:rPr>
              <a:t>]</a:t>
            </a:r>
          </a:p>
        </p:txBody>
      </p:sp>
    </p:spTree>
    <p:extLst>
      <p:ext uri="{BB962C8B-B14F-4D97-AF65-F5344CB8AC3E}">
        <p14:creationId xmlns:p14="http://schemas.microsoft.com/office/powerpoint/2010/main" val="39988102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6238876" y="58341"/>
            <a:ext cx="29495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
                <a:schemeClr val="accent2"/>
              </a:buClr>
              <a:buSzPct val="75000"/>
              <a:buFont typeface="Wingdings" pitchFamily="2" charset="2"/>
              <a:buChar char="q"/>
            </a:pPr>
            <a:r>
              <a:rPr lang="zh-CN" altLang="en-US" sz="2800" b="1"/>
              <a:t>复写传播(一)后</a:t>
            </a:r>
            <a:endParaRPr lang="zh-CN" altLang="en-US" sz="2800" b="1">
              <a:latin typeface="宋体" pitchFamily="2" charset="-122"/>
            </a:endParaRPr>
          </a:p>
        </p:txBody>
      </p:sp>
      <p:grpSp>
        <p:nvGrpSpPr>
          <p:cNvPr id="29699" name="Group 3"/>
          <p:cNvGrpSpPr>
            <a:grpSpLocks/>
          </p:cNvGrpSpPr>
          <p:nvPr/>
        </p:nvGrpSpPr>
        <p:grpSpPr bwMode="auto">
          <a:xfrm>
            <a:off x="685800" y="357188"/>
            <a:ext cx="8458200" cy="4171950"/>
            <a:chOff x="576" y="528"/>
            <a:chExt cx="5328" cy="3504"/>
          </a:xfrm>
        </p:grpSpPr>
        <p:sp>
          <p:nvSpPr>
            <p:cNvPr id="29701"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i=m-1</a:t>
              </a:r>
            </a:p>
            <a:p>
              <a:pPr eaLnBrk="1" hangingPunct="1">
                <a:spcBef>
                  <a:spcPct val="0"/>
                </a:spcBef>
                <a:buFontTx/>
                <a:buNone/>
              </a:pPr>
              <a:r>
                <a:rPr lang="en-US" altLang="zh-CN" sz="1600" b="1"/>
                <a:t>j=n</a:t>
              </a:r>
            </a:p>
            <a:p>
              <a:pPr eaLnBrk="1" hangingPunct="1">
                <a:spcBef>
                  <a:spcPct val="0"/>
                </a:spcBef>
                <a:buFontTx/>
                <a:buNone/>
              </a:pPr>
              <a:r>
                <a:rPr lang="en-US" altLang="zh-CN" sz="1600" b="1"/>
                <a:t>T</a:t>
              </a:r>
              <a:r>
                <a:rPr lang="en-US" altLang="zh-CN" sz="1600" b="1" baseline="-25000"/>
                <a:t>1</a:t>
              </a:r>
              <a:r>
                <a:rPr lang="en-US" altLang="zh-CN" sz="1600" b="1"/>
                <a:t>=4*n</a:t>
              </a:r>
            </a:p>
            <a:p>
              <a:pPr eaLnBrk="1" hangingPunct="1">
                <a:spcBef>
                  <a:spcPct val="0"/>
                </a:spcBef>
                <a:buFontTx/>
                <a:buNone/>
              </a:pPr>
              <a:r>
                <a:rPr lang="en-US" altLang="zh-CN" sz="1600" b="1"/>
                <a:t>v=a[T</a:t>
              </a:r>
              <a:r>
                <a:rPr lang="en-US" altLang="zh-CN" sz="1600" b="1" baseline="-25000"/>
                <a:t>1</a:t>
              </a:r>
              <a:r>
                <a:rPr lang="en-US" altLang="zh-CN" sz="1600" b="1"/>
                <a:t>]</a:t>
              </a:r>
            </a:p>
          </p:txBody>
        </p:sp>
        <p:sp>
          <p:nvSpPr>
            <p:cNvPr id="29702" name="Rectangle 5"/>
            <p:cNvSpPr>
              <a:spLocks noChangeArrowheads="1"/>
            </p:cNvSpPr>
            <p:nvPr/>
          </p:nvSpPr>
          <p:spPr bwMode="auto">
            <a:xfrm>
              <a:off x="2064" y="1008"/>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1</a:t>
              </a:r>
              <a:endParaRPr lang="en-US" altLang="zh-CN" sz="1800"/>
            </a:p>
          </p:txBody>
        </p:sp>
        <p:sp>
          <p:nvSpPr>
            <p:cNvPr id="29703"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i=i+1</a:t>
              </a:r>
            </a:p>
            <a:p>
              <a:pPr eaLnBrk="1" hangingPunct="1">
                <a:spcBef>
                  <a:spcPct val="0"/>
                </a:spcBef>
                <a:buFontTx/>
                <a:buNone/>
              </a:pPr>
              <a:r>
                <a:rPr lang="en-US" altLang="zh-CN" sz="1600" b="1"/>
                <a:t>T</a:t>
              </a:r>
              <a:r>
                <a:rPr lang="en-US" altLang="zh-CN" sz="1600" b="1" baseline="-25000"/>
                <a:t>2</a:t>
              </a:r>
              <a:r>
                <a:rPr lang="en-US" altLang="zh-CN" sz="1600" b="1"/>
                <a:t>=4*i </a:t>
              </a:r>
            </a:p>
            <a:p>
              <a:pPr eaLnBrk="1" hangingPunct="1">
                <a:spcBef>
                  <a:spcPct val="0"/>
                </a:spcBef>
                <a:buFontTx/>
                <a:buNone/>
              </a:pPr>
              <a:r>
                <a:rPr lang="en-US" altLang="zh-CN" sz="1600" b="1"/>
                <a:t>T</a:t>
              </a:r>
              <a:r>
                <a:rPr lang="en-US" altLang="zh-CN" sz="1600" b="1" baseline="-25000"/>
                <a:t>3</a:t>
              </a:r>
              <a:r>
                <a:rPr lang="en-US" altLang="zh-CN" sz="1600" b="1"/>
                <a:t>=a[T</a:t>
              </a:r>
              <a:r>
                <a:rPr lang="en-US" altLang="zh-CN" sz="1600" b="1" baseline="-25000"/>
                <a:t>2</a:t>
              </a:r>
              <a:r>
                <a:rPr lang="en-US" altLang="zh-CN" sz="1600" b="1"/>
                <a:t>]</a:t>
              </a:r>
            </a:p>
            <a:p>
              <a:pPr eaLnBrk="1" hangingPunct="1">
                <a:spcBef>
                  <a:spcPct val="0"/>
                </a:spcBef>
                <a:buFontTx/>
                <a:buNone/>
              </a:pPr>
              <a:r>
                <a:rPr lang="en-US" altLang="zh-CN" sz="1600" b="1"/>
                <a:t>if T</a:t>
              </a:r>
              <a:r>
                <a:rPr lang="en-US" altLang="zh-CN" sz="1600" b="1" baseline="-25000"/>
                <a:t>3</a:t>
              </a:r>
              <a:r>
                <a:rPr lang="en-US" altLang="zh-CN" sz="1600" b="1"/>
                <a:t>&lt;v goto B</a:t>
              </a:r>
              <a:r>
                <a:rPr lang="en-US" altLang="zh-CN" sz="1600" b="1" baseline="-25000"/>
                <a:t>2</a:t>
              </a:r>
            </a:p>
          </p:txBody>
        </p:sp>
        <p:sp>
          <p:nvSpPr>
            <p:cNvPr id="29704" name="Rectangle 7"/>
            <p:cNvSpPr>
              <a:spLocks noChangeArrowheads="1"/>
            </p:cNvSpPr>
            <p:nvPr/>
          </p:nvSpPr>
          <p:spPr bwMode="auto">
            <a:xfrm>
              <a:off x="2064" y="192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2</a:t>
              </a:r>
              <a:endParaRPr lang="en-US" altLang="zh-CN" sz="1800"/>
            </a:p>
          </p:txBody>
        </p:sp>
        <p:sp>
          <p:nvSpPr>
            <p:cNvPr id="29705"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j=j-1</a:t>
              </a:r>
            </a:p>
            <a:p>
              <a:pPr eaLnBrk="1" hangingPunct="1">
                <a:spcBef>
                  <a:spcPct val="0"/>
                </a:spcBef>
                <a:buFontTx/>
                <a:buNone/>
              </a:pPr>
              <a:r>
                <a:rPr lang="en-US" altLang="zh-CN" sz="1600" b="1"/>
                <a:t>T</a:t>
              </a:r>
              <a:r>
                <a:rPr lang="en-US" altLang="zh-CN" sz="1600" b="1" baseline="-25000"/>
                <a:t>4</a:t>
              </a:r>
              <a:r>
                <a:rPr lang="en-US" altLang="zh-CN" sz="1600" b="1"/>
                <a:t>=4*j </a:t>
              </a:r>
            </a:p>
            <a:p>
              <a:pPr eaLnBrk="1" hangingPunct="1">
                <a:spcBef>
                  <a:spcPct val="0"/>
                </a:spcBef>
                <a:buFontTx/>
                <a:buNone/>
              </a:pPr>
              <a:r>
                <a:rPr lang="en-US" altLang="zh-CN" sz="1600" b="1"/>
                <a:t>T</a:t>
              </a:r>
              <a:r>
                <a:rPr lang="en-US" altLang="zh-CN" sz="1600" b="1" baseline="-25000"/>
                <a:t>5</a:t>
              </a:r>
              <a:r>
                <a:rPr lang="en-US" altLang="zh-CN" sz="1600" b="1"/>
                <a:t>=a[T</a:t>
              </a:r>
              <a:r>
                <a:rPr lang="en-US" altLang="zh-CN" sz="1600" b="1" baseline="-25000"/>
                <a:t>4</a:t>
              </a:r>
              <a:r>
                <a:rPr lang="en-US" altLang="zh-CN" sz="1600" b="1"/>
                <a:t>]</a:t>
              </a:r>
            </a:p>
            <a:p>
              <a:pPr eaLnBrk="1" hangingPunct="1">
                <a:spcBef>
                  <a:spcPct val="0"/>
                </a:spcBef>
                <a:buFontTx/>
                <a:buNone/>
              </a:pPr>
              <a:r>
                <a:rPr lang="en-US" altLang="zh-CN" sz="1600" b="1"/>
                <a:t>if T</a:t>
              </a:r>
              <a:r>
                <a:rPr lang="en-US" altLang="zh-CN" sz="1600" b="1" baseline="-25000"/>
                <a:t>5</a:t>
              </a:r>
              <a:r>
                <a:rPr lang="en-US" altLang="zh-CN" sz="1600" b="1"/>
                <a:t>&gt;v goto B</a:t>
              </a:r>
              <a:r>
                <a:rPr lang="en-US" altLang="zh-CN" sz="1600" b="1" baseline="-25000"/>
                <a:t>3</a:t>
              </a:r>
            </a:p>
          </p:txBody>
        </p:sp>
        <p:sp>
          <p:nvSpPr>
            <p:cNvPr id="29706" name="Rectangle 9"/>
            <p:cNvSpPr>
              <a:spLocks noChangeArrowheads="1"/>
            </p:cNvSpPr>
            <p:nvPr/>
          </p:nvSpPr>
          <p:spPr bwMode="auto">
            <a:xfrm>
              <a:off x="2064" y="288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3</a:t>
              </a:r>
              <a:endParaRPr lang="en-US" altLang="zh-CN" sz="1800"/>
            </a:p>
          </p:txBody>
        </p:sp>
        <p:sp>
          <p:nvSpPr>
            <p:cNvPr id="29707"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if i&gt;=j goto B</a:t>
              </a:r>
              <a:r>
                <a:rPr lang="en-US" altLang="zh-CN" sz="1600" b="1" baseline="-25000"/>
                <a:t>6</a:t>
              </a:r>
            </a:p>
          </p:txBody>
        </p:sp>
        <p:sp>
          <p:nvSpPr>
            <p:cNvPr id="29708" name="Rectangle 11"/>
            <p:cNvSpPr>
              <a:spLocks noChangeArrowheads="1"/>
            </p:cNvSpPr>
            <p:nvPr/>
          </p:nvSpPr>
          <p:spPr bwMode="auto">
            <a:xfrm>
              <a:off x="4512" y="96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4</a:t>
              </a:r>
              <a:endParaRPr lang="en-US" altLang="zh-CN" sz="1800"/>
            </a:p>
          </p:txBody>
        </p:sp>
        <p:sp>
          <p:nvSpPr>
            <p:cNvPr id="29709"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T</a:t>
              </a:r>
              <a:r>
                <a:rPr lang="en-US" altLang="zh-CN" sz="1600" b="1" baseline="-30000"/>
                <a:t>6</a:t>
              </a:r>
              <a:r>
                <a:rPr lang="en-US" altLang="zh-CN" sz="1600" b="1"/>
                <a:t>= T</a:t>
              </a:r>
              <a:r>
                <a:rPr lang="en-US" altLang="zh-CN" sz="1600" b="1" baseline="-25000"/>
                <a:t>2</a:t>
              </a:r>
              <a:endParaRPr lang="en-US" altLang="zh-CN" sz="1600" b="1"/>
            </a:p>
            <a:p>
              <a:pPr eaLnBrk="1" hangingPunct="1">
                <a:spcBef>
                  <a:spcPct val="0"/>
                </a:spcBef>
                <a:buFontTx/>
                <a:buNone/>
              </a:pPr>
              <a:r>
                <a:rPr lang="en-US" altLang="zh-CN" sz="1600" b="1">
                  <a:solidFill>
                    <a:srgbClr val="0000FF"/>
                  </a:solidFill>
                </a:rPr>
                <a:t>x=a[T</a:t>
              </a:r>
              <a:r>
                <a:rPr lang="en-US" altLang="zh-CN" sz="1600" b="1" baseline="-30000">
                  <a:solidFill>
                    <a:srgbClr val="0000FF"/>
                  </a:solidFill>
                </a:rPr>
                <a:t>2</a:t>
              </a:r>
              <a:r>
                <a:rPr lang="en-US" altLang="zh-CN" sz="1600" b="1">
                  <a:solidFill>
                    <a:srgbClr val="0000FF"/>
                  </a:solidFill>
                </a:rPr>
                <a:t>]</a:t>
              </a:r>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7</a:t>
              </a:r>
              <a:r>
                <a:rPr lang="en-US" altLang="zh-CN" sz="1600" b="1">
                  <a:solidFill>
                    <a:srgbClr val="0000FF"/>
                  </a:solidFill>
                </a:rPr>
                <a:t>= T</a:t>
              </a:r>
              <a:r>
                <a:rPr lang="en-US" altLang="zh-CN" sz="1600" b="1" baseline="-30000">
                  <a:solidFill>
                    <a:srgbClr val="0000FF"/>
                  </a:solidFill>
                </a:rPr>
                <a:t>2</a:t>
              </a:r>
              <a:endParaRPr lang="en-US" altLang="zh-CN" sz="1600" b="1">
                <a:solidFill>
                  <a:srgbClr val="0000FF"/>
                </a:solidFill>
              </a:endParaRPr>
            </a:p>
            <a:p>
              <a:pPr eaLnBrk="1" hangingPunct="1">
                <a:spcBef>
                  <a:spcPct val="0"/>
                </a:spcBef>
                <a:buFontTx/>
                <a:buNone/>
              </a:pPr>
              <a:r>
                <a:rPr lang="en-US" altLang="zh-CN" sz="1600" b="1"/>
                <a:t>T</a:t>
              </a:r>
              <a:r>
                <a:rPr lang="en-US" altLang="zh-CN" sz="1600" b="1" baseline="-30000"/>
                <a:t>8</a:t>
              </a:r>
              <a:r>
                <a:rPr lang="en-US" altLang="zh-CN" sz="1600" b="1"/>
                <a:t>= T</a:t>
              </a:r>
              <a:r>
                <a:rPr lang="en-US" altLang="zh-CN" sz="1600" b="1" baseline="-25000"/>
                <a:t>4</a:t>
              </a:r>
              <a:endParaRPr lang="en-US" altLang="zh-CN" sz="1600" b="1"/>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9</a:t>
              </a:r>
              <a:r>
                <a:rPr lang="en-US" altLang="zh-CN" sz="1600" b="1">
                  <a:solidFill>
                    <a:srgbClr val="0000FF"/>
                  </a:solidFill>
                </a:rPr>
                <a:t>=a [T</a:t>
              </a:r>
              <a:r>
                <a:rPr lang="en-US" altLang="zh-CN" sz="1600" b="1" baseline="-30000">
                  <a:solidFill>
                    <a:srgbClr val="0000FF"/>
                  </a:solidFill>
                </a:rPr>
                <a:t>4</a:t>
              </a:r>
              <a:r>
                <a:rPr lang="en-US" altLang="zh-CN" sz="1600" b="1">
                  <a:solidFill>
                    <a:srgbClr val="0000FF"/>
                  </a:solidFill>
                </a:rPr>
                <a:t>]</a:t>
              </a:r>
            </a:p>
            <a:p>
              <a:pPr eaLnBrk="1" hangingPunct="1">
                <a:spcBef>
                  <a:spcPct val="0"/>
                </a:spcBef>
                <a:buFontTx/>
                <a:buNone/>
              </a:pPr>
              <a:r>
                <a:rPr lang="en-US" altLang="zh-CN" sz="1600" b="1">
                  <a:solidFill>
                    <a:srgbClr val="0000FF"/>
                  </a:solidFill>
                </a:rPr>
                <a:t>a [T</a:t>
              </a:r>
              <a:r>
                <a:rPr lang="en-US" altLang="zh-CN" sz="1600" b="1" baseline="-30000">
                  <a:solidFill>
                    <a:srgbClr val="0000FF"/>
                  </a:solidFill>
                </a:rPr>
                <a:t>2</a:t>
              </a:r>
              <a:r>
                <a:rPr lang="en-US" altLang="zh-CN" sz="1600" b="1">
                  <a:solidFill>
                    <a:srgbClr val="0000FF"/>
                  </a:solidFill>
                </a:rPr>
                <a:t>]=T</a:t>
              </a:r>
              <a:r>
                <a:rPr lang="en-US" altLang="zh-CN" sz="1600" b="1" baseline="-30000">
                  <a:solidFill>
                    <a:srgbClr val="0000FF"/>
                  </a:solidFill>
                </a:rPr>
                <a:t>9</a:t>
              </a:r>
              <a:endParaRPr lang="en-US" altLang="zh-CN" sz="1600" b="1">
                <a:solidFill>
                  <a:srgbClr val="0000FF"/>
                </a:solidFill>
              </a:endParaRPr>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10</a:t>
              </a:r>
              <a:r>
                <a:rPr lang="en-US" altLang="zh-CN" sz="1600" b="1">
                  <a:solidFill>
                    <a:srgbClr val="0000FF"/>
                  </a:solidFill>
                </a:rPr>
                <a:t>= T</a:t>
              </a:r>
              <a:r>
                <a:rPr lang="en-US" altLang="zh-CN" sz="1600" b="1" baseline="-30000">
                  <a:solidFill>
                    <a:srgbClr val="0000FF"/>
                  </a:solidFill>
                </a:rPr>
                <a:t>4</a:t>
              </a:r>
              <a:endParaRPr lang="en-US" altLang="zh-CN" sz="1600" b="1">
                <a:solidFill>
                  <a:srgbClr val="0000FF"/>
                </a:solidFill>
              </a:endParaRPr>
            </a:p>
            <a:p>
              <a:pPr eaLnBrk="1" hangingPunct="1">
                <a:spcBef>
                  <a:spcPct val="0"/>
                </a:spcBef>
                <a:buFontTx/>
                <a:buNone/>
              </a:pPr>
              <a:r>
                <a:rPr lang="en-US" altLang="zh-CN" sz="1600" b="1">
                  <a:solidFill>
                    <a:srgbClr val="0000FF"/>
                  </a:solidFill>
                </a:rPr>
                <a:t>a [T</a:t>
              </a:r>
              <a:r>
                <a:rPr lang="en-US" altLang="zh-CN" sz="1600" b="1" baseline="-30000">
                  <a:solidFill>
                    <a:srgbClr val="0000FF"/>
                  </a:solidFill>
                </a:rPr>
                <a:t>4</a:t>
              </a:r>
              <a:r>
                <a:rPr lang="en-US" altLang="zh-CN" sz="1600" b="1">
                  <a:solidFill>
                    <a:srgbClr val="0000FF"/>
                  </a:solidFill>
                </a:rPr>
                <a:t>]=x</a:t>
              </a:r>
            </a:p>
            <a:p>
              <a:pPr eaLnBrk="1" hangingPunct="1">
                <a:spcBef>
                  <a:spcPct val="0"/>
                </a:spcBef>
                <a:buFontTx/>
                <a:buNone/>
              </a:pPr>
              <a:r>
                <a:rPr lang="en-US" altLang="zh-CN" sz="1600" b="1"/>
                <a:t>goto B</a:t>
              </a:r>
              <a:r>
                <a:rPr lang="en-US" altLang="zh-CN" sz="1600" b="1" baseline="-30000"/>
                <a:t>2</a:t>
              </a:r>
            </a:p>
          </p:txBody>
        </p:sp>
        <p:sp>
          <p:nvSpPr>
            <p:cNvPr id="29710" name="Rectangle 13"/>
            <p:cNvSpPr>
              <a:spLocks noChangeArrowheads="1"/>
            </p:cNvSpPr>
            <p:nvPr/>
          </p:nvSpPr>
          <p:spPr bwMode="auto">
            <a:xfrm>
              <a:off x="3984" y="1824"/>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5</a:t>
              </a:r>
              <a:endParaRPr lang="en-US" altLang="zh-CN" sz="1800"/>
            </a:p>
          </p:txBody>
        </p:sp>
        <p:sp>
          <p:nvSpPr>
            <p:cNvPr id="29711"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T</a:t>
              </a:r>
              <a:r>
                <a:rPr lang="en-US" altLang="zh-CN" sz="1600" b="1" baseline="-30000"/>
                <a:t>11</a:t>
              </a:r>
              <a:r>
                <a:rPr lang="en-US" altLang="zh-CN" sz="1600" b="1"/>
                <a:t>= T</a:t>
              </a:r>
              <a:r>
                <a:rPr lang="en-US" altLang="zh-CN" sz="1600" b="1" baseline="-25000"/>
                <a:t>2</a:t>
              </a:r>
              <a:endParaRPr lang="en-US" altLang="zh-CN" sz="1600" b="1"/>
            </a:p>
            <a:p>
              <a:pPr eaLnBrk="1" hangingPunct="1">
                <a:spcBef>
                  <a:spcPct val="0"/>
                </a:spcBef>
                <a:buFontTx/>
                <a:buNone/>
              </a:pPr>
              <a:r>
                <a:rPr lang="en-US" altLang="zh-CN" sz="1600" b="1">
                  <a:solidFill>
                    <a:srgbClr val="0000FF"/>
                  </a:solidFill>
                </a:rPr>
                <a:t>x=a [T</a:t>
              </a:r>
              <a:r>
                <a:rPr lang="en-US" altLang="zh-CN" sz="1600" b="1" baseline="-30000">
                  <a:solidFill>
                    <a:srgbClr val="0000FF"/>
                  </a:solidFill>
                </a:rPr>
                <a:t>2</a:t>
              </a:r>
              <a:r>
                <a:rPr lang="en-US" altLang="zh-CN" sz="1600" b="1">
                  <a:solidFill>
                    <a:srgbClr val="0000FF"/>
                  </a:solidFill>
                </a:rPr>
                <a:t>]</a:t>
              </a:r>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12</a:t>
              </a:r>
              <a:r>
                <a:rPr lang="en-US" altLang="zh-CN" sz="1600" b="1">
                  <a:solidFill>
                    <a:srgbClr val="0000FF"/>
                  </a:solidFill>
                </a:rPr>
                <a:t>= T</a:t>
              </a:r>
              <a:r>
                <a:rPr lang="en-US" altLang="zh-CN" sz="1600" b="1" baseline="-30000">
                  <a:solidFill>
                    <a:srgbClr val="0000FF"/>
                  </a:solidFill>
                </a:rPr>
                <a:t>2</a:t>
              </a:r>
              <a:endParaRPr lang="en-US" altLang="zh-CN" sz="1600" b="1">
                <a:solidFill>
                  <a:srgbClr val="0000FF"/>
                </a:solidFill>
              </a:endParaRPr>
            </a:p>
            <a:p>
              <a:pPr eaLnBrk="1" hangingPunct="1">
                <a:spcBef>
                  <a:spcPct val="0"/>
                </a:spcBef>
                <a:buFontTx/>
                <a:buNone/>
              </a:pPr>
              <a:r>
                <a:rPr lang="en-US" altLang="zh-CN" sz="1600" b="1"/>
                <a:t>T</a:t>
              </a:r>
              <a:r>
                <a:rPr lang="en-US" altLang="zh-CN" sz="1600" b="1" baseline="-30000"/>
                <a:t>13</a:t>
              </a:r>
              <a:r>
                <a:rPr lang="en-US" altLang="zh-CN" sz="1600" b="1"/>
                <a:t>= T</a:t>
              </a:r>
              <a:r>
                <a:rPr lang="en-US" altLang="zh-CN" sz="1600" b="1" baseline="-25000"/>
                <a:t>1</a:t>
              </a:r>
              <a:endParaRPr lang="en-US" altLang="zh-CN" sz="1600" b="1"/>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14</a:t>
              </a:r>
              <a:r>
                <a:rPr lang="en-US" altLang="zh-CN" sz="1600" b="1">
                  <a:solidFill>
                    <a:srgbClr val="0000FF"/>
                  </a:solidFill>
                </a:rPr>
                <a:t>=a [T</a:t>
              </a:r>
              <a:r>
                <a:rPr lang="en-US" altLang="zh-CN" sz="1600" b="1" baseline="-30000">
                  <a:solidFill>
                    <a:srgbClr val="0000FF"/>
                  </a:solidFill>
                </a:rPr>
                <a:t>1</a:t>
              </a:r>
              <a:r>
                <a:rPr lang="en-US" altLang="zh-CN" sz="1600" b="1">
                  <a:solidFill>
                    <a:srgbClr val="0000FF"/>
                  </a:solidFill>
                </a:rPr>
                <a:t>]</a:t>
              </a:r>
            </a:p>
            <a:p>
              <a:pPr eaLnBrk="1" hangingPunct="1">
                <a:spcBef>
                  <a:spcPct val="0"/>
                </a:spcBef>
                <a:buFontTx/>
                <a:buNone/>
              </a:pPr>
              <a:r>
                <a:rPr lang="en-US" altLang="zh-CN" sz="1600" b="1">
                  <a:solidFill>
                    <a:srgbClr val="0000FF"/>
                  </a:solidFill>
                </a:rPr>
                <a:t>a [T</a:t>
              </a:r>
              <a:r>
                <a:rPr lang="en-US" altLang="zh-CN" sz="1600" b="1" baseline="-30000">
                  <a:solidFill>
                    <a:srgbClr val="0000FF"/>
                  </a:solidFill>
                </a:rPr>
                <a:t>2</a:t>
              </a:r>
              <a:r>
                <a:rPr lang="en-US" altLang="zh-CN" sz="1600" b="1">
                  <a:solidFill>
                    <a:srgbClr val="0000FF"/>
                  </a:solidFill>
                </a:rPr>
                <a:t>]=T</a:t>
              </a:r>
              <a:r>
                <a:rPr lang="en-US" altLang="zh-CN" sz="1600" b="1" baseline="-30000">
                  <a:solidFill>
                    <a:srgbClr val="0000FF"/>
                  </a:solidFill>
                </a:rPr>
                <a:t>14</a:t>
              </a:r>
              <a:endParaRPr lang="en-US" altLang="zh-CN" sz="1600" b="1">
                <a:solidFill>
                  <a:srgbClr val="0000FF"/>
                </a:solidFill>
              </a:endParaRPr>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15</a:t>
              </a:r>
              <a:r>
                <a:rPr lang="en-US" altLang="zh-CN" sz="1600" b="1">
                  <a:solidFill>
                    <a:srgbClr val="0000FF"/>
                  </a:solidFill>
                </a:rPr>
                <a:t>= T</a:t>
              </a:r>
              <a:r>
                <a:rPr lang="en-US" altLang="zh-CN" sz="1600" b="1" baseline="-25000">
                  <a:solidFill>
                    <a:srgbClr val="0000FF"/>
                  </a:solidFill>
                </a:rPr>
                <a:t>1</a:t>
              </a:r>
              <a:endParaRPr lang="en-US" altLang="zh-CN" sz="1600" b="1">
                <a:solidFill>
                  <a:srgbClr val="0000FF"/>
                </a:solidFill>
              </a:endParaRPr>
            </a:p>
            <a:p>
              <a:pPr eaLnBrk="1" hangingPunct="1">
                <a:spcBef>
                  <a:spcPct val="0"/>
                </a:spcBef>
                <a:buFontTx/>
                <a:buNone/>
              </a:pPr>
              <a:r>
                <a:rPr lang="en-US" altLang="zh-CN" sz="1600" b="1">
                  <a:solidFill>
                    <a:srgbClr val="0000FF"/>
                  </a:solidFill>
                </a:rPr>
                <a:t>a [T</a:t>
              </a:r>
              <a:r>
                <a:rPr lang="en-US" altLang="zh-CN" sz="1600" b="1" baseline="-30000">
                  <a:solidFill>
                    <a:srgbClr val="0000FF"/>
                  </a:solidFill>
                </a:rPr>
                <a:t>1</a:t>
              </a:r>
              <a:r>
                <a:rPr lang="en-US" altLang="zh-CN" sz="1600" b="1">
                  <a:solidFill>
                    <a:srgbClr val="0000FF"/>
                  </a:solidFill>
                </a:rPr>
                <a:t>]=x</a:t>
              </a:r>
            </a:p>
            <a:p>
              <a:pPr eaLnBrk="1" hangingPunct="1">
                <a:spcBef>
                  <a:spcPct val="0"/>
                </a:spcBef>
                <a:buFontTx/>
                <a:buNone/>
              </a:pPr>
              <a:endParaRPr lang="en-US" altLang="zh-CN" sz="1600" b="1" baseline="-30000">
                <a:solidFill>
                  <a:srgbClr val="0000FF"/>
                </a:solidFill>
              </a:endParaRPr>
            </a:p>
          </p:txBody>
        </p:sp>
        <p:sp>
          <p:nvSpPr>
            <p:cNvPr id="29712" name="Rectangle 15"/>
            <p:cNvSpPr>
              <a:spLocks noChangeArrowheads="1"/>
            </p:cNvSpPr>
            <p:nvPr/>
          </p:nvSpPr>
          <p:spPr bwMode="auto">
            <a:xfrm>
              <a:off x="5520" y="1824"/>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6</a:t>
              </a:r>
              <a:endParaRPr lang="en-US" altLang="zh-CN" sz="1800"/>
            </a:p>
          </p:txBody>
        </p:sp>
        <p:sp>
          <p:nvSpPr>
            <p:cNvPr id="29713"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9714"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9715" name="Freeform 18"/>
            <p:cNvSpPr>
              <a:spLocks/>
            </p:cNvSpPr>
            <p:nvPr/>
          </p:nvSpPr>
          <p:spPr bwMode="auto">
            <a:xfrm>
              <a:off x="1631" y="528"/>
              <a:ext cx="2448" cy="3408"/>
            </a:xfrm>
            <a:custGeom>
              <a:avLst/>
              <a:gdLst>
                <a:gd name="T0" fmla="*/ 0 w 2448"/>
                <a:gd name="T1" fmla="*/ 3454 h 3264"/>
                <a:gd name="T2" fmla="*/ 0 w 2448"/>
                <a:gd name="T3" fmla="*/ 3558 h 3264"/>
                <a:gd name="T4" fmla="*/ 1008 w 2448"/>
                <a:gd name="T5" fmla="*/ 3558 h 3264"/>
                <a:gd name="T6" fmla="*/ 1008 w 2448"/>
                <a:gd name="T7" fmla="*/ 0 h 3264"/>
                <a:gd name="T8" fmla="*/ 2448 w 2448"/>
                <a:gd name="T9" fmla="*/ 0 h 3264"/>
                <a:gd name="T10" fmla="*/ 2448 w 2448"/>
                <a:gd name="T11" fmla="*/ 523 h 326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9716"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9717"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9718"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9719"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9720"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grpSp>
      <p:sp>
        <p:nvSpPr>
          <p:cNvPr id="25" name="Text Box 11"/>
          <p:cNvSpPr txBox="1">
            <a:spLocks noChangeArrowheads="1"/>
          </p:cNvSpPr>
          <p:nvPr/>
        </p:nvSpPr>
        <p:spPr bwMode="auto">
          <a:xfrm>
            <a:off x="5637213" y="4121944"/>
            <a:ext cx="265906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zh-CN" altLang="en-US" sz="2800"/>
              <a:t>在</a:t>
            </a:r>
            <a:r>
              <a:rPr lang="en-US" altLang="zh-CN" sz="2800"/>
              <a:t>B2</a:t>
            </a:r>
            <a:r>
              <a:rPr lang="zh-CN" altLang="en-US" sz="2800"/>
              <a:t>中</a:t>
            </a:r>
            <a:r>
              <a:rPr lang="en-US" altLang="zh-CN" sz="2800"/>
              <a:t>T3=a[T2]</a:t>
            </a:r>
            <a:r>
              <a:rPr lang="zh-CN" altLang="en-US" sz="2800"/>
              <a:t>因此，</a:t>
            </a:r>
            <a:r>
              <a:rPr lang="en-US" altLang="zh-CN" sz="2800"/>
              <a:t>x=T3</a:t>
            </a:r>
          </a:p>
        </p:txBody>
      </p:sp>
    </p:spTree>
    <p:extLst>
      <p:ext uri="{BB962C8B-B14F-4D97-AF65-F5344CB8AC3E}">
        <p14:creationId xmlns:p14="http://schemas.microsoft.com/office/powerpoint/2010/main" val="27368557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6246814" y="95250"/>
            <a:ext cx="29495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
                <a:schemeClr val="accent2"/>
              </a:buClr>
              <a:buSzPct val="75000"/>
              <a:buFont typeface="Wingdings" pitchFamily="2" charset="2"/>
              <a:buChar char="q"/>
            </a:pPr>
            <a:r>
              <a:rPr lang="zh-CN" altLang="en-US" sz="2800" b="1"/>
              <a:t>复写传播(一)后</a:t>
            </a:r>
            <a:endParaRPr lang="zh-CN" altLang="en-US" sz="2800" b="1">
              <a:latin typeface="宋体" pitchFamily="2" charset="-122"/>
            </a:endParaRPr>
          </a:p>
        </p:txBody>
      </p:sp>
      <p:grpSp>
        <p:nvGrpSpPr>
          <p:cNvPr id="30723" name="Group 3"/>
          <p:cNvGrpSpPr>
            <a:grpSpLocks/>
          </p:cNvGrpSpPr>
          <p:nvPr/>
        </p:nvGrpSpPr>
        <p:grpSpPr bwMode="auto">
          <a:xfrm>
            <a:off x="685800" y="357188"/>
            <a:ext cx="8458200" cy="4171950"/>
            <a:chOff x="576" y="528"/>
            <a:chExt cx="5328" cy="3504"/>
          </a:xfrm>
        </p:grpSpPr>
        <p:sp>
          <p:nvSpPr>
            <p:cNvPr id="30724"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i=m-1</a:t>
              </a:r>
            </a:p>
            <a:p>
              <a:pPr eaLnBrk="1" hangingPunct="1">
                <a:spcBef>
                  <a:spcPct val="0"/>
                </a:spcBef>
                <a:buFontTx/>
                <a:buNone/>
              </a:pPr>
              <a:r>
                <a:rPr lang="en-US" altLang="zh-CN" sz="1600" b="1"/>
                <a:t>j=n</a:t>
              </a:r>
            </a:p>
            <a:p>
              <a:pPr eaLnBrk="1" hangingPunct="1">
                <a:spcBef>
                  <a:spcPct val="0"/>
                </a:spcBef>
                <a:buFontTx/>
                <a:buNone/>
              </a:pPr>
              <a:r>
                <a:rPr lang="en-US" altLang="zh-CN" sz="1600" b="1"/>
                <a:t>T</a:t>
              </a:r>
              <a:r>
                <a:rPr lang="en-US" altLang="zh-CN" sz="1600" b="1" baseline="-25000"/>
                <a:t>1</a:t>
              </a:r>
              <a:r>
                <a:rPr lang="en-US" altLang="zh-CN" sz="1600" b="1"/>
                <a:t>=4*n</a:t>
              </a:r>
            </a:p>
            <a:p>
              <a:pPr eaLnBrk="1" hangingPunct="1">
                <a:spcBef>
                  <a:spcPct val="0"/>
                </a:spcBef>
                <a:buFontTx/>
                <a:buNone/>
              </a:pPr>
              <a:r>
                <a:rPr lang="en-US" altLang="zh-CN" sz="1600" b="1">
                  <a:solidFill>
                    <a:srgbClr val="FF3300"/>
                  </a:solidFill>
                </a:rPr>
                <a:t>v=a[T</a:t>
              </a:r>
              <a:r>
                <a:rPr lang="en-US" altLang="zh-CN" sz="1600" b="1" baseline="-25000">
                  <a:solidFill>
                    <a:srgbClr val="FF3300"/>
                  </a:solidFill>
                </a:rPr>
                <a:t>1</a:t>
              </a:r>
              <a:r>
                <a:rPr lang="en-US" altLang="zh-CN" sz="1600" b="1">
                  <a:solidFill>
                    <a:srgbClr val="FF3300"/>
                  </a:solidFill>
                </a:rPr>
                <a:t>]</a:t>
              </a:r>
            </a:p>
          </p:txBody>
        </p:sp>
        <p:sp>
          <p:nvSpPr>
            <p:cNvPr id="30725" name="Rectangle 5"/>
            <p:cNvSpPr>
              <a:spLocks noChangeArrowheads="1"/>
            </p:cNvSpPr>
            <p:nvPr/>
          </p:nvSpPr>
          <p:spPr bwMode="auto">
            <a:xfrm>
              <a:off x="2064" y="1008"/>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1</a:t>
              </a:r>
              <a:endParaRPr lang="en-US" altLang="zh-CN" sz="1800"/>
            </a:p>
          </p:txBody>
        </p:sp>
        <p:sp>
          <p:nvSpPr>
            <p:cNvPr id="30726"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i=i+1</a:t>
              </a:r>
            </a:p>
            <a:p>
              <a:pPr eaLnBrk="1" hangingPunct="1">
                <a:spcBef>
                  <a:spcPct val="0"/>
                </a:spcBef>
                <a:buFontTx/>
                <a:buNone/>
              </a:pPr>
              <a:r>
                <a:rPr lang="en-US" altLang="zh-CN" sz="1600" b="1"/>
                <a:t>T</a:t>
              </a:r>
              <a:r>
                <a:rPr lang="en-US" altLang="zh-CN" sz="1600" b="1" baseline="-25000"/>
                <a:t>2</a:t>
              </a:r>
              <a:r>
                <a:rPr lang="en-US" altLang="zh-CN" sz="1600" b="1"/>
                <a:t>=4*i </a:t>
              </a:r>
            </a:p>
            <a:p>
              <a:pPr eaLnBrk="1" hangingPunct="1">
                <a:spcBef>
                  <a:spcPct val="0"/>
                </a:spcBef>
                <a:buFontTx/>
                <a:buNone/>
              </a:pPr>
              <a:r>
                <a:rPr lang="en-US" altLang="zh-CN" sz="1600" b="1">
                  <a:solidFill>
                    <a:srgbClr val="FF3300"/>
                  </a:solidFill>
                </a:rPr>
                <a:t>T</a:t>
              </a:r>
              <a:r>
                <a:rPr lang="en-US" altLang="zh-CN" sz="1600" b="1" baseline="-25000">
                  <a:solidFill>
                    <a:srgbClr val="FF3300"/>
                  </a:solidFill>
                </a:rPr>
                <a:t>3</a:t>
              </a:r>
              <a:r>
                <a:rPr lang="en-US" altLang="zh-CN" sz="1600" b="1">
                  <a:solidFill>
                    <a:srgbClr val="FF3300"/>
                  </a:solidFill>
                </a:rPr>
                <a:t>=a[T</a:t>
              </a:r>
              <a:r>
                <a:rPr lang="en-US" altLang="zh-CN" sz="1600" b="1" baseline="-25000">
                  <a:solidFill>
                    <a:srgbClr val="FF3300"/>
                  </a:solidFill>
                </a:rPr>
                <a:t>2</a:t>
              </a:r>
              <a:r>
                <a:rPr lang="en-US" altLang="zh-CN" sz="1600" b="1">
                  <a:solidFill>
                    <a:srgbClr val="FF3300"/>
                  </a:solidFill>
                </a:rPr>
                <a:t>]</a:t>
              </a:r>
            </a:p>
            <a:p>
              <a:pPr eaLnBrk="1" hangingPunct="1">
                <a:spcBef>
                  <a:spcPct val="0"/>
                </a:spcBef>
                <a:buFontTx/>
                <a:buNone/>
              </a:pPr>
              <a:r>
                <a:rPr lang="en-US" altLang="zh-CN" sz="1600" b="1"/>
                <a:t>if T</a:t>
              </a:r>
              <a:r>
                <a:rPr lang="en-US" altLang="zh-CN" sz="1600" b="1" baseline="-25000"/>
                <a:t>3</a:t>
              </a:r>
              <a:r>
                <a:rPr lang="en-US" altLang="zh-CN" sz="1600" b="1"/>
                <a:t>&lt;v goto B</a:t>
              </a:r>
              <a:r>
                <a:rPr lang="en-US" altLang="zh-CN" sz="1600" b="1" baseline="-25000"/>
                <a:t>2</a:t>
              </a:r>
            </a:p>
          </p:txBody>
        </p:sp>
        <p:sp>
          <p:nvSpPr>
            <p:cNvPr id="30727" name="Rectangle 7"/>
            <p:cNvSpPr>
              <a:spLocks noChangeArrowheads="1"/>
            </p:cNvSpPr>
            <p:nvPr/>
          </p:nvSpPr>
          <p:spPr bwMode="auto">
            <a:xfrm>
              <a:off x="2064" y="192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2</a:t>
              </a:r>
              <a:endParaRPr lang="en-US" altLang="zh-CN" sz="1800"/>
            </a:p>
          </p:txBody>
        </p:sp>
        <p:sp>
          <p:nvSpPr>
            <p:cNvPr id="30728"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j=j-1</a:t>
              </a:r>
            </a:p>
            <a:p>
              <a:pPr eaLnBrk="1" hangingPunct="1">
                <a:spcBef>
                  <a:spcPct val="0"/>
                </a:spcBef>
                <a:buFontTx/>
                <a:buNone/>
              </a:pPr>
              <a:r>
                <a:rPr lang="en-US" altLang="zh-CN" sz="1600" b="1"/>
                <a:t>T</a:t>
              </a:r>
              <a:r>
                <a:rPr lang="en-US" altLang="zh-CN" sz="1600" b="1" baseline="-25000"/>
                <a:t>4</a:t>
              </a:r>
              <a:r>
                <a:rPr lang="en-US" altLang="zh-CN" sz="1600" b="1"/>
                <a:t>=4*j </a:t>
              </a:r>
            </a:p>
            <a:p>
              <a:pPr eaLnBrk="1" hangingPunct="1">
                <a:spcBef>
                  <a:spcPct val="0"/>
                </a:spcBef>
                <a:buFontTx/>
                <a:buNone/>
              </a:pPr>
              <a:r>
                <a:rPr lang="en-US" altLang="zh-CN" sz="1600" b="1">
                  <a:solidFill>
                    <a:srgbClr val="FF3300"/>
                  </a:solidFill>
                </a:rPr>
                <a:t>T</a:t>
              </a:r>
              <a:r>
                <a:rPr lang="en-US" altLang="zh-CN" sz="1600" b="1" baseline="-25000">
                  <a:solidFill>
                    <a:srgbClr val="FF3300"/>
                  </a:solidFill>
                </a:rPr>
                <a:t>5</a:t>
              </a:r>
              <a:r>
                <a:rPr lang="en-US" altLang="zh-CN" sz="1600" b="1">
                  <a:solidFill>
                    <a:srgbClr val="FF3300"/>
                  </a:solidFill>
                </a:rPr>
                <a:t>=a[T</a:t>
              </a:r>
              <a:r>
                <a:rPr lang="en-US" altLang="zh-CN" sz="1600" b="1" baseline="-25000">
                  <a:solidFill>
                    <a:srgbClr val="FF3300"/>
                  </a:solidFill>
                </a:rPr>
                <a:t>4</a:t>
              </a:r>
              <a:r>
                <a:rPr lang="en-US" altLang="zh-CN" sz="1600" b="1">
                  <a:solidFill>
                    <a:srgbClr val="FF3300"/>
                  </a:solidFill>
                </a:rPr>
                <a:t>]</a:t>
              </a:r>
            </a:p>
            <a:p>
              <a:pPr eaLnBrk="1" hangingPunct="1">
                <a:spcBef>
                  <a:spcPct val="0"/>
                </a:spcBef>
                <a:buFontTx/>
                <a:buNone/>
              </a:pPr>
              <a:r>
                <a:rPr lang="en-US" altLang="zh-CN" sz="1600" b="1"/>
                <a:t>if T</a:t>
              </a:r>
              <a:r>
                <a:rPr lang="en-US" altLang="zh-CN" sz="1600" b="1" baseline="-25000"/>
                <a:t>5</a:t>
              </a:r>
              <a:r>
                <a:rPr lang="en-US" altLang="zh-CN" sz="1600" b="1"/>
                <a:t>&gt;v goto B</a:t>
              </a:r>
              <a:r>
                <a:rPr lang="en-US" altLang="zh-CN" sz="1600" b="1" baseline="-25000"/>
                <a:t>3</a:t>
              </a:r>
            </a:p>
          </p:txBody>
        </p:sp>
        <p:sp>
          <p:nvSpPr>
            <p:cNvPr id="30729" name="Rectangle 9"/>
            <p:cNvSpPr>
              <a:spLocks noChangeArrowheads="1"/>
            </p:cNvSpPr>
            <p:nvPr/>
          </p:nvSpPr>
          <p:spPr bwMode="auto">
            <a:xfrm>
              <a:off x="2064" y="288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3</a:t>
              </a:r>
              <a:endParaRPr lang="en-US" altLang="zh-CN" sz="1800"/>
            </a:p>
          </p:txBody>
        </p:sp>
        <p:sp>
          <p:nvSpPr>
            <p:cNvPr id="30730"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if i&gt;=j goto B</a:t>
              </a:r>
              <a:r>
                <a:rPr lang="en-US" altLang="zh-CN" sz="1600" b="1" baseline="-25000"/>
                <a:t>6</a:t>
              </a:r>
            </a:p>
          </p:txBody>
        </p:sp>
        <p:sp>
          <p:nvSpPr>
            <p:cNvPr id="30731" name="Rectangle 11"/>
            <p:cNvSpPr>
              <a:spLocks noChangeArrowheads="1"/>
            </p:cNvSpPr>
            <p:nvPr/>
          </p:nvSpPr>
          <p:spPr bwMode="auto">
            <a:xfrm>
              <a:off x="4512" y="96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4</a:t>
              </a:r>
              <a:endParaRPr lang="en-US" altLang="zh-CN" sz="1800"/>
            </a:p>
          </p:txBody>
        </p:sp>
        <p:sp>
          <p:nvSpPr>
            <p:cNvPr id="30732"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T</a:t>
              </a:r>
              <a:r>
                <a:rPr lang="en-US" altLang="zh-CN" sz="1600" b="1" baseline="-30000"/>
                <a:t>6</a:t>
              </a:r>
              <a:r>
                <a:rPr lang="en-US" altLang="zh-CN" sz="1600" b="1"/>
                <a:t>= T</a:t>
              </a:r>
              <a:r>
                <a:rPr lang="en-US" altLang="zh-CN" sz="1600" b="1" baseline="-25000"/>
                <a:t>2</a:t>
              </a:r>
              <a:endParaRPr lang="en-US" altLang="zh-CN" sz="1600" b="1"/>
            </a:p>
            <a:p>
              <a:pPr eaLnBrk="1" hangingPunct="1">
                <a:spcBef>
                  <a:spcPct val="0"/>
                </a:spcBef>
                <a:buFontTx/>
                <a:buNone/>
              </a:pPr>
              <a:r>
                <a:rPr lang="en-US" altLang="zh-CN" sz="1600" b="1">
                  <a:solidFill>
                    <a:srgbClr val="FF3300"/>
                  </a:solidFill>
                </a:rPr>
                <a:t>x=a[T</a:t>
              </a:r>
              <a:r>
                <a:rPr lang="en-US" altLang="zh-CN" sz="1600" b="1" baseline="-30000">
                  <a:solidFill>
                    <a:srgbClr val="FF3300"/>
                  </a:solidFill>
                </a:rPr>
                <a:t>2</a:t>
              </a:r>
              <a:r>
                <a:rPr lang="en-US" altLang="zh-CN" sz="1600" b="1">
                  <a:solidFill>
                    <a:srgbClr val="FF3300"/>
                  </a:solidFill>
                </a:rPr>
                <a:t>]</a:t>
              </a:r>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7</a:t>
              </a:r>
              <a:r>
                <a:rPr lang="en-US" altLang="zh-CN" sz="1600" b="1">
                  <a:solidFill>
                    <a:srgbClr val="FF3300"/>
                  </a:solidFill>
                </a:rPr>
                <a:t>= T</a:t>
              </a:r>
              <a:r>
                <a:rPr lang="en-US" altLang="zh-CN" sz="1600" b="1" baseline="-30000">
                  <a:solidFill>
                    <a:srgbClr val="FF3300"/>
                  </a:solidFill>
                </a:rPr>
                <a:t>2</a:t>
              </a:r>
              <a:endParaRPr lang="en-US" altLang="zh-CN" sz="1600" b="1">
                <a:solidFill>
                  <a:srgbClr val="FF3300"/>
                </a:solidFill>
              </a:endParaRPr>
            </a:p>
            <a:p>
              <a:pPr eaLnBrk="1" hangingPunct="1">
                <a:spcBef>
                  <a:spcPct val="0"/>
                </a:spcBef>
                <a:buFontTx/>
                <a:buNone/>
              </a:pPr>
              <a:r>
                <a:rPr lang="en-US" altLang="zh-CN" sz="1600" b="1"/>
                <a:t>T</a:t>
              </a:r>
              <a:r>
                <a:rPr lang="en-US" altLang="zh-CN" sz="1600" b="1" baseline="-30000"/>
                <a:t>8</a:t>
              </a:r>
              <a:r>
                <a:rPr lang="en-US" altLang="zh-CN" sz="1600" b="1"/>
                <a:t>= T</a:t>
              </a:r>
              <a:r>
                <a:rPr lang="en-US" altLang="zh-CN" sz="1600" b="1" baseline="-25000"/>
                <a:t>4</a:t>
              </a:r>
              <a:endParaRPr lang="en-US" altLang="zh-CN" sz="1600" b="1"/>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9</a:t>
              </a:r>
              <a:r>
                <a:rPr lang="en-US" altLang="zh-CN" sz="1600" b="1">
                  <a:solidFill>
                    <a:srgbClr val="FF3300"/>
                  </a:solidFill>
                </a:rPr>
                <a:t>=a [T</a:t>
              </a:r>
              <a:r>
                <a:rPr lang="en-US" altLang="zh-CN" sz="1600" b="1" baseline="-30000">
                  <a:solidFill>
                    <a:srgbClr val="FF3300"/>
                  </a:solidFill>
                </a:rPr>
                <a:t>4</a:t>
              </a:r>
              <a:r>
                <a:rPr lang="en-US" altLang="zh-CN" sz="1600" b="1">
                  <a:solidFill>
                    <a:srgbClr val="FF3300"/>
                  </a:solidFill>
                </a:rPr>
                <a:t>]</a:t>
              </a:r>
            </a:p>
            <a:p>
              <a:pPr eaLnBrk="1" hangingPunct="1">
                <a:spcBef>
                  <a:spcPct val="0"/>
                </a:spcBef>
                <a:buFontTx/>
                <a:buNone/>
              </a:pPr>
              <a:r>
                <a:rPr lang="en-US" altLang="zh-CN" sz="1600" b="1">
                  <a:solidFill>
                    <a:srgbClr val="FF3300"/>
                  </a:solidFill>
                </a:rPr>
                <a:t>a [T</a:t>
              </a:r>
              <a:r>
                <a:rPr lang="en-US" altLang="zh-CN" sz="1600" b="1" baseline="-30000">
                  <a:solidFill>
                    <a:srgbClr val="FF3300"/>
                  </a:solidFill>
                </a:rPr>
                <a:t>2</a:t>
              </a:r>
              <a:r>
                <a:rPr lang="en-US" altLang="zh-CN" sz="1600" b="1">
                  <a:solidFill>
                    <a:srgbClr val="FF3300"/>
                  </a:solidFill>
                </a:rPr>
                <a:t>]=T</a:t>
              </a:r>
              <a:r>
                <a:rPr lang="en-US" altLang="zh-CN" sz="1600" b="1" baseline="-30000">
                  <a:solidFill>
                    <a:srgbClr val="FF3300"/>
                  </a:solidFill>
                </a:rPr>
                <a:t>9</a:t>
              </a:r>
              <a:endParaRPr lang="en-US" altLang="zh-CN" sz="1600" b="1">
                <a:solidFill>
                  <a:srgbClr val="FF3300"/>
                </a:solidFill>
              </a:endParaRPr>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10</a:t>
              </a:r>
              <a:r>
                <a:rPr lang="en-US" altLang="zh-CN" sz="1600" b="1">
                  <a:solidFill>
                    <a:srgbClr val="FF3300"/>
                  </a:solidFill>
                </a:rPr>
                <a:t>= T</a:t>
              </a:r>
              <a:r>
                <a:rPr lang="en-US" altLang="zh-CN" sz="1600" b="1" baseline="-30000">
                  <a:solidFill>
                    <a:srgbClr val="FF3300"/>
                  </a:solidFill>
                </a:rPr>
                <a:t>4</a:t>
              </a:r>
              <a:endParaRPr lang="en-US" altLang="zh-CN" sz="1600" b="1">
                <a:solidFill>
                  <a:srgbClr val="FF3300"/>
                </a:solidFill>
              </a:endParaRPr>
            </a:p>
            <a:p>
              <a:pPr eaLnBrk="1" hangingPunct="1">
                <a:spcBef>
                  <a:spcPct val="0"/>
                </a:spcBef>
                <a:buFontTx/>
                <a:buNone/>
              </a:pPr>
              <a:r>
                <a:rPr lang="en-US" altLang="zh-CN" sz="1600" b="1">
                  <a:solidFill>
                    <a:srgbClr val="FF3300"/>
                  </a:solidFill>
                </a:rPr>
                <a:t>a [T</a:t>
              </a:r>
              <a:r>
                <a:rPr lang="en-US" altLang="zh-CN" sz="1600" b="1" baseline="-30000">
                  <a:solidFill>
                    <a:srgbClr val="FF3300"/>
                  </a:solidFill>
                </a:rPr>
                <a:t>4</a:t>
              </a:r>
              <a:r>
                <a:rPr lang="en-US" altLang="zh-CN" sz="1600" b="1">
                  <a:solidFill>
                    <a:srgbClr val="FF3300"/>
                  </a:solidFill>
                </a:rPr>
                <a:t>]=x</a:t>
              </a:r>
            </a:p>
            <a:p>
              <a:pPr eaLnBrk="1" hangingPunct="1">
                <a:spcBef>
                  <a:spcPct val="0"/>
                </a:spcBef>
                <a:buFontTx/>
                <a:buNone/>
              </a:pPr>
              <a:r>
                <a:rPr lang="en-US" altLang="zh-CN" sz="1600" b="1"/>
                <a:t>goto B</a:t>
              </a:r>
              <a:r>
                <a:rPr lang="en-US" altLang="zh-CN" sz="1600" b="1" baseline="-30000"/>
                <a:t>2</a:t>
              </a:r>
            </a:p>
          </p:txBody>
        </p:sp>
        <p:sp>
          <p:nvSpPr>
            <p:cNvPr id="30733" name="Rectangle 13"/>
            <p:cNvSpPr>
              <a:spLocks noChangeArrowheads="1"/>
            </p:cNvSpPr>
            <p:nvPr/>
          </p:nvSpPr>
          <p:spPr bwMode="auto">
            <a:xfrm>
              <a:off x="3984" y="1824"/>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5</a:t>
              </a:r>
              <a:endParaRPr lang="en-US" altLang="zh-CN" sz="1800"/>
            </a:p>
          </p:txBody>
        </p:sp>
        <p:sp>
          <p:nvSpPr>
            <p:cNvPr id="30734"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T</a:t>
              </a:r>
              <a:r>
                <a:rPr lang="en-US" altLang="zh-CN" sz="1600" b="1" baseline="-30000"/>
                <a:t>11</a:t>
              </a:r>
              <a:r>
                <a:rPr lang="en-US" altLang="zh-CN" sz="1600" b="1"/>
                <a:t>= T</a:t>
              </a:r>
              <a:r>
                <a:rPr lang="en-US" altLang="zh-CN" sz="1600" b="1" baseline="-25000"/>
                <a:t>2</a:t>
              </a:r>
              <a:endParaRPr lang="en-US" altLang="zh-CN" sz="1600" b="1"/>
            </a:p>
            <a:p>
              <a:pPr eaLnBrk="1" hangingPunct="1">
                <a:spcBef>
                  <a:spcPct val="0"/>
                </a:spcBef>
                <a:buFontTx/>
                <a:buNone/>
              </a:pPr>
              <a:r>
                <a:rPr lang="en-US" altLang="zh-CN" sz="1600" b="1">
                  <a:solidFill>
                    <a:srgbClr val="FF3300"/>
                  </a:solidFill>
                </a:rPr>
                <a:t>x=a [T</a:t>
              </a:r>
              <a:r>
                <a:rPr lang="en-US" altLang="zh-CN" sz="1600" b="1" baseline="-30000">
                  <a:solidFill>
                    <a:srgbClr val="FF3300"/>
                  </a:solidFill>
                </a:rPr>
                <a:t>2</a:t>
              </a:r>
              <a:r>
                <a:rPr lang="en-US" altLang="zh-CN" sz="1600" b="1">
                  <a:solidFill>
                    <a:srgbClr val="FF3300"/>
                  </a:solidFill>
                </a:rPr>
                <a:t>]</a:t>
              </a:r>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12</a:t>
              </a:r>
              <a:r>
                <a:rPr lang="en-US" altLang="zh-CN" sz="1600" b="1">
                  <a:solidFill>
                    <a:srgbClr val="FF3300"/>
                  </a:solidFill>
                </a:rPr>
                <a:t>= T</a:t>
              </a:r>
              <a:r>
                <a:rPr lang="en-US" altLang="zh-CN" sz="1600" b="1" baseline="-30000">
                  <a:solidFill>
                    <a:srgbClr val="FF3300"/>
                  </a:solidFill>
                </a:rPr>
                <a:t>2</a:t>
              </a:r>
              <a:endParaRPr lang="en-US" altLang="zh-CN" sz="1600" b="1">
                <a:solidFill>
                  <a:srgbClr val="FF3300"/>
                </a:solidFill>
              </a:endParaRPr>
            </a:p>
            <a:p>
              <a:pPr eaLnBrk="1" hangingPunct="1">
                <a:spcBef>
                  <a:spcPct val="0"/>
                </a:spcBef>
                <a:buFontTx/>
                <a:buNone/>
              </a:pPr>
              <a:r>
                <a:rPr lang="en-US" altLang="zh-CN" sz="1600" b="1"/>
                <a:t>T</a:t>
              </a:r>
              <a:r>
                <a:rPr lang="en-US" altLang="zh-CN" sz="1600" b="1" baseline="-30000"/>
                <a:t>13</a:t>
              </a:r>
              <a:r>
                <a:rPr lang="en-US" altLang="zh-CN" sz="1600" b="1"/>
                <a:t>= T</a:t>
              </a:r>
              <a:r>
                <a:rPr lang="en-US" altLang="zh-CN" sz="1600" b="1" baseline="-25000"/>
                <a:t>1</a:t>
              </a:r>
              <a:endParaRPr lang="en-US" altLang="zh-CN" sz="1600" b="1"/>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14</a:t>
              </a:r>
              <a:r>
                <a:rPr lang="en-US" altLang="zh-CN" sz="1600" b="1">
                  <a:solidFill>
                    <a:srgbClr val="FF3300"/>
                  </a:solidFill>
                </a:rPr>
                <a:t>=a [T</a:t>
              </a:r>
              <a:r>
                <a:rPr lang="en-US" altLang="zh-CN" sz="1600" b="1" baseline="-30000">
                  <a:solidFill>
                    <a:srgbClr val="FF3300"/>
                  </a:solidFill>
                </a:rPr>
                <a:t>1</a:t>
              </a:r>
              <a:r>
                <a:rPr lang="en-US" altLang="zh-CN" sz="1600" b="1">
                  <a:solidFill>
                    <a:srgbClr val="FF3300"/>
                  </a:solidFill>
                </a:rPr>
                <a:t>]</a:t>
              </a:r>
            </a:p>
            <a:p>
              <a:pPr eaLnBrk="1" hangingPunct="1">
                <a:spcBef>
                  <a:spcPct val="0"/>
                </a:spcBef>
                <a:buFontTx/>
                <a:buNone/>
              </a:pPr>
              <a:r>
                <a:rPr lang="en-US" altLang="zh-CN" sz="1600" b="1">
                  <a:solidFill>
                    <a:srgbClr val="FF3300"/>
                  </a:solidFill>
                </a:rPr>
                <a:t>a [T</a:t>
              </a:r>
              <a:r>
                <a:rPr lang="en-US" altLang="zh-CN" sz="1600" b="1" baseline="-30000">
                  <a:solidFill>
                    <a:srgbClr val="FF3300"/>
                  </a:solidFill>
                </a:rPr>
                <a:t>2</a:t>
              </a:r>
              <a:r>
                <a:rPr lang="en-US" altLang="zh-CN" sz="1600" b="1">
                  <a:solidFill>
                    <a:srgbClr val="FF3300"/>
                  </a:solidFill>
                </a:rPr>
                <a:t>]=T</a:t>
              </a:r>
              <a:r>
                <a:rPr lang="en-US" altLang="zh-CN" sz="1600" b="1" baseline="-30000">
                  <a:solidFill>
                    <a:srgbClr val="FF3300"/>
                  </a:solidFill>
                </a:rPr>
                <a:t>14</a:t>
              </a:r>
              <a:endParaRPr lang="en-US" altLang="zh-CN" sz="1600" b="1">
                <a:solidFill>
                  <a:srgbClr val="FF3300"/>
                </a:solidFill>
              </a:endParaRPr>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15</a:t>
              </a:r>
              <a:r>
                <a:rPr lang="en-US" altLang="zh-CN" sz="1600" b="1">
                  <a:solidFill>
                    <a:srgbClr val="FF3300"/>
                  </a:solidFill>
                </a:rPr>
                <a:t>= T</a:t>
              </a:r>
              <a:r>
                <a:rPr lang="en-US" altLang="zh-CN" sz="1600" b="1" baseline="-25000">
                  <a:solidFill>
                    <a:srgbClr val="FF3300"/>
                  </a:solidFill>
                </a:rPr>
                <a:t>1</a:t>
              </a:r>
              <a:endParaRPr lang="en-US" altLang="zh-CN" sz="1600" b="1">
                <a:solidFill>
                  <a:srgbClr val="FF3300"/>
                </a:solidFill>
              </a:endParaRPr>
            </a:p>
            <a:p>
              <a:pPr eaLnBrk="1" hangingPunct="1">
                <a:spcBef>
                  <a:spcPct val="0"/>
                </a:spcBef>
                <a:buFontTx/>
                <a:buNone/>
              </a:pPr>
              <a:r>
                <a:rPr lang="en-US" altLang="zh-CN" sz="1600" b="1">
                  <a:solidFill>
                    <a:srgbClr val="FF3300"/>
                  </a:solidFill>
                </a:rPr>
                <a:t>a [T</a:t>
              </a:r>
              <a:r>
                <a:rPr lang="en-US" altLang="zh-CN" sz="1600" b="1" baseline="-30000">
                  <a:solidFill>
                    <a:srgbClr val="FF3300"/>
                  </a:solidFill>
                </a:rPr>
                <a:t>1</a:t>
              </a:r>
              <a:r>
                <a:rPr lang="en-US" altLang="zh-CN" sz="1600" b="1">
                  <a:solidFill>
                    <a:srgbClr val="FF3300"/>
                  </a:solidFill>
                </a:rPr>
                <a:t>]=x</a:t>
              </a:r>
            </a:p>
            <a:p>
              <a:pPr eaLnBrk="1" hangingPunct="1">
                <a:spcBef>
                  <a:spcPct val="0"/>
                </a:spcBef>
                <a:buFontTx/>
                <a:buNone/>
              </a:pPr>
              <a:endParaRPr lang="en-US" altLang="zh-CN" sz="1600" b="1" baseline="-30000">
                <a:solidFill>
                  <a:srgbClr val="FF3300"/>
                </a:solidFill>
              </a:endParaRPr>
            </a:p>
          </p:txBody>
        </p:sp>
        <p:sp>
          <p:nvSpPr>
            <p:cNvPr id="30735" name="Rectangle 15"/>
            <p:cNvSpPr>
              <a:spLocks noChangeArrowheads="1"/>
            </p:cNvSpPr>
            <p:nvPr/>
          </p:nvSpPr>
          <p:spPr bwMode="auto">
            <a:xfrm>
              <a:off x="5520" y="1824"/>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6</a:t>
              </a:r>
              <a:endParaRPr lang="en-US" altLang="zh-CN" sz="1800"/>
            </a:p>
          </p:txBody>
        </p:sp>
        <p:sp>
          <p:nvSpPr>
            <p:cNvPr id="30736"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0737"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0738" name="Freeform 18"/>
            <p:cNvSpPr>
              <a:spLocks/>
            </p:cNvSpPr>
            <p:nvPr/>
          </p:nvSpPr>
          <p:spPr bwMode="auto">
            <a:xfrm>
              <a:off x="1631" y="528"/>
              <a:ext cx="2448" cy="3408"/>
            </a:xfrm>
            <a:custGeom>
              <a:avLst/>
              <a:gdLst>
                <a:gd name="T0" fmla="*/ 0 w 2448"/>
                <a:gd name="T1" fmla="*/ 3454 h 3264"/>
                <a:gd name="T2" fmla="*/ 0 w 2448"/>
                <a:gd name="T3" fmla="*/ 3558 h 3264"/>
                <a:gd name="T4" fmla="*/ 1008 w 2448"/>
                <a:gd name="T5" fmla="*/ 3558 h 3264"/>
                <a:gd name="T6" fmla="*/ 1008 w 2448"/>
                <a:gd name="T7" fmla="*/ 0 h 3264"/>
                <a:gd name="T8" fmla="*/ 2448 w 2448"/>
                <a:gd name="T9" fmla="*/ 0 h 3264"/>
                <a:gd name="T10" fmla="*/ 2448 w 2448"/>
                <a:gd name="T11" fmla="*/ 523 h 326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0739"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0740"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0741"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0742"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0743"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grpSp>
    </p:spTree>
    <p:extLst>
      <p:ext uri="{BB962C8B-B14F-4D97-AF65-F5344CB8AC3E}">
        <p14:creationId xmlns:p14="http://schemas.microsoft.com/office/powerpoint/2010/main" val="24268569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6132513" y="57150"/>
            <a:ext cx="32385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
                <a:schemeClr val="accent2"/>
              </a:buClr>
              <a:buSzPct val="75000"/>
              <a:buFont typeface="Wingdings" pitchFamily="2" charset="2"/>
              <a:buChar char="q"/>
            </a:pPr>
            <a:r>
              <a:rPr lang="zh-CN" altLang="en-US" sz="2800" b="1"/>
              <a:t>复写传播(二)后</a:t>
            </a:r>
          </a:p>
        </p:txBody>
      </p:sp>
      <p:grpSp>
        <p:nvGrpSpPr>
          <p:cNvPr id="31747" name="Group 3"/>
          <p:cNvGrpSpPr>
            <a:grpSpLocks/>
          </p:cNvGrpSpPr>
          <p:nvPr/>
        </p:nvGrpSpPr>
        <p:grpSpPr bwMode="auto">
          <a:xfrm>
            <a:off x="685800" y="411956"/>
            <a:ext cx="8458200" cy="4171950"/>
            <a:chOff x="576" y="528"/>
            <a:chExt cx="5328" cy="3504"/>
          </a:xfrm>
        </p:grpSpPr>
        <p:sp>
          <p:nvSpPr>
            <p:cNvPr id="31748"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i=m-1</a:t>
              </a:r>
            </a:p>
            <a:p>
              <a:pPr eaLnBrk="1" hangingPunct="1">
                <a:spcBef>
                  <a:spcPct val="0"/>
                </a:spcBef>
                <a:buFontTx/>
                <a:buNone/>
              </a:pPr>
              <a:r>
                <a:rPr lang="en-US" altLang="zh-CN" sz="1600" b="1"/>
                <a:t>j=n</a:t>
              </a:r>
            </a:p>
            <a:p>
              <a:pPr eaLnBrk="1" hangingPunct="1">
                <a:spcBef>
                  <a:spcPct val="0"/>
                </a:spcBef>
                <a:buFontTx/>
                <a:buNone/>
              </a:pPr>
              <a:r>
                <a:rPr lang="en-US" altLang="zh-CN" sz="1600" b="1"/>
                <a:t>T</a:t>
              </a:r>
              <a:r>
                <a:rPr lang="en-US" altLang="zh-CN" sz="1600" b="1" baseline="-25000"/>
                <a:t>1</a:t>
              </a:r>
              <a:r>
                <a:rPr lang="en-US" altLang="zh-CN" sz="1600" b="1"/>
                <a:t>=4*n</a:t>
              </a:r>
            </a:p>
            <a:p>
              <a:pPr eaLnBrk="1" hangingPunct="1">
                <a:spcBef>
                  <a:spcPct val="0"/>
                </a:spcBef>
                <a:buFontTx/>
                <a:buNone/>
              </a:pPr>
              <a:r>
                <a:rPr lang="en-US" altLang="zh-CN" sz="1600" b="1"/>
                <a:t>v=a[T</a:t>
              </a:r>
              <a:r>
                <a:rPr lang="en-US" altLang="zh-CN" sz="1600" b="1" baseline="-25000"/>
                <a:t>1</a:t>
              </a:r>
              <a:r>
                <a:rPr lang="en-US" altLang="zh-CN" sz="1600" b="1"/>
                <a:t>]</a:t>
              </a:r>
            </a:p>
          </p:txBody>
        </p:sp>
        <p:sp>
          <p:nvSpPr>
            <p:cNvPr id="31749" name="Rectangle 5"/>
            <p:cNvSpPr>
              <a:spLocks noChangeArrowheads="1"/>
            </p:cNvSpPr>
            <p:nvPr/>
          </p:nvSpPr>
          <p:spPr bwMode="auto">
            <a:xfrm>
              <a:off x="2064" y="1008"/>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1</a:t>
              </a:r>
              <a:endParaRPr lang="en-US" altLang="zh-CN" sz="1800"/>
            </a:p>
          </p:txBody>
        </p:sp>
        <p:sp>
          <p:nvSpPr>
            <p:cNvPr id="31750"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i=i+1</a:t>
              </a:r>
            </a:p>
            <a:p>
              <a:pPr eaLnBrk="1" hangingPunct="1">
                <a:spcBef>
                  <a:spcPct val="0"/>
                </a:spcBef>
                <a:buFontTx/>
                <a:buNone/>
              </a:pPr>
              <a:r>
                <a:rPr lang="en-US" altLang="zh-CN" sz="1600" b="1"/>
                <a:t>T</a:t>
              </a:r>
              <a:r>
                <a:rPr lang="en-US" altLang="zh-CN" sz="1600" b="1" baseline="-25000"/>
                <a:t>2</a:t>
              </a:r>
              <a:r>
                <a:rPr lang="en-US" altLang="zh-CN" sz="1600" b="1"/>
                <a:t>=4*i </a:t>
              </a:r>
            </a:p>
            <a:p>
              <a:pPr eaLnBrk="1" hangingPunct="1">
                <a:spcBef>
                  <a:spcPct val="0"/>
                </a:spcBef>
                <a:buFontTx/>
                <a:buNone/>
              </a:pPr>
              <a:r>
                <a:rPr lang="en-US" altLang="zh-CN" sz="1600" b="1"/>
                <a:t>T</a:t>
              </a:r>
              <a:r>
                <a:rPr lang="en-US" altLang="zh-CN" sz="1600" b="1" baseline="-25000"/>
                <a:t>3</a:t>
              </a:r>
              <a:r>
                <a:rPr lang="en-US" altLang="zh-CN" sz="1600" b="1"/>
                <a:t>=a[T</a:t>
              </a:r>
              <a:r>
                <a:rPr lang="en-US" altLang="zh-CN" sz="1600" b="1" baseline="-25000"/>
                <a:t>2</a:t>
              </a:r>
              <a:r>
                <a:rPr lang="en-US" altLang="zh-CN" sz="1600" b="1"/>
                <a:t>]</a:t>
              </a:r>
            </a:p>
            <a:p>
              <a:pPr eaLnBrk="1" hangingPunct="1">
                <a:spcBef>
                  <a:spcPct val="0"/>
                </a:spcBef>
                <a:buFontTx/>
                <a:buNone/>
              </a:pPr>
              <a:r>
                <a:rPr lang="en-US" altLang="zh-CN" sz="1600" b="1"/>
                <a:t>if T</a:t>
              </a:r>
              <a:r>
                <a:rPr lang="en-US" altLang="zh-CN" sz="1600" b="1" baseline="-25000"/>
                <a:t>3</a:t>
              </a:r>
              <a:r>
                <a:rPr lang="en-US" altLang="zh-CN" sz="1600" b="1"/>
                <a:t>&lt;v goto B</a:t>
              </a:r>
              <a:r>
                <a:rPr lang="en-US" altLang="zh-CN" sz="1600" b="1" baseline="-25000"/>
                <a:t>2</a:t>
              </a:r>
            </a:p>
          </p:txBody>
        </p:sp>
        <p:sp>
          <p:nvSpPr>
            <p:cNvPr id="31751" name="Rectangle 7"/>
            <p:cNvSpPr>
              <a:spLocks noChangeArrowheads="1"/>
            </p:cNvSpPr>
            <p:nvPr/>
          </p:nvSpPr>
          <p:spPr bwMode="auto">
            <a:xfrm>
              <a:off x="2064" y="192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2</a:t>
              </a:r>
              <a:endParaRPr lang="en-US" altLang="zh-CN" sz="1800"/>
            </a:p>
          </p:txBody>
        </p:sp>
        <p:sp>
          <p:nvSpPr>
            <p:cNvPr id="31752"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j=j-1</a:t>
              </a:r>
            </a:p>
            <a:p>
              <a:pPr eaLnBrk="1" hangingPunct="1">
                <a:spcBef>
                  <a:spcPct val="0"/>
                </a:spcBef>
                <a:buFontTx/>
                <a:buNone/>
              </a:pPr>
              <a:r>
                <a:rPr lang="en-US" altLang="zh-CN" sz="1600" b="1"/>
                <a:t>T</a:t>
              </a:r>
              <a:r>
                <a:rPr lang="en-US" altLang="zh-CN" sz="1600" b="1" baseline="-25000"/>
                <a:t>4</a:t>
              </a:r>
              <a:r>
                <a:rPr lang="en-US" altLang="zh-CN" sz="1600" b="1"/>
                <a:t>=4*j </a:t>
              </a:r>
            </a:p>
            <a:p>
              <a:pPr eaLnBrk="1" hangingPunct="1">
                <a:spcBef>
                  <a:spcPct val="0"/>
                </a:spcBef>
                <a:buFontTx/>
                <a:buNone/>
              </a:pPr>
              <a:r>
                <a:rPr lang="en-US" altLang="zh-CN" sz="1600" b="1"/>
                <a:t>T</a:t>
              </a:r>
              <a:r>
                <a:rPr lang="en-US" altLang="zh-CN" sz="1600" b="1" baseline="-25000"/>
                <a:t>5</a:t>
              </a:r>
              <a:r>
                <a:rPr lang="en-US" altLang="zh-CN" sz="1600" b="1"/>
                <a:t>=a[T</a:t>
              </a:r>
              <a:r>
                <a:rPr lang="en-US" altLang="zh-CN" sz="1600" b="1" baseline="-25000"/>
                <a:t>4</a:t>
              </a:r>
              <a:r>
                <a:rPr lang="en-US" altLang="zh-CN" sz="1600" b="1"/>
                <a:t>]</a:t>
              </a:r>
            </a:p>
            <a:p>
              <a:pPr eaLnBrk="1" hangingPunct="1">
                <a:spcBef>
                  <a:spcPct val="0"/>
                </a:spcBef>
                <a:buFontTx/>
                <a:buNone/>
              </a:pPr>
              <a:r>
                <a:rPr lang="en-US" altLang="zh-CN" sz="1600" b="1"/>
                <a:t>if T</a:t>
              </a:r>
              <a:r>
                <a:rPr lang="en-US" altLang="zh-CN" sz="1600" b="1" baseline="-25000"/>
                <a:t>5</a:t>
              </a:r>
              <a:r>
                <a:rPr lang="en-US" altLang="zh-CN" sz="1600" b="1"/>
                <a:t>&gt;v goto B</a:t>
              </a:r>
              <a:r>
                <a:rPr lang="en-US" altLang="zh-CN" sz="1600" b="1" baseline="-25000"/>
                <a:t>3</a:t>
              </a:r>
            </a:p>
          </p:txBody>
        </p:sp>
        <p:sp>
          <p:nvSpPr>
            <p:cNvPr id="31753" name="Rectangle 9"/>
            <p:cNvSpPr>
              <a:spLocks noChangeArrowheads="1"/>
            </p:cNvSpPr>
            <p:nvPr/>
          </p:nvSpPr>
          <p:spPr bwMode="auto">
            <a:xfrm>
              <a:off x="2064" y="288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3</a:t>
              </a:r>
              <a:endParaRPr lang="en-US" altLang="zh-CN" sz="1800"/>
            </a:p>
          </p:txBody>
        </p:sp>
        <p:sp>
          <p:nvSpPr>
            <p:cNvPr id="31754"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if i&gt;=j goto B</a:t>
              </a:r>
              <a:r>
                <a:rPr lang="en-US" altLang="zh-CN" sz="1600" b="1" baseline="-25000"/>
                <a:t>6</a:t>
              </a:r>
            </a:p>
          </p:txBody>
        </p:sp>
        <p:sp>
          <p:nvSpPr>
            <p:cNvPr id="31755" name="Rectangle 11"/>
            <p:cNvSpPr>
              <a:spLocks noChangeArrowheads="1"/>
            </p:cNvSpPr>
            <p:nvPr/>
          </p:nvSpPr>
          <p:spPr bwMode="auto">
            <a:xfrm>
              <a:off x="4512" y="96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4</a:t>
              </a:r>
              <a:endParaRPr lang="en-US" altLang="zh-CN" sz="1800"/>
            </a:p>
          </p:txBody>
        </p:sp>
        <p:sp>
          <p:nvSpPr>
            <p:cNvPr id="31756"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T</a:t>
              </a:r>
              <a:r>
                <a:rPr lang="en-US" altLang="zh-CN" sz="1600" b="1" baseline="-30000"/>
                <a:t>6</a:t>
              </a:r>
              <a:r>
                <a:rPr lang="en-US" altLang="zh-CN" sz="1600" b="1"/>
                <a:t>= T</a:t>
              </a:r>
              <a:r>
                <a:rPr lang="en-US" altLang="zh-CN" sz="1600" b="1" baseline="-25000"/>
                <a:t>2</a:t>
              </a:r>
              <a:endParaRPr lang="en-US" altLang="zh-CN" sz="1600" b="1"/>
            </a:p>
            <a:p>
              <a:pPr eaLnBrk="1" hangingPunct="1">
                <a:spcBef>
                  <a:spcPct val="0"/>
                </a:spcBef>
                <a:buFontTx/>
                <a:buNone/>
              </a:pPr>
              <a:r>
                <a:rPr lang="en-US" altLang="zh-CN" sz="1600" b="1">
                  <a:solidFill>
                    <a:srgbClr val="0000FF"/>
                  </a:solidFill>
                </a:rPr>
                <a:t>x=T</a:t>
              </a:r>
              <a:r>
                <a:rPr lang="en-US" altLang="zh-CN" sz="1600" b="1" baseline="-30000">
                  <a:solidFill>
                    <a:srgbClr val="0000FF"/>
                  </a:solidFill>
                </a:rPr>
                <a:t>3</a:t>
              </a:r>
              <a:endParaRPr lang="en-US" altLang="zh-CN" sz="1600" b="1">
                <a:solidFill>
                  <a:srgbClr val="0000FF"/>
                </a:solidFill>
              </a:endParaRPr>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7</a:t>
              </a:r>
              <a:r>
                <a:rPr lang="en-US" altLang="zh-CN" sz="1600" b="1">
                  <a:solidFill>
                    <a:srgbClr val="0000FF"/>
                  </a:solidFill>
                </a:rPr>
                <a:t>= T</a:t>
              </a:r>
              <a:r>
                <a:rPr lang="en-US" altLang="zh-CN" sz="1600" b="1" baseline="-30000">
                  <a:solidFill>
                    <a:srgbClr val="0000FF"/>
                  </a:solidFill>
                </a:rPr>
                <a:t>2</a:t>
              </a:r>
              <a:endParaRPr lang="en-US" altLang="zh-CN" sz="1600" b="1">
                <a:solidFill>
                  <a:srgbClr val="0000FF"/>
                </a:solidFill>
              </a:endParaRPr>
            </a:p>
            <a:p>
              <a:pPr eaLnBrk="1" hangingPunct="1">
                <a:spcBef>
                  <a:spcPct val="0"/>
                </a:spcBef>
                <a:buFontTx/>
                <a:buNone/>
              </a:pPr>
              <a:r>
                <a:rPr lang="en-US" altLang="zh-CN" sz="1600" b="1"/>
                <a:t>T</a:t>
              </a:r>
              <a:r>
                <a:rPr lang="en-US" altLang="zh-CN" sz="1600" b="1" baseline="-30000"/>
                <a:t>8</a:t>
              </a:r>
              <a:r>
                <a:rPr lang="en-US" altLang="zh-CN" sz="1600" b="1"/>
                <a:t>= T</a:t>
              </a:r>
              <a:r>
                <a:rPr lang="en-US" altLang="zh-CN" sz="1600" b="1" baseline="-25000"/>
                <a:t>4</a:t>
              </a:r>
              <a:endParaRPr lang="en-US" altLang="zh-CN" sz="1600" b="1"/>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9</a:t>
              </a:r>
              <a:r>
                <a:rPr lang="en-US" altLang="zh-CN" sz="1600" b="1">
                  <a:solidFill>
                    <a:srgbClr val="0000FF"/>
                  </a:solidFill>
                </a:rPr>
                <a:t>=T</a:t>
              </a:r>
              <a:r>
                <a:rPr lang="en-US" altLang="zh-CN" sz="1600" b="1" baseline="-30000">
                  <a:solidFill>
                    <a:srgbClr val="0000FF"/>
                  </a:solidFill>
                </a:rPr>
                <a:t>5</a:t>
              </a:r>
              <a:endParaRPr lang="en-US" altLang="zh-CN" sz="1600" b="1">
                <a:solidFill>
                  <a:srgbClr val="0000FF"/>
                </a:solidFill>
              </a:endParaRPr>
            </a:p>
            <a:p>
              <a:pPr eaLnBrk="1" hangingPunct="1">
                <a:spcBef>
                  <a:spcPct val="0"/>
                </a:spcBef>
                <a:buFontTx/>
                <a:buNone/>
              </a:pPr>
              <a:r>
                <a:rPr lang="en-US" altLang="zh-CN" sz="1600" b="1">
                  <a:solidFill>
                    <a:srgbClr val="0000FF"/>
                  </a:solidFill>
                </a:rPr>
                <a:t>a [T</a:t>
              </a:r>
              <a:r>
                <a:rPr lang="en-US" altLang="zh-CN" sz="1600" b="1" baseline="-30000">
                  <a:solidFill>
                    <a:srgbClr val="0000FF"/>
                  </a:solidFill>
                </a:rPr>
                <a:t>2</a:t>
              </a:r>
              <a:r>
                <a:rPr lang="en-US" altLang="zh-CN" sz="1600" b="1">
                  <a:solidFill>
                    <a:srgbClr val="0000FF"/>
                  </a:solidFill>
                </a:rPr>
                <a:t>]=T</a:t>
              </a:r>
              <a:r>
                <a:rPr lang="en-US" altLang="zh-CN" sz="1600" b="1" baseline="-30000">
                  <a:solidFill>
                    <a:srgbClr val="0000FF"/>
                  </a:solidFill>
                </a:rPr>
                <a:t>5</a:t>
              </a:r>
              <a:endParaRPr lang="en-US" altLang="zh-CN" sz="1600" b="1">
                <a:solidFill>
                  <a:srgbClr val="0000FF"/>
                </a:solidFill>
              </a:endParaRPr>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10</a:t>
              </a:r>
              <a:r>
                <a:rPr lang="en-US" altLang="zh-CN" sz="1600" b="1">
                  <a:solidFill>
                    <a:srgbClr val="0000FF"/>
                  </a:solidFill>
                </a:rPr>
                <a:t>= T</a:t>
              </a:r>
              <a:r>
                <a:rPr lang="en-US" altLang="zh-CN" sz="1600" b="1" baseline="-30000">
                  <a:solidFill>
                    <a:srgbClr val="0000FF"/>
                  </a:solidFill>
                </a:rPr>
                <a:t>4</a:t>
              </a:r>
              <a:endParaRPr lang="en-US" altLang="zh-CN" sz="1600" b="1">
                <a:solidFill>
                  <a:srgbClr val="0000FF"/>
                </a:solidFill>
              </a:endParaRPr>
            </a:p>
            <a:p>
              <a:pPr eaLnBrk="1" hangingPunct="1">
                <a:spcBef>
                  <a:spcPct val="0"/>
                </a:spcBef>
                <a:buFontTx/>
                <a:buNone/>
              </a:pPr>
              <a:r>
                <a:rPr lang="en-US" altLang="zh-CN" sz="1600" b="1">
                  <a:solidFill>
                    <a:srgbClr val="0000FF"/>
                  </a:solidFill>
                </a:rPr>
                <a:t>a [T</a:t>
              </a:r>
              <a:r>
                <a:rPr lang="en-US" altLang="zh-CN" sz="1600" b="1" baseline="-30000">
                  <a:solidFill>
                    <a:srgbClr val="0000FF"/>
                  </a:solidFill>
                </a:rPr>
                <a:t>4</a:t>
              </a:r>
              <a:r>
                <a:rPr lang="en-US" altLang="zh-CN" sz="1600" b="1">
                  <a:solidFill>
                    <a:srgbClr val="0000FF"/>
                  </a:solidFill>
                </a:rPr>
                <a:t>]= T</a:t>
              </a:r>
              <a:r>
                <a:rPr lang="en-US" altLang="zh-CN" sz="1600" b="1" baseline="-30000">
                  <a:solidFill>
                    <a:srgbClr val="0000FF"/>
                  </a:solidFill>
                </a:rPr>
                <a:t>3</a:t>
              </a:r>
              <a:endParaRPr lang="en-US" altLang="zh-CN" sz="1600" b="1">
                <a:solidFill>
                  <a:srgbClr val="0000FF"/>
                </a:solidFill>
              </a:endParaRPr>
            </a:p>
            <a:p>
              <a:pPr eaLnBrk="1" hangingPunct="1">
                <a:spcBef>
                  <a:spcPct val="0"/>
                </a:spcBef>
                <a:buFontTx/>
                <a:buNone/>
              </a:pPr>
              <a:r>
                <a:rPr lang="en-US" altLang="zh-CN" sz="1600" b="1"/>
                <a:t>goto B</a:t>
              </a:r>
              <a:r>
                <a:rPr lang="en-US" altLang="zh-CN" sz="1600" b="1" baseline="-30000"/>
                <a:t>2</a:t>
              </a:r>
            </a:p>
          </p:txBody>
        </p:sp>
        <p:sp>
          <p:nvSpPr>
            <p:cNvPr id="31757" name="Rectangle 13"/>
            <p:cNvSpPr>
              <a:spLocks noChangeArrowheads="1"/>
            </p:cNvSpPr>
            <p:nvPr/>
          </p:nvSpPr>
          <p:spPr bwMode="auto">
            <a:xfrm>
              <a:off x="3984" y="1824"/>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5</a:t>
              </a:r>
              <a:endParaRPr lang="en-US" altLang="zh-CN" sz="1800"/>
            </a:p>
          </p:txBody>
        </p:sp>
        <p:sp>
          <p:nvSpPr>
            <p:cNvPr id="31758"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T</a:t>
              </a:r>
              <a:r>
                <a:rPr lang="en-US" altLang="zh-CN" sz="1600" b="1" baseline="-30000"/>
                <a:t>11</a:t>
              </a:r>
              <a:r>
                <a:rPr lang="en-US" altLang="zh-CN" sz="1600" b="1"/>
                <a:t>= T</a:t>
              </a:r>
              <a:r>
                <a:rPr lang="en-US" altLang="zh-CN" sz="1600" b="1" baseline="-25000"/>
                <a:t>2</a:t>
              </a:r>
              <a:endParaRPr lang="en-US" altLang="zh-CN" sz="1600" b="1"/>
            </a:p>
            <a:p>
              <a:pPr eaLnBrk="1" hangingPunct="1">
                <a:spcBef>
                  <a:spcPct val="0"/>
                </a:spcBef>
                <a:buFontTx/>
                <a:buNone/>
              </a:pPr>
              <a:r>
                <a:rPr lang="en-US" altLang="zh-CN" sz="1600" b="1">
                  <a:solidFill>
                    <a:srgbClr val="0000FF"/>
                  </a:solidFill>
                </a:rPr>
                <a:t>x=T</a:t>
              </a:r>
              <a:r>
                <a:rPr lang="en-US" altLang="zh-CN" sz="1600" b="1" baseline="-30000">
                  <a:solidFill>
                    <a:srgbClr val="0000FF"/>
                  </a:solidFill>
                </a:rPr>
                <a:t>3</a:t>
              </a:r>
              <a:endParaRPr lang="en-US" altLang="zh-CN" sz="1600" b="1">
                <a:solidFill>
                  <a:srgbClr val="0000FF"/>
                </a:solidFill>
              </a:endParaRPr>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12</a:t>
              </a:r>
              <a:r>
                <a:rPr lang="en-US" altLang="zh-CN" sz="1600" b="1">
                  <a:solidFill>
                    <a:srgbClr val="0000FF"/>
                  </a:solidFill>
                </a:rPr>
                <a:t>= T</a:t>
              </a:r>
              <a:r>
                <a:rPr lang="en-US" altLang="zh-CN" sz="1600" b="1" baseline="-30000">
                  <a:solidFill>
                    <a:srgbClr val="0000FF"/>
                  </a:solidFill>
                </a:rPr>
                <a:t>2</a:t>
              </a:r>
              <a:endParaRPr lang="en-US" altLang="zh-CN" sz="1600" b="1">
                <a:solidFill>
                  <a:srgbClr val="0000FF"/>
                </a:solidFill>
              </a:endParaRPr>
            </a:p>
            <a:p>
              <a:pPr eaLnBrk="1" hangingPunct="1">
                <a:spcBef>
                  <a:spcPct val="0"/>
                </a:spcBef>
                <a:buFontTx/>
                <a:buNone/>
              </a:pPr>
              <a:r>
                <a:rPr lang="en-US" altLang="zh-CN" sz="1600" b="1"/>
                <a:t>T</a:t>
              </a:r>
              <a:r>
                <a:rPr lang="en-US" altLang="zh-CN" sz="1600" b="1" baseline="-30000"/>
                <a:t>13</a:t>
              </a:r>
              <a:r>
                <a:rPr lang="en-US" altLang="zh-CN" sz="1600" b="1"/>
                <a:t>= T</a:t>
              </a:r>
              <a:r>
                <a:rPr lang="en-US" altLang="zh-CN" sz="1600" b="1" baseline="-25000"/>
                <a:t>1</a:t>
              </a:r>
              <a:endParaRPr lang="en-US" altLang="zh-CN" sz="1600" b="1"/>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14</a:t>
              </a:r>
              <a:r>
                <a:rPr lang="en-US" altLang="zh-CN" sz="1600" b="1">
                  <a:solidFill>
                    <a:srgbClr val="0000FF"/>
                  </a:solidFill>
                </a:rPr>
                <a:t>= v</a:t>
              </a:r>
            </a:p>
            <a:p>
              <a:pPr eaLnBrk="1" hangingPunct="1">
                <a:spcBef>
                  <a:spcPct val="0"/>
                </a:spcBef>
                <a:buFontTx/>
                <a:buNone/>
              </a:pPr>
              <a:r>
                <a:rPr lang="en-US" altLang="zh-CN" sz="1600" b="1">
                  <a:solidFill>
                    <a:srgbClr val="0000FF"/>
                  </a:solidFill>
                </a:rPr>
                <a:t>a [T</a:t>
              </a:r>
              <a:r>
                <a:rPr lang="en-US" altLang="zh-CN" sz="1600" b="1" baseline="-30000">
                  <a:solidFill>
                    <a:srgbClr val="0000FF"/>
                  </a:solidFill>
                </a:rPr>
                <a:t>2</a:t>
              </a:r>
              <a:r>
                <a:rPr lang="en-US" altLang="zh-CN" sz="1600" b="1">
                  <a:solidFill>
                    <a:srgbClr val="0000FF"/>
                  </a:solidFill>
                </a:rPr>
                <a:t>]=v</a:t>
              </a:r>
            </a:p>
            <a:p>
              <a:pPr eaLnBrk="1" hangingPunct="1">
                <a:spcBef>
                  <a:spcPct val="0"/>
                </a:spcBef>
                <a:buFontTx/>
                <a:buNone/>
              </a:pPr>
              <a:r>
                <a:rPr lang="en-US" altLang="zh-CN" sz="1600" b="1">
                  <a:solidFill>
                    <a:srgbClr val="0000FF"/>
                  </a:solidFill>
                </a:rPr>
                <a:t>T</a:t>
              </a:r>
              <a:r>
                <a:rPr lang="en-US" altLang="zh-CN" sz="1600" b="1" baseline="-30000">
                  <a:solidFill>
                    <a:srgbClr val="0000FF"/>
                  </a:solidFill>
                </a:rPr>
                <a:t>15</a:t>
              </a:r>
              <a:r>
                <a:rPr lang="en-US" altLang="zh-CN" sz="1600" b="1">
                  <a:solidFill>
                    <a:srgbClr val="0000FF"/>
                  </a:solidFill>
                </a:rPr>
                <a:t>= T</a:t>
              </a:r>
              <a:r>
                <a:rPr lang="en-US" altLang="zh-CN" sz="1600" b="1" baseline="-25000">
                  <a:solidFill>
                    <a:srgbClr val="0000FF"/>
                  </a:solidFill>
                </a:rPr>
                <a:t>1</a:t>
              </a:r>
              <a:endParaRPr lang="en-US" altLang="zh-CN" sz="1600" b="1">
                <a:solidFill>
                  <a:srgbClr val="0000FF"/>
                </a:solidFill>
              </a:endParaRPr>
            </a:p>
            <a:p>
              <a:pPr eaLnBrk="1" hangingPunct="1">
                <a:spcBef>
                  <a:spcPct val="0"/>
                </a:spcBef>
                <a:buFontTx/>
                <a:buNone/>
              </a:pPr>
              <a:r>
                <a:rPr lang="en-US" altLang="zh-CN" sz="1600" b="1">
                  <a:solidFill>
                    <a:srgbClr val="0000FF"/>
                  </a:solidFill>
                </a:rPr>
                <a:t>a [T</a:t>
              </a:r>
              <a:r>
                <a:rPr lang="en-US" altLang="zh-CN" sz="1600" b="1" baseline="-30000">
                  <a:solidFill>
                    <a:srgbClr val="0000FF"/>
                  </a:solidFill>
                </a:rPr>
                <a:t>1</a:t>
              </a:r>
              <a:r>
                <a:rPr lang="en-US" altLang="zh-CN" sz="1600" b="1">
                  <a:solidFill>
                    <a:srgbClr val="0000FF"/>
                  </a:solidFill>
                </a:rPr>
                <a:t>]= T</a:t>
              </a:r>
              <a:r>
                <a:rPr lang="en-US" altLang="zh-CN" sz="1600" b="1" baseline="-30000">
                  <a:solidFill>
                    <a:srgbClr val="0000FF"/>
                  </a:solidFill>
                </a:rPr>
                <a:t>3</a:t>
              </a:r>
            </a:p>
          </p:txBody>
        </p:sp>
        <p:sp>
          <p:nvSpPr>
            <p:cNvPr id="31759" name="Rectangle 15"/>
            <p:cNvSpPr>
              <a:spLocks noChangeArrowheads="1"/>
            </p:cNvSpPr>
            <p:nvPr/>
          </p:nvSpPr>
          <p:spPr bwMode="auto">
            <a:xfrm>
              <a:off x="5520" y="1824"/>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6</a:t>
              </a:r>
              <a:endParaRPr lang="en-US" altLang="zh-CN" sz="1800"/>
            </a:p>
          </p:txBody>
        </p:sp>
        <p:sp>
          <p:nvSpPr>
            <p:cNvPr id="31760"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1761"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1762" name="Freeform 18"/>
            <p:cNvSpPr>
              <a:spLocks/>
            </p:cNvSpPr>
            <p:nvPr/>
          </p:nvSpPr>
          <p:spPr bwMode="auto">
            <a:xfrm>
              <a:off x="1631" y="528"/>
              <a:ext cx="2448" cy="3408"/>
            </a:xfrm>
            <a:custGeom>
              <a:avLst/>
              <a:gdLst>
                <a:gd name="T0" fmla="*/ 0 w 2448"/>
                <a:gd name="T1" fmla="*/ 3454 h 3264"/>
                <a:gd name="T2" fmla="*/ 0 w 2448"/>
                <a:gd name="T3" fmla="*/ 3558 h 3264"/>
                <a:gd name="T4" fmla="*/ 1008 w 2448"/>
                <a:gd name="T5" fmla="*/ 3558 h 3264"/>
                <a:gd name="T6" fmla="*/ 1008 w 2448"/>
                <a:gd name="T7" fmla="*/ 0 h 3264"/>
                <a:gd name="T8" fmla="*/ 2448 w 2448"/>
                <a:gd name="T9" fmla="*/ 0 h 3264"/>
                <a:gd name="T10" fmla="*/ 2448 w 2448"/>
                <a:gd name="T11" fmla="*/ 523 h 326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1763"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1764"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1765"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1766"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1767"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grpSp>
    </p:spTree>
    <p:extLst>
      <p:ext uri="{BB962C8B-B14F-4D97-AF65-F5344CB8AC3E}">
        <p14:creationId xmlns:p14="http://schemas.microsoft.com/office/powerpoint/2010/main" val="3149796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6588125" y="102394"/>
            <a:ext cx="28781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
                <a:schemeClr val="accent2"/>
              </a:buClr>
              <a:buSzPct val="75000"/>
              <a:buFont typeface="Wingdings" pitchFamily="2" charset="2"/>
              <a:buChar char="q"/>
            </a:pPr>
            <a:r>
              <a:rPr lang="zh-CN" altLang="en-US" sz="2800" b="1"/>
              <a:t>删除无用赋值</a:t>
            </a:r>
          </a:p>
        </p:txBody>
      </p:sp>
      <p:grpSp>
        <p:nvGrpSpPr>
          <p:cNvPr id="32771" name="Group 3"/>
          <p:cNvGrpSpPr>
            <a:grpSpLocks/>
          </p:cNvGrpSpPr>
          <p:nvPr/>
        </p:nvGrpSpPr>
        <p:grpSpPr bwMode="auto">
          <a:xfrm>
            <a:off x="685800" y="411956"/>
            <a:ext cx="8458200" cy="4171950"/>
            <a:chOff x="576" y="528"/>
            <a:chExt cx="5328" cy="3504"/>
          </a:xfrm>
        </p:grpSpPr>
        <p:sp>
          <p:nvSpPr>
            <p:cNvPr id="32773"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i=m-1</a:t>
              </a:r>
            </a:p>
            <a:p>
              <a:pPr eaLnBrk="1" hangingPunct="1">
                <a:spcBef>
                  <a:spcPct val="0"/>
                </a:spcBef>
                <a:buFontTx/>
                <a:buNone/>
              </a:pPr>
              <a:r>
                <a:rPr lang="en-US" altLang="zh-CN" sz="1600" b="1"/>
                <a:t>j=n</a:t>
              </a:r>
            </a:p>
            <a:p>
              <a:pPr eaLnBrk="1" hangingPunct="1">
                <a:spcBef>
                  <a:spcPct val="0"/>
                </a:spcBef>
                <a:buFontTx/>
                <a:buNone/>
              </a:pPr>
              <a:r>
                <a:rPr lang="en-US" altLang="zh-CN" sz="1600" b="1"/>
                <a:t>T</a:t>
              </a:r>
              <a:r>
                <a:rPr lang="en-US" altLang="zh-CN" sz="1600" b="1" baseline="-25000"/>
                <a:t>1</a:t>
              </a:r>
              <a:r>
                <a:rPr lang="en-US" altLang="zh-CN" sz="1600" b="1"/>
                <a:t>=4*n</a:t>
              </a:r>
            </a:p>
            <a:p>
              <a:pPr eaLnBrk="1" hangingPunct="1">
                <a:spcBef>
                  <a:spcPct val="0"/>
                </a:spcBef>
                <a:buFontTx/>
                <a:buNone/>
              </a:pPr>
              <a:r>
                <a:rPr lang="en-US" altLang="zh-CN" sz="1600" b="1"/>
                <a:t>v=a[T</a:t>
              </a:r>
              <a:r>
                <a:rPr lang="en-US" altLang="zh-CN" sz="1600" b="1" baseline="-25000"/>
                <a:t>1</a:t>
              </a:r>
              <a:r>
                <a:rPr lang="en-US" altLang="zh-CN" sz="1600" b="1"/>
                <a:t>]</a:t>
              </a:r>
            </a:p>
          </p:txBody>
        </p:sp>
        <p:sp>
          <p:nvSpPr>
            <p:cNvPr id="32774" name="Rectangle 5"/>
            <p:cNvSpPr>
              <a:spLocks noChangeArrowheads="1"/>
            </p:cNvSpPr>
            <p:nvPr/>
          </p:nvSpPr>
          <p:spPr bwMode="auto">
            <a:xfrm>
              <a:off x="2064" y="1008"/>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1</a:t>
              </a:r>
              <a:endParaRPr lang="en-US" altLang="zh-CN" sz="1800"/>
            </a:p>
          </p:txBody>
        </p:sp>
        <p:sp>
          <p:nvSpPr>
            <p:cNvPr id="32775"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i=i+1</a:t>
              </a:r>
            </a:p>
            <a:p>
              <a:pPr eaLnBrk="1" hangingPunct="1">
                <a:spcBef>
                  <a:spcPct val="0"/>
                </a:spcBef>
                <a:buFontTx/>
                <a:buNone/>
              </a:pPr>
              <a:r>
                <a:rPr lang="en-US" altLang="zh-CN" sz="1600" b="1"/>
                <a:t>T</a:t>
              </a:r>
              <a:r>
                <a:rPr lang="en-US" altLang="zh-CN" sz="1600" b="1" baseline="-25000"/>
                <a:t>2</a:t>
              </a:r>
              <a:r>
                <a:rPr lang="en-US" altLang="zh-CN" sz="1600" b="1"/>
                <a:t>=4*i </a:t>
              </a:r>
            </a:p>
            <a:p>
              <a:pPr eaLnBrk="1" hangingPunct="1">
                <a:spcBef>
                  <a:spcPct val="0"/>
                </a:spcBef>
                <a:buFontTx/>
                <a:buNone/>
              </a:pPr>
              <a:r>
                <a:rPr lang="en-US" altLang="zh-CN" sz="1600" b="1"/>
                <a:t>T</a:t>
              </a:r>
              <a:r>
                <a:rPr lang="en-US" altLang="zh-CN" sz="1600" b="1" baseline="-25000"/>
                <a:t>3</a:t>
              </a:r>
              <a:r>
                <a:rPr lang="en-US" altLang="zh-CN" sz="1600" b="1"/>
                <a:t>=a[T</a:t>
              </a:r>
              <a:r>
                <a:rPr lang="en-US" altLang="zh-CN" sz="1600" b="1" baseline="-25000"/>
                <a:t>2</a:t>
              </a:r>
              <a:r>
                <a:rPr lang="en-US" altLang="zh-CN" sz="1600" b="1"/>
                <a:t>]</a:t>
              </a:r>
            </a:p>
            <a:p>
              <a:pPr eaLnBrk="1" hangingPunct="1">
                <a:spcBef>
                  <a:spcPct val="0"/>
                </a:spcBef>
                <a:buFontTx/>
                <a:buNone/>
              </a:pPr>
              <a:r>
                <a:rPr lang="en-US" altLang="zh-CN" sz="1600" b="1"/>
                <a:t>if T</a:t>
              </a:r>
              <a:r>
                <a:rPr lang="en-US" altLang="zh-CN" sz="1600" b="1" baseline="-25000"/>
                <a:t>3</a:t>
              </a:r>
              <a:r>
                <a:rPr lang="en-US" altLang="zh-CN" sz="1600" b="1"/>
                <a:t>&lt;v goto B</a:t>
              </a:r>
              <a:r>
                <a:rPr lang="en-US" altLang="zh-CN" sz="1600" b="1" baseline="-25000"/>
                <a:t>2</a:t>
              </a:r>
            </a:p>
          </p:txBody>
        </p:sp>
        <p:sp>
          <p:nvSpPr>
            <p:cNvPr id="32776" name="Rectangle 7"/>
            <p:cNvSpPr>
              <a:spLocks noChangeArrowheads="1"/>
            </p:cNvSpPr>
            <p:nvPr/>
          </p:nvSpPr>
          <p:spPr bwMode="auto">
            <a:xfrm>
              <a:off x="2064" y="192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2</a:t>
              </a:r>
              <a:endParaRPr lang="en-US" altLang="zh-CN" sz="1800"/>
            </a:p>
          </p:txBody>
        </p:sp>
        <p:sp>
          <p:nvSpPr>
            <p:cNvPr id="32777"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j=j-1</a:t>
              </a:r>
            </a:p>
            <a:p>
              <a:pPr eaLnBrk="1" hangingPunct="1">
                <a:spcBef>
                  <a:spcPct val="0"/>
                </a:spcBef>
                <a:buFontTx/>
                <a:buNone/>
              </a:pPr>
              <a:r>
                <a:rPr lang="en-US" altLang="zh-CN" sz="1600" b="1"/>
                <a:t>T</a:t>
              </a:r>
              <a:r>
                <a:rPr lang="en-US" altLang="zh-CN" sz="1600" b="1" baseline="-25000"/>
                <a:t>4</a:t>
              </a:r>
              <a:r>
                <a:rPr lang="en-US" altLang="zh-CN" sz="1600" b="1"/>
                <a:t>=4*j </a:t>
              </a:r>
            </a:p>
            <a:p>
              <a:pPr eaLnBrk="1" hangingPunct="1">
                <a:spcBef>
                  <a:spcPct val="0"/>
                </a:spcBef>
                <a:buFontTx/>
                <a:buNone/>
              </a:pPr>
              <a:r>
                <a:rPr lang="en-US" altLang="zh-CN" sz="1600" b="1"/>
                <a:t>T</a:t>
              </a:r>
              <a:r>
                <a:rPr lang="en-US" altLang="zh-CN" sz="1600" b="1" baseline="-25000"/>
                <a:t>5</a:t>
              </a:r>
              <a:r>
                <a:rPr lang="en-US" altLang="zh-CN" sz="1600" b="1"/>
                <a:t>=a[T</a:t>
              </a:r>
              <a:r>
                <a:rPr lang="en-US" altLang="zh-CN" sz="1600" b="1" baseline="-25000"/>
                <a:t>4</a:t>
              </a:r>
              <a:r>
                <a:rPr lang="en-US" altLang="zh-CN" sz="1600" b="1"/>
                <a:t>]</a:t>
              </a:r>
            </a:p>
            <a:p>
              <a:pPr eaLnBrk="1" hangingPunct="1">
                <a:spcBef>
                  <a:spcPct val="0"/>
                </a:spcBef>
                <a:buFontTx/>
                <a:buNone/>
              </a:pPr>
              <a:r>
                <a:rPr lang="en-US" altLang="zh-CN" sz="1600" b="1"/>
                <a:t>if T</a:t>
              </a:r>
              <a:r>
                <a:rPr lang="en-US" altLang="zh-CN" sz="1600" b="1" baseline="-25000"/>
                <a:t>5</a:t>
              </a:r>
              <a:r>
                <a:rPr lang="en-US" altLang="zh-CN" sz="1600" b="1"/>
                <a:t>&gt;v goto B</a:t>
              </a:r>
              <a:r>
                <a:rPr lang="en-US" altLang="zh-CN" sz="1600" b="1" baseline="-25000"/>
                <a:t>3</a:t>
              </a:r>
            </a:p>
          </p:txBody>
        </p:sp>
        <p:sp>
          <p:nvSpPr>
            <p:cNvPr id="32778" name="Rectangle 9"/>
            <p:cNvSpPr>
              <a:spLocks noChangeArrowheads="1"/>
            </p:cNvSpPr>
            <p:nvPr/>
          </p:nvSpPr>
          <p:spPr bwMode="auto">
            <a:xfrm>
              <a:off x="2064" y="288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3</a:t>
              </a:r>
              <a:endParaRPr lang="en-US" altLang="zh-CN" sz="1800"/>
            </a:p>
          </p:txBody>
        </p:sp>
        <p:sp>
          <p:nvSpPr>
            <p:cNvPr id="32779"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t>if i&gt;=j goto B</a:t>
              </a:r>
              <a:r>
                <a:rPr lang="en-US" altLang="zh-CN" sz="1600" b="1" baseline="-25000"/>
                <a:t>6</a:t>
              </a:r>
            </a:p>
          </p:txBody>
        </p:sp>
        <p:sp>
          <p:nvSpPr>
            <p:cNvPr id="32780" name="Rectangle 11"/>
            <p:cNvSpPr>
              <a:spLocks noChangeArrowheads="1"/>
            </p:cNvSpPr>
            <p:nvPr/>
          </p:nvSpPr>
          <p:spPr bwMode="auto">
            <a:xfrm>
              <a:off x="4512" y="960"/>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4</a:t>
              </a:r>
              <a:endParaRPr lang="en-US" altLang="zh-CN" sz="1800"/>
            </a:p>
          </p:txBody>
        </p:sp>
        <p:sp>
          <p:nvSpPr>
            <p:cNvPr id="32781"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solidFill>
                    <a:srgbClr val="FF3300"/>
                  </a:solidFill>
                </a:rPr>
                <a:t>T</a:t>
              </a:r>
              <a:r>
                <a:rPr lang="en-US" altLang="zh-CN" sz="1600" b="1" baseline="-30000">
                  <a:solidFill>
                    <a:srgbClr val="FF3300"/>
                  </a:solidFill>
                </a:rPr>
                <a:t>6</a:t>
              </a:r>
              <a:r>
                <a:rPr lang="en-US" altLang="zh-CN" sz="1600" b="1">
                  <a:solidFill>
                    <a:srgbClr val="FF3300"/>
                  </a:solidFill>
                </a:rPr>
                <a:t>= T</a:t>
              </a:r>
              <a:r>
                <a:rPr lang="en-US" altLang="zh-CN" sz="1600" b="1" baseline="-25000">
                  <a:solidFill>
                    <a:srgbClr val="FF3300"/>
                  </a:solidFill>
                </a:rPr>
                <a:t>2</a:t>
              </a:r>
              <a:endParaRPr lang="en-US" altLang="zh-CN" sz="1600" b="1">
                <a:solidFill>
                  <a:srgbClr val="FF3300"/>
                </a:solidFill>
              </a:endParaRPr>
            </a:p>
            <a:p>
              <a:pPr eaLnBrk="1" hangingPunct="1">
                <a:spcBef>
                  <a:spcPct val="0"/>
                </a:spcBef>
                <a:buFontTx/>
                <a:buNone/>
              </a:pPr>
              <a:r>
                <a:rPr lang="en-US" altLang="zh-CN" sz="1600" b="1">
                  <a:solidFill>
                    <a:srgbClr val="FF3300"/>
                  </a:solidFill>
                </a:rPr>
                <a:t>x=T</a:t>
              </a:r>
              <a:r>
                <a:rPr lang="en-US" altLang="zh-CN" sz="1600" b="1" baseline="-30000">
                  <a:solidFill>
                    <a:srgbClr val="FF3300"/>
                  </a:solidFill>
                </a:rPr>
                <a:t>3</a:t>
              </a:r>
              <a:endParaRPr lang="en-US" altLang="zh-CN" sz="1600" b="1">
                <a:solidFill>
                  <a:srgbClr val="FF3300"/>
                </a:solidFill>
              </a:endParaRPr>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7</a:t>
              </a:r>
              <a:r>
                <a:rPr lang="en-US" altLang="zh-CN" sz="1600" b="1">
                  <a:solidFill>
                    <a:srgbClr val="FF3300"/>
                  </a:solidFill>
                </a:rPr>
                <a:t>= T</a:t>
              </a:r>
              <a:r>
                <a:rPr lang="en-US" altLang="zh-CN" sz="1600" b="1" baseline="-30000">
                  <a:solidFill>
                    <a:srgbClr val="FF3300"/>
                  </a:solidFill>
                </a:rPr>
                <a:t>2</a:t>
              </a:r>
              <a:endParaRPr lang="en-US" altLang="zh-CN" sz="1600" b="1">
                <a:solidFill>
                  <a:srgbClr val="FF3300"/>
                </a:solidFill>
              </a:endParaRPr>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8</a:t>
              </a:r>
              <a:r>
                <a:rPr lang="en-US" altLang="zh-CN" sz="1600" b="1">
                  <a:solidFill>
                    <a:srgbClr val="FF3300"/>
                  </a:solidFill>
                </a:rPr>
                <a:t>= T</a:t>
              </a:r>
              <a:r>
                <a:rPr lang="en-US" altLang="zh-CN" sz="1600" b="1" baseline="-25000">
                  <a:solidFill>
                    <a:srgbClr val="FF3300"/>
                  </a:solidFill>
                </a:rPr>
                <a:t>4</a:t>
              </a:r>
              <a:endParaRPr lang="en-US" altLang="zh-CN" sz="1600" b="1">
                <a:solidFill>
                  <a:srgbClr val="FF3300"/>
                </a:solidFill>
              </a:endParaRPr>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9</a:t>
              </a:r>
              <a:r>
                <a:rPr lang="en-US" altLang="zh-CN" sz="1600" b="1">
                  <a:solidFill>
                    <a:srgbClr val="FF3300"/>
                  </a:solidFill>
                </a:rPr>
                <a:t>=T</a:t>
              </a:r>
              <a:r>
                <a:rPr lang="en-US" altLang="zh-CN" sz="1600" b="1" baseline="-30000">
                  <a:solidFill>
                    <a:srgbClr val="FF3300"/>
                  </a:solidFill>
                </a:rPr>
                <a:t>5</a:t>
              </a:r>
              <a:endParaRPr lang="en-US" altLang="zh-CN" sz="1600" b="1">
                <a:solidFill>
                  <a:srgbClr val="FF3300"/>
                </a:solidFill>
              </a:endParaRPr>
            </a:p>
            <a:p>
              <a:pPr eaLnBrk="1" hangingPunct="1">
                <a:spcBef>
                  <a:spcPct val="0"/>
                </a:spcBef>
                <a:buFontTx/>
                <a:buNone/>
              </a:pPr>
              <a:r>
                <a:rPr lang="en-US" altLang="zh-CN" sz="1600" b="1"/>
                <a:t>a [T</a:t>
              </a:r>
              <a:r>
                <a:rPr lang="en-US" altLang="zh-CN" sz="1600" b="1" baseline="-30000"/>
                <a:t>2</a:t>
              </a:r>
              <a:r>
                <a:rPr lang="en-US" altLang="zh-CN" sz="1600" b="1"/>
                <a:t>]=T</a:t>
              </a:r>
              <a:r>
                <a:rPr lang="en-US" altLang="zh-CN" sz="1600" b="1" baseline="-30000"/>
                <a:t>5</a:t>
              </a:r>
              <a:endParaRPr lang="en-US" altLang="zh-CN" sz="1600" b="1"/>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10</a:t>
              </a:r>
              <a:r>
                <a:rPr lang="en-US" altLang="zh-CN" sz="1600" b="1">
                  <a:solidFill>
                    <a:srgbClr val="FF3300"/>
                  </a:solidFill>
                </a:rPr>
                <a:t>= T</a:t>
              </a:r>
              <a:r>
                <a:rPr lang="en-US" altLang="zh-CN" sz="1600" b="1" baseline="-30000">
                  <a:solidFill>
                    <a:srgbClr val="FF3300"/>
                  </a:solidFill>
                </a:rPr>
                <a:t>4</a:t>
              </a:r>
              <a:endParaRPr lang="en-US" altLang="zh-CN" sz="1600" b="1">
                <a:solidFill>
                  <a:srgbClr val="FF3300"/>
                </a:solidFill>
              </a:endParaRPr>
            </a:p>
            <a:p>
              <a:pPr eaLnBrk="1" hangingPunct="1">
                <a:spcBef>
                  <a:spcPct val="0"/>
                </a:spcBef>
                <a:buFontTx/>
                <a:buNone/>
              </a:pPr>
              <a:r>
                <a:rPr lang="en-US" altLang="zh-CN" sz="1600" b="1"/>
                <a:t>a [T</a:t>
              </a:r>
              <a:r>
                <a:rPr lang="en-US" altLang="zh-CN" sz="1600" b="1" baseline="-30000"/>
                <a:t>4</a:t>
              </a:r>
              <a:r>
                <a:rPr lang="en-US" altLang="zh-CN" sz="1600" b="1"/>
                <a:t>]= T</a:t>
              </a:r>
              <a:r>
                <a:rPr lang="en-US" altLang="zh-CN" sz="1600" b="1" baseline="-30000"/>
                <a:t>3</a:t>
              </a:r>
              <a:endParaRPr lang="en-US" altLang="zh-CN" sz="1600" b="1"/>
            </a:p>
            <a:p>
              <a:pPr eaLnBrk="1" hangingPunct="1">
                <a:spcBef>
                  <a:spcPct val="0"/>
                </a:spcBef>
                <a:buFontTx/>
                <a:buNone/>
              </a:pPr>
              <a:r>
                <a:rPr lang="en-US" altLang="zh-CN" sz="1600" b="1"/>
                <a:t>goto B</a:t>
              </a:r>
              <a:r>
                <a:rPr lang="en-US" altLang="zh-CN" sz="1600" b="1" baseline="-30000"/>
                <a:t>2</a:t>
              </a:r>
            </a:p>
          </p:txBody>
        </p:sp>
        <p:sp>
          <p:nvSpPr>
            <p:cNvPr id="32782" name="Rectangle 13"/>
            <p:cNvSpPr>
              <a:spLocks noChangeArrowheads="1"/>
            </p:cNvSpPr>
            <p:nvPr/>
          </p:nvSpPr>
          <p:spPr bwMode="auto">
            <a:xfrm>
              <a:off x="3984" y="1824"/>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5</a:t>
              </a:r>
              <a:endParaRPr lang="en-US" altLang="zh-CN" sz="1800"/>
            </a:p>
          </p:txBody>
        </p:sp>
        <p:sp>
          <p:nvSpPr>
            <p:cNvPr id="32783"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600" b="1">
                  <a:solidFill>
                    <a:srgbClr val="FF3300"/>
                  </a:solidFill>
                </a:rPr>
                <a:t>T</a:t>
              </a:r>
              <a:r>
                <a:rPr lang="en-US" altLang="zh-CN" sz="1600" b="1" baseline="-30000">
                  <a:solidFill>
                    <a:srgbClr val="FF3300"/>
                  </a:solidFill>
                </a:rPr>
                <a:t>11</a:t>
              </a:r>
              <a:r>
                <a:rPr lang="en-US" altLang="zh-CN" sz="1600" b="1">
                  <a:solidFill>
                    <a:srgbClr val="FF3300"/>
                  </a:solidFill>
                </a:rPr>
                <a:t>= T</a:t>
              </a:r>
              <a:r>
                <a:rPr lang="en-US" altLang="zh-CN" sz="1600" b="1" baseline="-25000">
                  <a:solidFill>
                    <a:srgbClr val="FF3300"/>
                  </a:solidFill>
                </a:rPr>
                <a:t>2</a:t>
              </a:r>
              <a:endParaRPr lang="en-US" altLang="zh-CN" sz="1600" b="1">
                <a:solidFill>
                  <a:srgbClr val="FF3300"/>
                </a:solidFill>
              </a:endParaRPr>
            </a:p>
            <a:p>
              <a:pPr eaLnBrk="1" hangingPunct="1">
                <a:spcBef>
                  <a:spcPct val="0"/>
                </a:spcBef>
                <a:buFontTx/>
                <a:buNone/>
              </a:pPr>
              <a:r>
                <a:rPr lang="en-US" altLang="zh-CN" sz="1600" b="1">
                  <a:solidFill>
                    <a:srgbClr val="FF3300"/>
                  </a:solidFill>
                </a:rPr>
                <a:t>x=T</a:t>
              </a:r>
              <a:r>
                <a:rPr lang="en-US" altLang="zh-CN" sz="1600" b="1" baseline="-30000">
                  <a:solidFill>
                    <a:srgbClr val="FF3300"/>
                  </a:solidFill>
                </a:rPr>
                <a:t>3</a:t>
              </a:r>
              <a:endParaRPr lang="en-US" altLang="zh-CN" sz="1600" b="1">
                <a:solidFill>
                  <a:srgbClr val="FF3300"/>
                </a:solidFill>
              </a:endParaRPr>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12</a:t>
              </a:r>
              <a:r>
                <a:rPr lang="en-US" altLang="zh-CN" sz="1600" b="1">
                  <a:solidFill>
                    <a:srgbClr val="FF3300"/>
                  </a:solidFill>
                </a:rPr>
                <a:t>= T</a:t>
              </a:r>
              <a:r>
                <a:rPr lang="en-US" altLang="zh-CN" sz="1600" b="1" baseline="-30000">
                  <a:solidFill>
                    <a:srgbClr val="FF3300"/>
                  </a:solidFill>
                </a:rPr>
                <a:t>2</a:t>
              </a:r>
              <a:endParaRPr lang="en-US" altLang="zh-CN" sz="1600" b="1">
                <a:solidFill>
                  <a:srgbClr val="FF3300"/>
                </a:solidFill>
              </a:endParaRPr>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13</a:t>
              </a:r>
              <a:r>
                <a:rPr lang="en-US" altLang="zh-CN" sz="1600" b="1">
                  <a:solidFill>
                    <a:srgbClr val="FF3300"/>
                  </a:solidFill>
                </a:rPr>
                <a:t>= T</a:t>
              </a:r>
              <a:r>
                <a:rPr lang="en-US" altLang="zh-CN" sz="1600" b="1" baseline="-25000">
                  <a:solidFill>
                    <a:srgbClr val="FF3300"/>
                  </a:solidFill>
                </a:rPr>
                <a:t>1</a:t>
              </a:r>
              <a:endParaRPr lang="en-US" altLang="zh-CN" sz="1600" b="1">
                <a:solidFill>
                  <a:srgbClr val="FF3300"/>
                </a:solidFill>
              </a:endParaRPr>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14</a:t>
              </a:r>
              <a:r>
                <a:rPr lang="en-US" altLang="zh-CN" sz="1600" b="1">
                  <a:solidFill>
                    <a:srgbClr val="FF3300"/>
                  </a:solidFill>
                </a:rPr>
                <a:t>= v</a:t>
              </a:r>
            </a:p>
            <a:p>
              <a:pPr eaLnBrk="1" hangingPunct="1">
                <a:spcBef>
                  <a:spcPct val="0"/>
                </a:spcBef>
                <a:buFontTx/>
                <a:buNone/>
              </a:pPr>
              <a:r>
                <a:rPr lang="en-US" altLang="zh-CN" sz="1600" b="1"/>
                <a:t>a [T</a:t>
              </a:r>
              <a:r>
                <a:rPr lang="en-US" altLang="zh-CN" sz="1600" b="1" baseline="-30000"/>
                <a:t>2</a:t>
              </a:r>
              <a:r>
                <a:rPr lang="en-US" altLang="zh-CN" sz="1600" b="1"/>
                <a:t>]=v</a:t>
              </a:r>
            </a:p>
            <a:p>
              <a:pPr eaLnBrk="1" hangingPunct="1">
                <a:spcBef>
                  <a:spcPct val="0"/>
                </a:spcBef>
                <a:buFontTx/>
                <a:buNone/>
              </a:pPr>
              <a:r>
                <a:rPr lang="en-US" altLang="zh-CN" sz="1600" b="1">
                  <a:solidFill>
                    <a:srgbClr val="FF3300"/>
                  </a:solidFill>
                </a:rPr>
                <a:t>T</a:t>
              </a:r>
              <a:r>
                <a:rPr lang="en-US" altLang="zh-CN" sz="1600" b="1" baseline="-30000">
                  <a:solidFill>
                    <a:srgbClr val="FF3300"/>
                  </a:solidFill>
                </a:rPr>
                <a:t>15</a:t>
              </a:r>
              <a:r>
                <a:rPr lang="en-US" altLang="zh-CN" sz="1600" b="1">
                  <a:solidFill>
                    <a:srgbClr val="FF3300"/>
                  </a:solidFill>
                </a:rPr>
                <a:t>= T</a:t>
              </a:r>
              <a:r>
                <a:rPr lang="en-US" altLang="zh-CN" sz="1600" b="1" baseline="-25000">
                  <a:solidFill>
                    <a:srgbClr val="FF3300"/>
                  </a:solidFill>
                </a:rPr>
                <a:t>1</a:t>
              </a:r>
              <a:endParaRPr lang="en-US" altLang="zh-CN" sz="1600" b="1">
                <a:solidFill>
                  <a:srgbClr val="FF3300"/>
                </a:solidFill>
              </a:endParaRPr>
            </a:p>
            <a:p>
              <a:pPr eaLnBrk="1" hangingPunct="1">
                <a:spcBef>
                  <a:spcPct val="0"/>
                </a:spcBef>
                <a:buFontTx/>
                <a:buNone/>
              </a:pPr>
              <a:r>
                <a:rPr lang="en-US" altLang="zh-CN" sz="1600" b="1"/>
                <a:t>a [T</a:t>
              </a:r>
              <a:r>
                <a:rPr lang="en-US" altLang="zh-CN" sz="1600" b="1" baseline="-30000"/>
                <a:t>1</a:t>
              </a:r>
              <a:r>
                <a:rPr lang="en-US" altLang="zh-CN" sz="1600" b="1"/>
                <a:t>]= T</a:t>
              </a:r>
              <a:r>
                <a:rPr lang="en-US" altLang="zh-CN" sz="1600" b="1" baseline="-30000"/>
                <a:t>3</a:t>
              </a:r>
            </a:p>
          </p:txBody>
        </p:sp>
        <p:sp>
          <p:nvSpPr>
            <p:cNvPr id="32784" name="Rectangle 15"/>
            <p:cNvSpPr>
              <a:spLocks noChangeArrowheads="1"/>
            </p:cNvSpPr>
            <p:nvPr/>
          </p:nvSpPr>
          <p:spPr bwMode="auto">
            <a:xfrm>
              <a:off x="5520" y="1824"/>
              <a:ext cx="3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b="1"/>
                <a:t>B</a:t>
              </a:r>
              <a:r>
                <a:rPr lang="en-US" altLang="zh-CN" sz="1800" b="1" baseline="-25000"/>
                <a:t>6</a:t>
              </a:r>
              <a:endParaRPr lang="en-US" altLang="zh-CN" sz="1800"/>
            </a:p>
          </p:txBody>
        </p:sp>
        <p:sp>
          <p:nvSpPr>
            <p:cNvPr id="32785"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2786"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2787" name="Freeform 18"/>
            <p:cNvSpPr>
              <a:spLocks/>
            </p:cNvSpPr>
            <p:nvPr/>
          </p:nvSpPr>
          <p:spPr bwMode="auto">
            <a:xfrm>
              <a:off x="1631" y="528"/>
              <a:ext cx="2448" cy="3408"/>
            </a:xfrm>
            <a:custGeom>
              <a:avLst/>
              <a:gdLst>
                <a:gd name="T0" fmla="*/ 0 w 2448"/>
                <a:gd name="T1" fmla="*/ 3454 h 3264"/>
                <a:gd name="T2" fmla="*/ 0 w 2448"/>
                <a:gd name="T3" fmla="*/ 3558 h 3264"/>
                <a:gd name="T4" fmla="*/ 1008 w 2448"/>
                <a:gd name="T5" fmla="*/ 3558 h 3264"/>
                <a:gd name="T6" fmla="*/ 1008 w 2448"/>
                <a:gd name="T7" fmla="*/ 0 h 3264"/>
                <a:gd name="T8" fmla="*/ 2448 w 2448"/>
                <a:gd name="T9" fmla="*/ 0 h 3264"/>
                <a:gd name="T10" fmla="*/ 2448 w 2448"/>
                <a:gd name="T11" fmla="*/ 523 h 326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2788"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2789"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2790"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2791"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32792"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grpSp>
      <p:sp>
        <p:nvSpPr>
          <p:cNvPr id="25" name="Rectangle 6"/>
          <p:cNvSpPr>
            <a:spLocks noChangeArrowheads="1"/>
          </p:cNvSpPr>
          <p:nvPr/>
        </p:nvSpPr>
        <p:spPr bwMode="auto">
          <a:xfrm>
            <a:off x="5600701" y="3949304"/>
            <a:ext cx="3478213" cy="1200329"/>
          </a:xfrm>
          <a:prstGeom prst="rect">
            <a:avLst/>
          </a:prstGeom>
          <a:solidFill>
            <a:schemeClr val="accent1">
              <a:lumMod val="20000"/>
              <a:lumOff val="80000"/>
            </a:schemeClr>
          </a:solidFill>
          <a:ln>
            <a:noFill/>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zh-CN" altLang="zh-CN" sz="1800" dirty="0">
                <a:solidFill>
                  <a:srgbClr val="000000"/>
                </a:solidFill>
                <a:latin typeface="宋体" panose="02010600030101010101" pitchFamily="2" charset="-122"/>
              </a:rPr>
              <a:t>某些变量的赋值</a:t>
            </a:r>
            <a:r>
              <a:rPr lang="en-US" altLang="zh-CN" sz="1800" dirty="0">
                <a:solidFill>
                  <a:srgbClr val="000000"/>
                </a:solidFill>
                <a:latin typeface="宋体" panose="02010600030101010101" pitchFamily="2" charset="-122"/>
              </a:rPr>
              <a:t>,</a:t>
            </a:r>
            <a:r>
              <a:rPr lang="zh-CN" altLang="zh-CN" sz="1800" dirty="0">
                <a:solidFill>
                  <a:srgbClr val="000000"/>
                </a:solidFill>
                <a:latin typeface="宋体" panose="02010600030101010101" pitchFamily="2" charset="-122"/>
              </a:rPr>
              <a:t>在后面的程序中不再有用</a:t>
            </a:r>
            <a:r>
              <a:rPr lang="en-US" altLang="zh-CN" sz="1800" dirty="0">
                <a:solidFill>
                  <a:srgbClr val="000000"/>
                </a:solidFill>
                <a:latin typeface="宋体" panose="02010600030101010101" pitchFamily="2" charset="-122"/>
              </a:rPr>
              <a:t>(T6,T7,T8,T9,T11,T12,T13,T14,T15)</a:t>
            </a:r>
            <a:endParaRPr lang="zh-CN" altLang="zh-CN" sz="1800" dirty="0">
              <a:solidFill>
                <a:srgbClr val="000000"/>
              </a:solidFill>
              <a:latin typeface="宋体" panose="02010600030101010101" pitchFamily="2" charset="-122"/>
            </a:endParaRPr>
          </a:p>
        </p:txBody>
      </p:sp>
    </p:spTree>
    <p:extLst>
      <p:ext uri="{BB962C8B-B14F-4D97-AF65-F5344CB8AC3E}">
        <p14:creationId xmlns:p14="http://schemas.microsoft.com/office/powerpoint/2010/main" val="19222321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85800" y="457200"/>
            <a:ext cx="1676400" cy="857250"/>
          </a:xfrm>
        </p:spPr>
        <p:txBody>
          <a:bodyPr/>
          <a:lstStyle/>
          <a:p>
            <a:pPr eaLnBrk="1" hangingPunct="1"/>
            <a:endParaRPr lang="zh-CN" altLang="zh-CN"/>
          </a:p>
        </p:txBody>
      </p:sp>
      <p:graphicFrame>
        <p:nvGraphicFramePr>
          <p:cNvPr id="33796" name="Object 5"/>
          <p:cNvGraphicFramePr>
            <a:graphicFrameLocks noChangeAspect="1"/>
          </p:cNvGraphicFramePr>
          <p:nvPr>
            <p:extLst>
              <p:ext uri="{D42A27DB-BD31-4B8C-83A1-F6EECF244321}">
                <p14:modId xmlns:p14="http://schemas.microsoft.com/office/powerpoint/2010/main" val="1179857986"/>
              </p:ext>
            </p:extLst>
          </p:nvPr>
        </p:nvGraphicFramePr>
        <p:xfrm>
          <a:off x="4283968" y="1441921"/>
          <a:ext cx="4854292" cy="3722157"/>
        </p:xfrm>
        <a:graphic>
          <a:graphicData uri="http://schemas.openxmlformats.org/presentationml/2006/ole">
            <mc:AlternateContent xmlns:mc="http://schemas.openxmlformats.org/markup-compatibility/2006">
              <mc:Choice xmlns:v="urn:schemas-microsoft-com:vml" Requires="v">
                <p:oleObj name="Visio" r:id="rId3" imgW="3529746" imgH="3479685" progId="Visio.Drawing.11">
                  <p:embed/>
                </p:oleObj>
              </mc:Choice>
              <mc:Fallback>
                <p:oleObj name="Visio" r:id="rId3" imgW="3529746" imgH="3479685"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3968" y="1441921"/>
                        <a:ext cx="4854292" cy="3722157"/>
                      </a:xfrm>
                      <a:prstGeom prst="rect">
                        <a:avLst/>
                      </a:prstGeom>
                      <a:solidFill>
                        <a:schemeClr val="bg2"/>
                      </a:solidFill>
                      <a:ln>
                        <a:noFill/>
                      </a:ln>
                      <a:effec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400692297"/>
              </p:ext>
            </p:extLst>
          </p:nvPr>
        </p:nvGraphicFramePr>
        <p:xfrm>
          <a:off x="0" y="195486"/>
          <a:ext cx="4245431" cy="3816132"/>
        </p:xfrm>
        <a:graphic>
          <a:graphicData uri="http://schemas.openxmlformats.org/presentationml/2006/ole">
            <mc:AlternateContent xmlns:mc="http://schemas.openxmlformats.org/markup-compatibility/2006">
              <mc:Choice xmlns:v="urn:schemas-microsoft-com:vml" Requires="v">
                <p:oleObj name="Visio" r:id="rId5" imgW="3493871" imgH="4611751" progId="Visio.Drawing.11">
                  <p:embed/>
                </p:oleObj>
              </mc:Choice>
              <mc:Fallback>
                <p:oleObj name="Visio" r:id="rId5" imgW="3493871" imgH="4611751" progId="Visio.Drawing.11">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95486"/>
                        <a:ext cx="4245431" cy="3816132"/>
                      </a:xfrm>
                      <a:prstGeom prst="rect">
                        <a:avLst/>
                      </a:prstGeom>
                      <a:solidFill>
                        <a:schemeClr val="accent3">
                          <a:lumMod val="20000"/>
                          <a:lumOff val="80000"/>
                        </a:schemeClr>
                      </a:solidFill>
                      <a:ln>
                        <a:noFill/>
                      </a:ln>
                    </p:spPr>
                  </p:pic>
                </p:oleObj>
              </mc:Fallback>
            </mc:AlternateContent>
          </a:graphicData>
        </a:graphic>
      </p:graphicFrame>
      <p:sp>
        <p:nvSpPr>
          <p:cNvPr id="3" name="矩形标注 2"/>
          <p:cNvSpPr/>
          <p:nvPr/>
        </p:nvSpPr>
        <p:spPr>
          <a:xfrm>
            <a:off x="2051720" y="4299942"/>
            <a:ext cx="2016224" cy="843558"/>
          </a:xfrm>
          <a:prstGeom prst="wedgeRectCallout">
            <a:avLst>
              <a:gd name="adj1" fmla="val 145458"/>
              <a:gd name="adj2" fmla="val -12709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400" dirty="0"/>
              <a:t>优化后的流图</a:t>
            </a:r>
            <a:endParaRPr lang="zh-CN" altLang="zh-CN" sz="2400" dirty="0"/>
          </a:p>
        </p:txBody>
      </p:sp>
    </p:spTree>
    <p:extLst>
      <p:ext uri="{BB962C8B-B14F-4D97-AF65-F5344CB8AC3E}">
        <p14:creationId xmlns:p14="http://schemas.microsoft.com/office/powerpoint/2010/main" val="3870365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26"/>
          <p:cNvSpPr>
            <a:spLocks noGrp="1" noChangeArrowheads="1"/>
          </p:cNvSpPr>
          <p:nvPr>
            <p:ph type="title"/>
          </p:nvPr>
        </p:nvSpPr>
        <p:spPr>
          <a:xfrm>
            <a:off x="3696" y="0"/>
            <a:ext cx="7592640" cy="902990"/>
          </a:xfrm>
          <a:noFill/>
        </p:spPr>
        <p:txBody>
          <a:bodyPr>
            <a:noAutofit/>
          </a:bodyPr>
          <a:lstStyle/>
          <a:p>
            <a:pPr eaLnBrk="1" hangingPunct="1"/>
            <a:r>
              <a:rPr lang="zh-CN" altLang="en-US" sz="3200" dirty="0">
                <a:solidFill>
                  <a:srgbClr val="CC00FF"/>
                </a:solidFill>
                <a:sym typeface="Symbol" pitchFamily="18" charset="2"/>
              </a:rPr>
              <a:t>优化技术</a:t>
            </a:r>
            <a:r>
              <a:rPr lang="en-US" altLang="zh-CN" sz="3200" dirty="0">
                <a:solidFill>
                  <a:srgbClr val="CC00FF"/>
                </a:solidFill>
                <a:sym typeface="Symbol" pitchFamily="18" charset="2"/>
              </a:rPr>
              <a:t>4——</a:t>
            </a:r>
            <a:r>
              <a:rPr lang="zh-CN" altLang="en-US" sz="3200" dirty="0">
                <a:solidFill>
                  <a:srgbClr val="CC00FF"/>
                </a:solidFill>
                <a:sym typeface="Symbol" pitchFamily="18" charset="2"/>
              </a:rPr>
              <a:t>对程序进行代数恒等变换（代数化简）</a:t>
            </a:r>
          </a:p>
        </p:txBody>
      </p:sp>
      <p:sp>
        <p:nvSpPr>
          <p:cNvPr id="34819" name="Rectangle 1027"/>
          <p:cNvSpPr>
            <a:spLocks noGrp="1" noChangeArrowheads="1"/>
          </p:cNvSpPr>
          <p:nvPr>
            <p:ph type="body" idx="1"/>
          </p:nvPr>
        </p:nvSpPr>
        <p:spPr>
          <a:xfrm>
            <a:off x="539552" y="1419622"/>
            <a:ext cx="7572375" cy="3194497"/>
          </a:xfrm>
          <a:noFill/>
          <a:ln w="28575">
            <a:solidFill>
              <a:srgbClr val="00FF00"/>
            </a:solidFill>
            <a:miter lim="800000"/>
            <a:headEnd/>
            <a:tailEnd/>
          </a:ln>
        </p:spPr>
        <p:txBody>
          <a:bodyPr>
            <a:normAutofit/>
          </a:bodyPr>
          <a:lstStyle/>
          <a:p>
            <a:pPr>
              <a:buFontTx/>
              <a:buNone/>
            </a:pPr>
            <a:r>
              <a:rPr lang="zh-CN" altLang="zh-CN" sz="2200" b="1"/>
              <a:t>简单的代数变换</a:t>
            </a:r>
            <a:r>
              <a:rPr lang="zh-CN" altLang="en-US" sz="2200" b="1"/>
              <a:t>：</a:t>
            </a:r>
            <a:r>
              <a:rPr lang="zh-CN" altLang="zh-CN" sz="2200"/>
              <a:t>利用代数恒等变换减少程序中的运算量</a:t>
            </a:r>
            <a:endParaRPr lang="en-US" altLang="zh-CN" sz="2200"/>
          </a:p>
          <a:p>
            <a:pPr>
              <a:buFontTx/>
              <a:buNone/>
            </a:pPr>
            <a:r>
              <a:rPr lang="en-US" altLang="zh-CN" sz="2200"/>
              <a:t>x+0 = x                          0+x = x</a:t>
            </a:r>
          </a:p>
          <a:p>
            <a:pPr eaLnBrk="1" hangingPunct="1">
              <a:spcBef>
                <a:spcPct val="10000"/>
              </a:spcBef>
              <a:buFontTx/>
              <a:buNone/>
            </a:pPr>
            <a:r>
              <a:rPr lang="en-US" altLang="zh-CN" sz="2200"/>
              <a:t>x*1 = x                          1*x = x</a:t>
            </a:r>
          </a:p>
          <a:p>
            <a:pPr eaLnBrk="1" hangingPunct="1">
              <a:spcBef>
                <a:spcPct val="10000"/>
              </a:spcBef>
              <a:buFontTx/>
              <a:buNone/>
            </a:pPr>
            <a:r>
              <a:rPr lang="en-US" altLang="zh-CN" sz="2200"/>
              <a:t>0/x = 0                           x-0 = x</a:t>
            </a:r>
          </a:p>
          <a:p>
            <a:pPr eaLnBrk="1" hangingPunct="1">
              <a:spcBef>
                <a:spcPct val="10000"/>
              </a:spcBef>
              <a:buFontTx/>
              <a:buNone/>
            </a:pPr>
            <a:r>
              <a:rPr lang="en-US" altLang="zh-CN" sz="2200"/>
              <a:t>b &amp;&amp; true = b                b &amp;&amp; false = false</a:t>
            </a:r>
          </a:p>
          <a:p>
            <a:pPr eaLnBrk="1" hangingPunct="1">
              <a:spcBef>
                <a:spcPct val="10000"/>
              </a:spcBef>
              <a:buFontTx/>
              <a:buNone/>
            </a:pPr>
            <a:r>
              <a:rPr lang="en-US" altLang="zh-CN" sz="2200"/>
              <a:t>b || true = true                 b || false = b</a:t>
            </a:r>
          </a:p>
        </p:txBody>
      </p:sp>
    </p:spTree>
    <p:extLst>
      <p:ext uri="{BB962C8B-B14F-4D97-AF65-F5344CB8AC3E}">
        <p14:creationId xmlns:p14="http://schemas.microsoft.com/office/powerpoint/2010/main" val="15754699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395536" y="267494"/>
            <a:ext cx="6840114" cy="827485"/>
          </a:xfrm>
          <a:noFill/>
        </p:spPr>
        <p:txBody>
          <a:bodyPr>
            <a:noAutofit/>
          </a:bodyPr>
          <a:lstStyle/>
          <a:p>
            <a:r>
              <a:rPr lang="zh-CN" altLang="en-US" sz="2800" dirty="0">
                <a:solidFill>
                  <a:srgbClr val="CC00FF"/>
                </a:solidFill>
                <a:sym typeface="Symbol" pitchFamily="18" charset="2"/>
              </a:rPr>
              <a:t>优化技术</a:t>
            </a:r>
            <a:r>
              <a:rPr lang="en-US" altLang="zh-CN" sz="2800" dirty="0">
                <a:solidFill>
                  <a:srgbClr val="CC00FF"/>
                </a:solidFill>
                <a:sym typeface="Symbol" pitchFamily="18" charset="2"/>
              </a:rPr>
              <a:t>4——</a:t>
            </a:r>
            <a:r>
              <a:rPr lang="zh-CN" altLang="en-US" sz="2800" dirty="0">
                <a:solidFill>
                  <a:srgbClr val="CC00FF"/>
                </a:solidFill>
                <a:sym typeface="Symbol" pitchFamily="18" charset="2"/>
              </a:rPr>
              <a:t>对程序进行代数恒等变换（降低运算强度）</a:t>
            </a:r>
          </a:p>
        </p:txBody>
      </p:sp>
      <p:sp>
        <p:nvSpPr>
          <p:cNvPr id="35843" name="Rectangle 3"/>
          <p:cNvSpPr>
            <a:spLocks noGrp="1" noChangeArrowheads="1"/>
          </p:cNvSpPr>
          <p:nvPr>
            <p:ph type="body" idx="1"/>
          </p:nvPr>
        </p:nvSpPr>
        <p:spPr>
          <a:xfrm>
            <a:off x="1000125" y="1446610"/>
            <a:ext cx="7024688" cy="2611040"/>
          </a:xfrm>
        </p:spPr>
        <p:txBody>
          <a:bodyPr>
            <a:normAutofit/>
          </a:bodyPr>
          <a:lstStyle/>
          <a:p>
            <a:pPr>
              <a:buFontTx/>
              <a:buNone/>
            </a:pPr>
            <a:r>
              <a:rPr lang="zh-CN" altLang="zh-CN" sz="2200" b="1" dirty="0"/>
              <a:t>强度削弱</a:t>
            </a:r>
            <a:r>
              <a:rPr lang="zh-CN" altLang="en-US" sz="2200" b="1" dirty="0"/>
              <a:t>：</a:t>
            </a:r>
            <a:r>
              <a:rPr lang="zh-CN" altLang="zh-CN" sz="2200" dirty="0"/>
              <a:t>用较快的运算代替较慢的运算</a:t>
            </a:r>
            <a:endParaRPr lang="en-US" altLang="zh-CN" sz="2200" dirty="0"/>
          </a:p>
          <a:p>
            <a:pPr eaLnBrk="1" hangingPunct="1">
              <a:buFontTx/>
              <a:buNone/>
            </a:pPr>
            <a:r>
              <a:rPr lang="en-US" altLang="zh-CN" sz="2200" dirty="0"/>
              <a:t>a) </a:t>
            </a:r>
            <a:r>
              <a:rPr lang="en-US" altLang="zh-CN" sz="2200" dirty="0" err="1"/>
              <a:t>i</a:t>
            </a:r>
            <a:r>
              <a:rPr lang="en-US" altLang="zh-CN" sz="2200" dirty="0"/>
              <a:t>*2 = 2*</a:t>
            </a:r>
            <a:r>
              <a:rPr lang="en-US" altLang="zh-CN" sz="2200" dirty="0" err="1"/>
              <a:t>i</a:t>
            </a:r>
            <a:r>
              <a:rPr lang="en-US" altLang="zh-CN" sz="2200" dirty="0"/>
              <a:t> = </a:t>
            </a:r>
            <a:r>
              <a:rPr lang="en-US" altLang="zh-CN" sz="2200" dirty="0" err="1"/>
              <a:t>i+i</a:t>
            </a:r>
            <a:r>
              <a:rPr lang="en-US" altLang="zh-CN" sz="2200" dirty="0"/>
              <a:t> = </a:t>
            </a:r>
            <a:r>
              <a:rPr lang="en-US" altLang="zh-CN" sz="2200" dirty="0" err="1"/>
              <a:t>i</a:t>
            </a:r>
            <a:r>
              <a:rPr lang="en-US" altLang="zh-CN" sz="2200" dirty="0"/>
              <a:t>&lt;&lt;2</a:t>
            </a:r>
          </a:p>
          <a:p>
            <a:pPr eaLnBrk="1" hangingPunct="1">
              <a:buFontTx/>
              <a:buNone/>
            </a:pPr>
            <a:r>
              <a:rPr lang="en-US" altLang="zh-CN" sz="2200" dirty="0"/>
              <a:t>b) </a:t>
            </a:r>
            <a:r>
              <a:rPr lang="en-US" altLang="zh-CN" sz="2200" dirty="0" err="1"/>
              <a:t>i</a:t>
            </a:r>
            <a:r>
              <a:rPr lang="en-US" altLang="zh-CN" sz="2200" dirty="0"/>
              <a:t>/2 = (</a:t>
            </a:r>
            <a:r>
              <a:rPr lang="en-US" altLang="zh-CN" sz="2200" dirty="0" err="1"/>
              <a:t>int</a:t>
            </a:r>
            <a:r>
              <a:rPr lang="en-US" altLang="zh-CN" sz="2200" dirty="0"/>
              <a:t>)(</a:t>
            </a:r>
            <a:r>
              <a:rPr lang="en-US" altLang="zh-CN" sz="2200" dirty="0" err="1"/>
              <a:t>i</a:t>
            </a:r>
            <a:r>
              <a:rPr lang="en-US" altLang="zh-CN" sz="2200" dirty="0"/>
              <a:t>*0.5)</a:t>
            </a:r>
          </a:p>
          <a:p>
            <a:pPr eaLnBrk="1" hangingPunct="1">
              <a:buFontTx/>
              <a:buNone/>
            </a:pPr>
            <a:r>
              <a:rPr lang="en-US" altLang="zh-CN" sz="2200" dirty="0"/>
              <a:t>c) 0-1 = -1</a:t>
            </a:r>
          </a:p>
          <a:p>
            <a:pPr eaLnBrk="1" hangingPunct="1">
              <a:buFontTx/>
              <a:buNone/>
            </a:pPr>
            <a:r>
              <a:rPr lang="en-US" altLang="zh-CN" sz="2200" dirty="0"/>
              <a:t>d) f*2 = 2.0 * f = f + f</a:t>
            </a:r>
          </a:p>
          <a:p>
            <a:pPr eaLnBrk="1" hangingPunct="1">
              <a:buFontTx/>
              <a:buNone/>
            </a:pPr>
            <a:r>
              <a:rPr lang="en-US" altLang="zh-CN" sz="2200" dirty="0"/>
              <a:t>e) f/2.0 = f*0.5</a:t>
            </a:r>
          </a:p>
        </p:txBody>
      </p:sp>
    </p:spTree>
    <p:extLst>
      <p:ext uri="{BB962C8B-B14F-4D97-AF65-F5344CB8AC3E}">
        <p14:creationId xmlns:p14="http://schemas.microsoft.com/office/powerpoint/2010/main" val="36732007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07504" y="123478"/>
            <a:ext cx="6489353" cy="864096"/>
          </a:xfrm>
          <a:noFill/>
        </p:spPr>
        <p:txBody>
          <a:bodyPr>
            <a:noAutofit/>
          </a:bodyPr>
          <a:lstStyle/>
          <a:p>
            <a:r>
              <a:rPr lang="zh-CN" altLang="en-US" sz="2800" dirty="0">
                <a:solidFill>
                  <a:srgbClr val="CC00FF"/>
                </a:solidFill>
                <a:sym typeface="Symbol" pitchFamily="18" charset="2"/>
              </a:rPr>
              <a:t>优化技术</a:t>
            </a:r>
            <a:r>
              <a:rPr lang="en-US" altLang="zh-CN" sz="2800" dirty="0">
                <a:solidFill>
                  <a:srgbClr val="CC00FF"/>
                </a:solidFill>
                <a:sym typeface="Symbol" pitchFamily="18" charset="2"/>
              </a:rPr>
              <a:t>4——</a:t>
            </a:r>
            <a:r>
              <a:rPr lang="zh-CN" altLang="en-US" sz="2800" dirty="0">
                <a:solidFill>
                  <a:srgbClr val="CC00FF"/>
                </a:solidFill>
                <a:sym typeface="Symbol" pitchFamily="18" charset="2"/>
              </a:rPr>
              <a:t>对程序进行代数恒等变换（合并已知量）</a:t>
            </a:r>
          </a:p>
        </p:txBody>
      </p:sp>
      <p:sp>
        <p:nvSpPr>
          <p:cNvPr id="36867" name="Rectangle 3"/>
          <p:cNvSpPr>
            <a:spLocks noGrp="1" noChangeArrowheads="1"/>
          </p:cNvSpPr>
          <p:nvPr>
            <p:ph type="body" idx="1"/>
          </p:nvPr>
        </p:nvSpPr>
        <p:spPr>
          <a:xfrm>
            <a:off x="1557338" y="2675335"/>
            <a:ext cx="1941512" cy="1295400"/>
          </a:xfrm>
          <a:ln>
            <a:solidFill>
              <a:schemeClr val="tx1"/>
            </a:solidFill>
            <a:miter lim="800000"/>
            <a:headEnd/>
            <a:tailEnd/>
          </a:ln>
        </p:spPr>
        <p:txBody>
          <a:bodyPr/>
          <a:lstStyle/>
          <a:p>
            <a:pPr eaLnBrk="1" hangingPunct="1">
              <a:lnSpc>
                <a:spcPct val="90000"/>
              </a:lnSpc>
              <a:buFontTx/>
              <a:buNone/>
            </a:pPr>
            <a:r>
              <a:rPr lang="en-US" altLang="zh-CN" dirty="0"/>
              <a:t>T1=2</a:t>
            </a:r>
          </a:p>
          <a:p>
            <a:pPr eaLnBrk="1" hangingPunct="1">
              <a:lnSpc>
                <a:spcPct val="90000"/>
              </a:lnSpc>
              <a:buFontTx/>
              <a:buNone/>
            </a:pPr>
            <a:r>
              <a:rPr lang="en-US" altLang="zh-CN" dirty="0"/>
              <a:t>……</a:t>
            </a:r>
          </a:p>
          <a:p>
            <a:pPr eaLnBrk="1" hangingPunct="1">
              <a:lnSpc>
                <a:spcPct val="90000"/>
              </a:lnSpc>
              <a:buFontTx/>
              <a:buNone/>
            </a:pPr>
            <a:r>
              <a:rPr lang="en-US" altLang="zh-CN" dirty="0"/>
              <a:t>T2=4*T1 </a:t>
            </a:r>
          </a:p>
        </p:txBody>
      </p:sp>
      <p:sp>
        <p:nvSpPr>
          <p:cNvPr id="198660" name="Rectangle 4"/>
          <p:cNvSpPr>
            <a:spLocks noChangeArrowheads="1"/>
          </p:cNvSpPr>
          <p:nvPr/>
        </p:nvSpPr>
        <p:spPr bwMode="auto">
          <a:xfrm>
            <a:off x="5734051" y="2675335"/>
            <a:ext cx="1725613" cy="1295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90000"/>
              </a:lnSpc>
              <a:buFontTx/>
              <a:buNone/>
            </a:pPr>
            <a:r>
              <a:rPr lang="en-US" altLang="zh-CN" sz="2400" dirty="0"/>
              <a:t>T1=2</a:t>
            </a:r>
          </a:p>
          <a:p>
            <a:pPr eaLnBrk="1" hangingPunct="1">
              <a:lnSpc>
                <a:spcPct val="90000"/>
              </a:lnSpc>
              <a:buFontTx/>
              <a:buNone/>
            </a:pPr>
            <a:r>
              <a:rPr lang="en-US" altLang="zh-CN" sz="2400" dirty="0"/>
              <a:t>……</a:t>
            </a:r>
          </a:p>
          <a:p>
            <a:pPr eaLnBrk="1" hangingPunct="1">
              <a:lnSpc>
                <a:spcPct val="90000"/>
              </a:lnSpc>
              <a:buFontTx/>
              <a:buNone/>
            </a:pPr>
            <a:r>
              <a:rPr lang="en-US" altLang="zh-CN" sz="2400" dirty="0"/>
              <a:t>T2=8 </a:t>
            </a:r>
          </a:p>
        </p:txBody>
      </p:sp>
      <p:sp>
        <p:nvSpPr>
          <p:cNvPr id="198661" name="AutoShape 5"/>
          <p:cNvSpPr>
            <a:spLocks noChangeArrowheads="1"/>
          </p:cNvSpPr>
          <p:nvPr/>
        </p:nvSpPr>
        <p:spPr bwMode="auto">
          <a:xfrm>
            <a:off x="3500438" y="3107532"/>
            <a:ext cx="2233612" cy="270272"/>
          </a:xfrm>
          <a:prstGeom prst="rightArrow">
            <a:avLst>
              <a:gd name="adj1" fmla="val 50000"/>
              <a:gd name="adj2" fmla="val 154956"/>
            </a:avLst>
          </a:prstGeom>
          <a:solidFill>
            <a:schemeClr val="accent1"/>
          </a:solidFill>
          <a:ln w="9525">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400"/>
          </a:p>
        </p:txBody>
      </p:sp>
      <p:sp>
        <p:nvSpPr>
          <p:cNvPr id="36870" name="矩形 5"/>
          <p:cNvSpPr>
            <a:spLocks noChangeArrowheads="1"/>
          </p:cNvSpPr>
          <p:nvPr/>
        </p:nvSpPr>
        <p:spPr bwMode="auto">
          <a:xfrm>
            <a:off x="1115616" y="1419622"/>
            <a:ext cx="72866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zh-CN" sz="2200" dirty="0"/>
              <a:t>如果在编译时能推断出一个表达式的值是常量，就用该常量代替它</a:t>
            </a:r>
            <a:endParaRPr lang="zh-CN" altLang="en-US" sz="2200" dirty="0"/>
          </a:p>
        </p:txBody>
      </p:sp>
    </p:spTree>
    <p:extLst>
      <p:ext uri="{BB962C8B-B14F-4D97-AF65-F5344CB8AC3E}">
        <p14:creationId xmlns:p14="http://schemas.microsoft.com/office/powerpoint/2010/main" val="28265098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866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86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0" grpId="0" animBg="1"/>
      <p:bldP spid="19866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07504" y="51470"/>
            <a:ext cx="6696744" cy="699632"/>
          </a:xfrm>
          <a:noFill/>
        </p:spPr>
        <p:txBody>
          <a:bodyPr>
            <a:noAutofit/>
          </a:bodyPr>
          <a:lstStyle/>
          <a:p>
            <a:r>
              <a:rPr lang="zh-CN" altLang="en-US" sz="2800" dirty="0">
                <a:solidFill>
                  <a:srgbClr val="CC00FF"/>
                </a:solidFill>
                <a:sym typeface="Symbol" pitchFamily="18" charset="2"/>
              </a:rPr>
              <a:t>优化技术</a:t>
            </a:r>
            <a:r>
              <a:rPr lang="en-US" altLang="zh-CN" sz="2800" dirty="0">
                <a:solidFill>
                  <a:srgbClr val="CC00FF"/>
                </a:solidFill>
                <a:sym typeface="Symbol" pitchFamily="18" charset="2"/>
              </a:rPr>
              <a:t>4——</a:t>
            </a:r>
            <a:r>
              <a:rPr lang="zh-CN" altLang="en-US" sz="2800" dirty="0">
                <a:solidFill>
                  <a:srgbClr val="CC00FF"/>
                </a:solidFill>
                <a:sym typeface="Symbol" pitchFamily="18" charset="2"/>
              </a:rPr>
              <a:t>对程序进行代数恒等变换（代数变换）</a:t>
            </a:r>
          </a:p>
        </p:txBody>
      </p:sp>
      <p:sp>
        <p:nvSpPr>
          <p:cNvPr id="37891" name="矩形 5"/>
          <p:cNvSpPr>
            <a:spLocks noChangeArrowheads="1"/>
          </p:cNvSpPr>
          <p:nvPr/>
        </p:nvSpPr>
        <p:spPr bwMode="auto">
          <a:xfrm>
            <a:off x="357188" y="915566"/>
            <a:ext cx="85725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zh-CN" sz="2000" b="1" dirty="0"/>
              <a:t>应用交换律和结合律进行代数变换</a:t>
            </a:r>
          </a:p>
          <a:p>
            <a:pPr eaLnBrk="1" hangingPunct="1">
              <a:spcBef>
                <a:spcPct val="0"/>
              </a:spcBef>
              <a:buFontTx/>
              <a:buNone/>
            </a:pPr>
            <a:r>
              <a:rPr lang="en-US" altLang="zh-CN" sz="2000" dirty="0"/>
              <a:t>+</a:t>
            </a:r>
            <a:r>
              <a:rPr lang="zh-CN" altLang="zh-CN" sz="2000" dirty="0"/>
              <a:t>的两个运算对象是可交换的，则</a:t>
            </a:r>
            <a:r>
              <a:rPr lang="en-US" altLang="zh-CN" sz="2000" dirty="0" err="1"/>
              <a:t>x+y</a:t>
            </a:r>
            <a:r>
              <a:rPr lang="en-US" altLang="zh-CN" sz="2000" dirty="0"/>
              <a:t>=</a:t>
            </a:r>
            <a:r>
              <a:rPr lang="en-US" altLang="zh-CN" sz="2000" dirty="0" err="1"/>
              <a:t>y+x</a:t>
            </a:r>
            <a:r>
              <a:rPr lang="zh-CN" altLang="zh-CN" sz="2000" dirty="0"/>
              <a:t>。有时交换运算对象后就可以发现，可以利用前面的删除公共子表达式等一系列优化方式进行优化</a:t>
            </a:r>
            <a:endParaRPr lang="zh-CN" altLang="en-US" sz="2000" dirty="0"/>
          </a:p>
        </p:txBody>
      </p:sp>
      <p:sp>
        <p:nvSpPr>
          <p:cNvPr id="37892" name="Rectangle 1"/>
          <p:cNvSpPr>
            <a:spLocks noChangeArrowheads="1"/>
          </p:cNvSpPr>
          <p:nvPr/>
        </p:nvSpPr>
        <p:spPr bwMode="auto">
          <a:xfrm>
            <a:off x="2611574" y="3370995"/>
            <a:ext cx="3760626" cy="646331"/>
          </a:xfrm>
          <a:prstGeom prst="rect">
            <a:avLst/>
          </a:prstGeom>
          <a:solidFill>
            <a:schemeClr val="bg1"/>
          </a:solidFill>
          <a:ln>
            <a:noFill/>
          </a:ln>
        </p:spPr>
        <p:txBody>
          <a:bodyPr wrap="square" anchor="ct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lang="zh-CN" altLang="en-US" sz="1800" dirty="0"/>
              <a:t>如果</a:t>
            </a:r>
            <a:r>
              <a:rPr lang="en-US" altLang="zh-CN" sz="1800" dirty="0"/>
              <a:t>t</a:t>
            </a:r>
            <a:r>
              <a:rPr lang="zh-CN" altLang="en-US" sz="1800" dirty="0"/>
              <a:t>在基本块外不需要，利用交换律和结合律可以把这个序列改成 </a:t>
            </a:r>
          </a:p>
        </p:txBody>
      </p:sp>
      <p:sp>
        <p:nvSpPr>
          <p:cNvPr id="2" name="矩形 1"/>
          <p:cNvSpPr/>
          <p:nvPr/>
        </p:nvSpPr>
        <p:spPr>
          <a:xfrm>
            <a:off x="1780968" y="2278673"/>
            <a:ext cx="1512168"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spcBef>
                <a:spcPct val="0"/>
              </a:spcBef>
              <a:buFontTx/>
              <a:buNone/>
            </a:pPr>
            <a:r>
              <a:rPr lang="en-US" altLang="zh-CN" dirty="0"/>
              <a:t>a=</a:t>
            </a:r>
            <a:r>
              <a:rPr lang="en-US" altLang="zh-CN" dirty="0" err="1"/>
              <a:t>b+c</a:t>
            </a:r>
            <a:endParaRPr lang="en-US" altLang="zh-CN" dirty="0"/>
          </a:p>
          <a:p>
            <a:pPr>
              <a:spcBef>
                <a:spcPct val="0"/>
              </a:spcBef>
              <a:buFontTx/>
              <a:buNone/>
            </a:pPr>
            <a:r>
              <a:rPr lang="en-US" altLang="zh-CN" dirty="0"/>
              <a:t>e=</a:t>
            </a:r>
            <a:r>
              <a:rPr lang="en-US" altLang="zh-CN" dirty="0" err="1"/>
              <a:t>c+d+b</a:t>
            </a:r>
            <a:endParaRPr lang="en-US" altLang="zh-CN" dirty="0"/>
          </a:p>
        </p:txBody>
      </p:sp>
      <p:sp>
        <p:nvSpPr>
          <p:cNvPr id="3" name="矩形 2"/>
          <p:cNvSpPr/>
          <p:nvPr/>
        </p:nvSpPr>
        <p:spPr>
          <a:xfrm>
            <a:off x="4517272" y="2126805"/>
            <a:ext cx="1206856"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spcBef>
                <a:spcPct val="0"/>
              </a:spcBef>
              <a:buFontTx/>
              <a:buNone/>
            </a:pPr>
            <a:r>
              <a:rPr lang="en-US" altLang="zh-CN" dirty="0"/>
              <a:t>a=</a:t>
            </a:r>
            <a:r>
              <a:rPr lang="en-US" altLang="zh-CN" dirty="0" err="1"/>
              <a:t>b+c</a:t>
            </a:r>
            <a:endParaRPr lang="en-US" altLang="zh-CN" dirty="0"/>
          </a:p>
          <a:p>
            <a:pPr>
              <a:spcBef>
                <a:spcPct val="0"/>
              </a:spcBef>
              <a:buFontTx/>
              <a:buNone/>
            </a:pPr>
            <a:r>
              <a:rPr lang="en-US" altLang="zh-CN" dirty="0"/>
              <a:t>t=</a:t>
            </a:r>
            <a:r>
              <a:rPr lang="en-US" altLang="zh-CN" dirty="0" err="1"/>
              <a:t>c+d</a:t>
            </a:r>
            <a:endParaRPr lang="en-US" altLang="zh-CN" dirty="0"/>
          </a:p>
          <a:p>
            <a:pPr>
              <a:spcBef>
                <a:spcPct val="0"/>
              </a:spcBef>
              <a:buFontTx/>
              <a:buNone/>
            </a:pPr>
            <a:r>
              <a:rPr lang="en-US" altLang="zh-CN" dirty="0"/>
              <a:t>e=</a:t>
            </a:r>
            <a:r>
              <a:rPr lang="en-US" altLang="zh-CN" dirty="0" err="1"/>
              <a:t>t+b</a:t>
            </a:r>
            <a:endParaRPr lang="en-US" altLang="zh-CN" dirty="0"/>
          </a:p>
        </p:txBody>
      </p:sp>
      <p:sp>
        <p:nvSpPr>
          <p:cNvPr id="4" name="右箭头 3"/>
          <p:cNvSpPr/>
          <p:nvPr/>
        </p:nvSpPr>
        <p:spPr>
          <a:xfrm>
            <a:off x="3293136" y="2427734"/>
            <a:ext cx="1152128" cy="336534"/>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矩形 5"/>
          <p:cNvSpPr/>
          <p:nvPr/>
        </p:nvSpPr>
        <p:spPr>
          <a:xfrm>
            <a:off x="3365144" y="2139702"/>
            <a:ext cx="1107996" cy="369332"/>
          </a:xfrm>
          <a:prstGeom prst="rect">
            <a:avLst/>
          </a:prstGeom>
        </p:spPr>
        <p:txBody>
          <a:bodyPr wrap="none">
            <a:spAutoFit/>
          </a:bodyPr>
          <a:lstStyle/>
          <a:p>
            <a:r>
              <a:rPr lang="zh-CN" altLang="en-US" dirty="0"/>
              <a:t>中间代码</a:t>
            </a:r>
          </a:p>
        </p:txBody>
      </p:sp>
      <p:sp>
        <p:nvSpPr>
          <p:cNvPr id="7" name="矩形 6"/>
          <p:cNvSpPr/>
          <p:nvPr/>
        </p:nvSpPr>
        <p:spPr>
          <a:xfrm>
            <a:off x="1780968" y="4301683"/>
            <a:ext cx="1512168"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spcBef>
                <a:spcPct val="0"/>
              </a:spcBef>
              <a:buFontTx/>
              <a:buNone/>
            </a:pPr>
            <a:r>
              <a:rPr lang="en-US" altLang="zh-CN" dirty="0"/>
              <a:t>a=</a:t>
            </a:r>
            <a:r>
              <a:rPr lang="en-US" altLang="zh-CN" dirty="0" err="1"/>
              <a:t>b+c</a:t>
            </a:r>
            <a:endParaRPr lang="en-US" altLang="zh-CN" dirty="0"/>
          </a:p>
          <a:p>
            <a:pPr>
              <a:spcBef>
                <a:spcPct val="0"/>
              </a:spcBef>
              <a:buFontTx/>
              <a:buNone/>
            </a:pPr>
            <a:r>
              <a:rPr lang="en-US" altLang="zh-CN" dirty="0"/>
              <a:t>e=</a:t>
            </a:r>
            <a:r>
              <a:rPr lang="en-US" altLang="zh-CN" dirty="0" err="1"/>
              <a:t>a+d</a:t>
            </a:r>
            <a:endParaRPr lang="en-US" altLang="zh-CN" dirty="0">
              <a:cs typeface="Times New Roman" pitchFamily="18" charset="0"/>
            </a:endParaRPr>
          </a:p>
        </p:txBody>
      </p:sp>
      <p:sp>
        <p:nvSpPr>
          <p:cNvPr id="11" name="右箭头 10"/>
          <p:cNvSpPr/>
          <p:nvPr/>
        </p:nvSpPr>
        <p:spPr>
          <a:xfrm rot="5400000">
            <a:off x="1793222" y="3408204"/>
            <a:ext cx="1302931" cy="336534"/>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86787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89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up)">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nimBg="1"/>
      <p:bldP spid="2" grpId="0" animBg="1"/>
      <p:bldP spid="3" grpId="0" animBg="1"/>
      <p:bldP spid="4" grpId="0" animBg="1"/>
      <p:bldP spid="6" grpId="0"/>
      <p:bldP spid="7" grpId="0" animBg="1"/>
      <p:bldP spid="1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6960560" cy="1446550"/>
          </a:xfrm>
          <a:prstGeom prst="rect">
            <a:avLst/>
          </a:prstGeom>
        </p:spPr>
        <p:txBody>
          <a:bodyPr wrap="none">
            <a:spAutoFit/>
          </a:bodyPr>
          <a:lstStyle/>
          <a:p>
            <a:r>
              <a:rPr lang="en-US" altLang="zh-CN" sz="4400" b="1" dirty="0">
                <a:solidFill>
                  <a:srgbClr val="CC0099"/>
                </a:solidFill>
                <a:ea typeface="隶书" pitchFamily="49" charset="-122"/>
              </a:rPr>
              <a:t>2</a:t>
            </a:r>
            <a:r>
              <a:rPr lang="zh-CN" altLang="en-US" sz="4400" b="1" dirty="0">
                <a:solidFill>
                  <a:srgbClr val="CC0099"/>
                </a:solidFill>
                <a:ea typeface="隶书" pitchFamily="49" charset="-122"/>
              </a:rPr>
              <a:t>、局部优化</a:t>
            </a:r>
            <a:endParaRPr lang="en-US" altLang="zh-CN" sz="4400" b="1" dirty="0">
              <a:solidFill>
                <a:srgbClr val="CC0099"/>
              </a:solidFill>
              <a:ea typeface="隶书" pitchFamily="49" charset="-122"/>
            </a:endParaRPr>
          </a:p>
          <a:p>
            <a:r>
              <a:rPr lang="en-US" altLang="zh-CN" sz="4400" b="1" dirty="0">
                <a:solidFill>
                  <a:srgbClr val="CC0099"/>
                </a:solidFill>
                <a:ea typeface="隶书" pitchFamily="49" charset="-122"/>
              </a:rPr>
              <a:t>   </a:t>
            </a:r>
            <a:r>
              <a:rPr lang="en-US" altLang="zh-CN" sz="3600" b="1" dirty="0">
                <a:solidFill>
                  <a:srgbClr val="CC0099"/>
                </a:solidFill>
                <a:ea typeface="隶书" pitchFamily="49" charset="-122"/>
              </a:rPr>
              <a:t> ——</a:t>
            </a:r>
            <a:r>
              <a:rPr lang="zh-CN" altLang="en-US" sz="3600" b="1" dirty="0">
                <a:solidFill>
                  <a:srgbClr val="CC0099"/>
                </a:solidFill>
                <a:ea typeface="隶书" pitchFamily="49" charset="-122"/>
              </a:rPr>
              <a:t>基本块的</a:t>
            </a:r>
            <a:r>
              <a:rPr lang="en-US" altLang="zh-CN" sz="3600" b="1" dirty="0">
                <a:solidFill>
                  <a:srgbClr val="CC0099"/>
                </a:solidFill>
                <a:ea typeface="隶书" pitchFamily="49" charset="-122"/>
              </a:rPr>
              <a:t>DAG</a:t>
            </a:r>
            <a:r>
              <a:rPr lang="zh-CN" altLang="en-US" sz="3600" b="1" dirty="0">
                <a:solidFill>
                  <a:srgbClr val="CC0099"/>
                </a:solidFill>
                <a:ea typeface="隶书" pitchFamily="49" charset="-122"/>
              </a:rPr>
              <a:t>表示及优化</a:t>
            </a:r>
            <a:endParaRPr lang="zh-CN" altLang="en-US" sz="4400" b="1" dirty="0">
              <a:solidFill>
                <a:srgbClr val="CC0099"/>
              </a:solidFill>
              <a:ea typeface="隶书" pitchFamily="49" charset="-122"/>
            </a:endParaRPr>
          </a:p>
        </p:txBody>
      </p:sp>
    </p:spTree>
    <p:extLst>
      <p:ext uri="{BB962C8B-B14F-4D97-AF65-F5344CB8AC3E}">
        <p14:creationId xmlns:p14="http://schemas.microsoft.com/office/powerpoint/2010/main" val="21407195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title"/>
          </p:nvPr>
        </p:nvSpPr>
        <p:spPr>
          <a:xfrm>
            <a:off x="251520" y="195486"/>
            <a:ext cx="7696200" cy="628650"/>
          </a:xfrm>
        </p:spPr>
        <p:txBody>
          <a:bodyPr>
            <a:noAutofit/>
          </a:bodyPr>
          <a:lstStyle/>
          <a:p>
            <a:pPr eaLnBrk="1" hangingPunct="1"/>
            <a:r>
              <a:rPr lang="zh-CN" altLang="zh-CN" dirty="0">
                <a:solidFill>
                  <a:srgbClr val="CC00FF"/>
                </a:solidFill>
              </a:rPr>
              <a:t>基本块的</a:t>
            </a:r>
            <a:r>
              <a:rPr lang="en-US" altLang="zh-CN" dirty="0">
                <a:solidFill>
                  <a:srgbClr val="CC00FF"/>
                </a:solidFill>
              </a:rPr>
              <a:t>DAG</a:t>
            </a:r>
            <a:r>
              <a:rPr lang="zh-CN" altLang="en-US" dirty="0">
                <a:solidFill>
                  <a:srgbClr val="CC00FF"/>
                </a:solidFill>
              </a:rPr>
              <a:t>表示及优化</a:t>
            </a:r>
          </a:p>
        </p:txBody>
      </p:sp>
      <p:sp>
        <p:nvSpPr>
          <p:cNvPr id="38915" name="Rectangle 1027"/>
          <p:cNvSpPr>
            <a:spLocks noGrp="1" noChangeArrowheads="1"/>
          </p:cNvSpPr>
          <p:nvPr>
            <p:ph type="body" idx="1"/>
          </p:nvPr>
        </p:nvSpPr>
        <p:spPr>
          <a:xfrm>
            <a:off x="539750" y="1006079"/>
            <a:ext cx="8153400" cy="3714750"/>
          </a:xfrm>
        </p:spPr>
        <p:txBody>
          <a:bodyPr/>
          <a:lstStyle/>
          <a:p>
            <a:pPr eaLnBrk="1" hangingPunct="1">
              <a:lnSpc>
                <a:spcPct val="90000"/>
              </a:lnSpc>
              <a:buFontTx/>
              <a:buNone/>
            </a:pPr>
            <a:r>
              <a:rPr lang="en-US" altLang="zh-CN" sz="2000" dirty="0"/>
              <a:t>DAG   Directed Acyclic Graph </a:t>
            </a:r>
            <a:r>
              <a:rPr lang="zh-CN" altLang="en-US" sz="2000" b="1" dirty="0">
                <a:solidFill>
                  <a:srgbClr val="FF0000"/>
                </a:solidFill>
              </a:rPr>
              <a:t>有向无环路图</a:t>
            </a:r>
          </a:p>
          <a:p>
            <a:pPr eaLnBrk="1" hangingPunct="1">
              <a:lnSpc>
                <a:spcPct val="90000"/>
              </a:lnSpc>
              <a:buFontTx/>
              <a:buNone/>
            </a:pPr>
            <a:r>
              <a:rPr lang="zh-CN" altLang="zh-CN" sz="2000" dirty="0"/>
              <a:t>基本块的</a:t>
            </a:r>
            <a:r>
              <a:rPr lang="en-US" altLang="zh-CN" sz="2000" dirty="0"/>
              <a:t>DAG</a:t>
            </a:r>
            <a:r>
              <a:rPr lang="zh-CN" altLang="en-US" sz="2000" dirty="0"/>
              <a:t>是在结点上带有标记的</a:t>
            </a:r>
            <a:r>
              <a:rPr lang="en-US" altLang="zh-CN" sz="2000" dirty="0"/>
              <a:t>DAG</a:t>
            </a:r>
          </a:p>
          <a:p>
            <a:pPr eaLnBrk="1" hangingPunct="1">
              <a:lnSpc>
                <a:spcPct val="90000"/>
              </a:lnSpc>
              <a:buFontTx/>
              <a:buNone/>
            </a:pPr>
            <a:endParaRPr lang="en-US" altLang="zh-CN" sz="2800" dirty="0"/>
          </a:p>
          <a:p>
            <a:pPr lvl="1" eaLnBrk="1" hangingPunct="1">
              <a:lnSpc>
                <a:spcPct val="90000"/>
              </a:lnSpc>
            </a:pPr>
            <a:r>
              <a:rPr lang="en-US" altLang="zh-CN" dirty="0"/>
              <a:t>DAG</a:t>
            </a:r>
            <a:r>
              <a:rPr lang="zh-CN" altLang="en-US" dirty="0"/>
              <a:t>表示了基本块的计算过程</a:t>
            </a:r>
          </a:p>
          <a:p>
            <a:pPr lvl="2" eaLnBrk="1" hangingPunct="1">
              <a:lnSpc>
                <a:spcPct val="90000"/>
              </a:lnSpc>
            </a:pPr>
            <a:r>
              <a:rPr lang="zh-CN" altLang="en-US" dirty="0"/>
              <a:t>叶结点表示标识符或常数的值，以标识符或常数作为标记</a:t>
            </a:r>
          </a:p>
          <a:p>
            <a:pPr lvl="2" eaLnBrk="1" hangingPunct="1">
              <a:lnSpc>
                <a:spcPct val="90000"/>
              </a:lnSpc>
            </a:pPr>
            <a:r>
              <a:rPr lang="zh-CN" altLang="en-US" dirty="0"/>
              <a:t>内部结点以运算符作为标记，表示运算结果</a:t>
            </a:r>
          </a:p>
          <a:p>
            <a:pPr lvl="2" eaLnBrk="1" hangingPunct="1">
              <a:lnSpc>
                <a:spcPct val="90000"/>
              </a:lnSpc>
            </a:pPr>
            <a:r>
              <a:rPr lang="zh-CN" altLang="en-US" dirty="0"/>
              <a:t>边表示了操作间的前驱和后继的关系</a:t>
            </a:r>
          </a:p>
          <a:p>
            <a:pPr lvl="2" eaLnBrk="1" hangingPunct="1">
              <a:lnSpc>
                <a:spcPct val="90000"/>
              </a:lnSpc>
            </a:pPr>
            <a:r>
              <a:rPr lang="zh-CN" altLang="en-US" dirty="0"/>
              <a:t>每个结点：附加标识符标记，可以是一个或多个标识符都具有该结点代表的值</a:t>
            </a:r>
          </a:p>
        </p:txBody>
      </p:sp>
    </p:spTree>
    <p:extLst>
      <p:ext uri="{BB962C8B-B14F-4D97-AF65-F5344CB8AC3E}">
        <p14:creationId xmlns:p14="http://schemas.microsoft.com/office/powerpoint/2010/main" val="30683197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938" name="Rectangle 7"/>
          <p:cNvSpPr>
            <a:spLocks noChangeArrowheads="1"/>
          </p:cNvSpPr>
          <p:nvPr/>
        </p:nvSpPr>
        <p:spPr bwMode="auto">
          <a:xfrm>
            <a:off x="290456" y="358436"/>
            <a:ext cx="497046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kumimoji="0" lang="zh-CN" altLang="en-US" b="1" dirty="0">
                <a:solidFill>
                  <a:srgbClr val="CC00FF"/>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rPr>
              <a:t>用</a:t>
            </a:r>
            <a:r>
              <a:rPr kumimoji="0" lang="en-US" altLang="zh-CN" b="1" dirty="0">
                <a:solidFill>
                  <a:srgbClr val="CC00FF"/>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rPr>
              <a:t>DAG</a:t>
            </a:r>
            <a:r>
              <a:rPr kumimoji="0" lang="zh-CN" altLang="en-US" b="1" dirty="0">
                <a:solidFill>
                  <a:srgbClr val="CC00FF"/>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rPr>
              <a:t>进行基本块的优化</a:t>
            </a:r>
          </a:p>
        </p:txBody>
      </p:sp>
      <p:sp>
        <p:nvSpPr>
          <p:cNvPr id="39939" name="Rectangle 101"/>
          <p:cNvSpPr>
            <a:spLocks noChangeArrowheads="1"/>
          </p:cNvSpPr>
          <p:nvPr/>
        </p:nvSpPr>
        <p:spPr bwMode="auto">
          <a:xfrm>
            <a:off x="1011436" y="1851670"/>
            <a:ext cx="12554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dirty="0"/>
              <a:t>(0)x = y </a:t>
            </a:r>
          </a:p>
        </p:txBody>
      </p:sp>
      <p:pic>
        <p:nvPicPr>
          <p:cNvPr id="39940" name="Picture 102" descr="图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0674" y="2613521"/>
            <a:ext cx="777875" cy="774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Rectangle 103"/>
          <p:cNvSpPr>
            <a:spLocks noChangeArrowheads="1"/>
          </p:cNvSpPr>
          <p:nvPr/>
        </p:nvSpPr>
        <p:spPr bwMode="auto">
          <a:xfrm>
            <a:off x="3421260" y="1887389"/>
            <a:ext cx="16401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dirty="0"/>
              <a:t>(1)x = op y </a:t>
            </a:r>
          </a:p>
        </p:txBody>
      </p:sp>
      <p:pic>
        <p:nvPicPr>
          <p:cNvPr id="39942" name="Picture 104" descr="图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0035" y="2505174"/>
            <a:ext cx="838200" cy="1444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3" name="Rectangle 105"/>
          <p:cNvSpPr>
            <a:spLocks noChangeArrowheads="1"/>
          </p:cNvSpPr>
          <p:nvPr/>
        </p:nvSpPr>
        <p:spPr bwMode="auto">
          <a:xfrm>
            <a:off x="6300986" y="1906439"/>
            <a:ext cx="18533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dirty="0"/>
              <a:t>(2)x = y op z </a:t>
            </a:r>
          </a:p>
        </p:txBody>
      </p:sp>
      <p:pic>
        <p:nvPicPr>
          <p:cNvPr id="39944" name="Picture 106" descr="图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9548" y="2613522"/>
            <a:ext cx="2374900" cy="162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01346" y="1203598"/>
            <a:ext cx="3397084" cy="430887"/>
          </a:xfrm>
          <a:prstGeom prst="rect">
            <a:avLst/>
          </a:prstGeom>
        </p:spPr>
        <p:txBody>
          <a:bodyPr wrap="none">
            <a:spAutoFit/>
          </a:bodyPr>
          <a:lstStyle/>
          <a:p>
            <a:pPr marL="342900" indent="-342900">
              <a:buFont typeface="Arial" panose="020B0604020202020204" pitchFamily="34" charset="0"/>
              <a:buChar char="•"/>
            </a:pPr>
            <a:r>
              <a:rPr lang="zh-CN" altLang="zh-CN" sz="2200" dirty="0">
                <a:solidFill>
                  <a:srgbClr val="FF0000"/>
                </a:solidFill>
              </a:rPr>
              <a:t>构造一个基本块的</a:t>
            </a:r>
            <a:r>
              <a:rPr lang="en-US" altLang="zh-CN" sz="2200" dirty="0">
                <a:solidFill>
                  <a:srgbClr val="FF0000"/>
                </a:solidFill>
              </a:rPr>
              <a:t>DAG</a:t>
            </a:r>
            <a:endParaRPr lang="zh-CN" altLang="en-US" sz="2200" dirty="0">
              <a:solidFill>
                <a:srgbClr val="FF0000"/>
              </a:solidFill>
            </a:endParaRPr>
          </a:p>
        </p:txBody>
      </p:sp>
      <p:sp>
        <p:nvSpPr>
          <p:cNvPr id="3" name="矩形 2"/>
          <p:cNvSpPr/>
          <p:nvPr/>
        </p:nvSpPr>
        <p:spPr>
          <a:xfrm>
            <a:off x="401346" y="4312136"/>
            <a:ext cx="7015652" cy="707886"/>
          </a:xfrm>
          <a:prstGeom prst="rect">
            <a:avLst/>
          </a:prstGeom>
          <a:solidFill>
            <a:schemeClr val="bg1"/>
          </a:solidFill>
        </p:spPr>
        <p:txBody>
          <a:bodyPr wrap="square">
            <a:spAutoFit/>
          </a:bodyPr>
          <a:lstStyle/>
          <a:p>
            <a:r>
              <a:rPr lang="zh-CN" altLang="zh-CN" sz="2000" dirty="0"/>
              <a:t>如果</a:t>
            </a:r>
            <a:r>
              <a:rPr lang="en-US" altLang="zh-CN" sz="2000" dirty="0"/>
              <a:t>x</a:t>
            </a:r>
            <a:r>
              <a:rPr lang="zh-CN" altLang="zh-CN" sz="2000" dirty="0"/>
              <a:t>已经事先附加在某个其他结点上，</a:t>
            </a:r>
            <a:r>
              <a:rPr lang="zh-CN" altLang="en-US" sz="2000" dirty="0"/>
              <a:t>删除</a:t>
            </a:r>
            <a:r>
              <a:rPr lang="zh-CN" altLang="zh-CN" sz="2000" dirty="0"/>
              <a:t>先前的标记</a:t>
            </a:r>
            <a:r>
              <a:rPr lang="en-US" altLang="zh-CN" sz="2000" dirty="0"/>
              <a:t>x</a:t>
            </a:r>
            <a:r>
              <a:rPr lang="zh-CN" altLang="zh-CN" sz="2000" dirty="0"/>
              <a:t>，因为</a:t>
            </a:r>
            <a:r>
              <a:rPr lang="en-US" altLang="zh-CN" sz="2000" dirty="0"/>
              <a:t>x</a:t>
            </a:r>
            <a:r>
              <a:rPr lang="zh-CN" altLang="zh-CN" sz="2000" dirty="0"/>
              <a:t>的当前值是刚刚新建立或已找到的结点的值。</a:t>
            </a:r>
            <a:endParaRPr lang="zh-CN" altLang="en-US" sz="2000" dirty="0"/>
          </a:p>
        </p:txBody>
      </p:sp>
    </p:spTree>
    <p:extLst>
      <p:ext uri="{BB962C8B-B14F-4D97-AF65-F5344CB8AC3E}">
        <p14:creationId xmlns:p14="http://schemas.microsoft.com/office/powerpoint/2010/main" val="62985145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9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9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9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9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p:bldP spid="39941" grpId="0"/>
      <p:bldP spid="39943" grpId="0"/>
      <p:bldP spid="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85800" y="179785"/>
            <a:ext cx="7772400" cy="602456"/>
          </a:xfrm>
        </p:spPr>
        <p:txBody>
          <a:bodyPr>
            <a:normAutofit fontScale="90000"/>
          </a:bodyPr>
          <a:lstStyle/>
          <a:p>
            <a:pPr algn="l" eaLnBrk="1" hangingPunct="1"/>
            <a:r>
              <a:rPr lang="zh-CN" altLang="en-US" sz="4000" b="1">
                <a:latin typeface="楷体_GB2312" pitchFamily="1" charset="-122"/>
                <a:ea typeface="楷体_GB2312" pitchFamily="1" charset="-122"/>
              </a:rPr>
              <a:t>基本块的</a:t>
            </a:r>
            <a:r>
              <a:rPr lang="en-US" altLang="zh-CN" sz="4000" b="1">
                <a:latin typeface="楷体_GB2312" pitchFamily="1" charset="-122"/>
                <a:ea typeface="楷体_GB2312" pitchFamily="1" charset="-122"/>
              </a:rPr>
              <a:t>DAG</a:t>
            </a:r>
            <a:r>
              <a:rPr lang="zh-CN" altLang="en-US" sz="4000" b="1">
                <a:latin typeface="楷体_GB2312" pitchFamily="1" charset="-122"/>
                <a:ea typeface="楷体_GB2312" pitchFamily="1" charset="-122"/>
              </a:rPr>
              <a:t>构造算法</a:t>
            </a:r>
            <a:r>
              <a:rPr lang="en-US" altLang="zh-CN" sz="4000" b="1">
                <a:latin typeface="楷体_GB2312" pitchFamily="1" charset="-122"/>
                <a:ea typeface="楷体_GB2312" pitchFamily="1" charset="-122"/>
              </a:rPr>
              <a:t>:</a:t>
            </a:r>
          </a:p>
        </p:txBody>
      </p:sp>
      <p:sp>
        <p:nvSpPr>
          <p:cNvPr id="36867" name="Rectangle 3"/>
          <p:cNvSpPr>
            <a:spLocks noGrp="1" noChangeArrowheads="1"/>
          </p:cNvSpPr>
          <p:nvPr>
            <p:ph type="body" idx="1"/>
          </p:nvPr>
        </p:nvSpPr>
        <p:spPr>
          <a:xfrm>
            <a:off x="685800" y="897732"/>
            <a:ext cx="7918450" cy="4050282"/>
          </a:xfrm>
          <a:solidFill>
            <a:schemeClr val="bg1"/>
          </a:solidFill>
        </p:spPr>
        <p:txBody>
          <a:bodyPr>
            <a:normAutofit fontScale="70000" lnSpcReduction="20000"/>
          </a:bodyPr>
          <a:lstStyle/>
          <a:p>
            <a:pPr marL="812800" indent="-812800" eaLnBrk="1" hangingPunct="1">
              <a:lnSpc>
                <a:spcPct val="120000"/>
              </a:lnSpc>
              <a:spcBef>
                <a:spcPts val="0"/>
              </a:spcBef>
              <a:buFontTx/>
              <a:buNone/>
              <a:defRPr/>
            </a:pPr>
            <a:r>
              <a:rPr lang="zh-CN" altLang="en-US" sz="2400" dirty="0"/>
              <a:t>首先，</a:t>
            </a:r>
            <a:r>
              <a:rPr lang="en-US" altLang="zh-CN" sz="2400" dirty="0"/>
              <a:t>DAG</a:t>
            </a:r>
            <a:r>
              <a:rPr lang="zh-CN" altLang="en-US" sz="2400" dirty="0"/>
              <a:t>为空。</a:t>
            </a:r>
          </a:p>
          <a:p>
            <a:pPr marL="342900" indent="-342900">
              <a:lnSpc>
                <a:spcPct val="120000"/>
              </a:lnSpc>
              <a:spcBef>
                <a:spcPts val="0"/>
              </a:spcBef>
              <a:defRPr/>
            </a:pPr>
            <a:r>
              <a:rPr lang="zh-CN" altLang="en-US" sz="2400" dirty="0"/>
              <a:t>若中间代码形如 </a:t>
            </a:r>
            <a:r>
              <a:rPr lang="en-US" altLang="zh-CN" sz="2400" b="1" dirty="0">
                <a:solidFill>
                  <a:srgbClr val="3333FF"/>
                </a:solidFill>
              </a:rPr>
              <a:t>x = y</a:t>
            </a:r>
            <a:r>
              <a:rPr lang="zh-CN" altLang="en-US" sz="2400" dirty="0"/>
              <a:t>，查找是否存在一个结点 </a:t>
            </a:r>
            <a:r>
              <a:rPr lang="en-US" altLang="zh-CN" sz="2400" dirty="0"/>
              <a:t>y</a:t>
            </a:r>
            <a:r>
              <a:rPr lang="zh-CN" altLang="en-US" sz="2400" dirty="0"/>
              <a:t>，若不存在，创建一个标记为 </a:t>
            </a:r>
            <a:r>
              <a:rPr lang="en-US" altLang="zh-CN" sz="2400" dirty="0"/>
              <a:t>y </a:t>
            </a:r>
            <a:r>
              <a:rPr lang="zh-CN" altLang="en-US" sz="2400" dirty="0"/>
              <a:t>的结点， 并在附加标识符表中增加标识符 </a:t>
            </a:r>
            <a:r>
              <a:rPr lang="en-US" altLang="zh-CN" sz="2400" dirty="0"/>
              <a:t>x</a:t>
            </a:r>
            <a:r>
              <a:rPr lang="zh-CN" altLang="en-US" sz="2400" dirty="0"/>
              <a:t>，如图 </a:t>
            </a:r>
            <a:r>
              <a:rPr lang="en-US" altLang="zh-CN" sz="2400" dirty="0"/>
              <a:t>(a)</a:t>
            </a:r>
            <a:r>
              <a:rPr lang="zh-CN" altLang="en-US" sz="2400" dirty="0"/>
              <a:t>所示。</a:t>
            </a:r>
            <a:endParaRPr lang="en-US" altLang="zh-CN" dirty="0"/>
          </a:p>
          <a:p>
            <a:pPr marL="342900" indent="-342900">
              <a:lnSpc>
                <a:spcPct val="120000"/>
              </a:lnSpc>
              <a:spcBef>
                <a:spcPts val="0"/>
              </a:spcBef>
              <a:defRPr/>
            </a:pPr>
            <a:r>
              <a:rPr lang="zh-CN" altLang="en-US" sz="2400" dirty="0"/>
              <a:t>若中间代码形如 </a:t>
            </a:r>
            <a:r>
              <a:rPr lang="en-US" altLang="zh-CN" sz="2400" b="1" dirty="0">
                <a:solidFill>
                  <a:srgbClr val="3333FF"/>
                </a:solidFill>
              </a:rPr>
              <a:t>x = op y</a:t>
            </a:r>
            <a:r>
              <a:rPr lang="zh-CN" altLang="en-US" sz="2400" dirty="0"/>
              <a:t>，查找是否存在结点 </a:t>
            </a:r>
            <a:r>
              <a:rPr lang="en-US" altLang="zh-CN" sz="2400" dirty="0"/>
              <a:t>y</a:t>
            </a:r>
            <a:r>
              <a:rPr lang="zh-CN" altLang="en-US" sz="2400" dirty="0"/>
              <a:t>，若不存在，则新建结点 </a:t>
            </a:r>
            <a:r>
              <a:rPr lang="en-US" altLang="zh-CN" sz="2400" dirty="0"/>
              <a:t>y</a:t>
            </a:r>
            <a:r>
              <a:rPr lang="zh-CN" altLang="en-US" sz="2400" dirty="0"/>
              <a:t>，再查找是否 存在一个结点 </a:t>
            </a:r>
            <a:r>
              <a:rPr lang="en-US" altLang="zh-CN" sz="2400" dirty="0"/>
              <a:t>op</a:t>
            </a:r>
            <a:r>
              <a:rPr lang="zh-CN" altLang="en-US" sz="2400" dirty="0"/>
              <a:t>，其子结点为 </a:t>
            </a:r>
            <a:r>
              <a:rPr lang="en-US" altLang="zh-CN" sz="2400" dirty="0"/>
              <a:t>y</a:t>
            </a:r>
            <a:r>
              <a:rPr lang="zh-CN" altLang="en-US" sz="2400" dirty="0"/>
              <a:t>，若不存在，创建标记为 </a:t>
            </a:r>
            <a:r>
              <a:rPr lang="en-US" altLang="zh-CN" sz="2400" dirty="0"/>
              <a:t>op </a:t>
            </a:r>
            <a:r>
              <a:rPr lang="zh-CN" altLang="en-US" sz="2400" dirty="0"/>
              <a:t>的结点，将 </a:t>
            </a:r>
            <a:r>
              <a:rPr lang="en-US" altLang="zh-CN" sz="2400" dirty="0"/>
              <a:t>op </a:t>
            </a:r>
            <a:r>
              <a:rPr lang="zh-CN" altLang="en-US" sz="2400" dirty="0"/>
              <a:t>和 </a:t>
            </a:r>
            <a:r>
              <a:rPr lang="en-US" altLang="zh-CN" sz="2400" dirty="0"/>
              <a:t>y </a:t>
            </a:r>
            <a:r>
              <a:rPr lang="zh-CN" altLang="en-US" sz="2400" dirty="0"/>
              <a:t>连接，并在附加 标识符表中增加标识符 </a:t>
            </a:r>
            <a:r>
              <a:rPr lang="en-US" altLang="zh-CN" sz="2400" dirty="0"/>
              <a:t>x</a:t>
            </a:r>
            <a:r>
              <a:rPr lang="zh-CN" altLang="en-US" sz="2400" dirty="0"/>
              <a:t>，如图 </a:t>
            </a:r>
            <a:r>
              <a:rPr lang="en-US" altLang="zh-CN" sz="2400" dirty="0"/>
              <a:t>(b)</a:t>
            </a:r>
            <a:r>
              <a:rPr lang="zh-CN" altLang="en-US" sz="2400" dirty="0"/>
              <a:t>所示。</a:t>
            </a:r>
            <a:endParaRPr lang="en-US" altLang="zh-CN" dirty="0"/>
          </a:p>
          <a:p>
            <a:pPr marL="342900" indent="-342900">
              <a:lnSpc>
                <a:spcPct val="120000"/>
              </a:lnSpc>
              <a:spcBef>
                <a:spcPts val="0"/>
              </a:spcBef>
              <a:defRPr/>
            </a:pPr>
            <a:r>
              <a:rPr lang="zh-CN" altLang="en-US" sz="2400" dirty="0"/>
              <a:t>若中间代码形如 </a:t>
            </a:r>
            <a:r>
              <a:rPr lang="en-US" altLang="zh-CN" sz="2400" b="1" dirty="0">
                <a:solidFill>
                  <a:srgbClr val="3333FF"/>
                </a:solidFill>
              </a:rPr>
              <a:t>x = y op z</a:t>
            </a:r>
            <a:r>
              <a:rPr lang="zh-CN" altLang="en-US" sz="2400" dirty="0"/>
              <a:t>，查找是否存在结点 </a:t>
            </a:r>
            <a:r>
              <a:rPr lang="en-US" altLang="zh-CN" sz="2400" dirty="0"/>
              <a:t>y </a:t>
            </a:r>
            <a:r>
              <a:rPr lang="zh-CN" altLang="en-US" sz="2400" dirty="0"/>
              <a:t>和 </a:t>
            </a:r>
            <a:r>
              <a:rPr lang="en-US" altLang="zh-CN" sz="2400" dirty="0"/>
              <a:t>z</a:t>
            </a:r>
            <a:r>
              <a:rPr lang="zh-CN" altLang="en-US" sz="2400" dirty="0"/>
              <a:t>，若不存在，则新建结点 </a:t>
            </a:r>
            <a:r>
              <a:rPr lang="en-US" altLang="zh-CN" sz="2400" dirty="0"/>
              <a:t>y </a:t>
            </a:r>
            <a:r>
              <a:rPr lang="zh-CN" altLang="en-US" sz="2400" dirty="0"/>
              <a:t>和（或） </a:t>
            </a:r>
            <a:r>
              <a:rPr lang="en-US" altLang="zh-CN" sz="2400" dirty="0"/>
              <a:t>z</a:t>
            </a:r>
            <a:r>
              <a:rPr lang="zh-CN" altLang="en-US" sz="2400" dirty="0"/>
              <a:t>，再查找是否存在一个结点 </a:t>
            </a:r>
            <a:r>
              <a:rPr lang="en-US" altLang="zh-CN" sz="2400" dirty="0"/>
              <a:t>op</a:t>
            </a:r>
            <a:r>
              <a:rPr lang="zh-CN" altLang="en-US" sz="2400" dirty="0"/>
              <a:t>，其左子结点为 </a:t>
            </a:r>
            <a:r>
              <a:rPr lang="en-US" altLang="zh-CN" sz="2400" dirty="0"/>
              <a:t>y</a:t>
            </a:r>
            <a:r>
              <a:rPr lang="zh-CN" altLang="en-US" sz="2400" dirty="0"/>
              <a:t>，右子结点为 </a:t>
            </a:r>
            <a:r>
              <a:rPr lang="en-US" altLang="zh-CN" sz="2400" dirty="0"/>
              <a:t>z</a:t>
            </a:r>
            <a:r>
              <a:rPr lang="zh-CN" altLang="en-US" sz="2400" dirty="0"/>
              <a:t>，若不存在，创建标记为 </a:t>
            </a:r>
            <a:r>
              <a:rPr lang="en-US" altLang="zh-CN" sz="2400" dirty="0"/>
              <a:t>op </a:t>
            </a:r>
            <a:r>
              <a:rPr lang="zh-CN" altLang="en-US" sz="2400" dirty="0"/>
              <a:t>的结点，将 </a:t>
            </a:r>
            <a:r>
              <a:rPr lang="en-US" altLang="zh-CN" sz="2400" dirty="0"/>
              <a:t>op </a:t>
            </a:r>
            <a:r>
              <a:rPr lang="zh-CN" altLang="en-US" sz="2400" dirty="0"/>
              <a:t>和 </a:t>
            </a:r>
            <a:r>
              <a:rPr lang="en-US" altLang="zh-CN" sz="2400" dirty="0"/>
              <a:t>y</a:t>
            </a:r>
            <a:r>
              <a:rPr lang="zh-CN" altLang="en-US" sz="2400" dirty="0"/>
              <a:t>、</a:t>
            </a:r>
            <a:r>
              <a:rPr lang="en-US" altLang="zh-CN" sz="2400" dirty="0"/>
              <a:t>z </a:t>
            </a:r>
            <a:r>
              <a:rPr lang="zh-CN" altLang="en-US" sz="2400" dirty="0"/>
              <a:t>连接，并在附加标识符表中增加标 识符 </a:t>
            </a:r>
            <a:r>
              <a:rPr lang="en-US" altLang="zh-CN" sz="2400" dirty="0"/>
              <a:t>x</a:t>
            </a:r>
            <a:r>
              <a:rPr lang="zh-CN" altLang="en-US" sz="2400" dirty="0"/>
              <a:t>，如图 </a:t>
            </a:r>
            <a:r>
              <a:rPr lang="en-US" altLang="zh-CN" sz="2400" dirty="0"/>
              <a:t>(c)</a:t>
            </a:r>
            <a:r>
              <a:rPr lang="zh-CN" altLang="en-US" sz="2400" dirty="0"/>
              <a:t>所示。</a:t>
            </a:r>
            <a:endParaRPr lang="en-US" altLang="zh-CN" sz="2400" dirty="0"/>
          </a:p>
          <a:p>
            <a:pPr marL="0" indent="0" eaLnBrk="1" hangingPunct="1">
              <a:lnSpc>
                <a:spcPct val="120000"/>
              </a:lnSpc>
              <a:spcBef>
                <a:spcPts val="0"/>
              </a:spcBef>
              <a:buFontTx/>
              <a:buNone/>
              <a:defRPr/>
            </a:pPr>
            <a:r>
              <a:rPr lang="zh-CN" altLang="en-US" sz="2400" dirty="0"/>
              <a:t>如果 </a:t>
            </a:r>
            <a:r>
              <a:rPr lang="en-US" altLang="zh-CN" sz="2400" dirty="0"/>
              <a:t>x </a:t>
            </a:r>
            <a:r>
              <a:rPr lang="zh-CN" altLang="en-US" sz="2400" dirty="0"/>
              <a:t>已经事先附加在某个其他结点上，需去掉这个先前的标记 </a:t>
            </a:r>
            <a:r>
              <a:rPr lang="en-US" altLang="zh-CN" sz="2400" dirty="0"/>
              <a:t>x</a:t>
            </a:r>
            <a:r>
              <a:rPr lang="zh-CN" altLang="en-US" sz="2400" dirty="0"/>
              <a:t>，因为 </a:t>
            </a:r>
            <a:r>
              <a:rPr lang="en-US" altLang="zh-CN" sz="2400" dirty="0"/>
              <a:t>x </a:t>
            </a:r>
            <a:r>
              <a:rPr lang="zh-CN" altLang="en-US" sz="2400" dirty="0"/>
              <a:t>的当前值是刚刚 新建立或已找到的结点的值。 </a:t>
            </a:r>
            <a:endParaRPr lang="en-US" altLang="zh-CN" sz="2400" dirty="0"/>
          </a:p>
        </p:txBody>
      </p:sp>
    </p:spTree>
    <p:extLst>
      <p:ext uri="{BB962C8B-B14F-4D97-AF65-F5344CB8AC3E}">
        <p14:creationId xmlns:p14="http://schemas.microsoft.com/office/powerpoint/2010/main" val="14302300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
          <p:cNvSpPr>
            <a:spLocks noGrp="1" noChangeArrowheads="1"/>
          </p:cNvSpPr>
          <p:nvPr>
            <p:ph type="title" idx="4294967295"/>
          </p:nvPr>
        </p:nvSpPr>
        <p:spPr>
          <a:xfrm>
            <a:off x="126554" y="130373"/>
            <a:ext cx="3960118" cy="777478"/>
          </a:xfrm>
        </p:spPr>
        <p:txBody>
          <a:bodyPr>
            <a:noAutofit/>
          </a:bodyPr>
          <a:lstStyle/>
          <a:p>
            <a:pPr algn="l" eaLnBrk="1" hangingPunct="1"/>
            <a:r>
              <a:rPr lang="zh-CN" altLang="en-US" sz="2800" dirty="0">
                <a:latin typeface="楷体_GB2312" pitchFamily="1" charset="-122"/>
                <a:ea typeface="楷体_GB2312" pitchFamily="1" charset="-122"/>
              </a:rPr>
              <a:t>例：求下列基本块的</a:t>
            </a:r>
            <a:r>
              <a:rPr lang="en-US" altLang="zh-CN" sz="2800" dirty="0">
                <a:latin typeface="楷体_GB2312" pitchFamily="1" charset="-122"/>
                <a:ea typeface="楷体_GB2312" pitchFamily="1" charset="-122"/>
              </a:rPr>
              <a:t>DAG</a:t>
            </a:r>
          </a:p>
        </p:txBody>
      </p:sp>
      <p:pic>
        <p:nvPicPr>
          <p:cNvPr id="41987" name="Picture 5" descr="图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1" y="519112"/>
            <a:ext cx="962025" cy="1491258"/>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pic>
      <p:pic>
        <p:nvPicPr>
          <p:cNvPr id="41988" name="Picture 6" descr="图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0883" y="519112"/>
            <a:ext cx="2160588" cy="1372494"/>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pic>
      <p:pic>
        <p:nvPicPr>
          <p:cNvPr id="41989" name="Picture 7" descr="图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396" y="2715766"/>
            <a:ext cx="4537075" cy="2232247"/>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pic>
      <p:sp>
        <p:nvSpPr>
          <p:cNvPr id="41990" name="Rectangle 8"/>
          <p:cNvSpPr>
            <a:spLocks noChangeArrowheads="1"/>
          </p:cNvSpPr>
          <p:nvPr/>
        </p:nvSpPr>
        <p:spPr bwMode="auto">
          <a:xfrm>
            <a:off x="434073" y="965270"/>
            <a:ext cx="2193711" cy="3170099"/>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marL="114300" indent="-23813" eaLnBrk="0" hangingPunct="0">
              <a:spcBef>
                <a:spcPct val="20000"/>
              </a:spcBef>
              <a:buChar char="•"/>
              <a:tabLst>
                <a:tab pos="342900" algn="l"/>
              </a:tabLst>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tabLst>
                <a:tab pos="342900" algn="l"/>
              </a:tabLst>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tabLst>
                <a:tab pos="342900" algn="l"/>
              </a:tabLst>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tabLst>
                <a:tab pos="342900" algn="l"/>
              </a:tabLst>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tabLst>
                <a:tab pos="342900" algn="l"/>
              </a:tabLst>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dirty="0">
                <a:solidFill>
                  <a:srgbClr val="FF0000"/>
                </a:solidFill>
              </a:rPr>
              <a:t>(1)</a:t>
            </a:r>
            <a:r>
              <a:rPr lang="en-US" altLang="zh-CN" sz="2000" dirty="0">
                <a:solidFill>
                  <a:srgbClr val="FF0000"/>
                </a:solidFill>
                <a:cs typeface="Times New Roman" pitchFamily="18" charset="0"/>
              </a:rPr>
              <a:t>      </a:t>
            </a:r>
            <a:r>
              <a:rPr lang="en-US" altLang="zh-CN" sz="2000" dirty="0">
                <a:solidFill>
                  <a:srgbClr val="FF0000"/>
                </a:solidFill>
              </a:rPr>
              <a:t>T</a:t>
            </a:r>
            <a:r>
              <a:rPr lang="en-US" altLang="zh-CN" sz="2000" baseline="-30000" dirty="0">
                <a:solidFill>
                  <a:srgbClr val="FF0000"/>
                </a:solidFill>
              </a:rPr>
              <a:t>0</a:t>
            </a:r>
            <a:r>
              <a:rPr lang="en-US" altLang="zh-CN" sz="2000" dirty="0">
                <a:solidFill>
                  <a:srgbClr val="FF0000"/>
                </a:solidFill>
              </a:rPr>
              <a:t>=3.14</a:t>
            </a:r>
          </a:p>
          <a:p>
            <a:pPr>
              <a:spcBef>
                <a:spcPct val="0"/>
              </a:spcBef>
              <a:buFontTx/>
              <a:buNone/>
            </a:pPr>
            <a:r>
              <a:rPr lang="en-US" altLang="zh-CN" sz="2000" dirty="0">
                <a:solidFill>
                  <a:srgbClr val="FF0000"/>
                </a:solidFill>
              </a:rPr>
              <a:t>(2)</a:t>
            </a:r>
            <a:r>
              <a:rPr lang="en-US" altLang="zh-CN" sz="2000" dirty="0">
                <a:solidFill>
                  <a:srgbClr val="FF0000"/>
                </a:solidFill>
                <a:cs typeface="Times New Roman" pitchFamily="18" charset="0"/>
              </a:rPr>
              <a:t>      </a:t>
            </a:r>
            <a:r>
              <a:rPr lang="en-US" altLang="zh-CN" sz="2000" dirty="0">
                <a:solidFill>
                  <a:srgbClr val="FF0000"/>
                </a:solidFill>
              </a:rPr>
              <a:t>T</a:t>
            </a:r>
            <a:r>
              <a:rPr lang="en-US" altLang="zh-CN" sz="2000" baseline="-30000" dirty="0">
                <a:solidFill>
                  <a:srgbClr val="FF0000"/>
                </a:solidFill>
              </a:rPr>
              <a:t>1</a:t>
            </a:r>
            <a:r>
              <a:rPr lang="en-US" altLang="zh-CN" sz="2000" dirty="0">
                <a:solidFill>
                  <a:srgbClr val="FF0000"/>
                </a:solidFill>
              </a:rPr>
              <a:t>=2*T</a:t>
            </a:r>
            <a:r>
              <a:rPr lang="en-US" altLang="zh-CN" sz="2000" baseline="-30000" dirty="0">
                <a:solidFill>
                  <a:srgbClr val="FF0000"/>
                </a:solidFill>
              </a:rPr>
              <a:t>0</a:t>
            </a:r>
            <a:endParaRPr lang="en-US" altLang="zh-CN" sz="2000" dirty="0">
              <a:solidFill>
                <a:srgbClr val="FF0000"/>
              </a:solidFill>
            </a:endParaRPr>
          </a:p>
          <a:p>
            <a:pPr>
              <a:spcBef>
                <a:spcPct val="0"/>
              </a:spcBef>
              <a:buFontTx/>
              <a:buNone/>
            </a:pPr>
            <a:r>
              <a:rPr lang="en-US" altLang="zh-CN" sz="2000" dirty="0">
                <a:solidFill>
                  <a:srgbClr val="FF0000"/>
                </a:solidFill>
              </a:rPr>
              <a:t>(3)</a:t>
            </a:r>
            <a:r>
              <a:rPr lang="en-US" altLang="zh-CN" sz="2000" dirty="0">
                <a:solidFill>
                  <a:srgbClr val="FF0000"/>
                </a:solidFill>
                <a:cs typeface="Times New Roman" pitchFamily="18" charset="0"/>
              </a:rPr>
              <a:t>      </a:t>
            </a:r>
            <a:r>
              <a:rPr lang="en-US" altLang="zh-CN" sz="2000" dirty="0">
                <a:solidFill>
                  <a:srgbClr val="FF0000"/>
                </a:solidFill>
              </a:rPr>
              <a:t>T</a:t>
            </a:r>
            <a:r>
              <a:rPr lang="en-US" altLang="zh-CN" sz="2000" baseline="-30000" dirty="0">
                <a:solidFill>
                  <a:srgbClr val="FF0000"/>
                </a:solidFill>
              </a:rPr>
              <a:t>2</a:t>
            </a:r>
            <a:r>
              <a:rPr lang="en-US" altLang="zh-CN" sz="2000" dirty="0">
                <a:solidFill>
                  <a:srgbClr val="FF0000"/>
                </a:solidFill>
              </a:rPr>
              <a:t>=</a:t>
            </a:r>
            <a:r>
              <a:rPr lang="en-US" altLang="zh-CN" sz="2000" dirty="0" err="1">
                <a:solidFill>
                  <a:srgbClr val="FF0000"/>
                </a:solidFill>
              </a:rPr>
              <a:t>R+r</a:t>
            </a:r>
            <a:endParaRPr lang="en-US" altLang="zh-CN" sz="2000" dirty="0">
              <a:solidFill>
                <a:srgbClr val="FF0000"/>
              </a:solidFill>
            </a:endParaRPr>
          </a:p>
          <a:p>
            <a:pPr>
              <a:spcBef>
                <a:spcPct val="0"/>
              </a:spcBef>
              <a:buFontTx/>
              <a:buNone/>
            </a:pPr>
            <a:r>
              <a:rPr lang="en-US" altLang="zh-CN" sz="2000" dirty="0"/>
              <a:t>(4)</a:t>
            </a:r>
            <a:r>
              <a:rPr lang="en-US" altLang="zh-CN" sz="2000" dirty="0">
                <a:cs typeface="Times New Roman" pitchFamily="18" charset="0"/>
              </a:rPr>
              <a:t>      </a:t>
            </a:r>
            <a:r>
              <a:rPr lang="en-US" altLang="zh-CN" sz="2000" dirty="0"/>
              <a:t>A=T</a:t>
            </a:r>
            <a:r>
              <a:rPr lang="en-US" altLang="zh-CN" sz="2000" baseline="-30000" dirty="0"/>
              <a:t>1</a:t>
            </a:r>
            <a:r>
              <a:rPr lang="en-US" altLang="zh-CN" sz="2000" dirty="0"/>
              <a:t>*T</a:t>
            </a:r>
            <a:r>
              <a:rPr lang="en-US" altLang="zh-CN" sz="2000" baseline="-30000" dirty="0"/>
              <a:t>2</a:t>
            </a:r>
            <a:endParaRPr lang="en-US" altLang="zh-CN" sz="2000" dirty="0"/>
          </a:p>
          <a:p>
            <a:pPr>
              <a:spcBef>
                <a:spcPct val="0"/>
              </a:spcBef>
              <a:buFontTx/>
              <a:buNone/>
            </a:pPr>
            <a:r>
              <a:rPr lang="en-US" altLang="zh-CN" sz="2000" dirty="0"/>
              <a:t>(5)</a:t>
            </a:r>
            <a:r>
              <a:rPr lang="en-US" altLang="zh-CN" sz="2000" dirty="0">
                <a:cs typeface="Times New Roman" pitchFamily="18" charset="0"/>
              </a:rPr>
              <a:t>      </a:t>
            </a:r>
            <a:r>
              <a:rPr lang="en-US" altLang="zh-CN" sz="2000" dirty="0"/>
              <a:t>B=A</a:t>
            </a:r>
          </a:p>
          <a:p>
            <a:pPr>
              <a:spcBef>
                <a:spcPct val="0"/>
              </a:spcBef>
              <a:buFontTx/>
              <a:buNone/>
            </a:pPr>
            <a:r>
              <a:rPr lang="en-US" altLang="zh-CN" sz="2000" dirty="0"/>
              <a:t>(6)</a:t>
            </a:r>
            <a:r>
              <a:rPr lang="en-US" altLang="zh-CN" sz="2000" dirty="0">
                <a:cs typeface="Times New Roman" pitchFamily="18" charset="0"/>
              </a:rPr>
              <a:t>      </a:t>
            </a:r>
            <a:r>
              <a:rPr lang="en-US" altLang="zh-CN" sz="2000" dirty="0"/>
              <a:t>T</a:t>
            </a:r>
            <a:r>
              <a:rPr lang="en-US" altLang="zh-CN" sz="2000" baseline="-30000" dirty="0"/>
              <a:t>3</a:t>
            </a:r>
            <a:r>
              <a:rPr lang="en-US" altLang="zh-CN" sz="2000" dirty="0"/>
              <a:t>=2*T</a:t>
            </a:r>
            <a:r>
              <a:rPr lang="en-US" altLang="zh-CN" sz="2000" baseline="-30000" dirty="0"/>
              <a:t>0</a:t>
            </a:r>
            <a:endParaRPr lang="en-US" altLang="zh-CN" sz="2000" dirty="0"/>
          </a:p>
          <a:p>
            <a:pPr>
              <a:spcBef>
                <a:spcPct val="0"/>
              </a:spcBef>
              <a:buFontTx/>
              <a:buNone/>
            </a:pPr>
            <a:r>
              <a:rPr lang="en-US" altLang="zh-CN" sz="2000" dirty="0"/>
              <a:t>(7)</a:t>
            </a:r>
            <a:r>
              <a:rPr lang="en-US" altLang="zh-CN" sz="2000" dirty="0">
                <a:cs typeface="Times New Roman" pitchFamily="18" charset="0"/>
              </a:rPr>
              <a:t>      </a:t>
            </a:r>
            <a:r>
              <a:rPr lang="en-US" altLang="zh-CN" sz="2000" dirty="0"/>
              <a:t>T</a:t>
            </a:r>
            <a:r>
              <a:rPr lang="en-US" altLang="zh-CN" sz="2000" baseline="-30000" dirty="0"/>
              <a:t>4</a:t>
            </a:r>
            <a:r>
              <a:rPr lang="en-US" altLang="zh-CN" sz="2000" dirty="0"/>
              <a:t>=</a:t>
            </a:r>
            <a:r>
              <a:rPr lang="en-US" altLang="zh-CN" sz="2000" dirty="0" err="1"/>
              <a:t>R+r</a:t>
            </a:r>
            <a:endParaRPr lang="en-US" altLang="zh-CN" sz="2000" dirty="0"/>
          </a:p>
          <a:p>
            <a:pPr>
              <a:spcBef>
                <a:spcPct val="0"/>
              </a:spcBef>
              <a:buFontTx/>
              <a:buNone/>
            </a:pPr>
            <a:r>
              <a:rPr lang="en-US" altLang="zh-CN" sz="2000" dirty="0"/>
              <a:t>(8)</a:t>
            </a:r>
            <a:r>
              <a:rPr lang="en-US" altLang="zh-CN" sz="2000" dirty="0">
                <a:cs typeface="Times New Roman" pitchFamily="18" charset="0"/>
              </a:rPr>
              <a:t>      </a:t>
            </a:r>
            <a:r>
              <a:rPr lang="en-US" altLang="zh-CN" sz="2000" dirty="0"/>
              <a:t>T</a:t>
            </a:r>
            <a:r>
              <a:rPr lang="en-US" altLang="zh-CN" sz="2000" baseline="-30000" dirty="0"/>
              <a:t>5</a:t>
            </a:r>
            <a:r>
              <a:rPr lang="en-US" altLang="zh-CN" sz="2000" dirty="0"/>
              <a:t>=T</a:t>
            </a:r>
            <a:r>
              <a:rPr lang="en-US" altLang="zh-CN" sz="2000" baseline="-30000" dirty="0"/>
              <a:t>3</a:t>
            </a:r>
            <a:r>
              <a:rPr lang="en-US" altLang="zh-CN" sz="2000" dirty="0"/>
              <a:t>*T</a:t>
            </a:r>
            <a:r>
              <a:rPr lang="en-US" altLang="zh-CN" sz="2000" baseline="-30000" dirty="0"/>
              <a:t>4</a:t>
            </a:r>
            <a:endParaRPr lang="en-US" altLang="zh-CN" sz="2000" dirty="0"/>
          </a:p>
          <a:p>
            <a:pPr>
              <a:spcBef>
                <a:spcPct val="0"/>
              </a:spcBef>
              <a:buFontTx/>
              <a:buNone/>
            </a:pPr>
            <a:r>
              <a:rPr lang="en-US" altLang="zh-CN" sz="2000" dirty="0"/>
              <a:t>(9)</a:t>
            </a:r>
            <a:r>
              <a:rPr lang="en-US" altLang="zh-CN" sz="2000" dirty="0">
                <a:cs typeface="Times New Roman" pitchFamily="18" charset="0"/>
              </a:rPr>
              <a:t>      </a:t>
            </a:r>
            <a:r>
              <a:rPr lang="en-US" altLang="zh-CN" sz="2000" dirty="0"/>
              <a:t>T</a:t>
            </a:r>
            <a:r>
              <a:rPr lang="en-US" altLang="zh-CN" sz="2000" baseline="-30000" dirty="0"/>
              <a:t>6</a:t>
            </a:r>
            <a:r>
              <a:rPr lang="en-US" altLang="zh-CN" sz="2000" dirty="0"/>
              <a:t>=R-r</a:t>
            </a:r>
          </a:p>
          <a:p>
            <a:pPr>
              <a:spcBef>
                <a:spcPct val="0"/>
              </a:spcBef>
              <a:buFontTx/>
              <a:buNone/>
            </a:pPr>
            <a:r>
              <a:rPr lang="en-US" altLang="zh-CN" sz="2000" dirty="0"/>
              <a:t>(10)    B=T</a:t>
            </a:r>
            <a:r>
              <a:rPr lang="en-US" altLang="zh-CN" sz="2000" baseline="-30000" dirty="0"/>
              <a:t>5</a:t>
            </a:r>
            <a:r>
              <a:rPr lang="en-US" altLang="zh-CN" sz="2000" dirty="0"/>
              <a:t>*T</a:t>
            </a:r>
            <a:r>
              <a:rPr lang="en-US" altLang="zh-CN" sz="2000" baseline="-30000" dirty="0"/>
              <a:t>6</a:t>
            </a:r>
            <a:r>
              <a:rPr lang="en-US" altLang="zh-CN" sz="2000" dirty="0"/>
              <a:t> </a:t>
            </a:r>
          </a:p>
        </p:txBody>
      </p:sp>
    </p:spTree>
    <p:extLst>
      <p:ext uri="{BB962C8B-B14F-4D97-AF65-F5344CB8AC3E}">
        <p14:creationId xmlns:p14="http://schemas.microsoft.com/office/powerpoint/2010/main" val="2093373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3010" name="Picture 4" descr="图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1125" y="250031"/>
            <a:ext cx="4537075" cy="2210991"/>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pic>
      <p:pic>
        <p:nvPicPr>
          <p:cNvPr id="43011" name="Picture 5" descr="图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1125" y="2625329"/>
            <a:ext cx="4540251" cy="2196703"/>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pic>
      <p:sp>
        <p:nvSpPr>
          <p:cNvPr id="43012" name="Rectangle 6"/>
          <p:cNvSpPr>
            <a:spLocks noChangeArrowheads="1"/>
          </p:cNvSpPr>
          <p:nvPr/>
        </p:nvSpPr>
        <p:spPr bwMode="auto">
          <a:xfrm>
            <a:off x="468313" y="681037"/>
            <a:ext cx="2231479" cy="3170099"/>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marL="114300" indent="-23813" eaLnBrk="0" hangingPunct="0">
              <a:spcBef>
                <a:spcPct val="20000"/>
              </a:spcBef>
              <a:buChar char="•"/>
              <a:tabLst>
                <a:tab pos="342900" algn="l"/>
              </a:tabLst>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tabLst>
                <a:tab pos="342900" algn="l"/>
              </a:tabLst>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tabLst>
                <a:tab pos="342900" algn="l"/>
              </a:tabLst>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tabLst>
                <a:tab pos="342900" algn="l"/>
              </a:tabLst>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tabLst>
                <a:tab pos="342900" algn="l"/>
              </a:tabLst>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dirty="0"/>
              <a:t>(1)</a:t>
            </a:r>
            <a:r>
              <a:rPr lang="en-US" altLang="zh-CN" sz="2000" dirty="0">
                <a:cs typeface="Times New Roman" pitchFamily="18" charset="0"/>
              </a:rPr>
              <a:t>      </a:t>
            </a:r>
            <a:r>
              <a:rPr lang="en-US" altLang="zh-CN" sz="2000" dirty="0"/>
              <a:t>T</a:t>
            </a:r>
            <a:r>
              <a:rPr lang="en-US" altLang="zh-CN" sz="2000" baseline="-30000" dirty="0"/>
              <a:t>0</a:t>
            </a:r>
            <a:r>
              <a:rPr lang="en-US" altLang="zh-CN" sz="2000" dirty="0"/>
              <a:t>=3.14</a:t>
            </a:r>
          </a:p>
          <a:p>
            <a:pPr>
              <a:spcBef>
                <a:spcPct val="0"/>
              </a:spcBef>
              <a:buFontTx/>
              <a:buNone/>
            </a:pPr>
            <a:r>
              <a:rPr lang="en-US" altLang="zh-CN" sz="2000" dirty="0"/>
              <a:t>(2)</a:t>
            </a:r>
            <a:r>
              <a:rPr lang="en-US" altLang="zh-CN" sz="2000" dirty="0">
                <a:cs typeface="Times New Roman" pitchFamily="18" charset="0"/>
              </a:rPr>
              <a:t>      </a:t>
            </a:r>
            <a:r>
              <a:rPr lang="en-US" altLang="zh-CN" sz="2000" dirty="0"/>
              <a:t>T</a:t>
            </a:r>
            <a:r>
              <a:rPr lang="en-US" altLang="zh-CN" sz="2000" baseline="-30000" dirty="0"/>
              <a:t>1</a:t>
            </a:r>
            <a:r>
              <a:rPr lang="en-US" altLang="zh-CN" sz="2000" dirty="0"/>
              <a:t>=2*T</a:t>
            </a:r>
            <a:r>
              <a:rPr lang="en-US" altLang="zh-CN" sz="2000" baseline="-30000" dirty="0"/>
              <a:t>0</a:t>
            </a:r>
            <a:endParaRPr lang="en-US" altLang="zh-CN" sz="2000" dirty="0"/>
          </a:p>
          <a:p>
            <a:pPr>
              <a:spcBef>
                <a:spcPct val="0"/>
              </a:spcBef>
              <a:buFontTx/>
              <a:buNone/>
            </a:pPr>
            <a:r>
              <a:rPr lang="en-US" altLang="zh-CN" sz="2000" dirty="0"/>
              <a:t>(3)</a:t>
            </a:r>
            <a:r>
              <a:rPr lang="en-US" altLang="zh-CN" sz="2000" dirty="0">
                <a:cs typeface="Times New Roman" pitchFamily="18" charset="0"/>
              </a:rPr>
              <a:t>      </a:t>
            </a:r>
            <a:r>
              <a:rPr lang="en-US" altLang="zh-CN" sz="2000" dirty="0"/>
              <a:t>T</a:t>
            </a:r>
            <a:r>
              <a:rPr lang="en-US" altLang="zh-CN" sz="2000" baseline="-30000" dirty="0"/>
              <a:t>2</a:t>
            </a:r>
            <a:r>
              <a:rPr lang="en-US" altLang="zh-CN" sz="2000" dirty="0"/>
              <a:t>=</a:t>
            </a:r>
            <a:r>
              <a:rPr lang="en-US" altLang="zh-CN" sz="2000" dirty="0" err="1"/>
              <a:t>R+r</a:t>
            </a:r>
            <a:endParaRPr lang="en-US" altLang="zh-CN" sz="2000" dirty="0"/>
          </a:p>
          <a:p>
            <a:pPr>
              <a:spcBef>
                <a:spcPct val="0"/>
              </a:spcBef>
              <a:buFontTx/>
              <a:buNone/>
            </a:pPr>
            <a:r>
              <a:rPr lang="en-US" altLang="zh-CN" sz="2000" dirty="0">
                <a:solidFill>
                  <a:srgbClr val="FF0000"/>
                </a:solidFill>
              </a:rPr>
              <a:t>(4)</a:t>
            </a:r>
            <a:r>
              <a:rPr lang="en-US" altLang="zh-CN" sz="2000" dirty="0">
                <a:solidFill>
                  <a:srgbClr val="FF0000"/>
                </a:solidFill>
                <a:cs typeface="Times New Roman" pitchFamily="18" charset="0"/>
              </a:rPr>
              <a:t>      </a:t>
            </a:r>
            <a:r>
              <a:rPr lang="en-US" altLang="zh-CN" sz="2000" dirty="0">
                <a:solidFill>
                  <a:srgbClr val="FF0000"/>
                </a:solidFill>
              </a:rPr>
              <a:t>A=T</a:t>
            </a:r>
            <a:r>
              <a:rPr lang="en-US" altLang="zh-CN" sz="2000" baseline="-30000" dirty="0">
                <a:solidFill>
                  <a:srgbClr val="FF0000"/>
                </a:solidFill>
              </a:rPr>
              <a:t>1</a:t>
            </a:r>
            <a:r>
              <a:rPr lang="en-US" altLang="zh-CN" sz="2000" dirty="0">
                <a:solidFill>
                  <a:srgbClr val="FF0000"/>
                </a:solidFill>
              </a:rPr>
              <a:t>*T</a:t>
            </a:r>
            <a:r>
              <a:rPr lang="en-US" altLang="zh-CN" sz="2000" baseline="-30000" dirty="0">
                <a:solidFill>
                  <a:srgbClr val="FF0000"/>
                </a:solidFill>
              </a:rPr>
              <a:t>2</a:t>
            </a:r>
            <a:endParaRPr lang="en-US" altLang="zh-CN" sz="2000" dirty="0">
              <a:solidFill>
                <a:srgbClr val="FF0000"/>
              </a:solidFill>
            </a:endParaRPr>
          </a:p>
          <a:p>
            <a:pPr>
              <a:spcBef>
                <a:spcPct val="0"/>
              </a:spcBef>
              <a:buFontTx/>
              <a:buNone/>
            </a:pPr>
            <a:r>
              <a:rPr lang="en-US" altLang="zh-CN" sz="2000" dirty="0">
                <a:solidFill>
                  <a:srgbClr val="FF0000"/>
                </a:solidFill>
              </a:rPr>
              <a:t>(5)</a:t>
            </a:r>
            <a:r>
              <a:rPr lang="en-US" altLang="zh-CN" sz="2000" dirty="0">
                <a:solidFill>
                  <a:srgbClr val="FF0000"/>
                </a:solidFill>
                <a:cs typeface="Times New Roman" pitchFamily="18" charset="0"/>
              </a:rPr>
              <a:t>      </a:t>
            </a:r>
            <a:r>
              <a:rPr lang="en-US" altLang="zh-CN" sz="2000" dirty="0">
                <a:solidFill>
                  <a:srgbClr val="FF0000"/>
                </a:solidFill>
              </a:rPr>
              <a:t>B=A</a:t>
            </a:r>
          </a:p>
          <a:p>
            <a:pPr>
              <a:spcBef>
                <a:spcPct val="0"/>
              </a:spcBef>
              <a:buFontTx/>
              <a:buNone/>
            </a:pPr>
            <a:r>
              <a:rPr lang="en-US" altLang="zh-CN" sz="2000" dirty="0"/>
              <a:t>(6)</a:t>
            </a:r>
            <a:r>
              <a:rPr lang="en-US" altLang="zh-CN" sz="2000" dirty="0">
                <a:cs typeface="Times New Roman" pitchFamily="18" charset="0"/>
              </a:rPr>
              <a:t>      </a:t>
            </a:r>
            <a:r>
              <a:rPr lang="en-US" altLang="zh-CN" sz="2000" dirty="0"/>
              <a:t>T</a:t>
            </a:r>
            <a:r>
              <a:rPr lang="en-US" altLang="zh-CN" sz="2000" baseline="-30000" dirty="0"/>
              <a:t>3</a:t>
            </a:r>
            <a:r>
              <a:rPr lang="en-US" altLang="zh-CN" sz="2000" dirty="0"/>
              <a:t>=2*T</a:t>
            </a:r>
            <a:r>
              <a:rPr lang="en-US" altLang="zh-CN" sz="2000" baseline="-30000" dirty="0"/>
              <a:t>0</a:t>
            </a:r>
            <a:endParaRPr lang="en-US" altLang="zh-CN" sz="2000" dirty="0"/>
          </a:p>
          <a:p>
            <a:pPr>
              <a:spcBef>
                <a:spcPct val="0"/>
              </a:spcBef>
              <a:buFontTx/>
              <a:buNone/>
            </a:pPr>
            <a:r>
              <a:rPr lang="en-US" altLang="zh-CN" sz="2000" dirty="0"/>
              <a:t>(7)</a:t>
            </a:r>
            <a:r>
              <a:rPr lang="en-US" altLang="zh-CN" sz="2000" dirty="0">
                <a:cs typeface="Times New Roman" pitchFamily="18" charset="0"/>
              </a:rPr>
              <a:t>      </a:t>
            </a:r>
            <a:r>
              <a:rPr lang="en-US" altLang="zh-CN" sz="2000" dirty="0"/>
              <a:t>T</a:t>
            </a:r>
            <a:r>
              <a:rPr lang="en-US" altLang="zh-CN" sz="2000" baseline="-30000" dirty="0"/>
              <a:t>4</a:t>
            </a:r>
            <a:r>
              <a:rPr lang="en-US" altLang="zh-CN" sz="2000" dirty="0"/>
              <a:t>=</a:t>
            </a:r>
            <a:r>
              <a:rPr lang="en-US" altLang="zh-CN" sz="2000" dirty="0" err="1"/>
              <a:t>R+r</a:t>
            </a:r>
            <a:endParaRPr lang="en-US" altLang="zh-CN" sz="2000" dirty="0"/>
          </a:p>
          <a:p>
            <a:pPr>
              <a:spcBef>
                <a:spcPct val="0"/>
              </a:spcBef>
              <a:buFontTx/>
              <a:buNone/>
            </a:pPr>
            <a:r>
              <a:rPr lang="en-US" altLang="zh-CN" sz="2000" dirty="0"/>
              <a:t>(8)</a:t>
            </a:r>
            <a:r>
              <a:rPr lang="en-US" altLang="zh-CN" sz="2000" dirty="0">
                <a:cs typeface="Times New Roman" pitchFamily="18" charset="0"/>
              </a:rPr>
              <a:t>      </a:t>
            </a:r>
            <a:r>
              <a:rPr lang="en-US" altLang="zh-CN" sz="2000" dirty="0"/>
              <a:t>T</a:t>
            </a:r>
            <a:r>
              <a:rPr lang="en-US" altLang="zh-CN" sz="2000" baseline="-30000" dirty="0"/>
              <a:t>5</a:t>
            </a:r>
            <a:r>
              <a:rPr lang="en-US" altLang="zh-CN" sz="2000" dirty="0"/>
              <a:t>=T</a:t>
            </a:r>
            <a:r>
              <a:rPr lang="en-US" altLang="zh-CN" sz="2000" baseline="-30000" dirty="0"/>
              <a:t>3</a:t>
            </a:r>
            <a:r>
              <a:rPr lang="en-US" altLang="zh-CN" sz="2000" dirty="0"/>
              <a:t>*T</a:t>
            </a:r>
            <a:r>
              <a:rPr lang="en-US" altLang="zh-CN" sz="2000" baseline="-30000" dirty="0"/>
              <a:t>4</a:t>
            </a:r>
            <a:endParaRPr lang="en-US" altLang="zh-CN" sz="2000" dirty="0"/>
          </a:p>
          <a:p>
            <a:pPr>
              <a:spcBef>
                <a:spcPct val="0"/>
              </a:spcBef>
              <a:buFontTx/>
              <a:buNone/>
            </a:pPr>
            <a:r>
              <a:rPr lang="en-US" altLang="zh-CN" sz="2000" dirty="0"/>
              <a:t>(9)</a:t>
            </a:r>
            <a:r>
              <a:rPr lang="en-US" altLang="zh-CN" sz="2000" dirty="0">
                <a:cs typeface="Times New Roman" pitchFamily="18" charset="0"/>
              </a:rPr>
              <a:t>      </a:t>
            </a:r>
            <a:r>
              <a:rPr lang="en-US" altLang="zh-CN" sz="2000" dirty="0"/>
              <a:t>T</a:t>
            </a:r>
            <a:r>
              <a:rPr lang="en-US" altLang="zh-CN" sz="2000" baseline="-30000" dirty="0"/>
              <a:t>6</a:t>
            </a:r>
            <a:r>
              <a:rPr lang="en-US" altLang="zh-CN" sz="2000" dirty="0"/>
              <a:t>=R-r</a:t>
            </a:r>
          </a:p>
          <a:p>
            <a:pPr>
              <a:spcBef>
                <a:spcPct val="0"/>
              </a:spcBef>
              <a:buFontTx/>
              <a:buNone/>
            </a:pPr>
            <a:r>
              <a:rPr lang="en-US" altLang="zh-CN" sz="2000" dirty="0"/>
              <a:t>(10)    B=T</a:t>
            </a:r>
            <a:r>
              <a:rPr lang="en-US" altLang="zh-CN" sz="2000" baseline="-30000" dirty="0"/>
              <a:t>5</a:t>
            </a:r>
            <a:r>
              <a:rPr lang="en-US" altLang="zh-CN" sz="2000" dirty="0"/>
              <a:t>*T</a:t>
            </a:r>
            <a:r>
              <a:rPr lang="en-US" altLang="zh-CN" sz="2000" baseline="-30000" dirty="0"/>
              <a:t>6</a:t>
            </a:r>
            <a:r>
              <a:rPr lang="en-US" altLang="zh-CN" sz="2000" dirty="0"/>
              <a:t> </a:t>
            </a:r>
          </a:p>
        </p:txBody>
      </p:sp>
      <p:pic>
        <p:nvPicPr>
          <p:cNvPr id="5" name="Picture 7" descr="图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18828" y="221665"/>
            <a:ext cx="4537075" cy="2232247"/>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414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430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30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4034" name="Picture 5" descr="图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5174" y="2654870"/>
            <a:ext cx="4537075" cy="2293144"/>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pic>
      <p:sp>
        <p:nvSpPr>
          <p:cNvPr id="44035" name="Rectangle 6"/>
          <p:cNvSpPr>
            <a:spLocks noChangeArrowheads="1"/>
          </p:cNvSpPr>
          <p:nvPr/>
        </p:nvSpPr>
        <p:spPr bwMode="auto">
          <a:xfrm>
            <a:off x="539750" y="735806"/>
            <a:ext cx="2160042" cy="3170099"/>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marL="114300" indent="-23813" eaLnBrk="0" hangingPunct="0">
              <a:spcBef>
                <a:spcPct val="20000"/>
              </a:spcBef>
              <a:buChar char="•"/>
              <a:tabLst>
                <a:tab pos="342900" algn="l"/>
              </a:tabLst>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tabLst>
                <a:tab pos="342900" algn="l"/>
              </a:tabLst>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tabLst>
                <a:tab pos="342900" algn="l"/>
              </a:tabLst>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tabLst>
                <a:tab pos="342900" algn="l"/>
              </a:tabLst>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tabLst>
                <a:tab pos="342900" algn="l"/>
              </a:tabLst>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dirty="0"/>
              <a:t>(1)</a:t>
            </a:r>
            <a:r>
              <a:rPr lang="en-US" altLang="zh-CN" sz="2000" dirty="0">
                <a:cs typeface="Times New Roman" pitchFamily="18" charset="0"/>
              </a:rPr>
              <a:t>      </a:t>
            </a:r>
            <a:r>
              <a:rPr lang="en-US" altLang="zh-CN" sz="2000" dirty="0"/>
              <a:t>T</a:t>
            </a:r>
            <a:r>
              <a:rPr lang="en-US" altLang="zh-CN" sz="2000" baseline="-30000" dirty="0"/>
              <a:t>0</a:t>
            </a:r>
            <a:r>
              <a:rPr lang="en-US" altLang="zh-CN" sz="2000" dirty="0"/>
              <a:t>=3.14</a:t>
            </a:r>
          </a:p>
          <a:p>
            <a:pPr>
              <a:spcBef>
                <a:spcPct val="0"/>
              </a:spcBef>
              <a:buFontTx/>
              <a:buNone/>
            </a:pPr>
            <a:r>
              <a:rPr lang="en-US" altLang="zh-CN" sz="2000" dirty="0"/>
              <a:t>(2)</a:t>
            </a:r>
            <a:r>
              <a:rPr lang="en-US" altLang="zh-CN" sz="2000" dirty="0">
                <a:cs typeface="Times New Roman" pitchFamily="18" charset="0"/>
              </a:rPr>
              <a:t>      </a:t>
            </a:r>
            <a:r>
              <a:rPr lang="en-US" altLang="zh-CN" sz="2000" dirty="0"/>
              <a:t>T</a:t>
            </a:r>
            <a:r>
              <a:rPr lang="en-US" altLang="zh-CN" sz="2000" baseline="-30000" dirty="0"/>
              <a:t>1</a:t>
            </a:r>
            <a:r>
              <a:rPr lang="en-US" altLang="zh-CN" sz="2000" dirty="0"/>
              <a:t>=2*T</a:t>
            </a:r>
            <a:r>
              <a:rPr lang="en-US" altLang="zh-CN" sz="2000" baseline="-30000" dirty="0"/>
              <a:t>0</a:t>
            </a:r>
            <a:endParaRPr lang="en-US" altLang="zh-CN" sz="2000" dirty="0"/>
          </a:p>
          <a:p>
            <a:pPr>
              <a:spcBef>
                <a:spcPct val="0"/>
              </a:spcBef>
              <a:buFontTx/>
              <a:buNone/>
            </a:pPr>
            <a:r>
              <a:rPr lang="en-US" altLang="zh-CN" sz="2000" dirty="0"/>
              <a:t>(3)</a:t>
            </a:r>
            <a:r>
              <a:rPr lang="en-US" altLang="zh-CN" sz="2000" dirty="0">
                <a:cs typeface="Times New Roman" pitchFamily="18" charset="0"/>
              </a:rPr>
              <a:t>      </a:t>
            </a:r>
            <a:r>
              <a:rPr lang="en-US" altLang="zh-CN" sz="2000" dirty="0"/>
              <a:t>T</a:t>
            </a:r>
            <a:r>
              <a:rPr lang="en-US" altLang="zh-CN" sz="2000" baseline="-30000" dirty="0"/>
              <a:t>2</a:t>
            </a:r>
            <a:r>
              <a:rPr lang="en-US" altLang="zh-CN" sz="2000" dirty="0"/>
              <a:t>=</a:t>
            </a:r>
            <a:r>
              <a:rPr lang="en-US" altLang="zh-CN" sz="2000" dirty="0" err="1"/>
              <a:t>R+r</a:t>
            </a:r>
            <a:endParaRPr lang="en-US" altLang="zh-CN" sz="2000" dirty="0"/>
          </a:p>
          <a:p>
            <a:pPr>
              <a:spcBef>
                <a:spcPct val="0"/>
              </a:spcBef>
              <a:buFontTx/>
              <a:buNone/>
            </a:pPr>
            <a:r>
              <a:rPr lang="en-US" altLang="zh-CN" sz="2000" dirty="0"/>
              <a:t>(4)</a:t>
            </a:r>
            <a:r>
              <a:rPr lang="en-US" altLang="zh-CN" sz="2000" dirty="0">
                <a:cs typeface="Times New Roman" pitchFamily="18" charset="0"/>
              </a:rPr>
              <a:t>      </a:t>
            </a:r>
            <a:r>
              <a:rPr lang="en-US" altLang="zh-CN" sz="2000" dirty="0"/>
              <a:t>A=T</a:t>
            </a:r>
            <a:r>
              <a:rPr lang="en-US" altLang="zh-CN" sz="2000" baseline="-30000" dirty="0"/>
              <a:t>1</a:t>
            </a:r>
            <a:r>
              <a:rPr lang="en-US" altLang="zh-CN" sz="2000" dirty="0"/>
              <a:t>*T</a:t>
            </a:r>
            <a:r>
              <a:rPr lang="en-US" altLang="zh-CN" sz="2000" baseline="-30000" dirty="0"/>
              <a:t>2</a:t>
            </a:r>
            <a:endParaRPr lang="en-US" altLang="zh-CN" sz="2000" dirty="0"/>
          </a:p>
          <a:p>
            <a:pPr>
              <a:spcBef>
                <a:spcPct val="0"/>
              </a:spcBef>
              <a:buFontTx/>
              <a:buNone/>
            </a:pPr>
            <a:r>
              <a:rPr lang="en-US" altLang="zh-CN" sz="2000" dirty="0"/>
              <a:t>(5)</a:t>
            </a:r>
            <a:r>
              <a:rPr lang="en-US" altLang="zh-CN" sz="2000" dirty="0">
                <a:cs typeface="Times New Roman" pitchFamily="18" charset="0"/>
              </a:rPr>
              <a:t>      </a:t>
            </a:r>
            <a:r>
              <a:rPr lang="en-US" altLang="zh-CN" sz="2000" dirty="0"/>
              <a:t>B=A</a:t>
            </a:r>
          </a:p>
          <a:p>
            <a:pPr>
              <a:spcBef>
                <a:spcPct val="0"/>
              </a:spcBef>
              <a:buFontTx/>
              <a:buNone/>
            </a:pPr>
            <a:r>
              <a:rPr lang="en-US" altLang="zh-CN" sz="2000" dirty="0">
                <a:solidFill>
                  <a:srgbClr val="FF0000"/>
                </a:solidFill>
              </a:rPr>
              <a:t>(6)</a:t>
            </a:r>
            <a:r>
              <a:rPr lang="en-US" altLang="zh-CN" sz="2000" dirty="0">
                <a:solidFill>
                  <a:srgbClr val="FF0000"/>
                </a:solidFill>
                <a:cs typeface="Times New Roman" pitchFamily="18" charset="0"/>
              </a:rPr>
              <a:t>      </a:t>
            </a:r>
            <a:r>
              <a:rPr lang="en-US" altLang="zh-CN" sz="2000" dirty="0">
                <a:solidFill>
                  <a:srgbClr val="FF0000"/>
                </a:solidFill>
              </a:rPr>
              <a:t>T</a:t>
            </a:r>
            <a:r>
              <a:rPr lang="en-US" altLang="zh-CN" sz="2000" baseline="-30000" dirty="0">
                <a:solidFill>
                  <a:srgbClr val="FF0000"/>
                </a:solidFill>
              </a:rPr>
              <a:t>3</a:t>
            </a:r>
            <a:r>
              <a:rPr lang="en-US" altLang="zh-CN" sz="2000" dirty="0">
                <a:solidFill>
                  <a:srgbClr val="FF0000"/>
                </a:solidFill>
              </a:rPr>
              <a:t>=2*T</a:t>
            </a:r>
            <a:r>
              <a:rPr lang="en-US" altLang="zh-CN" sz="2000" baseline="-30000" dirty="0">
                <a:solidFill>
                  <a:srgbClr val="FF0000"/>
                </a:solidFill>
              </a:rPr>
              <a:t>0</a:t>
            </a:r>
            <a:endParaRPr lang="en-US" altLang="zh-CN" sz="2000" dirty="0">
              <a:solidFill>
                <a:srgbClr val="FF0000"/>
              </a:solidFill>
            </a:endParaRPr>
          </a:p>
          <a:p>
            <a:pPr>
              <a:spcBef>
                <a:spcPct val="0"/>
              </a:spcBef>
              <a:buFontTx/>
              <a:buNone/>
            </a:pPr>
            <a:r>
              <a:rPr lang="en-US" altLang="zh-CN" sz="2000" dirty="0">
                <a:solidFill>
                  <a:srgbClr val="FF0000"/>
                </a:solidFill>
              </a:rPr>
              <a:t>(7)</a:t>
            </a:r>
            <a:r>
              <a:rPr lang="en-US" altLang="zh-CN" sz="2000" dirty="0">
                <a:solidFill>
                  <a:srgbClr val="FF0000"/>
                </a:solidFill>
                <a:cs typeface="Times New Roman" pitchFamily="18" charset="0"/>
              </a:rPr>
              <a:t>      </a:t>
            </a:r>
            <a:r>
              <a:rPr lang="en-US" altLang="zh-CN" sz="2000" dirty="0">
                <a:solidFill>
                  <a:srgbClr val="FF0000"/>
                </a:solidFill>
              </a:rPr>
              <a:t>T</a:t>
            </a:r>
            <a:r>
              <a:rPr lang="en-US" altLang="zh-CN" sz="2000" baseline="-30000" dirty="0">
                <a:solidFill>
                  <a:srgbClr val="FF0000"/>
                </a:solidFill>
              </a:rPr>
              <a:t>4</a:t>
            </a:r>
            <a:r>
              <a:rPr lang="en-US" altLang="zh-CN" sz="2000" dirty="0">
                <a:solidFill>
                  <a:srgbClr val="FF0000"/>
                </a:solidFill>
              </a:rPr>
              <a:t>=</a:t>
            </a:r>
            <a:r>
              <a:rPr lang="en-US" altLang="zh-CN" sz="2000" dirty="0" err="1">
                <a:solidFill>
                  <a:srgbClr val="FF0000"/>
                </a:solidFill>
              </a:rPr>
              <a:t>R+r</a:t>
            </a:r>
            <a:endParaRPr lang="en-US" altLang="zh-CN" sz="2000" dirty="0">
              <a:solidFill>
                <a:srgbClr val="FF0000"/>
              </a:solidFill>
            </a:endParaRPr>
          </a:p>
          <a:p>
            <a:pPr>
              <a:spcBef>
                <a:spcPct val="0"/>
              </a:spcBef>
              <a:buFontTx/>
              <a:buNone/>
            </a:pPr>
            <a:r>
              <a:rPr lang="en-US" altLang="zh-CN" sz="2000" dirty="0"/>
              <a:t>(8)</a:t>
            </a:r>
            <a:r>
              <a:rPr lang="en-US" altLang="zh-CN" sz="2000" dirty="0">
                <a:cs typeface="Times New Roman" pitchFamily="18" charset="0"/>
              </a:rPr>
              <a:t>      </a:t>
            </a:r>
            <a:r>
              <a:rPr lang="en-US" altLang="zh-CN" sz="2000" dirty="0"/>
              <a:t>T</a:t>
            </a:r>
            <a:r>
              <a:rPr lang="en-US" altLang="zh-CN" sz="2000" baseline="-30000" dirty="0"/>
              <a:t>5</a:t>
            </a:r>
            <a:r>
              <a:rPr lang="en-US" altLang="zh-CN" sz="2000" dirty="0"/>
              <a:t>=T</a:t>
            </a:r>
            <a:r>
              <a:rPr lang="en-US" altLang="zh-CN" sz="2000" baseline="-30000" dirty="0"/>
              <a:t>3</a:t>
            </a:r>
            <a:r>
              <a:rPr lang="en-US" altLang="zh-CN" sz="2000" dirty="0"/>
              <a:t>*T</a:t>
            </a:r>
            <a:r>
              <a:rPr lang="en-US" altLang="zh-CN" sz="2000" baseline="-30000" dirty="0"/>
              <a:t>4</a:t>
            </a:r>
            <a:endParaRPr lang="en-US" altLang="zh-CN" sz="2000" dirty="0"/>
          </a:p>
          <a:p>
            <a:pPr>
              <a:spcBef>
                <a:spcPct val="0"/>
              </a:spcBef>
              <a:buFontTx/>
              <a:buNone/>
            </a:pPr>
            <a:r>
              <a:rPr lang="en-US" altLang="zh-CN" sz="2000" dirty="0"/>
              <a:t>(9)</a:t>
            </a:r>
            <a:r>
              <a:rPr lang="en-US" altLang="zh-CN" sz="2000" dirty="0">
                <a:cs typeface="Times New Roman" pitchFamily="18" charset="0"/>
              </a:rPr>
              <a:t>      </a:t>
            </a:r>
            <a:r>
              <a:rPr lang="en-US" altLang="zh-CN" sz="2000" dirty="0"/>
              <a:t>T</a:t>
            </a:r>
            <a:r>
              <a:rPr lang="en-US" altLang="zh-CN" sz="2000" baseline="-30000" dirty="0"/>
              <a:t>6</a:t>
            </a:r>
            <a:r>
              <a:rPr lang="en-US" altLang="zh-CN" sz="2000" dirty="0"/>
              <a:t>=R-r</a:t>
            </a:r>
          </a:p>
          <a:p>
            <a:pPr>
              <a:spcBef>
                <a:spcPct val="0"/>
              </a:spcBef>
              <a:buFontTx/>
              <a:buNone/>
            </a:pPr>
            <a:r>
              <a:rPr lang="en-US" altLang="zh-CN" sz="2000" dirty="0"/>
              <a:t>(10)    B=T</a:t>
            </a:r>
            <a:r>
              <a:rPr lang="en-US" altLang="zh-CN" sz="2000" baseline="-30000" dirty="0"/>
              <a:t>5</a:t>
            </a:r>
            <a:r>
              <a:rPr lang="en-US" altLang="zh-CN" sz="2000" dirty="0"/>
              <a:t>*T</a:t>
            </a:r>
            <a:r>
              <a:rPr lang="en-US" altLang="zh-CN" sz="2000" baseline="-30000" dirty="0"/>
              <a:t>6</a:t>
            </a:r>
            <a:r>
              <a:rPr lang="en-US" altLang="zh-CN" sz="2000" dirty="0"/>
              <a:t> </a:t>
            </a:r>
          </a:p>
        </p:txBody>
      </p:sp>
      <p:pic>
        <p:nvPicPr>
          <p:cNvPr id="4" name="Picture 5" descr="图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6107" y="94002"/>
            <a:ext cx="4556142" cy="2355085"/>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349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5058" name="Picture 3" descr="图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5375" y="2627868"/>
            <a:ext cx="4537075" cy="2195513"/>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pic>
      <p:sp>
        <p:nvSpPr>
          <p:cNvPr id="45059" name="Rectangle 5"/>
          <p:cNvSpPr>
            <a:spLocks noChangeArrowheads="1"/>
          </p:cNvSpPr>
          <p:nvPr/>
        </p:nvSpPr>
        <p:spPr bwMode="auto">
          <a:xfrm>
            <a:off x="395288" y="555526"/>
            <a:ext cx="2232496" cy="3170099"/>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marL="114300" indent="-23813" eaLnBrk="0" hangingPunct="0">
              <a:spcBef>
                <a:spcPct val="20000"/>
              </a:spcBef>
              <a:buChar char="•"/>
              <a:tabLst>
                <a:tab pos="342900" algn="l"/>
              </a:tabLst>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tabLst>
                <a:tab pos="342900" algn="l"/>
              </a:tabLst>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tabLst>
                <a:tab pos="342900" algn="l"/>
              </a:tabLst>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tabLst>
                <a:tab pos="342900" algn="l"/>
              </a:tabLst>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tabLst>
                <a:tab pos="342900" algn="l"/>
              </a:tabLst>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dirty="0"/>
              <a:t>(1)</a:t>
            </a:r>
            <a:r>
              <a:rPr lang="en-US" altLang="zh-CN" sz="2000" dirty="0">
                <a:cs typeface="Times New Roman" pitchFamily="18" charset="0"/>
              </a:rPr>
              <a:t>      </a:t>
            </a:r>
            <a:r>
              <a:rPr lang="en-US" altLang="zh-CN" sz="2000" dirty="0"/>
              <a:t>T</a:t>
            </a:r>
            <a:r>
              <a:rPr lang="en-US" altLang="zh-CN" sz="2000" baseline="-30000" dirty="0"/>
              <a:t>0</a:t>
            </a:r>
            <a:r>
              <a:rPr lang="en-US" altLang="zh-CN" sz="2000" dirty="0"/>
              <a:t>=3.14</a:t>
            </a:r>
          </a:p>
          <a:p>
            <a:pPr>
              <a:spcBef>
                <a:spcPct val="0"/>
              </a:spcBef>
              <a:buFontTx/>
              <a:buNone/>
            </a:pPr>
            <a:r>
              <a:rPr lang="en-US" altLang="zh-CN" sz="2000" dirty="0"/>
              <a:t>(2)</a:t>
            </a:r>
            <a:r>
              <a:rPr lang="en-US" altLang="zh-CN" sz="2000" dirty="0">
                <a:cs typeface="Times New Roman" pitchFamily="18" charset="0"/>
              </a:rPr>
              <a:t>      </a:t>
            </a:r>
            <a:r>
              <a:rPr lang="en-US" altLang="zh-CN" sz="2000" dirty="0"/>
              <a:t>T</a:t>
            </a:r>
            <a:r>
              <a:rPr lang="en-US" altLang="zh-CN" sz="2000" baseline="-30000" dirty="0"/>
              <a:t>1</a:t>
            </a:r>
            <a:r>
              <a:rPr lang="en-US" altLang="zh-CN" sz="2000" dirty="0"/>
              <a:t>=2*T</a:t>
            </a:r>
            <a:r>
              <a:rPr lang="en-US" altLang="zh-CN" sz="2000" baseline="-30000" dirty="0"/>
              <a:t>0</a:t>
            </a:r>
            <a:endParaRPr lang="en-US" altLang="zh-CN" sz="2000" dirty="0"/>
          </a:p>
          <a:p>
            <a:pPr>
              <a:spcBef>
                <a:spcPct val="0"/>
              </a:spcBef>
              <a:buFontTx/>
              <a:buNone/>
            </a:pPr>
            <a:r>
              <a:rPr lang="en-US" altLang="zh-CN" sz="2000" dirty="0"/>
              <a:t>(3)</a:t>
            </a:r>
            <a:r>
              <a:rPr lang="en-US" altLang="zh-CN" sz="2000" dirty="0">
                <a:cs typeface="Times New Roman" pitchFamily="18" charset="0"/>
              </a:rPr>
              <a:t>      </a:t>
            </a:r>
            <a:r>
              <a:rPr lang="en-US" altLang="zh-CN" sz="2000" dirty="0"/>
              <a:t>T</a:t>
            </a:r>
            <a:r>
              <a:rPr lang="en-US" altLang="zh-CN" sz="2000" baseline="-30000" dirty="0"/>
              <a:t>2</a:t>
            </a:r>
            <a:r>
              <a:rPr lang="en-US" altLang="zh-CN" sz="2000" dirty="0"/>
              <a:t>=</a:t>
            </a:r>
            <a:r>
              <a:rPr lang="en-US" altLang="zh-CN" sz="2000" dirty="0" err="1"/>
              <a:t>R+r</a:t>
            </a:r>
            <a:endParaRPr lang="en-US" altLang="zh-CN" sz="2000" dirty="0"/>
          </a:p>
          <a:p>
            <a:pPr>
              <a:spcBef>
                <a:spcPct val="0"/>
              </a:spcBef>
              <a:buFontTx/>
              <a:buNone/>
            </a:pPr>
            <a:r>
              <a:rPr lang="en-US" altLang="zh-CN" sz="2000" dirty="0"/>
              <a:t>(4)</a:t>
            </a:r>
            <a:r>
              <a:rPr lang="en-US" altLang="zh-CN" sz="2000" dirty="0">
                <a:cs typeface="Times New Roman" pitchFamily="18" charset="0"/>
              </a:rPr>
              <a:t>      </a:t>
            </a:r>
            <a:r>
              <a:rPr lang="en-US" altLang="zh-CN" sz="2000" dirty="0"/>
              <a:t>A=T</a:t>
            </a:r>
            <a:r>
              <a:rPr lang="en-US" altLang="zh-CN" sz="2000" baseline="-30000" dirty="0"/>
              <a:t>1</a:t>
            </a:r>
            <a:r>
              <a:rPr lang="en-US" altLang="zh-CN" sz="2000" dirty="0"/>
              <a:t>*T</a:t>
            </a:r>
            <a:r>
              <a:rPr lang="en-US" altLang="zh-CN" sz="2000" baseline="-30000" dirty="0"/>
              <a:t>2</a:t>
            </a:r>
            <a:endParaRPr lang="en-US" altLang="zh-CN" sz="2000" dirty="0"/>
          </a:p>
          <a:p>
            <a:pPr>
              <a:spcBef>
                <a:spcPct val="0"/>
              </a:spcBef>
              <a:buFontTx/>
              <a:buNone/>
            </a:pPr>
            <a:r>
              <a:rPr lang="en-US" altLang="zh-CN" sz="2000" dirty="0"/>
              <a:t>(5)</a:t>
            </a:r>
            <a:r>
              <a:rPr lang="en-US" altLang="zh-CN" sz="2000" dirty="0">
                <a:cs typeface="Times New Roman" pitchFamily="18" charset="0"/>
              </a:rPr>
              <a:t>      </a:t>
            </a:r>
            <a:r>
              <a:rPr lang="en-US" altLang="zh-CN" sz="2000" dirty="0"/>
              <a:t>B=A</a:t>
            </a:r>
          </a:p>
          <a:p>
            <a:pPr>
              <a:spcBef>
                <a:spcPct val="0"/>
              </a:spcBef>
              <a:buFontTx/>
              <a:buNone/>
            </a:pPr>
            <a:r>
              <a:rPr lang="en-US" altLang="zh-CN" sz="2000" dirty="0"/>
              <a:t>(6)</a:t>
            </a:r>
            <a:r>
              <a:rPr lang="en-US" altLang="zh-CN" sz="2000" dirty="0">
                <a:cs typeface="Times New Roman" pitchFamily="18" charset="0"/>
              </a:rPr>
              <a:t>      </a:t>
            </a:r>
            <a:r>
              <a:rPr lang="en-US" altLang="zh-CN" sz="2000" dirty="0"/>
              <a:t>T</a:t>
            </a:r>
            <a:r>
              <a:rPr lang="en-US" altLang="zh-CN" sz="2000" baseline="-30000" dirty="0"/>
              <a:t>3</a:t>
            </a:r>
            <a:r>
              <a:rPr lang="en-US" altLang="zh-CN" sz="2000" dirty="0"/>
              <a:t>=2*T</a:t>
            </a:r>
            <a:r>
              <a:rPr lang="en-US" altLang="zh-CN" sz="2000" baseline="-30000" dirty="0"/>
              <a:t>0</a:t>
            </a:r>
            <a:endParaRPr lang="en-US" altLang="zh-CN" sz="2000" dirty="0"/>
          </a:p>
          <a:p>
            <a:pPr>
              <a:spcBef>
                <a:spcPct val="0"/>
              </a:spcBef>
              <a:buFontTx/>
              <a:buNone/>
            </a:pPr>
            <a:r>
              <a:rPr lang="en-US" altLang="zh-CN" sz="2000" dirty="0"/>
              <a:t>(7)</a:t>
            </a:r>
            <a:r>
              <a:rPr lang="en-US" altLang="zh-CN" sz="2000" dirty="0">
                <a:cs typeface="Times New Roman" pitchFamily="18" charset="0"/>
              </a:rPr>
              <a:t>      </a:t>
            </a:r>
            <a:r>
              <a:rPr lang="en-US" altLang="zh-CN" sz="2000" dirty="0"/>
              <a:t>T</a:t>
            </a:r>
            <a:r>
              <a:rPr lang="en-US" altLang="zh-CN" sz="2000" baseline="-30000" dirty="0"/>
              <a:t>4</a:t>
            </a:r>
            <a:r>
              <a:rPr lang="en-US" altLang="zh-CN" sz="2000" dirty="0"/>
              <a:t>=</a:t>
            </a:r>
            <a:r>
              <a:rPr lang="en-US" altLang="zh-CN" sz="2000" dirty="0" err="1"/>
              <a:t>R+r</a:t>
            </a:r>
            <a:endParaRPr lang="en-US" altLang="zh-CN" sz="2000" dirty="0"/>
          </a:p>
          <a:p>
            <a:pPr>
              <a:spcBef>
                <a:spcPct val="0"/>
              </a:spcBef>
              <a:buFontTx/>
              <a:buNone/>
            </a:pPr>
            <a:r>
              <a:rPr lang="en-US" altLang="zh-CN" sz="2000" dirty="0">
                <a:solidFill>
                  <a:srgbClr val="FF0000"/>
                </a:solidFill>
              </a:rPr>
              <a:t>(8)</a:t>
            </a:r>
            <a:r>
              <a:rPr lang="en-US" altLang="zh-CN" sz="2000" dirty="0">
                <a:solidFill>
                  <a:srgbClr val="FF0000"/>
                </a:solidFill>
                <a:cs typeface="Times New Roman" pitchFamily="18" charset="0"/>
              </a:rPr>
              <a:t>      </a:t>
            </a:r>
            <a:r>
              <a:rPr lang="en-US" altLang="zh-CN" sz="2000" dirty="0">
                <a:solidFill>
                  <a:srgbClr val="FF0000"/>
                </a:solidFill>
              </a:rPr>
              <a:t>T</a:t>
            </a:r>
            <a:r>
              <a:rPr lang="en-US" altLang="zh-CN" sz="2000" baseline="-30000" dirty="0">
                <a:solidFill>
                  <a:srgbClr val="FF0000"/>
                </a:solidFill>
              </a:rPr>
              <a:t>5</a:t>
            </a:r>
            <a:r>
              <a:rPr lang="en-US" altLang="zh-CN" sz="2000" dirty="0">
                <a:solidFill>
                  <a:srgbClr val="FF0000"/>
                </a:solidFill>
              </a:rPr>
              <a:t>=T</a:t>
            </a:r>
            <a:r>
              <a:rPr lang="en-US" altLang="zh-CN" sz="2000" baseline="-30000" dirty="0">
                <a:solidFill>
                  <a:srgbClr val="FF0000"/>
                </a:solidFill>
              </a:rPr>
              <a:t>3</a:t>
            </a:r>
            <a:r>
              <a:rPr lang="en-US" altLang="zh-CN" sz="2000" dirty="0">
                <a:solidFill>
                  <a:srgbClr val="FF0000"/>
                </a:solidFill>
              </a:rPr>
              <a:t>*T</a:t>
            </a:r>
            <a:r>
              <a:rPr lang="en-US" altLang="zh-CN" sz="2000" baseline="-30000" dirty="0">
                <a:solidFill>
                  <a:srgbClr val="FF0000"/>
                </a:solidFill>
              </a:rPr>
              <a:t>4</a:t>
            </a:r>
            <a:endParaRPr lang="en-US" altLang="zh-CN" sz="2000" dirty="0">
              <a:solidFill>
                <a:srgbClr val="FF0000"/>
              </a:solidFill>
            </a:endParaRPr>
          </a:p>
          <a:p>
            <a:pPr>
              <a:spcBef>
                <a:spcPct val="0"/>
              </a:spcBef>
              <a:buFontTx/>
              <a:buNone/>
            </a:pPr>
            <a:r>
              <a:rPr lang="en-US" altLang="zh-CN" sz="2000" dirty="0">
                <a:solidFill>
                  <a:srgbClr val="FF0000"/>
                </a:solidFill>
              </a:rPr>
              <a:t>(9)</a:t>
            </a:r>
            <a:r>
              <a:rPr lang="en-US" altLang="zh-CN" sz="2000" dirty="0">
                <a:solidFill>
                  <a:srgbClr val="FF0000"/>
                </a:solidFill>
                <a:cs typeface="Times New Roman" pitchFamily="18" charset="0"/>
              </a:rPr>
              <a:t>      </a:t>
            </a:r>
            <a:r>
              <a:rPr lang="en-US" altLang="zh-CN" sz="2000" dirty="0">
                <a:solidFill>
                  <a:srgbClr val="FF0000"/>
                </a:solidFill>
              </a:rPr>
              <a:t>T</a:t>
            </a:r>
            <a:r>
              <a:rPr lang="en-US" altLang="zh-CN" sz="2000" baseline="-30000" dirty="0">
                <a:solidFill>
                  <a:srgbClr val="FF0000"/>
                </a:solidFill>
              </a:rPr>
              <a:t>6</a:t>
            </a:r>
            <a:r>
              <a:rPr lang="en-US" altLang="zh-CN" sz="2000" dirty="0">
                <a:solidFill>
                  <a:srgbClr val="FF0000"/>
                </a:solidFill>
              </a:rPr>
              <a:t>=R-r</a:t>
            </a:r>
          </a:p>
          <a:p>
            <a:pPr>
              <a:spcBef>
                <a:spcPct val="0"/>
              </a:spcBef>
              <a:buFontTx/>
              <a:buNone/>
            </a:pPr>
            <a:r>
              <a:rPr lang="en-US" altLang="zh-CN" sz="2000" dirty="0"/>
              <a:t>(10)    B=T</a:t>
            </a:r>
            <a:r>
              <a:rPr lang="en-US" altLang="zh-CN" sz="2000" baseline="-30000" dirty="0"/>
              <a:t>5</a:t>
            </a:r>
            <a:r>
              <a:rPr lang="en-US" altLang="zh-CN" sz="2000" dirty="0"/>
              <a:t>*T</a:t>
            </a:r>
            <a:r>
              <a:rPr lang="en-US" altLang="zh-CN" sz="2000" baseline="-30000" dirty="0"/>
              <a:t>6</a:t>
            </a:r>
            <a:r>
              <a:rPr lang="en-US" altLang="zh-CN" sz="2000" dirty="0"/>
              <a:t> </a:t>
            </a:r>
          </a:p>
        </p:txBody>
      </p:sp>
      <p:pic>
        <p:nvPicPr>
          <p:cNvPr id="4" name="Picture 5" descr="图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5375" y="188429"/>
            <a:ext cx="4537075" cy="2293144"/>
          </a:xfrm>
          <a:prstGeom prst="rect">
            <a:avLst/>
          </a:prstGeom>
          <a:noFill/>
          <a:ln w="28575">
            <a:solidFill>
              <a:srgbClr val="B3D7B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565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6082" name="Picture 8" descr="图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240" y="2429202"/>
            <a:ext cx="4537075" cy="2670572"/>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pic>
      <p:sp>
        <p:nvSpPr>
          <p:cNvPr id="46083" name="Rectangle 9"/>
          <p:cNvSpPr>
            <a:spLocks noChangeArrowheads="1"/>
          </p:cNvSpPr>
          <p:nvPr/>
        </p:nvSpPr>
        <p:spPr bwMode="auto">
          <a:xfrm>
            <a:off x="611188" y="844153"/>
            <a:ext cx="2232620" cy="3170099"/>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marL="114300" indent="-23813" eaLnBrk="0" hangingPunct="0">
              <a:spcBef>
                <a:spcPct val="20000"/>
              </a:spcBef>
              <a:buChar char="•"/>
              <a:tabLst>
                <a:tab pos="342900" algn="l"/>
              </a:tabLst>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tabLst>
                <a:tab pos="342900" algn="l"/>
              </a:tabLst>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tabLst>
                <a:tab pos="342900" algn="l"/>
              </a:tabLst>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tabLst>
                <a:tab pos="342900" algn="l"/>
              </a:tabLst>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tabLst>
                <a:tab pos="342900" algn="l"/>
              </a:tabLst>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b="1" dirty="0"/>
              <a:t>(1)</a:t>
            </a:r>
            <a:r>
              <a:rPr lang="en-US" altLang="zh-CN" sz="2000" b="1" dirty="0">
                <a:cs typeface="Times New Roman" pitchFamily="18" charset="0"/>
              </a:rPr>
              <a:t>      </a:t>
            </a:r>
            <a:r>
              <a:rPr lang="en-US" altLang="zh-CN" sz="2000" b="1" dirty="0"/>
              <a:t>T</a:t>
            </a:r>
            <a:r>
              <a:rPr lang="en-US" altLang="zh-CN" sz="2000" b="1" baseline="-30000" dirty="0"/>
              <a:t>0</a:t>
            </a:r>
            <a:r>
              <a:rPr lang="en-US" altLang="zh-CN" sz="2000" b="1" dirty="0"/>
              <a:t>=3.14</a:t>
            </a:r>
            <a:endParaRPr lang="en-US" altLang="zh-CN" sz="2000" dirty="0"/>
          </a:p>
          <a:p>
            <a:pPr>
              <a:spcBef>
                <a:spcPct val="0"/>
              </a:spcBef>
              <a:buFontTx/>
              <a:buNone/>
            </a:pPr>
            <a:r>
              <a:rPr lang="en-US" altLang="zh-CN" sz="2000" b="1" dirty="0"/>
              <a:t>(2)</a:t>
            </a:r>
            <a:r>
              <a:rPr lang="en-US" altLang="zh-CN" sz="2000" b="1" dirty="0">
                <a:cs typeface="Times New Roman" pitchFamily="18" charset="0"/>
              </a:rPr>
              <a:t>      </a:t>
            </a:r>
            <a:r>
              <a:rPr lang="en-US" altLang="zh-CN" sz="2000" b="1" dirty="0"/>
              <a:t>T</a:t>
            </a:r>
            <a:r>
              <a:rPr lang="en-US" altLang="zh-CN" sz="2000" b="1" baseline="-30000" dirty="0"/>
              <a:t>1</a:t>
            </a:r>
            <a:r>
              <a:rPr lang="en-US" altLang="zh-CN" sz="2000" b="1" dirty="0"/>
              <a:t>=2*T</a:t>
            </a:r>
            <a:r>
              <a:rPr lang="en-US" altLang="zh-CN" sz="2000" b="1" baseline="-30000" dirty="0"/>
              <a:t>0</a:t>
            </a:r>
            <a:endParaRPr lang="en-US" altLang="zh-CN" sz="2000" dirty="0"/>
          </a:p>
          <a:p>
            <a:pPr>
              <a:spcBef>
                <a:spcPct val="0"/>
              </a:spcBef>
              <a:buFontTx/>
              <a:buNone/>
            </a:pPr>
            <a:r>
              <a:rPr lang="en-US" altLang="zh-CN" sz="2000" b="1" dirty="0"/>
              <a:t>(3)</a:t>
            </a:r>
            <a:r>
              <a:rPr lang="en-US" altLang="zh-CN" sz="2000" b="1" dirty="0">
                <a:cs typeface="Times New Roman" pitchFamily="18" charset="0"/>
              </a:rPr>
              <a:t>      </a:t>
            </a:r>
            <a:r>
              <a:rPr lang="en-US" altLang="zh-CN" sz="2000" b="1" dirty="0"/>
              <a:t>T</a:t>
            </a:r>
            <a:r>
              <a:rPr lang="en-US" altLang="zh-CN" sz="2000" b="1" baseline="-30000" dirty="0"/>
              <a:t>2</a:t>
            </a:r>
            <a:r>
              <a:rPr lang="en-US" altLang="zh-CN" sz="2000" b="1" dirty="0"/>
              <a:t>=</a:t>
            </a:r>
            <a:r>
              <a:rPr lang="en-US" altLang="zh-CN" sz="2000" b="1" dirty="0" err="1"/>
              <a:t>R+r</a:t>
            </a:r>
            <a:endParaRPr lang="en-US" altLang="zh-CN" sz="2000" dirty="0"/>
          </a:p>
          <a:p>
            <a:pPr>
              <a:spcBef>
                <a:spcPct val="0"/>
              </a:spcBef>
              <a:buFontTx/>
              <a:buNone/>
            </a:pPr>
            <a:r>
              <a:rPr lang="en-US" altLang="zh-CN" sz="2000" b="1" dirty="0"/>
              <a:t>(4)</a:t>
            </a:r>
            <a:r>
              <a:rPr lang="en-US" altLang="zh-CN" sz="2000" b="1" dirty="0">
                <a:cs typeface="Times New Roman" pitchFamily="18" charset="0"/>
              </a:rPr>
              <a:t>      </a:t>
            </a:r>
            <a:r>
              <a:rPr lang="en-US" altLang="zh-CN" sz="2000" b="1" dirty="0"/>
              <a:t>A=T</a:t>
            </a:r>
            <a:r>
              <a:rPr lang="en-US" altLang="zh-CN" sz="2000" b="1" baseline="-30000" dirty="0"/>
              <a:t>1</a:t>
            </a:r>
            <a:r>
              <a:rPr lang="en-US" altLang="zh-CN" sz="2000" b="1" dirty="0"/>
              <a:t>*T</a:t>
            </a:r>
            <a:r>
              <a:rPr lang="en-US" altLang="zh-CN" sz="2000" b="1" baseline="-30000" dirty="0"/>
              <a:t>2</a:t>
            </a:r>
            <a:endParaRPr lang="en-US" altLang="zh-CN" sz="2000" dirty="0"/>
          </a:p>
          <a:p>
            <a:pPr>
              <a:spcBef>
                <a:spcPct val="0"/>
              </a:spcBef>
              <a:buFontTx/>
              <a:buNone/>
            </a:pPr>
            <a:r>
              <a:rPr lang="en-US" altLang="zh-CN" sz="2000" b="1" dirty="0"/>
              <a:t>(5)</a:t>
            </a:r>
            <a:r>
              <a:rPr lang="en-US" altLang="zh-CN" sz="2000" b="1" dirty="0">
                <a:cs typeface="Times New Roman" pitchFamily="18" charset="0"/>
              </a:rPr>
              <a:t>      </a:t>
            </a:r>
            <a:r>
              <a:rPr lang="en-US" altLang="zh-CN" sz="2000" b="1" dirty="0"/>
              <a:t>B=A</a:t>
            </a:r>
            <a:endParaRPr lang="en-US" altLang="zh-CN" sz="2000" dirty="0"/>
          </a:p>
          <a:p>
            <a:pPr>
              <a:spcBef>
                <a:spcPct val="0"/>
              </a:spcBef>
              <a:buFontTx/>
              <a:buNone/>
            </a:pPr>
            <a:r>
              <a:rPr lang="en-US" altLang="zh-CN" sz="2000" b="1" dirty="0"/>
              <a:t>(6)</a:t>
            </a:r>
            <a:r>
              <a:rPr lang="en-US" altLang="zh-CN" sz="2000" b="1" dirty="0">
                <a:cs typeface="Times New Roman" pitchFamily="18" charset="0"/>
              </a:rPr>
              <a:t>      </a:t>
            </a:r>
            <a:r>
              <a:rPr lang="en-US" altLang="zh-CN" sz="2000" b="1" dirty="0"/>
              <a:t>T</a:t>
            </a:r>
            <a:r>
              <a:rPr lang="en-US" altLang="zh-CN" sz="2000" b="1" baseline="-30000" dirty="0"/>
              <a:t>3</a:t>
            </a:r>
            <a:r>
              <a:rPr lang="en-US" altLang="zh-CN" sz="2000" b="1" dirty="0"/>
              <a:t>=2*T</a:t>
            </a:r>
            <a:r>
              <a:rPr lang="en-US" altLang="zh-CN" sz="2000" b="1" baseline="-30000" dirty="0"/>
              <a:t>0</a:t>
            </a:r>
            <a:endParaRPr lang="en-US" altLang="zh-CN" sz="2000" dirty="0"/>
          </a:p>
          <a:p>
            <a:pPr>
              <a:spcBef>
                <a:spcPct val="0"/>
              </a:spcBef>
              <a:buFontTx/>
              <a:buNone/>
            </a:pPr>
            <a:r>
              <a:rPr lang="en-US" altLang="zh-CN" sz="2000" b="1" dirty="0"/>
              <a:t>(7)</a:t>
            </a:r>
            <a:r>
              <a:rPr lang="en-US" altLang="zh-CN" sz="2000" b="1" dirty="0">
                <a:cs typeface="Times New Roman" pitchFamily="18" charset="0"/>
              </a:rPr>
              <a:t>      </a:t>
            </a:r>
            <a:r>
              <a:rPr lang="en-US" altLang="zh-CN" sz="2000" b="1" dirty="0"/>
              <a:t>T</a:t>
            </a:r>
            <a:r>
              <a:rPr lang="en-US" altLang="zh-CN" sz="2000" b="1" baseline="-30000" dirty="0"/>
              <a:t>4</a:t>
            </a:r>
            <a:r>
              <a:rPr lang="en-US" altLang="zh-CN" sz="2000" b="1" dirty="0"/>
              <a:t>=</a:t>
            </a:r>
            <a:r>
              <a:rPr lang="en-US" altLang="zh-CN" sz="2000" b="1" dirty="0" err="1"/>
              <a:t>R+r</a:t>
            </a:r>
            <a:endParaRPr lang="en-US" altLang="zh-CN" sz="2000" dirty="0"/>
          </a:p>
          <a:p>
            <a:pPr>
              <a:spcBef>
                <a:spcPct val="0"/>
              </a:spcBef>
              <a:buFontTx/>
              <a:buNone/>
            </a:pPr>
            <a:r>
              <a:rPr lang="en-US" altLang="zh-CN" sz="2000" b="1" dirty="0"/>
              <a:t>(8)</a:t>
            </a:r>
            <a:r>
              <a:rPr lang="en-US" altLang="zh-CN" sz="2000" b="1" dirty="0">
                <a:cs typeface="Times New Roman" pitchFamily="18" charset="0"/>
              </a:rPr>
              <a:t>      </a:t>
            </a:r>
            <a:r>
              <a:rPr lang="en-US" altLang="zh-CN" sz="2000" b="1" dirty="0"/>
              <a:t>T</a:t>
            </a:r>
            <a:r>
              <a:rPr lang="en-US" altLang="zh-CN" sz="2000" b="1" baseline="-30000" dirty="0"/>
              <a:t>5</a:t>
            </a:r>
            <a:r>
              <a:rPr lang="en-US" altLang="zh-CN" sz="2000" b="1" dirty="0"/>
              <a:t>=T</a:t>
            </a:r>
            <a:r>
              <a:rPr lang="en-US" altLang="zh-CN" sz="2000" b="1" baseline="-30000" dirty="0"/>
              <a:t>3</a:t>
            </a:r>
            <a:r>
              <a:rPr lang="en-US" altLang="zh-CN" sz="2000" b="1" dirty="0"/>
              <a:t>*T</a:t>
            </a:r>
            <a:r>
              <a:rPr lang="en-US" altLang="zh-CN" sz="2000" b="1" baseline="-30000" dirty="0"/>
              <a:t>4</a:t>
            </a:r>
            <a:endParaRPr lang="en-US" altLang="zh-CN" sz="2000" dirty="0"/>
          </a:p>
          <a:p>
            <a:pPr>
              <a:spcBef>
                <a:spcPct val="0"/>
              </a:spcBef>
              <a:buFontTx/>
              <a:buNone/>
            </a:pPr>
            <a:r>
              <a:rPr lang="en-US" altLang="zh-CN" sz="2000" b="1" dirty="0"/>
              <a:t>(9)</a:t>
            </a:r>
            <a:r>
              <a:rPr lang="en-US" altLang="zh-CN" sz="2000" b="1" dirty="0">
                <a:cs typeface="Times New Roman" pitchFamily="18" charset="0"/>
              </a:rPr>
              <a:t>      </a:t>
            </a:r>
            <a:r>
              <a:rPr lang="en-US" altLang="zh-CN" sz="2000" b="1" dirty="0"/>
              <a:t>T</a:t>
            </a:r>
            <a:r>
              <a:rPr lang="en-US" altLang="zh-CN" sz="2000" b="1" baseline="-30000" dirty="0"/>
              <a:t>6</a:t>
            </a:r>
            <a:r>
              <a:rPr lang="en-US" altLang="zh-CN" sz="2000" b="1" dirty="0"/>
              <a:t>=R-r</a:t>
            </a:r>
            <a:endParaRPr lang="en-US" altLang="zh-CN" sz="2000" dirty="0"/>
          </a:p>
          <a:p>
            <a:pPr>
              <a:spcBef>
                <a:spcPct val="0"/>
              </a:spcBef>
              <a:buFontTx/>
              <a:buNone/>
            </a:pPr>
            <a:r>
              <a:rPr lang="en-US" altLang="zh-CN" sz="2000" b="1" dirty="0">
                <a:solidFill>
                  <a:srgbClr val="FF0000"/>
                </a:solidFill>
              </a:rPr>
              <a:t>(10)</a:t>
            </a:r>
            <a:r>
              <a:rPr lang="en-US" altLang="zh-CN" sz="2000" dirty="0">
                <a:solidFill>
                  <a:srgbClr val="FF0000"/>
                </a:solidFill>
              </a:rPr>
              <a:t>    </a:t>
            </a:r>
            <a:r>
              <a:rPr lang="en-US" altLang="zh-CN" sz="2000" b="1" dirty="0">
                <a:solidFill>
                  <a:srgbClr val="FF0000"/>
                </a:solidFill>
              </a:rPr>
              <a:t>B=T</a:t>
            </a:r>
            <a:r>
              <a:rPr lang="en-US" altLang="zh-CN" sz="2000" b="1" baseline="-30000" dirty="0">
                <a:solidFill>
                  <a:srgbClr val="FF0000"/>
                </a:solidFill>
              </a:rPr>
              <a:t>5</a:t>
            </a:r>
            <a:r>
              <a:rPr lang="en-US" altLang="zh-CN" sz="2000" b="1" dirty="0">
                <a:solidFill>
                  <a:srgbClr val="FF0000"/>
                </a:solidFill>
              </a:rPr>
              <a:t>*T</a:t>
            </a:r>
            <a:r>
              <a:rPr lang="en-US" altLang="zh-CN" sz="2000" b="1" baseline="-30000" dirty="0">
                <a:solidFill>
                  <a:srgbClr val="FF0000"/>
                </a:solidFill>
              </a:rPr>
              <a:t>6</a:t>
            </a:r>
            <a:r>
              <a:rPr lang="en-US" altLang="zh-CN" sz="2000" dirty="0"/>
              <a:t> </a:t>
            </a:r>
          </a:p>
        </p:txBody>
      </p:sp>
      <p:pic>
        <p:nvPicPr>
          <p:cNvPr id="4" name="Picture 3" descr="图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5376" y="120657"/>
            <a:ext cx="4555939" cy="2195513"/>
          </a:xfrm>
          <a:prstGeom prst="rect">
            <a:avLst/>
          </a:prstGeom>
          <a:noFill/>
          <a:ln w="28575">
            <a:solidFill>
              <a:srgbClr val="B3D7B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4184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34073" y="97225"/>
            <a:ext cx="3978974" cy="430887"/>
          </a:xfrm>
        </p:spPr>
        <p:txBody>
          <a:bodyPr wrap="none">
            <a:spAutoFit/>
          </a:bodyPr>
          <a:lstStyle/>
          <a:p>
            <a:pPr marL="342900" indent="-342900">
              <a:buFont typeface="Arial" panose="020B0604020202020204" pitchFamily="34" charset="0"/>
              <a:buChar char="•"/>
            </a:pPr>
            <a:r>
              <a:rPr lang="zh-CN" altLang="zh-CN" sz="2200" dirty="0">
                <a:solidFill>
                  <a:srgbClr val="FF0000"/>
                </a:solidFill>
                <a:latin typeface="+mn-lt"/>
                <a:ea typeface="+mn-ea"/>
                <a:cs typeface="+mn-cs"/>
              </a:rPr>
              <a:t>利用基本块的</a:t>
            </a:r>
            <a:r>
              <a:rPr lang="en-US" altLang="zh-CN" sz="2200" dirty="0">
                <a:solidFill>
                  <a:srgbClr val="FF0000"/>
                </a:solidFill>
                <a:latin typeface="+mn-lt"/>
                <a:ea typeface="+mn-ea"/>
                <a:cs typeface="+mn-cs"/>
              </a:rPr>
              <a:t>DAG</a:t>
            </a:r>
            <a:r>
              <a:rPr lang="zh-CN" altLang="zh-CN" sz="2200" dirty="0">
                <a:solidFill>
                  <a:srgbClr val="FF0000"/>
                </a:solidFill>
                <a:latin typeface="+mn-lt"/>
                <a:ea typeface="+mn-ea"/>
                <a:cs typeface="+mn-cs"/>
              </a:rPr>
              <a:t>进行优化</a:t>
            </a:r>
            <a:endParaRPr lang="zh-CN" altLang="en-US" sz="2200" dirty="0">
              <a:solidFill>
                <a:srgbClr val="FF0000"/>
              </a:solidFill>
              <a:latin typeface="+mn-lt"/>
              <a:ea typeface="+mn-ea"/>
              <a:cs typeface="+mn-cs"/>
            </a:endParaRPr>
          </a:p>
        </p:txBody>
      </p:sp>
      <p:sp>
        <p:nvSpPr>
          <p:cNvPr id="47107" name="Rectangle 3"/>
          <p:cNvSpPr>
            <a:spLocks noGrp="1" noChangeArrowheads="1"/>
          </p:cNvSpPr>
          <p:nvPr>
            <p:ph type="body" sz="half" idx="1"/>
          </p:nvPr>
        </p:nvSpPr>
        <p:spPr>
          <a:xfrm>
            <a:off x="151013" y="444846"/>
            <a:ext cx="4968552" cy="1584176"/>
          </a:xfrm>
        </p:spPr>
        <p:txBody>
          <a:bodyPr>
            <a:noAutofit/>
          </a:bodyPr>
          <a:lstStyle/>
          <a:p>
            <a:pPr eaLnBrk="1" hangingPunct="1">
              <a:spcBef>
                <a:spcPts val="0"/>
              </a:spcBef>
            </a:pPr>
            <a:r>
              <a:rPr lang="zh-CN" altLang="en-US" sz="2000" dirty="0"/>
              <a:t>根据</a:t>
            </a:r>
            <a:r>
              <a:rPr lang="en-US" altLang="zh-CN" sz="2000" dirty="0"/>
              <a:t>DAG</a:t>
            </a:r>
            <a:r>
              <a:rPr lang="zh-CN" altLang="en-US" sz="2000" dirty="0"/>
              <a:t>图，可以更进一步实现优化：</a:t>
            </a:r>
          </a:p>
          <a:p>
            <a:pPr lvl="1" eaLnBrk="1" hangingPunct="1">
              <a:spcBef>
                <a:spcPts val="0"/>
              </a:spcBef>
            </a:pPr>
            <a:r>
              <a:rPr lang="zh-CN" altLang="en-US" sz="2000" dirty="0"/>
              <a:t>合并已知量，如</a:t>
            </a:r>
            <a:r>
              <a:rPr lang="en-US" altLang="zh-CN" sz="2000" dirty="0"/>
              <a:t>T1</a:t>
            </a:r>
            <a:r>
              <a:rPr lang="zh-CN" altLang="en-US" sz="2000" dirty="0"/>
              <a:t>，</a:t>
            </a:r>
            <a:r>
              <a:rPr lang="en-US" altLang="zh-CN" sz="2000" dirty="0"/>
              <a:t>T3</a:t>
            </a:r>
          </a:p>
          <a:p>
            <a:pPr lvl="1">
              <a:spcBef>
                <a:spcPts val="0"/>
              </a:spcBef>
            </a:pPr>
            <a:r>
              <a:rPr lang="zh-CN" altLang="en-US" sz="2000" dirty="0"/>
              <a:t>删除多余的标记，如</a:t>
            </a:r>
            <a:r>
              <a:rPr lang="en-US" altLang="zh-CN" sz="2000" dirty="0"/>
              <a:t>T3</a:t>
            </a:r>
            <a:r>
              <a:rPr lang="zh-CN" altLang="en-US" sz="2000" dirty="0"/>
              <a:t>、</a:t>
            </a:r>
            <a:r>
              <a:rPr lang="en-US" altLang="zh-CN" sz="2000" dirty="0"/>
              <a:t>T5</a:t>
            </a:r>
          </a:p>
          <a:p>
            <a:pPr lvl="1" eaLnBrk="1" hangingPunct="1">
              <a:spcBef>
                <a:spcPts val="0"/>
              </a:spcBef>
            </a:pPr>
            <a:r>
              <a:rPr lang="zh-CN" altLang="en-US" sz="2000" dirty="0"/>
              <a:t>删除公共子表达式，如</a:t>
            </a:r>
            <a:r>
              <a:rPr lang="en-US" altLang="zh-CN" sz="2000" dirty="0"/>
              <a:t>T2</a:t>
            </a:r>
            <a:r>
              <a:rPr lang="zh-CN" altLang="en-US" sz="2000" dirty="0"/>
              <a:t>和</a:t>
            </a:r>
            <a:r>
              <a:rPr lang="en-US" altLang="zh-CN" sz="2000" dirty="0"/>
              <a:t>T4</a:t>
            </a:r>
          </a:p>
          <a:p>
            <a:pPr lvl="1">
              <a:spcBef>
                <a:spcPts val="0"/>
              </a:spcBef>
            </a:pPr>
            <a:r>
              <a:rPr lang="zh-CN" altLang="en-US" sz="2000" dirty="0"/>
              <a:t>删除无用赋值，如</a:t>
            </a:r>
            <a:r>
              <a:rPr lang="en-US" altLang="zh-CN" sz="2000" dirty="0"/>
              <a:t>B</a:t>
            </a:r>
            <a:r>
              <a:rPr lang="zh-CN" altLang="en-US" sz="2000" dirty="0"/>
              <a:t>的第一次赋值</a:t>
            </a:r>
          </a:p>
        </p:txBody>
      </p:sp>
      <p:pic>
        <p:nvPicPr>
          <p:cNvPr id="5" name="Picture 8" descr="图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6932" y="45919"/>
            <a:ext cx="3465270" cy="2448272"/>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pic>
      <p:sp>
        <p:nvSpPr>
          <p:cNvPr id="6" name="Rectangle 8"/>
          <p:cNvSpPr>
            <a:spLocks noChangeArrowheads="1"/>
          </p:cNvSpPr>
          <p:nvPr/>
        </p:nvSpPr>
        <p:spPr bwMode="auto">
          <a:xfrm>
            <a:off x="611560" y="1988563"/>
            <a:ext cx="2193711" cy="3170099"/>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marL="114300" indent="-23813" eaLnBrk="0" hangingPunct="0">
              <a:spcBef>
                <a:spcPct val="20000"/>
              </a:spcBef>
              <a:buChar char="•"/>
              <a:tabLst>
                <a:tab pos="342900" algn="l"/>
              </a:tabLst>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tabLst>
                <a:tab pos="342900" algn="l"/>
              </a:tabLst>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tabLst>
                <a:tab pos="342900" algn="l"/>
              </a:tabLst>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tabLst>
                <a:tab pos="342900" algn="l"/>
              </a:tabLst>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tabLst>
                <a:tab pos="342900" algn="l"/>
              </a:tabLst>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tabLst>
                <a:tab pos="342900" algn="l"/>
              </a:tabLst>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dirty="0"/>
              <a:t>(1)</a:t>
            </a:r>
            <a:r>
              <a:rPr lang="en-US" altLang="zh-CN" sz="2000" dirty="0">
                <a:cs typeface="Times New Roman" pitchFamily="18" charset="0"/>
              </a:rPr>
              <a:t>      </a:t>
            </a:r>
            <a:r>
              <a:rPr lang="en-US" altLang="zh-CN" sz="2000" dirty="0"/>
              <a:t>T</a:t>
            </a:r>
            <a:r>
              <a:rPr lang="en-US" altLang="zh-CN" sz="2000" baseline="-30000" dirty="0"/>
              <a:t>0</a:t>
            </a:r>
            <a:r>
              <a:rPr lang="en-US" altLang="zh-CN" sz="2000" dirty="0"/>
              <a:t>=3.14</a:t>
            </a:r>
          </a:p>
          <a:p>
            <a:pPr>
              <a:spcBef>
                <a:spcPct val="0"/>
              </a:spcBef>
              <a:buFontTx/>
              <a:buNone/>
            </a:pPr>
            <a:r>
              <a:rPr lang="en-US" altLang="zh-CN" sz="2000" dirty="0"/>
              <a:t>(2)</a:t>
            </a:r>
            <a:r>
              <a:rPr lang="en-US" altLang="zh-CN" sz="2000" dirty="0">
                <a:cs typeface="Times New Roman" pitchFamily="18" charset="0"/>
              </a:rPr>
              <a:t>      </a:t>
            </a:r>
            <a:r>
              <a:rPr lang="en-US" altLang="zh-CN" sz="2000" dirty="0"/>
              <a:t>T</a:t>
            </a:r>
            <a:r>
              <a:rPr lang="en-US" altLang="zh-CN" sz="2000" baseline="-30000" dirty="0"/>
              <a:t>1</a:t>
            </a:r>
            <a:r>
              <a:rPr lang="en-US" altLang="zh-CN" sz="2000" dirty="0"/>
              <a:t>=2*T</a:t>
            </a:r>
            <a:r>
              <a:rPr lang="en-US" altLang="zh-CN" sz="2000" baseline="-30000" dirty="0"/>
              <a:t>0</a:t>
            </a:r>
            <a:endParaRPr lang="en-US" altLang="zh-CN" sz="2000" dirty="0"/>
          </a:p>
          <a:p>
            <a:pPr>
              <a:spcBef>
                <a:spcPct val="0"/>
              </a:spcBef>
              <a:buFontTx/>
              <a:buNone/>
            </a:pPr>
            <a:r>
              <a:rPr lang="en-US" altLang="zh-CN" sz="2000" dirty="0"/>
              <a:t>(3)</a:t>
            </a:r>
            <a:r>
              <a:rPr lang="en-US" altLang="zh-CN" sz="2000" dirty="0">
                <a:cs typeface="Times New Roman" pitchFamily="18" charset="0"/>
              </a:rPr>
              <a:t>      </a:t>
            </a:r>
            <a:r>
              <a:rPr lang="en-US" altLang="zh-CN" sz="2000" dirty="0"/>
              <a:t>T</a:t>
            </a:r>
            <a:r>
              <a:rPr lang="en-US" altLang="zh-CN" sz="2000" baseline="-30000" dirty="0"/>
              <a:t>2</a:t>
            </a:r>
            <a:r>
              <a:rPr lang="en-US" altLang="zh-CN" sz="2000" dirty="0"/>
              <a:t>=</a:t>
            </a:r>
            <a:r>
              <a:rPr lang="en-US" altLang="zh-CN" sz="2000" dirty="0" err="1"/>
              <a:t>R+r</a:t>
            </a:r>
            <a:endParaRPr lang="en-US" altLang="zh-CN" sz="2000" dirty="0"/>
          </a:p>
          <a:p>
            <a:pPr>
              <a:spcBef>
                <a:spcPct val="0"/>
              </a:spcBef>
              <a:buFontTx/>
              <a:buNone/>
            </a:pPr>
            <a:r>
              <a:rPr lang="en-US" altLang="zh-CN" sz="2000" dirty="0"/>
              <a:t>(4)</a:t>
            </a:r>
            <a:r>
              <a:rPr lang="en-US" altLang="zh-CN" sz="2000" dirty="0">
                <a:cs typeface="Times New Roman" pitchFamily="18" charset="0"/>
              </a:rPr>
              <a:t>      </a:t>
            </a:r>
            <a:r>
              <a:rPr lang="en-US" altLang="zh-CN" sz="2000" dirty="0"/>
              <a:t>A=T</a:t>
            </a:r>
            <a:r>
              <a:rPr lang="en-US" altLang="zh-CN" sz="2000" baseline="-30000" dirty="0"/>
              <a:t>1</a:t>
            </a:r>
            <a:r>
              <a:rPr lang="en-US" altLang="zh-CN" sz="2000" dirty="0"/>
              <a:t>*T</a:t>
            </a:r>
            <a:r>
              <a:rPr lang="en-US" altLang="zh-CN" sz="2000" baseline="-30000" dirty="0"/>
              <a:t>2</a:t>
            </a:r>
            <a:endParaRPr lang="en-US" altLang="zh-CN" sz="2000" dirty="0"/>
          </a:p>
          <a:p>
            <a:pPr>
              <a:spcBef>
                <a:spcPct val="0"/>
              </a:spcBef>
              <a:buFontTx/>
              <a:buNone/>
            </a:pPr>
            <a:r>
              <a:rPr lang="en-US" altLang="zh-CN" sz="2000" dirty="0"/>
              <a:t>(5)</a:t>
            </a:r>
            <a:r>
              <a:rPr lang="en-US" altLang="zh-CN" sz="2000" dirty="0">
                <a:cs typeface="Times New Roman" pitchFamily="18" charset="0"/>
              </a:rPr>
              <a:t>      </a:t>
            </a:r>
            <a:r>
              <a:rPr lang="en-US" altLang="zh-CN" sz="2000" dirty="0"/>
              <a:t>B=A</a:t>
            </a:r>
          </a:p>
          <a:p>
            <a:pPr>
              <a:spcBef>
                <a:spcPct val="0"/>
              </a:spcBef>
              <a:buFontTx/>
              <a:buNone/>
            </a:pPr>
            <a:r>
              <a:rPr lang="en-US" altLang="zh-CN" sz="2000" dirty="0"/>
              <a:t>(6)</a:t>
            </a:r>
            <a:r>
              <a:rPr lang="en-US" altLang="zh-CN" sz="2000" dirty="0">
                <a:cs typeface="Times New Roman" pitchFamily="18" charset="0"/>
              </a:rPr>
              <a:t>      </a:t>
            </a:r>
            <a:r>
              <a:rPr lang="en-US" altLang="zh-CN" sz="2000" dirty="0"/>
              <a:t>T</a:t>
            </a:r>
            <a:r>
              <a:rPr lang="en-US" altLang="zh-CN" sz="2000" baseline="-30000" dirty="0"/>
              <a:t>3</a:t>
            </a:r>
            <a:r>
              <a:rPr lang="en-US" altLang="zh-CN" sz="2000" dirty="0"/>
              <a:t>=2*T</a:t>
            </a:r>
            <a:r>
              <a:rPr lang="en-US" altLang="zh-CN" sz="2000" baseline="-30000" dirty="0"/>
              <a:t>0</a:t>
            </a:r>
            <a:endParaRPr lang="en-US" altLang="zh-CN" sz="2000" dirty="0"/>
          </a:p>
          <a:p>
            <a:pPr>
              <a:spcBef>
                <a:spcPct val="0"/>
              </a:spcBef>
              <a:buFontTx/>
              <a:buNone/>
            </a:pPr>
            <a:r>
              <a:rPr lang="en-US" altLang="zh-CN" sz="2000" dirty="0"/>
              <a:t>(7)</a:t>
            </a:r>
            <a:r>
              <a:rPr lang="en-US" altLang="zh-CN" sz="2000" dirty="0">
                <a:cs typeface="Times New Roman" pitchFamily="18" charset="0"/>
              </a:rPr>
              <a:t>      </a:t>
            </a:r>
            <a:r>
              <a:rPr lang="en-US" altLang="zh-CN" sz="2000" dirty="0"/>
              <a:t>T</a:t>
            </a:r>
            <a:r>
              <a:rPr lang="en-US" altLang="zh-CN" sz="2000" baseline="-30000" dirty="0"/>
              <a:t>4</a:t>
            </a:r>
            <a:r>
              <a:rPr lang="en-US" altLang="zh-CN" sz="2000" dirty="0"/>
              <a:t>=</a:t>
            </a:r>
            <a:r>
              <a:rPr lang="en-US" altLang="zh-CN" sz="2000" dirty="0" err="1"/>
              <a:t>R+r</a:t>
            </a:r>
            <a:endParaRPr lang="en-US" altLang="zh-CN" sz="2000" dirty="0"/>
          </a:p>
          <a:p>
            <a:pPr>
              <a:spcBef>
                <a:spcPct val="0"/>
              </a:spcBef>
              <a:buFontTx/>
              <a:buNone/>
            </a:pPr>
            <a:r>
              <a:rPr lang="en-US" altLang="zh-CN" sz="2000" dirty="0"/>
              <a:t>(8)</a:t>
            </a:r>
            <a:r>
              <a:rPr lang="en-US" altLang="zh-CN" sz="2000" dirty="0">
                <a:cs typeface="Times New Roman" pitchFamily="18" charset="0"/>
              </a:rPr>
              <a:t>      </a:t>
            </a:r>
            <a:r>
              <a:rPr lang="en-US" altLang="zh-CN" sz="2000" dirty="0"/>
              <a:t>T</a:t>
            </a:r>
            <a:r>
              <a:rPr lang="en-US" altLang="zh-CN" sz="2000" baseline="-30000" dirty="0"/>
              <a:t>5</a:t>
            </a:r>
            <a:r>
              <a:rPr lang="en-US" altLang="zh-CN" sz="2000" dirty="0"/>
              <a:t>=T</a:t>
            </a:r>
            <a:r>
              <a:rPr lang="en-US" altLang="zh-CN" sz="2000" baseline="-30000" dirty="0"/>
              <a:t>3</a:t>
            </a:r>
            <a:r>
              <a:rPr lang="en-US" altLang="zh-CN" sz="2000" dirty="0"/>
              <a:t>*T</a:t>
            </a:r>
            <a:r>
              <a:rPr lang="en-US" altLang="zh-CN" sz="2000" baseline="-30000" dirty="0"/>
              <a:t>4</a:t>
            </a:r>
            <a:endParaRPr lang="en-US" altLang="zh-CN" sz="2000" dirty="0"/>
          </a:p>
          <a:p>
            <a:pPr>
              <a:spcBef>
                <a:spcPct val="0"/>
              </a:spcBef>
              <a:buFontTx/>
              <a:buNone/>
            </a:pPr>
            <a:r>
              <a:rPr lang="en-US" altLang="zh-CN" sz="2000" dirty="0"/>
              <a:t>(9)</a:t>
            </a:r>
            <a:r>
              <a:rPr lang="en-US" altLang="zh-CN" sz="2000" dirty="0">
                <a:cs typeface="Times New Roman" pitchFamily="18" charset="0"/>
              </a:rPr>
              <a:t>      </a:t>
            </a:r>
            <a:r>
              <a:rPr lang="en-US" altLang="zh-CN" sz="2000" dirty="0"/>
              <a:t>T</a:t>
            </a:r>
            <a:r>
              <a:rPr lang="en-US" altLang="zh-CN" sz="2000" baseline="-30000" dirty="0"/>
              <a:t>6</a:t>
            </a:r>
            <a:r>
              <a:rPr lang="en-US" altLang="zh-CN" sz="2000" dirty="0"/>
              <a:t>=R-r</a:t>
            </a:r>
          </a:p>
          <a:p>
            <a:pPr>
              <a:spcBef>
                <a:spcPct val="0"/>
              </a:spcBef>
              <a:buFontTx/>
              <a:buNone/>
            </a:pPr>
            <a:r>
              <a:rPr lang="en-US" altLang="zh-CN" sz="2000" dirty="0"/>
              <a:t>(10)    B=T</a:t>
            </a:r>
            <a:r>
              <a:rPr lang="en-US" altLang="zh-CN" sz="2000" baseline="-30000" dirty="0"/>
              <a:t>5</a:t>
            </a:r>
            <a:r>
              <a:rPr lang="en-US" altLang="zh-CN" sz="2000" dirty="0"/>
              <a:t>*T</a:t>
            </a:r>
            <a:r>
              <a:rPr lang="en-US" altLang="zh-CN" sz="2000" baseline="-30000" dirty="0"/>
              <a:t>6</a:t>
            </a:r>
            <a:r>
              <a:rPr lang="en-US" altLang="zh-CN" sz="2000" dirty="0"/>
              <a:t> </a:t>
            </a:r>
          </a:p>
        </p:txBody>
      </p:sp>
      <p:cxnSp>
        <p:nvCxnSpPr>
          <p:cNvPr id="4" name="直接连接符 3"/>
          <p:cNvCxnSpPr/>
          <p:nvPr/>
        </p:nvCxnSpPr>
        <p:spPr>
          <a:xfrm>
            <a:off x="683568" y="2139702"/>
            <a:ext cx="1944216" cy="7200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755576" y="2427734"/>
            <a:ext cx="1944216" cy="7200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736307" y="3651870"/>
            <a:ext cx="1944216" cy="7200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36307" y="4011910"/>
            <a:ext cx="1944216" cy="7200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388232" y="3107744"/>
            <a:ext cx="2335896" cy="400110"/>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r>
              <a:rPr lang="zh-CN" altLang="zh-CN" sz="2000" dirty="0"/>
              <a:t>（</a:t>
            </a:r>
            <a:r>
              <a:rPr lang="en-US" altLang="zh-CN" sz="2000" dirty="0"/>
              <a:t>4</a:t>
            </a:r>
            <a:r>
              <a:rPr lang="zh-CN" altLang="zh-CN" sz="2000" dirty="0"/>
              <a:t>）</a:t>
            </a:r>
            <a:r>
              <a:rPr lang="en-US" altLang="zh-CN" sz="2000" dirty="0"/>
              <a:t> A=6.28*T</a:t>
            </a:r>
            <a:r>
              <a:rPr lang="en-US" altLang="zh-CN" sz="2000" baseline="-25000" dirty="0"/>
              <a:t>2</a:t>
            </a:r>
            <a:endParaRPr lang="zh-CN" altLang="en-US" sz="2000" baseline="-25000" dirty="0"/>
          </a:p>
        </p:txBody>
      </p:sp>
      <p:cxnSp>
        <p:nvCxnSpPr>
          <p:cNvPr id="12" name="直接箭头连接符 11"/>
          <p:cNvCxnSpPr>
            <a:endCxn id="7" idx="1"/>
          </p:cNvCxnSpPr>
          <p:nvPr/>
        </p:nvCxnSpPr>
        <p:spPr>
          <a:xfrm>
            <a:off x="2555776" y="3147814"/>
            <a:ext cx="832456" cy="159985"/>
          </a:xfrm>
          <a:prstGeom prst="straightConnector1">
            <a:avLst/>
          </a:prstGeom>
          <a:ln w="5715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366324" y="2643758"/>
            <a:ext cx="2357803" cy="40011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zh-CN" sz="2000" dirty="0"/>
              <a:t>（</a:t>
            </a:r>
            <a:r>
              <a:rPr lang="en-US" altLang="zh-CN" sz="2000" dirty="0"/>
              <a:t>3</a:t>
            </a:r>
            <a:r>
              <a:rPr lang="zh-CN" altLang="zh-CN" sz="2000" dirty="0"/>
              <a:t>）</a:t>
            </a:r>
            <a:r>
              <a:rPr lang="en-US" altLang="zh-CN" sz="2000" dirty="0"/>
              <a:t>T</a:t>
            </a:r>
            <a:r>
              <a:rPr lang="en-US" altLang="zh-CN" sz="2000" baseline="-30000" dirty="0"/>
              <a:t>2</a:t>
            </a:r>
            <a:r>
              <a:rPr lang="en-US" altLang="zh-CN" sz="2000" dirty="0"/>
              <a:t>=</a:t>
            </a:r>
            <a:r>
              <a:rPr lang="en-US" altLang="zh-CN" sz="2000" dirty="0" err="1"/>
              <a:t>R+r</a:t>
            </a:r>
            <a:endParaRPr lang="en-US" altLang="zh-CN" sz="2000" dirty="0"/>
          </a:p>
        </p:txBody>
      </p:sp>
      <p:cxnSp>
        <p:nvCxnSpPr>
          <p:cNvPr id="16" name="直接箭头连接符 15"/>
          <p:cNvCxnSpPr/>
          <p:nvPr/>
        </p:nvCxnSpPr>
        <p:spPr>
          <a:xfrm>
            <a:off x="2533869" y="2799075"/>
            <a:ext cx="832456" cy="0"/>
          </a:xfrm>
          <a:prstGeom prst="straightConnector1">
            <a:avLst/>
          </a:prstGeom>
          <a:ln w="5715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05678" y="4299942"/>
            <a:ext cx="1944216" cy="7200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3388232" y="4083918"/>
            <a:ext cx="2335895" cy="40011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zh-CN" sz="2000" dirty="0"/>
              <a:t>（</a:t>
            </a:r>
            <a:r>
              <a:rPr lang="en-US" altLang="zh-CN" sz="2000" dirty="0"/>
              <a:t>9</a:t>
            </a:r>
            <a:r>
              <a:rPr lang="zh-CN" altLang="zh-CN" sz="2000" dirty="0"/>
              <a:t>）</a:t>
            </a:r>
            <a:r>
              <a:rPr lang="en-US" altLang="zh-CN" sz="2000" dirty="0"/>
              <a:t> T</a:t>
            </a:r>
            <a:r>
              <a:rPr lang="en-US" altLang="zh-CN" sz="2000" baseline="-30000" dirty="0"/>
              <a:t>6</a:t>
            </a:r>
            <a:r>
              <a:rPr lang="en-US" altLang="zh-CN" sz="2000" dirty="0"/>
              <a:t>=R-r</a:t>
            </a:r>
          </a:p>
        </p:txBody>
      </p:sp>
      <p:cxnSp>
        <p:nvCxnSpPr>
          <p:cNvPr id="20" name="直接箭头连接符 19"/>
          <p:cNvCxnSpPr>
            <a:endCxn id="19" idx="1"/>
          </p:cNvCxnSpPr>
          <p:nvPr/>
        </p:nvCxnSpPr>
        <p:spPr>
          <a:xfrm flipV="1">
            <a:off x="2339752" y="4283973"/>
            <a:ext cx="1048480" cy="376010"/>
          </a:xfrm>
          <a:prstGeom prst="straightConnector1">
            <a:avLst/>
          </a:prstGeom>
          <a:ln w="5715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3408517" y="4659981"/>
            <a:ext cx="2335895" cy="40011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spcBef>
                <a:spcPct val="0"/>
              </a:spcBef>
              <a:buFontTx/>
              <a:buNone/>
            </a:pPr>
            <a:r>
              <a:rPr lang="zh-CN" altLang="zh-CN" sz="2000" dirty="0"/>
              <a:t>（</a:t>
            </a:r>
            <a:r>
              <a:rPr lang="en-US" altLang="zh-CN" sz="2000" dirty="0"/>
              <a:t>10</a:t>
            </a:r>
            <a:r>
              <a:rPr lang="zh-CN" altLang="zh-CN" sz="2000" dirty="0"/>
              <a:t>）</a:t>
            </a:r>
            <a:r>
              <a:rPr lang="en-US" altLang="zh-CN" sz="2000" dirty="0"/>
              <a:t>B=A*T</a:t>
            </a:r>
            <a:r>
              <a:rPr lang="en-US" altLang="zh-CN" sz="2000" baseline="-30000" dirty="0"/>
              <a:t>6</a:t>
            </a:r>
            <a:r>
              <a:rPr lang="en-US" altLang="zh-CN" sz="2000" dirty="0"/>
              <a:t> </a:t>
            </a:r>
          </a:p>
        </p:txBody>
      </p:sp>
      <p:cxnSp>
        <p:nvCxnSpPr>
          <p:cNvPr id="26" name="直接箭头连接符 25"/>
          <p:cNvCxnSpPr>
            <a:endCxn id="25" idx="1"/>
          </p:cNvCxnSpPr>
          <p:nvPr/>
        </p:nvCxnSpPr>
        <p:spPr>
          <a:xfrm flipV="1">
            <a:off x="2533869" y="4860036"/>
            <a:ext cx="874648" cy="87978"/>
          </a:xfrm>
          <a:prstGeom prst="straightConnector1">
            <a:avLst/>
          </a:prstGeom>
          <a:ln w="5715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691073" y="3363838"/>
            <a:ext cx="1944216" cy="7200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5741167" y="2514257"/>
            <a:ext cx="3289697" cy="255454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164592" indent="-228600">
              <a:buClr>
                <a:srgbClr val="2DA2BF"/>
              </a:buClr>
              <a:buFont typeface="Verdana"/>
              <a:buChar char="◦"/>
            </a:pPr>
            <a:r>
              <a:rPr lang="zh-CN" altLang="en-US" sz="2000" dirty="0">
                <a:solidFill>
                  <a:prstClr val="black"/>
                </a:solidFill>
                <a:latin typeface="宋体" panose="02010600030101010101" pitchFamily="2" charset="-122"/>
                <a:ea typeface="宋体" panose="02010600030101010101" pitchFamily="2" charset="-122"/>
              </a:rPr>
              <a:t>在基本块外被定值并在基本块内被引用的所有标识符，就是作为叶结点上标记的那些标识符</a:t>
            </a:r>
          </a:p>
          <a:p>
            <a:pPr marL="164592" indent="-228600">
              <a:buClr>
                <a:srgbClr val="2DA2BF"/>
              </a:buClr>
              <a:buFont typeface="Verdana"/>
              <a:buChar char="◦"/>
            </a:pPr>
            <a:r>
              <a:rPr lang="zh-CN" altLang="en-US" sz="2000" dirty="0">
                <a:solidFill>
                  <a:prstClr val="black"/>
                </a:solidFill>
                <a:latin typeface="宋体" panose="02010600030101010101" pitchFamily="2" charset="-122"/>
                <a:ea typeface="宋体" panose="02010600030101010101" pitchFamily="2" charset="-122"/>
              </a:rPr>
              <a:t>在基本块内被定值且该值能在离开基本块后被引用的所有标识符，就是</a:t>
            </a:r>
            <a:r>
              <a:rPr lang="en-US" altLang="zh-CN" sz="2000" dirty="0">
                <a:solidFill>
                  <a:prstClr val="black"/>
                </a:solidFill>
                <a:latin typeface="宋体" panose="02010600030101010101" pitchFamily="2" charset="-122"/>
                <a:ea typeface="宋体" panose="02010600030101010101" pitchFamily="2" charset="-122"/>
              </a:rPr>
              <a:t>DAG</a:t>
            </a:r>
            <a:r>
              <a:rPr lang="zh-CN" altLang="en-US" sz="2000" dirty="0">
                <a:solidFill>
                  <a:prstClr val="black"/>
                </a:solidFill>
                <a:latin typeface="宋体" panose="02010600030101010101" pitchFamily="2" charset="-122"/>
                <a:ea typeface="宋体" panose="02010600030101010101" pitchFamily="2" charset="-122"/>
              </a:rPr>
              <a:t>各结点上的那些附加标识符</a:t>
            </a:r>
          </a:p>
        </p:txBody>
      </p:sp>
      <p:sp>
        <p:nvSpPr>
          <p:cNvPr id="2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710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7105" name="对象 47104"/>
          <p:cNvGraphicFramePr>
            <a:graphicFrameLocks noChangeAspect="1"/>
          </p:cNvGraphicFramePr>
          <p:nvPr>
            <p:extLst>
              <p:ext uri="{D42A27DB-BD31-4B8C-83A1-F6EECF244321}">
                <p14:modId xmlns:p14="http://schemas.microsoft.com/office/powerpoint/2010/main" val="3512486942"/>
              </p:ext>
            </p:extLst>
          </p:nvPr>
        </p:nvGraphicFramePr>
        <p:xfrm>
          <a:off x="5546932" y="33136"/>
          <a:ext cx="3465270" cy="2394598"/>
        </p:xfrm>
        <a:graphic>
          <a:graphicData uri="http://schemas.openxmlformats.org/presentationml/2006/ole">
            <mc:AlternateContent xmlns:mc="http://schemas.openxmlformats.org/markup-compatibility/2006">
              <mc:Choice xmlns:v="urn:schemas-microsoft-com:vml" Requires="v">
                <p:oleObj name="Visio" r:id="rId4" imgW="2194560" imgH="1513944" progId="Visio.Drawing.11">
                  <p:embed/>
                </p:oleObj>
              </mc:Choice>
              <mc:Fallback>
                <p:oleObj name="Visio" r:id="rId4" imgW="2194560" imgH="1513944"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46932" y="33136"/>
                        <a:ext cx="3465270" cy="2394598"/>
                      </a:xfrm>
                      <a:prstGeom prst="rect">
                        <a:avLst/>
                      </a:prstGeom>
                      <a:solidFill>
                        <a:schemeClr val="accent3">
                          <a:lumMod val="20000"/>
                          <a:lumOff val="80000"/>
                        </a:schemeClr>
                      </a:solidFill>
                      <a:ln>
                        <a:solidFill>
                          <a:srgbClr val="00B050"/>
                        </a:solidFill>
                      </a:ln>
                    </p:spPr>
                  </p:pic>
                </p:oleObj>
              </mc:Fallback>
            </mc:AlternateContent>
          </a:graphicData>
        </a:graphic>
      </p:graphicFrame>
    </p:spTree>
    <p:extLst>
      <p:ext uri="{BB962C8B-B14F-4D97-AF65-F5344CB8AC3E}">
        <p14:creationId xmlns:p14="http://schemas.microsoft.com/office/powerpoint/2010/main" val="175741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left)">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left)">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left)">
                                      <p:cBhvr>
                                        <p:cTn id="47" dur="500"/>
                                        <p:tgtEl>
                                          <p:spTgt spid="20"/>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wipe(left)">
                                      <p:cBhvr>
                                        <p:cTn id="50" dur="5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wipe(left)">
                                      <p:cBhvr>
                                        <p:cTn id="55" dur="500"/>
                                        <p:tgtEl>
                                          <p:spTgt spid="26"/>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wipe(left)">
                                      <p:cBhvr>
                                        <p:cTn id="58" dur="500"/>
                                        <p:tgtEl>
                                          <p:spTgt spid="25"/>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710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5" grpId="0" animBg="1"/>
      <p:bldP spid="19" grpId="0" animBg="1"/>
      <p:bldP spid="25" grpId="0" animBg="1"/>
      <p:bldP spid="30"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Rectangle 2"/>
          <p:cNvSpPr>
            <a:spLocks noChangeArrowheads="1"/>
          </p:cNvSpPr>
          <p:nvPr/>
        </p:nvSpPr>
        <p:spPr bwMode="auto">
          <a:xfrm>
            <a:off x="0" y="357188"/>
            <a:ext cx="8402216" cy="630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7200" indent="-457200" eaLnBrk="0" hangingPunct="0">
              <a:spcBef>
                <a:spcPct val="20000"/>
              </a:spcBef>
              <a:buChar char="•"/>
              <a:defRPr kumimoji="1" sz="3200">
                <a:solidFill>
                  <a:schemeClr val="tx1"/>
                </a:solidFill>
                <a:latin typeface="Times New Roman" pitchFamily="18" charset="0"/>
                <a:ea typeface="宋体" pitchFamily="2" charset="-122"/>
              </a:defRPr>
            </a:lvl1pPr>
            <a:lvl2pPr marL="914400" indent="-457200" eaLnBrk="0" hangingPunct="0">
              <a:spcBef>
                <a:spcPct val="20000"/>
              </a:spcBef>
              <a:buChar char="–"/>
              <a:defRPr kumimoji="1" sz="2800">
                <a:solidFill>
                  <a:schemeClr val="tx1"/>
                </a:solidFill>
                <a:latin typeface="Times New Roman" pitchFamily="18" charset="0"/>
                <a:ea typeface="宋体" pitchFamily="2" charset="-122"/>
              </a:defRPr>
            </a:lvl2pPr>
            <a:lvl3pPr marL="1371600" indent="-457200" eaLnBrk="0" hangingPunct="0">
              <a:spcBef>
                <a:spcPct val="20000"/>
              </a:spcBef>
              <a:buChar char="•"/>
              <a:defRPr kumimoji="1" sz="2400">
                <a:solidFill>
                  <a:schemeClr val="tx1"/>
                </a:solidFill>
                <a:latin typeface="Times New Roman" pitchFamily="18" charset="0"/>
                <a:ea typeface="宋体" pitchFamily="2" charset="-122"/>
              </a:defRPr>
            </a:lvl3pPr>
            <a:lvl4pPr marL="1828800" indent="-457200" eaLnBrk="0" hangingPunct="0">
              <a:spcBef>
                <a:spcPct val="20000"/>
              </a:spcBef>
              <a:buChar char="–"/>
              <a:defRPr kumimoji="1" sz="2000">
                <a:solidFill>
                  <a:schemeClr val="tx1"/>
                </a:solidFill>
                <a:latin typeface="Times New Roman" pitchFamily="18" charset="0"/>
                <a:ea typeface="宋体" pitchFamily="2" charset="-122"/>
              </a:defRPr>
            </a:lvl4pPr>
            <a:lvl5pPr marL="2286000" indent="-457200" eaLnBrk="0" hangingPunct="0">
              <a:spcBef>
                <a:spcPct val="20000"/>
              </a:spcBef>
              <a:buChar char="»"/>
              <a:defRPr kumimoji="1" sz="2000">
                <a:solidFill>
                  <a:schemeClr val="tx1"/>
                </a:solidFill>
                <a:latin typeface="Times New Roman" pitchFamily="18" charset="0"/>
                <a:ea typeface="宋体" pitchFamily="2" charset="-122"/>
              </a:defRPr>
            </a:lvl5pPr>
            <a:lvl6pPr marL="2743200" indent="-4572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3200400" indent="-4572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657600" indent="-4572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4114800" indent="-4572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
                <a:schemeClr val="accent2"/>
              </a:buClr>
              <a:buSzPct val="75000"/>
              <a:buFont typeface="Wingdings" pitchFamily="2" charset="2"/>
              <a:buChar char="q"/>
            </a:pPr>
            <a:r>
              <a:rPr lang="zh-CN" altLang="en-US" sz="2400" b="1" dirty="0"/>
              <a:t>优化后的四元式</a:t>
            </a:r>
            <a:r>
              <a:rPr lang="en-US" altLang="zh-CN" sz="2400" b="1" dirty="0"/>
              <a:t>——</a:t>
            </a:r>
            <a:r>
              <a:rPr lang="zh-CN" altLang="en-US" sz="2400" b="1" dirty="0"/>
              <a:t>若只有</a:t>
            </a:r>
            <a:r>
              <a:rPr lang="en-US" altLang="zh-CN" sz="2400" b="1" dirty="0"/>
              <a:t>A</a:t>
            </a:r>
            <a:r>
              <a:rPr lang="zh-CN" altLang="en-US" sz="2400" b="1" dirty="0"/>
              <a:t>和</a:t>
            </a:r>
            <a:r>
              <a:rPr lang="en-US" altLang="zh-CN" sz="2400" b="1" dirty="0"/>
              <a:t>B</a:t>
            </a:r>
            <a:r>
              <a:rPr lang="zh-CN" altLang="en-US" sz="2400" b="1" dirty="0"/>
              <a:t>是出基本块之后活跃的</a:t>
            </a:r>
            <a:endParaRPr lang="en-US" altLang="zh-CN" sz="2400" b="1" dirty="0"/>
          </a:p>
          <a:p>
            <a:pPr eaLnBrk="1" hangingPunct="1">
              <a:spcBef>
                <a:spcPct val="0"/>
              </a:spcBef>
              <a:buFontTx/>
              <a:buNone/>
            </a:pPr>
            <a:endParaRPr lang="zh-CN" altLang="zh-CN" sz="2400" b="1" dirty="0"/>
          </a:p>
          <a:p>
            <a:pPr lvl="1" eaLnBrk="1" hangingPunct="1">
              <a:spcBef>
                <a:spcPct val="0"/>
              </a:spcBef>
              <a:buFontTx/>
              <a:buNone/>
            </a:pPr>
            <a:r>
              <a:rPr lang="en-US" altLang="zh-CN" sz="2000" b="1" dirty="0"/>
              <a:t>(1) </a:t>
            </a:r>
            <a:r>
              <a:rPr lang="en-US" altLang="zh-CN" sz="2000" b="1" dirty="0">
                <a:solidFill>
                  <a:srgbClr val="0000FF"/>
                </a:solidFill>
              </a:rPr>
              <a:t>T</a:t>
            </a:r>
            <a:r>
              <a:rPr lang="en-US" altLang="zh-CN" sz="2000" b="1" baseline="-25000" dirty="0">
                <a:solidFill>
                  <a:srgbClr val="0000FF"/>
                </a:solidFill>
              </a:rPr>
              <a:t>2</a:t>
            </a:r>
            <a:r>
              <a:rPr lang="en-US" altLang="zh-CN" sz="2000" b="1" dirty="0"/>
              <a:t>:=</a:t>
            </a:r>
            <a:r>
              <a:rPr lang="en-US" altLang="zh-CN" sz="2000" b="1" dirty="0" err="1"/>
              <a:t>R+r</a:t>
            </a:r>
            <a:endParaRPr lang="en-US" altLang="zh-CN" sz="2000" b="1" dirty="0"/>
          </a:p>
          <a:p>
            <a:pPr lvl="1" eaLnBrk="1" hangingPunct="1">
              <a:spcBef>
                <a:spcPct val="0"/>
              </a:spcBef>
              <a:buFontTx/>
              <a:buNone/>
            </a:pPr>
            <a:r>
              <a:rPr lang="en-US" altLang="zh-CN" sz="2000" b="1" dirty="0"/>
              <a:t>(2) A:=6.28*</a:t>
            </a:r>
            <a:r>
              <a:rPr lang="en-US" altLang="zh-CN" sz="2000" b="1" dirty="0">
                <a:solidFill>
                  <a:srgbClr val="0000FF"/>
                </a:solidFill>
              </a:rPr>
              <a:t>T</a:t>
            </a:r>
            <a:r>
              <a:rPr lang="en-US" altLang="zh-CN" sz="2000" b="1" baseline="-25000" dirty="0">
                <a:solidFill>
                  <a:srgbClr val="0000FF"/>
                </a:solidFill>
              </a:rPr>
              <a:t>2</a:t>
            </a:r>
            <a:endParaRPr lang="en-US" altLang="zh-CN" sz="2000" b="1" dirty="0">
              <a:solidFill>
                <a:srgbClr val="0000FF"/>
              </a:solidFill>
            </a:endParaRPr>
          </a:p>
          <a:p>
            <a:pPr lvl="1" eaLnBrk="1" hangingPunct="1">
              <a:spcBef>
                <a:spcPct val="0"/>
              </a:spcBef>
              <a:buFontTx/>
              <a:buNone/>
            </a:pPr>
            <a:r>
              <a:rPr lang="en-US" altLang="zh-CN" sz="2000" b="1" dirty="0"/>
              <a:t>(3) </a:t>
            </a:r>
            <a:r>
              <a:rPr lang="en-US" altLang="zh-CN" sz="2000" b="1" dirty="0">
                <a:solidFill>
                  <a:srgbClr val="0000FF"/>
                </a:solidFill>
              </a:rPr>
              <a:t>T</a:t>
            </a:r>
            <a:r>
              <a:rPr lang="en-US" altLang="zh-CN" sz="2000" b="1" baseline="-25000" dirty="0">
                <a:solidFill>
                  <a:srgbClr val="0000FF"/>
                </a:solidFill>
              </a:rPr>
              <a:t>6</a:t>
            </a:r>
            <a:r>
              <a:rPr lang="en-US" altLang="zh-CN" sz="2000" b="1" dirty="0"/>
              <a:t>:=R-r</a:t>
            </a:r>
          </a:p>
          <a:p>
            <a:pPr lvl="1" eaLnBrk="1" hangingPunct="1">
              <a:spcBef>
                <a:spcPct val="0"/>
              </a:spcBef>
              <a:buFontTx/>
              <a:buNone/>
            </a:pPr>
            <a:r>
              <a:rPr lang="en-US" altLang="zh-CN" sz="2000" b="1" dirty="0"/>
              <a:t>(4) B:=A*</a:t>
            </a:r>
            <a:r>
              <a:rPr lang="en-US" altLang="zh-CN" sz="2000" b="1" dirty="0">
                <a:solidFill>
                  <a:srgbClr val="0000FF"/>
                </a:solidFill>
              </a:rPr>
              <a:t>T</a:t>
            </a:r>
            <a:r>
              <a:rPr lang="en-US" altLang="zh-CN" sz="2000" b="1" baseline="-25000" dirty="0">
                <a:solidFill>
                  <a:srgbClr val="0000FF"/>
                </a:solidFill>
              </a:rPr>
              <a:t>6</a:t>
            </a:r>
          </a:p>
          <a:p>
            <a:pPr lvl="1" eaLnBrk="1" hangingPunct="1">
              <a:spcBef>
                <a:spcPct val="0"/>
              </a:spcBef>
              <a:buFontTx/>
              <a:buChar char="•"/>
            </a:pPr>
            <a:endParaRPr lang="zh-CN" altLang="en-US" sz="2000" b="1" baseline="-25000" dirty="0"/>
          </a:p>
          <a:p>
            <a:pPr lvl="1" eaLnBrk="1" hangingPunct="1">
              <a:spcBef>
                <a:spcPct val="0"/>
              </a:spcBef>
              <a:buFontTx/>
              <a:buNone/>
            </a:pPr>
            <a:r>
              <a:rPr lang="en-US" altLang="zh-CN" sz="2000" b="1" dirty="0"/>
              <a:t>(1) </a:t>
            </a:r>
            <a:r>
              <a:rPr lang="en-US" altLang="zh-CN" sz="2000" b="1" dirty="0">
                <a:solidFill>
                  <a:srgbClr val="0000FF"/>
                </a:solidFill>
              </a:rPr>
              <a:t>S</a:t>
            </a:r>
            <a:r>
              <a:rPr lang="en-US" altLang="zh-CN" sz="2000" b="1" baseline="-25000" dirty="0">
                <a:solidFill>
                  <a:srgbClr val="0000FF"/>
                </a:solidFill>
              </a:rPr>
              <a:t>1</a:t>
            </a:r>
            <a:r>
              <a:rPr lang="en-US" altLang="zh-CN" sz="2000" b="1" dirty="0"/>
              <a:t>:=</a:t>
            </a:r>
            <a:r>
              <a:rPr lang="en-US" altLang="zh-CN" sz="2000" b="1" dirty="0" err="1"/>
              <a:t>R+r</a:t>
            </a:r>
            <a:endParaRPr lang="en-US" altLang="zh-CN" sz="2000" b="1" dirty="0"/>
          </a:p>
          <a:p>
            <a:pPr lvl="1" eaLnBrk="1" hangingPunct="1">
              <a:spcBef>
                <a:spcPct val="0"/>
              </a:spcBef>
              <a:buFontTx/>
              <a:buNone/>
            </a:pPr>
            <a:r>
              <a:rPr lang="en-US" altLang="zh-CN" sz="2000" b="1" dirty="0"/>
              <a:t>(2) A:=6.28*</a:t>
            </a:r>
            <a:r>
              <a:rPr lang="en-US" altLang="zh-CN" sz="2000" b="1" dirty="0">
                <a:solidFill>
                  <a:srgbClr val="0000FF"/>
                </a:solidFill>
              </a:rPr>
              <a:t>S</a:t>
            </a:r>
            <a:r>
              <a:rPr lang="en-US" altLang="zh-CN" sz="2000" b="1" baseline="-25000" dirty="0">
                <a:solidFill>
                  <a:srgbClr val="0000FF"/>
                </a:solidFill>
              </a:rPr>
              <a:t>1</a:t>
            </a:r>
            <a:endParaRPr lang="en-US" altLang="zh-CN" sz="2000" b="1" dirty="0">
              <a:solidFill>
                <a:srgbClr val="0000FF"/>
              </a:solidFill>
            </a:endParaRPr>
          </a:p>
          <a:p>
            <a:pPr lvl="1" eaLnBrk="1" hangingPunct="1">
              <a:spcBef>
                <a:spcPct val="0"/>
              </a:spcBef>
              <a:buFontTx/>
              <a:buNone/>
            </a:pPr>
            <a:r>
              <a:rPr lang="en-US" altLang="zh-CN" sz="2000" b="1" dirty="0"/>
              <a:t>(3) </a:t>
            </a:r>
            <a:r>
              <a:rPr lang="en-US" altLang="zh-CN" sz="2000" b="1" dirty="0">
                <a:solidFill>
                  <a:srgbClr val="0000FF"/>
                </a:solidFill>
              </a:rPr>
              <a:t>S</a:t>
            </a:r>
            <a:r>
              <a:rPr lang="en-US" altLang="zh-CN" sz="2000" b="1" baseline="-25000" dirty="0">
                <a:solidFill>
                  <a:srgbClr val="0000FF"/>
                </a:solidFill>
              </a:rPr>
              <a:t>2</a:t>
            </a:r>
            <a:r>
              <a:rPr lang="en-US" altLang="zh-CN" sz="2000" b="1" dirty="0"/>
              <a:t>:=R-r</a:t>
            </a:r>
          </a:p>
          <a:p>
            <a:pPr lvl="1" eaLnBrk="1" hangingPunct="1">
              <a:spcBef>
                <a:spcPct val="0"/>
              </a:spcBef>
              <a:buFontTx/>
              <a:buNone/>
            </a:pPr>
            <a:r>
              <a:rPr lang="en-US" altLang="zh-CN" sz="2000" b="1" dirty="0"/>
              <a:t>(4)	 B:=A*</a:t>
            </a:r>
            <a:r>
              <a:rPr lang="en-US" altLang="zh-CN" sz="2000" b="1" dirty="0">
                <a:solidFill>
                  <a:srgbClr val="0000FF"/>
                </a:solidFill>
              </a:rPr>
              <a:t>S</a:t>
            </a:r>
            <a:r>
              <a:rPr lang="en-US" altLang="zh-CN" sz="2000" b="1" baseline="-25000" dirty="0">
                <a:solidFill>
                  <a:srgbClr val="0000FF"/>
                </a:solidFill>
              </a:rPr>
              <a:t>2</a:t>
            </a:r>
            <a:endParaRPr lang="zh-CN" altLang="en-US" sz="2000" b="1" baseline="-25000" dirty="0">
              <a:solidFill>
                <a:srgbClr val="0000FF"/>
              </a:solidFill>
            </a:endParaRPr>
          </a:p>
          <a:p>
            <a:pPr eaLnBrk="1" hangingPunct="1">
              <a:spcBef>
                <a:spcPct val="0"/>
              </a:spcBef>
              <a:buFontTx/>
              <a:buNone/>
            </a:pPr>
            <a:endParaRPr lang="zh-CN" altLang="en-US" sz="2400" b="1" baseline="-25000" dirty="0"/>
          </a:p>
        </p:txBody>
      </p:sp>
      <p:grpSp>
        <p:nvGrpSpPr>
          <p:cNvPr id="48131" name="Group 3"/>
          <p:cNvGrpSpPr>
            <a:grpSpLocks/>
          </p:cNvGrpSpPr>
          <p:nvPr/>
        </p:nvGrpSpPr>
        <p:grpSpPr bwMode="auto">
          <a:xfrm>
            <a:off x="2915816" y="1123950"/>
            <a:ext cx="6019800" cy="3429000"/>
            <a:chOff x="1968" y="768"/>
            <a:chExt cx="3792" cy="2880"/>
          </a:xfrm>
        </p:grpSpPr>
        <p:sp>
          <p:nvSpPr>
            <p:cNvPr id="48132" name="Oval 4"/>
            <p:cNvSpPr>
              <a:spLocks noChangeArrowheads="1"/>
            </p:cNvSpPr>
            <p:nvPr/>
          </p:nvSpPr>
          <p:spPr bwMode="auto">
            <a:xfrm>
              <a:off x="2016" y="3024"/>
              <a:ext cx="336" cy="336"/>
            </a:xfrm>
            <a:prstGeom prst="ellipse">
              <a:avLst/>
            </a:prstGeom>
            <a:noFill/>
            <a:ln w="1905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dirty="0"/>
                <a:t>n</a:t>
              </a:r>
              <a:r>
                <a:rPr lang="en-US" altLang="zh-CN" sz="2000" b="1" baseline="-25000" dirty="0"/>
                <a:t>1</a:t>
              </a:r>
              <a:endParaRPr lang="en-US" altLang="zh-CN" sz="2000" b="1" dirty="0"/>
            </a:p>
          </p:txBody>
        </p:sp>
        <p:sp>
          <p:nvSpPr>
            <p:cNvPr id="48133" name="Rectangle 5"/>
            <p:cNvSpPr>
              <a:spLocks noChangeArrowheads="1"/>
            </p:cNvSpPr>
            <p:nvPr/>
          </p:nvSpPr>
          <p:spPr bwMode="auto">
            <a:xfrm>
              <a:off x="1968" y="3456"/>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b="1"/>
                <a:t>3.14</a:t>
              </a:r>
            </a:p>
          </p:txBody>
        </p:sp>
        <p:sp>
          <p:nvSpPr>
            <p:cNvPr id="48134" name="Rectangle 6"/>
            <p:cNvSpPr>
              <a:spLocks noChangeArrowheads="1"/>
            </p:cNvSpPr>
            <p:nvPr/>
          </p:nvSpPr>
          <p:spPr bwMode="auto">
            <a:xfrm>
              <a:off x="2352" y="3072"/>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a:t>T</a:t>
              </a:r>
              <a:r>
                <a:rPr lang="en-US" altLang="zh-CN" sz="2000" b="1" baseline="-25000"/>
                <a:t>0</a:t>
              </a:r>
              <a:endParaRPr lang="en-US" altLang="zh-CN" sz="2000" b="1"/>
            </a:p>
          </p:txBody>
        </p:sp>
        <p:sp>
          <p:nvSpPr>
            <p:cNvPr id="48135" name="Oval 7"/>
            <p:cNvSpPr>
              <a:spLocks noChangeArrowheads="1"/>
            </p:cNvSpPr>
            <p:nvPr/>
          </p:nvSpPr>
          <p:spPr bwMode="auto">
            <a:xfrm>
              <a:off x="2736" y="3024"/>
              <a:ext cx="336" cy="336"/>
            </a:xfrm>
            <a:prstGeom prst="ellipse">
              <a:avLst/>
            </a:prstGeom>
            <a:noFill/>
            <a:ln w="1905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dirty="0"/>
                <a:t>n</a:t>
              </a:r>
              <a:r>
                <a:rPr lang="en-US" altLang="zh-CN" sz="2000" b="1" baseline="-25000" dirty="0"/>
                <a:t>2</a:t>
              </a:r>
              <a:endParaRPr lang="en-US" altLang="zh-CN" sz="2000" b="1" dirty="0"/>
            </a:p>
          </p:txBody>
        </p:sp>
        <p:sp>
          <p:nvSpPr>
            <p:cNvPr id="48136" name="Rectangle 8"/>
            <p:cNvSpPr>
              <a:spLocks noChangeArrowheads="1"/>
            </p:cNvSpPr>
            <p:nvPr/>
          </p:nvSpPr>
          <p:spPr bwMode="auto">
            <a:xfrm>
              <a:off x="2688" y="3456"/>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b="1"/>
                <a:t>6.28</a:t>
              </a:r>
            </a:p>
          </p:txBody>
        </p:sp>
        <p:sp>
          <p:nvSpPr>
            <p:cNvPr id="48137" name="Rectangle 9"/>
            <p:cNvSpPr>
              <a:spLocks noChangeArrowheads="1"/>
            </p:cNvSpPr>
            <p:nvPr/>
          </p:nvSpPr>
          <p:spPr bwMode="auto">
            <a:xfrm>
              <a:off x="3024" y="3072"/>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a:t>T</a:t>
              </a:r>
              <a:r>
                <a:rPr lang="en-US" altLang="zh-CN" sz="2000" b="1" baseline="-25000"/>
                <a:t>1</a:t>
              </a:r>
              <a:endParaRPr lang="en-US" altLang="zh-CN" sz="2000" b="1"/>
            </a:p>
          </p:txBody>
        </p:sp>
        <p:sp>
          <p:nvSpPr>
            <p:cNvPr id="48138" name="Oval 10"/>
            <p:cNvSpPr>
              <a:spLocks noChangeArrowheads="1"/>
            </p:cNvSpPr>
            <p:nvPr/>
          </p:nvSpPr>
          <p:spPr bwMode="auto">
            <a:xfrm>
              <a:off x="3696" y="3072"/>
              <a:ext cx="336" cy="336"/>
            </a:xfrm>
            <a:prstGeom prst="ellipse">
              <a:avLst/>
            </a:prstGeom>
            <a:noFill/>
            <a:ln w="1905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a:t>n</a:t>
              </a:r>
              <a:r>
                <a:rPr lang="en-US" altLang="zh-CN" sz="2000" b="1" baseline="-25000"/>
                <a:t>3</a:t>
              </a:r>
              <a:endParaRPr lang="en-US" altLang="zh-CN" sz="2000" b="1"/>
            </a:p>
          </p:txBody>
        </p:sp>
        <p:sp>
          <p:nvSpPr>
            <p:cNvPr id="48139" name="Oval 11"/>
            <p:cNvSpPr>
              <a:spLocks noChangeArrowheads="1"/>
            </p:cNvSpPr>
            <p:nvPr/>
          </p:nvSpPr>
          <p:spPr bwMode="auto">
            <a:xfrm>
              <a:off x="4704" y="3120"/>
              <a:ext cx="336" cy="336"/>
            </a:xfrm>
            <a:prstGeom prst="ellipse">
              <a:avLst/>
            </a:prstGeom>
            <a:noFill/>
            <a:ln w="1905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a:t>n</a:t>
              </a:r>
              <a:r>
                <a:rPr lang="en-US" altLang="zh-CN" sz="2000" b="1" baseline="-25000"/>
                <a:t>4</a:t>
              </a:r>
              <a:endParaRPr lang="en-US" altLang="zh-CN" sz="2000" b="1"/>
            </a:p>
          </p:txBody>
        </p:sp>
        <p:sp>
          <p:nvSpPr>
            <p:cNvPr id="48140" name="Rectangle 12"/>
            <p:cNvSpPr>
              <a:spLocks noChangeArrowheads="1"/>
            </p:cNvSpPr>
            <p:nvPr/>
          </p:nvSpPr>
          <p:spPr bwMode="auto">
            <a:xfrm>
              <a:off x="3600" y="3456"/>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a:t>R</a:t>
              </a:r>
            </a:p>
          </p:txBody>
        </p:sp>
        <p:sp>
          <p:nvSpPr>
            <p:cNvPr id="48141" name="Rectangle 13"/>
            <p:cNvSpPr>
              <a:spLocks noChangeArrowheads="1"/>
            </p:cNvSpPr>
            <p:nvPr/>
          </p:nvSpPr>
          <p:spPr bwMode="auto">
            <a:xfrm>
              <a:off x="4656" y="3456"/>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a:t>r</a:t>
              </a:r>
            </a:p>
          </p:txBody>
        </p:sp>
        <p:sp>
          <p:nvSpPr>
            <p:cNvPr id="48142" name="Oval 14"/>
            <p:cNvSpPr>
              <a:spLocks noChangeArrowheads="1"/>
            </p:cNvSpPr>
            <p:nvPr/>
          </p:nvSpPr>
          <p:spPr bwMode="auto">
            <a:xfrm>
              <a:off x="4032" y="2208"/>
              <a:ext cx="336" cy="336"/>
            </a:xfrm>
            <a:prstGeom prst="ellipse">
              <a:avLst/>
            </a:prstGeom>
            <a:noFill/>
            <a:ln w="1905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a:t>n</a:t>
              </a:r>
              <a:r>
                <a:rPr lang="en-US" altLang="zh-CN" sz="2000" b="1" baseline="-25000"/>
                <a:t>5</a:t>
              </a:r>
              <a:endParaRPr lang="en-US" altLang="zh-CN" sz="2000" b="1"/>
            </a:p>
          </p:txBody>
        </p:sp>
        <p:grpSp>
          <p:nvGrpSpPr>
            <p:cNvPr id="48143" name="Group 15"/>
            <p:cNvGrpSpPr>
              <a:grpSpLocks/>
            </p:cNvGrpSpPr>
            <p:nvPr/>
          </p:nvGrpSpPr>
          <p:grpSpPr bwMode="auto">
            <a:xfrm>
              <a:off x="3936" y="2544"/>
              <a:ext cx="960" cy="576"/>
              <a:chOff x="3936" y="2544"/>
              <a:chExt cx="960" cy="576"/>
            </a:xfrm>
          </p:grpSpPr>
          <p:sp>
            <p:nvSpPr>
              <p:cNvPr id="48170" name="Line 16"/>
              <p:cNvSpPr>
                <a:spLocks noChangeShapeType="1"/>
              </p:cNvSpPr>
              <p:nvPr/>
            </p:nvSpPr>
            <p:spPr bwMode="auto">
              <a:xfrm flipH="1">
                <a:off x="3936" y="2544"/>
                <a:ext cx="192" cy="52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48171" name="Line 17"/>
              <p:cNvSpPr>
                <a:spLocks noChangeShapeType="1"/>
              </p:cNvSpPr>
              <p:nvPr/>
            </p:nvSpPr>
            <p:spPr bwMode="auto">
              <a:xfrm>
                <a:off x="4272" y="2544"/>
                <a:ext cx="624" cy="57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grpSp>
        <p:sp>
          <p:nvSpPr>
            <p:cNvPr id="48144" name="Rectangle 18"/>
            <p:cNvSpPr>
              <a:spLocks noChangeArrowheads="1"/>
            </p:cNvSpPr>
            <p:nvPr/>
          </p:nvSpPr>
          <p:spPr bwMode="auto">
            <a:xfrm>
              <a:off x="4080" y="2544"/>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zh-CN" sz="2000" b="1"/>
                <a:t>+</a:t>
              </a:r>
            </a:p>
          </p:txBody>
        </p:sp>
        <p:sp>
          <p:nvSpPr>
            <p:cNvPr id="48145" name="Rectangle 19"/>
            <p:cNvSpPr>
              <a:spLocks noChangeArrowheads="1"/>
            </p:cNvSpPr>
            <p:nvPr/>
          </p:nvSpPr>
          <p:spPr bwMode="auto">
            <a:xfrm>
              <a:off x="4320" y="2256"/>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a:t>T</a:t>
              </a:r>
              <a:r>
                <a:rPr lang="en-US" altLang="zh-CN" sz="2000" b="1" baseline="-25000"/>
                <a:t>2</a:t>
              </a:r>
              <a:endParaRPr lang="en-US" altLang="zh-CN" sz="2000" b="1"/>
            </a:p>
          </p:txBody>
        </p:sp>
        <p:sp>
          <p:nvSpPr>
            <p:cNvPr id="48146" name="Oval 20"/>
            <p:cNvSpPr>
              <a:spLocks noChangeArrowheads="1"/>
            </p:cNvSpPr>
            <p:nvPr/>
          </p:nvSpPr>
          <p:spPr bwMode="auto">
            <a:xfrm>
              <a:off x="3600" y="1632"/>
              <a:ext cx="336" cy="336"/>
            </a:xfrm>
            <a:prstGeom prst="ellipse">
              <a:avLst/>
            </a:prstGeom>
            <a:noFill/>
            <a:ln w="1905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a:t>n</a:t>
              </a:r>
              <a:r>
                <a:rPr lang="en-US" altLang="zh-CN" sz="2000" b="1" baseline="-25000"/>
                <a:t>6</a:t>
              </a:r>
              <a:endParaRPr lang="en-US" altLang="zh-CN" sz="2000" b="1"/>
            </a:p>
          </p:txBody>
        </p:sp>
        <p:grpSp>
          <p:nvGrpSpPr>
            <p:cNvPr id="48147" name="Group 21"/>
            <p:cNvGrpSpPr>
              <a:grpSpLocks/>
            </p:cNvGrpSpPr>
            <p:nvPr/>
          </p:nvGrpSpPr>
          <p:grpSpPr bwMode="auto">
            <a:xfrm>
              <a:off x="2976" y="1920"/>
              <a:ext cx="1200" cy="1104"/>
              <a:chOff x="2976" y="1920"/>
              <a:chExt cx="1200" cy="1104"/>
            </a:xfrm>
          </p:grpSpPr>
          <p:sp>
            <p:nvSpPr>
              <p:cNvPr id="48168" name="Line 22"/>
              <p:cNvSpPr>
                <a:spLocks noChangeShapeType="1"/>
              </p:cNvSpPr>
              <p:nvPr/>
            </p:nvSpPr>
            <p:spPr bwMode="auto">
              <a:xfrm flipH="1">
                <a:off x="2976" y="1968"/>
                <a:ext cx="720" cy="105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48169" name="Line 23"/>
              <p:cNvSpPr>
                <a:spLocks noChangeShapeType="1"/>
              </p:cNvSpPr>
              <p:nvPr/>
            </p:nvSpPr>
            <p:spPr bwMode="auto">
              <a:xfrm>
                <a:off x="3888" y="1920"/>
                <a:ext cx="288"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grpSp>
        <p:sp>
          <p:nvSpPr>
            <p:cNvPr id="48148" name="Rectangle 24"/>
            <p:cNvSpPr>
              <a:spLocks noChangeArrowheads="1"/>
            </p:cNvSpPr>
            <p:nvPr/>
          </p:nvSpPr>
          <p:spPr bwMode="auto">
            <a:xfrm>
              <a:off x="3696" y="2016"/>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zh-CN" sz="2000" b="1"/>
                <a:t>*</a:t>
              </a:r>
            </a:p>
          </p:txBody>
        </p:sp>
        <p:sp>
          <p:nvSpPr>
            <p:cNvPr id="48149" name="Rectangle 25"/>
            <p:cNvSpPr>
              <a:spLocks noChangeArrowheads="1"/>
            </p:cNvSpPr>
            <p:nvPr/>
          </p:nvSpPr>
          <p:spPr bwMode="auto">
            <a:xfrm>
              <a:off x="3888" y="1680"/>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a:t>A</a:t>
              </a:r>
            </a:p>
          </p:txBody>
        </p:sp>
        <p:sp>
          <p:nvSpPr>
            <p:cNvPr id="48150" name="Rectangle 26"/>
            <p:cNvSpPr>
              <a:spLocks noChangeArrowheads="1"/>
            </p:cNvSpPr>
            <p:nvPr/>
          </p:nvSpPr>
          <p:spPr bwMode="auto">
            <a:xfrm>
              <a:off x="4128" y="1680"/>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zh-CN" sz="2000" b="1"/>
                <a:t>, </a:t>
              </a:r>
              <a:r>
                <a:rPr lang="en-US" altLang="zh-CN" sz="2000" b="1"/>
                <a:t>B</a:t>
              </a:r>
            </a:p>
          </p:txBody>
        </p:sp>
        <p:sp>
          <p:nvSpPr>
            <p:cNvPr id="48151" name="Rectangle 27"/>
            <p:cNvSpPr>
              <a:spLocks noChangeArrowheads="1"/>
            </p:cNvSpPr>
            <p:nvPr/>
          </p:nvSpPr>
          <p:spPr bwMode="auto">
            <a:xfrm>
              <a:off x="3312" y="3072"/>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zh-CN" sz="2000" b="1"/>
                <a:t>, </a:t>
              </a:r>
              <a:r>
                <a:rPr lang="en-US" altLang="zh-CN" sz="2000" b="1"/>
                <a:t>T</a:t>
              </a:r>
              <a:r>
                <a:rPr lang="en-US" altLang="zh-CN" sz="2000" b="1" baseline="-25000"/>
                <a:t>3</a:t>
              </a:r>
              <a:endParaRPr lang="en-US" altLang="zh-CN" sz="2000" b="1"/>
            </a:p>
          </p:txBody>
        </p:sp>
        <p:sp>
          <p:nvSpPr>
            <p:cNvPr id="48152" name="Rectangle 28"/>
            <p:cNvSpPr>
              <a:spLocks noChangeArrowheads="1"/>
            </p:cNvSpPr>
            <p:nvPr/>
          </p:nvSpPr>
          <p:spPr bwMode="auto">
            <a:xfrm>
              <a:off x="4608" y="2256"/>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zh-CN" sz="2000" b="1"/>
                <a:t>, </a:t>
              </a:r>
              <a:r>
                <a:rPr lang="en-US" altLang="zh-CN" sz="2000" b="1"/>
                <a:t>T</a:t>
              </a:r>
              <a:r>
                <a:rPr lang="en-US" altLang="zh-CN" sz="2000" b="1" baseline="-25000"/>
                <a:t>4</a:t>
              </a:r>
              <a:endParaRPr lang="en-US" altLang="zh-CN" sz="2000" b="1"/>
            </a:p>
          </p:txBody>
        </p:sp>
        <p:sp>
          <p:nvSpPr>
            <p:cNvPr id="48153" name="Rectangle 29"/>
            <p:cNvSpPr>
              <a:spLocks noChangeArrowheads="1"/>
            </p:cNvSpPr>
            <p:nvPr/>
          </p:nvSpPr>
          <p:spPr bwMode="auto">
            <a:xfrm>
              <a:off x="4416" y="1680"/>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zh-CN" sz="2000" b="1"/>
                <a:t>, </a:t>
              </a:r>
              <a:r>
                <a:rPr lang="en-US" altLang="zh-CN" sz="2000" b="1"/>
                <a:t>T</a:t>
              </a:r>
              <a:r>
                <a:rPr lang="en-US" altLang="zh-CN" sz="2000" b="1" baseline="-25000"/>
                <a:t>5</a:t>
              </a:r>
              <a:endParaRPr lang="en-US" altLang="zh-CN" sz="2000" b="1"/>
            </a:p>
          </p:txBody>
        </p:sp>
        <p:sp>
          <p:nvSpPr>
            <p:cNvPr id="48154" name="Oval 30"/>
            <p:cNvSpPr>
              <a:spLocks noChangeArrowheads="1"/>
            </p:cNvSpPr>
            <p:nvPr/>
          </p:nvSpPr>
          <p:spPr bwMode="auto">
            <a:xfrm>
              <a:off x="5088" y="2256"/>
              <a:ext cx="336" cy="336"/>
            </a:xfrm>
            <a:prstGeom prst="ellipse">
              <a:avLst/>
            </a:prstGeom>
            <a:noFill/>
            <a:ln w="1905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a:t>n</a:t>
              </a:r>
              <a:r>
                <a:rPr lang="en-US" altLang="zh-CN" sz="2000" b="1" baseline="-25000"/>
                <a:t>7</a:t>
              </a:r>
              <a:endParaRPr lang="en-US" altLang="zh-CN" sz="2000" b="1"/>
            </a:p>
          </p:txBody>
        </p:sp>
        <p:grpSp>
          <p:nvGrpSpPr>
            <p:cNvPr id="48155" name="Group 31"/>
            <p:cNvGrpSpPr>
              <a:grpSpLocks/>
            </p:cNvGrpSpPr>
            <p:nvPr/>
          </p:nvGrpSpPr>
          <p:grpSpPr bwMode="auto">
            <a:xfrm>
              <a:off x="3936" y="2544"/>
              <a:ext cx="1344" cy="576"/>
              <a:chOff x="3936" y="2544"/>
              <a:chExt cx="1344" cy="576"/>
            </a:xfrm>
          </p:grpSpPr>
          <p:sp>
            <p:nvSpPr>
              <p:cNvPr id="48166" name="Line 32"/>
              <p:cNvSpPr>
                <a:spLocks noChangeShapeType="1"/>
              </p:cNvSpPr>
              <p:nvPr/>
            </p:nvSpPr>
            <p:spPr bwMode="auto">
              <a:xfrm flipV="1">
                <a:off x="3936" y="2544"/>
                <a:ext cx="1200" cy="52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48167" name="Line 33"/>
              <p:cNvSpPr>
                <a:spLocks noChangeShapeType="1"/>
              </p:cNvSpPr>
              <p:nvPr/>
            </p:nvSpPr>
            <p:spPr bwMode="auto">
              <a:xfrm flipV="1">
                <a:off x="4944" y="2592"/>
                <a:ext cx="336" cy="52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grpSp>
        <p:sp>
          <p:nvSpPr>
            <p:cNvPr id="48156" name="Rectangle 34"/>
            <p:cNvSpPr>
              <a:spLocks noChangeArrowheads="1"/>
            </p:cNvSpPr>
            <p:nvPr/>
          </p:nvSpPr>
          <p:spPr bwMode="auto">
            <a:xfrm>
              <a:off x="5424" y="2352"/>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a:t>T</a:t>
              </a:r>
              <a:r>
                <a:rPr lang="en-US" altLang="zh-CN" sz="2000" b="1" baseline="-25000"/>
                <a:t>6</a:t>
              </a:r>
              <a:endParaRPr lang="en-US" altLang="zh-CN" sz="2000" b="1"/>
            </a:p>
          </p:txBody>
        </p:sp>
        <p:sp>
          <p:nvSpPr>
            <p:cNvPr id="48157" name="Rectangle 35"/>
            <p:cNvSpPr>
              <a:spLocks noChangeArrowheads="1"/>
            </p:cNvSpPr>
            <p:nvPr/>
          </p:nvSpPr>
          <p:spPr bwMode="auto">
            <a:xfrm>
              <a:off x="4992" y="2544"/>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zh-CN" sz="2000" b="1"/>
                <a:t>-</a:t>
              </a:r>
            </a:p>
          </p:txBody>
        </p:sp>
        <p:sp>
          <p:nvSpPr>
            <p:cNvPr id="48158" name="Oval 36"/>
            <p:cNvSpPr>
              <a:spLocks noChangeArrowheads="1"/>
            </p:cNvSpPr>
            <p:nvPr/>
          </p:nvSpPr>
          <p:spPr bwMode="auto">
            <a:xfrm>
              <a:off x="4464" y="768"/>
              <a:ext cx="336" cy="336"/>
            </a:xfrm>
            <a:prstGeom prst="ellipse">
              <a:avLst/>
            </a:prstGeom>
            <a:noFill/>
            <a:ln w="1905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a:t>n</a:t>
              </a:r>
              <a:r>
                <a:rPr lang="en-US" altLang="zh-CN" sz="2000" b="1" baseline="-25000"/>
                <a:t>8</a:t>
              </a:r>
              <a:endParaRPr lang="en-US" altLang="zh-CN" sz="2000" b="1"/>
            </a:p>
          </p:txBody>
        </p:sp>
        <p:grpSp>
          <p:nvGrpSpPr>
            <p:cNvPr id="48159" name="Group 37"/>
            <p:cNvGrpSpPr>
              <a:grpSpLocks/>
            </p:cNvGrpSpPr>
            <p:nvPr/>
          </p:nvGrpSpPr>
          <p:grpSpPr bwMode="auto">
            <a:xfrm>
              <a:off x="3888" y="1104"/>
              <a:ext cx="1344" cy="1152"/>
              <a:chOff x="3888" y="1104"/>
              <a:chExt cx="1344" cy="1152"/>
            </a:xfrm>
          </p:grpSpPr>
          <p:sp>
            <p:nvSpPr>
              <p:cNvPr id="48164" name="Line 38"/>
              <p:cNvSpPr>
                <a:spLocks noChangeShapeType="1"/>
              </p:cNvSpPr>
              <p:nvPr/>
            </p:nvSpPr>
            <p:spPr bwMode="auto">
              <a:xfrm flipH="1">
                <a:off x="3888" y="1104"/>
                <a:ext cx="672" cy="57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48165" name="Line 39"/>
              <p:cNvSpPr>
                <a:spLocks noChangeShapeType="1"/>
              </p:cNvSpPr>
              <p:nvPr/>
            </p:nvSpPr>
            <p:spPr bwMode="auto">
              <a:xfrm>
                <a:off x="4752" y="1104"/>
                <a:ext cx="480" cy="1152"/>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grpSp>
        <p:sp>
          <p:nvSpPr>
            <p:cNvPr id="48160" name="Rectangle 40"/>
            <p:cNvSpPr>
              <a:spLocks noChangeArrowheads="1"/>
            </p:cNvSpPr>
            <p:nvPr/>
          </p:nvSpPr>
          <p:spPr bwMode="auto">
            <a:xfrm>
              <a:off x="4512" y="1152"/>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zh-CN" sz="2000" b="1"/>
                <a:t>*</a:t>
              </a:r>
            </a:p>
          </p:txBody>
        </p:sp>
        <p:sp>
          <p:nvSpPr>
            <p:cNvPr id="48161" name="Rectangle 41"/>
            <p:cNvSpPr>
              <a:spLocks noChangeArrowheads="1"/>
            </p:cNvSpPr>
            <p:nvPr/>
          </p:nvSpPr>
          <p:spPr bwMode="auto">
            <a:xfrm>
              <a:off x="4800" y="816"/>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a:t>B</a:t>
              </a:r>
            </a:p>
          </p:txBody>
        </p:sp>
        <p:sp>
          <p:nvSpPr>
            <p:cNvPr id="48162" name="Line 42"/>
            <p:cNvSpPr>
              <a:spLocks noChangeShapeType="1"/>
            </p:cNvSpPr>
            <p:nvPr/>
          </p:nvSpPr>
          <p:spPr bwMode="auto">
            <a:xfrm flipH="1">
              <a:off x="4191" y="1632"/>
              <a:ext cx="240" cy="336"/>
            </a:xfrm>
            <a:prstGeom prst="line">
              <a:avLst/>
            </a:prstGeom>
            <a:noFill/>
            <a:ln w="254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48163" name="Rectangle 43"/>
            <p:cNvSpPr>
              <a:spLocks noChangeArrowheads="1"/>
            </p:cNvSpPr>
            <p:nvPr/>
          </p:nvSpPr>
          <p:spPr bwMode="auto">
            <a:xfrm>
              <a:off x="5424" y="2352"/>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b="1"/>
                <a:t>T</a:t>
              </a:r>
              <a:r>
                <a:rPr lang="en-US" altLang="zh-CN" sz="2000" b="1" baseline="-25000"/>
                <a:t>6</a:t>
              </a:r>
              <a:endParaRPr lang="en-US" altLang="zh-CN" sz="2000" b="1"/>
            </a:p>
          </p:txBody>
        </p:sp>
      </p:grpSp>
    </p:spTree>
    <p:extLst>
      <p:ext uri="{BB962C8B-B14F-4D97-AF65-F5344CB8AC3E}">
        <p14:creationId xmlns:p14="http://schemas.microsoft.com/office/powerpoint/2010/main" val="4375891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88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88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288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88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2882">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2882">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2882">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2882">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288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noChangeArrowheads="1"/>
          </p:cNvSpPr>
          <p:nvPr>
            <p:ph type="title"/>
          </p:nvPr>
        </p:nvSpPr>
        <p:spPr/>
        <p:txBody>
          <a:bodyPr>
            <a:normAutofit fontScale="90000"/>
          </a:bodyPr>
          <a:lstStyle/>
          <a:p>
            <a:r>
              <a:rPr lang="zh-CN" altLang="en-US"/>
              <a:t>练习</a:t>
            </a:r>
          </a:p>
        </p:txBody>
      </p:sp>
      <p:sp>
        <p:nvSpPr>
          <p:cNvPr id="50179" name="内容占位符 4"/>
          <p:cNvSpPr>
            <a:spLocks noGrp="1" noChangeArrowheads="1"/>
          </p:cNvSpPr>
          <p:nvPr>
            <p:ph idx="1"/>
          </p:nvPr>
        </p:nvSpPr>
        <p:spPr>
          <a:xfrm>
            <a:off x="395536" y="1228725"/>
            <a:ext cx="4246563" cy="3086100"/>
          </a:xfrm>
        </p:spPr>
        <p:txBody>
          <a:bodyPr>
            <a:normAutofit/>
          </a:bodyPr>
          <a:lstStyle/>
          <a:p>
            <a:r>
              <a:rPr lang="zh-CN" altLang="en-US" sz="2200" dirty="0"/>
              <a:t>对基本块</a:t>
            </a:r>
            <a:r>
              <a:rPr lang="en-US" altLang="zh-CN" sz="2200" dirty="0"/>
              <a:t>B1</a:t>
            </a:r>
            <a:r>
              <a:rPr lang="zh-CN" altLang="en-US" sz="2200" dirty="0"/>
              <a:t>应用</a:t>
            </a:r>
            <a:r>
              <a:rPr lang="en-US" altLang="zh-CN" sz="2200" dirty="0"/>
              <a:t>DAG</a:t>
            </a:r>
            <a:r>
              <a:rPr lang="zh-CN" altLang="en-US" sz="2200" dirty="0"/>
              <a:t>图对其进行优化。假设在该基本块后只有</a:t>
            </a:r>
            <a:r>
              <a:rPr lang="en-US" altLang="zh-CN" sz="2200" dirty="0"/>
              <a:t>G,L,M</a:t>
            </a:r>
            <a:r>
              <a:rPr lang="zh-CN" altLang="en-US" sz="2200" dirty="0"/>
              <a:t>被引用，请写出优化后的四元式序列</a:t>
            </a:r>
          </a:p>
        </p:txBody>
      </p:sp>
      <p:pic>
        <p:nvPicPr>
          <p:cNvPr id="50180" name="图片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0073" y="915566"/>
            <a:ext cx="2088231" cy="38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42164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7614" y="987574"/>
            <a:ext cx="5141702" cy="3749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3"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0"/>
            <a:ext cx="2020070" cy="345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a:spLocks noGrp="1"/>
          </p:cNvSpPr>
          <p:nvPr>
            <p:ph idx="4294967295"/>
          </p:nvPr>
        </p:nvSpPr>
        <p:spPr>
          <a:xfrm>
            <a:off x="6588126" y="46435"/>
            <a:ext cx="2486025" cy="1681163"/>
          </a:xfrm>
          <a:solidFill>
            <a:schemeClr val="accent1">
              <a:lumMod val="20000"/>
              <a:lumOff val="80000"/>
            </a:schemeClr>
          </a:solidFill>
        </p:spPr>
        <p:txBody>
          <a:bodyPr>
            <a:normAutofit lnSpcReduction="10000"/>
          </a:bodyPr>
          <a:lstStyle/>
          <a:p>
            <a:pPr marL="0" indent="0">
              <a:buFontTx/>
              <a:buNone/>
              <a:defRPr/>
            </a:pPr>
            <a:r>
              <a:rPr lang="en-US" altLang="zh-CN" dirty="0"/>
              <a:t>G = B*C</a:t>
            </a:r>
          </a:p>
          <a:p>
            <a:pPr marL="0" indent="0">
              <a:buFontTx/>
              <a:buNone/>
              <a:defRPr/>
            </a:pPr>
            <a:r>
              <a:rPr lang="en-US" altLang="zh-CN" dirty="0"/>
              <a:t>H = G*G</a:t>
            </a:r>
          </a:p>
          <a:p>
            <a:pPr marL="0" indent="0">
              <a:buFontTx/>
              <a:buNone/>
              <a:defRPr/>
            </a:pPr>
            <a:r>
              <a:rPr lang="en-US" altLang="zh-CN" dirty="0"/>
              <a:t>L = H*G</a:t>
            </a:r>
          </a:p>
          <a:p>
            <a:pPr marL="0" indent="0">
              <a:buFontTx/>
              <a:buNone/>
              <a:defRPr/>
            </a:pPr>
            <a:r>
              <a:rPr lang="en-US" altLang="zh-CN" dirty="0"/>
              <a:t>M = L</a:t>
            </a:r>
          </a:p>
          <a:p>
            <a:pPr>
              <a:defRPr/>
            </a:pPr>
            <a:endParaRPr lang="zh-CN" altLang="en-US" dirty="0"/>
          </a:p>
        </p:txBody>
      </p:sp>
    </p:spTree>
    <p:extLst>
      <p:ext uri="{BB962C8B-B14F-4D97-AF65-F5344CB8AC3E}">
        <p14:creationId xmlns:p14="http://schemas.microsoft.com/office/powerpoint/2010/main" val="2811354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bg/>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p:nvPr>
        </p:nvSpPr>
        <p:spPr/>
        <p:txBody>
          <a:bodyPr/>
          <a:lstStyle/>
          <a:p>
            <a:endParaRPr lang="zh-CN" altLang="en-US"/>
          </a:p>
        </p:txBody>
      </p:sp>
    </p:spTree>
    <p:extLst>
      <p:ext uri="{BB962C8B-B14F-4D97-AF65-F5344CB8AC3E}">
        <p14:creationId xmlns:p14="http://schemas.microsoft.com/office/powerpoint/2010/main" val="7609958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8"/>
          <p:cNvSpPr>
            <a:spLocks noChangeArrowheads="1"/>
          </p:cNvSpPr>
          <p:nvPr/>
        </p:nvSpPr>
        <p:spPr bwMode="auto">
          <a:xfrm>
            <a:off x="1600200" y="1028700"/>
            <a:ext cx="6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zh-CN" sz="2800" b="1">
              <a:solidFill>
                <a:srgbClr val="000000"/>
              </a:solidFill>
              <a:latin typeface="宋体" pitchFamily="2" charset="-122"/>
            </a:endParaRPr>
          </a:p>
        </p:txBody>
      </p:sp>
      <p:sp>
        <p:nvSpPr>
          <p:cNvPr id="52227" name="Text Box 35"/>
          <p:cNvSpPr txBox="1">
            <a:spLocks noChangeArrowheads="1"/>
          </p:cNvSpPr>
          <p:nvPr/>
        </p:nvSpPr>
        <p:spPr bwMode="auto">
          <a:xfrm>
            <a:off x="690712" y="1028700"/>
            <a:ext cx="7992888" cy="297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marL="342900" indent="-342900" eaLnBrk="1" hangingPunct="1">
              <a:spcBef>
                <a:spcPct val="50000"/>
              </a:spcBef>
            </a:pPr>
            <a:r>
              <a:rPr lang="zh-CN" altLang="en-US" sz="2200" dirty="0">
                <a:latin typeface="宋体" panose="02010600030101010101" pitchFamily="2" charset="-122"/>
              </a:rPr>
              <a:t>循环：程序中可能反复执行的代码序列，也是优化的重点</a:t>
            </a:r>
            <a:endParaRPr lang="en-US" altLang="zh-CN" sz="2200" dirty="0">
              <a:latin typeface="宋体" panose="02010600030101010101" pitchFamily="2" charset="-122"/>
            </a:endParaRPr>
          </a:p>
          <a:p>
            <a:pPr marL="342900" indent="-342900" eaLnBrk="1" hangingPunct="1">
              <a:spcBef>
                <a:spcPct val="50000"/>
              </a:spcBef>
            </a:pPr>
            <a:r>
              <a:rPr lang="zh-CN" altLang="zh-CN" sz="2200" dirty="0">
                <a:latin typeface="宋体" panose="02010600030101010101" pitchFamily="2" charset="-122"/>
              </a:rPr>
              <a:t>流图中哪些基本块构成一个循环</a:t>
            </a:r>
            <a:endParaRPr lang="en-US" altLang="zh-CN" sz="2200" dirty="0">
              <a:latin typeface="宋体" panose="02010600030101010101" pitchFamily="2" charset="-122"/>
            </a:endParaRPr>
          </a:p>
          <a:p>
            <a:pPr marL="342900" indent="-342900" eaLnBrk="1" hangingPunct="1">
              <a:spcBef>
                <a:spcPct val="50000"/>
              </a:spcBef>
            </a:pPr>
            <a:r>
              <a:rPr lang="zh-CN" altLang="zh-CN" sz="2200" dirty="0">
                <a:latin typeface="宋体" panose="02010600030101010101" pitchFamily="2" charset="-122"/>
              </a:rPr>
              <a:t>循环优化的主要技术有</a:t>
            </a:r>
            <a:r>
              <a:rPr lang="zh-CN" altLang="en-US" sz="2200" dirty="0">
                <a:latin typeface="宋体" panose="02010600030101010101" pitchFamily="2" charset="-122"/>
              </a:rPr>
              <a:t>：</a:t>
            </a:r>
            <a:endParaRPr lang="en-US" altLang="zh-CN" sz="2200" dirty="0">
              <a:latin typeface="宋体" panose="02010600030101010101" pitchFamily="2" charset="-122"/>
            </a:endParaRPr>
          </a:p>
          <a:p>
            <a:pPr marL="1085850" lvl="1" indent="-342900" eaLnBrk="1" hangingPunct="1">
              <a:spcBef>
                <a:spcPct val="50000"/>
              </a:spcBef>
            </a:pPr>
            <a:r>
              <a:rPr lang="zh-CN" altLang="zh-CN" sz="2200" dirty="0">
                <a:latin typeface="宋体" panose="02010600030101010101" pitchFamily="2" charset="-122"/>
              </a:rPr>
              <a:t>代码外提</a:t>
            </a:r>
            <a:endParaRPr lang="en-US" altLang="zh-CN" sz="2200" dirty="0">
              <a:latin typeface="宋体" panose="02010600030101010101" pitchFamily="2" charset="-122"/>
            </a:endParaRPr>
          </a:p>
          <a:p>
            <a:pPr marL="1085850" lvl="1" indent="-342900" eaLnBrk="1" hangingPunct="1">
              <a:spcBef>
                <a:spcPct val="50000"/>
              </a:spcBef>
            </a:pPr>
            <a:r>
              <a:rPr lang="zh-CN" altLang="zh-CN" sz="2200" dirty="0">
                <a:latin typeface="宋体" panose="02010600030101010101" pitchFamily="2" charset="-122"/>
              </a:rPr>
              <a:t>强度削弱</a:t>
            </a:r>
            <a:endParaRPr lang="en-US" altLang="zh-CN" sz="2200" dirty="0">
              <a:latin typeface="宋体" panose="02010600030101010101" pitchFamily="2" charset="-122"/>
            </a:endParaRPr>
          </a:p>
          <a:p>
            <a:pPr marL="1085850" lvl="1" indent="-342900" eaLnBrk="1" hangingPunct="1">
              <a:spcBef>
                <a:spcPct val="50000"/>
              </a:spcBef>
            </a:pPr>
            <a:r>
              <a:rPr lang="zh-CN" altLang="zh-CN" sz="2200" dirty="0">
                <a:latin typeface="宋体" panose="02010600030101010101" pitchFamily="2" charset="-122"/>
              </a:rPr>
              <a:t>删除归纳变量</a:t>
            </a:r>
            <a:endParaRPr lang="en-US" altLang="zh-CN" sz="2200" dirty="0">
              <a:latin typeface="宋体" panose="02010600030101010101" pitchFamily="2" charset="-122"/>
            </a:endParaRPr>
          </a:p>
        </p:txBody>
      </p:sp>
      <p:sp>
        <p:nvSpPr>
          <p:cNvPr id="52228" name="Rectangle 36"/>
          <p:cNvSpPr>
            <a:spLocks noGrp="1" noChangeArrowheads="1"/>
          </p:cNvSpPr>
          <p:nvPr>
            <p:ph type="title" idx="4294967295"/>
          </p:nvPr>
        </p:nvSpPr>
        <p:spPr>
          <a:xfrm>
            <a:off x="323528" y="195486"/>
            <a:ext cx="7772400" cy="685800"/>
          </a:xfrm>
        </p:spPr>
        <p:txBody>
          <a:bodyPr>
            <a:noAutofit/>
          </a:bodyPr>
          <a:lstStyle/>
          <a:p>
            <a:pPr eaLnBrk="1" hangingPunct="1"/>
            <a:r>
              <a:rPr lang="zh-CN" altLang="en-US" b="1" dirty="0">
                <a:solidFill>
                  <a:srgbClr val="CC0099"/>
                </a:solidFill>
                <a:ea typeface="隶书" pitchFamily="49" charset="-122"/>
              </a:rPr>
              <a:t>循环优化</a:t>
            </a:r>
          </a:p>
        </p:txBody>
      </p:sp>
    </p:spTree>
    <p:extLst>
      <p:ext uri="{BB962C8B-B14F-4D97-AF65-F5344CB8AC3E}">
        <p14:creationId xmlns:p14="http://schemas.microsoft.com/office/powerpoint/2010/main" val="33814872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4152" y="123478"/>
            <a:ext cx="7696200" cy="617935"/>
          </a:xfrm>
        </p:spPr>
        <p:txBody>
          <a:bodyPr>
            <a:noAutofit/>
          </a:bodyPr>
          <a:lstStyle/>
          <a:p>
            <a:pPr eaLnBrk="1" hangingPunct="1"/>
            <a:r>
              <a:rPr lang="zh-CN" altLang="en-US" b="1" dirty="0">
                <a:solidFill>
                  <a:srgbClr val="CC00FF"/>
                </a:solidFill>
              </a:rPr>
              <a:t>程序流图中结点间的关系</a:t>
            </a:r>
            <a:endParaRPr lang="zh-CN" altLang="zh-CN" dirty="0">
              <a:solidFill>
                <a:srgbClr val="CC00FF"/>
              </a:solidFill>
            </a:endParaRPr>
          </a:p>
        </p:txBody>
      </p:sp>
      <p:sp>
        <p:nvSpPr>
          <p:cNvPr id="53251" name="Rectangle 3"/>
          <p:cNvSpPr>
            <a:spLocks noGrp="1" noChangeArrowheads="1"/>
          </p:cNvSpPr>
          <p:nvPr>
            <p:ph type="body" idx="1"/>
          </p:nvPr>
        </p:nvSpPr>
        <p:spPr>
          <a:xfrm>
            <a:off x="467544" y="699542"/>
            <a:ext cx="6192688" cy="3744416"/>
          </a:xfrm>
          <a:solidFill>
            <a:schemeClr val="bg1"/>
          </a:solidFill>
        </p:spPr>
        <p:txBody>
          <a:bodyPr anchor="ctr">
            <a:noAutofit/>
          </a:bodyPr>
          <a:lstStyle/>
          <a:p>
            <a:pPr marL="342900" indent="-342900">
              <a:spcBef>
                <a:spcPct val="0"/>
              </a:spcBef>
            </a:pPr>
            <a:r>
              <a:rPr lang="zh-CN" altLang="en-US" sz="2200" b="1" dirty="0">
                <a:solidFill>
                  <a:srgbClr val="FF0000"/>
                </a:solidFill>
              </a:rPr>
              <a:t>必经结点</a:t>
            </a:r>
            <a:r>
              <a:rPr lang="en-US" altLang="zh-CN" sz="2200" b="1" dirty="0">
                <a:solidFill>
                  <a:srgbClr val="FF0000"/>
                </a:solidFill>
              </a:rPr>
              <a:t> </a:t>
            </a:r>
            <a:r>
              <a:rPr lang="zh-CN" altLang="en-US" sz="2200" b="1" dirty="0">
                <a:solidFill>
                  <a:schemeClr val="tx2"/>
                </a:solidFill>
              </a:rPr>
              <a:t>定义（</a:t>
            </a:r>
            <a:r>
              <a:rPr lang="en-US" altLang="zh-CN" sz="2200" b="1" dirty="0">
                <a:solidFill>
                  <a:srgbClr val="FF0000"/>
                </a:solidFill>
              </a:rPr>
              <a:t>m DOM n</a:t>
            </a:r>
            <a:r>
              <a:rPr lang="zh-CN" altLang="en-US" sz="2200" b="1" dirty="0">
                <a:solidFill>
                  <a:schemeClr val="tx2"/>
                </a:solidFill>
              </a:rPr>
              <a:t>）</a:t>
            </a:r>
            <a:endParaRPr lang="en-US" altLang="zh-CN" sz="2200" b="1" dirty="0">
              <a:solidFill>
                <a:schemeClr val="tx2"/>
              </a:solidFill>
            </a:endParaRPr>
          </a:p>
          <a:p>
            <a:pPr marL="598932" lvl="1" indent="-342900">
              <a:spcBef>
                <a:spcPct val="0"/>
              </a:spcBef>
            </a:pPr>
            <a:r>
              <a:rPr lang="zh-CN" altLang="en-US" dirty="0">
                <a:solidFill>
                  <a:schemeClr val="tx2"/>
                </a:solidFill>
              </a:rPr>
              <a:t>在程序流图中</a:t>
            </a:r>
            <a:r>
              <a:rPr lang="en-US" altLang="zh-CN" dirty="0">
                <a:solidFill>
                  <a:schemeClr val="tx2"/>
                </a:solidFill>
              </a:rPr>
              <a:t>,</a:t>
            </a:r>
            <a:r>
              <a:rPr lang="zh-CN" altLang="en-US" dirty="0">
                <a:solidFill>
                  <a:schemeClr val="tx2"/>
                </a:solidFill>
              </a:rPr>
              <a:t>对任意两个结点</a:t>
            </a:r>
            <a:r>
              <a:rPr lang="en-US" altLang="zh-CN" dirty="0">
                <a:solidFill>
                  <a:schemeClr val="tx2"/>
                </a:solidFill>
              </a:rPr>
              <a:t>m</a:t>
            </a:r>
            <a:r>
              <a:rPr lang="zh-CN" altLang="en-US" dirty="0">
                <a:solidFill>
                  <a:schemeClr val="tx2"/>
                </a:solidFill>
              </a:rPr>
              <a:t>和</a:t>
            </a:r>
            <a:r>
              <a:rPr lang="en-US" altLang="zh-CN" dirty="0">
                <a:solidFill>
                  <a:schemeClr val="tx2"/>
                </a:solidFill>
              </a:rPr>
              <a:t>n,</a:t>
            </a:r>
            <a:r>
              <a:rPr lang="zh-CN" altLang="en-US" dirty="0">
                <a:solidFill>
                  <a:schemeClr val="tx2"/>
                </a:solidFill>
              </a:rPr>
              <a:t>如果从流图的首结点出发</a:t>
            </a:r>
            <a:r>
              <a:rPr lang="en-US" altLang="zh-CN" dirty="0">
                <a:solidFill>
                  <a:schemeClr val="tx2"/>
                </a:solidFill>
              </a:rPr>
              <a:t>,</a:t>
            </a:r>
            <a:r>
              <a:rPr lang="zh-CN" altLang="en-US" dirty="0">
                <a:solidFill>
                  <a:schemeClr val="tx2"/>
                </a:solidFill>
              </a:rPr>
              <a:t>到达</a:t>
            </a:r>
            <a:r>
              <a:rPr lang="en-US" altLang="zh-CN" dirty="0">
                <a:solidFill>
                  <a:schemeClr val="tx2"/>
                </a:solidFill>
              </a:rPr>
              <a:t>n</a:t>
            </a:r>
            <a:r>
              <a:rPr lang="zh-CN" altLang="en-US" dirty="0">
                <a:solidFill>
                  <a:schemeClr val="tx2"/>
                </a:solidFill>
              </a:rPr>
              <a:t>的任意通路都要经过</a:t>
            </a:r>
            <a:r>
              <a:rPr lang="en-US" altLang="zh-CN" dirty="0">
                <a:solidFill>
                  <a:schemeClr val="tx2"/>
                </a:solidFill>
              </a:rPr>
              <a:t>m,</a:t>
            </a:r>
            <a:r>
              <a:rPr lang="zh-CN" altLang="en-US" dirty="0">
                <a:solidFill>
                  <a:schemeClr val="tx2"/>
                </a:solidFill>
              </a:rPr>
              <a:t>则称</a:t>
            </a:r>
            <a:r>
              <a:rPr lang="en-US" altLang="zh-CN" dirty="0">
                <a:solidFill>
                  <a:schemeClr val="tx2"/>
                </a:solidFill>
              </a:rPr>
              <a:t>m</a:t>
            </a:r>
            <a:r>
              <a:rPr lang="zh-CN" altLang="en-US" dirty="0">
                <a:solidFill>
                  <a:schemeClr val="tx2"/>
                </a:solidFill>
              </a:rPr>
              <a:t>是</a:t>
            </a:r>
            <a:r>
              <a:rPr lang="en-US" altLang="zh-CN" dirty="0">
                <a:solidFill>
                  <a:schemeClr val="tx2"/>
                </a:solidFill>
              </a:rPr>
              <a:t>n</a:t>
            </a:r>
            <a:r>
              <a:rPr lang="zh-CN" altLang="en-US" dirty="0">
                <a:solidFill>
                  <a:schemeClr val="tx2"/>
                </a:solidFill>
              </a:rPr>
              <a:t>的</a:t>
            </a:r>
            <a:r>
              <a:rPr lang="zh-CN" altLang="en-US" dirty="0"/>
              <a:t>必经结点</a:t>
            </a:r>
            <a:r>
              <a:rPr lang="en-US" altLang="zh-CN" dirty="0">
                <a:solidFill>
                  <a:schemeClr val="tx2"/>
                </a:solidFill>
              </a:rPr>
              <a:t>,</a:t>
            </a:r>
            <a:r>
              <a:rPr lang="zh-CN" altLang="en-US" dirty="0">
                <a:solidFill>
                  <a:schemeClr val="tx2"/>
                </a:solidFill>
              </a:rPr>
              <a:t>记为</a:t>
            </a:r>
            <a:r>
              <a:rPr lang="en-US" altLang="zh-CN" b="1" dirty="0">
                <a:solidFill>
                  <a:srgbClr val="FF0000"/>
                </a:solidFill>
              </a:rPr>
              <a:t>m DOM n</a:t>
            </a:r>
            <a:r>
              <a:rPr lang="en-US" altLang="zh-CN" dirty="0">
                <a:solidFill>
                  <a:schemeClr val="tx2"/>
                </a:solidFill>
              </a:rPr>
              <a:t> </a:t>
            </a:r>
          </a:p>
          <a:p>
            <a:pPr marL="598932" lvl="1" indent="-342900">
              <a:spcBef>
                <a:spcPct val="0"/>
              </a:spcBef>
            </a:pPr>
            <a:r>
              <a:rPr lang="zh-CN" altLang="en-US" dirty="0">
                <a:solidFill>
                  <a:schemeClr val="tx2"/>
                </a:solidFill>
              </a:rPr>
              <a:t>每个结点是它本身的必经结点；循环的入口是循环中所有结点的必经结点</a:t>
            </a:r>
          </a:p>
          <a:p>
            <a:pPr marL="0" indent="0" eaLnBrk="1" hangingPunct="1">
              <a:spcBef>
                <a:spcPct val="0"/>
              </a:spcBef>
              <a:buFontTx/>
              <a:buNone/>
            </a:pPr>
            <a:endParaRPr lang="zh-CN" altLang="en-US" sz="2200" b="1" dirty="0">
              <a:solidFill>
                <a:schemeClr val="tx2"/>
              </a:solidFill>
              <a:sym typeface="Symbol" pitchFamily="18" charset="2"/>
            </a:endParaRPr>
          </a:p>
          <a:p>
            <a:pPr marL="342900" indent="-342900">
              <a:spcBef>
                <a:spcPct val="0"/>
              </a:spcBef>
            </a:pPr>
            <a:r>
              <a:rPr lang="zh-CN" altLang="en-US" sz="2200" b="1" dirty="0">
                <a:solidFill>
                  <a:srgbClr val="FF0000"/>
                </a:solidFill>
                <a:sym typeface="Symbol" pitchFamily="18" charset="2"/>
              </a:rPr>
              <a:t>必经结点集</a:t>
            </a:r>
            <a:r>
              <a:rPr lang="zh-CN" altLang="en-US" sz="2200" b="1" dirty="0">
                <a:solidFill>
                  <a:schemeClr val="tx2"/>
                </a:solidFill>
              </a:rPr>
              <a:t>定义</a:t>
            </a:r>
            <a:endParaRPr lang="en-US" altLang="zh-CN" sz="2200" b="1" dirty="0">
              <a:solidFill>
                <a:schemeClr val="tx2"/>
              </a:solidFill>
            </a:endParaRPr>
          </a:p>
          <a:p>
            <a:pPr marL="598932" lvl="1" indent="-342900">
              <a:spcBef>
                <a:spcPct val="0"/>
              </a:spcBef>
            </a:pPr>
            <a:r>
              <a:rPr lang="zh-CN" altLang="en-US" dirty="0">
                <a:solidFill>
                  <a:schemeClr val="tx2"/>
                </a:solidFill>
                <a:sym typeface="Symbol" pitchFamily="18" charset="2"/>
              </a:rPr>
              <a:t>结点</a:t>
            </a:r>
            <a:r>
              <a:rPr lang="en-US" altLang="zh-CN" dirty="0">
                <a:solidFill>
                  <a:schemeClr val="tx2"/>
                </a:solidFill>
                <a:sym typeface="Symbol" pitchFamily="18" charset="2"/>
              </a:rPr>
              <a:t>n</a:t>
            </a:r>
            <a:r>
              <a:rPr lang="zh-CN" altLang="en-US" dirty="0">
                <a:solidFill>
                  <a:schemeClr val="tx2"/>
                </a:solidFill>
                <a:sym typeface="Symbol" pitchFamily="18" charset="2"/>
              </a:rPr>
              <a:t>的所有必经结点的集合</a:t>
            </a:r>
            <a:r>
              <a:rPr lang="en-US" altLang="zh-CN" dirty="0">
                <a:solidFill>
                  <a:schemeClr val="tx2"/>
                </a:solidFill>
                <a:sym typeface="Symbol" pitchFamily="18" charset="2"/>
              </a:rPr>
              <a:t>,</a:t>
            </a:r>
            <a:r>
              <a:rPr lang="zh-CN" altLang="en-US" dirty="0">
                <a:solidFill>
                  <a:schemeClr val="tx2"/>
                </a:solidFill>
                <a:sym typeface="Symbol" pitchFamily="18" charset="2"/>
              </a:rPr>
              <a:t>称为结点</a:t>
            </a:r>
            <a:r>
              <a:rPr lang="en-US" altLang="zh-CN" dirty="0">
                <a:solidFill>
                  <a:schemeClr val="tx2"/>
                </a:solidFill>
                <a:sym typeface="Symbol" pitchFamily="18" charset="2"/>
              </a:rPr>
              <a:t>n</a:t>
            </a:r>
            <a:r>
              <a:rPr lang="zh-CN" altLang="en-US" dirty="0">
                <a:solidFill>
                  <a:schemeClr val="tx2"/>
                </a:solidFill>
                <a:sym typeface="Symbol" pitchFamily="18" charset="2"/>
              </a:rPr>
              <a:t>的必经结点集</a:t>
            </a:r>
            <a:r>
              <a:rPr lang="en-US" altLang="zh-CN" dirty="0">
                <a:solidFill>
                  <a:schemeClr val="tx2"/>
                </a:solidFill>
                <a:sym typeface="Symbol" pitchFamily="18" charset="2"/>
              </a:rPr>
              <a:t>,</a:t>
            </a:r>
            <a:r>
              <a:rPr lang="zh-CN" altLang="en-US" dirty="0">
                <a:solidFill>
                  <a:schemeClr val="tx2"/>
                </a:solidFill>
                <a:sym typeface="Symbol" pitchFamily="18" charset="2"/>
              </a:rPr>
              <a:t>记为</a:t>
            </a:r>
            <a:r>
              <a:rPr lang="en-US" altLang="zh-CN" b="1" dirty="0">
                <a:solidFill>
                  <a:srgbClr val="FF0000"/>
                </a:solidFill>
                <a:sym typeface="Symbol" pitchFamily="18" charset="2"/>
              </a:rPr>
              <a:t>D(n)</a:t>
            </a:r>
          </a:p>
        </p:txBody>
      </p:sp>
      <p:graphicFrame>
        <p:nvGraphicFramePr>
          <p:cNvPr id="2" name="对象 1"/>
          <p:cNvGraphicFramePr>
            <a:graphicFrameLocks noChangeAspect="1"/>
          </p:cNvGraphicFramePr>
          <p:nvPr>
            <p:extLst>
              <p:ext uri="{D42A27DB-BD31-4B8C-83A1-F6EECF244321}">
                <p14:modId xmlns:p14="http://schemas.microsoft.com/office/powerpoint/2010/main" val="877888598"/>
              </p:ext>
            </p:extLst>
          </p:nvPr>
        </p:nvGraphicFramePr>
        <p:xfrm>
          <a:off x="6876256" y="1275606"/>
          <a:ext cx="2124491" cy="3176066"/>
        </p:xfrm>
        <a:graphic>
          <a:graphicData uri="http://schemas.openxmlformats.org/presentationml/2006/ole">
            <mc:AlternateContent xmlns:mc="http://schemas.openxmlformats.org/markup-compatibility/2006">
              <mc:Choice xmlns:v="urn:schemas-microsoft-com:vml" Requires="v">
                <p:oleObj name="VISIO" r:id="rId3" imgW="2631440" imgH="3662680" progId="Visio.Drawing.11">
                  <p:embed/>
                </p:oleObj>
              </mc:Choice>
              <mc:Fallback>
                <p:oleObj name="VISIO" r:id="rId3" imgW="2631440" imgH="3662680" progId="Visio.Drawing.11">
                  <p:embed/>
                  <p:pic>
                    <p:nvPicPr>
                      <p:cNvPr id="0" name="Object 1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6256" y="1275606"/>
                        <a:ext cx="2124491" cy="3176066"/>
                      </a:xfrm>
                      <a:prstGeom prst="rect">
                        <a:avLst/>
                      </a:prstGeom>
                      <a:noFill/>
                      <a:ln>
                        <a:solidFill>
                          <a:srgbClr val="00B050"/>
                        </a:solidFill>
                      </a:ln>
                    </p:spPr>
                  </p:pic>
                </p:oleObj>
              </mc:Fallback>
            </mc:AlternateContent>
          </a:graphicData>
        </a:graphic>
      </p:graphicFrame>
      <p:sp>
        <p:nvSpPr>
          <p:cNvPr id="3" name="矩形 2"/>
          <p:cNvSpPr/>
          <p:nvPr/>
        </p:nvSpPr>
        <p:spPr>
          <a:xfrm>
            <a:off x="1061817" y="4290650"/>
            <a:ext cx="4824536"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spcBef>
                <a:spcPct val="0"/>
              </a:spcBef>
            </a:pPr>
            <a:r>
              <a:rPr lang="en-US" altLang="zh-CN" dirty="0"/>
              <a:t>1 DOM 2,2 DOM 2</a:t>
            </a:r>
            <a:r>
              <a:rPr lang="zh-CN" altLang="en-US" dirty="0"/>
              <a:t>，因此，</a:t>
            </a:r>
            <a:r>
              <a:rPr lang="en-US" altLang="zh-CN" dirty="0"/>
              <a:t>D(2)= {1</a:t>
            </a:r>
            <a:r>
              <a:rPr lang="zh-CN" altLang="en-US" dirty="0"/>
              <a:t>，</a:t>
            </a:r>
            <a:r>
              <a:rPr lang="en-US" altLang="zh-CN" dirty="0"/>
              <a:t>2}</a:t>
            </a:r>
          </a:p>
        </p:txBody>
      </p:sp>
      <p:sp>
        <p:nvSpPr>
          <p:cNvPr id="6" name="矩形 5"/>
          <p:cNvSpPr/>
          <p:nvPr/>
        </p:nvSpPr>
        <p:spPr>
          <a:xfrm>
            <a:off x="1062827" y="4659982"/>
            <a:ext cx="5832648"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spcBef>
                <a:spcPct val="0"/>
              </a:spcBef>
            </a:pPr>
            <a:r>
              <a:rPr lang="en-US" altLang="zh-CN" dirty="0"/>
              <a:t>1 DOM 4,2 DOM 4</a:t>
            </a:r>
            <a:r>
              <a:rPr lang="zh-CN" altLang="en-US" dirty="0"/>
              <a:t>，</a:t>
            </a:r>
            <a:r>
              <a:rPr lang="en-US" altLang="zh-CN" dirty="0"/>
              <a:t>4 DOM 4</a:t>
            </a:r>
            <a:r>
              <a:rPr lang="zh-CN" altLang="en-US" dirty="0"/>
              <a:t>， </a:t>
            </a:r>
            <a:r>
              <a:rPr lang="en-US" altLang="zh-CN" dirty="0"/>
              <a:t>D(4)= {1</a:t>
            </a:r>
            <a:r>
              <a:rPr lang="zh-CN" altLang="en-US" dirty="0"/>
              <a:t>，</a:t>
            </a:r>
            <a:r>
              <a:rPr lang="en-US" altLang="zh-CN" dirty="0"/>
              <a:t>2</a:t>
            </a:r>
            <a:r>
              <a:rPr lang="zh-CN" altLang="en-US" dirty="0"/>
              <a:t>，</a:t>
            </a:r>
            <a:r>
              <a:rPr lang="en-US" altLang="zh-CN" dirty="0"/>
              <a:t>4}</a:t>
            </a:r>
          </a:p>
        </p:txBody>
      </p:sp>
    </p:spTree>
    <p:extLst>
      <p:ext uri="{BB962C8B-B14F-4D97-AF65-F5344CB8AC3E}">
        <p14:creationId xmlns:p14="http://schemas.microsoft.com/office/powerpoint/2010/main" val="3525701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3251">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251">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325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25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25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25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uiExpand="1" build="p" animBg="1"/>
      <p:bldP spid="3" grpId="0" animBg="1"/>
      <p:bldP spid="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1588" y="33338"/>
            <a:ext cx="9036051" cy="857250"/>
          </a:xfrm>
        </p:spPr>
        <p:txBody>
          <a:bodyPr/>
          <a:lstStyle/>
          <a:p>
            <a:pPr algn="l"/>
            <a:r>
              <a:rPr lang="zh-CN" altLang="en-US" sz="3200" b="1" dirty="0"/>
              <a:t>求</a:t>
            </a:r>
            <a:r>
              <a:rPr lang="zh-CN" altLang="zh-CN" sz="3200" b="1" dirty="0"/>
              <a:t>一个流图中</a:t>
            </a:r>
            <a:r>
              <a:rPr lang="zh-CN" altLang="en-US" sz="3200" dirty="0"/>
              <a:t>各个</a:t>
            </a:r>
            <a:r>
              <a:rPr lang="zh-CN" altLang="zh-CN" sz="3200" b="1" dirty="0"/>
              <a:t>结点的必经结点集</a:t>
            </a:r>
            <a:r>
              <a:rPr lang="zh-CN" altLang="en-US" sz="3200" b="1" dirty="0"/>
              <a:t>的算法</a:t>
            </a:r>
          </a:p>
        </p:txBody>
      </p:sp>
      <p:sp>
        <p:nvSpPr>
          <p:cNvPr id="54275" name="内容占位符 2"/>
          <p:cNvSpPr>
            <a:spLocks noGrp="1"/>
          </p:cNvSpPr>
          <p:nvPr>
            <p:ph idx="1"/>
          </p:nvPr>
        </p:nvSpPr>
        <p:spPr>
          <a:xfrm>
            <a:off x="251519" y="915566"/>
            <a:ext cx="6696745" cy="4155926"/>
          </a:xfrm>
          <a:solidFill>
            <a:schemeClr val="bg1"/>
          </a:solidFill>
        </p:spPr>
        <p:txBody>
          <a:bodyPr>
            <a:normAutofit/>
          </a:bodyPr>
          <a:lstStyle/>
          <a:p>
            <a:pPr marL="109728" indent="0">
              <a:spcBef>
                <a:spcPts val="0"/>
              </a:spcBef>
              <a:buNone/>
            </a:pPr>
            <a:r>
              <a:rPr lang="zh-CN" altLang="zh-CN" sz="1950" b="1" dirty="0">
                <a:solidFill>
                  <a:srgbClr val="FF0000"/>
                </a:solidFill>
                <a:cs typeface="Arial Unicode MS" panose="020B0604020202020204" pitchFamily="34" charset="-122"/>
              </a:rPr>
              <a:t>（</a:t>
            </a:r>
            <a:r>
              <a:rPr lang="en-US" altLang="zh-CN" sz="1950" b="1" dirty="0">
                <a:solidFill>
                  <a:srgbClr val="FF0000"/>
                </a:solidFill>
                <a:cs typeface="Arial Unicode MS" panose="020B0604020202020204" pitchFamily="34" charset="-122"/>
              </a:rPr>
              <a:t>1</a:t>
            </a:r>
            <a:r>
              <a:rPr lang="zh-CN" altLang="zh-CN" sz="1950" b="1" dirty="0">
                <a:solidFill>
                  <a:srgbClr val="FF0000"/>
                </a:solidFill>
                <a:cs typeface="Arial Unicode MS" panose="020B0604020202020204" pitchFamily="34" charset="-122"/>
              </a:rPr>
              <a:t>）</a:t>
            </a:r>
            <a:r>
              <a:rPr lang="zh-CN" altLang="en-US" sz="1950" b="1" dirty="0">
                <a:solidFill>
                  <a:srgbClr val="FF0000"/>
                </a:solidFill>
                <a:cs typeface="Arial Unicode MS" panose="020B0604020202020204" pitchFamily="34" charset="-122"/>
              </a:rPr>
              <a:t>初始化：</a:t>
            </a:r>
            <a:endParaRPr lang="en-US" altLang="zh-CN" sz="1950" b="1" dirty="0">
              <a:solidFill>
                <a:srgbClr val="FF0000"/>
              </a:solidFill>
              <a:cs typeface="Arial Unicode MS" panose="020B0604020202020204" pitchFamily="34" charset="-122"/>
            </a:endParaRPr>
          </a:p>
          <a:p>
            <a:pPr lvl="1">
              <a:spcBef>
                <a:spcPts val="0"/>
              </a:spcBef>
            </a:pPr>
            <a:r>
              <a:rPr lang="zh-CN" altLang="en-US" sz="1900" dirty="0">
                <a:cs typeface="Arial Unicode MS" panose="020B0604020202020204" pitchFamily="34" charset="-122"/>
              </a:rPr>
              <a:t>第一个结点：</a:t>
            </a:r>
            <a:r>
              <a:rPr lang="en-US" altLang="zh-CN" sz="1900" dirty="0">
                <a:cs typeface="Arial Unicode MS" panose="020B0604020202020204" pitchFamily="34" charset="-122"/>
              </a:rPr>
              <a:t>D(0) ={0}</a:t>
            </a:r>
            <a:r>
              <a:rPr lang="zh-CN" altLang="zh-CN" sz="1900" dirty="0">
                <a:cs typeface="Arial Unicode MS" panose="020B0604020202020204" pitchFamily="34" charset="-122"/>
              </a:rPr>
              <a:t>； </a:t>
            </a:r>
          </a:p>
          <a:p>
            <a:pPr lvl="1">
              <a:spcBef>
                <a:spcPts val="0"/>
              </a:spcBef>
            </a:pPr>
            <a:r>
              <a:rPr lang="en-US" altLang="zh-CN" sz="1900" dirty="0">
                <a:cs typeface="Arial Unicode MS" panose="020B0604020202020204" pitchFamily="34" charset="-122"/>
              </a:rPr>
              <a:t>for (m=1; m&lt;=n; m++) D(m)=set{0 ~ n}</a:t>
            </a:r>
            <a:r>
              <a:rPr lang="zh-CN" altLang="zh-CN" sz="1900" dirty="0">
                <a:cs typeface="Arial Unicode MS" panose="020B0604020202020204" pitchFamily="34" charset="-122"/>
              </a:rPr>
              <a:t>；</a:t>
            </a:r>
            <a:r>
              <a:rPr lang="en-US" altLang="zh-CN" sz="1900" dirty="0">
                <a:cs typeface="Arial Unicode MS" panose="020B0604020202020204" pitchFamily="34" charset="-122"/>
              </a:rPr>
              <a:t>//</a:t>
            </a:r>
            <a:r>
              <a:rPr lang="zh-CN" altLang="en-US" sz="1900" dirty="0">
                <a:cs typeface="Arial Unicode MS" panose="020B0604020202020204" pitchFamily="34" charset="-122"/>
              </a:rPr>
              <a:t>除第一个结点外的所有结点的必经结点集合</a:t>
            </a:r>
            <a:r>
              <a:rPr lang="zh-CN" altLang="zh-CN" sz="1900" dirty="0">
                <a:cs typeface="Arial Unicode MS" panose="020B0604020202020204" pitchFamily="34" charset="-122"/>
              </a:rPr>
              <a:t>初始化为全部结点构成的集合</a:t>
            </a:r>
          </a:p>
          <a:p>
            <a:pPr marL="109728" indent="0">
              <a:spcBef>
                <a:spcPts val="0"/>
              </a:spcBef>
              <a:buNone/>
            </a:pPr>
            <a:r>
              <a:rPr lang="zh-CN" altLang="en-US" sz="2000" b="1" dirty="0">
                <a:solidFill>
                  <a:srgbClr val="FF0000"/>
                </a:solidFill>
                <a:cs typeface="Arial Unicode MS" panose="020B0604020202020204" pitchFamily="34" charset="-122"/>
              </a:rPr>
              <a:t>（</a:t>
            </a:r>
            <a:r>
              <a:rPr lang="en-US" altLang="zh-CN" sz="2000" b="1" dirty="0">
                <a:solidFill>
                  <a:srgbClr val="FF0000"/>
                </a:solidFill>
                <a:cs typeface="Arial Unicode MS" panose="020B0604020202020204" pitchFamily="34" charset="-122"/>
              </a:rPr>
              <a:t>2</a:t>
            </a:r>
            <a:r>
              <a:rPr lang="zh-CN" altLang="en-US" sz="2000" b="1" dirty="0">
                <a:solidFill>
                  <a:srgbClr val="FF0000"/>
                </a:solidFill>
                <a:cs typeface="Arial Unicode MS" panose="020B0604020202020204" pitchFamily="34" charset="-122"/>
              </a:rPr>
              <a:t>）</a:t>
            </a:r>
            <a:r>
              <a:rPr lang="zh-CN" altLang="zh-CN" sz="1950" b="1" dirty="0">
                <a:solidFill>
                  <a:srgbClr val="FF0000"/>
                </a:solidFill>
                <a:cs typeface="Arial Unicode MS" panose="020B0604020202020204" pitchFamily="34" charset="-122"/>
              </a:rPr>
              <a:t>迭代执行下面的过程，</a:t>
            </a:r>
            <a:r>
              <a:rPr lang="zh-CN" altLang="en-US" sz="1950" b="1" dirty="0">
                <a:solidFill>
                  <a:srgbClr val="FF0000"/>
                </a:solidFill>
                <a:cs typeface="Arial Unicode MS" panose="020B0604020202020204" pitchFamily="34" charset="-122"/>
              </a:rPr>
              <a:t>直到所有结点的</a:t>
            </a:r>
            <a:r>
              <a:rPr lang="en-US" altLang="zh-CN" sz="1950" b="1" dirty="0">
                <a:solidFill>
                  <a:srgbClr val="FF0000"/>
                </a:solidFill>
                <a:cs typeface="Arial Unicode MS" panose="020B0604020202020204" pitchFamily="34" charset="-122"/>
              </a:rPr>
              <a:t>D(m)</a:t>
            </a:r>
            <a:r>
              <a:rPr lang="zh-CN" altLang="en-US" sz="1950" b="1" dirty="0">
                <a:solidFill>
                  <a:srgbClr val="FF0000"/>
                </a:solidFill>
                <a:cs typeface="Arial Unicode MS" panose="020B0604020202020204" pitchFamily="34" charset="-122"/>
              </a:rPr>
              <a:t>不再变化</a:t>
            </a:r>
            <a:endParaRPr lang="en-US" altLang="zh-CN" sz="1950" b="1" dirty="0">
              <a:solidFill>
                <a:srgbClr val="FF0000"/>
              </a:solidFill>
              <a:cs typeface="Arial Unicode MS" panose="020B0604020202020204" pitchFamily="34" charset="-122"/>
            </a:endParaRPr>
          </a:p>
          <a:p>
            <a:pPr marL="109728" indent="0">
              <a:spcBef>
                <a:spcPts val="0"/>
              </a:spcBef>
              <a:buNone/>
            </a:pPr>
            <a:r>
              <a:rPr lang="en-US" altLang="zh-CN" sz="2000" b="1" dirty="0">
                <a:solidFill>
                  <a:srgbClr val="FF0000"/>
                </a:solidFill>
                <a:cs typeface="Arial Unicode MS" panose="020B0604020202020204" pitchFamily="34" charset="-122"/>
              </a:rPr>
              <a:t>	</a:t>
            </a:r>
            <a:r>
              <a:rPr lang="zh-CN" altLang="en-US" sz="2000" dirty="0">
                <a:cs typeface="Arial Unicode MS" panose="020B0604020202020204" pitchFamily="34" charset="-122"/>
              </a:rPr>
              <a:t>（</a:t>
            </a:r>
            <a:r>
              <a:rPr lang="en-US" altLang="zh-CN" sz="2000" dirty="0"/>
              <a:t>m = 1….n</a:t>
            </a:r>
            <a:r>
              <a:rPr lang="zh-CN" altLang="en-US" sz="2000" dirty="0">
                <a:cs typeface="Arial Unicode MS" panose="020B0604020202020204" pitchFamily="34" charset="-122"/>
              </a:rPr>
              <a:t>）</a:t>
            </a:r>
            <a:endParaRPr lang="en-US" altLang="zh-CN" sz="2000" dirty="0">
              <a:cs typeface="Arial Unicode MS" panose="020B0604020202020204" pitchFamily="34" charset="-122"/>
            </a:endParaRPr>
          </a:p>
          <a:p>
            <a:pPr lvl="1">
              <a:spcBef>
                <a:spcPts val="0"/>
              </a:spcBef>
            </a:pPr>
            <a:r>
              <a:rPr lang="en-US" altLang="zh-CN" sz="1900" dirty="0">
                <a:cs typeface="Arial Unicode MS" panose="020B0604020202020204" pitchFamily="34" charset="-122"/>
              </a:rPr>
              <a:t>for (</a:t>
            </a:r>
            <a:r>
              <a:rPr lang="en-US" altLang="zh-CN" sz="1900" dirty="0" err="1">
                <a:cs typeface="Arial Unicode MS" panose="020B0604020202020204" pitchFamily="34" charset="-122"/>
              </a:rPr>
              <a:t>i</a:t>
            </a:r>
            <a:r>
              <a:rPr lang="en-US" altLang="zh-CN" sz="1900" dirty="0">
                <a:cs typeface="Arial Unicode MS" panose="020B0604020202020204" pitchFamily="34" charset="-122"/>
              </a:rPr>
              <a:t>=1;i&lt;=</a:t>
            </a:r>
            <a:r>
              <a:rPr lang="en-US" altLang="zh-CN" sz="1900" dirty="0" err="1">
                <a:cs typeface="Arial Unicode MS" panose="020B0604020202020204" pitchFamily="34" charset="-122"/>
              </a:rPr>
              <a:t>n;i</a:t>
            </a:r>
            <a:r>
              <a:rPr lang="en-US" altLang="zh-CN" sz="1900" dirty="0">
                <a:cs typeface="Arial Unicode MS" panose="020B0604020202020204" pitchFamily="34" charset="-122"/>
              </a:rPr>
              <a:t>++)  </a:t>
            </a:r>
            <a:endParaRPr lang="zh-CN" altLang="zh-CN" sz="1900" dirty="0">
              <a:cs typeface="Arial Unicode MS" panose="020B0604020202020204" pitchFamily="34" charset="-122"/>
            </a:endParaRPr>
          </a:p>
          <a:p>
            <a:pPr lvl="1">
              <a:spcBef>
                <a:spcPts val="0"/>
              </a:spcBef>
            </a:pPr>
            <a:r>
              <a:rPr lang="en-US" altLang="zh-CN" sz="1900" dirty="0">
                <a:cs typeface="Arial Unicode MS" panose="020B0604020202020204" pitchFamily="34" charset="-122"/>
              </a:rPr>
              <a:t>  D(</a:t>
            </a:r>
            <a:r>
              <a:rPr lang="en-US" altLang="zh-CN" sz="1900" dirty="0" err="1">
                <a:cs typeface="Arial Unicode MS" panose="020B0604020202020204" pitchFamily="34" charset="-122"/>
              </a:rPr>
              <a:t>i</a:t>
            </a:r>
            <a:r>
              <a:rPr lang="en-US" altLang="zh-CN" sz="1900" dirty="0">
                <a:cs typeface="Arial Unicode MS" panose="020B0604020202020204" pitchFamily="34" charset="-122"/>
              </a:rPr>
              <a:t>)={</a:t>
            </a:r>
            <a:r>
              <a:rPr lang="en-US" altLang="zh-CN" sz="1900" dirty="0" err="1">
                <a:cs typeface="Arial Unicode MS" panose="020B0604020202020204" pitchFamily="34" charset="-122"/>
              </a:rPr>
              <a:t>i</a:t>
            </a:r>
            <a:r>
              <a:rPr lang="en-US" altLang="zh-CN" sz="1900" dirty="0">
                <a:cs typeface="Arial Unicode MS" panose="020B0604020202020204" pitchFamily="34" charset="-122"/>
              </a:rPr>
              <a:t>}</a:t>
            </a:r>
            <a:r>
              <a:rPr lang="zh-CN" altLang="zh-CN" sz="1900" dirty="0">
                <a:cs typeface="Arial Unicode MS" panose="020B0604020202020204" pitchFamily="34" charset="-122"/>
              </a:rPr>
              <a:t>∪</a:t>
            </a:r>
            <a:r>
              <a:rPr lang="en-US" altLang="zh-CN" sz="1900" dirty="0">
                <a:cs typeface="Arial Unicode MS" panose="020B0604020202020204" pitchFamily="34" charset="-122"/>
              </a:rPr>
              <a:t>(</a:t>
            </a:r>
            <a:r>
              <a:rPr lang="zh-CN" altLang="zh-CN" sz="1900" dirty="0">
                <a:solidFill>
                  <a:srgbClr val="0000FF"/>
                </a:solidFill>
                <a:cs typeface="Arial Unicode MS" panose="020B0604020202020204" pitchFamily="34" charset="-122"/>
              </a:rPr>
              <a:t>∩</a:t>
            </a:r>
            <a:r>
              <a:rPr lang="en-US" altLang="zh-CN" sz="1900" dirty="0">
                <a:solidFill>
                  <a:srgbClr val="0000FF"/>
                </a:solidFill>
                <a:cs typeface="Arial Unicode MS" panose="020B0604020202020204" pitchFamily="34" charset="-122"/>
              </a:rPr>
              <a:t>D(p))</a:t>
            </a:r>
            <a:r>
              <a:rPr lang="en-US" altLang="zh-CN" sz="1900" dirty="0">
                <a:cs typeface="Arial Unicode MS" panose="020B0604020202020204" pitchFamily="34" charset="-122"/>
              </a:rPr>
              <a:t>//</a:t>
            </a:r>
            <a:r>
              <a:rPr lang="zh-CN" altLang="en-US" sz="1900" dirty="0">
                <a:cs typeface="Arial Unicode MS" panose="020B0604020202020204" pitchFamily="34" charset="-122"/>
              </a:rPr>
              <a:t>每个结点的必经结点集等于这个结点自身与它的所有前驱结点的必经结点交集的并集</a:t>
            </a:r>
            <a:endParaRPr lang="zh-CN" altLang="zh-CN" sz="1900" dirty="0">
              <a:cs typeface="Arial Unicode MS" panose="020B0604020202020204" pitchFamily="34" charset="-122"/>
            </a:endParaRPr>
          </a:p>
          <a:p>
            <a:pPr marL="109728" indent="0">
              <a:spcBef>
                <a:spcPts val="0"/>
              </a:spcBef>
              <a:buNone/>
            </a:pPr>
            <a:r>
              <a:rPr lang="zh-CN" altLang="zh-CN" sz="1900" dirty="0">
                <a:cs typeface="Arial Unicode MS" panose="020B0604020202020204" pitchFamily="34" charset="-122"/>
              </a:rPr>
              <a:t>（其中</a:t>
            </a:r>
            <a:r>
              <a:rPr lang="en-US" altLang="zh-CN" sz="1900" dirty="0">
                <a:cs typeface="Arial Unicode MS" panose="020B0604020202020204" pitchFamily="34" charset="-122"/>
              </a:rPr>
              <a:t>p</a:t>
            </a:r>
            <a:r>
              <a:rPr lang="zh-CN" altLang="zh-CN" sz="1900" dirty="0">
                <a:cs typeface="Arial Unicode MS" panose="020B0604020202020204" pitchFamily="34" charset="-122"/>
              </a:rPr>
              <a:t>是</a:t>
            </a:r>
            <a:r>
              <a:rPr lang="en-US" altLang="zh-CN" sz="1900" dirty="0">
                <a:cs typeface="Arial Unicode MS" panose="020B0604020202020204" pitchFamily="34" charset="-122"/>
              </a:rPr>
              <a:t>n</a:t>
            </a:r>
            <a:r>
              <a:rPr lang="zh-CN" altLang="zh-CN" sz="1900" dirty="0">
                <a:cs typeface="Arial Unicode MS" panose="020B0604020202020204" pitchFamily="34" charset="-122"/>
              </a:rPr>
              <a:t>的直接前驱，∩</a:t>
            </a:r>
            <a:r>
              <a:rPr lang="en-US" altLang="zh-CN" sz="1900" dirty="0">
                <a:cs typeface="Arial Unicode MS" panose="020B0604020202020204" pitchFamily="34" charset="-122"/>
              </a:rPr>
              <a:t>D(p)</a:t>
            </a:r>
            <a:r>
              <a:rPr lang="zh-CN" altLang="zh-CN" sz="1900" dirty="0">
                <a:cs typeface="Arial Unicode MS" panose="020B0604020202020204" pitchFamily="34" charset="-122"/>
              </a:rPr>
              <a:t>表示求所有</a:t>
            </a:r>
            <a:r>
              <a:rPr lang="en-US" altLang="zh-CN" sz="1900" dirty="0">
                <a:cs typeface="Arial Unicode MS" panose="020B0604020202020204" pitchFamily="34" charset="-122"/>
              </a:rPr>
              <a:t>D(p)</a:t>
            </a:r>
            <a:r>
              <a:rPr lang="zh-CN" altLang="zh-CN" sz="1900" dirty="0">
                <a:cs typeface="Arial Unicode MS" panose="020B0604020202020204" pitchFamily="34" charset="-122"/>
              </a:rPr>
              <a:t>的交集）</a:t>
            </a:r>
          </a:p>
          <a:p>
            <a:pPr marL="109728" indent="0">
              <a:spcBef>
                <a:spcPts val="0"/>
              </a:spcBef>
              <a:buNone/>
            </a:pPr>
            <a:endParaRPr lang="zh-CN" altLang="en-US" sz="2000" dirty="0">
              <a:cs typeface="Arial Unicode MS" panose="020B0604020202020204" pitchFamily="34"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355750412"/>
              </p:ext>
            </p:extLst>
          </p:nvPr>
        </p:nvGraphicFramePr>
        <p:xfrm>
          <a:off x="6875463" y="1276350"/>
          <a:ext cx="2125662" cy="3175000"/>
        </p:xfrm>
        <a:graphic>
          <a:graphicData uri="http://schemas.openxmlformats.org/presentationml/2006/ole">
            <mc:AlternateContent xmlns:mc="http://schemas.openxmlformats.org/markup-compatibility/2006">
              <mc:Choice xmlns:v="urn:schemas-microsoft-com:vml" Requires="v">
                <p:oleObj name="VISIO" r:id="rId2" imgW="2631440" imgH="3662680" progId="Visio.Drawing.11">
                  <p:embed/>
                </p:oleObj>
              </mc:Choice>
              <mc:Fallback>
                <p:oleObj name="VISIO" r:id="rId2" imgW="2631440" imgH="3662680" progId="Visio.Drawing.11">
                  <p:embed/>
                  <p:pic>
                    <p:nvPicPr>
                      <p:cNvPr id="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5463" y="1276350"/>
                        <a:ext cx="2125662" cy="3175000"/>
                      </a:xfrm>
                      <a:prstGeom prst="rect">
                        <a:avLst/>
                      </a:prstGeom>
                      <a:noFill/>
                      <a:ln>
                        <a:solidFill>
                          <a:srgbClr val="00B050"/>
                        </a:solidFill>
                      </a:ln>
                    </p:spPr>
                  </p:pic>
                </p:oleObj>
              </mc:Fallback>
            </mc:AlternateContent>
          </a:graphicData>
        </a:graphic>
      </p:graphicFrame>
    </p:spTree>
    <p:extLst>
      <p:ext uri="{BB962C8B-B14F-4D97-AF65-F5344CB8AC3E}">
        <p14:creationId xmlns:p14="http://schemas.microsoft.com/office/powerpoint/2010/main" val="376735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5">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27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427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27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427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27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27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427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42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uiExpand="1" build="p"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323851" y="195263"/>
            <a:ext cx="6048349" cy="514350"/>
          </a:xfrm>
        </p:spPr>
        <p:txBody>
          <a:bodyPr>
            <a:noAutofit/>
          </a:bodyPr>
          <a:lstStyle/>
          <a:p>
            <a:pPr eaLnBrk="1" hangingPunct="1"/>
            <a:r>
              <a:rPr lang="zh-CN" altLang="en-US" sz="2400" b="1" dirty="0">
                <a:solidFill>
                  <a:srgbClr val="000000"/>
                </a:solidFill>
                <a:latin typeface="宋体" panose="02010600030101010101" pitchFamily="2" charset="-122"/>
                <a:ea typeface="宋体" panose="02010600030101010101" pitchFamily="2" charset="-122"/>
              </a:rPr>
              <a:t>例：</a:t>
            </a:r>
            <a:r>
              <a:rPr lang="zh-CN" altLang="en-US" sz="2400" dirty="0">
                <a:solidFill>
                  <a:srgbClr val="000000"/>
                </a:solidFill>
                <a:latin typeface="宋体" pitchFamily="2" charset="-122"/>
                <a:ea typeface="宋体" panose="02010600030101010101" pitchFamily="2" charset="-122"/>
              </a:rPr>
              <a:t>求这个流图中所有结点的必经结点集</a:t>
            </a:r>
            <a:endParaRPr lang="zh-CN" altLang="en-US" sz="2400" b="1" dirty="0">
              <a:solidFill>
                <a:srgbClr val="000000"/>
              </a:solidFill>
              <a:latin typeface="宋体" pitchFamily="2" charset="-122"/>
              <a:ea typeface="宋体" panose="02010600030101010101" pitchFamily="2" charset="-122"/>
            </a:endParaRPr>
          </a:p>
        </p:txBody>
      </p:sp>
      <p:sp>
        <p:nvSpPr>
          <p:cNvPr id="55299" name="Rectangle 3"/>
          <p:cNvSpPr>
            <a:spLocks noGrp="1" noChangeArrowheads="1"/>
          </p:cNvSpPr>
          <p:nvPr>
            <p:ph type="body" sz="half" idx="1"/>
          </p:nvPr>
        </p:nvSpPr>
        <p:spPr>
          <a:xfrm>
            <a:off x="228600" y="4743450"/>
            <a:ext cx="4572000" cy="228600"/>
          </a:xfrm>
        </p:spPr>
        <p:txBody>
          <a:bodyPr>
            <a:normAutofit fontScale="47500" lnSpcReduction="20000"/>
          </a:bodyPr>
          <a:lstStyle/>
          <a:p>
            <a:pPr eaLnBrk="1" hangingPunct="1">
              <a:lnSpc>
                <a:spcPct val="90000"/>
              </a:lnSpc>
              <a:buFontTx/>
              <a:buNone/>
            </a:pPr>
            <a:endParaRPr lang="zh-CN" altLang="zh-CN" sz="2400"/>
          </a:p>
        </p:txBody>
      </p:sp>
      <p:sp>
        <p:nvSpPr>
          <p:cNvPr id="55300" name="Rectangle 95"/>
          <p:cNvSpPr>
            <a:spLocks noGrp="1" noChangeArrowheads="1"/>
          </p:cNvSpPr>
          <p:nvPr>
            <p:ph type="body" sz="half" idx="2"/>
          </p:nvPr>
        </p:nvSpPr>
        <p:spPr>
          <a:xfrm>
            <a:off x="4648200" y="457200"/>
            <a:ext cx="4191000" cy="400050"/>
          </a:xfrm>
          <a:noFill/>
        </p:spPr>
        <p:txBody>
          <a:bodyPr/>
          <a:lstStyle/>
          <a:p>
            <a:pPr eaLnBrk="1" hangingPunct="1">
              <a:spcBef>
                <a:spcPct val="0"/>
              </a:spcBef>
              <a:buFontTx/>
              <a:buNone/>
            </a:pPr>
            <a:r>
              <a:rPr lang="en-US" altLang="zh-CN" sz="2000" b="1">
                <a:solidFill>
                  <a:srgbClr val="000000"/>
                </a:solidFill>
              </a:rPr>
              <a:t> </a:t>
            </a:r>
            <a:endParaRPr lang="en-US" altLang="zh-CN" sz="2400"/>
          </a:p>
        </p:txBody>
      </p:sp>
      <p:graphicFrame>
        <p:nvGraphicFramePr>
          <p:cNvPr id="55301" name="Object 155"/>
          <p:cNvGraphicFramePr>
            <a:graphicFrameLocks noChangeAspect="1"/>
          </p:cNvGraphicFramePr>
          <p:nvPr>
            <p:extLst>
              <p:ext uri="{D42A27DB-BD31-4B8C-83A1-F6EECF244321}">
                <p14:modId xmlns:p14="http://schemas.microsoft.com/office/powerpoint/2010/main" val="1704507406"/>
              </p:ext>
            </p:extLst>
          </p:nvPr>
        </p:nvGraphicFramePr>
        <p:xfrm>
          <a:off x="6660232" y="1101233"/>
          <a:ext cx="2339753" cy="3499098"/>
        </p:xfrm>
        <a:graphic>
          <a:graphicData uri="http://schemas.openxmlformats.org/presentationml/2006/ole">
            <mc:AlternateContent xmlns:mc="http://schemas.openxmlformats.org/markup-compatibility/2006">
              <mc:Choice xmlns:v="urn:schemas-microsoft-com:vml" Requires="v">
                <p:oleObj name="VISIO" r:id="rId3" imgW="2631440" imgH="3662680" progId="Visio.Drawing.11">
                  <p:embed/>
                </p:oleObj>
              </mc:Choice>
              <mc:Fallback>
                <p:oleObj name="VISIO" r:id="rId3" imgW="2631440" imgH="366268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0232" y="1101233"/>
                        <a:ext cx="2339753" cy="3499098"/>
                      </a:xfrm>
                      <a:prstGeom prst="rect">
                        <a:avLst/>
                      </a:prstGeom>
                      <a:noFill/>
                      <a:ln>
                        <a:solidFill>
                          <a:srgbClr val="00B050"/>
                        </a:solidFill>
                      </a:ln>
                      <a:effectLst/>
                    </p:spPr>
                  </p:pic>
                </p:oleObj>
              </mc:Fallback>
            </mc:AlternateContent>
          </a:graphicData>
        </a:graphic>
      </p:graphicFrame>
      <p:sp>
        <p:nvSpPr>
          <p:cNvPr id="55302" name="Text Box 156"/>
          <p:cNvSpPr txBox="1">
            <a:spLocks noChangeArrowheads="1"/>
          </p:cNvSpPr>
          <p:nvPr/>
        </p:nvSpPr>
        <p:spPr bwMode="auto">
          <a:xfrm>
            <a:off x="323850" y="897732"/>
            <a:ext cx="684053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1800" dirty="0"/>
              <a:t>D(1)={1}</a:t>
            </a:r>
          </a:p>
          <a:p>
            <a:pPr eaLnBrk="1" hangingPunct="1">
              <a:spcBef>
                <a:spcPct val="0"/>
              </a:spcBef>
              <a:buFontTx/>
              <a:buNone/>
            </a:pPr>
            <a:r>
              <a:rPr lang="en-US" altLang="zh-CN" sz="1800" dirty="0"/>
              <a:t>D(2)=D(2)={2}∪ (D(1) ∩ D(4))  = {1</a:t>
            </a:r>
            <a:r>
              <a:rPr lang="zh-CN" altLang="en-US" sz="1800" dirty="0"/>
              <a:t>，</a:t>
            </a:r>
            <a:r>
              <a:rPr lang="en-US" altLang="zh-CN" sz="1800" dirty="0"/>
              <a:t>2}</a:t>
            </a:r>
          </a:p>
          <a:p>
            <a:pPr eaLnBrk="1" hangingPunct="1">
              <a:spcBef>
                <a:spcPct val="0"/>
              </a:spcBef>
              <a:buFontTx/>
              <a:buNone/>
            </a:pPr>
            <a:r>
              <a:rPr lang="en-US" altLang="zh-CN" sz="1800" dirty="0"/>
              <a:t>D(3)={3}∪D(2) = {1</a:t>
            </a:r>
            <a:r>
              <a:rPr lang="zh-CN" altLang="en-US" sz="1800" dirty="0"/>
              <a:t>，</a:t>
            </a:r>
            <a:r>
              <a:rPr lang="en-US" altLang="zh-CN" sz="1800" dirty="0"/>
              <a:t>2</a:t>
            </a:r>
            <a:r>
              <a:rPr lang="zh-CN" altLang="en-US" sz="1800" dirty="0"/>
              <a:t>，</a:t>
            </a:r>
            <a:r>
              <a:rPr lang="en-US" altLang="zh-CN" sz="1800" dirty="0"/>
              <a:t>3}</a:t>
            </a:r>
            <a:r>
              <a:rPr lang="zh-CN" altLang="en-US" sz="1800" dirty="0"/>
              <a:t>。</a:t>
            </a:r>
          </a:p>
          <a:p>
            <a:pPr eaLnBrk="1" hangingPunct="1">
              <a:spcBef>
                <a:spcPct val="0"/>
              </a:spcBef>
              <a:buFontTx/>
              <a:buNone/>
            </a:pPr>
            <a:r>
              <a:rPr lang="en-US" altLang="zh-CN" sz="1800" dirty="0"/>
              <a:t>D(4)={4}∪(D(3)∩D(2)∩D(7))</a:t>
            </a:r>
            <a:endParaRPr lang="zh-CN" altLang="zh-CN" sz="1800" dirty="0"/>
          </a:p>
          <a:p>
            <a:pPr eaLnBrk="1" hangingPunct="1">
              <a:spcBef>
                <a:spcPct val="0"/>
              </a:spcBef>
              <a:buFontTx/>
              <a:buNone/>
            </a:pPr>
            <a:r>
              <a:rPr lang="en-US" altLang="zh-CN" sz="1800" dirty="0"/>
              <a:t>       ={4}∪({1</a:t>
            </a:r>
            <a:r>
              <a:rPr lang="zh-CN" altLang="zh-CN" sz="1800" dirty="0"/>
              <a:t>，</a:t>
            </a:r>
            <a:r>
              <a:rPr lang="en-US" altLang="zh-CN" sz="1800" dirty="0"/>
              <a:t>2</a:t>
            </a:r>
            <a:r>
              <a:rPr lang="zh-CN" altLang="zh-CN" sz="1800" dirty="0"/>
              <a:t>，</a:t>
            </a:r>
            <a:r>
              <a:rPr lang="en-US" altLang="zh-CN" sz="1800" dirty="0"/>
              <a:t>3}∩{1</a:t>
            </a:r>
            <a:r>
              <a:rPr lang="zh-CN" altLang="zh-CN" sz="1800" dirty="0"/>
              <a:t>，</a:t>
            </a:r>
            <a:r>
              <a:rPr lang="en-US" altLang="zh-CN" sz="1800" dirty="0"/>
              <a:t>2}∩{1</a:t>
            </a:r>
            <a:r>
              <a:rPr lang="zh-CN" altLang="zh-CN" sz="1800" dirty="0"/>
              <a:t>，</a:t>
            </a:r>
            <a:r>
              <a:rPr lang="en-US" altLang="zh-CN" sz="1800" dirty="0"/>
              <a:t>2</a:t>
            </a:r>
            <a:r>
              <a:rPr lang="zh-CN" altLang="zh-CN" sz="1800" dirty="0"/>
              <a:t>，</a:t>
            </a:r>
            <a:r>
              <a:rPr lang="en-US" altLang="zh-CN" sz="1800" dirty="0"/>
              <a:t>4</a:t>
            </a:r>
            <a:r>
              <a:rPr lang="zh-CN" altLang="zh-CN" sz="1800" dirty="0"/>
              <a:t>，</a:t>
            </a:r>
            <a:r>
              <a:rPr lang="en-US" altLang="zh-CN" sz="1800" dirty="0"/>
              <a:t>7})</a:t>
            </a:r>
          </a:p>
          <a:p>
            <a:pPr eaLnBrk="1" hangingPunct="1">
              <a:spcBef>
                <a:spcPct val="0"/>
              </a:spcBef>
              <a:buFontTx/>
              <a:buNone/>
            </a:pPr>
            <a:r>
              <a:rPr lang="en-US" altLang="zh-CN" sz="1800" dirty="0"/>
              <a:t>       = {1</a:t>
            </a:r>
            <a:r>
              <a:rPr lang="zh-CN" altLang="en-US" sz="1800" dirty="0"/>
              <a:t>，</a:t>
            </a:r>
            <a:r>
              <a:rPr lang="en-US" altLang="zh-CN" sz="1800" dirty="0"/>
              <a:t>2</a:t>
            </a:r>
            <a:r>
              <a:rPr lang="zh-CN" altLang="en-US" sz="1800" dirty="0"/>
              <a:t>，</a:t>
            </a:r>
            <a:r>
              <a:rPr lang="en-US" altLang="zh-CN" sz="1800" dirty="0"/>
              <a:t>4}</a:t>
            </a:r>
          </a:p>
          <a:p>
            <a:pPr eaLnBrk="1" hangingPunct="1">
              <a:spcBef>
                <a:spcPct val="0"/>
              </a:spcBef>
              <a:buFontTx/>
              <a:buNone/>
            </a:pPr>
            <a:r>
              <a:rPr lang="en-US" altLang="zh-CN" sz="1800" dirty="0"/>
              <a:t>D(5)={5}∪D(4)={5}∪{1</a:t>
            </a:r>
            <a:r>
              <a:rPr lang="zh-CN" altLang="zh-CN" sz="1800" dirty="0"/>
              <a:t>，</a:t>
            </a:r>
            <a:r>
              <a:rPr lang="en-US" altLang="zh-CN" sz="1800" dirty="0"/>
              <a:t>2</a:t>
            </a:r>
            <a:r>
              <a:rPr lang="zh-CN" altLang="zh-CN" sz="1800" dirty="0"/>
              <a:t>，</a:t>
            </a:r>
            <a:r>
              <a:rPr lang="en-US" altLang="zh-CN" sz="1800" dirty="0"/>
              <a:t>4}</a:t>
            </a:r>
          </a:p>
          <a:p>
            <a:pPr eaLnBrk="1" hangingPunct="1">
              <a:spcBef>
                <a:spcPct val="0"/>
              </a:spcBef>
              <a:buFontTx/>
              <a:buNone/>
            </a:pPr>
            <a:r>
              <a:rPr lang="en-US" altLang="zh-CN" sz="1800" dirty="0"/>
              <a:t>       = {1</a:t>
            </a:r>
            <a:r>
              <a:rPr lang="zh-CN" altLang="en-US" sz="1800" dirty="0"/>
              <a:t>，</a:t>
            </a:r>
            <a:r>
              <a:rPr lang="en-US" altLang="zh-CN" sz="1800" dirty="0"/>
              <a:t>2</a:t>
            </a:r>
            <a:r>
              <a:rPr lang="zh-CN" altLang="en-US" sz="1800" dirty="0"/>
              <a:t>，</a:t>
            </a:r>
            <a:r>
              <a:rPr lang="en-US" altLang="zh-CN" sz="1800" dirty="0"/>
              <a:t>4</a:t>
            </a:r>
            <a:r>
              <a:rPr lang="zh-CN" altLang="en-US" sz="1800" dirty="0"/>
              <a:t>，</a:t>
            </a:r>
            <a:r>
              <a:rPr lang="en-US" altLang="zh-CN" sz="1800" dirty="0"/>
              <a:t>5} </a:t>
            </a:r>
          </a:p>
          <a:p>
            <a:pPr eaLnBrk="1" hangingPunct="1">
              <a:spcBef>
                <a:spcPct val="0"/>
              </a:spcBef>
              <a:buFontTx/>
              <a:buNone/>
            </a:pPr>
            <a:r>
              <a:rPr lang="en-US" altLang="zh-CN" sz="1800" dirty="0"/>
              <a:t>D(6)={6}∪D(4)={6}∪{1</a:t>
            </a:r>
            <a:r>
              <a:rPr lang="zh-CN" altLang="zh-CN" sz="1800" dirty="0"/>
              <a:t>，</a:t>
            </a:r>
            <a:r>
              <a:rPr lang="en-US" altLang="zh-CN" sz="1800" dirty="0"/>
              <a:t>2</a:t>
            </a:r>
            <a:r>
              <a:rPr lang="zh-CN" altLang="zh-CN" sz="1800" dirty="0"/>
              <a:t>，</a:t>
            </a:r>
            <a:r>
              <a:rPr lang="en-US" altLang="zh-CN" sz="1800" dirty="0"/>
              <a:t>4}</a:t>
            </a:r>
          </a:p>
          <a:p>
            <a:pPr eaLnBrk="1" hangingPunct="1">
              <a:spcBef>
                <a:spcPct val="0"/>
              </a:spcBef>
              <a:buFontTx/>
              <a:buNone/>
            </a:pPr>
            <a:r>
              <a:rPr lang="en-US" altLang="zh-CN" sz="1800" dirty="0"/>
              <a:t>        = {1</a:t>
            </a:r>
            <a:r>
              <a:rPr lang="zh-CN" altLang="en-US" sz="1800" dirty="0"/>
              <a:t>，</a:t>
            </a:r>
            <a:r>
              <a:rPr lang="en-US" altLang="zh-CN" sz="1800" dirty="0"/>
              <a:t>2</a:t>
            </a:r>
            <a:r>
              <a:rPr lang="zh-CN" altLang="en-US" sz="1800" dirty="0"/>
              <a:t>，</a:t>
            </a:r>
            <a:r>
              <a:rPr lang="en-US" altLang="zh-CN" sz="1800" dirty="0"/>
              <a:t>4</a:t>
            </a:r>
            <a:r>
              <a:rPr lang="zh-CN" altLang="en-US" sz="1800" dirty="0"/>
              <a:t>，</a:t>
            </a:r>
            <a:r>
              <a:rPr lang="en-US" altLang="zh-CN" sz="1800" dirty="0"/>
              <a:t>6} </a:t>
            </a:r>
          </a:p>
          <a:p>
            <a:pPr eaLnBrk="1" hangingPunct="1">
              <a:spcBef>
                <a:spcPct val="0"/>
              </a:spcBef>
              <a:buFontTx/>
              <a:buNone/>
            </a:pPr>
            <a:r>
              <a:rPr lang="en-US" altLang="zh-CN" sz="1800" dirty="0"/>
              <a:t>D(7)={7}∪(D(5)∩D(6)) </a:t>
            </a:r>
          </a:p>
          <a:p>
            <a:pPr eaLnBrk="1" hangingPunct="1">
              <a:spcBef>
                <a:spcPct val="0"/>
              </a:spcBef>
              <a:buFontTx/>
              <a:buNone/>
            </a:pPr>
            <a:r>
              <a:rPr lang="en-US" altLang="zh-CN" sz="1800" dirty="0"/>
              <a:t>        ={7}∪({1</a:t>
            </a:r>
            <a:r>
              <a:rPr lang="zh-CN" altLang="zh-CN" sz="1800" dirty="0"/>
              <a:t>，</a:t>
            </a:r>
            <a:r>
              <a:rPr lang="en-US" altLang="zh-CN" sz="1800" dirty="0"/>
              <a:t>2</a:t>
            </a:r>
            <a:r>
              <a:rPr lang="zh-CN" altLang="zh-CN" sz="1800" dirty="0"/>
              <a:t>，</a:t>
            </a:r>
            <a:r>
              <a:rPr lang="en-US" altLang="zh-CN" sz="1800" dirty="0"/>
              <a:t>4</a:t>
            </a:r>
            <a:r>
              <a:rPr lang="zh-CN" altLang="zh-CN" sz="1800" dirty="0"/>
              <a:t>，</a:t>
            </a:r>
            <a:r>
              <a:rPr lang="en-US" altLang="zh-CN" sz="1800" dirty="0"/>
              <a:t>5}∩{1</a:t>
            </a:r>
            <a:r>
              <a:rPr lang="zh-CN" altLang="zh-CN" sz="1800" dirty="0"/>
              <a:t>，</a:t>
            </a:r>
            <a:r>
              <a:rPr lang="en-US" altLang="zh-CN" sz="1800" dirty="0"/>
              <a:t>2</a:t>
            </a:r>
            <a:r>
              <a:rPr lang="zh-CN" altLang="zh-CN" sz="1800" dirty="0"/>
              <a:t>，</a:t>
            </a:r>
            <a:r>
              <a:rPr lang="en-US" altLang="zh-CN" sz="1800" dirty="0"/>
              <a:t>4</a:t>
            </a:r>
            <a:r>
              <a:rPr lang="zh-CN" altLang="zh-CN" sz="1800" dirty="0"/>
              <a:t>，</a:t>
            </a:r>
            <a:r>
              <a:rPr lang="en-US" altLang="zh-CN" sz="1800" dirty="0"/>
              <a:t>6}</a:t>
            </a:r>
            <a:endParaRPr lang="zh-CN" altLang="zh-CN" sz="1800" dirty="0"/>
          </a:p>
          <a:p>
            <a:pPr eaLnBrk="1" hangingPunct="1">
              <a:spcBef>
                <a:spcPct val="0"/>
              </a:spcBef>
              <a:buFontTx/>
              <a:buNone/>
            </a:pPr>
            <a:r>
              <a:rPr lang="en-US" altLang="zh-CN" sz="1800" dirty="0"/>
              <a:t>        = {1</a:t>
            </a:r>
            <a:r>
              <a:rPr lang="zh-CN" altLang="en-US" sz="1800" dirty="0"/>
              <a:t>，</a:t>
            </a:r>
            <a:r>
              <a:rPr lang="en-US" altLang="zh-CN" sz="1800" dirty="0"/>
              <a:t>2</a:t>
            </a:r>
            <a:r>
              <a:rPr lang="zh-CN" altLang="en-US" sz="1800" dirty="0"/>
              <a:t>，</a:t>
            </a:r>
            <a:r>
              <a:rPr lang="en-US" altLang="zh-CN" sz="1800" dirty="0"/>
              <a:t>4</a:t>
            </a:r>
            <a:r>
              <a:rPr lang="zh-CN" altLang="en-US" sz="1800" dirty="0"/>
              <a:t>，</a:t>
            </a:r>
            <a:r>
              <a:rPr lang="en-US" altLang="zh-CN" sz="1800" dirty="0"/>
              <a:t>7}</a:t>
            </a:r>
          </a:p>
        </p:txBody>
      </p:sp>
    </p:spTree>
    <p:extLst>
      <p:ext uri="{BB962C8B-B14F-4D97-AF65-F5344CB8AC3E}">
        <p14:creationId xmlns:p14="http://schemas.microsoft.com/office/powerpoint/2010/main" val="9405935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xfrm>
            <a:off x="-108520" y="0"/>
            <a:ext cx="4694673" cy="627534"/>
          </a:xfrm>
        </p:spPr>
        <p:txBody>
          <a:bodyPr>
            <a:normAutofit fontScale="90000"/>
          </a:bodyPr>
          <a:lstStyle/>
          <a:p>
            <a:r>
              <a:rPr lang="zh-CN" altLang="en-US" sz="2800" dirty="0">
                <a:latin typeface="宋体" panose="02010600030101010101" pitchFamily="2" charset="-122"/>
                <a:ea typeface="宋体" panose="02010600030101010101" pitchFamily="2" charset="-122"/>
              </a:rPr>
              <a:t>例：</a:t>
            </a:r>
            <a:r>
              <a:rPr lang="zh-CN" altLang="zh-CN" sz="2800" dirty="0">
                <a:latin typeface="宋体" panose="02010600030101010101" pitchFamily="2" charset="-122"/>
                <a:ea typeface="宋体" panose="02010600030101010101" pitchFamily="2" charset="-122"/>
              </a:rPr>
              <a:t>计算</a:t>
            </a:r>
            <a:r>
              <a:rPr lang="zh-CN" altLang="en-US" sz="2800" dirty="0">
                <a:latin typeface="宋体" panose="02010600030101010101" pitchFamily="2" charset="-122"/>
                <a:ea typeface="宋体" panose="02010600030101010101" pitchFamily="2" charset="-122"/>
              </a:rPr>
              <a:t>图中结点的必经结点集</a:t>
            </a:r>
          </a:p>
        </p:txBody>
      </p:sp>
      <p:graphicFrame>
        <p:nvGraphicFramePr>
          <p:cNvPr id="2" name="对象 1"/>
          <p:cNvGraphicFramePr>
            <a:graphicFrameLocks noChangeAspect="1"/>
          </p:cNvGraphicFramePr>
          <p:nvPr>
            <p:extLst>
              <p:ext uri="{D42A27DB-BD31-4B8C-83A1-F6EECF244321}">
                <p14:modId xmlns:p14="http://schemas.microsoft.com/office/powerpoint/2010/main" val="3069492249"/>
              </p:ext>
            </p:extLst>
          </p:nvPr>
        </p:nvGraphicFramePr>
        <p:xfrm>
          <a:off x="6876256" y="-35954"/>
          <a:ext cx="2267744" cy="3917641"/>
        </p:xfrm>
        <a:graphic>
          <a:graphicData uri="http://schemas.openxmlformats.org/presentationml/2006/ole">
            <mc:AlternateContent xmlns:mc="http://schemas.openxmlformats.org/markup-compatibility/2006">
              <mc:Choice xmlns:v="urn:schemas-microsoft-com:vml" Requires="v">
                <p:oleObj name="VISIO" r:id="rId2" imgW="2631440" imgH="3662680" progId="Visio.Drawing.11">
                  <p:embed/>
                </p:oleObj>
              </mc:Choice>
              <mc:Fallback>
                <p:oleObj name="VISIO" r:id="rId2" imgW="2631440" imgH="3662680" progId="Visio.Drawing.11">
                  <p:embed/>
                  <p:pic>
                    <p:nvPicPr>
                      <p:cNvPr id="0" name="Object 1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6256" y="-35954"/>
                        <a:ext cx="2267744" cy="3917641"/>
                      </a:xfrm>
                      <a:prstGeom prst="rect">
                        <a:avLst/>
                      </a:prstGeom>
                      <a:noFill/>
                      <a:ln>
                        <a:noFill/>
                      </a:ln>
                    </p:spPr>
                  </p:pic>
                </p:oleObj>
              </mc:Fallback>
            </mc:AlternateContent>
          </a:graphicData>
        </a:graphic>
      </p:graphicFrame>
      <p:graphicFrame>
        <p:nvGraphicFramePr>
          <p:cNvPr id="3" name="表格 2"/>
          <p:cNvGraphicFramePr>
            <a:graphicFrameLocks noGrp="1"/>
          </p:cNvGraphicFramePr>
          <p:nvPr>
            <p:extLst>
              <p:ext uri="{D42A27DB-BD31-4B8C-83A1-F6EECF244321}">
                <p14:modId xmlns:p14="http://schemas.microsoft.com/office/powerpoint/2010/main" val="1351340731"/>
              </p:ext>
            </p:extLst>
          </p:nvPr>
        </p:nvGraphicFramePr>
        <p:xfrm>
          <a:off x="179512" y="1018801"/>
          <a:ext cx="6696745" cy="3235960"/>
        </p:xfrm>
        <a:graphic>
          <a:graphicData uri="http://schemas.openxmlformats.org/drawingml/2006/table">
            <a:tbl>
              <a:tblPr firstRow="1" bandRow="1">
                <a:tableStyleId>{5C22544A-7EE6-4342-B048-85BDC9FD1C3A}</a:tableStyleId>
              </a:tblPr>
              <a:tblGrid>
                <a:gridCol w="648072">
                  <a:extLst>
                    <a:ext uri="{9D8B030D-6E8A-4147-A177-3AD203B41FA5}">
                      <a16:colId xmlns:a16="http://schemas.microsoft.com/office/drawing/2014/main" val="20000"/>
                    </a:ext>
                  </a:extLst>
                </a:gridCol>
                <a:gridCol w="1200301">
                  <a:extLst>
                    <a:ext uri="{9D8B030D-6E8A-4147-A177-3AD203B41FA5}">
                      <a16:colId xmlns:a16="http://schemas.microsoft.com/office/drawing/2014/main" val="20001"/>
                    </a:ext>
                  </a:extLst>
                </a:gridCol>
                <a:gridCol w="1824035">
                  <a:extLst>
                    <a:ext uri="{9D8B030D-6E8A-4147-A177-3AD203B41FA5}">
                      <a16:colId xmlns:a16="http://schemas.microsoft.com/office/drawing/2014/main" val="20002"/>
                    </a:ext>
                  </a:extLst>
                </a:gridCol>
                <a:gridCol w="1656184">
                  <a:extLst>
                    <a:ext uri="{9D8B030D-6E8A-4147-A177-3AD203B41FA5}">
                      <a16:colId xmlns:a16="http://schemas.microsoft.com/office/drawing/2014/main" val="20003"/>
                    </a:ext>
                  </a:extLst>
                </a:gridCol>
                <a:gridCol w="1368153">
                  <a:extLst>
                    <a:ext uri="{9D8B030D-6E8A-4147-A177-3AD203B41FA5}">
                      <a16:colId xmlns:a16="http://schemas.microsoft.com/office/drawing/2014/main" val="20004"/>
                    </a:ext>
                  </a:extLst>
                </a:gridCol>
              </a:tblGrid>
              <a:tr h="370840">
                <a:tc>
                  <a:txBody>
                    <a:bodyPr/>
                    <a:lstStyle/>
                    <a:p>
                      <a:pPr algn="ctr"/>
                      <a:r>
                        <a:rPr lang="zh-CN" altLang="en-US" b="0" dirty="0">
                          <a:solidFill>
                            <a:schemeClr val="tx1"/>
                          </a:solidFill>
                          <a:latin typeface="宋体" panose="02010600030101010101" pitchFamily="2" charset="-122"/>
                          <a:ea typeface="宋体" panose="02010600030101010101" pitchFamily="2" charset="-122"/>
                        </a:rPr>
                        <a:t>结点</a:t>
                      </a:r>
                      <a:r>
                        <a:rPr lang="en-US" altLang="zh-CN" b="0" dirty="0">
                          <a:solidFill>
                            <a:schemeClr val="tx1"/>
                          </a:solidFill>
                          <a:latin typeface="宋体" panose="02010600030101010101" pitchFamily="2" charset="-122"/>
                          <a:ea typeface="宋体" panose="02010600030101010101" pitchFamily="2" charset="-122"/>
                        </a:rPr>
                        <a:t>m</a:t>
                      </a:r>
                      <a:endParaRPr lang="zh-CN" altLang="en-US" b="0" dirty="0">
                        <a:solidFill>
                          <a:schemeClr val="tx1"/>
                        </a:solidFill>
                        <a:latin typeface="宋体" panose="02010600030101010101" pitchFamily="2" charset="-122"/>
                        <a:ea typeface="宋体" panose="02010600030101010101"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b="0" dirty="0">
                          <a:solidFill>
                            <a:schemeClr val="tx1"/>
                          </a:solidFill>
                          <a:latin typeface="宋体" panose="02010600030101010101" pitchFamily="2" charset="-122"/>
                          <a:ea typeface="宋体" panose="02010600030101010101" pitchFamily="2" charset="-122"/>
                        </a:rPr>
                        <a:t>前驱结点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zh-CN" altLang="zh-CN" sz="1800" b="0" kern="1200" dirty="0">
                          <a:solidFill>
                            <a:schemeClr val="tx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初始</a:t>
                      </a:r>
                      <a:r>
                        <a:rPr kumimoji="0" lang="zh-CN" altLang="zh-CN" sz="1800" b="0" kern="1200" dirty="0">
                          <a:solidFill>
                            <a:schemeClr val="tx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化</a:t>
                      </a:r>
                      <a:endParaRPr lang="zh-CN" altLang="en-US" b="0" dirty="0">
                        <a:solidFill>
                          <a:schemeClr val="tx1"/>
                        </a:solidFill>
                        <a:latin typeface="宋体" panose="02010600030101010101" pitchFamily="2" charset="-122"/>
                        <a:ea typeface="宋体" panose="02010600030101010101"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b="0" dirty="0">
                          <a:solidFill>
                            <a:schemeClr val="tx1"/>
                          </a:solidFill>
                          <a:latin typeface="宋体" panose="02010600030101010101" pitchFamily="2" charset="-122"/>
                          <a:ea typeface="宋体" panose="02010600030101010101" pitchFamily="2" charset="-122"/>
                        </a:rPr>
                        <a:t>第一次迭代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b="0" dirty="0">
                          <a:solidFill>
                            <a:schemeClr val="tx1"/>
                          </a:solidFill>
                          <a:latin typeface="宋体" panose="02010600030101010101" pitchFamily="2" charset="-122"/>
                          <a:ea typeface="宋体" panose="02010600030101010101" pitchFamily="2" charset="-122"/>
                        </a:rPr>
                        <a:t>第二次迭代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CN" dirty="0">
                          <a:solidFill>
                            <a:schemeClr val="tx1"/>
                          </a:solidFill>
                          <a:latin typeface="宋体" panose="02010600030101010101" pitchFamily="2" charset="-122"/>
                          <a:ea typeface="宋体" panose="02010600030101010101" pitchFamily="2" charset="-122"/>
                        </a:rPr>
                        <a:t>1</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CN" dirty="0">
                          <a:solidFill>
                            <a:schemeClr val="tx1"/>
                          </a:solidFill>
                          <a:latin typeface="宋体" panose="02010600030101010101" pitchFamily="2" charset="-122"/>
                          <a:ea typeface="宋体" panose="02010600030101010101" pitchFamily="2" charset="-122"/>
                        </a:rPr>
                        <a:t>2</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CN" dirty="0">
                          <a:solidFill>
                            <a:schemeClr val="tx1"/>
                          </a:solidFill>
                          <a:latin typeface="宋体" panose="02010600030101010101" pitchFamily="2" charset="-122"/>
                          <a:ea typeface="宋体" panose="02010600030101010101" pitchFamily="2" charset="-122"/>
                        </a:rPr>
                        <a:t>3</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altLang="zh-CN" dirty="0">
                          <a:solidFill>
                            <a:schemeClr val="tx1"/>
                          </a:solidFill>
                          <a:latin typeface="宋体" panose="02010600030101010101" pitchFamily="2" charset="-122"/>
                          <a:ea typeface="宋体" panose="02010600030101010101" pitchFamily="2" charset="-122"/>
                        </a:rPr>
                        <a:t>4</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pPr algn="ctr"/>
                      <a:r>
                        <a:rPr lang="en-US" altLang="zh-CN" dirty="0">
                          <a:solidFill>
                            <a:schemeClr val="tx1"/>
                          </a:solidFill>
                          <a:latin typeface="宋体" panose="02010600030101010101" pitchFamily="2" charset="-122"/>
                          <a:ea typeface="宋体" panose="02010600030101010101" pitchFamily="2" charset="-122"/>
                        </a:rPr>
                        <a:t>5</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en-US" altLang="zh-CN" dirty="0">
                          <a:solidFill>
                            <a:schemeClr val="tx1"/>
                          </a:solidFill>
                          <a:latin typeface="宋体" panose="02010600030101010101" pitchFamily="2" charset="-122"/>
                          <a:ea typeface="宋体" panose="02010600030101010101" pitchFamily="2" charset="-122"/>
                        </a:rPr>
                        <a:t>6</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pPr algn="ctr"/>
                      <a:r>
                        <a:rPr lang="en-US" altLang="zh-CN" dirty="0">
                          <a:solidFill>
                            <a:schemeClr val="tx1"/>
                          </a:solidFill>
                          <a:latin typeface="宋体" panose="02010600030101010101" pitchFamily="2" charset="-122"/>
                          <a:ea typeface="宋体" panose="02010600030101010101" pitchFamily="2" charset="-122"/>
                        </a:rPr>
                        <a:t>7</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4168355969"/>
              </p:ext>
            </p:extLst>
          </p:nvPr>
        </p:nvGraphicFramePr>
        <p:xfrm>
          <a:off x="827584" y="1292441"/>
          <a:ext cx="1296144" cy="2966720"/>
        </p:xfrm>
        <a:graphic>
          <a:graphicData uri="http://schemas.openxmlformats.org/drawingml/2006/table">
            <a:tbl>
              <a:tblPr firstRow="1" bandRow="1">
                <a:tableStyleId>{5C22544A-7EE6-4342-B048-85BDC9FD1C3A}</a:tableStyleId>
              </a:tblPr>
              <a:tblGrid>
                <a:gridCol w="1296144">
                  <a:extLst>
                    <a:ext uri="{9D8B030D-6E8A-4147-A177-3AD203B41FA5}">
                      <a16:colId xmlns:a16="http://schemas.microsoft.com/office/drawing/2014/main" val="20000"/>
                    </a:ext>
                  </a:extLst>
                </a:gridCol>
              </a:tblGrid>
              <a:tr h="370840">
                <a:tc>
                  <a:txBody>
                    <a:bodyPr/>
                    <a:lstStyle/>
                    <a:p>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800" kern="1200" dirty="0">
                          <a:solidFill>
                            <a:schemeClr val="dk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a:t>
                      </a:r>
                      <a:r>
                        <a:rPr kumimoji="1" lang="en-US" altLang="zh-CN" sz="1800" kern="1200" dirty="0">
                          <a:solidFill>
                            <a:schemeClr val="dk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1</a:t>
                      </a:r>
                      <a:r>
                        <a:rPr kumimoji="1" lang="zh-CN" altLang="zh-CN" sz="1800" kern="1200" dirty="0">
                          <a:solidFill>
                            <a:schemeClr val="dk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a:t>
                      </a:r>
                      <a:r>
                        <a:rPr kumimoji="1" lang="en-US" altLang="zh-CN" sz="1800" kern="1200" dirty="0">
                          <a:solidFill>
                            <a:schemeClr val="dk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4</a:t>
                      </a:r>
                      <a:r>
                        <a:rPr kumimoji="0" lang="en-US" altLang="zh-CN" sz="1800" kern="1200" dirty="0">
                          <a:solidFill>
                            <a:schemeClr val="dk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800" kern="1200" dirty="0">
                          <a:solidFill>
                            <a:schemeClr val="dk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 2 }</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800" kern="1200" dirty="0">
                          <a:solidFill>
                            <a:schemeClr val="dk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{2</a:t>
                      </a:r>
                      <a:r>
                        <a:rPr kumimoji="1" lang="zh-CN" altLang="zh-CN" sz="1800" kern="1200" dirty="0">
                          <a:solidFill>
                            <a:schemeClr val="dk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a:t>
                      </a:r>
                      <a:r>
                        <a:rPr kumimoji="0" lang="en-US" altLang="zh-CN" sz="1800" kern="1200" dirty="0">
                          <a:solidFill>
                            <a:schemeClr val="dk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3</a:t>
                      </a:r>
                      <a:r>
                        <a:rPr kumimoji="0" lang="zh-CN" altLang="zh-CN" sz="1800" kern="1200" dirty="0">
                          <a:solidFill>
                            <a:schemeClr val="dk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a:t>
                      </a:r>
                      <a:r>
                        <a:rPr kumimoji="0" lang="en-US" altLang="zh-CN" sz="1800" kern="1200" dirty="0">
                          <a:solidFill>
                            <a:schemeClr val="dk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7}</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1800" kern="1200" dirty="0">
                          <a:solidFill>
                            <a:schemeClr val="dk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 4 }</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p>
                      <a:r>
                        <a:rPr kumimoji="0" lang="en-US" altLang="zh-CN" sz="1800" kern="1200" dirty="0">
                          <a:solidFill>
                            <a:schemeClr val="dk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 4, 6 }</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p>
                      <a:r>
                        <a:rPr kumimoji="0" lang="en-US" altLang="zh-CN" sz="1800" kern="1200" dirty="0">
                          <a:solidFill>
                            <a:schemeClr val="dk1"/>
                          </a:solidFill>
                          <a:effectLst>
                            <a:outerShdw blurRad="50800" dist="38100" dir="2700000" algn="tl">
                              <a:srgbClr val="000000">
                                <a:alpha val="40000"/>
                              </a:srgbClr>
                            </a:outerShdw>
                          </a:effectLst>
                          <a:latin typeface="宋体" panose="02010600030101010101" pitchFamily="2" charset="-122"/>
                          <a:ea typeface="宋体" panose="02010600030101010101" pitchFamily="2" charset="-122"/>
                          <a:cs typeface="+mn-cs"/>
                        </a:rPr>
                        <a:t>{ 5, 6 }</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1979422093"/>
              </p:ext>
            </p:extLst>
          </p:nvPr>
        </p:nvGraphicFramePr>
        <p:xfrm>
          <a:off x="1979712" y="1292441"/>
          <a:ext cx="1872208" cy="2966720"/>
        </p:xfrm>
        <a:graphic>
          <a:graphicData uri="http://schemas.openxmlformats.org/drawingml/2006/table">
            <a:tbl>
              <a:tblPr firstRow="1" bandRow="1">
                <a:tableStyleId>{5C22544A-7EE6-4342-B048-85BDC9FD1C3A}</a:tableStyleId>
              </a:tblPr>
              <a:tblGrid>
                <a:gridCol w="1872208">
                  <a:extLst>
                    <a:ext uri="{9D8B030D-6E8A-4147-A177-3AD203B41FA5}">
                      <a16:colId xmlns:a16="http://schemas.microsoft.com/office/drawing/2014/main" val="20000"/>
                    </a:ext>
                  </a:extLst>
                </a:gridCol>
              </a:tblGrid>
              <a:tr h="370840">
                <a:tc>
                  <a:txBody>
                    <a:bodyPr/>
                    <a:lstStyle/>
                    <a:p>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r>
                        <a:rPr lang="en-US" altLang="zh-CN" dirty="0">
                          <a:solidFill>
                            <a:schemeClr val="tx1"/>
                          </a:solidFill>
                          <a:latin typeface="宋体" panose="02010600030101010101" pitchFamily="2" charset="-122"/>
                          <a:ea typeface="宋体" panose="02010600030101010101" pitchFamily="2" charset="-122"/>
                        </a:rPr>
                        <a:t>{1}</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l" fontAlgn="base">
                        <a:spcAft>
                          <a:spcPts val="0"/>
                        </a:spcAft>
                      </a:pPr>
                      <a:r>
                        <a:rPr lang="en-US" altLang="zh-CN" sz="1800" b="0" kern="100" dirty="0">
                          <a:solidFill>
                            <a:schemeClr val="tx1"/>
                          </a:solidFill>
                          <a:effectLst/>
                          <a:latin typeface="宋体" panose="02010600030101010101" pitchFamily="2" charset="-122"/>
                          <a:ea typeface="宋体" panose="02010600030101010101" pitchFamily="2" charset="-122"/>
                        </a:rPr>
                        <a:t>{1,2,3,4,5,6,7}</a:t>
                      </a:r>
                      <a:endParaRPr lang="zh-CN" altLang="zh-CN" sz="1800" b="0" kern="100" dirty="0">
                        <a:solidFill>
                          <a:schemeClr val="tx1"/>
                        </a:solidFill>
                        <a:effectLst/>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kern="100" dirty="0">
                          <a:solidFill>
                            <a:schemeClr val="tx1"/>
                          </a:solidFill>
                          <a:effectLst/>
                          <a:latin typeface="宋体" panose="02010600030101010101" pitchFamily="2" charset="-122"/>
                          <a:ea typeface="宋体" panose="02010600030101010101" pitchFamily="2" charset="-122"/>
                        </a:rPr>
                        <a:t>{1,2,3,4,5,6,7}</a:t>
                      </a:r>
                      <a:endParaRPr lang="zh-CN" altLang="zh-CN" sz="1800" b="0" kern="100" dirty="0">
                        <a:solidFill>
                          <a:schemeClr val="tx1"/>
                        </a:solidFill>
                        <a:effectLst/>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kern="100" dirty="0">
                          <a:solidFill>
                            <a:schemeClr val="tx1"/>
                          </a:solidFill>
                          <a:effectLst/>
                          <a:latin typeface="宋体" panose="02010600030101010101" pitchFamily="2" charset="-122"/>
                          <a:ea typeface="宋体" panose="02010600030101010101" pitchFamily="2" charset="-122"/>
                        </a:rPr>
                        <a:t>{1,2,3,4,5,6,7}</a:t>
                      </a:r>
                      <a:endParaRPr lang="zh-CN" altLang="zh-CN" sz="1800" b="0" kern="100" dirty="0">
                        <a:solidFill>
                          <a:schemeClr val="tx1"/>
                        </a:solidFill>
                        <a:effectLst/>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kern="100" dirty="0">
                          <a:solidFill>
                            <a:schemeClr val="tx1"/>
                          </a:solidFill>
                          <a:effectLst/>
                          <a:latin typeface="宋体" panose="02010600030101010101" pitchFamily="2" charset="-122"/>
                          <a:ea typeface="宋体" panose="02010600030101010101" pitchFamily="2" charset="-122"/>
                        </a:rPr>
                        <a:t>{1,2,3,4,5,6,7}</a:t>
                      </a:r>
                      <a:endParaRPr lang="zh-CN" altLang="zh-CN" sz="1800" b="0" kern="100" dirty="0">
                        <a:solidFill>
                          <a:schemeClr val="tx1"/>
                        </a:solidFill>
                        <a:effectLst/>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kern="100" dirty="0">
                          <a:solidFill>
                            <a:schemeClr val="tx1"/>
                          </a:solidFill>
                          <a:effectLst/>
                          <a:latin typeface="宋体" panose="02010600030101010101" pitchFamily="2" charset="-122"/>
                          <a:ea typeface="宋体" panose="02010600030101010101" pitchFamily="2" charset="-122"/>
                        </a:rPr>
                        <a:t>{1,2,3,4,5,6,7}</a:t>
                      </a:r>
                      <a:endParaRPr lang="zh-CN" altLang="zh-CN" sz="1800" b="0" kern="100" dirty="0">
                        <a:solidFill>
                          <a:schemeClr val="tx1"/>
                        </a:solidFill>
                        <a:effectLst/>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kern="100" dirty="0">
                          <a:solidFill>
                            <a:schemeClr val="tx1"/>
                          </a:solidFill>
                          <a:effectLst/>
                          <a:latin typeface="宋体" panose="02010600030101010101" pitchFamily="2" charset="-122"/>
                          <a:ea typeface="宋体" panose="02010600030101010101" pitchFamily="2" charset="-122"/>
                        </a:rPr>
                        <a:t>{1,2,3,4,5,6,7}</a:t>
                      </a:r>
                      <a:endParaRPr lang="zh-CN" altLang="zh-CN" sz="1800" b="0" kern="100" dirty="0">
                        <a:solidFill>
                          <a:schemeClr val="tx1"/>
                        </a:solidFill>
                        <a:effectLst/>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7" name="矩形 6"/>
          <p:cNvSpPr/>
          <p:nvPr/>
        </p:nvSpPr>
        <p:spPr>
          <a:xfrm>
            <a:off x="4536505" y="22261"/>
            <a:ext cx="3131839"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zh-CN" dirty="0"/>
              <a:t>（</a:t>
            </a:r>
            <a:r>
              <a:rPr lang="en-US" altLang="zh-CN" dirty="0"/>
              <a:t>5</a:t>
            </a:r>
            <a:r>
              <a:rPr lang="zh-CN" altLang="zh-CN" dirty="0"/>
              <a:t>）</a:t>
            </a:r>
            <a:r>
              <a:rPr lang="en-US" altLang="zh-CN" dirty="0"/>
              <a:t>D(</a:t>
            </a:r>
            <a:r>
              <a:rPr lang="en-US" altLang="zh-CN" dirty="0" err="1"/>
              <a:t>i</a:t>
            </a:r>
            <a:r>
              <a:rPr lang="en-US" altLang="zh-CN" dirty="0"/>
              <a:t>)={</a:t>
            </a:r>
            <a:r>
              <a:rPr lang="en-US" altLang="zh-CN" dirty="0" err="1"/>
              <a:t>i</a:t>
            </a:r>
            <a:r>
              <a:rPr lang="en-US" altLang="zh-CN" dirty="0"/>
              <a:t>}</a:t>
            </a:r>
            <a:r>
              <a:rPr lang="zh-CN" altLang="zh-CN" dirty="0"/>
              <a:t>∪</a:t>
            </a:r>
            <a:r>
              <a:rPr lang="en-US" altLang="zh-CN" dirty="0">
                <a:solidFill>
                  <a:srgbClr val="0000FF"/>
                </a:solidFill>
              </a:rPr>
              <a:t>(</a:t>
            </a:r>
            <a:r>
              <a:rPr lang="zh-CN" altLang="zh-CN" dirty="0">
                <a:solidFill>
                  <a:srgbClr val="0000FF"/>
                </a:solidFill>
              </a:rPr>
              <a:t>∩</a:t>
            </a:r>
            <a:r>
              <a:rPr lang="en-US" altLang="zh-CN" dirty="0">
                <a:solidFill>
                  <a:srgbClr val="0000FF"/>
                </a:solidFill>
              </a:rPr>
              <a:t>D(p))</a:t>
            </a:r>
            <a:endParaRPr lang="zh-CN" altLang="zh-CN" dirty="0">
              <a:solidFill>
                <a:srgbClr val="0000FF"/>
              </a:solidFill>
            </a:endParaRPr>
          </a:p>
          <a:p>
            <a:r>
              <a:rPr lang="zh-CN" altLang="zh-CN" dirty="0"/>
              <a:t>（其中</a:t>
            </a:r>
            <a:r>
              <a:rPr lang="en-US" altLang="zh-CN" dirty="0"/>
              <a:t>p</a:t>
            </a:r>
            <a:r>
              <a:rPr lang="zh-CN" altLang="zh-CN" dirty="0"/>
              <a:t>是</a:t>
            </a:r>
            <a:r>
              <a:rPr lang="en-US" altLang="zh-CN" dirty="0"/>
              <a:t>n</a:t>
            </a:r>
            <a:r>
              <a:rPr lang="zh-CN" altLang="zh-CN" dirty="0"/>
              <a:t>的直接前驱，∩</a:t>
            </a:r>
            <a:r>
              <a:rPr lang="en-US" altLang="zh-CN" dirty="0"/>
              <a:t>D(p)</a:t>
            </a:r>
            <a:r>
              <a:rPr lang="zh-CN" altLang="zh-CN" dirty="0"/>
              <a:t>表示求所有</a:t>
            </a:r>
            <a:r>
              <a:rPr lang="en-US" altLang="zh-CN" dirty="0"/>
              <a:t>D(p)</a:t>
            </a:r>
            <a:r>
              <a:rPr lang="zh-CN" altLang="zh-CN" dirty="0"/>
              <a:t>的交集）</a:t>
            </a:r>
            <a:endParaRPr lang="zh-CN" altLang="en-US" dirty="0"/>
          </a:p>
        </p:txBody>
      </p:sp>
      <p:sp>
        <p:nvSpPr>
          <p:cNvPr id="8" name="矩形 7"/>
          <p:cNvSpPr/>
          <p:nvPr/>
        </p:nvSpPr>
        <p:spPr>
          <a:xfrm>
            <a:off x="170007" y="4373691"/>
            <a:ext cx="3877985" cy="369332"/>
          </a:xfrm>
          <a:prstGeom prst="rect">
            <a:avLst/>
          </a:prstGeom>
          <a:solidFill>
            <a:schemeClr val="bg1"/>
          </a:solidFill>
        </p:spPr>
        <p:txBody>
          <a:bodyPr wrap="none">
            <a:spAutoFit/>
          </a:bodyPr>
          <a:lstStyle/>
          <a:p>
            <a:r>
              <a:rPr lang="en-US" altLang="zh-CN" dirty="0">
                <a:latin typeface="宋体" panose="02010600030101010101" pitchFamily="2" charset="-122"/>
                <a:ea typeface="宋体" panose="02010600030101010101" pitchFamily="2" charset="-122"/>
              </a:rPr>
              <a:t>D(2)={2}</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({D(1)</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D(4)}) = {1,2}</a:t>
            </a:r>
            <a:endParaRPr lang="zh-CN" altLang="en-US" dirty="0">
              <a:latin typeface="宋体" panose="02010600030101010101" pitchFamily="2" charset="-122"/>
              <a:ea typeface="宋体" panose="02010600030101010101" pitchFamily="2" charset="-122"/>
            </a:endParaRPr>
          </a:p>
        </p:txBody>
      </p:sp>
      <p:sp>
        <p:nvSpPr>
          <p:cNvPr id="9" name="矩形 8"/>
          <p:cNvSpPr/>
          <p:nvPr/>
        </p:nvSpPr>
        <p:spPr>
          <a:xfrm>
            <a:off x="170007" y="4373691"/>
            <a:ext cx="5215763" cy="369332"/>
          </a:xfrm>
          <a:prstGeom prst="rect">
            <a:avLst/>
          </a:prstGeom>
          <a:solidFill>
            <a:schemeClr val="bg1"/>
          </a:solidFill>
        </p:spPr>
        <p:txBody>
          <a:bodyPr wrap="square">
            <a:spAutoFit/>
          </a:bodyPr>
          <a:lstStyle/>
          <a:p>
            <a:r>
              <a:rPr lang="en-US" altLang="zh-CN" dirty="0">
                <a:latin typeface="宋体" panose="02010600030101010101" pitchFamily="2" charset="-122"/>
                <a:ea typeface="宋体" panose="02010600030101010101" pitchFamily="2" charset="-122"/>
              </a:rPr>
              <a:t>D(3) = {3}</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D(2) = {3}</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 = {1</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3}</a:t>
            </a:r>
            <a:endParaRPr lang="zh-CN" altLang="en-US" dirty="0">
              <a:latin typeface="宋体" panose="02010600030101010101" pitchFamily="2" charset="-122"/>
              <a:ea typeface="宋体" panose="02010600030101010101" pitchFamily="2" charset="-122"/>
            </a:endParaRPr>
          </a:p>
        </p:txBody>
      </p:sp>
      <p:sp>
        <p:nvSpPr>
          <p:cNvPr id="10" name="矩形 9"/>
          <p:cNvSpPr/>
          <p:nvPr/>
        </p:nvSpPr>
        <p:spPr>
          <a:xfrm>
            <a:off x="4313799" y="2026913"/>
            <a:ext cx="761748" cy="369332"/>
          </a:xfrm>
          <a:prstGeom prst="rect">
            <a:avLst/>
          </a:prstGeom>
        </p:spPr>
        <p:txBody>
          <a:bodyPr wrap="none">
            <a:spAutoFit/>
          </a:bodyPr>
          <a:lstStyle/>
          <a:p>
            <a:pPr algn="ctr"/>
            <a:r>
              <a:rPr lang="en-US" altLang="zh-CN" dirty="0">
                <a:latin typeface="宋体" panose="02010600030101010101" pitchFamily="2" charset="-122"/>
                <a:ea typeface="宋体" panose="02010600030101010101" pitchFamily="2" charset="-122"/>
              </a:rPr>
              <a:t>{1,2}</a:t>
            </a:r>
            <a:endParaRPr lang="zh-CN" altLang="en-US" dirty="0">
              <a:latin typeface="宋体" panose="02010600030101010101" pitchFamily="2" charset="-122"/>
              <a:ea typeface="宋体" panose="02010600030101010101" pitchFamily="2" charset="-122"/>
            </a:endParaRPr>
          </a:p>
        </p:txBody>
      </p:sp>
      <p:sp>
        <p:nvSpPr>
          <p:cNvPr id="11" name="矩形 10"/>
          <p:cNvSpPr/>
          <p:nvPr/>
        </p:nvSpPr>
        <p:spPr>
          <a:xfrm>
            <a:off x="4429216" y="1666873"/>
            <a:ext cx="530915" cy="369332"/>
          </a:xfrm>
          <a:prstGeom prst="rect">
            <a:avLst/>
          </a:prstGeom>
        </p:spPr>
        <p:txBody>
          <a:bodyPr wrap="none">
            <a:spAutoFit/>
          </a:bodyPr>
          <a:lstStyle/>
          <a:p>
            <a:pPr algn="ctr"/>
            <a:r>
              <a:rPr lang="en-US" altLang="zh-CN" dirty="0">
                <a:latin typeface="宋体" panose="02010600030101010101" pitchFamily="2" charset="-122"/>
                <a:ea typeface="宋体" panose="02010600030101010101" pitchFamily="2" charset="-122"/>
              </a:rPr>
              <a:t>{1}</a:t>
            </a:r>
            <a:endParaRPr lang="zh-CN" altLang="en-US" dirty="0">
              <a:latin typeface="宋体" panose="02010600030101010101" pitchFamily="2" charset="-122"/>
              <a:ea typeface="宋体" panose="02010600030101010101" pitchFamily="2" charset="-122"/>
            </a:endParaRPr>
          </a:p>
        </p:txBody>
      </p:sp>
      <p:sp>
        <p:nvSpPr>
          <p:cNvPr id="12" name="矩形 11"/>
          <p:cNvSpPr/>
          <p:nvPr/>
        </p:nvSpPr>
        <p:spPr>
          <a:xfrm>
            <a:off x="4198384" y="2449669"/>
            <a:ext cx="992579" cy="369332"/>
          </a:xfrm>
          <a:prstGeom prst="rect">
            <a:avLst/>
          </a:prstGeom>
        </p:spPr>
        <p:txBody>
          <a:bodyPr wrap="none">
            <a:spAutoFit/>
          </a:bodyPr>
          <a:lstStyle/>
          <a:p>
            <a:pPr algn="ctr"/>
            <a:r>
              <a:rPr lang="en-US" altLang="zh-CN" dirty="0">
                <a:latin typeface="宋体" panose="02010600030101010101" pitchFamily="2" charset="-122"/>
                <a:ea typeface="宋体" panose="02010600030101010101" pitchFamily="2" charset="-122"/>
              </a:rPr>
              <a:t>{1,2,3}</a:t>
            </a:r>
            <a:endParaRPr lang="zh-CN" altLang="en-US" dirty="0">
              <a:latin typeface="宋体" panose="02010600030101010101" pitchFamily="2" charset="-122"/>
              <a:ea typeface="宋体" panose="02010600030101010101" pitchFamily="2" charset="-122"/>
            </a:endParaRPr>
          </a:p>
        </p:txBody>
      </p:sp>
      <p:graphicFrame>
        <p:nvGraphicFramePr>
          <p:cNvPr id="13" name="表格 12"/>
          <p:cNvGraphicFramePr>
            <a:graphicFrameLocks noGrp="1"/>
          </p:cNvGraphicFramePr>
          <p:nvPr>
            <p:extLst>
              <p:ext uri="{D42A27DB-BD31-4B8C-83A1-F6EECF244321}">
                <p14:modId xmlns:p14="http://schemas.microsoft.com/office/powerpoint/2010/main" val="701561005"/>
              </p:ext>
            </p:extLst>
          </p:nvPr>
        </p:nvGraphicFramePr>
        <p:xfrm>
          <a:off x="5508104" y="1292441"/>
          <a:ext cx="1296144" cy="2966720"/>
        </p:xfrm>
        <a:graphic>
          <a:graphicData uri="http://schemas.openxmlformats.org/drawingml/2006/table">
            <a:tbl>
              <a:tblPr firstRow="1" bandRow="1">
                <a:tableStyleId>{5C22544A-7EE6-4342-B048-85BDC9FD1C3A}</a:tableStyleId>
              </a:tblPr>
              <a:tblGrid>
                <a:gridCol w="1296144">
                  <a:extLst>
                    <a:ext uri="{9D8B030D-6E8A-4147-A177-3AD203B41FA5}">
                      <a16:colId xmlns:a16="http://schemas.microsoft.com/office/drawing/2014/main" val="20000"/>
                    </a:ext>
                  </a:extLst>
                </a:gridCol>
              </a:tblGrid>
              <a:tr h="370840">
                <a:tc>
                  <a:txBody>
                    <a:bodyPr/>
                    <a:lstStyle/>
                    <a:p>
                      <a:pPr algn="ctr"/>
                      <a:endParaRPr lang="zh-CN" altLang="en-US" dirty="0">
                        <a:solidFill>
                          <a:schemeClr val="tx1"/>
                        </a:solidFill>
                        <a:latin typeface="宋体" panose="02010600030101010101" pitchFamily="2" charset="-122"/>
                        <a:ea typeface="宋体" panose="02010600030101010101" pitchFamily="2"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algn="ctr"/>
                      <a:r>
                        <a:rPr lang="en-US" altLang="zh-CN" dirty="0">
                          <a:solidFill>
                            <a:schemeClr val="tx1"/>
                          </a:solidFill>
                          <a:latin typeface="宋体" panose="02010600030101010101" pitchFamily="2" charset="-122"/>
                          <a:ea typeface="宋体" panose="02010600030101010101" pitchFamily="2" charset="-122"/>
                        </a:rPr>
                        <a:t>{1}</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ctr"/>
                      <a:r>
                        <a:rPr lang="en-US" altLang="zh-CN" dirty="0">
                          <a:solidFill>
                            <a:schemeClr val="tx1"/>
                          </a:solidFill>
                          <a:latin typeface="宋体" panose="02010600030101010101" pitchFamily="2" charset="-122"/>
                          <a:ea typeface="宋体" panose="02010600030101010101" pitchFamily="2" charset="-122"/>
                        </a:rPr>
                        <a:t>{1,2}</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algn="ctr"/>
                      <a:r>
                        <a:rPr lang="en-US" altLang="zh-CN" dirty="0">
                          <a:solidFill>
                            <a:schemeClr val="tx1"/>
                          </a:solidFill>
                          <a:latin typeface="宋体" panose="02010600030101010101" pitchFamily="2" charset="-122"/>
                          <a:ea typeface="宋体" panose="02010600030101010101" pitchFamily="2" charset="-122"/>
                        </a:rPr>
                        <a:t>{1,2,3}</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ctr"/>
                      <a:r>
                        <a:rPr lang="en-US" altLang="zh-CN" dirty="0">
                          <a:solidFill>
                            <a:schemeClr val="tx1"/>
                          </a:solidFill>
                          <a:latin typeface="宋体" panose="02010600030101010101" pitchFamily="2" charset="-122"/>
                          <a:ea typeface="宋体" panose="02010600030101010101" pitchFamily="2" charset="-122"/>
                        </a:rPr>
                        <a:t>{1,2,4}</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algn="ctr"/>
                      <a:r>
                        <a:rPr lang="en-US" altLang="zh-CN" dirty="0">
                          <a:solidFill>
                            <a:schemeClr val="tx1"/>
                          </a:solidFill>
                          <a:latin typeface="宋体" panose="02010600030101010101" pitchFamily="2" charset="-122"/>
                          <a:ea typeface="宋体" panose="02010600030101010101" pitchFamily="2" charset="-122"/>
                        </a:rPr>
                        <a:t>{1,2,4,5}</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p>
                      <a:pPr algn="ctr"/>
                      <a:r>
                        <a:rPr lang="en-US" altLang="zh-CN" dirty="0">
                          <a:solidFill>
                            <a:schemeClr val="tx1"/>
                          </a:solidFill>
                          <a:latin typeface="宋体" panose="02010600030101010101" pitchFamily="2" charset="-122"/>
                          <a:ea typeface="宋体" panose="02010600030101010101" pitchFamily="2" charset="-122"/>
                        </a:rPr>
                        <a:t>{1,2,4,6}</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p>
                      <a:pPr algn="ctr"/>
                      <a:r>
                        <a:rPr lang="en-US" altLang="zh-CN" dirty="0">
                          <a:solidFill>
                            <a:schemeClr val="tx1"/>
                          </a:solidFill>
                          <a:latin typeface="宋体" panose="02010600030101010101" pitchFamily="2" charset="-122"/>
                          <a:ea typeface="宋体" panose="02010600030101010101" pitchFamily="2" charset="-122"/>
                        </a:rPr>
                        <a:t>{1,2,4,7}</a:t>
                      </a:r>
                      <a:endParaRPr lang="zh-CN" altLang="en-US" dirty="0">
                        <a:solidFill>
                          <a:schemeClr val="tx1"/>
                        </a:solidFill>
                        <a:latin typeface="宋体" panose="02010600030101010101" pitchFamily="2" charset="-122"/>
                        <a:ea typeface="宋体" panose="02010600030101010101" pitchFamily="2"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16" name="矩形 15"/>
          <p:cNvSpPr/>
          <p:nvPr/>
        </p:nvSpPr>
        <p:spPr>
          <a:xfrm>
            <a:off x="170007" y="4373691"/>
            <a:ext cx="8426057" cy="646331"/>
          </a:xfrm>
          <a:prstGeom prst="rect">
            <a:avLst/>
          </a:prstGeom>
          <a:solidFill>
            <a:schemeClr val="bg1"/>
          </a:solidFill>
        </p:spPr>
        <p:txBody>
          <a:bodyPr wrap="square">
            <a:spAutoFit/>
          </a:bodyPr>
          <a:lstStyle/>
          <a:p>
            <a:r>
              <a:rPr lang="en-US" altLang="zh-CN" dirty="0">
                <a:latin typeface="宋体" panose="02010600030101010101" pitchFamily="2" charset="-122"/>
                <a:ea typeface="宋体" panose="02010600030101010101" pitchFamily="2" charset="-122"/>
              </a:rPr>
              <a:t>D(4)={4}</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(D(3)</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D(2)</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D(7)) ={4}</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3}</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{1,2,3,4,5,6,7}) ={1</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4}</a:t>
            </a:r>
            <a:endParaRPr lang="zh-CN" altLang="zh-CN" dirty="0">
              <a:latin typeface="宋体" panose="02010600030101010101" pitchFamily="2" charset="-122"/>
              <a:ea typeface="宋体" panose="02010600030101010101" pitchFamily="2" charset="-122"/>
            </a:endParaRPr>
          </a:p>
        </p:txBody>
      </p:sp>
      <p:sp>
        <p:nvSpPr>
          <p:cNvPr id="17" name="矩形 16"/>
          <p:cNvSpPr/>
          <p:nvPr/>
        </p:nvSpPr>
        <p:spPr>
          <a:xfrm>
            <a:off x="4198384" y="2814121"/>
            <a:ext cx="992579" cy="369332"/>
          </a:xfrm>
          <a:prstGeom prst="rect">
            <a:avLst/>
          </a:prstGeom>
        </p:spPr>
        <p:txBody>
          <a:bodyPr wrap="none">
            <a:spAutoFit/>
          </a:bodyPr>
          <a:lstStyle/>
          <a:p>
            <a:pPr algn="ctr"/>
            <a:r>
              <a:rPr lang="en-US" altLang="zh-CN" dirty="0">
                <a:latin typeface="宋体" panose="02010600030101010101" pitchFamily="2" charset="-122"/>
                <a:ea typeface="宋体" panose="02010600030101010101" pitchFamily="2" charset="-122"/>
              </a:rPr>
              <a:t>{1,2,4}</a:t>
            </a:r>
            <a:endParaRPr lang="zh-CN" altLang="zh-CN" dirty="0">
              <a:latin typeface="宋体" panose="02010600030101010101" pitchFamily="2" charset="-122"/>
              <a:ea typeface="宋体" panose="02010600030101010101" pitchFamily="2" charset="-122"/>
            </a:endParaRPr>
          </a:p>
        </p:txBody>
      </p:sp>
      <p:sp>
        <p:nvSpPr>
          <p:cNvPr id="18" name="矩形 17"/>
          <p:cNvSpPr/>
          <p:nvPr/>
        </p:nvSpPr>
        <p:spPr>
          <a:xfrm>
            <a:off x="170006" y="4373691"/>
            <a:ext cx="5986169" cy="369332"/>
          </a:xfrm>
          <a:prstGeom prst="rect">
            <a:avLst/>
          </a:prstGeom>
          <a:solidFill>
            <a:schemeClr val="bg1"/>
          </a:solidFill>
        </p:spPr>
        <p:txBody>
          <a:bodyPr wrap="square">
            <a:spAutoFit/>
          </a:bodyPr>
          <a:lstStyle/>
          <a:p>
            <a:r>
              <a:rPr lang="en-US" altLang="zh-CN" dirty="0">
                <a:latin typeface="宋体" panose="02010600030101010101" pitchFamily="2" charset="-122"/>
                <a:ea typeface="宋体" panose="02010600030101010101" pitchFamily="2" charset="-122"/>
              </a:rPr>
              <a:t>D(5)={5}</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D(4)={5}</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4}={1</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4</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5}</a:t>
            </a:r>
            <a:endParaRPr lang="zh-CN" altLang="en-US" dirty="0">
              <a:latin typeface="宋体" panose="02010600030101010101" pitchFamily="2" charset="-122"/>
              <a:ea typeface="宋体" panose="02010600030101010101" pitchFamily="2" charset="-122"/>
            </a:endParaRPr>
          </a:p>
        </p:txBody>
      </p:sp>
      <p:sp>
        <p:nvSpPr>
          <p:cNvPr id="19" name="矩形 18"/>
          <p:cNvSpPr/>
          <p:nvPr/>
        </p:nvSpPr>
        <p:spPr>
          <a:xfrm>
            <a:off x="4082967" y="3183453"/>
            <a:ext cx="1223413" cy="369332"/>
          </a:xfrm>
          <a:prstGeom prst="rect">
            <a:avLst/>
          </a:prstGeom>
        </p:spPr>
        <p:txBody>
          <a:bodyPr wrap="none">
            <a:spAutoFit/>
          </a:bodyPr>
          <a:lstStyle/>
          <a:p>
            <a:pPr algn="ctr"/>
            <a:r>
              <a:rPr lang="en-US" altLang="zh-CN" dirty="0">
                <a:latin typeface="宋体" panose="02010600030101010101" pitchFamily="2" charset="-122"/>
                <a:ea typeface="宋体" panose="02010600030101010101" pitchFamily="2" charset="-122"/>
              </a:rPr>
              <a:t>{1,2,4,5}</a:t>
            </a:r>
            <a:endParaRPr lang="zh-CN" altLang="en-US" dirty="0">
              <a:latin typeface="宋体" panose="02010600030101010101" pitchFamily="2" charset="-122"/>
              <a:ea typeface="宋体" panose="02010600030101010101" pitchFamily="2" charset="-122"/>
            </a:endParaRPr>
          </a:p>
        </p:txBody>
      </p:sp>
      <p:sp>
        <p:nvSpPr>
          <p:cNvPr id="20" name="矩形 19"/>
          <p:cNvSpPr/>
          <p:nvPr/>
        </p:nvSpPr>
        <p:spPr>
          <a:xfrm>
            <a:off x="170006" y="4373691"/>
            <a:ext cx="5482113" cy="369332"/>
          </a:xfrm>
          <a:prstGeom prst="rect">
            <a:avLst/>
          </a:prstGeom>
          <a:solidFill>
            <a:schemeClr val="bg1"/>
          </a:solidFill>
        </p:spPr>
        <p:txBody>
          <a:bodyPr wrap="square">
            <a:spAutoFit/>
          </a:bodyPr>
          <a:lstStyle/>
          <a:p>
            <a:r>
              <a:rPr lang="en-US" altLang="zh-CN" dirty="0">
                <a:latin typeface="宋体" panose="02010600030101010101" pitchFamily="2" charset="-122"/>
                <a:ea typeface="宋体" panose="02010600030101010101" pitchFamily="2" charset="-122"/>
              </a:rPr>
              <a:t>D(6)={6}</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D(4)={6}</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4}={1</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4</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6}</a:t>
            </a:r>
            <a:endParaRPr lang="zh-CN" altLang="en-US" dirty="0">
              <a:latin typeface="宋体" panose="02010600030101010101" pitchFamily="2" charset="-122"/>
              <a:ea typeface="宋体" panose="02010600030101010101" pitchFamily="2" charset="-122"/>
            </a:endParaRPr>
          </a:p>
        </p:txBody>
      </p:sp>
      <p:sp>
        <p:nvSpPr>
          <p:cNvPr id="21" name="矩形 20"/>
          <p:cNvSpPr/>
          <p:nvPr/>
        </p:nvSpPr>
        <p:spPr>
          <a:xfrm>
            <a:off x="4025259" y="3552785"/>
            <a:ext cx="1338829" cy="369332"/>
          </a:xfrm>
          <a:prstGeom prst="rect">
            <a:avLst/>
          </a:prstGeom>
        </p:spPr>
        <p:txBody>
          <a:bodyPr wrap="none">
            <a:spAutoFit/>
          </a:bodyPr>
          <a:lstStyle/>
          <a:p>
            <a:pPr algn="ctr"/>
            <a:r>
              <a:rPr lang="en-US" altLang="zh-CN" dirty="0">
                <a:latin typeface="宋体" panose="02010600030101010101" pitchFamily="2" charset="-122"/>
                <a:ea typeface="宋体" panose="02010600030101010101" pitchFamily="2" charset="-122"/>
              </a:rPr>
              <a:t>{1,2,4,6} </a:t>
            </a:r>
            <a:endParaRPr lang="zh-CN" altLang="en-US" dirty="0">
              <a:latin typeface="宋体" panose="02010600030101010101" pitchFamily="2" charset="-122"/>
              <a:ea typeface="宋体" panose="02010600030101010101" pitchFamily="2" charset="-122"/>
            </a:endParaRPr>
          </a:p>
        </p:txBody>
      </p:sp>
      <p:sp>
        <p:nvSpPr>
          <p:cNvPr id="22" name="矩形 21"/>
          <p:cNvSpPr/>
          <p:nvPr/>
        </p:nvSpPr>
        <p:spPr>
          <a:xfrm>
            <a:off x="170007" y="4373691"/>
            <a:ext cx="8366867" cy="369332"/>
          </a:xfrm>
          <a:prstGeom prst="rect">
            <a:avLst/>
          </a:prstGeom>
          <a:solidFill>
            <a:schemeClr val="bg1"/>
          </a:solidFill>
        </p:spPr>
        <p:txBody>
          <a:bodyPr wrap="square">
            <a:spAutoFit/>
          </a:bodyPr>
          <a:lstStyle/>
          <a:p>
            <a:r>
              <a:rPr lang="en-US" altLang="zh-CN" dirty="0">
                <a:latin typeface="宋体" panose="02010600030101010101" pitchFamily="2" charset="-122"/>
                <a:ea typeface="宋体" panose="02010600030101010101" pitchFamily="2" charset="-122"/>
              </a:rPr>
              <a:t>D(7)={7}</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(D(5)</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D(6)) ={7}</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4</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5}</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4</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6}={1</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4</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7}</a:t>
            </a:r>
            <a:endParaRPr lang="zh-CN" altLang="en-US" dirty="0">
              <a:latin typeface="宋体" panose="02010600030101010101" pitchFamily="2" charset="-122"/>
              <a:ea typeface="宋体" panose="02010600030101010101" pitchFamily="2" charset="-122"/>
            </a:endParaRPr>
          </a:p>
        </p:txBody>
      </p:sp>
      <p:sp>
        <p:nvSpPr>
          <p:cNvPr id="23" name="矩形 22"/>
          <p:cNvSpPr/>
          <p:nvPr/>
        </p:nvSpPr>
        <p:spPr>
          <a:xfrm>
            <a:off x="4082967" y="3919337"/>
            <a:ext cx="1223413" cy="369332"/>
          </a:xfrm>
          <a:prstGeom prst="rect">
            <a:avLst/>
          </a:prstGeom>
        </p:spPr>
        <p:txBody>
          <a:bodyPr wrap="none">
            <a:spAutoFit/>
          </a:bodyPr>
          <a:lstStyle/>
          <a:p>
            <a:pPr algn="ctr"/>
            <a:r>
              <a:rPr lang="en-US" altLang="zh-CN" dirty="0">
                <a:latin typeface="宋体" panose="02010600030101010101" pitchFamily="2" charset="-122"/>
                <a:ea typeface="宋体" panose="02010600030101010101" pitchFamily="2" charset="-122"/>
              </a:rPr>
              <a:t>{1,2,4,7}</a:t>
            </a:r>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837960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p:bldP spid="11" grpId="0"/>
      <p:bldP spid="12" grpId="0"/>
      <p:bldP spid="16" grpId="0" animBg="1"/>
      <p:bldP spid="17" grpId="0"/>
      <p:bldP spid="18" grpId="0" animBg="1"/>
      <p:bldP spid="19" grpId="0"/>
      <p:bldP spid="20" grpId="0" animBg="1"/>
      <p:bldP spid="21" grpId="0"/>
      <p:bldP spid="22" grpId="0" animBg="1"/>
      <p:bldP spid="2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7"/>
          <p:cNvSpPr>
            <a:spLocks noChangeArrowheads="1"/>
          </p:cNvSpPr>
          <p:nvPr/>
        </p:nvSpPr>
        <p:spPr bwMode="auto">
          <a:xfrm>
            <a:off x="685800" y="699542"/>
            <a:ext cx="568640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marL="342900" indent="-342900" eaLnBrk="1" hangingPunct="1">
              <a:spcBef>
                <a:spcPct val="0"/>
              </a:spcBef>
            </a:pPr>
            <a:r>
              <a:rPr lang="zh-CN" altLang="en-US" sz="2200" dirty="0">
                <a:solidFill>
                  <a:srgbClr val="FF0000"/>
                </a:solidFill>
                <a:latin typeface="宋体" pitchFamily="2" charset="-122"/>
              </a:rPr>
              <a:t>回边</a:t>
            </a:r>
            <a:r>
              <a:rPr lang="zh-CN" altLang="en-US" sz="2200" dirty="0">
                <a:solidFill>
                  <a:srgbClr val="000000"/>
                </a:solidFill>
                <a:latin typeface="宋体" pitchFamily="2" charset="-122"/>
              </a:rPr>
              <a:t>：假设</a:t>
            </a:r>
            <a:r>
              <a:rPr lang="en-US" altLang="zh-CN" sz="2200" dirty="0" err="1">
                <a:solidFill>
                  <a:srgbClr val="000000"/>
                </a:solidFill>
              </a:rPr>
              <a:t>a</a:t>
            </a:r>
            <a:r>
              <a:rPr lang="en-US" altLang="zh-CN" sz="2200" dirty="0" err="1">
                <a:solidFill>
                  <a:srgbClr val="000000"/>
                </a:solidFill>
                <a:latin typeface="宋体" pitchFamily="2" charset="-122"/>
              </a:rPr>
              <a:t>→</a:t>
            </a:r>
            <a:r>
              <a:rPr lang="en-US" altLang="zh-CN" sz="2200" dirty="0" err="1">
                <a:solidFill>
                  <a:srgbClr val="000000"/>
                </a:solidFill>
              </a:rPr>
              <a:t>b</a:t>
            </a:r>
            <a:r>
              <a:rPr lang="zh-CN" altLang="en-US" sz="2200" dirty="0">
                <a:solidFill>
                  <a:srgbClr val="000000"/>
                </a:solidFill>
                <a:latin typeface="宋体" pitchFamily="2" charset="-122"/>
              </a:rPr>
              <a:t>是流图中的一条有向边，如果</a:t>
            </a:r>
            <a:r>
              <a:rPr lang="en-US" altLang="zh-CN" sz="2200" dirty="0">
                <a:solidFill>
                  <a:srgbClr val="000000"/>
                </a:solidFill>
              </a:rPr>
              <a:t>b DOM a</a:t>
            </a:r>
            <a:r>
              <a:rPr lang="zh-CN" altLang="en-US" sz="2200" dirty="0">
                <a:solidFill>
                  <a:srgbClr val="000000"/>
                </a:solidFill>
                <a:latin typeface="宋体" pitchFamily="2" charset="-122"/>
              </a:rPr>
              <a:t>，则称</a:t>
            </a:r>
            <a:r>
              <a:rPr lang="en-US" altLang="zh-CN" sz="2200" dirty="0" err="1">
                <a:solidFill>
                  <a:srgbClr val="000000"/>
                </a:solidFill>
              </a:rPr>
              <a:t>a</a:t>
            </a:r>
            <a:r>
              <a:rPr lang="en-US" altLang="zh-CN" sz="2200" dirty="0" err="1">
                <a:solidFill>
                  <a:srgbClr val="000000"/>
                </a:solidFill>
                <a:latin typeface="宋体" pitchFamily="2" charset="-122"/>
              </a:rPr>
              <a:t>→</a:t>
            </a:r>
            <a:r>
              <a:rPr lang="en-US" altLang="zh-CN" sz="2200" dirty="0" err="1">
                <a:solidFill>
                  <a:srgbClr val="000000"/>
                </a:solidFill>
              </a:rPr>
              <a:t>b</a:t>
            </a:r>
            <a:r>
              <a:rPr lang="zh-CN" altLang="en-US" sz="2200" dirty="0">
                <a:solidFill>
                  <a:srgbClr val="000000"/>
                </a:solidFill>
                <a:latin typeface="宋体" pitchFamily="2" charset="-122"/>
              </a:rPr>
              <a:t>是流图中的一条回边。</a:t>
            </a:r>
          </a:p>
        </p:txBody>
      </p:sp>
      <p:sp>
        <p:nvSpPr>
          <p:cNvPr id="57348" name="Rectangle 36"/>
          <p:cNvSpPr>
            <a:spLocks noGrp="1" noChangeArrowheads="1"/>
          </p:cNvSpPr>
          <p:nvPr>
            <p:ph type="title" idx="4294967295"/>
          </p:nvPr>
        </p:nvSpPr>
        <p:spPr>
          <a:xfrm>
            <a:off x="136064" y="0"/>
            <a:ext cx="7772400" cy="627534"/>
          </a:xfrm>
          <a:noFill/>
        </p:spPr>
        <p:txBody>
          <a:bodyPr>
            <a:normAutofit fontScale="90000"/>
          </a:bodyPr>
          <a:lstStyle/>
          <a:p>
            <a:pPr eaLnBrk="1" hangingPunct="1"/>
            <a:r>
              <a:rPr lang="zh-CN" altLang="en-US" b="1" dirty="0"/>
              <a:t>循环</a:t>
            </a:r>
          </a:p>
        </p:txBody>
      </p:sp>
      <p:sp>
        <p:nvSpPr>
          <p:cNvPr id="57349" name="Rectangle 37"/>
          <p:cNvSpPr>
            <a:spLocks noChangeArrowheads="1"/>
          </p:cNvSpPr>
          <p:nvPr/>
        </p:nvSpPr>
        <p:spPr bwMode="auto">
          <a:xfrm>
            <a:off x="539552" y="2543874"/>
            <a:ext cx="6048672"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marL="342900" indent="-342900" eaLnBrk="1" hangingPunct="1">
              <a:spcBef>
                <a:spcPct val="0"/>
              </a:spcBef>
            </a:pPr>
            <a:r>
              <a:rPr lang="zh-CN" altLang="en-US" sz="2200" dirty="0">
                <a:solidFill>
                  <a:srgbClr val="000000"/>
                </a:solidFill>
                <a:latin typeface="宋体" pitchFamily="2" charset="-122"/>
              </a:rPr>
              <a:t>如果有向边</a:t>
            </a:r>
            <a:r>
              <a:rPr lang="en-US" altLang="zh-CN" sz="2200" dirty="0" err="1">
                <a:solidFill>
                  <a:srgbClr val="000000"/>
                </a:solidFill>
                <a:latin typeface="宋体" pitchFamily="2" charset="-122"/>
              </a:rPr>
              <a:t>a→b</a:t>
            </a:r>
            <a:r>
              <a:rPr lang="zh-CN" altLang="en-US" sz="2200" dirty="0">
                <a:solidFill>
                  <a:srgbClr val="000000"/>
                </a:solidFill>
                <a:latin typeface="宋体" pitchFamily="2" charset="-122"/>
              </a:rPr>
              <a:t>是回边，组成的循环是由结点</a:t>
            </a:r>
            <a:r>
              <a:rPr lang="en-US" altLang="zh-CN" sz="2200" dirty="0">
                <a:solidFill>
                  <a:srgbClr val="000000"/>
                </a:solidFill>
                <a:latin typeface="宋体" pitchFamily="2" charset="-122"/>
              </a:rPr>
              <a:t>b</a:t>
            </a:r>
            <a:r>
              <a:rPr lang="zh-CN" altLang="en-US" sz="2200" dirty="0">
                <a:solidFill>
                  <a:srgbClr val="000000"/>
                </a:solidFill>
                <a:latin typeface="宋体" pitchFamily="2" charset="-122"/>
              </a:rPr>
              <a:t>，结点</a:t>
            </a:r>
            <a:r>
              <a:rPr lang="en-US" altLang="zh-CN" sz="2200" dirty="0">
                <a:solidFill>
                  <a:srgbClr val="000000"/>
                </a:solidFill>
                <a:latin typeface="宋体" pitchFamily="2" charset="-122"/>
              </a:rPr>
              <a:t>a</a:t>
            </a:r>
            <a:r>
              <a:rPr lang="zh-CN" altLang="en-US" sz="2200" dirty="0">
                <a:solidFill>
                  <a:srgbClr val="000000"/>
                </a:solidFill>
                <a:latin typeface="宋体" pitchFamily="2" charset="-122"/>
              </a:rPr>
              <a:t>以及从</a:t>
            </a:r>
            <a:r>
              <a:rPr lang="en-US" altLang="zh-CN" sz="2200" dirty="0">
                <a:solidFill>
                  <a:srgbClr val="000000"/>
                </a:solidFill>
                <a:latin typeface="宋体" pitchFamily="2" charset="-122"/>
              </a:rPr>
              <a:t>b</a:t>
            </a:r>
            <a:r>
              <a:rPr lang="zh-CN" altLang="en-US" sz="2200" dirty="0">
                <a:solidFill>
                  <a:srgbClr val="000000"/>
                </a:solidFill>
                <a:latin typeface="宋体" pitchFamily="2" charset="-122"/>
              </a:rPr>
              <a:t>到</a:t>
            </a:r>
            <a:r>
              <a:rPr lang="en-US" altLang="zh-CN" sz="2200" dirty="0">
                <a:solidFill>
                  <a:srgbClr val="000000"/>
                </a:solidFill>
                <a:latin typeface="宋体" pitchFamily="2" charset="-122"/>
              </a:rPr>
              <a:t>a</a:t>
            </a:r>
            <a:r>
              <a:rPr lang="zh-CN" altLang="en-US" sz="2200" dirty="0">
                <a:solidFill>
                  <a:srgbClr val="000000"/>
                </a:solidFill>
                <a:latin typeface="宋体" pitchFamily="2" charset="-122"/>
              </a:rPr>
              <a:t>的通路上的所有结点组成，</a:t>
            </a:r>
            <a:r>
              <a:rPr lang="zh-CN" altLang="en-US" sz="2200" dirty="0">
                <a:solidFill>
                  <a:srgbClr val="000000"/>
                </a:solidFill>
              </a:rPr>
              <a:t>而该</a:t>
            </a:r>
            <a:r>
              <a:rPr lang="zh-CN" altLang="en-US" sz="2200" dirty="0">
                <a:solidFill>
                  <a:srgbClr val="000000"/>
                </a:solidFill>
                <a:latin typeface="宋体" pitchFamily="2" charset="-122"/>
              </a:rPr>
              <a:t>通路不经过</a:t>
            </a:r>
            <a:r>
              <a:rPr lang="en-US" altLang="zh-CN" sz="2200" dirty="0">
                <a:solidFill>
                  <a:srgbClr val="000000"/>
                </a:solidFill>
                <a:latin typeface="宋体" pitchFamily="2" charset="-122"/>
              </a:rPr>
              <a:t>b</a:t>
            </a:r>
            <a:r>
              <a:rPr lang="zh-CN" altLang="en-US" sz="2200" dirty="0">
                <a:solidFill>
                  <a:srgbClr val="000000"/>
                </a:solidFill>
                <a:latin typeface="宋体" pitchFamily="2" charset="-122"/>
              </a:rPr>
              <a:t>。</a:t>
            </a:r>
          </a:p>
        </p:txBody>
      </p:sp>
      <p:graphicFrame>
        <p:nvGraphicFramePr>
          <p:cNvPr id="2" name="对象 1"/>
          <p:cNvGraphicFramePr>
            <a:graphicFrameLocks noChangeAspect="1"/>
          </p:cNvGraphicFramePr>
          <p:nvPr>
            <p:extLst>
              <p:ext uri="{D42A27DB-BD31-4B8C-83A1-F6EECF244321}">
                <p14:modId xmlns:p14="http://schemas.microsoft.com/office/powerpoint/2010/main" val="1704507406"/>
              </p:ext>
            </p:extLst>
          </p:nvPr>
        </p:nvGraphicFramePr>
        <p:xfrm>
          <a:off x="6659563" y="1101725"/>
          <a:ext cx="2339975" cy="3498850"/>
        </p:xfrm>
        <a:graphic>
          <a:graphicData uri="http://schemas.openxmlformats.org/presentationml/2006/ole">
            <mc:AlternateContent xmlns:mc="http://schemas.openxmlformats.org/markup-compatibility/2006">
              <mc:Choice xmlns:v="urn:schemas-microsoft-com:vml" Requires="v">
                <p:oleObj name="Visio" r:id="rId3" imgW="2631440" imgH="3662680" progId="Visio.Drawing.11">
                  <p:embed/>
                </p:oleObj>
              </mc:Choice>
              <mc:Fallback>
                <p:oleObj name="Visio" r:id="rId3" imgW="2631440" imgH="3662680" progId="Visio.Drawing.11">
                  <p:embed/>
                  <p:pic>
                    <p:nvPicPr>
                      <p:cNvPr id="0" name="Object 1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9563" y="1101725"/>
                        <a:ext cx="2339975" cy="3498850"/>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3"/>
          <p:cNvSpPr txBox="1">
            <a:spLocks noChangeArrowheads="1"/>
          </p:cNvSpPr>
          <p:nvPr/>
        </p:nvSpPr>
        <p:spPr>
          <a:xfrm>
            <a:off x="876672" y="3880420"/>
            <a:ext cx="5495528" cy="1067594"/>
          </a:xfrm>
          <a:prstGeom prst="rect">
            <a:avLst/>
          </a:prstGeom>
        </p:spPr>
        <p:style>
          <a:lnRef idx="2">
            <a:schemeClr val="accent1"/>
          </a:lnRef>
          <a:fillRef idx="1">
            <a:schemeClr val="lt1"/>
          </a:fillRef>
          <a:effectRef idx="0">
            <a:schemeClr val="accent1"/>
          </a:effectRef>
          <a:fontRef idx="minor">
            <a:schemeClr val="dk1"/>
          </a:fontRef>
        </p:style>
        <p:txBody>
          <a:bodyPr>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buFontTx/>
              <a:buNone/>
            </a:pPr>
            <a:r>
              <a:rPr lang="zh-CN" altLang="en-US" sz="1800" dirty="0"/>
              <a:t>由回边</a:t>
            </a:r>
            <a:r>
              <a:rPr lang="en-US" altLang="zh-CN" sz="1800" dirty="0">
                <a:solidFill>
                  <a:srgbClr val="FF0000"/>
                </a:solidFill>
              </a:rPr>
              <a:t>6</a:t>
            </a:r>
            <a:r>
              <a:rPr lang="zh-CN" altLang="en-US" sz="1800" dirty="0">
                <a:solidFill>
                  <a:srgbClr val="FF0000"/>
                </a:solidFill>
              </a:rPr>
              <a:t>→</a:t>
            </a:r>
            <a:r>
              <a:rPr lang="en-US" altLang="zh-CN" sz="1800" dirty="0">
                <a:solidFill>
                  <a:srgbClr val="FF0000"/>
                </a:solidFill>
              </a:rPr>
              <a:t>6</a:t>
            </a:r>
            <a:r>
              <a:rPr lang="zh-CN" altLang="en-US" sz="1800" dirty="0"/>
              <a:t>，构成了单个结点的循环</a:t>
            </a:r>
            <a:r>
              <a:rPr lang="en-US" altLang="zh-CN" sz="1800" dirty="0"/>
              <a:t>{6}</a:t>
            </a:r>
          </a:p>
          <a:p>
            <a:pPr>
              <a:buFontTx/>
              <a:buNone/>
            </a:pPr>
            <a:r>
              <a:rPr lang="zh-CN" altLang="en-US" sz="1800" dirty="0"/>
              <a:t>由回边</a:t>
            </a:r>
            <a:r>
              <a:rPr lang="en-US" altLang="zh-CN" sz="1800" dirty="0">
                <a:solidFill>
                  <a:srgbClr val="FF0000"/>
                </a:solidFill>
              </a:rPr>
              <a:t>4</a:t>
            </a:r>
            <a:r>
              <a:rPr lang="zh-CN" altLang="en-US" sz="1800" dirty="0">
                <a:solidFill>
                  <a:srgbClr val="FF0000"/>
                </a:solidFill>
              </a:rPr>
              <a:t>→</a:t>
            </a:r>
            <a:r>
              <a:rPr lang="en-US" altLang="zh-CN" sz="1800" dirty="0">
                <a:solidFill>
                  <a:srgbClr val="FF0000"/>
                </a:solidFill>
              </a:rPr>
              <a:t>2</a:t>
            </a:r>
            <a:r>
              <a:rPr lang="zh-CN" altLang="en-US" sz="1800" dirty="0"/>
              <a:t>，构成了一个循环</a:t>
            </a:r>
            <a:r>
              <a:rPr lang="en-US" altLang="zh-CN" sz="1800" dirty="0"/>
              <a:t>{2,4}</a:t>
            </a:r>
            <a:r>
              <a:rPr lang="zh-CN" altLang="en-US" sz="1800" dirty="0"/>
              <a:t>，或者</a:t>
            </a:r>
            <a:r>
              <a:rPr lang="en-US" altLang="zh-CN" sz="1800" dirty="0"/>
              <a:t>{2,3,4}</a:t>
            </a:r>
          </a:p>
          <a:p>
            <a:pPr>
              <a:buFontTx/>
              <a:buNone/>
            </a:pPr>
            <a:r>
              <a:rPr lang="zh-CN" altLang="en-US" sz="1800" dirty="0"/>
              <a:t>由回边</a:t>
            </a:r>
            <a:r>
              <a:rPr lang="en-US" altLang="zh-CN" sz="1800" dirty="0">
                <a:solidFill>
                  <a:srgbClr val="FF0000"/>
                </a:solidFill>
              </a:rPr>
              <a:t>7</a:t>
            </a:r>
            <a:r>
              <a:rPr lang="zh-CN" altLang="en-US" sz="1800" dirty="0">
                <a:solidFill>
                  <a:srgbClr val="FF0000"/>
                </a:solidFill>
              </a:rPr>
              <a:t>→</a:t>
            </a:r>
            <a:r>
              <a:rPr lang="en-US" altLang="zh-CN" sz="1800" dirty="0">
                <a:solidFill>
                  <a:srgbClr val="FF0000"/>
                </a:solidFill>
              </a:rPr>
              <a:t>4</a:t>
            </a:r>
            <a:r>
              <a:rPr lang="zh-CN" altLang="en-US" sz="1800" dirty="0"/>
              <a:t>，构成了一个循环</a:t>
            </a:r>
            <a:r>
              <a:rPr lang="en-US" altLang="zh-CN" sz="1800" dirty="0"/>
              <a:t>{4.6.7}</a:t>
            </a:r>
            <a:r>
              <a:rPr lang="zh-CN" altLang="en-US" sz="1800" dirty="0"/>
              <a:t>，或者</a:t>
            </a:r>
            <a:r>
              <a:rPr lang="en-US" altLang="zh-CN" sz="1800" dirty="0"/>
              <a:t>{4,5,7}</a:t>
            </a:r>
          </a:p>
        </p:txBody>
      </p:sp>
      <p:sp>
        <p:nvSpPr>
          <p:cNvPr id="11" name="Rectangle 3"/>
          <p:cNvSpPr txBox="1">
            <a:spLocks noChangeArrowheads="1"/>
          </p:cNvSpPr>
          <p:nvPr/>
        </p:nvSpPr>
        <p:spPr>
          <a:xfrm>
            <a:off x="1475656" y="1383506"/>
            <a:ext cx="4314750" cy="1067594"/>
          </a:xfrm>
          <a:prstGeom prst="rect">
            <a:avLst/>
          </a:prstGeom>
        </p:spPr>
        <p:style>
          <a:lnRef idx="2">
            <a:schemeClr val="accent1"/>
          </a:lnRef>
          <a:fillRef idx="1">
            <a:schemeClr val="lt1"/>
          </a:fillRef>
          <a:effectRef idx="0">
            <a:schemeClr val="accent1"/>
          </a:effectRef>
          <a:fontRef idx="minor">
            <a:schemeClr val="dk1"/>
          </a:fontRef>
        </p:style>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buFontTx/>
              <a:buNone/>
            </a:pPr>
            <a:r>
              <a:rPr lang="en-US" altLang="zh-CN" sz="1800" dirty="0">
                <a:solidFill>
                  <a:srgbClr val="FF0000"/>
                </a:solidFill>
              </a:rPr>
              <a:t>4</a:t>
            </a:r>
            <a:r>
              <a:rPr lang="zh-CN" altLang="en-US" sz="1800" dirty="0">
                <a:solidFill>
                  <a:srgbClr val="FF0000"/>
                </a:solidFill>
              </a:rPr>
              <a:t>→</a:t>
            </a:r>
            <a:r>
              <a:rPr lang="en-US" altLang="zh-CN" sz="1800" dirty="0">
                <a:solidFill>
                  <a:srgbClr val="FF0000"/>
                </a:solidFill>
              </a:rPr>
              <a:t>2 </a:t>
            </a:r>
            <a:r>
              <a:rPr lang="zh-CN" altLang="en-US" sz="1800" dirty="0"/>
              <a:t>是一条有向边，</a:t>
            </a:r>
            <a:r>
              <a:rPr lang="en-US" altLang="zh-CN" sz="1800" dirty="0"/>
              <a:t>2</a:t>
            </a:r>
            <a:r>
              <a:rPr lang="zh-CN" altLang="en-US" sz="1800" dirty="0"/>
              <a:t>是</a:t>
            </a:r>
            <a:r>
              <a:rPr lang="en-US" altLang="zh-CN" sz="1800" dirty="0"/>
              <a:t>4</a:t>
            </a:r>
            <a:r>
              <a:rPr lang="zh-CN" altLang="en-US" sz="1800" dirty="0"/>
              <a:t>的必经结点</a:t>
            </a:r>
            <a:endParaRPr lang="en-US" altLang="zh-CN" sz="1800" dirty="0"/>
          </a:p>
          <a:p>
            <a:pPr>
              <a:buNone/>
            </a:pPr>
            <a:r>
              <a:rPr lang="en-US" altLang="zh-CN" sz="1800" dirty="0">
                <a:solidFill>
                  <a:srgbClr val="FF0000"/>
                </a:solidFill>
              </a:rPr>
              <a:t>6</a:t>
            </a:r>
            <a:r>
              <a:rPr lang="zh-CN" altLang="en-US" sz="1800" dirty="0">
                <a:solidFill>
                  <a:srgbClr val="FF0000"/>
                </a:solidFill>
              </a:rPr>
              <a:t>→</a:t>
            </a:r>
            <a:r>
              <a:rPr lang="en-US" altLang="zh-CN" sz="1800" dirty="0">
                <a:solidFill>
                  <a:srgbClr val="FF0000"/>
                </a:solidFill>
              </a:rPr>
              <a:t>6 </a:t>
            </a:r>
            <a:r>
              <a:rPr lang="zh-CN" altLang="en-US" sz="1800" dirty="0"/>
              <a:t>是一条有向边，</a:t>
            </a:r>
            <a:r>
              <a:rPr lang="en-US" altLang="zh-CN" sz="1800" dirty="0"/>
              <a:t>6</a:t>
            </a:r>
            <a:r>
              <a:rPr lang="zh-CN" altLang="en-US" sz="1800" dirty="0"/>
              <a:t>是</a:t>
            </a:r>
            <a:r>
              <a:rPr lang="en-US" altLang="zh-CN" sz="1800" dirty="0"/>
              <a:t>6</a:t>
            </a:r>
            <a:r>
              <a:rPr lang="zh-CN" altLang="en-US" sz="1800" dirty="0"/>
              <a:t>的必经结点</a:t>
            </a:r>
            <a:endParaRPr lang="en-US" altLang="zh-CN" sz="1800" dirty="0"/>
          </a:p>
          <a:p>
            <a:pPr>
              <a:buNone/>
            </a:pPr>
            <a:r>
              <a:rPr lang="en-US" altLang="zh-CN" sz="1800" dirty="0">
                <a:solidFill>
                  <a:srgbClr val="FF0000"/>
                </a:solidFill>
              </a:rPr>
              <a:t>7</a:t>
            </a:r>
            <a:r>
              <a:rPr lang="zh-CN" altLang="en-US" sz="1800" dirty="0">
                <a:solidFill>
                  <a:srgbClr val="FF0000"/>
                </a:solidFill>
              </a:rPr>
              <a:t>→</a:t>
            </a:r>
            <a:r>
              <a:rPr lang="en-US" altLang="zh-CN" sz="1800" dirty="0">
                <a:solidFill>
                  <a:srgbClr val="FF0000"/>
                </a:solidFill>
              </a:rPr>
              <a:t>4 </a:t>
            </a:r>
            <a:r>
              <a:rPr lang="zh-CN" altLang="en-US" sz="1800" dirty="0"/>
              <a:t>是一条有向边，</a:t>
            </a:r>
            <a:r>
              <a:rPr lang="en-US" altLang="zh-CN" sz="1800" dirty="0"/>
              <a:t>4</a:t>
            </a:r>
            <a:r>
              <a:rPr lang="zh-CN" altLang="en-US" sz="1800" dirty="0"/>
              <a:t>是</a:t>
            </a:r>
            <a:r>
              <a:rPr lang="en-US" altLang="zh-CN" sz="1800" dirty="0"/>
              <a:t>7</a:t>
            </a:r>
            <a:r>
              <a:rPr lang="zh-CN" altLang="en-US" sz="1800" dirty="0"/>
              <a:t>的必经结点</a:t>
            </a:r>
            <a:endParaRPr lang="en-US" altLang="zh-CN" sz="1800" dirty="0"/>
          </a:p>
        </p:txBody>
      </p:sp>
      <p:sp>
        <p:nvSpPr>
          <p:cNvPr id="12" name="Rectangle 3"/>
          <p:cNvSpPr txBox="1">
            <a:spLocks noChangeArrowheads="1"/>
          </p:cNvSpPr>
          <p:nvPr/>
        </p:nvSpPr>
        <p:spPr>
          <a:xfrm>
            <a:off x="885267" y="3867894"/>
            <a:ext cx="5495528" cy="1172666"/>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a:lnSpc>
                <a:spcPct val="90000"/>
              </a:lnSpc>
              <a:spcBef>
                <a:spcPts val="0"/>
              </a:spcBef>
              <a:buFontTx/>
              <a:buNone/>
            </a:pPr>
            <a:r>
              <a:rPr lang="zh-CN" altLang="en-US" sz="1800" dirty="0"/>
              <a:t>循环</a:t>
            </a:r>
            <a:r>
              <a:rPr lang="en-US" altLang="zh-CN" sz="1800" dirty="0"/>
              <a:t>(</a:t>
            </a:r>
            <a:r>
              <a:rPr lang="zh-CN" altLang="en-US" sz="1800" dirty="0"/>
              <a:t>结点序列的性质</a:t>
            </a:r>
            <a:r>
              <a:rPr lang="en-US" altLang="zh-CN" sz="1800" dirty="0"/>
              <a:t>)</a:t>
            </a:r>
          </a:p>
          <a:p>
            <a:pPr>
              <a:lnSpc>
                <a:spcPct val="90000"/>
              </a:lnSpc>
              <a:spcBef>
                <a:spcPts val="0"/>
              </a:spcBef>
              <a:buFontTx/>
              <a:buNone/>
            </a:pPr>
            <a:r>
              <a:rPr lang="en-US" altLang="zh-CN" sz="1800" dirty="0"/>
              <a:t>1.</a:t>
            </a:r>
            <a:r>
              <a:rPr lang="zh-CN" altLang="en-US" sz="1800" dirty="0"/>
              <a:t>强连通的</a:t>
            </a:r>
            <a:r>
              <a:rPr lang="en-US" altLang="zh-CN" sz="1800" dirty="0"/>
              <a:t>(</a:t>
            </a:r>
            <a:r>
              <a:rPr lang="zh-CN" altLang="en-US" sz="1800" dirty="0"/>
              <a:t>任意两结点间</a:t>
            </a:r>
            <a:r>
              <a:rPr lang="en-US" altLang="zh-CN" sz="1800" dirty="0"/>
              <a:t>,</a:t>
            </a:r>
            <a:r>
              <a:rPr lang="zh-CN" altLang="en-US" sz="1800" dirty="0"/>
              <a:t>必有一条通路</a:t>
            </a:r>
            <a:r>
              <a:rPr lang="en-US" altLang="zh-CN" sz="1800" dirty="0"/>
              <a:t>,</a:t>
            </a:r>
            <a:r>
              <a:rPr lang="zh-CN" altLang="en-US" sz="1800" dirty="0"/>
              <a:t>且该通路上各结点都属于该结点序列</a:t>
            </a:r>
            <a:r>
              <a:rPr lang="en-US" altLang="zh-CN" sz="1800" dirty="0"/>
              <a:t>)</a:t>
            </a:r>
          </a:p>
          <a:p>
            <a:pPr>
              <a:lnSpc>
                <a:spcPct val="90000"/>
              </a:lnSpc>
              <a:spcBef>
                <a:spcPts val="0"/>
              </a:spcBef>
              <a:buFontTx/>
              <a:buNone/>
            </a:pPr>
            <a:r>
              <a:rPr lang="en-US" altLang="zh-CN" sz="1800" dirty="0"/>
              <a:t>2.</a:t>
            </a:r>
            <a:r>
              <a:rPr lang="zh-CN" altLang="en-US" sz="1800" dirty="0"/>
              <a:t>它们中间有且只有一个是入口结点。</a:t>
            </a:r>
          </a:p>
        </p:txBody>
      </p:sp>
    </p:spTree>
    <p:extLst>
      <p:ext uri="{BB962C8B-B14F-4D97-AF65-F5344CB8AC3E}">
        <p14:creationId xmlns:p14="http://schemas.microsoft.com/office/powerpoint/2010/main" val="3473456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3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p:bldP spid="7" grpId="0" animBg="1"/>
      <p:bldP spid="11" grpId="0" animBg="1"/>
      <p:bldP spid="1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0" y="123478"/>
            <a:ext cx="7772400" cy="648072"/>
          </a:xfrm>
          <a:noFill/>
        </p:spPr>
        <p:txBody>
          <a:bodyPr>
            <a:normAutofit/>
          </a:bodyPr>
          <a:lstStyle/>
          <a:p>
            <a:pPr eaLnBrk="1" hangingPunct="1"/>
            <a:r>
              <a:rPr lang="zh-CN" altLang="en-US" sz="3200" b="1" dirty="0"/>
              <a:t>循环的性质</a:t>
            </a:r>
          </a:p>
        </p:txBody>
      </p:sp>
      <p:sp>
        <p:nvSpPr>
          <p:cNvPr id="60419" name="Rectangle 3"/>
          <p:cNvSpPr>
            <a:spLocks noGrp="1" noChangeArrowheads="1"/>
          </p:cNvSpPr>
          <p:nvPr>
            <p:ph type="body" idx="1"/>
          </p:nvPr>
        </p:nvSpPr>
        <p:spPr>
          <a:xfrm>
            <a:off x="777679" y="852530"/>
            <a:ext cx="7391400" cy="2457450"/>
          </a:xfrm>
          <a:noFill/>
        </p:spPr>
        <p:txBody>
          <a:bodyPr lIns="92075" tIns="46038" rIns="92075" bIns="46038">
            <a:noAutofit/>
          </a:bodyPr>
          <a:lstStyle/>
          <a:p>
            <a:pPr eaLnBrk="1" hangingPunct="1"/>
            <a:r>
              <a:rPr lang="zh-CN" altLang="en-US" sz="2200" dirty="0"/>
              <a:t>两个循环的关系：</a:t>
            </a:r>
          </a:p>
          <a:p>
            <a:pPr lvl="1" eaLnBrk="1" hangingPunct="1"/>
            <a:r>
              <a:rPr lang="zh-CN" altLang="en-US" dirty="0"/>
              <a:t>流图中任意两个循环要么是嵌套的，要么不相交（可能有公共的入口结点）</a:t>
            </a:r>
          </a:p>
          <a:p>
            <a:pPr eaLnBrk="1" hangingPunct="1"/>
            <a:r>
              <a:rPr lang="zh-CN" altLang="en-US" sz="2200" dirty="0"/>
              <a:t>内循环：不包含任何其它循环的循环</a:t>
            </a:r>
          </a:p>
          <a:p>
            <a:pPr lvl="1" eaLnBrk="1" hangingPunct="1"/>
            <a:r>
              <a:rPr lang="zh-CN" altLang="en-US" dirty="0"/>
              <a:t>如果两个自然循环有相同的首结点，且两个循环不是一个嵌在另一个里面时，可以考虑将二者合并，当成是一个循环</a:t>
            </a:r>
          </a:p>
        </p:txBody>
      </p:sp>
      <p:grpSp>
        <p:nvGrpSpPr>
          <p:cNvPr id="60420" name="Group 4"/>
          <p:cNvGrpSpPr>
            <a:grpSpLocks/>
          </p:cNvGrpSpPr>
          <p:nvPr/>
        </p:nvGrpSpPr>
        <p:grpSpPr bwMode="auto">
          <a:xfrm>
            <a:off x="3409635" y="3296771"/>
            <a:ext cx="4369668" cy="1828800"/>
            <a:chOff x="1616" y="2496"/>
            <a:chExt cx="3048" cy="1632"/>
          </a:xfrm>
        </p:grpSpPr>
        <p:sp>
          <p:nvSpPr>
            <p:cNvPr id="60421" name="Text Box 5"/>
            <p:cNvSpPr txBox="1">
              <a:spLocks noChangeArrowheads="1"/>
            </p:cNvSpPr>
            <p:nvPr/>
          </p:nvSpPr>
          <p:spPr bwMode="auto">
            <a:xfrm>
              <a:off x="2870" y="2666"/>
              <a:ext cx="28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type="none" w="sm" len="sm"/>
                  <a:tailEnd type="none" w="lg" len="me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1800" dirty="0"/>
                <a:t>B0</a:t>
              </a:r>
            </a:p>
          </p:txBody>
        </p:sp>
        <p:sp>
          <p:nvSpPr>
            <p:cNvPr id="60422" name="Rectangle 6"/>
            <p:cNvSpPr>
              <a:spLocks noChangeArrowheads="1"/>
            </p:cNvSpPr>
            <p:nvPr/>
          </p:nvSpPr>
          <p:spPr bwMode="auto">
            <a:xfrm>
              <a:off x="2880" y="2688"/>
              <a:ext cx="288" cy="240"/>
            </a:xfrm>
            <a:prstGeom prst="rect">
              <a:avLst/>
            </a:prstGeom>
            <a:noFill/>
            <a:ln w="22225">
              <a:solidFill>
                <a:schemeClr val="tx1"/>
              </a:solidFill>
              <a:miter lim="800000"/>
              <a:headEnd type="none" w="sm" len="sm"/>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1800"/>
            </a:p>
          </p:txBody>
        </p:sp>
        <p:sp>
          <p:nvSpPr>
            <p:cNvPr id="60423" name="Text Box 7"/>
            <p:cNvSpPr txBox="1">
              <a:spLocks noChangeArrowheads="1"/>
            </p:cNvSpPr>
            <p:nvPr/>
          </p:nvSpPr>
          <p:spPr bwMode="auto">
            <a:xfrm>
              <a:off x="2880" y="3168"/>
              <a:ext cx="28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type="none" w="sm" len="sm"/>
                  <a:tailEnd type="none" w="lg" len="me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1800"/>
                <a:t>B1</a:t>
              </a:r>
            </a:p>
          </p:txBody>
        </p:sp>
        <p:sp>
          <p:nvSpPr>
            <p:cNvPr id="60424" name="Rectangle 8"/>
            <p:cNvSpPr>
              <a:spLocks noChangeArrowheads="1"/>
            </p:cNvSpPr>
            <p:nvPr/>
          </p:nvSpPr>
          <p:spPr bwMode="auto">
            <a:xfrm>
              <a:off x="2890" y="3190"/>
              <a:ext cx="288" cy="240"/>
            </a:xfrm>
            <a:prstGeom prst="rect">
              <a:avLst/>
            </a:prstGeom>
            <a:noFill/>
            <a:ln w="22225">
              <a:solidFill>
                <a:schemeClr val="tx1"/>
              </a:solidFill>
              <a:miter lim="800000"/>
              <a:headEnd type="none" w="sm" len="sm"/>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1800"/>
            </a:p>
          </p:txBody>
        </p:sp>
        <p:sp>
          <p:nvSpPr>
            <p:cNvPr id="60425" name="Text Box 9"/>
            <p:cNvSpPr txBox="1">
              <a:spLocks noChangeArrowheads="1"/>
            </p:cNvSpPr>
            <p:nvPr/>
          </p:nvSpPr>
          <p:spPr bwMode="auto">
            <a:xfrm>
              <a:off x="2304" y="3600"/>
              <a:ext cx="28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type="none" w="sm" len="sm"/>
                  <a:tailEnd type="none" w="lg" len="me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1800"/>
                <a:t>B2</a:t>
              </a:r>
            </a:p>
          </p:txBody>
        </p:sp>
        <p:sp>
          <p:nvSpPr>
            <p:cNvPr id="60426" name="Rectangle 10"/>
            <p:cNvSpPr>
              <a:spLocks noChangeArrowheads="1"/>
            </p:cNvSpPr>
            <p:nvPr/>
          </p:nvSpPr>
          <p:spPr bwMode="auto">
            <a:xfrm>
              <a:off x="2314" y="3622"/>
              <a:ext cx="288" cy="240"/>
            </a:xfrm>
            <a:prstGeom prst="rect">
              <a:avLst/>
            </a:prstGeom>
            <a:noFill/>
            <a:ln w="22225">
              <a:solidFill>
                <a:schemeClr val="tx1"/>
              </a:solidFill>
              <a:miter lim="800000"/>
              <a:headEnd type="none" w="sm" len="sm"/>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1800"/>
            </a:p>
          </p:txBody>
        </p:sp>
        <p:sp>
          <p:nvSpPr>
            <p:cNvPr id="60427" name="Text Box 11"/>
            <p:cNvSpPr txBox="1">
              <a:spLocks noChangeArrowheads="1"/>
            </p:cNvSpPr>
            <p:nvPr/>
          </p:nvSpPr>
          <p:spPr bwMode="auto">
            <a:xfrm>
              <a:off x="3552" y="3600"/>
              <a:ext cx="28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type="none" w="sm" len="sm"/>
                  <a:tailEnd type="none" w="lg" len="me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1800"/>
                <a:t>B3</a:t>
              </a:r>
            </a:p>
          </p:txBody>
        </p:sp>
        <p:sp>
          <p:nvSpPr>
            <p:cNvPr id="60428" name="Rectangle 12"/>
            <p:cNvSpPr>
              <a:spLocks noChangeArrowheads="1"/>
            </p:cNvSpPr>
            <p:nvPr/>
          </p:nvSpPr>
          <p:spPr bwMode="auto">
            <a:xfrm>
              <a:off x="3562" y="3622"/>
              <a:ext cx="288" cy="240"/>
            </a:xfrm>
            <a:prstGeom prst="rect">
              <a:avLst/>
            </a:prstGeom>
            <a:noFill/>
            <a:ln w="22225">
              <a:solidFill>
                <a:schemeClr val="tx1"/>
              </a:solidFill>
              <a:miter lim="800000"/>
              <a:headEnd type="none" w="sm" len="sm"/>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1800"/>
            </a:p>
          </p:txBody>
        </p:sp>
        <p:sp>
          <p:nvSpPr>
            <p:cNvPr id="60429" name="Line 13"/>
            <p:cNvSpPr>
              <a:spLocks noChangeShapeType="1"/>
            </p:cNvSpPr>
            <p:nvPr/>
          </p:nvSpPr>
          <p:spPr bwMode="auto">
            <a:xfrm>
              <a:off x="3024" y="2928"/>
              <a:ext cx="0" cy="24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60430" name="Line 14"/>
            <p:cNvSpPr>
              <a:spLocks noChangeShapeType="1"/>
            </p:cNvSpPr>
            <p:nvPr/>
          </p:nvSpPr>
          <p:spPr bwMode="auto">
            <a:xfrm flipH="1">
              <a:off x="2448" y="3456"/>
              <a:ext cx="576" cy="144"/>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60431" name="Line 15"/>
            <p:cNvSpPr>
              <a:spLocks noChangeShapeType="1"/>
            </p:cNvSpPr>
            <p:nvPr/>
          </p:nvSpPr>
          <p:spPr bwMode="auto">
            <a:xfrm>
              <a:off x="3072" y="3456"/>
              <a:ext cx="624" cy="144"/>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60432" name="Line 16"/>
            <p:cNvSpPr>
              <a:spLocks noChangeShapeType="1"/>
            </p:cNvSpPr>
            <p:nvPr/>
          </p:nvSpPr>
          <p:spPr bwMode="auto">
            <a:xfrm>
              <a:off x="2832" y="2496"/>
              <a:ext cx="192" cy="19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60433" name="Line 17"/>
            <p:cNvSpPr>
              <a:spLocks noChangeShapeType="1"/>
            </p:cNvSpPr>
            <p:nvPr/>
          </p:nvSpPr>
          <p:spPr bwMode="auto">
            <a:xfrm flipH="1">
              <a:off x="3024" y="2496"/>
              <a:ext cx="192" cy="19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60434" name="Freeform 18"/>
            <p:cNvSpPr>
              <a:spLocks/>
            </p:cNvSpPr>
            <p:nvPr/>
          </p:nvSpPr>
          <p:spPr bwMode="auto">
            <a:xfrm>
              <a:off x="1616" y="2496"/>
              <a:ext cx="1264" cy="1632"/>
            </a:xfrm>
            <a:custGeom>
              <a:avLst/>
              <a:gdLst>
                <a:gd name="T0" fmla="*/ 718 w 1312"/>
                <a:gd name="T1" fmla="*/ 1266 h 1688"/>
                <a:gd name="T2" fmla="*/ 469 w 1312"/>
                <a:gd name="T3" fmla="*/ 1391 h 1688"/>
                <a:gd name="T4" fmla="*/ 56 w 1312"/>
                <a:gd name="T5" fmla="*/ 762 h 1688"/>
                <a:gd name="T6" fmla="*/ 800 w 1312"/>
                <a:gd name="T7" fmla="*/ 92 h 1688"/>
                <a:gd name="T8" fmla="*/ 1130 w 1312"/>
                <a:gd name="T9" fmla="*/ 217 h 1688"/>
                <a:gd name="T10" fmla="*/ 0 60000 65536"/>
                <a:gd name="T11" fmla="*/ 0 60000 65536"/>
                <a:gd name="T12" fmla="*/ 0 60000 65536"/>
                <a:gd name="T13" fmla="*/ 0 60000 65536"/>
                <a:gd name="T14" fmla="*/ 0 60000 65536"/>
                <a:gd name="T15" fmla="*/ 0 w 1312"/>
                <a:gd name="T16" fmla="*/ 0 h 1688"/>
                <a:gd name="T17" fmla="*/ 1312 w 1312"/>
                <a:gd name="T18" fmla="*/ 1688 h 1688"/>
              </a:gdLst>
              <a:ahLst/>
              <a:cxnLst>
                <a:cxn ang="T10">
                  <a:pos x="T0" y="T1"/>
                </a:cxn>
                <a:cxn ang="T11">
                  <a:pos x="T2" y="T3"/>
                </a:cxn>
                <a:cxn ang="T12">
                  <a:pos x="T4" y="T5"/>
                </a:cxn>
                <a:cxn ang="T13">
                  <a:pos x="T6" y="T7"/>
                </a:cxn>
                <a:cxn ang="T14">
                  <a:pos x="T8" y="T9"/>
                </a:cxn>
              </a:cxnLst>
              <a:rect l="T15" t="T16" r="T17" b="T18"/>
              <a:pathLst>
                <a:path w="1312" h="1688">
                  <a:moveTo>
                    <a:pt x="832" y="1448"/>
                  </a:moveTo>
                  <a:cubicBezTo>
                    <a:pt x="752" y="1568"/>
                    <a:pt x="672" y="1688"/>
                    <a:pt x="544" y="1592"/>
                  </a:cubicBezTo>
                  <a:cubicBezTo>
                    <a:pt x="416" y="1496"/>
                    <a:pt x="0" y="1120"/>
                    <a:pt x="64" y="872"/>
                  </a:cubicBezTo>
                  <a:cubicBezTo>
                    <a:pt x="128" y="624"/>
                    <a:pt x="720" y="208"/>
                    <a:pt x="928" y="104"/>
                  </a:cubicBezTo>
                  <a:cubicBezTo>
                    <a:pt x="1136" y="0"/>
                    <a:pt x="1248" y="224"/>
                    <a:pt x="1312" y="248"/>
                  </a:cubicBezTo>
                </a:path>
              </a:pathLst>
            </a:custGeom>
            <a:noFill/>
            <a:ln w="28575" cap="flat" cmpd="sng">
              <a:solidFill>
                <a:schemeClr val="tx1"/>
              </a:solidFill>
              <a:prstDash val="solid"/>
              <a:round/>
              <a:headEnd type="none" w="sm" len="sm"/>
              <a:tailEnd type="triangle" w="lg" len="med"/>
            </a:ln>
            <a:extLst>
              <a:ext uri="{909E8E84-426E-40DD-AFC4-6F175D3DCCD1}">
                <a14:hiddenFill xmlns:a14="http://schemas.microsoft.com/office/drawing/2010/main">
                  <a:solidFill>
                    <a:srgbClr val="FFFFFF"/>
                  </a:solidFill>
                </a14:hiddenFill>
              </a:ext>
            </a:extLst>
          </p:spPr>
          <p:txBody>
            <a:bodyPr/>
            <a:lstStyle/>
            <a:p>
              <a:endParaRPr lang="zh-CN" altLang="en-US" sz="1400"/>
            </a:p>
          </p:txBody>
        </p:sp>
        <p:sp>
          <p:nvSpPr>
            <p:cNvPr id="60435" name="Freeform 19"/>
            <p:cNvSpPr>
              <a:spLocks/>
            </p:cNvSpPr>
            <p:nvPr/>
          </p:nvSpPr>
          <p:spPr bwMode="auto">
            <a:xfrm>
              <a:off x="3168" y="2496"/>
              <a:ext cx="1496" cy="1616"/>
            </a:xfrm>
            <a:custGeom>
              <a:avLst/>
              <a:gdLst>
                <a:gd name="T0" fmla="*/ 550 w 1544"/>
                <a:gd name="T1" fmla="*/ 1204 h 1680"/>
                <a:gd name="T2" fmla="*/ 889 w 1544"/>
                <a:gd name="T3" fmla="*/ 1370 h 1680"/>
                <a:gd name="T4" fmla="*/ 1269 w 1544"/>
                <a:gd name="T5" fmla="*/ 795 h 1680"/>
                <a:gd name="T6" fmla="*/ 338 w 1544"/>
                <a:gd name="T7" fmla="*/ 96 h 1680"/>
                <a:gd name="T8" fmla="*/ 0 w 1544"/>
                <a:gd name="T9" fmla="*/ 219 h 1680"/>
                <a:gd name="T10" fmla="*/ 0 60000 65536"/>
                <a:gd name="T11" fmla="*/ 0 60000 65536"/>
                <a:gd name="T12" fmla="*/ 0 60000 65536"/>
                <a:gd name="T13" fmla="*/ 0 60000 65536"/>
                <a:gd name="T14" fmla="*/ 0 60000 65536"/>
                <a:gd name="T15" fmla="*/ 0 w 1544"/>
                <a:gd name="T16" fmla="*/ 0 h 1680"/>
                <a:gd name="T17" fmla="*/ 1544 w 1544"/>
                <a:gd name="T18" fmla="*/ 1680 h 1680"/>
              </a:gdLst>
              <a:ahLst/>
              <a:cxnLst>
                <a:cxn ang="T10">
                  <a:pos x="T0" y="T1"/>
                </a:cxn>
                <a:cxn ang="T11">
                  <a:pos x="T2" y="T3"/>
                </a:cxn>
                <a:cxn ang="T12">
                  <a:pos x="T4" y="T5"/>
                </a:cxn>
                <a:cxn ang="T13">
                  <a:pos x="T6" y="T7"/>
                </a:cxn>
                <a:cxn ang="T14">
                  <a:pos x="T8" y="T9"/>
                </a:cxn>
              </a:cxnLst>
              <a:rect l="T15" t="T16" r="T17" b="T18"/>
              <a:pathLst>
                <a:path w="1544" h="1680">
                  <a:moveTo>
                    <a:pt x="624" y="1408"/>
                  </a:moveTo>
                  <a:cubicBezTo>
                    <a:pt x="748" y="1544"/>
                    <a:pt x="872" y="1680"/>
                    <a:pt x="1008" y="1600"/>
                  </a:cubicBezTo>
                  <a:cubicBezTo>
                    <a:pt x="1144" y="1520"/>
                    <a:pt x="1544" y="1176"/>
                    <a:pt x="1440" y="928"/>
                  </a:cubicBezTo>
                  <a:cubicBezTo>
                    <a:pt x="1336" y="680"/>
                    <a:pt x="624" y="224"/>
                    <a:pt x="384" y="112"/>
                  </a:cubicBezTo>
                  <a:cubicBezTo>
                    <a:pt x="144" y="0"/>
                    <a:pt x="72" y="128"/>
                    <a:pt x="0" y="256"/>
                  </a:cubicBezTo>
                </a:path>
              </a:pathLst>
            </a:custGeom>
            <a:noFill/>
            <a:ln w="28575" cap="flat" cmpd="sng">
              <a:solidFill>
                <a:schemeClr val="tx1"/>
              </a:solidFill>
              <a:prstDash val="solid"/>
              <a:round/>
              <a:headEnd type="none" w="sm" len="sm"/>
              <a:tailEnd type="triangle" w="lg" len="med"/>
            </a:ln>
            <a:extLst>
              <a:ext uri="{909E8E84-426E-40DD-AFC4-6F175D3DCCD1}">
                <a14:hiddenFill xmlns:a14="http://schemas.microsoft.com/office/drawing/2010/main">
                  <a:solidFill>
                    <a:srgbClr val="FFFFFF"/>
                  </a:solidFill>
                </a14:hiddenFill>
              </a:ext>
            </a:extLst>
          </p:spPr>
          <p:txBody>
            <a:bodyPr/>
            <a:lstStyle/>
            <a:p>
              <a:endParaRPr lang="zh-CN" altLang="en-US" sz="1400"/>
            </a:p>
          </p:txBody>
        </p:sp>
      </p:grpSp>
    </p:spTree>
    <p:extLst>
      <p:ext uri="{BB962C8B-B14F-4D97-AF65-F5344CB8AC3E}">
        <p14:creationId xmlns:p14="http://schemas.microsoft.com/office/powerpoint/2010/main" val="17685716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ormAutofit fontScale="90000"/>
          </a:bodyPr>
          <a:lstStyle/>
          <a:p>
            <a:pPr eaLnBrk="1" hangingPunct="1"/>
            <a:endParaRPr lang="zh-CN" altLang="zh-CN"/>
          </a:p>
        </p:txBody>
      </p:sp>
      <p:sp>
        <p:nvSpPr>
          <p:cNvPr id="61443" name="Rectangle 3"/>
          <p:cNvSpPr>
            <a:spLocks noGrp="1" noChangeArrowheads="1"/>
          </p:cNvSpPr>
          <p:nvPr>
            <p:ph type="body" idx="1"/>
          </p:nvPr>
        </p:nvSpPr>
        <p:spPr>
          <a:xfrm>
            <a:off x="251520" y="3435846"/>
            <a:ext cx="7427168" cy="874192"/>
          </a:xfrm>
        </p:spPr>
        <p:txBody>
          <a:bodyPr>
            <a:normAutofit/>
          </a:bodyPr>
          <a:lstStyle/>
          <a:p>
            <a:pPr eaLnBrk="1" hangingPunct="1"/>
            <a:r>
              <a:rPr lang="zh-CN" altLang="en-US" sz="2000" dirty="0">
                <a:solidFill>
                  <a:srgbClr val="FF0000"/>
                </a:solidFill>
              </a:rPr>
              <a:t>变量</a:t>
            </a:r>
            <a:r>
              <a:rPr lang="en-US" altLang="zh-CN" sz="2000" dirty="0">
                <a:solidFill>
                  <a:srgbClr val="FF0000"/>
                </a:solidFill>
              </a:rPr>
              <a:t>A</a:t>
            </a:r>
            <a:r>
              <a:rPr lang="zh-CN" altLang="en-US" sz="2000" dirty="0">
                <a:solidFill>
                  <a:srgbClr val="FF0000"/>
                </a:solidFill>
              </a:rPr>
              <a:t>在某点</a:t>
            </a:r>
            <a:r>
              <a:rPr lang="en-US" altLang="zh-CN" sz="2000" dirty="0">
                <a:solidFill>
                  <a:srgbClr val="FF0000"/>
                </a:solidFill>
              </a:rPr>
              <a:t>d</a:t>
            </a:r>
            <a:r>
              <a:rPr lang="zh-CN" altLang="en-US" sz="2000" dirty="0">
                <a:solidFill>
                  <a:srgbClr val="FF0000"/>
                </a:solidFill>
              </a:rPr>
              <a:t>的定值到达另一点</a:t>
            </a:r>
            <a:r>
              <a:rPr lang="en-US" altLang="zh-CN" sz="2000" dirty="0">
                <a:solidFill>
                  <a:srgbClr val="FF0000"/>
                </a:solidFill>
              </a:rPr>
              <a:t>u</a:t>
            </a:r>
            <a:r>
              <a:rPr lang="zh-CN" altLang="en-US" sz="2000" dirty="0"/>
              <a:t>，是指流图中从</a:t>
            </a:r>
            <a:r>
              <a:rPr lang="en-US" altLang="zh-CN" sz="2000" dirty="0"/>
              <a:t>d</a:t>
            </a:r>
            <a:r>
              <a:rPr lang="zh-CN" altLang="en-US" sz="2000" dirty="0"/>
              <a:t>由一通路到达</a:t>
            </a:r>
            <a:r>
              <a:rPr lang="en-US" altLang="zh-CN" sz="2000" dirty="0"/>
              <a:t>u</a:t>
            </a:r>
            <a:r>
              <a:rPr lang="zh-CN" altLang="en-US" sz="2000" dirty="0"/>
              <a:t>且该通路上没有</a:t>
            </a:r>
            <a:r>
              <a:rPr lang="en-US" altLang="zh-CN" sz="2000" dirty="0"/>
              <a:t>A</a:t>
            </a:r>
            <a:r>
              <a:rPr lang="zh-CN" altLang="en-US" sz="2000" dirty="0"/>
              <a:t>的其他定值</a:t>
            </a:r>
          </a:p>
        </p:txBody>
      </p:sp>
    </p:spTree>
    <p:extLst>
      <p:ext uri="{BB962C8B-B14F-4D97-AF65-F5344CB8AC3E}">
        <p14:creationId xmlns:p14="http://schemas.microsoft.com/office/powerpoint/2010/main" val="33190178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251520" y="267494"/>
            <a:ext cx="7772400" cy="514350"/>
          </a:xfrm>
          <a:noFill/>
        </p:spPr>
        <p:txBody>
          <a:bodyPr>
            <a:noAutofit/>
          </a:bodyPr>
          <a:lstStyle/>
          <a:p>
            <a:pPr eaLnBrk="1" hangingPunct="1"/>
            <a:r>
              <a:rPr lang="zh-CN" altLang="en-US" sz="3200" b="1" dirty="0">
                <a:solidFill>
                  <a:srgbClr val="CC00FF"/>
                </a:solidFill>
                <a:sym typeface="Symbol" pitchFamily="18" charset="2"/>
              </a:rPr>
              <a:t>循环优化技术</a:t>
            </a:r>
            <a:r>
              <a:rPr lang="en-US" altLang="zh-CN" sz="3200" b="1" dirty="0">
                <a:solidFill>
                  <a:srgbClr val="CC00FF"/>
                </a:solidFill>
                <a:sym typeface="Symbol" pitchFamily="18" charset="2"/>
              </a:rPr>
              <a:t>1—</a:t>
            </a:r>
            <a:r>
              <a:rPr lang="zh-CN" altLang="en-US" sz="3200" b="1" dirty="0">
                <a:solidFill>
                  <a:srgbClr val="CC00FF"/>
                </a:solidFill>
                <a:sym typeface="Symbol" pitchFamily="18" charset="2"/>
              </a:rPr>
              <a:t>代码外提</a:t>
            </a:r>
          </a:p>
        </p:txBody>
      </p:sp>
      <p:sp>
        <p:nvSpPr>
          <p:cNvPr id="62467" name="Rectangle 3"/>
          <p:cNvSpPr>
            <a:spLocks noGrp="1" noChangeArrowheads="1"/>
          </p:cNvSpPr>
          <p:nvPr>
            <p:ph type="body" idx="1"/>
          </p:nvPr>
        </p:nvSpPr>
        <p:spPr>
          <a:xfrm>
            <a:off x="539552" y="1131590"/>
            <a:ext cx="8001000" cy="813449"/>
          </a:xfrm>
        </p:spPr>
        <p:txBody>
          <a:bodyPr>
            <a:normAutofit/>
          </a:bodyPr>
          <a:lstStyle/>
          <a:p>
            <a:pPr eaLnBrk="1" hangingPunct="1">
              <a:spcBef>
                <a:spcPts val="0"/>
              </a:spcBef>
            </a:pPr>
            <a:r>
              <a:rPr lang="zh-CN" altLang="en-US" sz="2200" dirty="0"/>
              <a:t>对循环中的有些代码，如果它产生的结果在循环中是不变的，称为</a:t>
            </a:r>
            <a:r>
              <a:rPr lang="zh-CN" altLang="zh-CN" sz="2200" dirty="0">
                <a:solidFill>
                  <a:srgbClr val="FF0000"/>
                </a:solidFill>
              </a:rPr>
              <a:t>循环不变运算</a:t>
            </a:r>
            <a:endParaRPr lang="en-US" altLang="zh-CN" sz="2200" dirty="0">
              <a:solidFill>
                <a:srgbClr val="FF0000"/>
              </a:solidFill>
            </a:endParaRPr>
          </a:p>
        </p:txBody>
      </p:sp>
      <p:sp>
        <p:nvSpPr>
          <p:cNvPr id="62468" name="Text Box 4"/>
          <p:cNvSpPr txBox="1">
            <a:spLocks noChangeArrowheads="1"/>
          </p:cNvSpPr>
          <p:nvPr/>
        </p:nvSpPr>
        <p:spPr bwMode="auto">
          <a:xfrm>
            <a:off x="971600" y="3189764"/>
            <a:ext cx="2686000" cy="10156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a:t>while (</a:t>
            </a:r>
            <a:r>
              <a:rPr lang="en-US" altLang="zh-CN" sz="2400" dirty="0" err="1"/>
              <a:t>i</a:t>
            </a:r>
            <a:r>
              <a:rPr lang="en-US" altLang="zh-CN" sz="2400" dirty="0"/>
              <a:t>&lt;=limit - 2 )</a:t>
            </a:r>
          </a:p>
          <a:p>
            <a:pPr eaLnBrk="1" hangingPunct="1">
              <a:spcBef>
                <a:spcPct val="50000"/>
              </a:spcBef>
              <a:buFontTx/>
              <a:buNone/>
            </a:pPr>
            <a:r>
              <a:rPr lang="en-US" altLang="zh-CN" sz="2400" dirty="0"/>
              <a:t>…….</a:t>
            </a:r>
          </a:p>
        </p:txBody>
      </p:sp>
      <p:sp>
        <p:nvSpPr>
          <p:cNvPr id="62469" name="Text Box 5"/>
          <p:cNvSpPr txBox="1">
            <a:spLocks noChangeArrowheads="1"/>
          </p:cNvSpPr>
          <p:nvPr/>
        </p:nvSpPr>
        <p:spPr bwMode="auto">
          <a:xfrm>
            <a:off x="5715000" y="3018314"/>
            <a:ext cx="2590800" cy="15696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a:t>t=limit - 2</a:t>
            </a:r>
          </a:p>
          <a:p>
            <a:pPr eaLnBrk="1" hangingPunct="1">
              <a:spcBef>
                <a:spcPct val="50000"/>
              </a:spcBef>
              <a:buFontTx/>
              <a:buNone/>
            </a:pPr>
            <a:r>
              <a:rPr lang="en-US" altLang="zh-CN" sz="2400" dirty="0"/>
              <a:t>while (</a:t>
            </a:r>
            <a:r>
              <a:rPr lang="en-US" altLang="zh-CN" sz="2400" dirty="0" err="1"/>
              <a:t>i</a:t>
            </a:r>
            <a:r>
              <a:rPr lang="en-US" altLang="zh-CN" sz="2400" dirty="0"/>
              <a:t> &lt;= t )</a:t>
            </a:r>
          </a:p>
          <a:p>
            <a:pPr eaLnBrk="1" hangingPunct="1">
              <a:spcBef>
                <a:spcPct val="50000"/>
              </a:spcBef>
              <a:buFontTx/>
              <a:buNone/>
            </a:pPr>
            <a:r>
              <a:rPr lang="en-US" altLang="zh-CN" sz="2400" dirty="0"/>
              <a:t>…….</a:t>
            </a:r>
          </a:p>
        </p:txBody>
      </p:sp>
      <p:sp>
        <p:nvSpPr>
          <p:cNvPr id="62470" name="AutoShape 6"/>
          <p:cNvSpPr>
            <a:spLocks noChangeArrowheads="1"/>
          </p:cNvSpPr>
          <p:nvPr/>
        </p:nvSpPr>
        <p:spPr bwMode="auto">
          <a:xfrm>
            <a:off x="3810000" y="3361213"/>
            <a:ext cx="1752600" cy="285750"/>
          </a:xfrm>
          <a:prstGeom prst="rightArrow">
            <a:avLst>
              <a:gd name="adj1" fmla="val 50000"/>
              <a:gd name="adj2" fmla="val 115000"/>
            </a:avLst>
          </a:prstGeom>
          <a:solidFill>
            <a:schemeClr val="accent1"/>
          </a:solidFill>
          <a:ln w="9525">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8" name="Rectangle 3"/>
          <p:cNvSpPr txBox="1">
            <a:spLocks noChangeArrowheads="1"/>
          </p:cNvSpPr>
          <p:nvPr/>
        </p:nvSpPr>
        <p:spPr>
          <a:xfrm>
            <a:off x="531440" y="1945039"/>
            <a:ext cx="8001000" cy="857251"/>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spcBef>
                <a:spcPts val="0"/>
              </a:spcBef>
            </a:pPr>
            <a:r>
              <a:rPr lang="zh-CN" altLang="en-US" sz="2000" dirty="0"/>
              <a:t>对其进行</a:t>
            </a:r>
            <a:r>
              <a:rPr lang="zh-CN" altLang="zh-CN" sz="2000" dirty="0"/>
              <a:t>优化的主要措施是</a:t>
            </a:r>
            <a:r>
              <a:rPr lang="zh-CN" altLang="zh-CN" sz="2000" dirty="0">
                <a:solidFill>
                  <a:srgbClr val="FF0000"/>
                </a:solidFill>
              </a:rPr>
              <a:t>代码外提</a:t>
            </a:r>
            <a:r>
              <a:rPr lang="zh-CN" altLang="zh-CN" sz="2000" dirty="0"/>
              <a:t>，即把循环中的不变计算放到循环外，程序的执行结果不变，而执行速度却提高了。</a:t>
            </a:r>
            <a:endParaRPr lang="en-US" altLang="zh-CN" sz="2200" dirty="0">
              <a:solidFill>
                <a:srgbClr val="FF0000"/>
              </a:solidFill>
            </a:endParaRPr>
          </a:p>
        </p:txBody>
      </p:sp>
    </p:spTree>
    <p:extLst>
      <p:ext uri="{BB962C8B-B14F-4D97-AF65-F5344CB8AC3E}">
        <p14:creationId xmlns:p14="http://schemas.microsoft.com/office/powerpoint/2010/main" val="302866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2470"/>
                                        </p:tgtEl>
                                        <p:attrNameLst>
                                          <p:attrName>style.visibility</p:attrName>
                                        </p:attrNameLst>
                                      </p:cBhvr>
                                      <p:to>
                                        <p:strVal val="visible"/>
                                      </p:to>
                                    </p:set>
                                    <p:animEffect transition="in" filter="wipe(left)">
                                      <p:cBhvr>
                                        <p:cTn id="11" dur="500"/>
                                        <p:tgtEl>
                                          <p:spTgt spid="62470"/>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2469"/>
                                        </p:tgtEl>
                                        <p:attrNameLst>
                                          <p:attrName>style.visibility</p:attrName>
                                        </p:attrNameLst>
                                      </p:cBhvr>
                                      <p:to>
                                        <p:strVal val="visible"/>
                                      </p:to>
                                    </p:set>
                                    <p:animEffect transition="in" filter="wipe(left)">
                                      <p:cBhvr>
                                        <p:cTn id="14" dur="500"/>
                                        <p:tgtEl>
                                          <p:spTgt spid="62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animBg="1"/>
      <p:bldP spid="62469" grpId="0" animBg="1"/>
      <p:bldP spid="6247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755650" y="0"/>
            <a:ext cx="7772400" cy="857250"/>
          </a:xfrm>
          <a:noFill/>
        </p:spPr>
        <p:txBody>
          <a:bodyPr>
            <a:normAutofit/>
          </a:bodyPr>
          <a:lstStyle/>
          <a:p>
            <a:pPr eaLnBrk="1" hangingPunct="1"/>
            <a:r>
              <a:rPr lang="zh-CN" altLang="en-US" sz="3200" dirty="0">
                <a:solidFill>
                  <a:srgbClr val="CC00FF"/>
                </a:solidFill>
              </a:rPr>
              <a:t>代码外提</a:t>
            </a:r>
          </a:p>
        </p:txBody>
      </p:sp>
      <p:sp>
        <p:nvSpPr>
          <p:cNvPr id="63491" name="Rectangle 3"/>
          <p:cNvSpPr>
            <a:spLocks noGrp="1" noChangeArrowheads="1"/>
          </p:cNvSpPr>
          <p:nvPr>
            <p:ph type="body" idx="1"/>
          </p:nvPr>
        </p:nvSpPr>
        <p:spPr>
          <a:xfrm>
            <a:off x="539750" y="789385"/>
            <a:ext cx="7704138" cy="1782366"/>
          </a:xfrm>
          <a:noFill/>
        </p:spPr>
        <p:txBody>
          <a:bodyPr lIns="92075" tIns="46038" rIns="92075" bIns="46038">
            <a:normAutofit/>
          </a:bodyPr>
          <a:lstStyle/>
          <a:p>
            <a:pPr eaLnBrk="1" hangingPunct="1">
              <a:spcBef>
                <a:spcPts val="0"/>
              </a:spcBef>
            </a:pPr>
            <a:r>
              <a:rPr lang="zh-CN" altLang="en-US" sz="2000" dirty="0"/>
              <a:t>把循环不变计算提到循环外面，在入口结点的前面创建一个新的基本块，叫做</a:t>
            </a:r>
            <a:r>
              <a:rPr lang="zh-CN" altLang="en-US" sz="2000" i="1" u="sng" dirty="0">
                <a:solidFill>
                  <a:srgbClr val="FF0000"/>
                </a:solidFill>
              </a:rPr>
              <a:t>前置结点</a:t>
            </a:r>
            <a:r>
              <a:rPr lang="zh-CN" altLang="en-US" sz="2000" dirty="0"/>
              <a:t>。</a:t>
            </a:r>
            <a:endParaRPr lang="zh-CN" altLang="en-US" sz="2000" dirty="0">
              <a:solidFill>
                <a:srgbClr val="FF0000"/>
              </a:solidFill>
            </a:endParaRPr>
          </a:p>
          <a:p>
            <a:pPr eaLnBrk="1" hangingPunct="1">
              <a:spcBef>
                <a:spcPts val="0"/>
              </a:spcBef>
            </a:pPr>
            <a:r>
              <a:rPr lang="zh-CN" altLang="en-US" sz="2000" dirty="0"/>
              <a:t>前置结点唯一的后继是</a:t>
            </a:r>
            <a:r>
              <a:rPr lang="en-US" altLang="zh-CN" sz="2000" dirty="0"/>
              <a:t>L</a:t>
            </a:r>
            <a:r>
              <a:rPr lang="zh-CN" altLang="en-US" sz="2000" dirty="0"/>
              <a:t>的首结点</a:t>
            </a:r>
          </a:p>
          <a:p>
            <a:pPr eaLnBrk="1" hangingPunct="1">
              <a:spcBef>
                <a:spcPts val="0"/>
              </a:spcBef>
            </a:pPr>
            <a:r>
              <a:rPr lang="zh-CN" altLang="en-US" sz="2000" dirty="0"/>
              <a:t>将原来从</a:t>
            </a:r>
            <a:r>
              <a:rPr lang="en-US" altLang="zh-CN" sz="2000" dirty="0"/>
              <a:t>L</a:t>
            </a:r>
            <a:r>
              <a:rPr lang="zh-CN" altLang="en-US" sz="2000" dirty="0"/>
              <a:t>外到达</a:t>
            </a:r>
            <a:r>
              <a:rPr lang="en-US" altLang="zh-CN" sz="2000" dirty="0"/>
              <a:t>L</a:t>
            </a:r>
            <a:r>
              <a:rPr lang="zh-CN" altLang="en-US" sz="2000" dirty="0"/>
              <a:t>首结点的边都改成进入前置结点</a:t>
            </a:r>
          </a:p>
          <a:p>
            <a:pPr eaLnBrk="1" hangingPunct="1">
              <a:spcBef>
                <a:spcPts val="0"/>
              </a:spcBef>
            </a:pPr>
            <a:r>
              <a:rPr lang="zh-CN" altLang="en-US" sz="2000" dirty="0"/>
              <a:t>从</a:t>
            </a:r>
            <a:r>
              <a:rPr lang="en-US" altLang="zh-CN" sz="2000" dirty="0"/>
              <a:t>L</a:t>
            </a:r>
            <a:r>
              <a:rPr lang="zh-CN" altLang="en-US" sz="2000" dirty="0"/>
              <a:t>内到达入口结点的边不变</a:t>
            </a:r>
          </a:p>
        </p:txBody>
      </p:sp>
      <p:pic>
        <p:nvPicPr>
          <p:cNvPr id="63492" name="Picture 24" descr="图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2842023"/>
            <a:ext cx="2881312" cy="1710928"/>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pic>
      <p:pic>
        <p:nvPicPr>
          <p:cNvPr id="63493" name="Picture 26" descr="图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601" y="2356248"/>
            <a:ext cx="3071813" cy="2591990"/>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29934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代码外提的例子</a:t>
            </a:r>
          </a:p>
        </p:txBody>
      </p:sp>
      <p:sp>
        <p:nvSpPr>
          <p:cNvPr id="6" name="内容占位符 5"/>
          <p:cNvSpPr>
            <a:spLocks noGrp="1"/>
          </p:cNvSpPr>
          <p:nvPr>
            <p:ph idx="1"/>
          </p:nvPr>
        </p:nvSpPr>
        <p:spPr>
          <a:xfrm>
            <a:off x="584176" y="3507854"/>
            <a:ext cx="8229600" cy="709583"/>
          </a:xfrm>
        </p:spPr>
        <p:txBody>
          <a:bodyPr/>
          <a:lstStyle/>
          <a:p>
            <a:r>
              <a:rPr lang="zh-CN" altLang="en-US" dirty="0"/>
              <a:t>假定循环不改变</a:t>
            </a:r>
            <a:r>
              <a:rPr lang="en-US" altLang="zh-CN" dirty="0"/>
              <a:t>limit</a:t>
            </a:r>
            <a:r>
              <a:rPr lang="zh-CN" altLang="en-US" dirty="0"/>
              <a:t>的值</a:t>
            </a:r>
          </a:p>
        </p:txBody>
      </p:sp>
      <p:sp>
        <p:nvSpPr>
          <p:cNvPr id="7" name="矩形 6"/>
          <p:cNvSpPr/>
          <p:nvPr/>
        </p:nvSpPr>
        <p:spPr>
          <a:xfrm>
            <a:off x="611560" y="1927165"/>
            <a:ext cx="2430016" cy="1015663"/>
          </a:xfrm>
          <a:prstGeom prst="rect">
            <a:avLst/>
          </a:prstGeom>
          <a:ln>
            <a:solidFill>
              <a:schemeClr val="tx1"/>
            </a:solidFill>
          </a:ln>
        </p:spPr>
        <p:txBody>
          <a:bodyPr wrap="square">
            <a:spAutoFit/>
          </a:bodyPr>
          <a:lstStyle/>
          <a:p>
            <a:r>
              <a:rPr lang="en-US" altLang="zh-CN" sz="2000" dirty="0"/>
              <a:t>B</a:t>
            </a:r>
            <a:r>
              <a:rPr lang="en-US" altLang="zh-CN" sz="2000" baseline="-25000" dirty="0"/>
              <a:t>1</a:t>
            </a:r>
            <a:r>
              <a:rPr lang="en-US" altLang="zh-CN" sz="2000" dirty="0"/>
              <a:t>: T = limit - 2;</a:t>
            </a:r>
            <a:endParaRPr lang="zh-CN" altLang="zh-CN" sz="2000" dirty="0"/>
          </a:p>
          <a:p>
            <a:r>
              <a:rPr lang="en-US" altLang="zh-CN" sz="2000" dirty="0"/>
              <a:t>     </a:t>
            </a:r>
            <a:r>
              <a:rPr lang="zh-CN" altLang="zh-CN" sz="2000" dirty="0"/>
              <a:t>循环体</a:t>
            </a:r>
          </a:p>
          <a:p>
            <a:r>
              <a:rPr lang="en-US" altLang="zh-CN" sz="2000" dirty="0"/>
              <a:t>     if </a:t>
            </a:r>
            <a:r>
              <a:rPr lang="en-US" altLang="zh-CN" sz="2000" dirty="0" err="1"/>
              <a:t>i</a:t>
            </a:r>
            <a:r>
              <a:rPr lang="en-US" altLang="zh-CN" sz="2000" dirty="0"/>
              <a:t> &gt;T </a:t>
            </a:r>
            <a:r>
              <a:rPr lang="en-US" altLang="zh-CN" sz="2000" dirty="0" err="1"/>
              <a:t>goto</a:t>
            </a:r>
            <a:r>
              <a:rPr lang="en-US" altLang="zh-CN" sz="2000" dirty="0"/>
              <a:t> B</a:t>
            </a:r>
            <a:r>
              <a:rPr lang="en-US" altLang="zh-CN" sz="2000" baseline="-25000" dirty="0"/>
              <a:t>1</a:t>
            </a:r>
            <a:endParaRPr lang="zh-CN" altLang="en-US" sz="2000" dirty="0"/>
          </a:p>
        </p:txBody>
      </p:sp>
      <p:sp>
        <p:nvSpPr>
          <p:cNvPr id="8" name="右箭头 7"/>
          <p:cNvSpPr/>
          <p:nvPr/>
        </p:nvSpPr>
        <p:spPr>
          <a:xfrm>
            <a:off x="3041576" y="2215197"/>
            <a:ext cx="1818456" cy="252028"/>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9" name="TextBox 8"/>
          <p:cNvSpPr txBox="1"/>
          <p:nvPr/>
        </p:nvSpPr>
        <p:spPr>
          <a:xfrm>
            <a:off x="3275856" y="1845865"/>
            <a:ext cx="1424542" cy="400110"/>
          </a:xfrm>
          <a:prstGeom prst="rect">
            <a:avLst/>
          </a:prstGeom>
          <a:noFill/>
        </p:spPr>
        <p:txBody>
          <a:bodyPr wrap="square" rtlCol="0">
            <a:spAutoFit/>
          </a:bodyPr>
          <a:lstStyle/>
          <a:p>
            <a:r>
              <a:rPr lang="zh-CN" altLang="en-US" sz="2000" dirty="0"/>
              <a:t>代码外提</a:t>
            </a:r>
          </a:p>
        </p:txBody>
      </p:sp>
      <p:sp>
        <p:nvSpPr>
          <p:cNvPr id="10" name="矩形 9"/>
          <p:cNvSpPr/>
          <p:nvPr/>
        </p:nvSpPr>
        <p:spPr>
          <a:xfrm>
            <a:off x="5107090" y="1632162"/>
            <a:ext cx="1614545" cy="369332"/>
          </a:xfrm>
          <a:prstGeom prst="rect">
            <a:avLst/>
          </a:prstGeom>
          <a:ln>
            <a:solidFill>
              <a:schemeClr val="tx1"/>
            </a:solidFill>
          </a:ln>
        </p:spPr>
        <p:txBody>
          <a:bodyPr wrap="none">
            <a:spAutoFit/>
          </a:bodyPr>
          <a:lstStyle/>
          <a:p>
            <a:r>
              <a:rPr lang="en-US" altLang="zh-CN" dirty="0"/>
              <a:t>T = limit</a:t>
            </a:r>
            <a:r>
              <a:rPr lang="zh-CN" altLang="zh-CN" dirty="0"/>
              <a:t>－</a:t>
            </a:r>
            <a:r>
              <a:rPr lang="en-US" altLang="zh-CN" dirty="0"/>
              <a:t>2;</a:t>
            </a:r>
            <a:endParaRPr lang="zh-CN" altLang="en-US" dirty="0"/>
          </a:p>
        </p:txBody>
      </p:sp>
      <p:sp>
        <p:nvSpPr>
          <p:cNvPr id="11" name="矩形 10"/>
          <p:cNvSpPr/>
          <p:nvPr/>
        </p:nvSpPr>
        <p:spPr>
          <a:xfrm>
            <a:off x="5076056" y="2504970"/>
            <a:ext cx="2286000" cy="646331"/>
          </a:xfrm>
          <a:prstGeom prst="rect">
            <a:avLst/>
          </a:prstGeom>
          <a:ln>
            <a:solidFill>
              <a:schemeClr val="tx1"/>
            </a:solidFill>
          </a:ln>
        </p:spPr>
        <p:txBody>
          <a:bodyPr wrap="square">
            <a:spAutoFit/>
          </a:bodyPr>
          <a:lstStyle/>
          <a:p>
            <a:r>
              <a:rPr lang="en-US" altLang="zh-CN" dirty="0"/>
              <a:t>B</a:t>
            </a:r>
            <a:r>
              <a:rPr lang="en-US" altLang="zh-CN" baseline="-25000" dirty="0"/>
              <a:t>1</a:t>
            </a:r>
            <a:r>
              <a:rPr lang="zh-CN" altLang="zh-CN" dirty="0"/>
              <a:t>：循环体</a:t>
            </a:r>
          </a:p>
          <a:p>
            <a:r>
              <a:rPr lang="en-US" altLang="zh-CN" dirty="0"/>
              <a:t>      if </a:t>
            </a:r>
            <a:r>
              <a:rPr lang="en-US" altLang="zh-CN" dirty="0" err="1"/>
              <a:t>i</a:t>
            </a:r>
            <a:r>
              <a:rPr lang="en-US" altLang="zh-CN" dirty="0"/>
              <a:t> &gt;T </a:t>
            </a:r>
            <a:r>
              <a:rPr lang="en-US" altLang="zh-CN" dirty="0" err="1"/>
              <a:t>goto</a:t>
            </a:r>
            <a:r>
              <a:rPr lang="en-US" altLang="zh-CN" dirty="0"/>
              <a:t> B</a:t>
            </a:r>
            <a:r>
              <a:rPr lang="en-US" altLang="zh-CN" baseline="-25000" dirty="0"/>
              <a:t>1</a:t>
            </a:r>
            <a:endParaRPr lang="zh-CN" altLang="en-US" dirty="0"/>
          </a:p>
        </p:txBody>
      </p:sp>
      <p:cxnSp>
        <p:nvCxnSpPr>
          <p:cNvPr id="13" name="直接箭头连接符 12"/>
          <p:cNvCxnSpPr>
            <a:stCxn id="10" idx="2"/>
          </p:cNvCxnSpPr>
          <p:nvPr/>
        </p:nvCxnSpPr>
        <p:spPr>
          <a:xfrm flipH="1">
            <a:off x="5914362" y="2001494"/>
            <a:ext cx="1" cy="47269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线形标注 2 14"/>
          <p:cNvSpPr/>
          <p:nvPr/>
        </p:nvSpPr>
        <p:spPr>
          <a:xfrm>
            <a:off x="7164288" y="1131590"/>
            <a:ext cx="1530424" cy="500571"/>
          </a:xfrm>
          <a:prstGeom prst="borderCallout2">
            <a:avLst>
              <a:gd name="adj1" fmla="val 18750"/>
              <a:gd name="adj2" fmla="val 928"/>
              <a:gd name="adj3" fmla="val 18750"/>
              <a:gd name="adj4" fmla="val -16667"/>
              <a:gd name="adj5" fmla="val 94002"/>
              <a:gd name="adj6" fmla="val -37573"/>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2000" dirty="0"/>
              <a:t>前置结点</a:t>
            </a:r>
          </a:p>
        </p:txBody>
      </p:sp>
    </p:spTree>
    <p:extLst>
      <p:ext uri="{BB962C8B-B14F-4D97-AF65-F5344CB8AC3E}">
        <p14:creationId xmlns:p14="http://schemas.microsoft.com/office/powerpoint/2010/main" val="3607820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animBg="1"/>
      <p:bldP spid="1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type="body" idx="1"/>
          </p:nvPr>
        </p:nvSpPr>
        <p:spPr>
          <a:xfrm>
            <a:off x="220588" y="458902"/>
            <a:ext cx="4711452" cy="744696"/>
          </a:xfrm>
        </p:spPr>
        <p:txBody>
          <a:bodyPr>
            <a:normAutofit lnSpcReduction="10000"/>
          </a:bodyPr>
          <a:lstStyle/>
          <a:p>
            <a:pPr eaLnBrk="1" hangingPunct="1"/>
            <a:r>
              <a:rPr lang="zh-CN" altLang="en-US" sz="2200" dirty="0"/>
              <a:t>并不是所有情况下，循环中的不变运算都可以外提。</a:t>
            </a:r>
          </a:p>
        </p:txBody>
      </p:sp>
      <p:pic>
        <p:nvPicPr>
          <p:cNvPr id="6451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621751"/>
            <a:ext cx="3814069" cy="309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txBox="1">
            <a:spLocks noChangeArrowheads="1"/>
          </p:cNvSpPr>
          <p:nvPr/>
        </p:nvSpPr>
        <p:spPr>
          <a:xfrm>
            <a:off x="5272648" y="3721363"/>
            <a:ext cx="3689485" cy="1010627"/>
          </a:xfrm>
          <a:prstGeom prst="rect">
            <a:avLst/>
          </a:prstGeom>
        </p:spPr>
        <p:style>
          <a:lnRef idx="1">
            <a:schemeClr val="accent2"/>
          </a:lnRef>
          <a:fillRef idx="2">
            <a:schemeClr val="accent2"/>
          </a:fillRef>
          <a:effectRef idx="1">
            <a:schemeClr val="accent2"/>
          </a:effectRef>
          <a:fontRef idx="minor">
            <a:schemeClr val="dk1"/>
          </a:fontRef>
        </p:style>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buNone/>
            </a:pPr>
            <a:r>
              <a:rPr lang="en-US" altLang="zh-CN" sz="2000" dirty="0"/>
              <a:t>B3</a:t>
            </a:r>
            <a:r>
              <a:rPr lang="zh-CN" altLang="en-US" sz="2000" dirty="0"/>
              <a:t>块中的</a:t>
            </a:r>
            <a:r>
              <a:rPr lang="en-US" altLang="zh-CN" sz="2000" dirty="0"/>
              <a:t>I=2</a:t>
            </a:r>
            <a:r>
              <a:rPr lang="zh-CN" altLang="en-US" sz="2000" dirty="0"/>
              <a:t>是不变运算，但不能外提，因为它并不是所有结点的必经结点。</a:t>
            </a:r>
          </a:p>
        </p:txBody>
      </p:sp>
      <p:sp>
        <p:nvSpPr>
          <p:cNvPr id="5" name="Rectangle 3"/>
          <p:cNvSpPr txBox="1">
            <a:spLocks noChangeArrowheads="1"/>
          </p:cNvSpPr>
          <p:nvPr/>
        </p:nvSpPr>
        <p:spPr>
          <a:xfrm>
            <a:off x="220588" y="1146725"/>
            <a:ext cx="4711452" cy="1064985"/>
          </a:xfrm>
          <a:prstGeom prst="rect">
            <a:avLst/>
          </a:prstGeom>
        </p:spPr>
        <p:txBody>
          <a:bodyPr vert="horz">
            <a:normAutofit lnSpcReduction="10000"/>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zh-CN" altLang="en-US" sz="2200" dirty="0">
                <a:solidFill>
                  <a:srgbClr val="FF0000"/>
                </a:solidFill>
              </a:rPr>
              <a:t>变量</a:t>
            </a:r>
            <a:r>
              <a:rPr lang="en-US" altLang="zh-CN" sz="2200" dirty="0">
                <a:solidFill>
                  <a:srgbClr val="FF0000"/>
                </a:solidFill>
              </a:rPr>
              <a:t>A</a:t>
            </a:r>
            <a:r>
              <a:rPr lang="zh-CN" altLang="en-US" sz="2200" dirty="0">
                <a:solidFill>
                  <a:srgbClr val="FF0000"/>
                </a:solidFill>
              </a:rPr>
              <a:t>在某点</a:t>
            </a:r>
            <a:r>
              <a:rPr lang="en-US" altLang="zh-CN" sz="2200" dirty="0">
                <a:solidFill>
                  <a:srgbClr val="FF0000"/>
                </a:solidFill>
              </a:rPr>
              <a:t>d</a:t>
            </a:r>
            <a:r>
              <a:rPr lang="zh-CN" altLang="en-US" sz="2200" dirty="0">
                <a:solidFill>
                  <a:srgbClr val="FF0000"/>
                </a:solidFill>
              </a:rPr>
              <a:t>的定值到达另一点</a:t>
            </a:r>
            <a:r>
              <a:rPr lang="en-US" altLang="zh-CN" sz="2200" dirty="0">
                <a:solidFill>
                  <a:srgbClr val="FF0000"/>
                </a:solidFill>
              </a:rPr>
              <a:t>u</a:t>
            </a:r>
            <a:r>
              <a:rPr lang="zh-CN" altLang="en-US" sz="2200" dirty="0"/>
              <a:t>，是指在流图中从</a:t>
            </a:r>
            <a:r>
              <a:rPr lang="en-US" altLang="zh-CN" sz="2200" dirty="0"/>
              <a:t>d</a:t>
            </a:r>
            <a:r>
              <a:rPr lang="zh-CN" altLang="en-US" sz="2200" dirty="0"/>
              <a:t>有一通路到达</a:t>
            </a:r>
            <a:r>
              <a:rPr lang="en-US" altLang="zh-CN" sz="2200" dirty="0"/>
              <a:t>u</a:t>
            </a:r>
            <a:r>
              <a:rPr lang="zh-CN" altLang="en-US" sz="2200" dirty="0"/>
              <a:t>且该通路上没有</a:t>
            </a:r>
            <a:r>
              <a:rPr lang="en-US" altLang="zh-CN" sz="2200" dirty="0"/>
              <a:t>A</a:t>
            </a:r>
            <a:r>
              <a:rPr lang="zh-CN" altLang="en-US" sz="2200" dirty="0"/>
              <a:t>的其他定值</a:t>
            </a:r>
          </a:p>
        </p:txBody>
      </p:sp>
      <p:sp>
        <p:nvSpPr>
          <p:cNvPr id="2" name="矩形 1"/>
          <p:cNvSpPr/>
          <p:nvPr/>
        </p:nvSpPr>
        <p:spPr>
          <a:xfrm>
            <a:off x="539552" y="2355726"/>
            <a:ext cx="4317908"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zh-CN" dirty="0"/>
              <a:t>不变运算</a:t>
            </a:r>
            <a:r>
              <a:rPr lang="zh-CN" altLang="en-US" dirty="0"/>
              <a:t>要</a:t>
            </a:r>
            <a:r>
              <a:rPr lang="zh-CN" altLang="zh-CN" dirty="0"/>
              <a:t>外提到循环前置结点</a:t>
            </a:r>
            <a:r>
              <a:rPr lang="zh-CN" altLang="en-US" dirty="0"/>
              <a:t>中的条件：</a:t>
            </a:r>
            <a:endParaRPr lang="en-US" altLang="zh-CN" dirty="0"/>
          </a:p>
          <a:p>
            <a:pPr marL="285750" indent="-285750">
              <a:buFont typeface="Arial" panose="020B0604020202020204" pitchFamily="34" charset="0"/>
              <a:buChar char="•"/>
            </a:pPr>
            <a:r>
              <a:rPr lang="zh-CN" altLang="zh-CN" dirty="0"/>
              <a:t>该不变运算所在的结点是循环所有出口结点的必经结点</a:t>
            </a:r>
          </a:p>
          <a:p>
            <a:pPr marL="285750" indent="-285750">
              <a:buFont typeface="Arial" panose="020B0604020202020204" pitchFamily="34" charset="0"/>
              <a:buChar char="•"/>
            </a:pPr>
            <a:r>
              <a:rPr lang="zh-CN" altLang="zh-CN" dirty="0"/>
              <a:t>当把</a:t>
            </a:r>
            <a:r>
              <a:rPr lang="en-US" altLang="zh-CN" dirty="0"/>
              <a:t>x=y op z</a:t>
            </a:r>
            <a:r>
              <a:rPr lang="zh-CN" altLang="zh-CN" dirty="0"/>
              <a:t>外提时，要求循环中的其他地方不再有</a:t>
            </a:r>
            <a:r>
              <a:rPr lang="en-US" altLang="zh-CN" dirty="0"/>
              <a:t>x</a:t>
            </a:r>
            <a:r>
              <a:rPr lang="zh-CN" altLang="zh-CN" dirty="0"/>
              <a:t>的定值点； </a:t>
            </a:r>
          </a:p>
          <a:p>
            <a:pPr marL="285750" indent="-285750">
              <a:buFont typeface="Arial" panose="020B0604020202020204" pitchFamily="34" charset="0"/>
              <a:buChar char="•"/>
            </a:pPr>
            <a:r>
              <a:rPr lang="zh-CN" altLang="zh-CN" dirty="0"/>
              <a:t>当把</a:t>
            </a:r>
            <a:r>
              <a:rPr lang="en-US" altLang="zh-CN" dirty="0"/>
              <a:t>x=y op z</a:t>
            </a:r>
            <a:r>
              <a:rPr lang="zh-CN" altLang="zh-CN" dirty="0"/>
              <a:t>外提时，要求循环中</a:t>
            </a:r>
            <a:r>
              <a:rPr lang="en-US" altLang="zh-CN" dirty="0"/>
              <a:t>A</a:t>
            </a:r>
            <a:r>
              <a:rPr lang="zh-CN" altLang="zh-CN" dirty="0"/>
              <a:t>的所有引用点都是而且仅仅是这个定值所能到达的。</a:t>
            </a:r>
          </a:p>
        </p:txBody>
      </p:sp>
    </p:spTree>
    <p:extLst>
      <p:ext uri="{BB962C8B-B14F-4D97-AF65-F5344CB8AC3E}">
        <p14:creationId xmlns:p14="http://schemas.microsoft.com/office/powerpoint/2010/main" val="2497908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Grp="1" noChangeArrowheads="1"/>
          </p:cNvSpPr>
          <p:nvPr>
            <p:ph type="body" idx="1"/>
          </p:nvPr>
        </p:nvSpPr>
        <p:spPr>
          <a:xfrm>
            <a:off x="1907704" y="-45690"/>
            <a:ext cx="6248400" cy="457200"/>
          </a:xfrm>
        </p:spPr>
        <p:txBody>
          <a:bodyPr>
            <a:normAutofit/>
          </a:bodyPr>
          <a:lstStyle/>
          <a:p>
            <a:pPr eaLnBrk="1" hangingPunct="1">
              <a:buFontTx/>
              <a:buNone/>
            </a:pPr>
            <a:r>
              <a:rPr lang="en-US" altLang="zh-CN" sz="2000" b="1" dirty="0">
                <a:solidFill>
                  <a:schemeClr val="accent2"/>
                </a:solidFill>
              </a:rPr>
              <a:t>for I=1 to 10 do A[I,2*J]= A[I,2*J]+1</a:t>
            </a:r>
          </a:p>
        </p:txBody>
      </p:sp>
      <p:grpSp>
        <p:nvGrpSpPr>
          <p:cNvPr id="65539" name="Group 41"/>
          <p:cNvGrpSpPr>
            <a:grpSpLocks/>
          </p:cNvGrpSpPr>
          <p:nvPr/>
        </p:nvGrpSpPr>
        <p:grpSpPr bwMode="auto">
          <a:xfrm>
            <a:off x="152400" y="420291"/>
            <a:ext cx="3886200" cy="4570810"/>
            <a:chOff x="96" y="144"/>
            <a:chExt cx="2448" cy="3839"/>
          </a:xfrm>
        </p:grpSpPr>
        <p:sp>
          <p:nvSpPr>
            <p:cNvPr id="65558" name="Text Box 4"/>
            <p:cNvSpPr txBox="1">
              <a:spLocks noChangeArrowheads="1"/>
            </p:cNvSpPr>
            <p:nvPr/>
          </p:nvSpPr>
          <p:spPr bwMode="auto">
            <a:xfrm>
              <a:off x="363" y="144"/>
              <a:ext cx="1202" cy="2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90000"/>
                </a:lnSpc>
                <a:spcBef>
                  <a:spcPct val="50000"/>
                </a:spcBef>
                <a:buFontTx/>
                <a:buNone/>
              </a:pPr>
              <a:r>
                <a:rPr lang="en-US" altLang="zh-CN" sz="1800"/>
                <a:t>(1) I=1</a:t>
              </a:r>
            </a:p>
          </p:txBody>
        </p:sp>
        <p:sp>
          <p:nvSpPr>
            <p:cNvPr id="65559" name="Text Box 5"/>
            <p:cNvSpPr txBox="1">
              <a:spLocks noChangeArrowheads="1"/>
            </p:cNvSpPr>
            <p:nvPr/>
          </p:nvSpPr>
          <p:spPr bwMode="auto">
            <a:xfrm>
              <a:off x="363" y="576"/>
              <a:ext cx="1780" cy="2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90000"/>
                </a:lnSpc>
                <a:spcBef>
                  <a:spcPct val="50000"/>
                </a:spcBef>
                <a:buFontTx/>
                <a:buNone/>
              </a:pPr>
              <a:r>
                <a:rPr lang="en-US" altLang="zh-CN" sz="1800"/>
                <a:t>(2) If  I&gt;10 goto 15</a:t>
              </a:r>
            </a:p>
          </p:txBody>
        </p:sp>
        <p:sp>
          <p:nvSpPr>
            <p:cNvPr id="65560" name="Text Box 6"/>
            <p:cNvSpPr txBox="1">
              <a:spLocks noChangeArrowheads="1"/>
            </p:cNvSpPr>
            <p:nvPr/>
          </p:nvSpPr>
          <p:spPr bwMode="auto">
            <a:xfrm>
              <a:off x="363" y="1016"/>
              <a:ext cx="1914" cy="2590"/>
            </a:xfrm>
            <a:prstGeom prst="rect">
              <a:avLst/>
            </a:prstGeom>
            <a:solidFill>
              <a:srgbClr val="FFFFFF"/>
            </a:solidFill>
            <a:ln w="9525">
              <a:solidFill>
                <a:schemeClr val="tx1"/>
              </a:solidFill>
              <a:miter lim="800000"/>
              <a:headEnd/>
              <a:tailEnd/>
            </a:ln>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90000"/>
                </a:lnSpc>
                <a:spcBef>
                  <a:spcPct val="0"/>
                </a:spcBef>
                <a:buFontTx/>
                <a:buNone/>
              </a:pPr>
              <a:r>
                <a:rPr lang="en-US" altLang="zh-CN" sz="1800" dirty="0">
                  <a:solidFill>
                    <a:srgbClr val="9900CC"/>
                  </a:solidFill>
                </a:rPr>
                <a:t>(3) T1=2*J</a:t>
              </a:r>
            </a:p>
            <a:p>
              <a:pPr eaLnBrk="1" hangingPunct="1">
                <a:lnSpc>
                  <a:spcPct val="90000"/>
                </a:lnSpc>
                <a:spcBef>
                  <a:spcPct val="0"/>
                </a:spcBef>
                <a:buFontTx/>
                <a:buNone/>
              </a:pPr>
              <a:r>
                <a:rPr lang="en-US" altLang="zh-CN" sz="1800" dirty="0"/>
                <a:t>(4) T2=10*I</a:t>
              </a:r>
            </a:p>
            <a:p>
              <a:pPr eaLnBrk="1" hangingPunct="1">
                <a:lnSpc>
                  <a:spcPct val="90000"/>
                </a:lnSpc>
                <a:spcBef>
                  <a:spcPct val="0"/>
                </a:spcBef>
                <a:buFontTx/>
                <a:buNone/>
              </a:pPr>
              <a:r>
                <a:rPr lang="en-US" altLang="zh-CN" sz="1800" dirty="0"/>
                <a:t>(5) T3=T2+T1</a:t>
              </a:r>
            </a:p>
            <a:p>
              <a:pPr eaLnBrk="1" hangingPunct="1">
                <a:lnSpc>
                  <a:spcPct val="90000"/>
                </a:lnSpc>
                <a:spcBef>
                  <a:spcPct val="0"/>
                </a:spcBef>
                <a:buFontTx/>
                <a:buNone/>
              </a:pPr>
              <a:r>
                <a:rPr lang="en-US" altLang="zh-CN" sz="1800" dirty="0">
                  <a:solidFill>
                    <a:srgbClr val="9900CC"/>
                  </a:solidFill>
                </a:rPr>
                <a:t>(6) T4=</a:t>
              </a:r>
              <a:r>
                <a:rPr lang="en-US" altLang="zh-CN" sz="1800" dirty="0" err="1">
                  <a:solidFill>
                    <a:srgbClr val="9900CC"/>
                  </a:solidFill>
                </a:rPr>
                <a:t>addr</a:t>
              </a:r>
              <a:r>
                <a:rPr lang="en-US" altLang="zh-CN" sz="1800" dirty="0">
                  <a:solidFill>
                    <a:srgbClr val="9900CC"/>
                  </a:solidFill>
                </a:rPr>
                <a:t>(A)-11</a:t>
              </a:r>
            </a:p>
            <a:p>
              <a:pPr eaLnBrk="1" hangingPunct="1">
                <a:lnSpc>
                  <a:spcPct val="90000"/>
                </a:lnSpc>
                <a:spcBef>
                  <a:spcPct val="0"/>
                </a:spcBef>
                <a:buFontTx/>
                <a:buNone/>
              </a:pPr>
              <a:r>
                <a:rPr lang="en-US" altLang="zh-CN" sz="1800" dirty="0">
                  <a:solidFill>
                    <a:srgbClr val="9900CC"/>
                  </a:solidFill>
                </a:rPr>
                <a:t>(7) T5=2*J</a:t>
              </a:r>
            </a:p>
            <a:p>
              <a:pPr eaLnBrk="1" hangingPunct="1">
                <a:lnSpc>
                  <a:spcPct val="90000"/>
                </a:lnSpc>
                <a:spcBef>
                  <a:spcPct val="0"/>
                </a:spcBef>
                <a:buFontTx/>
                <a:buNone/>
              </a:pPr>
              <a:r>
                <a:rPr lang="en-US" altLang="zh-CN" sz="1800" dirty="0"/>
                <a:t>(8) T6=10*I</a:t>
              </a:r>
            </a:p>
            <a:p>
              <a:pPr eaLnBrk="1" hangingPunct="1">
                <a:lnSpc>
                  <a:spcPct val="90000"/>
                </a:lnSpc>
                <a:spcBef>
                  <a:spcPct val="0"/>
                </a:spcBef>
                <a:buFontTx/>
                <a:buNone/>
              </a:pPr>
              <a:r>
                <a:rPr lang="en-US" altLang="zh-CN" sz="1800" dirty="0"/>
                <a:t>(9) T7=T6+T5</a:t>
              </a:r>
            </a:p>
            <a:p>
              <a:pPr eaLnBrk="1" hangingPunct="1">
                <a:lnSpc>
                  <a:spcPct val="90000"/>
                </a:lnSpc>
                <a:spcBef>
                  <a:spcPct val="0"/>
                </a:spcBef>
                <a:buFontTx/>
                <a:buNone/>
              </a:pPr>
              <a:r>
                <a:rPr lang="en-US" altLang="zh-CN" sz="1800" dirty="0">
                  <a:solidFill>
                    <a:srgbClr val="9900CC"/>
                  </a:solidFill>
                </a:rPr>
                <a:t>(10) T8=</a:t>
              </a:r>
              <a:r>
                <a:rPr lang="en-US" altLang="zh-CN" sz="1800" dirty="0" err="1">
                  <a:solidFill>
                    <a:srgbClr val="9900CC"/>
                  </a:solidFill>
                </a:rPr>
                <a:t>addr</a:t>
              </a:r>
              <a:r>
                <a:rPr lang="en-US" altLang="zh-CN" sz="1800" dirty="0">
                  <a:solidFill>
                    <a:srgbClr val="9900CC"/>
                  </a:solidFill>
                </a:rPr>
                <a:t>(A)-11</a:t>
              </a:r>
            </a:p>
            <a:p>
              <a:pPr eaLnBrk="1" hangingPunct="1">
                <a:lnSpc>
                  <a:spcPct val="90000"/>
                </a:lnSpc>
                <a:spcBef>
                  <a:spcPct val="0"/>
                </a:spcBef>
                <a:buFontTx/>
                <a:buNone/>
              </a:pPr>
              <a:r>
                <a:rPr lang="en-US" altLang="zh-CN" sz="1800" dirty="0"/>
                <a:t>(11) T9=T8[T7]</a:t>
              </a:r>
            </a:p>
            <a:p>
              <a:pPr eaLnBrk="1" hangingPunct="1">
                <a:lnSpc>
                  <a:spcPct val="90000"/>
                </a:lnSpc>
                <a:spcBef>
                  <a:spcPct val="0"/>
                </a:spcBef>
                <a:buFontTx/>
                <a:buNone/>
              </a:pPr>
              <a:r>
                <a:rPr lang="en-US" altLang="zh-CN" sz="1800" dirty="0"/>
                <a:t>(12) T4[T3]=T9+1</a:t>
              </a:r>
            </a:p>
            <a:p>
              <a:pPr eaLnBrk="1" hangingPunct="1">
                <a:lnSpc>
                  <a:spcPct val="90000"/>
                </a:lnSpc>
                <a:spcBef>
                  <a:spcPct val="0"/>
                </a:spcBef>
                <a:buFontTx/>
                <a:buNone/>
              </a:pPr>
              <a:r>
                <a:rPr lang="en-US" altLang="zh-CN" sz="1800" dirty="0"/>
                <a:t>(13) I=I+1</a:t>
              </a:r>
            </a:p>
            <a:p>
              <a:pPr eaLnBrk="1" hangingPunct="1">
                <a:lnSpc>
                  <a:spcPct val="90000"/>
                </a:lnSpc>
                <a:spcBef>
                  <a:spcPct val="0"/>
                </a:spcBef>
                <a:buFontTx/>
                <a:buNone/>
              </a:pPr>
              <a:r>
                <a:rPr lang="en-US" altLang="zh-CN" sz="1800" dirty="0"/>
                <a:t>(14) </a:t>
              </a:r>
              <a:r>
                <a:rPr lang="en-US" altLang="zh-CN" sz="1800" dirty="0" err="1"/>
                <a:t>goto</a:t>
              </a:r>
              <a:r>
                <a:rPr lang="en-US" altLang="zh-CN" sz="1800" dirty="0"/>
                <a:t> B2</a:t>
              </a:r>
            </a:p>
          </p:txBody>
        </p:sp>
        <p:sp>
          <p:nvSpPr>
            <p:cNvPr id="65561" name="Rectangle 7"/>
            <p:cNvSpPr>
              <a:spLocks noChangeArrowheads="1"/>
            </p:cNvSpPr>
            <p:nvPr/>
          </p:nvSpPr>
          <p:spPr bwMode="auto">
            <a:xfrm>
              <a:off x="407" y="3696"/>
              <a:ext cx="1870" cy="287"/>
            </a:xfrm>
            <a:prstGeom prst="rect">
              <a:avLst/>
            </a:prstGeom>
            <a:solidFill>
              <a:srgbClr val="FFFFFF"/>
            </a:solidFill>
            <a:ln w="9525">
              <a:solidFill>
                <a:schemeClr val="tx1"/>
              </a:solidFill>
              <a:miter lim="800000"/>
              <a:headEnd/>
              <a:tailEnd/>
            </a:ln>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90000"/>
                </a:lnSpc>
                <a:spcBef>
                  <a:spcPct val="50000"/>
                </a:spcBef>
                <a:buFontTx/>
                <a:buNone/>
              </a:pPr>
              <a:r>
                <a:rPr lang="en-US" altLang="zh-CN" sz="1800" dirty="0"/>
                <a:t>(15)</a:t>
              </a:r>
            </a:p>
          </p:txBody>
        </p:sp>
        <p:sp>
          <p:nvSpPr>
            <p:cNvPr id="65562" name="Line 8"/>
            <p:cNvSpPr>
              <a:spLocks noChangeShapeType="1"/>
            </p:cNvSpPr>
            <p:nvPr/>
          </p:nvSpPr>
          <p:spPr bwMode="auto">
            <a:xfrm>
              <a:off x="2143" y="720"/>
              <a:ext cx="40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65563" name="Line 9"/>
            <p:cNvSpPr>
              <a:spLocks noChangeShapeType="1"/>
            </p:cNvSpPr>
            <p:nvPr/>
          </p:nvSpPr>
          <p:spPr bwMode="auto">
            <a:xfrm>
              <a:off x="2544" y="720"/>
              <a:ext cx="0" cy="30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65564" name="Line 11"/>
            <p:cNvSpPr>
              <a:spLocks noChangeShapeType="1"/>
            </p:cNvSpPr>
            <p:nvPr/>
          </p:nvSpPr>
          <p:spPr bwMode="auto">
            <a:xfrm>
              <a:off x="897" y="432"/>
              <a:ext cx="0" cy="14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65565" name="Line 12"/>
            <p:cNvSpPr>
              <a:spLocks noChangeShapeType="1"/>
            </p:cNvSpPr>
            <p:nvPr/>
          </p:nvSpPr>
          <p:spPr bwMode="auto">
            <a:xfrm>
              <a:off x="942" y="864"/>
              <a:ext cx="0" cy="14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65566" name="Line 14"/>
            <p:cNvSpPr>
              <a:spLocks noChangeShapeType="1"/>
            </p:cNvSpPr>
            <p:nvPr/>
          </p:nvSpPr>
          <p:spPr bwMode="auto">
            <a:xfrm flipH="1">
              <a:off x="96" y="3504"/>
              <a:ext cx="26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65567" name="Line 15"/>
            <p:cNvSpPr>
              <a:spLocks noChangeShapeType="1"/>
            </p:cNvSpPr>
            <p:nvPr/>
          </p:nvSpPr>
          <p:spPr bwMode="auto">
            <a:xfrm flipV="1">
              <a:off x="96" y="768"/>
              <a:ext cx="0" cy="27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65568" name="Line 16"/>
            <p:cNvSpPr>
              <a:spLocks noChangeShapeType="1"/>
            </p:cNvSpPr>
            <p:nvPr/>
          </p:nvSpPr>
          <p:spPr bwMode="auto">
            <a:xfrm>
              <a:off x="96" y="768"/>
              <a:ext cx="26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65569" name="Line 17"/>
            <p:cNvSpPr>
              <a:spLocks noChangeShapeType="1"/>
            </p:cNvSpPr>
            <p:nvPr/>
          </p:nvSpPr>
          <p:spPr bwMode="auto">
            <a:xfrm flipH="1">
              <a:off x="2277" y="3744"/>
              <a:ext cx="26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65570" name="Text Box 18"/>
            <p:cNvSpPr txBox="1">
              <a:spLocks noChangeArrowheads="1"/>
            </p:cNvSpPr>
            <p:nvPr/>
          </p:nvSpPr>
          <p:spPr bwMode="auto">
            <a:xfrm>
              <a:off x="1654" y="192"/>
              <a:ext cx="35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90000"/>
                </a:lnSpc>
                <a:spcBef>
                  <a:spcPct val="50000"/>
                </a:spcBef>
                <a:buFontTx/>
                <a:buNone/>
              </a:pPr>
              <a:r>
                <a:rPr lang="en-US" altLang="zh-CN" sz="1800">
                  <a:solidFill>
                    <a:srgbClr val="FF0000"/>
                  </a:solidFill>
                </a:rPr>
                <a:t>B1</a:t>
              </a:r>
            </a:p>
          </p:txBody>
        </p:sp>
        <p:sp>
          <p:nvSpPr>
            <p:cNvPr id="65571" name="Text Box 19"/>
            <p:cNvSpPr txBox="1">
              <a:spLocks noChangeArrowheads="1"/>
            </p:cNvSpPr>
            <p:nvPr/>
          </p:nvSpPr>
          <p:spPr bwMode="auto">
            <a:xfrm>
              <a:off x="1876" y="576"/>
              <a:ext cx="35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90000"/>
                </a:lnSpc>
                <a:spcBef>
                  <a:spcPct val="50000"/>
                </a:spcBef>
                <a:buFontTx/>
                <a:buNone/>
              </a:pPr>
              <a:r>
                <a:rPr lang="en-US" altLang="zh-CN" sz="1800">
                  <a:solidFill>
                    <a:srgbClr val="FF0000"/>
                  </a:solidFill>
                </a:rPr>
                <a:t>B2</a:t>
              </a:r>
            </a:p>
          </p:txBody>
        </p:sp>
        <p:sp>
          <p:nvSpPr>
            <p:cNvPr id="65572" name="Text Box 20"/>
            <p:cNvSpPr txBox="1">
              <a:spLocks noChangeArrowheads="1"/>
            </p:cNvSpPr>
            <p:nvPr/>
          </p:nvSpPr>
          <p:spPr bwMode="auto">
            <a:xfrm>
              <a:off x="1876" y="1248"/>
              <a:ext cx="35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90000"/>
                </a:lnSpc>
                <a:spcBef>
                  <a:spcPct val="50000"/>
                </a:spcBef>
                <a:buFontTx/>
                <a:buNone/>
              </a:pPr>
              <a:r>
                <a:rPr lang="en-US" altLang="zh-CN" sz="1800">
                  <a:solidFill>
                    <a:srgbClr val="FF0000"/>
                  </a:solidFill>
                </a:rPr>
                <a:t>B3</a:t>
              </a:r>
            </a:p>
          </p:txBody>
        </p:sp>
      </p:grpSp>
      <p:grpSp>
        <p:nvGrpSpPr>
          <p:cNvPr id="3" name="Group 40"/>
          <p:cNvGrpSpPr>
            <a:grpSpLocks/>
          </p:cNvGrpSpPr>
          <p:nvPr/>
        </p:nvGrpSpPr>
        <p:grpSpPr bwMode="auto">
          <a:xfrm>
            <a:off x="4876800" y="342900"/>
            <a:ext cx="4191000" cy="4819650"/>
            <a:chOff x="3072" y="288"/>
            <a:chExt cx="2640" cy="4048"/>
          </a:xfrm>
        </p:grpSpPr>
        <p:sp>
          <p:nvSpPr>
            <p:cNvPr id="65541" name="Text Box 21"/>
            <p:cNvSpPr txBox="1">
              <a:spLocks noChangeArrowheads="1"/>
            </p:cNvSpPr>
            <p:nvPr/>
          </p:nvSpPr>
          <p:spPr bwMode="auto">
            <a:xfrm>
              <a:off x="3360" y="288"/>
              <a:ext cx="1296" cy="3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a:t>(1) I=1</a:t>
              </a:r>
            </a:p>
          </p:txBody>
        </p:sp>
        <p:sp>
          <p:nvSpPr>
            <p:cNvPr id="65542" name="Text Box 22"/>
            <p:cNvSpPr txBox="1">
              <a:spLocks noChangeArrowheads="1"/>
            </p:cNvSpPr>
            <p:nvPr/>
          </p:nvSpPr>
          <p:spPr bwMode="auto">
            <a:xfrm>
              <a:off x="3360" y="1772"/>
              <a:ext cx="1920" cy="3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dirty="0"/>
                <a:t>(2) If  I&gt;10 </a:t>
              </a:r>
              <a:r>
                <a:rPr lang="en-US" altLang="zh-CN" sz="1800" dirty="0" err="1"/>
                <a:t>goto</a:t>
              </a:r>
              <a:r>
                <a:rPr lang="en-US" altLang="zh-CN" sz="1800" dirty="0"/>
                <a:t> 15</a:t>
              </a:r>
            </a:p>
          </p:txBody>
        </p:sp>
        <p:sp>
          <p:nvSpPr>
            <p:cNvPr id="65543" name="Text Box 23"/>
            <p:cNvSpPr txBox="1">
              <a:spLocks noChangeArrowheads="1"/>
            </p:cNvSpPr>
            <p:nvPr/>
          </p:nvSpPr>
          <p:spPr bwMode="auto">
            <a:xfrm>
              <a:off x="3360" y="2204"/>
              <a:ext cx="2064" cy="175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90000"/>
                </a:lnSpc>
                <a:spcBef>
                  <a:spcPct val="0"/>
                </a:spcBef>
                <a:buFontTx/>
                <a:buNone/>
              </a:pPr>
              <a:r>
                <a:rPr lang="en-US" altLang="zh-CN" sz="1800"/>
                <a:t>(4) T2=10*I</a:t>
              </a:r>
            </a:p>
            <a:p>
              <a:pPr eaLnBrk="1" hangingPunct="1">
                <a:lnSpc>
                  <a:spcPct val="90000"/>
                </a:lnSpc>
                <a:spcBef>
                  <a:spcPct val="0"/>
                </a:spcBef>
                <a:buFontTx/>
                <a:buNone/>
              </a:pPr>
              <a:r>
                <a:rPr lang="en-US" altLang="zh-CN" sz="1800"/>
                <a:t>(5) T3=T2+T1</a:t>
              </a:r>
            </a:p>
            <a:p>
              <a:pPr eaLnBrk="1" hangingPunct="1">
                <a:lnSpc>
                  <a:spcPct val="90000"/>
                </a:lnSpc>
                <a:spcBef>
                  <a:spcPct val="0"/>
                </a:spcBef>
                <a:buFontTx/>
                <a:buNone/>
              </a:pPr>
              <a:r>
                <a:rPr lang="en-US" altLang="zh-CN" sz="1800"/>
                <a:t>(8) T6=10*I</a:t>
              </a:r>
            </a:p>
            <a:p>
              <a:pPr eaLnBrk="1" hangingPunct="1">
                <a:lnSpc>
                  <a:spcPct val="90000"/>
                </a:lnSpc>
                <a:spcBef>
                  <a:spcPct val="0"/>
                </a:spcBef>
                <a:buFontTx/>
                <a:buNone/>
              </a:pPr>
              <a:r>
                <a:rPr lang="en-US" altLang="zh-CN" sz="1800"/>
                <a:t>(9) T7=T6+T5</a:t>
              </a:r>
            </a:p>
            <a:p>
              <a:pPr eaLnBrk="1" hangingPunct="1">
                <a:lnSpc>
                  <a:spcPct val="90000"/>
                </a:lnSpc>
                <a:spcBef>
                  <a:spcPct val="0"/>
                </a:spcBef>
                <a:buFontTx/>
                <a:buNone/>
              </a:pPr>
              <a:r>
                <a:rPr lang="en-US" altLang="zh-CN" sz="1800"/>
                <a:t>(11) T9=T8[T7]</a:t>
              </a:r>
            </a:p>
            <a:p>
              <a:pPr eaLnBrk="1" hangingPunct="1">
                <a:lnSpc>
                  <a:spcPct val="90000"/>
                </a:lnSpc>
                <a:spcBef>
                  <a:spcPct val="0"/>
                </a:spcBef>
                <a:buFontTx/>
                <a:buNone/>
              </a:pPr>
              <a:r>
                <a:rPr lang="en-US" altLang="zh-CN" sz="1800"/>
                <a:t>(12) T4[T3]=T9+1</a:t>
              </a:r>
            </a:p>
            <a:p>
              <a:pPr eaLnBrk="1" hangingPunct="1">
                <a:lnSpc>
                  <a:spcPct val="90000"/>
                </a:lnSpc>
                <a:spcBef>
                  <a:spcPct val="0"/>
                </a:spcBef>
                <a:buFontTx/>
                <a:buNone/>
              </a:pPr>
              <a:r>
                <a:rPr lang="en-US" altLang="zh-CN" sz="1800"/>
                <a:t>(13) I=I+1</a:t>
              </a:r>
            </a:p>
            <a:p>
              <a:pPr eaLnBrk="1" hangingPunct="1">
                <a:lnSpc>
                  <a:spcPct val="90000"/>
                </a:lnSpc>
                <a:spcBef>
                  <a:spcPct val="0"/>
                </a:spcBef>
                <a:buFontTx/>
                <a:buNone/>
              </a:pPr>
              <a:r>
                <a:rPr lang="en-US" altLang="zh-CN" sz="1800"/>
                <a:t>(14) goto B2</a:t>
              </a:r>
            </a:p>
          </p:txBody>
        </p:sp>
        <p:sp>
          <p:nvSpPr>
            <p:cNvPr id="65544" name="Rectangle 24"/>
            <p:cNvSpPr>
              <a:spLocks noChangeArrowheads="1"/>
            </p:cNvSpPr>
            <p:nvPr/>
          </p:nvSpPr>
          <p:spPr bwMode="auto">
            <a:xfrm>
              <a:off x="3408" y="4026"/>
              <a:ext cx="2017" cy="3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a:t>(15)</a:t>
              </a:r>
            </a:p>
          </p:txBody>
        </p:sp>
        <p:sp>
          <p:nvSpPr>
            <p:cNvPr id="65545" name="Line 25"/>
            <p:cNvSpPr>
              <a:spLocks noChangeShapeType="1"/>
            </p:cNvSpPr>
            <p:nvPr/>
          </p:nvSpPr>
          <p:spPr bwMode="auto">
            <a:xfrm>
              <a:off x="5280" y="1916"/>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65546" name="Line 26"/>
            <p:cNvSpPr>
              <a:spLocks noChangeShapeType="1"/>
            </p:cNvSpPr>
            <p:nvPr/>
          </p:nvSpPr>
          <p:spPr bwMode="auto">
            <a:xfrm>
              <a:off x="5712" y="1916"/>
              <a:ext cx="0" cy="225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65547" name="Line 27"/>
            <p:cNvSpPr>
              <a:spLocks noChangeShapeType="1"/>
            </p:cNvSpPr>
            <p:nvPr/>
          </p:nvSpPr>
          <p:spPr bwMode="auto">
            <a:xfrm>
              <a:off x="3936" y="598"/>
              <a:ext cx="0" cy="12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65548" name="Line 28"/>
            <p:cNvSpPr>
              <a:spLocks noChangeShapeType="1"/>
            </p:cNvSpPr>
            <p:nvPr/>
          </p:nvSpPr>
          <p:spPr bwMode="auto">
            <a:xfrm>
              <a:off x="3984" y="2082"/>
              <a:ext cx="0" cy="12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65549" name="Line 29"/>
            <p:cNvSpPr>
              <a:spLocks noChangeShapeType="1"/>
            </p:cNvSpPr>
            <p:nvPr/>
          </p:nvSpPr>
          <p:spPr bwMode="auto">
            <a:xfrm flipH="1">
              <a:off x="3072" y="3834"/>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65550" name="Line 30"/>
            <p:cNvSpPr>
              <a:spLocks noChangeShapeType="1"/>
            </p:cNvSpPr>
            <p:nvPr/>
          </p:nvSpPr>
          <p:spPr bwMode="auto">
            <a:xfrm flipV="1">
              <a:off x="3072" y="1964"/>
              <a:ext cx="0" cy="187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65551" name="Line 31"/>
            <p:cNvSpPr>
              <a:spLocks noChangeShapeType="1"/>
            </p:cNvSpPr>
            <p:nvPr/>
          </p:nvSpPr>
          <p:spPr bwMode="auto">
            <a:xfrm>
              <a:off x="3072" y="1964"/>
              <a:ext cx="28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65552" name="Line 32"/>
            <p:cNvSpPr>
              <a:spLocks noChangeShapeType="1"/>
            </p:cNvSpPr>
            <p:nvPr/>
          </p:nvSpPr>
          <p:spPr bwMode="auto">
            <a:xfrm flipH="1">
              <a:off x="5424" y="4170"/>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65553" name="Text Box 33"/>
            <p:cNvSpPr txBox="1">
              <a:spLocks noChangeArrowheads="1"/>
            </p:cNvSpPr>
            <p:nvPr/>
          </p:nvSpPr>
          <p:spPr bwMode="auto">
            <a:xfrm>
              <a:off x="4752" y="288"/>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dirty="0">
                  <a:solidFill>
                    <a:srgbClr val="FF0000"/>
                  </a:solidFill>
                </a:rPr>
                <a:t>B1</a:t>
              </a:r>
            </a:p>
          </p:txBody>
        </p:sp>
        <p:sp>
          <p:nvSpPr>
            <p:cNvPr id="65554" name="Text Box 34"/>
            <p:cNvSpPr txBox="1">
              <a:spLocks noChangeArrowheads="1"/>
            </p:cNvSpPr>
            <p:nvPr/>
          </p:nvSpPr>
          <p:spPr bwMode="auto">
            <a:xfrm>
              <a:off x="4992" y="1772"/>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a:solidFill>
                    <a:srgbClr val="FF0000"/>
                  </a:solidFill>
                </a:rPr>
                <a:t>B2</a:t>
              </a:r>
            </a:p>
          </p:txBody>
        </p:sp>
        <p:sp>
          <p:nvSpPr>
            <p:cNvPr id="65555" name="Text Box 35"/>
            <p:cNvSpPr txBox="1">
              <a:spLocks noChangeArrowheads="1"/>
            </p:cNvSpPr>
            <p:nvPr/>
          </p:nvSpPr>
          <p:spPr bwMode="auto">
            <a:xfrm>
              <a:off x="4992" y="2204"/>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a:solidFill>
                    <a:srgbClr val="FF0000"/>
                  </a:solidFill>
                </a:rPr>
                <a:t>B3</a:t>
              </a:r>
            </a:p>
          </p:txBody>
        </p:sp>
        <p:sp>
          <p:nvSpPr>
            <p:cNvPr id="65556" name="Rectangle 37"/>
            <p:cNvSpPr>
              <a:spLocks noChangeArrowheads="1"/>
            </p:cNvSpPr>
            <p:nvPr/>
          </p:nvSpPr>
          <p:spPr bwMode="auto">
            <a:xfrm>
              <a:off x="3312" y="720"/>
              <a:ext cx="1920" cy="91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90000"/>
                </a:lnSpc>
                <a:spcBef>
                  <a:spcPct val="0"/>
                </a:spcBef>
                <a:buFontTx/>
                <a:buNone/>
              </a:pPr>
              <a:r>
                <a:rPr lang="en-US" altLang="zh-CN" sz="1800">
                  <a:solidFill>
                    <a:srgbClr val="9900CC"/>
                  </a:solidFill>
                </a:rPr>
                <a:t>(3) T1=2*J</a:t>
              </a:r>
            </a:p>
            <a:p>
              <a:pPr eaLnBrk="1" hangingPunct="1">
                <a:lnSpc>
                  <a:spcPct val="90000"/>
                </a:lnSpc>
                <a:spcBef>
                  <a:spcPct val="0"/>
                </a:spcBef>
                <a:buFontTx/>
                <a:buNone/>
              </a:pPr>
              <a:r>
                <a:rPr lang="en-US" altLang="zh-CN" sz="1800">
                  <a:solidFill>
                    <a:srgbClr val="9900CC"/>
                  </a:solidFill>
                </a:rPr>
                <a:t>(6) T4=addr(A)-11</a:t>
              </a:r>
            </a:p>
            <a:p>
              <a:pPr eaLnBrk="1" hangingPunct="1">
                <a:lnSpc>
                  <a:spcPct val="90000"/>
                </a:lnSpc>
                <a:spcBef>
                  <a:spcPct val="0"/>
                </a:spcBef>
                <a:buFontTx/>
                <a:buNone/>
              </a:pPr>
              <a:r>
                <a:rPr lang="en-US" altLang="zh-CN" sz="1800">
                  <a:solidFill>
                    <a:srgbClr val="9900CC"/>
                  </a:solidFill>
                </a:rPr>
                <a:t>(7) T5=2*J</a:t>
              </a:r>
            </a:p>
            <a:p>
              <a:pPr eaLnBrk="1" hangingPunct="1">
                <a:lnSpc>
                  <a:spcPct val="90000"/>
                </a:lnSpc>
                <a:spcBef>
                  <a:spcPct val="0"/>
                </a:spcBef>
                <a:buFontTx/>
                <a:buNone/>
              </a:pPr>
              <a:r>
                <a:rPr lang="en-US" altLang="zh-CN" sz="1800">
                  <a:solidFill>
                    <a:srgbClr val="9900CC"/>
                  </a:solidFill>
                </a:rPr>
                <a:t>(10) T8=addr(A)-11</a:t>
              </a:r>
            </a:p>
          </p:txBody>
        </p:sp>
        <p:sp>
          <p:nvSpPr>
            <p:cNvPr id="65557" name="Line 39"/>
            <p:cNvSpPr>
              <a:spLocks noChangeShapeType="1"/>
            </p:cNvSpPr>
            <p:nvPr/>
          </p:nvSpPr>
          <p:spPr bwMode="auto">
            <a:xfrm>
              <a:off x="3936" y="1632"/>
              <a:ext cx="0" cy="14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37" name="Text Box 33"/>
            <p:cNvSpPr txBox="1">
              <a:spLocks noChangeArrowheads="1"/>
            </p:cNvSpPr>
            <p:nvPr/>
          </p:nvSpPr>
          <p:spPr bwMode="auto">
            <a:xfrm>
              <a:off x="4752" y="822"/>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dirty="0">
                  <a:solidFill>
                    <a:srgbClr val="FF0000"/>
                  </a:solidFill>
                </a:rPr>
                <a:t>FB</a:t>
              </a:r>
            </a:p>
          </p:txBody>
        </p:sp>
      </p:grpSp>
    </p:spTree>
    <p:extLst>
      <p:ext uri="{BB962C8B-B14F-4D97-AF65-F5344CB8AC3E}">
        <p14:creationId xmlns:p14="http://schemas.microsoft.com/office/powerpoint/2010/main" val="13328347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58316" y="123478"/>
            <a:ext cx="7772400" cy="514350"/>
          </a:xfrm>
          <a:noFill/>
        </p:spPr>
        <p:txBody>
          <a:bodyPr>
            <a:noAutofit/>
          </a:bodyPr>
          <a:lstStyle/>
          <a:p>
            <a:pPr eaLnBrk="1" hangingPunct="1"/>
            <a:r>
              <a:rPr lang="zh-CN" altLang="en-US" sz="3200" b="1" dirty="0">
                <a:solidFill>
                  <a:srgbClr val="CC00FF"/>
                </a:solidFill>
                <a:sym typeface="Symbol" pitchFamily="18" charset="2"/>
              </a:rPr>
              <a:t>循环优化技术</a:t>
            </a:r>
            <a:r>
              <a:rPr lang="en-US" altLang="zh-CN" sz="3200" b="1" dirty="0">
                <a:solidFill>
                  <a:srgbClr val="CC00FF"/>
                </a:solidFill>
                <a:sym typeface="Symbol" pitchFamily="18" charset="2"/>
              </a:rPr>
              <a:t>2—</a:t>
            </a:r>
            <a:r>
              <a:rPr lang="zh-CN" altLang="en-US" sz="3200" b="1" dirty="0">
                <a:solidFill>
                  <a:srgbClr val="CC00FF"/>
                </a:solidFill>
                <a:sym typeface="Symbol" pitchFamily="18" charset="2"/>
              </a:rPr>
              <a:t>强度削弱</a:t>
            </a:r>
          </a:p>
        </p:txBody>
      </p:sp>
      <p:sp>
        <p:nvSpPr>
          <p:cNvPr id="66563" name="Text Box 3"/>
          <p:cNvSpPr txBox="1">
            <a:spLocks noChangeArrowheads="1"/>
          </p:cNvSpPr>
          <p:nvPr/>
        </p:nvSpPr>
        <p:spPr bwMode="auto">
          <a:xfrm>
            <a:off x="1028700" y="1952625"/>
            <a:ext cx="2400300" cy="132343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zh-CN" sz="2000" b="1" dirty="0">
                <a:solidFill>
                  <a:srgbClr val="000000"/>
                </a:solidFill>
                <a:latin typeface="宋体" pitchFamily="2" charset="-122"/>
              </a:rPr>
              <a:t>j=j-1</a:t>
            </a:r>
          </a:p>
          <a:p>
            <a:pPr eaLnBrk="1" hangingPunct="1">
              <a:spcBef>
                <a:spcPct val="0"/>
              </a:spcBef>
              <a:buFontTx/>
              <a:buNone/>
            </a:pPr>
            <a:r>
              <a:rPr lang="zh-CN" altLang="zh-CN" sz="2000" b="1" dirty="0">
                <a:solidFill>
                  <a:srgbClr val="000000"/>
                </a:solidFill>
                <a:latin typeface="宋体" pitchFamily="2" charset="-122"/>
              </a:rPr>
              <a:t>T4=4*j</a:t>
            </a:r>
          </a:p>
          <a:p>
            <a:pPr eaLnBrk="1" hangingPunct="1">
              <a:spcBef>
                <a:spcPct val="0"/>
              </a:spcBef>
              <a:buFontTx/>
              <a:buNone/>
            </a:pPr>
            <a:r>
              <a:rPr lang="zh-CN" altLang="zh-CN" sz="2000" b="1" dirty="0">
                <a:solidFill>
                  <a:srgbClr val="000000"/>
                </a:solidFill>
                <a:latin typeface="宋体" pitchFamily="2" charset="-122"/>
              </a:rPr>
              <a:t>T5=a[T4]</a:t>
            </a:r>
          </a:p>
          <a:p>
            <a:pPr eaLnBrk="1" hangingPunct="1">
              <a:spcBef>
                <a:spcPct val="0"/>
              </a:spcBef>
              <a:buFontTx/>
              <a:buNone/>
            </a:pPr>
            <a:r>
              <a:rPr lang="zh-CN" altLang="zh-CN" sz="2000" b="1" dirty="0">
                <a:solidFill>
                  <a:srgbClr val="000000"/>
                </a:solidFill>
                <a:latin typeface="宋体" pitchFamily="2" charset="-122"/>
              </a:rPr>
              <a:t>if T5&gt;v goto B3</a:t>
            </a:r>
          </a:p>
        </p:txBody>
      </p:sp>
      <p:sp>
        <p:nvSpPr>
          <p:cNvPr id="66564" name="Text Box 4"/>
          <p:cNvSpPr txBox="1">
            <a:spLocks noChangeArrowheads="1"/>
          </p:cNvSpPr>
          <p:nvPr/>
        </p:nvSpPr>
        <p:spPr bwMode="auto">
          <a:xfrm>
            <a:off x="5943600" y="2010966"/>
            <a:ext cx="2372816" cy="132343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b="1" dirty="0">
                <a:solidFill>
                  <a:srgbClr val="000000"/>
                </a:solidFill>
                <a:latin typeface="宋体" pitchFamily="2" charset="-122"/>
              </a:rPr>
              <a:t>j=j-1</a:t>
            </a:r>
            <a:endParaRPr lang="zh-CN" altLang="zh-CN" sz="2000" b="1" dirty="0">
              <a:solidFill>
                <a:srgbClr val="000000"/>
              </a:solidFill>
              <a:latin typeface="宋体" pitchFamily="2" charset="-122"/>
            </a:endParaRPr>
          </a:p>
          <a:p>
            <a:pPr eaLnBrk="1" hangingPunct="1">
              <a:spcBef>
                <a:spcPct val="0"/>
              </a:spcBef>
              <a:buFontTx/>
              <a:buNone/>
            </a:pPr>
            <a:r>
              <a:rPr lang="zh-CN" altLang="zh-CN" sz="2000" b="1" dirty="0">
                <a:solidFill>
                  <a:srgbClr val="000000"/>
                </a:solidFill>
                <a:latin typeface="宋体" pitchFamily="2" charset="-122"/>
              </a:rPr>
              <a:t>T4=</a:t>
            </a:r>
            <a:r>
              <a:rPr lang="en-US" altLang="zh-CN" sz="2000" b="1" dirty="0">
                <a:solidFill>
                  <a:srgbClr val="000000"/>
                </a:solidFill>
                <a:latin typeface="宋体" pitchFamily="2" charset="-122"/>
              </a:rPr>
              <a:t>T4-4</a:t>
            </a:r>
            <a:endParaRPr lang="zh-CN" altLang="zh-CN" sz="2000" b="1" dirty="0">
              <a:solidFill>
                <a:srgbClr val="000000"/>
              </a:solidFill>
              <a:latin typeface="宋体" pitchFamily="2" charset="-122"/>
            </a:endParaRPr>
          </a:p>
          <a:p>
            <a:pPr eaLnBrk="1" hangingPunct="1">
              <a:spcBef>
                <a:spcPct val="0"/>
              </a:spcBef>
              <a:buFontTx/>
              <a:buNone/>
            </a:pPr>
            <a:r>
              <a:rPr lang="zh-CN" altLang="zh-CN" sz="2000" b="1" dirty="0">
                <a:solidFill>
                  <a:srgbClr val="000000"/>
                </a:solidFill>
                <a:latin typeface="宋体" pitchFamily="2" charset="-122"/>
              </a:rPr>
              <a:t>T5=a[T4]</a:t>
            </a:r>
          </a:p>
          <a:p>
            <a:pPr eaLnBrk="1" hangingPunct="1">
              <a:spcBef>
                <a:spcPct val="0"/>
              </a:spcBef>
              <a:buFontTx/>
              <a:buNone/>
            </a:pPr>
            <a:r>
              <a:rPr lang="zh-CN" altLang="zh-CN" sz="2000" b="1" dirty="0">
                <a:solidFill>
                  <a:srgbClr val="000000"/>
                </a:solidFill>
                <a:latin typeface="宋体" pitchFamily="2" charset="-122"/>
              </a:rPr>
              <a:t>if T5&gt;v goto B3</a:t>
            </a:r>
            <a:endParaRPr lang="en-US" altLang="zh-CN" sz="2000" b="1" dirty="0">
              <a:solidFill>
                <a:srgbClr val="000000"/>
              </a:solidFill>
              <a:latin typeface="宋体" pitchFamily="2" charset="-122"/>
            </a:endParaRPr>
          </a:p>
        </p:txBody>
      </p:sp>
      <p:sp>
        <p:nvSpPr>
          <p:cNvPr id="66565" name="AutoShape 5"/>
          <p:cNvSpPr>
            <a:spLocks noChangeArrowheads="1"/>
          </p:cNvSpPr>
          <p:nvPr/>
        </p:nvSpPr>
        <p:spPr bwMode="auto">
          <a:xfrm>
            <a:off x="3581400" y="2453879"/>
            <a:ext cx="2209800" cy="285750"/>
          </a:xfrm>
          <a:prstGeom prst="rightArrow">
            <a:avLst>
              <a:gd name="adj1" fmla="val 50000"/>
              <a:gd name="adj2" fmla="val 145000"/>
            </a:avLst>
          </a:prstGeom>
          <a:solidFill>
            <a:schemeClr val="accent1"/>
          </a:solidFill>
          <a:ln w="9525">
            <a:solidFill>
              <a:schemeClr val="tx1"/>
            </a:solidFill>
            <a:miter lim="800000"/>
            <a:headEnd/>
            <a:tailEnd/>
          </a:ln>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1800"/>
          </a:p>
        </p:txBody>
      </p:sp>
      <p:sp>
        <p:nvSpPr>
          <p:cNvPr id="66566" name="Text Box 6"/>
          <p:cNvSpPr txBox="1">
            <a:spLocks noChangeArrowheads="1"/>
          </p:cNvSpPr>
          <p:nvPr/>
        </p:nvSpPr>
        <p:spPr bwMode="auto">
          <a:xfrm>
            <a:off x="1059612" y="1668066"/>
            <a:ext cx="838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dirty="0"/>
              <a:t>B3</a:t>
            </a:r>
          </a:p>
        </p:txBody>
      </p:sp>
      <p:sp>
        <p:nvSpPr>
          <p:cNvPr id="66567" name="Text Box 7"/>
          <p:cNvSpPr txBox="1">
            <a:spLocks noChangeArrowheads="1"/>
          </p:cNvSpPr>
          <p:nvPr/>
        </p:nvSpPr>
        <p:spPr bwMode="auto">
          <a:xfrm>
            <a:off x="3657600" y="1825229"/>
            <a:ext cx="1981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dirty="0"/>
              <a:t>j</a:t>
            </a:r>
            <a:r>
              <a:rPr lang="zh-CN" altLang="en-US" sz="1800" dirty="0"/>
              <a:t>每次减</a:t>
            </a:r>
            <a:r>
              <a:rPr lang="en-US" altLang="zh-CN" sz="1800" dirty="0"/>
              <a:t>1</a:t>
            </a:r>
            <a:r>
              <a:rPr lang="zh-CN" altLang="en-US" sz="1800" dirty="0"/>
              <a:t>后再做乘</a:t>
            </a:r>
            <a:r>
              <a:rPr lang="en-US" altLang="zh-CN" sz="1800" dirty="0"/>
              <a:t>4</a:t>
            </a:r>
            <a:r>
              <a:rPr lang="zh-CN" altLang="en-US" sz="1800" dirty="0"/>
              <a:t>操作</a:t>
            </a:r>
          </a:p>
        </p:txBody>
      </p:sp>
      <p:sp>
        <p:nvSpPr>
          <p:cNvPr id="66568" name="Text Box 8"/>
          <p:cNvSpPr txBox="1">
            <a:spLocks noChangeArrowheads="1"/>
          </p:cNvSpPr>
          <p:nvPr/>
        </p:nvSpPr>
        <p:spPr bwMode="auto">
          <a:xfrm>
            <a:off x="3657600" y="2853929"/>
            <a:ext cx="18288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zh-CN" altLang="en-US" sz="1800" dirty="0"/>
              <a:t>改为先赋值后，</a:t>
            </a:r>
            <a:r>
              <a:rPr lang="en-US" altLang="zh-CN" sz="1800" dirty="0"/>
              <a:t>T4</a:t>
            </a:r>
            <a:r>
              <a:rPr lang="zh-CN" altLang="en-US" sz="1800" dirty="0"/>
              <a:t>的计算用减法运算</a:t>
            </a:r>
          </a:p>
        </p:txBody>
      </p:sp>
      <p:sp>
        <p:nvSpPr>
          <p:cNvPr id="66569" name="Rectangle 9"/>
          <p:cNvSpPr>
            <a:spLocks noChangeArrowheads="1"/>
          </p:cNvSpPr>
          <p:nvPr/>
        </p:nvSpPr>
        <p:spPr bwMode="auto">
          <a:xfrm>
            <a:off x="5943600" y="1668066"/>
            <a:ext cx="2372816" cy="342900"/>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zh-CN" sz="2000" b="1" dirty="0">
                <a:solidFill>
                  <a:srgbClr val="FF0000"/>
                </a:solidFill>
                <a:latin typeface="宋体" pitchFamily="2" charset="-122"/>
              </a:rPr>
              <a:t>T4=4*j</a:t>
            </a:r>
            <a:endParaRPr lang="en-US" altLang="zh-CN" sz="2000" b="1" dirty="0">
              <a:solidFill>
                <a:srgbClr val="FF0000"/>
              </a:solidFill>
              <a:latin typeface="宋体" pitchFamily="2" charset="-122"/>
            </a:endParaRPr>
          </a:p>
        </p:txBody>
      </p:sp>
      <p:sp>
        <p:nvSpPr>
          <p:cNvPr id="66570" name="Rectangle 10"/>
          <p:cNvSpPr>
            <a:spLocks noGrp="1" noChangeArrowheads="1"/>
          </p:cNvSpPr>
          <p:nvPr>
            <p:ph type="body" idx="1"/>
          </p:nvPr>
        </p:nvSpPr>
        <p:spPr>
          <a:xfrm>
            <a:off x="611188" y="897732"/>
            <a:ext cx="8065268" cy="698897"/>
          </a:xfrm>
        </p:spPr>
        <p:txBody>
          <a:bodyPr>
            <a:noAutofit/>
          </a:bodyPr>
          <a:lstStyle/>
          <a:p>
            <a:pPr eaLnBrk="1" hangingPunct="1">
              <a:lnSpc>
                <a:spcPct val="90000"/>
              </a:lnSpc>
            </a:pPr>
            <a:r>
              <a:rPr lang="zh-CN" altLang="en-US" sz="2200" dirty="0"/>
              <a:t>把程序中执行时间长的运算替换为执行时间较短的运算</a:t>
            </a:r>
          </a:p>
        </p:txBody>
      </p:sp>
    </p:spTree>
    <p:extLst>
      <p:ext uri="{BB962C8B-B14F-4D97-AF65-F5344CB8AC3E}">
        <p14:creationId xmlns:p14="http://schemas.microsoft.com/office/powerpoint/2010/main" val="3336939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56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56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656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65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animBg="1"/>
      <p:bldP spid="66565" grpId="0" animBg="1"/>
      <p:bldP spid="66567" grpId="0"/>
      <p:bldP spid="66568" grpId="0"/>
      <p:bldP spid="66569"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179512" y="51470"/>
            <a:ext cx="6192688" cy="648072"/>
          </a:xfrm>
        </p:spPr>
        <p:txBody>
          <a:bodyPr>
            <a:normAutofit/>
          </a:bodyPr>
          <a:lstStyle/>
          <a:p>
            <a:pPr eaLnBrk="1" hangingPunct="1"/>
            <a:r>
              <a:rPr lang="zh-CN" altLang="en-US" sz="3200" dirty="0"/>
              <a:t>快速排序的流图进行强度削弱</a:t>
            </a:r>
            <a:endParaRPr lang="zh-CN" altLang="zh-CN" sz="3200" dirty="0"/>
          </a:p>
        </p:txBody>
      </p:sp>
      <p:sp>
        <p:nvSpPr>
          <p:cNvPr id="67587" name="Rectangle 3"/>
          <p:cNvSpPr>
            <a:spLocks noGrp="1" noChangeArrowheads="1"/>
          </p:cNvSpPr>
          <p:nvPr>
            <p:ph type="body" idx="1"/>
          </p:nvPr>
        </p:nvSpPr>
        <p:spPr>
          <a:xfrm>
            <a:off x="30628" y="987574"/>
            <a:ext cx="3749284" cy="3888432"/>
          </a:xfrm>
          <a:solidFill>
            <a:schemeClr val="bg1"/>
          </a:solidFill>
        </p:spPr>
        <p:txBody>
          <a:bodyPr>
            <a:noAutofit/>
          </a:bodyPr>
          <a:lstStyle/>
          <a:p>
            <a:pPr>
              <a:lnSpc>
                <a:spcPct val="110000"/>
              </a:lnSpc>
              <a:spcBef>
                <a:spcPts val="0"/>
              </a:spcBef>
            </a:pPr>
            <a:r>
              <a:rPr lang="zh-CN" altLang="zh-CN" sz="2000" dirty="0"/>
              <a:t>如果循环中有</a:t>
            </a:r>
            <a:r>
              <a:rPr lang="en-US" altLang="zh-CN" sz="2000" dirty="0"/>
              <a:t>I</a:t>
            </a:r>
            <a:r>
              <a:rPr lang="zh-CN" altLang="zh-CN" sz="2000" dirty="0"/>
              <a:t>的递归赋值</a:t>
            </a:r>
            <a:r>
              <a:rPr lang="en-US" altLang="zh-CN" sz="2000" dirty="0">
                <a:solidFill>
                  <a:srgbClr val="FF0000"/>
                </a:solidFill>
              </a:rPr>
              <a:t>I=I</a:t>
            </a:r>
            <a:r>
              <a:rPr lang="zh-CN" altLang="zh-CN" sz="2000" dirty="0">
                <a:solidFill>
                  <a:srgbClr val="FF0000"/>
                </a:solidFill>
              </a:rPr>
              <a:t>±</a:t>
            </a:r>
            <a:r>
              <a:rPr lang="en-US" altLang="zh-CN" sz="2000" dirty="0">
                <a:solidFill>
                  <a:srgbClr val="FF0000"/>
                </a:solidFill>
              </a:rPr>
              <a:t>C</a:t>
            </a:r>
            <a:r>
              <a:rPr lang="zh-CN" altLang="zh-CN" sz="2000" dirty="0"/>
              <a:t>（</a:t>
            </a:r>
            <a:r>
              <a:rPr lang="en-US" altLang="zh-CN" sz="2000" dirty="0"/>
              <a:t>C</a:t>
            </a:r>
            <a:r>
              <a:rPr lang="zh-CN" altLang="zh-CN" sz="2000" dirty="0"/>
              <a:t>为循环不变量），并且循环中</a:t>
            </a:r>
            <a:r>
              <a:rPr lang="en-US" altLang="zh-CN" sz="2000" dirty="0"/>
              <a:t>T</a:t>
            </a:r>
            <a:r>
              <a:rPr lang="zh-CN" altLang="zh-CN" sz="2000" dirty="0"/>
              <a:t>的赋值运算可化为</a:t>
            </a:r>
            <a:r>
              <a:rPr lang="en-US" altLang="zh-CN" sz="2000" dirty="0">
                <a:solidFill>
                  <a:srgbClr val="FF0000"/>
                </a:solidFill>
              </a:rPr>
              <a:t>T=K*I</a:t>
            </a:r>
            <a:r>
              <a:rPr lang="zh-CN" altLang="zh-CN" sz="2000" dirty="0">
                <a:solidFill>
                  <a:srgbClr val="FF0000"/>
                </a:solidFill>
              </a:rPr>
              <a:t>±</a:t>
            </a:r>
            <a:r>
              <a:rPr lang="en-US" altLang="zh-CN" sz="2000" dirty="0">
                <a:solidFill>
                  <a:srgbClr val="FF0000"/>
                </a:solidFill>
              </a:rPr>
              <a:t>C1</a:t>
            </a:r>
            <a:r>
              <a:rPr lang="zh-CN" altLang="en-US" sz="2000" dirty="0"/>
              <a:t>，</a:t>
            </a:r>
            <a:r>
              <a:rPr lang="zh-CN" altLang="zh-CN" sz="2000" dirty="0"/>
              <a:t>那么，</a:t>
            </a:r>
            <a:r>
              <a:rPr lang="en-US" altLang="zh-CN" sz="2000" dirty="0"/>
              <a:t>T</a:t>
            </a:r>
            <a:r>
              <a:rPr lang="zh-CN" altLang="zh-CN" sz="2000" dirty="0"/>
              <a:t>的赋值运算可以进行强度削弱。</a:t>
            </a:r>
          </a:p>
          <a:p>
            <a:pPr>
              <a:lnSpc>
                <a:spcPct val="110000"/>
              </a:lnSpc>
              <a:spcBef>
                <a:spcPts val="0"/>
              </a:spcBef>
            </a:pPr>
            <a:r>
              <a:rPr lang="zh-CN" altLang="zh-CN" sz="2000" dirty="0"/>
              <a:t>进行强度削弱后，循环中可能出现一些新的无用赋值，如果这些变量在循环出口之后不是活跃变量，就可以从循环中删除对这些变量的赋值语句。</a:t>
            </a:r>
          </a:p>
          <a:p>
            <a:pPr eaLnBrk="1" hangingPunct="1">
              <a:lnSpc>
                <a:spcPct val="110000"/>
              </a:lnSpc>
              <a:spcBef>
                <a:spcPts val="0"/>
              </a:spcBef>
            </a:pPr>
            <a:endParaRPr lang="zh-CN" altLang="zh-CN" sz="2000" dirty="0"/>
          </a:p>
        </p:txBody>
      </p:sp>
      <p:graphicFrame>
        <p:nvGraphicFramePr>
          <p:cNvPr id="67588" name="Object 4"/>
          <p:cNvGraphicFramePr>
            <a:graphicFrameLocks noChangeAspect="1"/>
          </p:cNvGraphicFramePr>
          <p:nvPr>
            <p:extLst>
              <p:ext uri="{D42A27DB-BD31-4B8C-83A1-F6EECF244321}">
                <p14:modId xmlns:p14="http://schemas.microsoft.com/office/powerpoint/2010/main" val="3030892476"/>
              </p:ext>
            </p:extLst>
          </p:nvPr>
        </p:nvGraphicFramePr>
        <p:xfrm>
          <a:off x="3851920" y="843558"/>
          <a:ext cx="5261046" cy="4086085"/>
        </p:xfrm>
        <a:graphic>
          <a:graphicData uri="http://schemas.openxmlformats.org/presentationml/2006/ole">
            <mc:AlternateContent xmlns:mc="http://schemas.openxmlformats.org/markup-compatibility/2006">
              <mc:Choice xmlns:v="urn:schemas-microsoft-com:vml" Requires="v">
                <p:oleObj name="Visio" r:id="rId3" imgW="3529638" imgH="3479760" progId="Visio.Drawing.11">
                  <p:embed/>
                </p:oleObj>
              </mc:Choice>
              <mc:Fallback>
                <p:oleObj name="Visio" r:id="rId3" imgW="3529638" imgH="3479760" progId="Visio.Drawing.11">
                  <p:embed/>
                  <p:pic>
                    <p:nvPicPr>
                      <p:cNvPr id="0" name=""/>
                      <p:cNvPicPr>
                        <a:picLocks noChangeAspect="1" noChangeArrowheads="1"/>
                      </p:cNvPicPr>
                      <p:nvPr/>
                    </p:nvPicPr>
                    <p:blipFill>
                      <a:blip r:embed="rId4"/>
                      <a:srcRect/>
                      <a:stretch>
                        <a:fillRect/>
                      </a:stretch>
                    </p:blipFill>
                    <p:spPr bwMode="auto">
                      <a:xfrm>
                        <a:off x="3851920" y="843558"/>
                        <a:ext cx="5261046" cy="4086085"/>
                      </a:xfrm>
                      <a:prstGeom prst="rect">
                        <a:avLst/>
                      </a:prstGeom>
                      <a:noFill/>
                      <a:ln>
                        <a:noFill/>
                      </a:ln>
                      <a:effectLst/>
                    </p:spPr>
                  </p:pic>
                </p:oleObj>
              </mc:Fallback>
            </mc:AlternateContent>
          </a:graphicData>
        </a:graphic>
      </p:graphicFrame>
      <p:sp>
        <p:nvSpPr>
          <p:cNvPr id="2" name="TextBox 1"/>
          <p:cNvSpPr txBox="1"/>
          <p:nvPr/>
        </p:nvSpPr>
        <p:spPr>
          <a:xfrm>
            <a:off x="4067944" y="2787774"/>
            <a:ext cx="1152128" cy="369332"/>
          </a:xfrm>
          <a:prstGeom prst="rect">
            <a:avLst/>
          </a:prstGeom>
          <a:noFill/>
        </p:spPr>
        <p:txBody>
          <a:bodyPr wrap="square" rtlCol="0">
            <a:spAutoFit/>
          </a:bodyPr>
          <a:lstStyle/>
          <a:p>
            <a:r>
              <a:rPr lang="en-US" altLang="zh-CN" dirty="0">
                <a:solidFill>
                  <a:srgbClr val="0000FF"/>
                </a:solidFill>
              </a:rPr>
              <a:t>T2=4*</a:t>
            </a:r>
            <a:r>
              <a:rPr lang="en-US" altLang="zh-CN" dirty="0" err="1">
                <a:solidFill>
                  <a:srgbClr val="0000FF"/>
                </a:solidFill>
              </a:rPr>
              <a:t>i</a:t>
            </a:r>
            <a:endParaRPr lang="zh-CN" altLang="en-US" dirty="0">
              <a:solidFill>
                <a:srgbClr val="0000FF"/>
              </a:solidFill>
            </a:endParaRPr>
          </a:p>
        </p:txBody>
      </p:sp>
      <p:sp>
        <p:nvSpPr>
          <p:cNvPr id="6" name="TextBox 5"/>
          <p:cNvSpPr txBox="1"/>
          <p:nvPr/>
        </p:nvSpPr>
        <p:spPr>
          <a:xfrm>
            <a:off x="7812360" y="1297092"/>
            <a:ext cx="1404664" cy="338554"/>
          </a:xfrm>
          <a:prstGeom prst="rect">
            <a:avLst/>
          </a:prstGeom>
          <a:noFill/>
        </p:spPr>
        <p:txBody>
          <a:bodyPr wrap="square" rtlCol="0">
            <a:spAutoFit/>
          </a:bodyPr>
          <a:lstStyle/>
          <a:p>
            <a:r>
              <a:rPr lang="en-US" altLang="zh-CN" sz="1600" dirty="0">
                <a:solidFill>
                  <a:srgbClr val="0000FF"/>
                </a:solidFill>
              </a:rPr>
              <a:t>T2=T2+4</a:t>
            </a:r>
            <a:endParaRPr lang="zh-CN" altLang="en-US" sz="1600" dirty="0">
              <a:solidFill>
                <a:srgbClr val="0000FF"/>
              </a:solidFill>
            </a:endParaRPr>
          </a:p>
        </p:txBody>
      </p:sp>
    </p:spTree>
    <p:extLst>
      <p:ext uri="{BB962C8B-B14F-4D97-AF65-F5344CB8AC3E}">
        <p14:creationId xmlns:p14="http://schemas.microsoft.com/office/powerpoint/2010/main" val="1369375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587">
                                            <p:bg/>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758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758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animBg="1"/>
      <p:bldP spid="2" grpId="0"/>
      <p:bldP spid="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179512" y="0"/>
            <a:ext cx="7772400" cy="627534"/>
          </a:xfrm>
          <a:noFill/>
        </p:spPr>
        <p:txBody>
          <a:bodyPr>
            <a:normAutofit/>
          </a:bodyPr>
          <a:lstStyle/>
          <a:p>
            <a:pPr eaLnBrk="1" hangingPunct="1"/>
            <a:r>
              <a:rPr lang="zh-CN" altLang="en-US" sz="3200" b="1" dirty="0">
                <a:solidFill>
                  <a:srgbClr val="CC00FF"/>
                </a:solidFill>
                <a:sym typeface="Symbol" pitchFamily="18" charset="2"/>
              </a:rPr>
              <a:t>循环优化技术</a:t>
            </a:r>
            <a:r>
              <a:rPr lang="en-US" altLang="zh-CN" sz="3200" b="1" dirty="0">
                <a:solidFill>
                  <a:srgbClr val="CC00FF"/>
                </a:solidFill>
                <a:sym typeface="Symbol" pitchFamily="18" charset="2"/>
              </a:rPr>
              <a:t>3—</a:t>
            </a:r>
            <a:r>
              <a:rPr lang="zh-CN" altLang="en-US" sz="3200" b="1" dirty="0">
                <a:solidFill>
                  <a:srgbClr val="CC00FF"/>
                </a:solidFill>
              </a:rPr>
              <a:t>删除归纳变量</a:t>
            </a:r>
          </a:p>
        </p:txBody>
      </p:sp>
      <p:sp>
        <p:nvSpPr>
          <p:cNvPr id="68611" name="Rectangle 3"/>
          <p:cNvSpPr>
            <a:spLocks noGrp="1" noChangeArrowheads="1"/>
          </p:cNvSpPr>
          <p:nvPr>
            <p:ph type="body" idx="1"/>
          </p:nvPr>
        </p:nvSpPr>
        <p:spPr>
          <a:xfrm>
            <a:off x="251520" y="699542"/>
            <a:ext cx="4176464" cy="2232248"/>
          </a:xfrm>
        </p:spPr>
        <p:txBody>
          <a:bodyPr>
            <a:noAutofit/>
          </a:bodyPr>
          <a:lstStyle/>
          <a:p>
            <a:pPr eaLnBrk="1" hangingPunct="1">
              <a:lnSpc>
                <a:spcPct val="95000"/>
              </a:lnSpc>
              <a:spcBef>
                <a:spcPts val="0"/>
              </a:spcBef>
            </a:pPr>
            <a:r>
              <a:rPr lang="zh-CN" altLang="en-US" sz="2000" dirty="0">
                <a:solidFill>
                  <a:srgbClr val="FF0000"/>
                </a:solidFill>
              </a:rPr>
              <a:t>基本归纳变量：</a:t>
            </a:r>
            <a:r>
              <a:rPr lang="zh-CN" altLang="en-US" sz="2000" dirty="0"/>
              <a:t>如果循环中对变量</a:t>
            </a:r>
            <a:r>
              <a:rPr lang="en-US" altLang="zh-CN" sz="2000" dirty="0"/>
              <a:t>I</a:t>
            </a:r>
            <a:r>
              <a:rPr lang="zh-CN" altLang="en-US" sz="2000" dirty="0"/>
              <a:t>只有唯一的形如</a:t>
            </a:r>
            <a:r>
              <a:rPr lang="en-US" altLang="zh-CN" sz="2000" dirty="0">
                <a:solidFill>
                  <a:srgbClr val="FF0000"/>
                </a:solidFill>
              </a:rPr>
              <a:t>I:=I </a:t>
            </a:r>
            <a:r>
              <a:rPr lang="en-US" altLang="zh-CN" sz="2000" dirty="0">
                <a:solidFill>
                  <a:srgbClr val="FF0000"/>
                </a:solidFill>
                <a:cs typeface="Times New Roman" pitchFamily="18" charset="0"/>
              </a:rPr>
              <a:t>± </a:t>
            </a:r>
            <a:r>
              <a:rPr lang="en-US" altLang="zh-CN" sz="2000" dirty="0">
                <a:solidFill>
                  <a:srgbClr val="FF0000"/>
                </a:solidFill>
              </a:rPr>
              <a:t>c</a:t>
            </a:r>
            <a:r>
              <a:rPr lang="zh-CN" altLang="en-US" sz="2000" dirty="0"/>
              <a:t>的赋值，</a:t>
            </a:r>
            <a:r>
              <a:rPr lang="en-US" altLang="zh-CN" sz="2000" dirty="0"/>
              <a:t>c</a:t>
            </a:r>
            <a:r>
              <a:rPr lang="zh-CN" altLang="en-US" sz="2000" dirty="0"/>
              <a:t>是循环不变量</a:t>
            </a:r>
          </a:p>
          <a:p>
            <a:pPr eaLnBrk="1" hangingPunct="1">
              <a:lnSpc>
                <a:spcPct val="95000"/>
              </a:lnSpc>
              <a:spcBef>
                <a:spcPts val="0"/>
              </a:spcBef>
            </a:pPr>
            <a:r>
              <a:rPr lang="zh-CN" altLang="en-US" sz="2000" dirty="0">
                <a:solidFill>
                  <a:srgbClr val="FF0000"/>
                </a:solidFill>
              </a:rPr>
              <a:t>归纳变量：</a:t>
            </a:r>
            <a:r>
              <a:rPr lang="zh-CN" altLang="en-US" sz="2000" dirty="0"/>
              <a:t>如果</a:t>
            </a:r>
            <a:r>
              <a:rPr lang="en-US" altLang="zh-CN" sz="2000" dirty="0"/>
              <a:t>I</a:t>
            </a:r>
            <a:r>
              <a:rPr lang="zh-CN" altLang="en-US" sz="2000" dirty="0"/>
              <a:t>是循环中的基本归纳变量，</a:t>
            </a:r>
            <a:r>
              <a:rPr lang="en-US" altLang="zh-CN" sz="2000" dirty="0"/>
              <a:t>T</a:t>
            </a:r>
            <a:r>
              <a:rPr lang="zh-CN" altLang="en-US" sz="2000" dirty="0"/>
              <a:t>在循环中的赋值总是可以化为</a:t>
            </a:r>
            <a:r>
              <a:rPr lang="en-US" altLang="zh-CN" sz="2000" dirty="0"/>
              <a:t>I</a:t>
            </a:r>
            <a:r>
              <a:rPr lang="zh-CN" altLang="en-US" sz="2000" dirty="0"/>
              <a:t>的同一线性函数，即</a:t>
            </a:r>
            <a:r>
              <a:rPr lang="en-US" altLang="zh-CN" sz="2000" dirty="0">
                <a:solidFill>
                  <a:srgbClr val="FF0000"/>
                </a:solidFill>
              </a:rPr>
              <a:t>T=C1*I </a:t>
            </a:r>
            <a:r>
              <a:rPr lang="en-US" altLang="zh-CN" sz="2000" dirty="0">
                <a:solidFill>
                  <a:srgbClr val="FF0000"/>
                </a:solidFill>
                <a:cs typeface="Times New Roman" pitchFamily="18" charset="0"/>
              </a:rPr>
              <a:t>± </a:t>
            </a:r>
            <a:r>
              <a:rPr lang="en-US" altLang="zh-CN" sz="2000" dirty="0">
                <a:solidFill>
                  <a:srgbClr val="FF0000"/>
                </a:solidFill>
              </a:rPr>
              <a:t>c2</a:t>
            </a:r>
            <a:r>
              <a:rPr lang="zh-CN" altLang="en-US" sz="2000" dirty="0"/>
              <a:t>。同时称</a:t>
            </a:r>
            <a:r>
              <a:rPr lang="en-US" altLang="zh-CN" sz="2000" dirty="0"/>
              <a:t>T</a:t>
            </a:r>
            <a:r>
              <a:rPr lang="zh-CN" altLang="en-US" sz="2000" dirty="0"/>
              <a:t>与</a:t>
            </a:r>
            <a:r>
              <a:rPr lang="en-US" altLang="zh-CN" sz="2000" dirty="0"/>
              <a:t>I</a:t>
            </a:r>
            <a:r>
              <a:rPr lang="zh-CN" altLang="en-US" sz="2000" dirty="0">
                <a:solidFill>
                  <a:srgbClr val="FF0000"/>
                </a:solidFill>
              </a:rPr>
              <a:t>同族</a:t>
            </a:r>
          </a:p>
          <a:p>
            <a:pPr eaLnBrk="1" hangingPunct="1">
              <a:lnSpc>
                <a:spcPct val="95000"/>
              </a:lnSpc>
              <a:spcBef>
                <a:spcPts val="0"/>
              </a:spcBef>
            </a:pPr>
            <a:endParaRPr lang="en-US" altLang="zh-CN" sz="2000" dirty="0"/>
          </a:p>
        </p:txBody>
      </p:sp>
      <p:sp>
        <p:nvSpPr>
          <p:cNvPr id="7" name="矩形 6"/>
          <p:cNvSpPr/>
          <p:nvPr/>
        </p:nvSpPr>
        <p:spPr>
          <a:xfrm>
            <a:off x="531790" y="3219822"/>
            <a:ext cx="5192338" cy="1754326"/>
          </a:xfrm>
          <a:prstGeom prst="rect">
            <a:avLst/>
          </a:prstGeom>
          <a:solidFill>
            <a:schemeClr val="bg1"/>
          </a:solidFill>
        </p:spPr>
        <p:txBody>
          <a:bodyPr wrap="square">
            <a:spAutoFit/>
          </a:bodyPr>
          <a:lstStyle/>
          <a:p>
            <a:pPr marL="285750" indent="-285750">
              <a:lnSpc>
                <a:spcPct val="90000"/>
              </a:lnSpc>
              <a:buFont typeface="Arial" panose="020B0604020202020204" pitchFamily="34" charset="0"/>
              <a:buChar char="•"/>
            </a:pPr>
            <a:r>
              <a:rPr lang="zh-CN" altLang="en-US" sz="2000" dirty="0"/>
              <a:t>基本归纳变量：</a:t>
            </a:r>
            <a:endParaRPr lang="en-US" altLang="zh-CN" sz="2000" dirty="0"/>
          </a:p>
          <a:p>
            <a:pPr marL="742950" lvl="1" indent="-285750">
              <a:lnSpc>
                <a:spcPct val="90000"/>
              </a:lnSpc>
              <a:buFont typeface="Arial" panose="020B0604020202020204" pitchFamily="34" charset="0"/>
              <a:buChar char="•"/>
            </a:pPr>
            <a:r>
              <a:rPr lang="zh-CN" altLang="en-US" sz="2000" dirty="0"/>
              <a:t>用于自身的递归定值</a:t>
            </a:r>
            <a:endParaRPr lang="en-US" altLang="zh-CN" sz="2000" dirty="0"/>
          </a:p>
          <a:p>
            <a:pPr marL="742950" lvl="1" indent="-285750">
              <a:lnSpc>
                <a:spcPct val="90000"/>
              </a:lnSpc>
              <a:buFont typeface="Arial" panose="020B0604020202020204" pitchFamily="34" charset="0"/>
              <a:buChar char="•"/>
            </a:pPr>
            <a:r>
              <a:rPr lang="zh-CN" altLang="en-US" sz="2000" dirty="0"/>
              <a:t>在循环中用来计算其他归纳变量及控制循环的进行</a:t>
            </a:r>
            <a:endParaRPr lang="en-US" altLang="zh-CN" sz="2000" dirty="0"/>
          </a:p>
          <a:p>
            <a:pPr marL="742950" lvl="1" indent="-285750">
              <a:lnSpc>
                <a:spcPct val="90000"/>
              </a:lnSpc>
              <a:buFont typeface="Arial" panose="020B0604020202020204" pitchFamily="34" charset="0"/>
              <a:buChar char="•"/>
            </a:pPr>
            <a:r>
              <a:rPr lang="zh-CN" altLang="en-US" sz="2000" dirty="0"/>
              <a:t>可以用与它同族的某一归纳变量来控制循环的进行</a:t>
            </a:r>
          </a:p>
        </p:txBody>
      </p:sp>
      <p:sp>
        <p:nvSpPr>
          <p:cNvPr id="4"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 name="对象 1"/>
          <p:cNvGraphicFramePr>
            <a:graphicFrameLocks noChangeAspect="1"/>
          </p:cNvGraphicFramePr>
          <p:nvPr>
            <p:extLst>
              <p:ext uri="{D42A27DB-BD31-4B8C-83A1-F6EECF244321}">
                <p14:modId xmlns:p14="http://schemas.microsoft.com/office/powerpoint/2010/main" val="34906911"/>
              </p:ext>
            </p:extLst>
          </p:nvPr>
        </p:nvGraphicFramePr>
        <p:xfrm>
          <a:off x="4415937" y="627534"/>
          <a:ext cx="4728063" cy="4010720"/>
        </p:xfrm>
        <a:graphic>
          <a:graphicData uri="http://schemas.openxmlformats.org/presentationml/2006/ole">
            <mc:AlternateContent xmlns:mc="http://schemas.openxmlformats.org/markup-compatibility/2006">
              <mc:Choice xmlns:v="urn:schemas-microsoft-com:vml" Requires="v">
                <p:oleObj name="Visio" r:id="rId3" imgW="3529638" imgH="3479760" progId="Visio.Drawing.11">
                  <p:embed/>
                </p:oleObj>
              </mc:Choice>
              <mc:Fallback>
                <p:oleObj name="Visio" r:id="rId3" imgW="3529638" imgH="3479760" progId="Visio.Drawing.11">
                  <p:embed/>
                  <p:pic>
                    <p:nvPicPr>
                      <p:cNvPr id="0" name="Object 5"/>
                      <p:cNvPicPr>
                        <a:picLocks noChangeAspect="1" noChangeArrowheads="1"/>
                      </p:cNvPicPr>
                      <p:nvPr/>
                    </p:nvPicPr>
                    <p:blipFill>
                      <a:blip r:embed="rId4"/>
                      <a:srcRect/>
                      <a:stretch>
                        <a:fillRect/>
                      </a:stretch>
                    </p:blipFill>
                    <p:spPr bwMode="auto">
                      <a:xfrm>
                        <a:off x="4415937" y="627534"/>
                        <a:ext cx="4728063" cy="4010720"/>
                      </a:xfrm>
                      <a:prstGeom prst="rect">
                        <a:avLst/>
                      </a:prstGeom>
                      <a:noFill/>
                      <a:ln>
                        <a:noFill/>
                      </a:ln>
                    </p:spPr>
                  </p:pic>
                </p:oleObj>
              </mc:Fallback>
            </mc:AlternateContent>
          </a:graphicData>
        </a:graphic>
      </p:graphicFrame>
      <p:cxnSp>
        <p:nvCxnSpPr>
          <p:cNvPr id="5" name="直接连接符 4"/>
          <p:cNvCxnSpPr/>
          <p:nvPr/>
        </p:nvCxnSpPr>
        <p:spPr>
          <a:xfrm>
            <a:off x="7373968" y="1059582"/>
            <a:ext cx="7200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373968" y="2139702"/>
            <a:ext cx="7200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Rectangle 5"/>
          <p:cNvSpPr>
            <a:spLocks noChangeArrowheads="1"/>
          </p:cNvSpPr>
          <p:nvPr/>
        </p:nvSpPr>
        <p:spPr bwMode="auto">
          <a:xfrm>
            <a:off x="4427984" y="3147814"/>
            <a:ext cx="2124236" cy="432048"/>
          </a:xfrm>
          <a:prstGeom prst="rect">
            <a:avLst/>
          </a:prstGeom>
          <a:solidFill>
            <a:srgbClr val="B3D7B9"/>
          </a:solidFill>
          <a:ln>
            <a:headEnd/>
            <a:tailEnd/>
          </a:ln>
        </p:spPr>
        <p:style>
          <a:lnRef idx="2">
            <a:schemeClr val="accent1"/>
          </a:lnRef>
          <a:fillRef idx="1">
            <a:schemeClr val="lt1"/>
          </a:fillRef>
          <a:effectRef idx="0">
            <a:schemeClr val="accent1"/>
          </a:effectRef>
          <a:fontRef idx="minor">
            <a:schemeClr val="dk1"/>
          </a:fontRef>
        </p:style>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1800" dirty="0">
                <a:solidFill>
                  <a:srgbClr val="FF0000"/>
                </a:solidFill>
              </a:rPr>
              <a:t>if T2&gt;=T4 </a:t>
            </a:r>
            <a:r>
              <a:rPr lang="en-US" altLang="zh-CN" sz="1800" dirty="0" err="1">
                <a:solidFill>
                  <a:srgbClr val="FF0000"/>
                </a:solidFill>
              </a:rPr>
              <a:t>goto</a:t>
            </a:r>
            <a:r>
              <a:rPr lang="en-US" altLang="zh-CN" sz="1800" dirty="0">
                <a:solidFill>
                  <a:srgbClr val="FF0000"/>
                </a:solidFill>
              </a:rPr>
              <a:t> B6</a:t>
            </a:r>
          </a:p>
        </p:txBody>
      </p:sp>
    </p:spTree>
    <p:extLst>
      <p:ext uri="{BB962C8B-B14F-4D97-AF65-F5344CB8AC3E}">
        <p14:creationId xmlns:p14="http://schemas.microsoft.com/office/powerpoint/2010/main" val="3368664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6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86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p:bldP spid="7" grpId="0" animBg="1"/>
      <p:bldP spid="12"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179512" y="0"/>
            <a:ext cx="7772400" cy="627534"/>
          </a:xfrm>
          <a:noFill/>
        </p:spPr>
        <p:txBody>
          <a:bodyPr>
            <a:normAutofit/>
          </a:bodyPr>
          <a:lstStyle/>
          <a:p>
            <a:pPr eaLnBrk="1" hangingPunct="1"/>
            <a:r>
              <a:rPr lang="zh-CN" altLang="en-US" sz="3200" b="1" dirty="0">
                <a:solidFill>
                  <a:srgbClr val="CC00FF"/>
                </a:solidFill>
                <a:sym typeface="Symbol" pitchFamily="18" charset="2"/>
              </a:rPr>
              <a:t>循环优化技术</a:t>
            </a:r>
            <a:r>
              <a:rPr lang="en-US" altLang="zh-CN" sz="3200" b="1" dirty="0">
                <a:solidFill>
                  <a:srgbClr val="CC00FF"/>
                </a:solidFill>
                <a:sym typeface="Symbol" pitchFamily="18" charset="2"/>
              </a:rPr>
              <a:t>3—</a:t>
            </a:r>
            <a:r>
              <a:rPr lang="zh-CN" altLang="en-US" sz="3200" b="1" dirty="0">
                <a:solidFill>
                  <a:srgbClr val="CC00FF"/>
                </a:solidFill>
              </a:rPr>
              <a:t>删除归纳变量</a:t>
            </a:r>
          </a:p>
        </p:txBody>
      </p:sp>
      <p:sp>
        <p:nvSpPr>
          <p:cNvPr id="68611" name="Rectangle 3"/>
          <p:cNvSpPr>
            <a:spLocks noGrp="1" noChangeArrowheads="1"/>
          </p:cNvSpPr>
          <p:nvPr>
            <p:ph type="body" idx="1"/>
          </p:nvPr>
        </p:nvSpPr>
        <p:spPr>
          <a:xfrm>
            <a:off x="251520" y="699542"/>
            <a:ext cx="4320480" cy="2232248"/>
          </a:xfrm>
        </p:spPr>
        <p:txBody>
          <a:bodyPr>
            <a:noAutofit/>
          </a:bodyPr>
          <a:lstStyle/>
          <a:p>
            <a:pPr eaLnBrk="1" hangingPunct="1">
              <a:lnSpc>
                <a:spcPct val="95000"/>
              </a:lnSpc>
              <a:spcBef>
                <a:spcPts val="0"/>
              </a:spcBef>
            </a:pPr>
            <a:r>
              <a:rPr lang="zh-CN" altLang="en-US" sz="2000" dirty="0">
                <a:solidFill>
                  <a:srgbClr val="FF0000"/>
                </a:solidFill>
              </a:rPr>
              <a:t>基本归纳变量：</a:t>
            </a:r>
            <a:r>
              <a:rPr lang="zh-CN" altLang="en-US" sz="2000" dirty="0"/>
              <a:t>如果循环中对变量</a:t>
            </a:r>
            <a:r>
              <a:rPr lang="en-US" altLang="zh-CN" sz="2000" dirty="0"/>
              <a:t>I</a:t>
            </a:r>
            <a:r>
              <a:rPr lang="zh-CN" altLang="en-US" sz="2000" dirty="0"/>
              <a:t>只有唯一的形如</a:t>
            </a:r>
            <a:r>
              <a:rPr lang="en-US" altLang="zh-CN" sz="2000" dirty="0">
                <a:solidFill>
                  <a:srgbClr val="FF0000"/>
                </a:solidFill>
              </a:rPr>
              <a:t>I:=I </a:t>
            </a:r>
            <a:r>
              <a:rPr lang="en-US" altLang="zh-CN" sz="2000" dirty="0">
                <a:solidFill>
                  <a:srgbClr val="FF0000"/>
                </a:solidFill>
                <a:cs typeface="Times New Roman" pitchFamily="18" charset="0"/>
              </a:rPr>
              <a:t>± </a:t>
            </a:r>
            <a:r>
              <a:rPr lang="en-US" altLang="zh-CN" sz="2000" dirty="0">
                <a:solidFill>
                  <a:srgbClr val="FF0000"/>
                </a:solidFill>
              </a:rPr>
              <a:t>c</a:t>
            </a:r>
            <a:r>
              <a:rPr lang="zh-CN" altLang="en-US" sz="2000" dirty="0"/>
              <a:t>的赋值，</a:t>
            </a:r>
            <a:r>
              <a:rPr lang="en-US" altLang="zh-CN" sz="2000" dirty="0"/>
              <a:t>c</a:t>
            </a:r>
            <a:r>
              <a:rPr lang="zh-CN" altLang="en-US" sz="2000" dirty="0"/>
              <a:t>是循环不变量</a:t>
            </a:r>
          </a:p>
          <a:p>
            <a:pPr eaLnBrk="1" hangingPunct="1">
              <a:lnSpc>
                <a:spcPct val="95000"/>
              </a:lnSpc>
              <a:spcBef>
                <a:spcPts val="0"/>
              </a:spcBef>
            </a:pPr>
            <a:r>
              <a:rPr lang="zh-CN" altLang="en-US" sz="2000" dirty="0">
                <a:solidFill>
                  <a:srgbClr val="FF0000"/>
                </a:solidFill>
              </a:rPr>
              <a:t>归纳变量：</a:t>
            </a:r>
            <a:r>
              <a:rPr lang="zh-CN" altLang="en-US" sz="2000" dirty="0"/>
              <a:t>如果</a:t>
            </a:r>
            <a:r>
              <a:rPr lang="en-US" altLang="zh-CN" sz="2000" dirty="0"/>
              <a:t>I</a:t>
            </a:r>
            <a:r>
              <a:rPr lang="zh-CN" altLang="en-US" sz="2000" dirty="0"/>
              <a:t>是循环中的基本归纳变量，</a:t>
            </a:r>
            <a:r>
              <a:rPr lang="en-US" altLang="zh-CN" sz="2000" dirty="0"/>
              <a:t>T</a:t>
            </a:r>
            <a:r>
              <a:rPr lang="zh-CN" altLang="en-US" sz="2000" dirty="0"/>
              <a:t>在循环中的赋值总是可以化为</a:t>
            </a:r>
            <a:r>
              <a:rPr lang="en-US" altLang="zh-CN" sz="2000" dirty="0"/>
              <a:t>I</a:t>
            </a:r>
            <a:r>
              <a:rPr lang="zh-CN" altLang="en-US" sz="2000" dirty="0"/>
              <a:t>的同一线性函数，即</a:t>
            </a:r>
            <a:r>
              <a:rPr lang="en-US" altLang="zh-CN" sz="2000" dirty="0">
                <a:solidFill>
                  <a:srgbClr val="FF0000"/>
                </a:solidFill>
              </a:rPr>
              <a:t>T=C1*I </a:t>
            </a:r>
            <a:r>
              <a:rPr lang="en-US" altLang="zh-CN" sz="2000" dirty="0">
                <a:solidFill>
                  <a:srgbClr val="FF0000"/>
                </a:solidFill>
                <a:cs typeface="Times New Roman" pitchFamily="18" charset="0"/>
              </a:rPr>
              <a:t>± </a:t>
            </a:r>
            <a:r>
              <a:rPr lang="en-US" altLang="zh-CN" sz="2000" dirty="0">
                <a:solidFill>
                  <a:srgbClr val="FF0000"/>
                </a:solidFill>
              </a:rPr>
              <a:t>c2</a:t>
            </a:r>
            <a:r>
              <a:rPr lang="zh-CN" altLang="en-US" sz="2000" dirty="0"/>
              <a:t>。同时称</a:t>
            </a:r>
            <a:r>
              <a:rPr lang="en-US" altLang="zh-CN" sz="2000" dirty="0"/>
              <a:t>J</a:t>
            </a:r>
            <a:r>
              <a:rPr lang="zh-CN" altLang="en-US" sz="2000" dirty="0"/>
              <a:t>与</a:t>
            </a:r>
            <a:r>
              <a:rPr lang="en-US" altLang="zh-CN" sz="2000" dirty="0"/>
              <a:t>I</a:t>
            </a:r>
            <a:r>
              <a:rPr lang="zh-CN" altLang="en-US" sz="2000" dirty="0">
                <a:solidFill>
                  <a:srgbClr val="FF0000"/>
                </a:solidFill>
              </a:rPr>
              <a:t>同族</a:t>
            </a:r>
          </a:p>
          <a:p>
            <a:pPr eaLnBrk="1" hangingPunct="1">
              <a:lnSpc>
                <a:spcPct val="95000"/>
              </a:lnSpc>
              <a:spcBef>
                <a:spcPts val="0"/>
              </a:spcBef>
            </a:pPr>
            <a:endParaRPr lang="en-US" altLang="zh-CN" sz="2000" dirty="0"/>
          </a:p>
        </p:txBody>
      </p:sp>
      <p:sp>
        <p:nvSpPr>
          <p:cNvPr id="7" name="矩形 6"/>
          <p:cNvSpPr/>
          <p:nvPr/>
        </p:nvSpPr>
        <p:spPr>
          <a:xfrm>
            <a:off x="179512" y="3147814"/>
            <a:ext cx="5256584" cy="1754326"/>
          </a:xfrm>
          <a:prstGeom prst="rect">
            <a:avLst/>
          </a:prstGeom>
          <a:solidFill>
            <a:schemeClr val="bg1"/>
          </a:solidFill>
        </p:spPr>
        <p:txBody>
          <a:bodyPr wrap="square">
            <a:spAutoFit/>
          </a:bodyPr>
          <a:lstStyle/>
          <a:p>
            <a:pPr marL="285750" indent="-285750">
              <a:lnSpc>
                <a:spcPct val="90000"/>
              </a:lnSpc>
              <a:buFont typeface="Arial" panose="020B0604020202020204" pitchFamily="34" charset="0"/>
              <a:buChar char="•"/>
            </a:pPr>
            <a:r>
              <a:rPr lang="zh-CN" altLang="en-US" sz="2000" dirty="0"/>
              <a:t>基本归纳变量：</a:t>
            </a:r>
            <a:endParaRPr lang="en-US" altLang="zh-CN" sz="2000" dirty="0"/>
          </a:p>
          <a:p>
            <a:pPr marL="742950" lvl="1" indent="-285750">
              <a:lnSpc>
                <a:spcPct val="90000"/>
              </a:lnSpc>
              <a:buFont typeface="Arial" panose="020B0604020202020204" pitchFamily="34" charset="0"/>
              <a:buChar char="•"/>
            </a:pPr>
            <a:r>
              <a:rPr lang="zh-CN" altLang="en-US" sz="2000" dirty="0"/>
              <a:t>用于自身的递归定值</a:t>
            </a:r>
            <a:endParaRPr lang="en-US" altLang="zh-CN" sz="2000" dirty="0"/>
          </a:p>
          <a:p>
            <a:pPr marL="742950" lvl="1" indent="-285750">
              <a:lnSpc>
                <a:spcPct val="90000"/>
              </a:lnSpc>
              <a:buFont typeface="Arial" panose="020B0604020202020204" pitchFamily="34" charset="0"/>
              <a:buChar char="•"/>
            </a:pPr>
            <a:r>
              <a:rPr lang="zh-CN" altLang="en-US" sz="2000" dirty="0"/>
              <a:t>在循环中用来计算其他归纳变量及控制循环的进行</a:t>
            </a:r>
            <a:endParaRPr lang="en-US" altLang="zh-CN" sz="2000" dirty="0"/>
          </a:p>
          <a:p>
            <a:pPr marL="742950" lvl="1" indent="-285750">
              <a:lnSpc>
                <a:spcPct val="90000"/>
              </a:lnSpc>
              <a:buFont typeface="Arial" panose="020B0604020202020204" pitchFamily="34" charset="0"/>
              <a:buChar char="•"/>
            </a:pPr>
            <a:r>
              <a:rPr lang="zh-CN" altLang="en-US" sz="2000" dirty="0"/>
              <a:t>可以用与它同族的某一归纳变量来控制循环的进行</a:t>
            </a:r>
          </a:p>
        </p:txBody>
      </p:sp>
      <p:sp>
        <p:nvSpPr>
          <p:cNvPr id="4"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4264722328"/>
              </p:ext>
            </p:extLst>
          </p:nvPr>
        </p:nvGraphicFramePr>
        <p:xfrm>
          <a:off x="4891440" y="339502"/>
          <a:ext cx="4217064" cy="4790612"/>
        </p:xfrm>
        <a:graphic>
          <a:graphicData uri="http://schemas.openxmlformats.org/presentationml/2006/ole">
            <mc:AlternateContent xmlns:mc="http://schemas.openxmlformats.org/markup-compatibility/2006">
              <mc:Choice xmlns:v="urn:schemas-microsoft-com:vml" Requires="v">
                <p:oleObj name="Visio" r:id="rId3" imgW="3124820" imgH="3560544" progId="Visio.Drawing.11">
                  <p:embed/>
                </p:oleObj>
              </mc:Choice>
              <mc:Fallback>
                <p:oleObj name="Visio" r:id="rId3" imgW="3124820" imgH="3560544" progId="Visio.Drawing.11">
                  <p:embed/>
                  <p:pic>
                    <p:nvPicPr>
                      <p:cNvPr id="0" name="Object 6"/>
                      <p:cNvPicPr>
                        <a:picLocks noChangeAspect="1" noChangeArrowheads="1"/>
                      </p:cNvPicPr>
                      <p:nvPr/>
                    </p:nvPicPr>
                    <p:blipFill>
                      <a:blip r:embed="rId4"/>
                      <a:srcRect/>
                      <a:stretch>
                        <a:fillRect/>
                      </a:stretch>
                    </p:blipFill>
                    <p:spPr bwMode="auto">
                      <a:xfrm>
                        <a:off x="4891440" y="339502"/>
                        <a:ext cx="4217064" cy="4790612"/>
                      </a:xfrm>
                      <a:prstGeom prst="rect">
                        <a:avLst/>
                      </a:prstGeom>
                      <a:noFill/>
                    </p:spPr>
                  </p:pic>
                </p:oleObj>
              </mc:Fallback>
            </mc:AlternateContent>
          </a:graphicData>
        </a:graphic>
      </p:graphicFrame>
    </p:spTree>
    <p:extLst>
      <p:ext uri="{BB962C8B-B14F-4D97-AF65-F5344CB8AC3E}">
        <p14:creationId xmlns:p14="http://schemas.microsoft.com/office/powerpoint/2010/main" val="34113979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79512" y="342900"/>
            <a:ext cx="4203576" cy="1059061"/>
          </a:xfrm>
        </p:spPr>
        <p:txBody>
          <a:bodyPr>
            <a:normAutofit/>
          </a:bodyPr>
          <a:lstStyle/>
          <a:p>
            <a:pPr eaLnBrk="1" hangingPunct="1"/>
            <a:r>
              <a:rPr lang="zh-CN" altLang="en-US" sz="2800" dirty="0"/>
              <a:t>练习：对这个流图进行强度削弱和删除归纳变量</a:t>
            </a:r>
            <a:endParaRPr lang="zh-CN" altLang="zh-CN" sz="2800" dirty="0"/>
          </a:p>
        </p:txBody>
      </p:sp>
      <p:grpSp>
        <p:nvGrpSpPr>
          <p:cNvPr id="22" name="Group 40"/>
          <p:cNvGrpSpPr>
            <a:grpSpLocks/>
          </p:cNvGrpSpPr>
          <p:nvPr/>
        </p:nvGrpSpPr>
        <p:grpSpPr bwMode="auto">
          <a:xfrm>
            <a:off x="4876800" y="342900"/>
            <a:ext cx="4191000" cy="4819650"/>
            <a:chOff x="3072" y="288"/>
            <a:chExt cx="2640" cy="4048"/>
          </a:xfrm>
        </p:grpSpPr>
        <p:sp>
          <p:nvSpPr>
            <p:cNvPr id="23" name="Text Box 21"/>
            <p:cNvSpPr txBox="1">
              <a:spLocks noChangeArrowheads="1"/>
            </p:cNvSpPr>
            <p:nvPr/>
          </p:nvSpPr>
          <p:spPr bwMode="auto">
            <a:xfrm>
              <a:off x="3360" y="288"/>
              <a:ext cx="1296" cy="3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a:t>(1) I=1</a:t>
              </a:r>
            </a:p>
          </p:txBody>
        </p:sp>
        <p:sp>
          <p:nvSpPr>
            <p:cNvPr id="24" name="Text Box 22"/>
            <p:cNvSpPr txBox="1">
              <a:spLocks noChangeArrowheads="1"/>
            </p:cNvSpPr>
            <p:nvPr/>
          </p:nvSpPr>
          <p:spPr bwMode="auto">
            <a:xfrm>
              <a:off x="3360" y="1772"/>
              <a:ext cx="1920" cy="3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dirty="0"/>
                <a:t>(2) If  I&gt;10 </a:t>
              </a:r>
              <a:r>
                <a:rPr lang="en-US" altLang="zh-CN" sz="1800" dirty="0" err="1"/>
                <a:t>goto</a:t>
              </a:r>
              <a:r>
                <a:rPr lang="en-US" altLang="zh-CN" sz="1800" dirty="0"/>
                <a:t> 15</a:t>
              </a:r>
            </a:p>
          </p:txBody>
        </p:sp>
        <p:sp>
          <p:nvSpPr>
            <p:cNvPr id="25" name="Text Box 23"/>
            <p:cNvSpPr txBox="1">
              <a:spLocks noChangeArrowheads="1"/>
            </p:cNvSpPr>
            <p:nvPr/>
          </p:nvSpPr>
          <p:spPr bwMode="auto">
            <a:xfrm>
              <a:off x="3360" y="2204"/>
              <a:ext cx="2064" cy="175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90000"/>
                </a:lnSpc>
                <a:spcBef>
                  <a:spcPct val="0"/>
                </a:spcBef>
                <a:buFontTx/>
                <a:buNone/>
              </a:pPr>
              <a:r>
                <a:rPr lang="en-US" altLang="zh-CN" sz="1800"/>
                <a:t>(4) T2=10*I</a:t>
              </a:r>
            </a:p>
            <a:p>
              <a:pPr eaLnBrk="1" hangingPunct="1">
                <a:lnSpc>
                  <a:spcPct val="90000"/>
                </a:lnSpc>
                <a:spcBef>
                  <a:spcPct val="0"/>
                </a:spcBef>
                <a:buFontTx/>
                <a:buNone/>
              </a:pPr>
              <a:r>
                <a:rPr lang="en-US" altLang="zh-CN" sz="1800"/>
                <a:t>(5) T3=T2+T1</a:t>
              </a:r>
            </a:p>
            <a:p>
              <a:pPr eaLnBrk="1" hangingPunct="1">
                <a:lnSpc>
                  <a:spcPct val="90000"/>
                </a:lnSpc>
                <a:spcBef>
                  <a:spcPct val="0"/>
                </a:spcBef>
                <a:buFontTx/>
                <a:buNone/>
              </a:pPr>
              <a:r>
                <a:rPr lang="en-US" altLang="zh-CN" sz="1800"/>
                <a:t>(8) T6=10*I</a:t>
              </a:r>
            </a:p>
            <a:p>
              <a:pPr eaLnBrk="1" hangingPunct="1">
                <a:lnSpc>
                  <a:spcPct val="90000"/>
                </a:lnSpc>
                <a:spcBef>
                  <a:spcPct val="0"/>
                </a:spcBef>
                <a:buFontTx/>
                <a:buNone/>
              </a:pPr>
              <a:r>
                <a:rPr lang="en-US" altLang="zh-CN" sz="1800"/>
                <a:t>(9) T7=T6+T5</a:t>
              </a:r>
            </a:p>
            <a:p>
              <a:pPr eaLnBrk="1" hangingPunct="1">
                <a:lnSpc>
                  <a:spcPct val="90000"/>
                </a:lnSpc>
                <a:spcBef>
                  <a:spcPct val="0"/>
                </a:spcBef>
                <a:buFontTx/>
                <a:buNone/>
              </a:pPr>
              <a:r>
                <a:rPr lang="en-US" altLang="zh-CN" sz="1800"/>
                <a:t>(11) T9=T8[T7]</a:t>
              </a:r>
            </a:p>
            <a:p>
              <a:pPr eaLnBrk="1" hangingPunct="1">
                <a:lnSpc>
                  <a:spcPct val="90000"/>
                </a:lnSpc>
                <a:spcBef>
                  <a:spcPct val="0"/>
                </a:spcBef>
                <a:buFontTx/>
                <a:buNone/>
              </a:pPr>
              <a:r>
                <a:rPr lang="en-US" altLang="zh-CN" sz="1800"/>
                <a:t>(12) T4[T3]=T9+1</a:t>
              </a:r>
            </a:p>
            <a:p>
              <a:pPr eaLnBrk="1" hangingPunct="1">
                <a:lnSpc>
                  <a:spcPct val="90000"/>
                </a:lnSpc>
                <a:spcBef>
                  <a:spcPct val="0"/>
                </a:spcBef>
                <a:buFontTx/>
                <a:buNone/>
              </a:pPr>
              <a:r>
                <a:rPr lang="en-US" altLang="zh-CN" sz="1800"/>
                <a:t>(13) I=I+1</a:t>
              </a:r>
            </a:p>
            <a:p>
              <a:pPr eaLnBrk="1" hangingPunct="1">
                <a:lnSpc>
                  <a:spcPct val="90000"/>
                </a:lnSpc>
                <a:spcBef>
                  <a:spcPct val="0"/>
                </a:spcBef>
                <a:buFontTx/>
                <a:buNone/>
              </a:pPr>
              <a:r>
                <a:rPr lang="en-US" altLang="zh-CN" sz="1800"/>
                <a:t>(14) goto B2</a:t>
              </a:r>
            </a:p>
          </p:txBody>
        </p:sp>
        <p:sp>
          <p:nvSpPr>
            <p:cNvPr id="26" name="Rectangle 24"/>
            <p:cNvSpPr>
              <a:spLocks noChangeArrowheads="1"/>
            </p:cNvSpPr>
            <p:nvPr/>
          </p:nvSpPr>
          <p:spPr bwMode="auto">
            <a:xfrm>
              <a:off x="3408" y="4026"/>
              <a:ext cx="2017" cy="3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a:t>(15)</a:t>
              </a:r>
            </a:p>
          </p:txBody>
        </p:sp>
        <p:sp>
          <p:nvSpPr>
            <p:cNvPr id="27" name="Line 25"/>
            <p:cNvSpPr>
              <a:spLocks noChangeShapeType="1"/>
            </p:cNvSpPr>
            <p:nvPr/>
          </p:nvSpPr>
          <p:spPr bwMode="auto">
            <a:xfrm>
              <a:off x="5280" y="1916"/>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8" name="Line 26"/>
            <p:cNvSpPr>
              <a:spLocks noChangeShapeType="1"/>
            </p:cNvSpPr>
            <p:nvPr/>
          </p:nvSpPr>
          <p:spPr bwMode="auto">
            <a:xfrm>
              <a:off x="5712" y="1916"/>
              <a:ext cx="0" cy="225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9" name="Line 27"/>
            <p:cNvSpPr>
              <a:spLocks noChangeShapeType="1"/>
            </p:cNvSpPr>
            <p:nvPr/>
          </p:nvSpPr>
          <p:spPr bwMode="auto">
            <a:xfrm>
              <a:off x="3936" y="598"/>
              <a:ext cx="0" cy="12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30" name="Line 28"/>
            <p:cNvSpPr>
              <a:spLocks noChangeShapeType="1"/>
            </p:cNvSpPr>
            <p:nvPr/>
          </p:nvSpPr>
          <p:spPr bwMode="auto">
            <a:xfrm>
              <a:off x="3984" y="2082"/>
              <a:ext cx="0" cy="12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31" name="Line 29"/>
            <p:cNvSpPr>
              <a:spLocks noChangeShapeType="1"/>
            </p:cNvSpPr>
            <p:nvPr/>
          </p:nvSpPr>
          <p:spPr bwMode="auto">
            <a:xfrm flipH="1">
              <a:off x="3072" y="3834"/>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2" name="Line 30"/>
            <p:cNvSpPr>
              <a:spLocks noChangeShapeType="1"/>
            </p:cNvSpPr>
            <p:nvPr/>
          </p:nvSpPr>
          <p:spPr bwMode="auto">
            <a:xfrm flipV="1">
              <a:off x="3072" y="1964"/>
              <a:ext cx="0" cy="187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33" name="Line 31"/>
            <p:cNvSpPr>
              <a:spLocks noChangeShapeType="1"/>
            </p:cNvSpPr>
            <p:nvPr/>
          </p:nvSpPr>
          <p:spPr bwMode="auto">
            <a:xfrm>
              <a:off x="3072" y="1964"/>
              <a:ext cx="28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34" name="Line 32"/>
            <p:cNvSpPr>
              <a:spLocks noChangeShapeType="1"/>
            </p:cNvSpPr>
            <p:nvPr/>
          </p:nvSpPr>
          <p:spPr bwMode="auto">
            <a:xfrm flipH="1">
              <a:off x="5424" y="4170"/>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35" name="Text Box 33"/>
            <p:cNvSpPr txBox="1">
              <a:spLocks noChangeArrowheads="1"/>
            </p:cNvSpPr>
            <p:nvPr/>
          </p:nvSpPr>
          <p:spPr bwMode="auto">
            <a:xfrm>
              <a:off x="4752" y="288"/>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dirty="0">
                  <a:solidFill>
                    <a:srgbClr val="FF0000"/>
                  </a:solidFill>
                </a:rPr>
                <a:t>B1</a:t>
              </a:r>
            </a:p>
          </p:txBody>
        </p:sp>
        <p:sp>
          <p:nvSpPr>
            <p:cNvPr id="36" name="Text Box 34"/>
            <p:cNvSpPr txBox="1">
              <a:spLocks noChangeArrowheads="1"/>
            </p:cNvSpPr>
            <p:nvPr/>
          </p:nvSpPr>
          <p:spPr bwMode="auto">
            <a:xfrm>
              <a:off x="4992" y="1772"/>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a:solidFill>
                    <a:srgbClr val="FF0000"/>
                  </a:solidFill>
                </a:rPr>
                <a:t>B2</a:t>
              </a:r>
            </a:p>
          </p:txBody>
        </p:sp>
        <p:sp>
          <p:nvSpPr>
            <p:cNvPr id="37" name="Text Box 35"/>
            <p:cNvSpPr txBox="1">
              <a:spLocks noChangeArrowheads="1"/>
            </p:cNvSpPr>
            <p:nvPr/>
          </p:nvSpPr>
          <p:spPr bwMode="auto">
            <a:xfrm>
              <a:off x="4992" y="2204"/>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a:solidFill>
                    <a:srgbClr val="FF0000"/>
                  </a:solidFill>
                </a:rPr>
                <a:t>B3</a:t>
              </a:r>
            </a:p>
          </p:txBody>
        </p:sp>
        <p:sp>
          <p:nvSpPr>
            <p:cNvPr id="38" name="Rectangle 37"/>
            <p:cNvSpPr>
              <a:spLocks noChangeArrowheads="1"/>
            </p:cNvSpPr>
            <p:nvPr/>
          </p:nvSpPr>
          <p:spPr bwMode="auto">
            <a:xfrm>
              <a:off x="3312" y="720"/>
              <a:ext cx="1920" cy="91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90000"/>
                </a:lnSpc>
                <a:spcBef>
                  <a:spcPct val="0"/>
                </a:spcBef>
                <a:buFontTx/>
                <a:buNone/>
              </a:pPr>
              <a:r>
                <a:rPr lang="en-US" altLang="zh-CN" sz="1800">
                  <a:solidFill>
                    <a:srgbClr val="9900CC"/>
                  </a:solidFill>
                </a:rPr>
                <a:t>(3) T1=2*J</a:t>
              </a:r>
            </a:p>
            <a:p>
              <a:pPr eaLnBrk="1" hangingPunct="1">
                <a:lnSpc>
                  <a:spcPct val="90000"/>
                </a:lnSpc>
                <a:spcBef>
                  <a:spcPct val="0"/>
                </a:spcBef>
                <a:buFontTx/>
                <a:buNone/>
              </a:pPr>
              <a:r>
                <a:rPr lang="en-US" altLang="zh-CN" sz="1800">
                  <a:solidFill>
                    <a:srgbClr val="9900CC"/>
                  </a:solidFill>
                </a:rPr>
                <a:t>(6) T4=addr(A)-11</a:t>
              </a:r>
            </a:p>
            <a:p>
              <a:pPr eaLnBrk="1" hangingPunct="1">
                <a:lnSpc>
                  <a:spcPct val="90000"/>
                </a:lnSpc>
                <a:spcBef>
                  <a:spcPct val="0"/>
                </a:spcBef>
                <a:buFontTx/>
                <a:buNone/>
              </a:pPr>
              <a:r>
                <a:rPr lang="en-US" altLang="zh-CN" sz="1800">
                  <a:solidFill>
                    <a:srgbClr val="9900CC"/>
                  </a:solidFill>
                </a:rPr>
                <a:t>(7) T5=2*J</a:t>
              </a:r>
            </a:p>
            <a:p>
              <a:pPr eaLnBrk="1" hangingPunct="1">
                <a:lnSpc>
                  <a:spcPct val="90000"/>
                </a:lnSpc>
                <a:spcBef>
                  <a:spcPct val="0"/>
                </a:spcBef>
                <a:buFontTx/>
                <a:buNone/>
              </a:pPr>
              <a:r>
                <a:rPr lang="en-US" altLang="zh-CN" sz="1800">
                  <a:solidFill>
                    <a:srgbClr val="9900CC"/>
                  </a:solidFill>
                </a:rPr>
                <a:t>(10) T8=addr(A)-11</a:t>
              </a:r>
            </a:p>
          </p:txBody>
        </p:sp>
        <p:sp>
          <p:nvSpPr>
            <p:cNvPr id="39" name="Line 39"/>
            <p:cNvSpPr>
              <a:spLocks noChangeShapeType="1"/>
            </p:cNvSpPr>
            <p:nvPr/>
          </p:nvSpPr>
          <p:spPr bwMode="auto">
            <a:xfrm>
              <a:off x="3936" y="1632"/>
              <a:ext cx="0" cy="14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40" name="Text Box 33"/>
            <p:cNvSpPr txBox="1">
              <a:spLocks noChangeArrowheads="1"/>
            </p:cNvSpPr>
            <p:nvPr/>
          </p:nvSpPr>
          <p:spPr bwMode="auto">
            <a:xfrm>
              <a:off x="4752" y="822"/>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dirty="0">
                  <a:solidFill>
                    <a:srgbClr val="FF0000"/>
                  </a:solidFill>
                </a:rPr>
                <a:t>FB</a:t>
              </a:r>
            </a:p>
          </p:txBody>
        </p:sp>
      </p:grpSp>
      <p:sp>
        <p:nvSpPr>
          <p:cNvPr id="2" name="内容占位符 1"/>
          <p:cNvSpPr>
            <a:spLocks noGrp="1"/>
          </p:cNvSpPr>
          <p:nvPr>
            <p:ph idx="1"/>
          </p:nvPr>
        </p:nvSpPr>
        <p:spPr>
          <a:xfrm>
            <a:off x="457200" y="3291829"/>
            <a:ext cx="8229600" cy="1213639"/>
          </a:xfrm>
        </p:spPr>
        <p:txBody>
          <a:bodyPr/>
          <a:lstStyle/>
          <a:p>
            <a:endParaRPr lang="zh-CN" altLang="en-US" dirty="0"/>
          </a:p>
        </p:txBody>
      </p:sp>
    </p:spTree>
    <p:extLst>
      <p:ext uri="{BB962C8B-B14F-4D97-AF65-F5344CB8AC3E}">
        <p14:creationId xmlns:p14="http://schemas.microsoft.com/office/powerpoint/2010/main" val="2083324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BE9F69A-C342-ECBC-74A8-A40A22BD1A40}"/>
              </a:ext>
            </a:extLst>
          </p:cNvPr>
          <p:cNvSpPr txBox="1"/>
          <p:nvPr/>
        </p:nvSpPr>
        <p:spPr>
          <a:xfrm>
            <a:off x="827584" y="483518"/>
            <a:ext cx="1107996" cy="646331"/>
          </a:xfrm>
          <a:prstGeom prst="rect">
            <a:avLst/>
          </a:prstGeom>
          <a:noFill/>
        </p:spPr>
        <p:txBody>
          <a:bodyPr wrap="none" rtlCol="0">
            <a:spAutoFit/>
          </a:bodyPr>
          <a:lstStyle/>
          <a:p>
            <a:r>
              <a:rPr lang="zh-CN" altLang="en-US" sz="3600" dirty="0"/>
              <a:t>总结</a:t>
            </a:r>
          </a:p>
        </p:txBody>
      </p:sp>
      <p:graphicFrame>
        <p:nvGraphicFramePr>
          <p:cNvPr id="6" name="对象 5">
            <a:extLst>
              <a:ext uri="{FF2B5EF4-FFF2-40B4-BE49-F238E27FC236}">
                <a16:creationId xmlns:a16="http://schemas.microsoft.com/office/drawing/2014/main" id="{E13569BD-8CA7-DE8E-9766-87D0EE306FE0}"/>
              </a:ext>
            </a:extLst>
          </p:cNvPr>
          <p:cNvGraphicFramePr>
            <a:graphicFrameLocks noChangeAspect="1"/>
          </p:cNvGraphicFramePr>
          <p:nvPr>
            <p:extLst>
              <p:ext uri="{D42A27DB-BD31-4B8C-83A1-F6EECF244321}">
                <p14:modId xmlns:p14="http://schemas.microsoft.com/office/powerpoint/2010/main" val="3612453556"/>
              </p:ext>
            </p:extLst>
          </p:nvPr>
        </p:nvGraphicFramePr>
        <p:xfrm>
          <a:off x="1381582" y="1139551"/>
          <a:ext cx="6286762" cy="3727680"/>
        </p:xfrm>
        <a:graphic>
          <a:graphicData uri="http://schemas.openxmlformats.org/presentationml/2006/ole">
            <mc:AlternateContent xmlns:mc="http://schemas.openxmlformats.org/markup-compatibility/2006">
              <mc:Choice xmlns:v="urn:schemas-microsoft-com:vml" Requires="v">
                <p:oleObj name="Visio" r:id="rId2" imgW="4057583" imgH="2400197" progId="Visio.Drawing.15">
                  <p:embed/>
                </p:oleObj>
              </mc:Choice>
              <mc:Fallback>
                <p:oleObj name="Visio" r:id="rId2" imgW="4057583" imgH="2400197"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1582" y="1139551"/>
                        <a:ext cx="6286762" cy="3727680"/>
                      </a:xfrm>
                      <a:prstGeom prst="rect">
                        <a:avLst/>
                      </a:prstGeom>
                      <a:noFill/>
                    </p:spPr>
                  </p:pic>
                </p:oleObj>
              </mc:Fallback>
            </mc:AlternateContent>
          </a:graphicData>
        </a:graphic>
      </p:graphicFrame>
    </p:spTree>
    <p:extLst>
      <p:ext uri="{BB962C8B-B14F-4D97-AF65-F5344CB8AC3E}">
        <p14:creationId xmlns:p14="http://schemas.microsoft.com/office/powerpoint/2010/main" val="6986437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模板1">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3793</TotalTime>
  <Words>8408</Words>
  <Application>Microsoft Office PowerPoint</Application>
  <PresentationFormat>全屏显示(16:9)</PresentationFormat>
  <Paragraphs>1169</Paragraphs>
  <Slides>72</Slides>
  <Notes>47</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4</vt:i4>
      </vt:variant>
      <vt:variant>
        <vt:lpstr>幻灯片标题</vt:lpstr>
      </vt:variant>
      <vt:variant>
        <vt:i4>72</vt:i4>
      </vt:variant>
    </vt:vector>
  </HeadingPairs>
  <TitlesOfParts>
    <vt:vector size="90" baseType="lpstr">
      <vt:lpstr>楷体_GB2312</vt:lpstr>
      <vt:lpstr>隶书</vt:lpstr>
      <vt:lpstr>宋体</vt:lpstr>
      <vt:lpstr>Arial</vt:lpstr>
      <vt:lpstr>Calibri</vt:lpstr>
      <vt:lpstr>Lucida Sans Unicode</vt:lpstr>
      <vt:lpstr>Monotype Corsiva</vt:lpstr>
      <vt:lpstr>Tahoma</vt:lpstr>
      <vt:lpstr>Times New Roman</vt:lpstr>
      <vt:lpstr>Verdana</vt:lpstr>
      <vt:lpstr>Wingdings</vt:lpstr>
      <vt:lpstr>Wingdings 2</vt:lpstr>
      <vt:lpstr>Wingdings 3</vt:lpstr>
      <vt:lpstr>模板1</vt:lpstr>
      <vt:lpstr>Visio</vt:lpstr>
      <vt:lpstr>文档</vt:lpstr>
      <vt:lpstr>VISIO</vt:lpstr>
      <vt:lpstr>Microsoft Visio 绘图</vt:lpstr>
      <vt:lpstr>第七章 代码优化</vt:lpstr>
      <vt:lpstr>本章要求</vt:lpstr>
      <vt:lpstr>PowerPoint 演示文稿</vt:lpstr>
      <vt:lpstr>代码优化所处的位置：</vt:lpstr>
      <vt:lpstr>PowerPoint 演示文稿</vt:lpstr>
      <vt:lpstr>概述</vt:lpstr>
      <vt:lpstr>中间代码优化的方法</vt:lpstr>
      <vt:lpstr>优化分类</vt:lpstr>
      <vt:lpstr>快速排序程序</vt:lpstr>
      <vt:lpstr>PowerPoint 演示文稿</vt:lpstr>
      <vt:lpstr>基本块的概念及流图</vt:lpstr>
      <vt:lpstr>如何划分基本块</vt:lpstr>
      <vt:lpstr>划分基本块的算法</vt:lpstr>
      <vt:lpstr>PowerPoint 演示文稿</vt:lpstr>
      <vt:lpstr>几个概念</vt:lpstr>
      <vt:lpstr>基本块之间的关系</vt:lpstr>
      <vt:lpstr>画出这个程序的基本块的流图</vt:lpstr>
      <vt:lpstr>练习</vt:lpstr>
      <vt:lpstr>PowerPoint 演示文稿</vt:lpstr>
      <vt:lpstr>例：写出快速排序算法中间代码的基本块和流图</vt:lpstr>
      <vt:lpstr>基本块之间的关系的表格表示</vt:lpstr>
      <vt:lpstr>PowerPoint 演示文稿</vt:lpstr>
      <vt:lpstr>PowerPoint 演示文稿</vt:lpstr>
      <vt:lpstr>局部优化</vt:lpstr>
      <vt:lpstr>优化技术1—删除公共子表达式</vt:lpstr>
      <vt:lpstr>优化技术2—复写传播</vt:lpstr>
      <vt:lpstr>优化技术3—删除无用代码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优化技术4——对程序进行代数恒等变换（代数化简）</vt:lpstr>
      <vt:lpstr>优化技术4——对程序进行代数恒等变换（降低运算强度）</vt:lpstr>
      <vt:lpstr>优化技术4——对程序进行代数恒等变换（合并已知量）</vt:lpstr>
      <vt:lpstr>优化技术4——对程序进行代数恒等变换（代数变换）</vt:lpstr>
      <vt:lpstr>PowerPoint 演示文稿</vt:lpstr>
      <vt:lpstr>基本块的DAG表示及优化</vt:lpstr>
      <vt:lpstr>PowerPoint 演示文稿</vt:lpstr>
      <vt:lpstr>基本块的DAG构造算法:</vt:lpstr>
      <vt:lpstr>例：求下列基本块的DAG</vt:lpstr>
      <vt:lpstr>PowerPoint 演示文稿</vt:lpstr>
      <vt:lpstr>PowerPoint 演示文稿</vt:lpstr>
      <vt:lpstr>PowerPoint 演示文稿</vt:lpstr>
      <vt:lpstr>PowerPoint 演示文稿</vt:lpstr>
      <vt:lpstr>利用基本块的DAG进行优化</vt:lpstr>
      <vt:lpstr>PowerPoint 演示文稿</vt:lpstr>
      <vt:lpstr>练习</vt:lpstr>
      <vt:lpstr>PowerPoint 演示文稿</vt:lpstr>
      <vt:lpstr>PowerPoint 演示文稿</vt:lpstr>
      <vt:lpstr>循环优化</vt:lpstr>
      <vt:lpstr>程序流图中结点间的关系</vt:lpstr>
      <vt:lpstr>求一个流图中各个结点的必经结点集的算法</vt:lpstr>
      <vt:lpstr>例：求这个流图中所有结点的必经结点集</vt:lpstr>
      <vt:lpstr>例：计算图中结点的必经结点集</vt:lpstr>
      <vt:lpstr>循环</vt:lpstr>
      <vt:lpstr>循环的性质</vt:lpstr>
      <vt:lpstr>PowerPoint 演示文稿</vt:lpstr>
      <vt:lpstr>循环优化技术1—代码外提</vt:lpstr>
      <vt:lpstr>代码外提</vt:lpstr>
      <vt:lpstr>代码外提的例子</vt:lpstr>
      <vt:lpstr>PowerPoint 演示文稿</vt:lpstr>
      <vt:lpstr>PowerPoint 演示文稿</vt:lpstr>
      <vt:lpstr>循环优化技术2—强度削弱</vt:lpstr>
      <vt:lpstr>快速排序的流图进行强度削弱</vt:lpstr>
      <vt:lpstr>循环优化技术3—删除归纳变量</vt:lpstr>
      <vt:lpstr>循环优化技术3—删除归纳变量</vt:lpstr>
      <vt:lpstr>练习：对这个流图进行强度削弱和删除归纳变量</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第七章 代码优化</dc:title>
  <dc:creator>hxy</dc:creator>
  <cp:lastModifiedBy>CQUT</cp:lastModifiedBy>
  <cp:revision>103</cp:revision>
  <dcterms:created xsi:type="dcterms:W3CDTF">2020-04-11T13:27:39Z</dcterms:created>
  <dcterms:modified xsi:type="dcterms:W3CDTF">2023-07-16T12:56:51Z</dcterms:modified>
</cp:coreProperties>
</file>