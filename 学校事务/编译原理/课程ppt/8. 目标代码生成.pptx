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65"/>
  </p:notesMasterIdLst>
  <p:sldIdLst>
    <p:sldId id="256" r:id="rId2"/>
    <p:sldId id="307" r:id="rId3"/>
    <p:sldId id="308" r:id="rId4"/>
    <p:sldId id="309" r:id="rId5"/>
    <p:sldId id="311" r:id="rId6"/>
    <p:sldId id="312" r:id="rId7"/>
    <p:sldId id="357" r:id="rId8"/>
    <p:sldId id="358" r:id="rId9"/>
    <p:sldId id="359" r:id="rId10"/>
    <p:sldId id="361" r:id="rId11"/>
    <p:sldId id="321" r:id="rId12"/>
    <p:sldId id="314" r:id="rId13"/>
    <p:sldId id="315" r:id="rId14"/>
    <p:sldId id="316" r:id="rId15"/>
    <p:sldId id="355" r:id="rId16"/>
    <p:sldId id="364" r:id="rId17"/>
    <p:sldId id="323" r:id="rId18"/>
    <p:sldId id="362" r:id="rId19"/>
    <p:sldId id="324" r:id="rId20"/>
    <p:sldId id="327" r:id="rId21"/>
    <p:sldId id="328" r:id="rId22"/>
    <p:sldId id="329" r:id="rId23"/>
    <p:sldId id="330" r:id="rId24"/>
    <p:sldId id="363" r:id="rId25"/>
    <p:sldId id="365" r:id="rId26"/>
    <p:sldId id="366" r:id="rId27"/>
    <p:sldId id="390" r:id="rId28"/>
    <p:sldId id="391" r:id="rId29"/>
    <p:sldId id="392" r:id="rId30"/>
    <p:sldId id="332" r:id="rId31"/>
    <p:sldId id="367" r:id="rId32"/>
    <p:sldId id="394" r:id="rId33"/>
    <p:sldId id="387" r:id="rId34"/>
    <p:sldId id="338" r:id="rId35"/>
    <p:sldId id="369" r:id="rId36"/>
    <p:sldId id="368" r:id="rId37"/>
    <p:sldId id="370" r:id="rId38"/>
    <p:sldId id="371" r:id="rId39"/>
    <p:sldId id="372" r:id="rId40"/>
    <p:sldId id="373" r:id="rId41"/>
    <p:sldId id="374" r:id="rId42"/>
    <p:sldId id="375" r:id="rId43"/>
    <p:sldId id="381" r:id="rId44"/>
    <p:sldId id="376" r:id="rId45"/>
    <p:sldId id="377" r:id="rId46"/>
    <p:sldId id="378" r:id="rId47"/>
    <p:sldId id="379" r:id="rId48"/>
    <p:sldId id="380" r:id="rId49"/>
    <p:sldId id="382" r:id="rId50"/>
    <p:sldId id="385" r:id="rId51"/>
    <p:sldId id="386" r:id="rId52"/>
    <p:sldId id="383" r:id="rId53"/>
    <p:sldId id="345" r:id="rId54"/>
    <p:sldId id="388" r:id="rId55"/>
    <p:sldId id="397" r:id="rId56"/>
    <p:sldId id="346" r:id="rId57"/>
    <p:sldId id="347" r:id="rId58"/>
    <p:sldId id="349" r:id="rId59"/>
    <p:sldId id="396" r:id="rId60"/>
    <p:sldId id="389" r:id="rId61"/>
    <p:sldId id="351" r:id="rId62"/>
    <p:sldId id="353" r:id="rId63"/>
    <p:sldId id="410" r:id="rId64"/>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CC00FF"/>
    <a:srgbClr val="3333FF"/>
    <a:srgbClr val="99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43" autoAdjust="0"/>
    <p:restoredTop sz="92659" autoAdjust="0"/>
  </p:normalViewPr>
  <p:slideViewPr>
    <p:cSldViewPr>
      <p:cViewPr varScale="1">
        <p:scale>
          <a:sx n="109" d="100"/>
          <a:sy n="109" d="100"/>
        </p:scale>
        <p:origin x="102" y="52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3FB6CE-4A83-4EA5-8A28-5A2599315B17}" type="datetimeFigureOut">
              <a:rPr lang="zh-CN" altLang="en-US" smtClean="0"/>
              <a:t>2023/8/5</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99E8391-A7AA-438B-8953-8185EA502C58}" type="slidenum">
              <a:rPr lang="zh-CN" altLang="en-US" smtClean="0"/>
              <a:t>‹#›</a:t>
            </a:fld>
            <a:endParaRPr lang="zh-CN" altLang="en-US"/>
          </a:p>
        </p:txBody>
      </p:sp>
    </p:spTree>
    <p:extLst>
      <p:ext uri="{BB962C8B-B14F-4D97-AF65-F5344CB8AC3E}">
        <p14:creationId xmlns:p14="http://schemas.microsoft.com/office/powerpoint/2010/main" val="3539896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D9BD139C-F4FA-4E00-8ABA-11A610FEBB25}" type="slidenum">
              <a:rPr lang="en-US" altLang="zh-CN" smtClean="0"/>
              <a:pPr>
                <a:spcBef>
                  <a:spcPct val="0"/>
                </a:spcBef>
              </a:pPr>
              <a:t>2</a:t>
            </a:fld>
            <a:endParaRPr lang="en-US" altLang="zh-CN"/>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DA36AF95-3CD5-4065-8C1C-074D319CAA93}" type="slidenum">
              <a:rPr lang="en-US" altLang="zh-CN" smtClean="0">
                <a:latin typeface="Arial" pitchFamily="34" charset="0"/>
              </a:rPr>
              <a:pPr>
                <a:spcBef>
                  <a:spcPct val="0"/>
                </a:spcBef>
              </a:pPr>
              <a:t>3</a:t>
            </a:fld>
            <a:endParaRPr lang="en-US" altLang="zh-CN">
              <a:latin typeface="Arial" pitchFamily="34"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5E449060-A2CB-45F0-8A15-017D10D4B1FB}" type="slidenum">
              <a:rPr lang="en-US" altLang="zh-CN" smtClean="0"/>
              <a:pPr>
                <a:spcBef>
                  <a:spcPct val="0"/>
                </a:spcBef>
              </a:pPr>
              <a:t>4</a:t>
            </a:fld>
            <a:endParaRPr lang="en-US" altLang="zh-CN"/>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xfrm>
            <a:off x="914400" y="4341813"/>
            <a:ext cx="50292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45EA014E-16E1-47FC-8749-50A48FFFA107}" type="slidenum">
              <a:rPr lang="en-US" altLang="zh-CN" smtClean="0"/>
              <a:pPr>
                <a:spcBef>
                  <a:spcPct val="0"/>
                </a:spcBef>
              </a:pPr>
              <a:t>5</a:t>
            </a:fld>
            <a:endParaRPr lang="en-US" altLang="zh-CN"/>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xfrm>
            <a:off x="914400" y="4341813"/>
            <a:ext cx="50292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F49DB750-693A-4014-813B-5DC5184B4F83}" type="slidenum">
              <a:rPr lang="en-US" altLang="zh-CN" smtClean="0"/>
              <a:pPr>
                <a:spcBef>
                  <a:spcPct val="0"/>
                </a:spcBef>
              </a:pPr>
              <a:t>6</a:t>
            </a:fld>
            <a:endParaRPr lang="en-US" altLang="zh-CN"/>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xfrm>
            <a:off x="914400" y="4341813"/>
            <a:ext cx="50292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3D6C3FEB-4AD5-42B9-96EB-710C63F6C9D6}" type="slidenum">
              <a:rPr lang="en-US" altLang="zh-CN" smtClean="0"/>
              <a:pPr>
                <a:spcBef>
                  <a:spcPct val="0"/>
                </a:spcBef>
              </a:pPr>
              <a:t>7</a:t>
            </a:fld>
            <a:endParaRPr lang="en-US" altLang="zh-CN"/>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xfrm>
            <a:off x="914400" y="4341813"/>
            <a:ext cx="50292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28D7D57B-6D40-4E13-B918-1D731CC995C0}" type="slidenum">
              <a:rPr lang="en-US" altLang="zh-CN" smtClean="0"/>
              <a:pPr>
                <a:spcBef>
                  <a:spcPct val="0"/>
                </a:spcBef>
              </a:pPr>
              <a:t>8</a:t>
            </a:fld>
            <a:endParaRPr lang="en-US" altLang="zh-CN"/>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xfrm>
            <a:off x="914400" y="4341813"/>
            <a:ext cx="50292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9991614C-8D32-455B-9D33-B303FC11E331}" type="slidenum">
              <a:rPr lang="en-US" altLang="zh-CN" smtClean="0"/>
              <a:pPr>
                <a:spcBef>
                  <a:spcPct val="0"/>
                </a:spcBef>
              </a:pPr>
              <a:t>9</a:t>
            </a:fld>
            <a:endParaRPr lang="en-US" altLang="zh-CN"/>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xfrm>
            <a:off x="914400" y="4341813"/>
            <a:ext cx="50292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9991614C-8D32-455B-9D33-B303FC11E331}" type="slidenum">
              <a:rPr lang="en-US" altLang="zh-CN" smtClean="0"/>
              <a:pPr>
                <a:spcBef>
                  <a:spcPct val="0"/>
                </a:spcBef>
              </a:pPr>
              <a:t>10</a:t>
            </a:fld>
            <a:endParaRPr lang="en-US" altLang="zh-CN"/>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xfrm>
            <a:off x="914400" y="4341813"/>
            <a:ext cx="50292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F7EB513E-B74F-4759-B461-64E54144D78A}" type="slidenum">
              <a:rPr lang="en-US" altLang="zh-CN" smtClean="0"/>
              <a:pPr>
                <a:spcBef>
                  <a:spcPct val="0"/>
                </a:spcBef>
              </a:pPr>
              <a:t>11</a:t>
            </a:fld>
            <a:endParaRPr lang="en-US" altLang="zh-CN"/>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xfrm>
            <a:off x="914400" y="4341813"/>
            <a:ext cx="50292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9DEE6BCF-9878-4CB0-8397-556DCD4F0ECE}" type="slidenum">
              <a:rPr lang="en-US" altLang="zh-CN" smtClean="0"/>
              <a:pPr>
                <a:spcBef>
                  <a:spcPct val="0"/>
                </a:spcBef>
              </a:pPr>
              <a:t>12</a:t>
            </a:fld>
            <a:endParaRPr lang="en-US" altLang="zh-CN"/>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xfrm>
            <a:off x="914400" y="4341813"/>
            <a:ext cx="50292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79277B5A-0A73-49DC-95FB-28017BCFB2E5}" type="slidenum">
              <a:rPr lang="en-US" altLang="zh-CN" smtClean="0"/>
              <a:pPr>
                <a:spcBef>
                  <a:spcPct val="0"/>
                </a:spcBef>
              </a:pPr>
              <a:t>13</a:t>
            </a:fld>
            <a:endParaRPr lang="en-US" altLang="zh-CN"/>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xfrm>
            <a:off x="914400" y="4341813"/>
            <a:ext cx="50292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A30C4D63-DC2B-443A-8C9A-C7D15C0E20B6}" type="slidenum">
              <a:rPr lang="en-US" altLang="zh-CN" smtClean="0"/>
              <a:pPr>
                <a:spcBef>
                  <a:spcPct val="0"/>
                </a:spcBef>
              </a:pPr>
              <a:t>14</a:t>
            </a:fld>
            <a:endParaRPr lang="en-US" altLang="zh-CN"/>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FE939708-88EC-4EEA-B6CB-2EC733B787B9}" type="slidenum">
              <a:rPr lang="en-US" altLang="zh-CN" smtClean="0"/>
              <a:pPr>
                <a:spcBef>
                  <a:spcPct val="0"/>
                </a:spcBef>
              </a:pPr>
              <a:t>17</a:t>
            </a:fld>
            <a:endParaRPr lang="en-US" altLang="zh-CN"/>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xfrm>
            <a:off x="914400" y="4341813"/>
            <a:ext cx="50292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FE939708-88EC-4EEA-B6CB-2EC733B787B9}" type="slidenum">
              <a:rPr lang="en-US" altLang="zh-CN" smtClean="0"/>
              <a:pPr>
                <a:spcBef>
                  <a:spcPct val="0"/>
                </a:spcBef>
              </a:pPr>
              <a:t>18</a:t>
            </a:fld>
            <a:endParaRPr lang="en-US" altLang="zh-CN"/>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xfrm>
            <a:off x="914400" y="4341813"/>
            <a:ext cx="50292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85A6FBA3-4124-42E1-8DB2-D861B59D7CB5}" type="slidenum">
              <a:rPr lang="en-US" altLang="zh-CN" smtClean="0"/>
              <a:pPr>
                <a:spcBef>
                  <a:spcPct val="0"/>
                </a:spcBef>
              </a:pPr>
              <a:t>22</a:t>
            </a:fld>
            <a:endParaRPr lang="en-US" altLang="zh-CN"/>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E8B1E7EB-FAB9-4C08-B629-1D9EC65133A0}" type="slidenum">
              <a:rPr lang="en-US" altLang="zh-CN" smtClean="0"/>
              <a:pPr>
                <a:spcBef>
                  <a:spcPct val="0"/>
                </a:spcBef>
              </a:pPr>
              <a:t>26</a:t>
            </a:fld>
            <a:endParaRPr lang="en-US" altLang="zh-CN"/>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xfrm>
            <a:off x="914400" y="4341813"/>
            <a:ext cx="50292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AC6D05DC-07FB-47BA-B46A-D31D71F752A9}" type="slidenum">
              <a:rPr lang="en-US" altLang="zh-CN" smtClean="0"/>
              <a:pPr>
                <a:spcBef>
                  <a:spcPct val="0"/>
                </a:spcBef>
              </a:pPr>
              <a:t>56</a:t>
            </a:fld>
            <a:endParaRPr lang="en-US" altLang="zh-CN"/>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8B859DB8-A1BC-4229-9C6C-4F6168D40156}" type="slidenum">
              <a:rPr lang="en-US" altLang="zh-CN" smtClean="0"/>
              <a:pPr>
                <a:spcBef>
                  <a:spcPct val="0"/>
                </a:spcBef>
              </a:pPr>
              <a:t>57</a:t>
            </a:fld>
            <a:endParaRPr lang="en-US" altLang="zh-CN"/>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1B6812DB-32DD-40B7-8055-88E3C7456AC2}" type="slidenum">
              <a:rPr lang="en-US" altLang="zh-CN" smtClean="0"/>
              <a:pPr>
                <a:spcBef>
                  <a:spcPct val="0"/>
                </a:spcBef>
              </a:pPr>
              <a:t>61</a:t>
            </a:fld>
            <a:endParaRPr lang="en-US" altLang="zh-CN"/>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8AB50520-9160-41DD-A246-A1254D691681}" type="slidenum">
              <a:rPr lang="en-US" altLang="zh-CN" smtClean="0"/>
              <a:pPr>
                <a:spcBef>
                  <a:spcPct val="0"/>
                </a:spcBef>
              </a:pPr>
              <a:t>62</a:t>
            </a:fld>
            <a:endParaRPr lang="en-US" altLang="zh-CN"/>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直角三角形 9"/>
          <p:cNvSpPr/>
          <p:nvPr/>
        </p:nvSpPr>
        <p:spPr>
          <a:xfrm>
            <a:off x="-2" y="3498110"/>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标题 8"/>
          <p:cNvSpPr>
            <a:spLocks noGrp="1"/>
          </p:cNvSpPr>
          <p:nvPr>
            <p:ph type="ctrTitle"/>
          </p:nvPr>
        </p:nvSpPr>
        <p:spPr>
          <a:xfrm>
            <a:off x="685800" y="1314451"/>
            <a:ext cx="7772400" cy="137232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zh-CN" altLang="en-US"/>
              <a:t>单击此处编辑母版标题样式</a:t>
            </a:r>
            <a:endParaRPr kumimoji="0" lang="en-US" dirty="0"/>
          </a:p>
        </p:txBody>
      </p:sp>
      <p:sp>
        <p:nvSpPr>
          <p:cNvPr id="17" name="副标题 16"/>
          <p:cNvSpPr>
            <a:spLocks noGrp="1"/>
          </p:cNvSpPr>
          <p:nvPr>
            <p:ph type="subTitle" idx="1"/>
          </p:nvPr>
        </p:nvSpPr>
        <p:spPr>
          <a:xfrm>
            <a:off x="685800" y="2708705"/>
            <a:ext cx="7772400" cy="899778"/>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a:t>单击此处编辑母版副标题样式</a:t>
            </a:r>
            <a:endParaRPr kumimoji="0" lang="en-US"/>
          </a:p>
        </p:txBody>
      </p:sp>
      <p:grpSp>
        <p:nvGrpSpPr>
          <p:cNvPr id="2" name="组合 1"/>
          <p:cNvGrpSpPr/>
          <p:nvPr/>
        </p:nvGrpSpPr>
        <p:grpSpPr>
          <a:xfrm>
            <a:off x="-3765" y="3714750"/>
            <a:ext cx="9147765" cy="1434066"/>
            <a:chOff x="-3765" y="4832896"/>
            <a:chExt cx="9147765" cy="2032192"/>
          </a:xfrm>
        </p:grpSpPr>
        <p:sp>
          <p:nvSpPr>
            <p:cNvPr id="7" name="任意多边形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extLst/>
          </a:lstStyle>
          <a:p>
            <a:fld id="{222983CD-40B6-4A0F-A754-6514ADAC0847}" type="datetimeFigureOut">
              <a:rPr lang="zh-CN" altLang="en-US" smtClean="0"/>
              <a:t>2023/8/5</a:t>
            </a:fld>
            <a:endParaRPr lang="zh-CN" altLang="en-US"/>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extLst/>
          </a:lstStyle>
          <a:p>
            <a:endParaRPr lang="zh-CN" altLang="en-US"/>
          </a:p>
        </p:txBody>
      </p:sp>
      <p:sp>
        <p:nvSpPr>
          <p:cNvPr id="27" name="灯片编号占位符 26"/>
          <p:cNvSpPr>
            <a:spLocks noGrp="1"/>
          </p:cNvSpPr>
          <p:nvPr>
            <p:ph type="sldNum" sz="quarter" idx="12"/>
          </p:nvPr>
        </p:nvSpPr>
        <p:spPr/>
        <p:txBody>
          <a:bodyPr/>
          <a:lstStyle>
            <a:lvl1pPr>
              <a:defRPr>
                <a:solidFill>
                  <a:srgbClr val="FFFFFF"/>
                </a:solidFill>
              </a:defRPr>
            </a:lvl1pPr>
            <a:extLst/>
          </a:lstStyle>
          <a:p>
            <a:fld id="{48ABA68F-732D-4838-AEEE-E87A7C2BC0F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lvl1pPr>
              <a:defRPr sz="2400">
                <a:latin typeface="宋体" panose="02010600030101010101" pitchFamily="2" charset="-122"/>
                <a:ea typeface="宋体" panose="02010600030101010101" pitchFamily="2" charset="-122"/>
              </a:defRPr>
            </a:lvl1pPr>
            <a:lvl2pPr>
              <a:defRPr sz="2200">
                <a:latin typeface="宋体" panose="02010600030101010101" pitchFamily="2" charset="-122"/>
                <a:ea typeface="宋体" panose="02010600030101010101" pitchFamily="2" charset="-122"/>
              </a:defRPr>
            </a:lvl2pPr>
            <a:lvl3pPr>
              <a:defRPr sz="2000">
                <a:latin typeface="宋体" panose="02010600030101010101" pitchFamily="2" charset="-122"/>
                <a:ea typeface="宋体" panose="02010600030101010101" pitchFamily="2" charset="-122"/>
              </a:defRPr>
            </a:lvl3pPr>
            <a:lvl4pPr>
              <a:defRPr sz="2000">
                <a:latin typeface="宋体" panose="02010600030101010101" pitchFamily="2" charset="-122"/>
                <a:ea typeface="宋体" panose="02010600030101010101" pitchFamily="2" charset="-122"/>
              </a:defRPr>
            </a:lvl4pPr>
            <a:lvl5pPr>
              <a:defRPr sz="2000">
                <a:latin typeface="宋体" panose="02010600030101010101" pitchFamily="2" charset="-122"/>
                <a:ea typeface="宋体" panose="02010600030101010101" pitchFamily="2" charset="-122"/>
              </a:defRPr>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dirty="0"/>
          </a:p>
        </p:txBody>
      </p:sp>
      <p:sp>
        <p:nvSpPr>
          <p:cNvPr id="4" name="日期占位符 3"/>
          <p:cNvSpPr>
            <a:spLocks noGrp="1"/>
          </p:cNvSpPr>
          <p:nvPr>
            <p:ph type="dt" sz="half" idx="10"/>
          </p:nvPr>
        </p:nvSpPr>
        <p:spPr/>
        <p:txBody>
          <a:bodyPr/>
          <a:lstStyle/>
          <a:p>
            <a:fld id="{222983CD-40B6-4A0F-A754-6514ADAC0847}" type="datetimeFigureOut">
              <a:rPr lang="zh-CN" altLang="en-US" smtClean="0"/>
              <a:t>2023/8/5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ABA68F-732D-4838-AEEE-E87A7C2BC0FD}" type="slidenum">
              <a:rPr lang="zh-CN" altLang="en-US" smtClean="0"/>
              <a:t>‹#›</a:t>
            </a:fld>
            <a:endParaRPr lang="zh-CN" altLang="en-US"/>
          </a:p>
        </p:txBody>
      </p:sp>
      <p:sp>
        <p:nvSpPr>
          <p:cNvPr id="7" name="标题 6"/>
          <p:cNvSpPr>
            <a:spLocks noGrp="1"/>
          </p:cNvSpPr>
          <p:nvPr>
            <p:ph type="title"/>
          </p:nvPr>
        </p:nvSpPr>
        <p:spPr>
          <a:xfrm>
            <a:off x="107504" y="123478"/>
            <a:ext cx="8229600" cy="576064"/>
          </a:xfrm>
        </p:spPr>
        <p:txBody>
          <a:bodyPr rtlCol="0">
            <a:normAutofit/>
          </a:bodyPr>
          <a:lstStyle>
            <a:lvl1pPr>
              <a:defRPr sz="3600">
                <a:latin typeface="隶书" panose="02010509060101010101" pitchFamily="49" charset="-122"/>
                <a:ea typeface="隶书" panose="02010509060101010101" pitchFamily="49" charset="-122"/>
              </a:defRPr>
            </a:lvl1pPr>
            <a:extLst/>
          </a:lstStyle>
          <a:p>
            <a:r>
              <a:rPr kumimoji="0" lang="zh-CN" altLang="en-US"/>
              <a:t>单击此处编辑母版标题样式</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8229600" cy="857250"/>
          </a:xfrm>
        </p:spPr>
        <p:txBody>
          <a:bodyPr anchor="ctr">
            <a:normAutofit/>
          </a:bodyPr>
          <a:lstStyle>
            <a:lvl1pPr>
              <a:defRPr sz="3600"/>
            </a:lvl1pPr>
            <a:extLst/>
          </a:lstStyle>
          <a:p>
            <a:r>
              <a:rPr kumimoji="0" lang="zh-CN" altLang="en-US"/>
              <a:t>单击此处编辑母版标题样式</a:t>
            </a:r>
            <a:endParaRPr kumimoji="0" lang="en-US" dirty="0"/>
          </a:p>
        </p:txBody>
      </p:sp>
      <p:sp>
        <p:nvSpPr>
          <p:cNvPr id="3" name="文本占位符 2"/>
          <p:cNvSpPr>
            <a:spLocks noGrp="1"/>
          </p:cNvSpPr>
          <p:nvPr>
            <p:ph type="body" idx="1"/>
          </p:nvPr>
        </p:nvSpPr>
        <p:spPr>
          <a:xfrm>
            <a:off x="457200" y="4057650"/>
            <a:ext cx="4040188"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645027" y="4057650"/>
            <a:ext cx="4041775"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1083221"/>
            <a:ext cx="4040188" cy="2956322"/>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dirty="0"/>
          </a:p>
        </p:txBody>
      </p:sp>
      <p:sp>
        <p:nvSpPr>
          <p:cNvPr id="6" name="内容占位符 5"/>
          <p:cNvSpPr>
            <a:spLocks noGrp="1"/>
          </p:cNvSpPr>
          <p:nvPr>
            <p:ph sz="quarter" idx="4"/>
          </p:nvPr>
        </p:nvSpPr>
        <p:spPr>
          <a:xfrm>
            <a:off x="4645026" y="1083221"/>
            <a:ext cx="4041775" cy="2956322"/>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dirty="0"/>
          </a:p>
        </p:txBody>
      </p:sp>
      <p:sp>
        <p:nvSpPr>
          <p:cNvPr id="7" name="日期占位符 6"/>
          <p:cNvSpPr>
            <a:spLocks noGrp="1"/>
          </p:cNvSpPr>
          <p:nvPr>
            <p:ph type="dt" sz="half" idx="10"/>
          </p:nvPr>
        </p:nvSpPr>
        <p:spPr/>
        <p:txBody>
          <a:bodyPr/>
          <a:lstStyle/>
          <a:p>
            <a:fld id="{222983CD-40B6-4A0F-A754-6514ADAC0847}" type="datetimeFigureOut">
              <a:rPr lang="zh-CN" altLang="en-US" smtClean="0"/>
              <a:t>2023/8/5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8ABA68F-732D-4838-AEEE-E87A7C2BC0FD}"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57200"/>
            <a:ext cx="77724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8A54250F-30EF-45AC-B753-5E4F21F5419E}" type="slidenum">
              <a:rPr lang="en-US" altLang="zh-CN"/>
              <a:pPr>
                <a:defRPr/>
              </a:pPr>
              <a:t>‹#›</a:t>
            </a:fld>
            <a:endParaRPr lang="en-US" altLang="zh-CN"/>
          </a:p>
        </p:txBody>
      </p:sp>
    </p:spTree>
    <p:extLst>
      <p:ext uri="{BB962C8B-B14F-4D97-AF65-F5344CB8AC3E}">
        <p14:creationId xmlns:p14="http://schemas.microsoft.com/office/powerpoint/2010/main" val="1310677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061A32BA-5C78-4BF2-9251-448571CDAF3B}" type="slidenum">
              <a:rPr lang="en-US" altLang="zh-CN"/>
              <a:pPr>
                <a:defRPr/>
              </a:pPr>
              <a:t>‹#›</a:t>
            </a:fld>
            <a:endParaRPr lang="en-US" altLang="zh-CN"/>
          </a:p>
        </p:txBody>
      </p:sp>
    </p:spTree>
    <p:extLst>
      <p:ext uri="{BB962C8B-B14F-4D97-AF65-F5344CB8AC3E}">
        <p14:creationId xmlns:p14="http://schemas.microsoft.com/office/powerpoint/2010/main" val="23475444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a:spLocks/>
          </p:cNvSpPr>
          <p:nvPr/>
        </p:nvSpPr>
        <p:spPr bwMode="auto">
          <a:xfrm>
            <a:off x="499273" y="4458702"/>
            <a:ext cx="4940624" cy="69080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任意多边形 11"/>
          <p:cNvSpPr>
            <a:spLocks/>
          </p:cNvSpPr>
          <p:nvPr/>
        </p:nvSpPr>
        <p:spPr bwMode="auto">
          <a:xfrm>
            <a:off x="485717" y="4454258"/>
            <a:ext cx="3690451" cy="70008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直角三角形 13"/>
          <p:cNvSpPr>
            <a:spLocks/>
          </p:cNvSpPr>
          <p:nvPr/>
        </p:nvSpPr>
        <p:spPr bwMode="auto">
          <a:xfrm>
            <a:off x="-6042" y="4343440"/>
            <a:ext cx="3402314" cy="810651"/>
          </a:xfrm>
          <a:prstGeom prst="rtTriangle">
            <a:avLst/>
          </a:prstGeom>
          <a:blipFill>
            <a:blip r:embed="rId7">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直接连接符 14"/>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05979"/>
            <a:ext cx="8229600" cy="85725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dirty="0"/>
              <a:t>单击此处编辑母版标题样式</a:t>
            </a:r>
            <a:endParaRPr kumimoji="0" lang="en-US" dirty="0"/>
          </a:p>
        </p:txBody>
      </p:sp>
      <p:sp>
        <p:nvSpPr>
          <p:cNvPr id="30" name="文本占位符 29"/>
          <p:cNvSpPr>
            <a:spLocks noGrp="1"/>
          </p:cNvSpPr>
          <p:nvPr>
            <p:ph type="body" idx="1"/>
          </p:nvPr>
        </p:nvSpPr>
        <p:spPr>
          <a:xfrm>
            <a:off x="457200" y="1110997"/>
            <a:ext cx="8229600" cy="3394472"/>
          </a:xfrm>
          <a:prstGeom prst="rect">
            <a:avLst/>
          </a:prstGeom>
        </p:spPr>
        <p:txBody>
          <a:bodyPr vert="horz">
            <a:normAutofit/>
          </a:bodyPr>
          <a:lstStyle/>
          <a:p>
            <a:pPr lvl="0" eaLnBrk="1" latinLnBrk="0" hangingPunct="1"/>
            <a:r>
              <a:rPr kumimoji="0" lang="zh-CN" altLang="en-US" dirty="0"/>
              <a:t>单击此处编辑母版文本样式</a:t>
            </a:r>
          </a:p>
          <a:p>
            <a:pPr lvl="1" eaLnBrk="1" latinLnBrk="0" hangingPunct="1"/>
            <a:r>
              <a:rPr kumimoji="0" lang="zh-CN" altLang="en-US" dirty="0"/>
              <a:t>第二级</a:t>
            </a:r>
          </a:p>
          <a:p>
            <a:pPr lvl="2" eaLnBrk="1" latinLnBrk="0" hangingPunct="1"/>
            <a:r>
              <a:rPr kumimoji="0" lang="zh-CN" altLang="en-US" dirty="0"/>
              <a:t>第三级</a:t>
            </a:r>
          </a:p>
          <a:p>
            <a:pPr lvl="3" eaLnBrk="1" latinLnBrk="0" hangingPunct="1"/>
            <a:r>
              <a:rPr kumimoji="0" lang="zh-CN" altLang="en-US" dirty="0"/>
              <a:t>第四级</a:t>
            </a:r>
          </a:p>
          <a:p>
            <a:pPr lvl="4" eaLnBrk="1" latinLnBrk="0" hangingPunct="1"/>
            <a:r>
              <a:rPr kumimoji="0" lang="zh-CN" altLang="en-US" dirty="0"/>
              <a:t>第五级</a:t>
            </a:r>
            <a:endParaRPr kumimoji="0" lang="en-US" dirty="0"/>
          </a:p>
        </p:txBody>
      </p:sp>
      <p:sp>
        <p:nvSpPr>
          <p:cNvPr id="10" name="日期占位符 9"/>
          <p:cNvSpPr>
            <a:spLocks noGrp="1"/>
          </p:cNvSpPr>
          <p:nvPr>
            <p:ph type="dt" sz="half" idx="2"/>
          </p:nvPr>
        </p:nvSpPr>
        <p:spPr>
          <a:xfrm>
            <a:off x="6727032" y="4805958"/>
            <a:ext cx="1920240" cy="274320"/>
          </a:xfrm>
          <a:prstGeom prst="rect">
            <a:avLst/>
          </a:prstGeom>
        </p:spPr>
        <p:txBody>
          <a:bodyPr vert="horz" anchor="b"/>
          <a:lstStyle>
            <a:lvl1pPr algn="l" eaLnBrk="1" latinLnBrk="0" hangingPunct="1">
              <a:defRPr kumimoji="0" sz="1000">
                <a:solidFill>
                  <a:schemeClr val="tx1"/>
                </a:solidFill>
              </a:defRPr>
            </a:lvl1pPr>
            <a:extLst/>
          </a:lstStyle>
          <a:p>
            <a:fld id="{222983CD-40B6-4A0F-A754-6514ADAC0847}" type="datetimeFigureOut">
              <a:rPr lang="zh-CN" altLang="en-US" smtClean="0"/>
              <a:t>2023/8/5</a:t>
            </a:fld>
            <a:endParaRPr lang="zh-CN" altLang="en-US"/>
          </a:p>
        </p:txBody>
      </p:sp>
      <p:sp>
        <p:nvSpPr>
          <p:cNvPr id="22" name="页脚占位符 21"/>
          <p:cNvSpPr>
            <a:spLocks noGrp="1"/>
          </p:cNvSpPr>
          <p:nvPr>
            <p:ph type="ftr" sz="quarter" idx="3"/>
          </p:nvPr>
        </p:nvSpPr>
        <p:spPr>
          <a:xfrm>
            <a:off x="4380073" y="4805958"/>
            <a:ext cx="2350681" cy="273844"/>
          </a:xfrm>
          <a:prstGeom prst="rect">
            <a:avLst/>
          </a:prstGeom>
        </p:spPr>
        <p:txBody>
          <a:bodyPr vert="horz" anchor="b"/>
          <a:lstStyle>
            <a:lvl1pPr algn="r" eaLnBrk="1" latinLnBrk="0" hangingPunct="1">
              <a:defRPr kumimoji="0" sz="1000">
                <a:solidFill>
                  <a:schemeClr val="tx1"/>
                </a:solidFill>
              </a:defRPr>
            </a:lvl1pPr>
            <a:extLst/>
          </a:lstStyle>
          <a:p>
            <a:endParaRPr lang="zh-CN" altLang="en-US"/>
          </a:p>
        </p:txBody>
      </p:sp>
      <p:sp>
        <p:nvSpPr>
          <p:cNvPr id="18" name="灯片编号占位符 17"/>
          <p:cNvSpPr>
            <a:spLocks noGrp="1"/>
          </p:cNvSpPr>
          <p:nvPr>
            <p:ph type="sldNum" sz="quarter" idx="4"/>
          </p:nvPr>
        </p:nvSpPr>
        <p:spPr>
          <a:xfrm>
            <a:off x="8647272" y="4805958"/>
            <a:ext cx="365760" cy="273844"/>
          </a:xfrm>
          <a:prstGeom prst="rect">
            <a:avLst/>
          </a:prstGeom>
        </p:spPr>
        <p:txBody>
          <a:bodyPr vert="horz" anchor="b"/>
          <a:lstStyle>
            <a:lvl1pPr algn="r" eaLnBrk="1" latinLnBrk="0" hangingPunct="1">
              <a:defRPr kumimoji="0" sz="1000" b="0">
                <a:solidFill>
                  <a:schemeClr val="tx1"/>
                </a:solidFill>
              </a:defRPr>
            </a:lvl1pPr>
            <a:extLst/>
          </a:lstStyle>
          <a:p>
            <a:fld id="{48ABA68F-732D-4838-AEEE-E87A7C2BC0F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5" r:id="rId3"/>
    <p:sldLayoutId id="2147483726" r:id="rId4"/>
    <p:sldLayoutId id="2147483727" r:id="rId5"/>
  </p:sldLayoutIdLst>
  <p:txStyles>
    <p:titleStyle>
      <a:lvl1pPr algn="l" rtl="0" eaLnBrk="1" latinLnBrk="0" hangingPunct="1">
        <a:spcBef>
          <a:spcPct val="0"/>
        </a:spcBef>
        <a:buNone/>
        <a:defRPr kumimoji="0" sz="3600" b="1" kern="1200">
          <a:solidFill>
            <a:schemeClr val="tx2"/>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2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blog.csdn.net/weixin_32589873/article/details/78207020"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7.emf"/><Relationship Id="rId4" Type="http://schemas.openxmlformats.org/officeDocument/2006/relationships/oleObject" Target="../embeddings/oleObject12.bin"/></Relationships>
</file>

<file path=ppt/slides/_rels/slide62.xml.rels><?xml version="1.0" encoding="UTF-8" standalone="yes"?>
<Relationships xmlns="http://schemas.openxmlformats.org/package/2006/relationships"><Relationship Id="rId3" Type="http://schemas.openxmlformats.org/officeDocument/2006/relationships/package" Target="../embeddings/Microsoft_Visio___.vsdx"/><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18.emf"/></Relationships>
</file>

<file path=ppt/slides/_rels/slide6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package" Target="../embeddings/Microsoft_Visio___1.vsdx"/><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27584" y="2211710"/>
            <a:ext cx="6552728" cy="742950"/>
          </a:xfrm>
        </p:spPr>
        <p:txBody>
          <a:bodyPr>
            <a:noAutofit/>
          </a:bodyPr>
          <a:lstStyle/>
          <a:p>
            <a:r>
              <a:rPr lang="zh-CN" altLang="en-US" dirty="0"/>
              <a:t>第八章</a:t>
            </a:r>
            <a:r>
              <a:rPr lang="en-US" altLang="zh-CN" dirty="0"/>
              <a:t> </a:t>
            </a:r>
            <a:r>
              <a:rPr lang="zh-CN" altLang="en-US" dirty="0"/>
              <a:t>目标代码生成</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9164638" cy="1621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7396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827088" y="0"/>
            <a:ext cx="7772400" cy="857250"/>
          </a:xfrm>
        </p:spPr>
        <p:txBody>
          <a:bodyPr>
            <a:normAutofit fontScale="90000"/>
          </a:bodyPr>
          <a:lstStyle/>
          <a:p>
            <a:pPr eaLnBrk="1" hangingPunct="1"/>
            <a:r>
              <a:rPr lang="zh-CN" altLang="en-US" sz="5400" b="1">
                <a:solidFill>
                  <a:srgbClr val="663399"/>
                </a:solidFill>
                <a:ea typeface="隶书" pitchFamily="49" charset="-122"/>
              </a:rPr>
              <a:t>本章要求</a:t>
            </a:r>
          </a:p>
        </p:txBody>
      </p:sp>
      <p:sp>
        <p:nvSpPr>
          <p:cNvPr id="3075" name="Rectangle 3"/>
          <p:cNvSpPr>
            <a:spLocks noGrp="1" noChangeArrowheads="1"/>
          </p:cNvSpPr>
          <p:nvPr>
            <p:ph type="body" idx="1"/>
          </p:nvPr>
        </p:nvSpPr>
        <p:spPr>
          <a:xfrm>
            <a:off x="827088" y="844154"/>
            <a:ext cx="7416800" cy="4212431"/>
          </a:xfrm>
          <a:solidFill>
            <a:schemeClr val="bg1"/>
          </a:solidFill>
        </p:spPr>
        <p:txBody>
          <a:bodyPr>
            <a:normAutofit fontScale="92500" lnSpcReduction="10000"/>
          </a:bodyPr>
          <a:lstStyle/>
          <a:p>
            <a:pPr eaLnBrk="1" hangingPunct="1">
              <a:spcBef>
                <a:spcPct val="30000"/>
              </a:spcBef>
            </a:pPr>
            <a:r>
              <a:rPr lang="zh-CN" altLang="en-US" sz="2800" b="1" dirty="0">
                <a:solidFill>
                  <a:srgbClr val="FF0000"/>
                </a:solidFill>
              </a:rPr>
              <a:t>主要内容</a:t>
            </a:r>
            <a:r>
              <a:rPr lang="zh-CN" altLang="en-US" sz="2800" b="1" dirty="0"/>
              <a:t>：</a:t>
            </a:r>
            <a:endParaRPr lang="en-US" altLang="zh-CN" sz="2800" b="1" dirty="0"/>
          </a:p>
          <a:p>
            <a:pPr lvl="1" eaLnBrk="1" hangingPunct="1">
              <a:spcBef>
                <a:spcPct val="30000"/>
              </a:spcBef>
            </a:pPr>
            <a:r>
              <a:rPr lang="zh-CN" altLang="en-US" sz="2400" b="1" dirty="0"/>
              <a:t>目标代码生成的任务</a:t>
            </a:r>
            <a:endParaRPr lang="en-US" altLang="zh-CN" sz="2400" b="1" dirty="0"/>
          </a:p>
          <a:p>
            <a:pPr lvl="1" eaLnBrk="1" hangingPunct="1">
              <a:spcBef>
                <a:spcPct val="30000"/>
              </a:spcBef>
            </a:pPr>
            <a:r>
              <a:rPr lang="zh-CN" altLang="en-US" sz="2400" b="1" dirty="0"/>
              <a:t>设计目标代码生成器需要考虑的主要问题</a:t>
            </a:r>
            <a:endParaRPr lang="en-US" altLang="zh-CN" sz="2400" b="1" dirty="0"/>
          </a:p>
          <a:p>
            <a:pPr lvl="1" eaLnBrk="1" hangingPunct="1">
              <a:spcBef>
                <a:spcPct val="30000"/>
              </a:spcBef>
            </a:pPr>
            <a:r>
              <a:rPr lang="zh-CN" altLang="en-US" sz="2400" b="1" dirty="0"/>
              <a:t>简单的代码生成器</a:t>
            </a:r>
            <a:endParaRPr lang="en-US" altLang="zh-CN" sz="2400" b="1" dirty="0"/>
          </a:p>
          <a:p>
            <a:pPr lvl="1" eaLnBrk="1" hangingPunct="1">
              <a:spcBef>
                <a:spcPct val="30000"/>
              </a:spcBef>
            </a:pPr>
            <a:r>
              <a:rPr lang="en-US" altLang="zh-CN" sz="2400" b="1" dirty="0"/>
              <a:t>Sample</a:t>
            </a:r>
            <a:r>
              <a:rPr lang="zh-CN" altLang="en-US" sz="2400" b="1" dirty="0"/>
              <a:t>语言目标代码生成器的设计</a:t>
            </a:r>
          </a:p>
          <a:p>
            <a:pPr eaLnBrk="1" hangingPunct="1">
              <a:spcBef>
                <a:spcPct val="30000"/>
              </a:spcBef>
            </a:pPr>
            <a:r>
              <a:rPr lang="zh-CN" altLang="en-US" sz="2800" b="1" dirty="0">
                <a:solidFill>
                  <a:srgbClr val="FF0000"/>
                </a:solidFill>
              </a:rPr>
              <a:t>重点掌握：</a:t>
            </a:r>
            <a:endParaRPr lang="en-US" altLang="zh-CN" sz="2800" b="1" dirty="0">
              <a:solidFill>
                <a:srgbClr val="FF0000"/>
              </a:solidFill>
            </a:endParaRPr>
          </a:p>
          <a:p>
            <a:pPr lvl="1" eaLnBrk="1" hangingPunct="1">
              <a:spcBef>
                <a:spcPct val="30000"/>
              </a:spcBef>
            </a:pPr>
            <a:r>
              <a:rPr lang="zh-CN" altLang="en-US" sz="2400" b="1" dirty="0">
                <a:solidFill>
                  <a:srgbClr val="000000"/>
                </a:solidFill>
                <a:latin typeface="宋体" pitchFamily="2" charset="-122"/>
              </a:rPr>
              <a:t>代码生成要考虑的主要问题</a:t>
            </a:r>
            <a:endParaRPr lang="en-US" altLang="zh-CN" sz="2400" b="1" dirty="0">
              <a:solidFill>
                <a:srgbClr val="000000"/>
              </a:solidFill>
              <a:latin typeface="宋体" pitchFamily="2" charset="-122"/>
            </a:endParaRPr>
          </a:p>
          <a:p>
            <a:pPr lvl="1" eaLnBrk="1" hangingPunct="1">
              <a:spcBef>
                <a:spcPct val="30000"/>
              </a:spcBef>
            </a:pPr>
            <a:r>
              <a:rPr lang="zh-CN" altLang="en-US" sz="2400" b="1" dirty="0">
                <a:solidFill>
                  <a:srgbClr val="000000"/>
                </a:solidFill>
                <a:latin typeface="宋体" pitchFamily="2" charset="-122"/>
              </a:rPr>
              <a:t>寄存器的分配</a:t>
            </a:r>
            <a:endParaRPr lang="en-US" altLang="zh-CN" sz="2400" b="1" dirty="0">
              <a:solidFill>
                <a:srgbClr val="000000"/>
              </a:solidFill>
              <a:latin typeface="宋体" pitchFamily="2" charset="-122"/>
            </a:endParaRPr>
          </a:p>
          <a:p>
            <a:pPr lvl="1" eaLnBrk="1" hangingPunct="1">
              <a:spcBef>
                <a:spcPct val="30000"/>
              </a:spcBef>
            </a:pPr>
            <a:r>
              <a:rPr lang="zh-CN" altLang="en-US" sz="2400" b="1" dirty="0">
                <a:solidFill>
                  <a:srgbClr val="000000"/>
                </a:solidFill>
                <a:latin typeface="宋体" pitchFamily="2" charset="-122"/>
              </a:rPr>
              <a:t>基本块的代码生成</a:t>
            </a:r>
            <a:endParaRPr lang="en-US" altLang="zh-CN" sz="2400" b="1" dirty="0">
              <a:solidFill>
                <a:srgbClr val="000000"/>
              </a:solidFill>
              <a:latin typeface="宋体" pitchFamily="2" charset="-122"/>
            </a:endParaRPr>
          </a:p>
          <a:p>
            <a:pPr lvl="1" eaLnBrk="1" hangingPunct="1">
              <a:spcBef>
                <a:spcPct val="30000"/>
              </a:spcBef>
            </a:pPr>
            <a:r>
              <a:rPr lang="zh-CN" altLang="en-US" sz="2400" b="1" dirty="0">
                <a:solidFill>
                  <a:srgbClr val="000000"/>
                </a:solidFill>
                <a:latin typeface="宋体" pitchFamily="2" charset="-122"/>
              </a:rPr>
              <a:t>从</a:t>
            </a:r>
            <a:r>
              <a:rPr lang="en-US" altLang="zh-CN" sz="2400" b="1" dirty="0">
                <a:solidFill>
                  <a:srgbClr val="000000"/>
                </a:solidFill>
                <a:latin typeface="宋体" pitchFamily="2" charset="-122"/>
              </a:rPr>
              <a:t>DAG</a:t>
            </a:r>
            <a:r>
              <a:rPr lang="zh-CN" altLang="en-US" sz="2400" b="1" dirty="0">
                <a:solidFill>
                  <a:srgbClr val="000000"/>
                </a:solidFill>
                <a:latin typeface="宋体" pitchFamily="2" charset="-122"/>
              </a:rPr>
              <a:t>生成代码</a:t>
            </a:r>
            <a:endParaRPr lang="en-US" altLang="zh-CN" sz="2400" b="1" dirty="0">
              <a:solidFill>
                <a:srgbClr val="000000"/>
              </a:solidFill>
              <a:latin typeface="宋体" pitchFamily="2" charset="-122"/>
            </a:endParaRPr>
          </a:p>
          <a:p>
            <a:pPr eaLnBrk="1" hangingPunct="1">
              <a:spcBef>
                <a:spcPct val="30000"/>
              </a:spcBef>
            </a:pPr>
            <a:endParaRPr lang="zh-CN" altLang="en-US" sz="2800" b="1" dirty="0">
              <a:solidFill>
                <a:srgbClr val="000000"/>
              </a:solidFill>
              <a:latin typeface="宋体" pitchFamily="2" charset="-122"/>
            </a:endParaRPr>
          </a:p>
        </p:txBody>
      </p:sp>
    </p:spTree>
    <p:extLst>
      <p:ext uri="{BB962C8B-B14F-4D97-AF65-F5344CB8AC3E}">
        <p14:creationId xmlns:p14="http://schemas.microsoft.com/office/powerpoint/2010/main" val="4064070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0" y="0"/>
            <a:ext cx="7342188" cy="628650"/>
          </a:xfrm>
        </p:spPr>
        <p:txBody>
          <a:bodyPr>
            <a:normAutofit fontScale="90000"/>
          </a:bodyPr>
          <a:lstStyle/>
          <a:p>
            <a:pPr algn="l" eaLnBrk="1" hangingPunct="1"/>
            <a:r>
              <a:rPr lang="zh-CN" altLang="en-US" sz="4000" b="1">
                <a:solidFill>
                  <a:srgbClr val="0000CC"/>
                </a:solidFill>
                <a:ea typeface="楷体_GB2312" pitchFamily="1" charset="-122"/>
              </a:rPr>
              <a:t>目标代码生成所处的位置：</a:t>
            </a:r>
          </a:p>
        </p:txBody>
      </p:sp>
      <p:sp>
        <p:nvSpPr>
          <p:cNvPr id="4099" name="Rectangle 3"/>
          <p:cNvSpPr>
            <a:spLocks noGrp="1" noChangeArrowheads="1"/>
          </p:cNvSpPr>
          <p:nvPr>
            <p:ph type="body" idx="1"/>
          </p:nvPr>
        </p:nvSpPr>
        <p:spPr>
          <a:xfrm>
            <a:off x="457200" y="4336256"/>
            <a:ext cx="8229600" cy="258366"/>
          </a:xfrm>
        </p:spPr>
        <p:txBody>
          <a:bodyPr>
            <a:normAutofit fontScale="55000" lnSpcReduction="20000"/>
          </a:bodyPr>
          <a:lstStyle/>
          <a:p>
            <a:pPr eaLnBrk="1" hangingPunct="1"/>
            <a:endParaRPr lang="zh-CN" altLang="zh-CN"/>
          </a:p>
        </p:txBody>
      </p:sp>
      <p:sp>
        <p:nvSpPr>
          <p:cNvPr id="4100" name="Rectangle 21"/>
          <p:cNvSpPr>
            <a:spLocks noChangeArrowheads="1"/>
          </p:cNvSpPr>
          <p:nvPr/>
        </p:nvSpPr>
        <p:spPr bwMode="auto">
          <a:xfrm>
            <a:off x="0" y="-2616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800">
              <a:latin typeface="Arial" pitchFamily="34" charset="0"/>
            </a:endParaRPr>
          </a:p>
        </p:txBody>
      </p:sp>
      <p:sp>
        <p:nvSpPr>
          <p:cNvPr id="4101" name="Rectangle 23"/>
          <p:cNvSpPr>
            <a:spLocks noChangeArrowheads="1"/>
          </p:cNvSpPr>
          <p:nvPr/>
        </p:nvSpPr>
        <p:spPr bwMode="auto">
          <a:xfrm>
            <a:off x="0" y="-2616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800">
              <a:latin typeface="Arial" pitchFamily="34" charset="0"/>
            </a:endParaRPr>
          </a:p>
        </p:txBody>
      </p:sp>
      <p:graphicFrame>
        <p:nvGraphicFramePr>
          <p:cNvPr id="4102" name="对象 5"/>
          <p:cNvGraphicFramePr>
            <a:graphicFrameLocks noChangeAspect="1"/>
          </p:cNvGraphicFramePr>
          <p:nvPr>
            <p:extLst>
              <p:ext uri="{D42A27DB-BD31-4B8C-83A1-F6EECF244321}">
                <p14:modId xmlns:p14="http://schemas.microsoft.com/office/powerpoint/2010/main" val="1847694939"/>
              </p:ext>
            </p:extLst>
          </p:nvPr>
        </p:nvGraphicFramePr>
        <p:xfrm>
          <a:off x="58739" y="847750"/>
          <a:ext cx="8670925" cy="3380184"/>
        </p:xfrm>
        <a:graphic>
          <a:graphicData uri="http://schemas.openxmlformats.org/presentationml/2006/ole">
            <mc:AlternateContent xmlns:mc="http://schemas.openxmlformats.org/markup-compatibility/2006">
              <mc:Choice xmlns:v="urn:schemas-microsoft-com:vml" Requires="v">
                <p:oleObj name="Visio" r:id="rId3" imgW="3775629" imgH="1962078" progId="Visio.Drawing.11">
                  <p:embed/>
                </p:oleObj>
              </mc:Choice>
              <mc:Fallback>
                <p:oleObj name="Visio" r:id="rId3" imgW="3775629" imgH="1962078"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39" y="847750"/>
                        <a:ext cx="8670925" cy="3380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03" name="Rectangle 20"/>
          <p:cNvSpPr>
            <a:spLocks noChangeArrowheads="1"/>
          </p:cNvSpPr>
          <p:nvPr/>
        </p:nvSpPr>
        <p:spPr bwMode="auto">
          <a:xfrm>
            <a:off x="20639" y="1314475"/>
            <a:ext cx="6567487" cy="2321719"/>
          </a:xfrm>
          <a:prstGeom prst="rect">
            <a:avLst/>
          </a:prstGeom>
          <a:solidFill>
            <a:srgbClr val="FFFFCC">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800">
              <a:latin typeface="Arial" pitchFamily="34" charset="0"/>
            </a:endParaRPr>
          </a:p>
        </p:txBody>
      </p:sp>
    </p:spTree>
    <p:extLst>
      <p:ext uri="{BB962C8B-B14F-4D97-AF65-F5344CB8AC3E}">
        <p14:creationId xmlns:p14="http://schemas.microsoft.com/office/powerpoint/2010/main" val="202183936"/>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204986" y="185861"/>
            <a:ext cx="3070870" cy="857250"/>
          </a:xfrm>
          <a:noFill/>
        </p:spPr>
        <p:txBody>
          <a:bodyPr lIns="92075" tIns="46038" rIns="92075" bIns="46038">
            <a:normAutofit fontScale="90000"/>
          </a:bodyPr>
          <a:lstStyle/>
          <a:p>
            <a:r>
              <a:rPr lang="zh-CN" altLang="en-US" sz="4800" b="1" dirty="0">
                <a:solidFill>
                  <a:srgbClr val="CC0099"/>
                </a:solidFill>
                <a:ea typeface="隶书" pitchFamily="49" charset="-122"/>
              </a:rPr>
              <a:t>代码生成中问题探究</a:t>
            </a:r>
          </a:p>
        </p:txBody>
      </p:sp>
      <p:sp>
        <p:nvSpPr>
          <p:cNvPr id="5123" name="Rectangle 3"/>
          <p:cNvSpPr>
            <a:spLocks noGrp="1" noChangeArrowheads="1"/>
          </p:cNvSpPr>
          <p:nvPr>
            <p:ph type="body" idx="1"/>
          </p:nvPr>
        </p:nvSpPr>
        <p:spPr>
          <a:xfrm>
            <a:off x="899592" y="1394111"/>
            <a:ext cx="7920037" cy="2139554"/>
          </a:xfrm>
          <a:noFill/>
        </p:spPr>
        <p:txBody>
          <a:bodyPr lIns="92075" tIns="46038" rIns="92075" bIns="46038">
            <a:normAutofit lnSpcReduction="10000"/>
          </a:bodyPr>
          <a:lstStyle/>
          <a:p>
            <a:pPr eaLnBrk="1" hangingPunct="1">
              <a:lnSpc>
                <a:spcPct val="90000"/>
              </a:lnSpc>
            </a:pPr>
            <a:r>
              <a:rPr lang="zh-CN" altLang="en-US" sz="2000" dirty="0"/>
              <a:t>输入输出的形式</a:t>
            </a:r>
          </a:p>
          <a:p>
            <a:pPr lvl="1" eaLnBrk="1" hangingPunct="1">
              <a:lnSpc>
                <a:spcPct val="90000"/>
              </a:lnSpc>
            </a:pPr>
            <a:r>
              <a:rPr lang="zh-CN" altLang="en-US" sz="2000" dirty="0"/>
              <a:t>中间代码：三地址代码，四元式</a:t>
            </a:r>
          </a:p>
          <a:p>
            <a:pPr lvl="1" eaLnBrk="1" hangingPunct="1">
              <a:lnSpc>
                <a:spcPct val="90000"/>
              </a:lnSpc>
            </a:pPr>
            <a:r>
              <a:rPr lang="zh-CN" altLang="en-US" sz="2000" dirty="0"/>
              <a:t>符号表中的项：名字，类型，嵌套深度，偏移量</a:t>
            </a:r>
          </a:p>
          <a:p>
            <a:pPr lvl="1" eaLnBrk="1" hangingPunct="1">
              <a:lnSpc>
                <a:spcPct val="90000"/>
              </a:lnSpc>
            </a:pPr>
            <a:r>
              <a:rPr lang="zh-CN" altLang="en-US" sz="2000" dirty="0"/>
              <a:t>目标代码：绝对机器代码，可重定位代码，汇编</a:t>
            </a:r>
          </a:p>
          <a:p>
            <a:pPr eaLnBrk="1" hangingPunct="1">
              <a:lnSpc>
                <a:spcPct val="90000"/>
              </a:lnSpc>
            </a:pPr>
            <a:r>
              <a:rPr lang="zh-CN" altLang="en-US" sz="2000" dirty="0"/>
              <a:t>代码生成器的输出必须是正确和高质量的</a:t>
            </a:r>
          </a:p>
          <a:p>
            <a:pPr>
              <a:lnSpc>
                <a:spcPct val="90000"/>
              </a:lnSpc>
            </a:pPr>
            <a:r>
              <a:rPr lang="zh-CN" altLang="en-US" sz="2000" dirty="0"/>
              <a:t>产生最优化代码的问题是不可判定的</a:t>
            </a:r>
            <a:endParaRPr lang="en-US" altLang="zh-CN" sz="2000" dirty="0"/>
          </a:p>
          <a:p>
            <a:pPr>
              <a:lnSpc>
                <a:spcPct val="90000"/>
              </a:lnSpc>
            </a:pPr>
            <a:r>
              <a:rPr lang="zh-CN" altLang="zh-CN" sz="2000" dirty="0">
                <a:solidFill>
                  <a:srgbClr val="FF0000"/>
                </a:solidFill>
              </a:rPr>
              <a:t>为了产生较优的代码，着重需要考虑：</a:t>
            </a:r>
            <a:endParaRPr lang="en-US" altLang="zh-CN" sz="2000" dirty="0">
              <a:solidFill>
                <a:srgbClr val="FF0000"/>
              </a:solidFill>
            </a:endParaRPr>
          </a:p>
          <a:p>
            <a:pPr eaLnBrk="1" hangingPunct="1">
              <a:lnSpc>
                <a:spcPct val="90000"/>
              </a:lnSpc>
            </a:pPr>
            <a:endParaRPr lang="zh-CN" altLang="en-US" sz="2000"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4063166445"/>
              </p:ext>
            </p:extLst>
          </p:nvPr>
        </p:nvGraphicFramePr>
        <p:xfrm>
          <a:off x="3891045" y="228306"/>
          <a:ext cx="5047969" cy="1060073"/>
        </p:xfrm>
        <a:graphic>
          <a:graphicData uri="http://schemas.openxmlformats.org/presentationml/2006/ole">
            <mc:AlternateContent xmlns:mc="http://schemas.openxmlformats.org/markup-compatibility/2006">
              <mc:Choice xmlns:v="urn:schemas-microsoft-com:vml" Requires="v">
                <p:oleObj name="Visio" r:id="rId3" imgW="3438620" imgH="703700" progId="Visio.Drawing.11">
                  <p:embed/>
                </p:oleObj>
              </mc:Choice>
              <mc:Fallback>
                <p:oleObj name="Visio" r:id="rId3" imgW="3438620" imgH="70370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1045" y="228306"/>
                        <a:ext cx="5047969" cy="1060073"/>
                      </a:xfrm>
                      <a:prstGeom prst="rect">
                        <a:avLst/>
                      </a:prstGeom>
                      <a:noFill/>
                    </p:spPr>
                  </p:pic>
                </p:oleObj>
              </mc:Fallback>
            </mc:AlternateContent>
          </a:graphicData>
        </a:graphic>
      </p:graphicFrame>
      <p:sp>
        <p:nvSpPr>
          <p:cNvPr id="6" name="Rectangle 3">
            <a:extLst>
              <a:ext uri="{FF2B5EF4-FFF2-40B4-BE49-F238E27FC236}">
                <a16:creationId xmlns:a16="http://schemas.microsoft.com/office/drawing/2014/main" id="{9B694EA3-B316-4B1F-B55F-22CF5B1EC026}"/>
              </a:ext>
            </a:extLst>
          </p:cNvPr>
          <p:cNvSpPr txBox="1">
            <a:spLocks noChangeArrowheads="1"/>
          </p:cNvSpPr>
          <p:nvPr/>
        </p:nvSpPr>
        <p:spPr>
          <a:xfrm>
            <a:off x="1115616" y="3533665"/>
            <a:ext cx="7823398" cy="1060077"/>
          </a:xfrm>
          <a:prstGeom prst="rect">
            <a:avLst/>
          </a:prstGeom>
          <a:solidFill>
            <a:schemeClr val="bg1">
              <a:lumMod val="95000"/>
            </a:schemeClr>
          </a:solidFill>
        </p:spPr>
        <p:txBody>
          <a:bodyPr vert="horz" lIns="92075" tIns="46038" rIns="92075" bIns="46038">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spcBef>
                <a:spcPts val="0"/>
              </a:spcBef>
              <a:buFont typeface="Wingdings" panose="05000000000000000000" pitchFamily="2" charset="2"/>
              <a:buChar char="n"/>
            </a:pPr>
            <a:r>
              <a:rPr lang="zh-CN" altLang="zh-CN" sz="2000" dirty="0">
                <a:solidFill>
                  <a:srgbClr val="7030A0"/>
                </a:solidFill>
              </a:rPr>
              <a:t>如何使生成的目标代码更短</a:t>
            </a:r>
            <a:endParaRPr lang="en-US" altLang="zh-CN" sz="2000" dirty="0">
              <a:solidFill>
                <a:srgbClr val="7030A0"/>
              </a:solidFill>
            </a:endParaRPr>
          </a:p>
          <a:p>
            <a:pPr>
              <a:spcBef>
                <a:spcPts val="0"/>
              </a:spcBef>
              <a:buFont typeface="Wingdings" panose="05000000000000000000" pitchFamily="2" charset="2"/>
              <a:buChar char="n"/>
            </a:pPr>
            <a:r>
              <a:rPr lang="zh-CN" altLang="zh-CN" sz="2000" dirty="0">
                <a:solidFill>
                  <a:srgbClr val="7030A0"/>
                </a:solidFill>
              </a:rPr>
              <a:t>如何充分合理地使用</a:t>
            </a:r>
            <a:r>
              <a:rPr lang="zh-CN" altLang="en-US" sz="2000" dirty="0">
                <a:solidFill>
                  <a:srgbClr val="7030A0"/>
                </a:solidFill>
              </a:rPr>
              <a:t>目标</a:t>
            </a:r>
            <a:r>
              <a:rPr lang="zh-CN" altLang="zh-CN" sz="2000" dirty="0">
                <a:solidFill>
                  <a:srgbClr val="7030A0"/>
                </a:solidFill>
              </a:rPr>
              <a:t>机的寄存器</a:t>
            </a:r>
            <a:endParaRPr lang="en-US" altLang="zh-CN" sz="2000" dirty="0">
              <a:solidFill>
                <a:srgbClr val="7030A0"/>
              </a:solidFill>
            </a:endParaRPr>
          </a:p>
          <a:p>
            <a:pPr>
              <a:spcBef>
                <a:spcPts val="0"/>
              </a:spcBef>
              <a:buFont typeface="Wingdings" panose="05000000000000000000" pitchFamily="2" charset="2"/>
              <a:buChar char="n"/>
            </a:pPr>
            <a:r>
              <a:rPr lang="zh-CN" altLang="zh-CN" sz="2000" dirty="0">
                <a:solidFill>
                  <a:srgbClr val="7030A0"/>
                </a:solidFill>
              </a:rPr>
              <a:t>如何充分利用计算机的指令系统的特点，比如选择更高效的指令</a:t>
            </a:r>
            <a:endParaRPr lang="zh-CN" altLang="en-US" sz="2000" dirty="0">
              <a:solidFill>
                <a:srgbClr val="7030A0"/>
              </a:solidFill>
            </a:endParaRPr>
          </a:p>
        </p:txBody>
      </p:sp>
    </p:spTree>
    <p:extLst>
      <p:ext uri="{BB962C8B-B14F-4D97-AF65-F5344CB8AC3E}">
        <p14:creationId xmlns:p14="http://schemas.microsoft.com/office/powerpoint/2010/main" val="2569600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79512" y="-20538"/>
            <a:ext cx="7772400" cy="720080"/>
          </a:xfrm>
          <a:noFill/>
        </p:spPr>
        <p:txBody>
          <a:bodyPr lIns="92075" tIns="46038" rIns="92075" bIns="46038">
            <a:normAutofit/>
          </a:bodyPr>
          <a:lstStyle/>
          <a:p>
            <a:pPr eaLnBrk="1" hangingPunct="1"/>
            <a:r>
              <a:rPr lang="en-US" altLang="zh-CN" sz="3200" b="1" dirty="0"/>
              <a:t>1.</a:t>
            </a:r>
            <a:r>
              <a:rPr lang="zh-CN" altLang="en-US" sz="3200" b="1" dirty="0"/>
              <a:t>代码生成器的输入</a:t>
            </a:r>
          </a:p>
        </p:txBody>
      </p:sp>
      <p:sp>
        <p:nvSpPr>
          <p:cNvPr id="7171" name="Rectangle 3"/>
          <p:cNvSpPr>
            <a:spLocks noGrp="1" noChangeArrowheads="1"/>
          </p:cNvSpPr>
          <p:nvPr>
            <p:ph type="body" idx="1"/>
          </p:nvPr>
        </p:nvSpPr>
        <p:spPr>
          <a:xfrm>
            <a:off x="684214" y="771550"/>
            <a:ext cx="7678737" cy="3869927"/>
          </a:xfrm>
          <a:solidFill>
            <a:schemeClr val="bg1"/>
          </a:solidFill>
        </p:spPr>
        <p:txBody>
          <a:bodyPr lIns="92075" tIns="46038" rIns="92075" bIns="46038">
            <a:noAutofit/>
          </a:bodyPr>
          <a:lstStyle/>
          <a:p>
            <a:pPr>
              <a:lnSpc>
                <a:spcPct val="90000"/>
              </a:lnSpc>
            </a:pPr>
            <a:r>
              <a:rPr lang="zh-CN" altLang="en-US" sz="2200" dirty="0">
                <a:solidFill>
                  <a:srgbClr val="FF0000"/>
                </a:solidFill>
              </a:rPr>
              <a:t>中间代码</a:t>
            </a:r>
          </a:p>
          <a:p>
            <a:pPr lvl="1">
              <a:lnSpc>
                <a:spcPct val="90000"/>
              </a:lnSpc>
            </a:pPr>
            <a:r>
              <a:rPr lang="zh-CN" altLang="en-US" dirty="0"/>
              <a:t>代码生成的很多技术是可以用于不同的中间代码</a:t>
            </a:r>
          </a:p>
          <a:p>
            <a:pPr lvl="1">
              <a:lnSpc>
                <a:spcPct val="90000"/>
              </a:lnSpc>
            </a:pPr>
            <a:r>
              <a:rPr lang="zh-CN" altLang="en-US" dirty="0"/>
              <a:t>代码生成前，中间代码记录了足够详细的程序信息</a:t>
            </a:r>
          </a:p>
          <a:p>
            <a:pPr lvl="2">
              <a:lnSpc>
                <a:spcPct val="90000"/>
              </a:lnSpc>
            </a:pPr>
            <a:r>
              <a:rPr lang="zh-CN" altLang="en-US" sz="2200" dirty="0"/>
              <a:t>名字的值可以表示为目标机器能够直接操作的数</a:t>
            </a:r>
          </a:p>
          <a:p>
            <a:pPr lvl="2">
              <a:lnSpc>
                <a:spcPct val="90000"/>
              </a:lnSpc>
            </a:pPr>
            <a:r>
              <a:rPr lang="zh-CN" altLang="en-US" sz="2200" dirty="0"/>
              <a:t>类型检查已经完成</a:t>
            </a:r>
          </a:p>
          <a:p>
            <a:pPr lvl="2">
              <a:lnSpc>
                <a:spcPct val="90000"/>
              </a:lnSpc>
            </a:pPr>
            <a:r>
              <a:rPr lang="zh-CN" altLang="en-US" sz="2200" dirty="0"/>
              <a:t>明显的语义错误已经发现</a:t>
            </a:r>
          </a:p>
          <a:p>
            <a:pPr eaLnBrk="1" hangingPunct="1">
              <a:lnSpc>
                <a:spcPct val="90000"/>
              </a:lnSpc>
            </a:pPr>
            <a:r>
              <a:rPr lang="zh-CN" altLang="en-US" sz="2200" dirty="0">
                <a:solidFill>
                  <a:srgbClr val="FF0000"/>
                </a:solidFill>
              </a:rPr>
              <a:t>符号表</a:t>
            </a:r>
          </a:p>
          <a:p>
            <a:pPr lvl="1" eaLnBrk="1" hangingPunct="1">
              <a:lnSpc>
                <a:spcPct val="90000"/>
              </a:lnSpc>
            </a:pPr>
            <a:r>
              <a:rPr lang="zh-CN" altLang="en-US" dirty="0"/>
              <a:t>决定中间代码中名字所代表的数据对象的运行地址</a:t>
            </a:r>
          </a:p>
          <a:p>
            <a:pPr lvl="2" eaLnBrk="1" hangingPunct="1">
              <a:lnSpc>
                <a:spcPct val="90000"/>
              </a:lnSpc>
            </a:pPr>
            <a:r>
              <a:rPr lang="zh-CN" altLang="en-US" sz="2200" dirty="0"/>
              <a:t>地址</a:t>
            </a:r>
          </a:p>
          <a:p>
            <a:pPr lvl="2" eaLnBrk="1" hangingPunct="1">
              <a:lnSpc>
                <a:spcPct val="90000"/>
              </a:lnSpc>
            </a:pPr>
            <a:r>
              <a:rPr lang="zh-CN" altLang="en-US" sz="2200" dirty="0"/>
              <a:t>作用域</a:t>
            </a:r>
          </a:p>
          <a:p>
            <a:pPr lvl="1" eaLnBrk="1" hangingPunct="1">
              <a:lnSpc>
                <a:spcPct val="90000"/>
              </a:lnSpc>
            </a:pPr>
            <a:r>
              <a:rPr lang="zh-CN" altLang="en-US" dirty="0"/>
              <a:t>可能在动态时刻作为调试信息存在</a:t>
            </a:r>
          </a:p>
        </p:txBody>
      </p:sp>
      <p:sp>
        <p:nvSpPr>
          <p:cNvPr id="2" name="TextBox 1"/>
          <p:cNvSpPr txBox="1"/>
          <p:nvPr/>
        </p:nvSpPr>
        <p:spPr>
          <a:xfrm>
            <a:off x="8316416" y="2283718"/>
            <a:ext cx="64807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altLang="zh-CN" sz="3200" dirty="0"/>
              <a:t>+</a:t>
            </a:r>
            <a:r>
              <a:rPr lang="en-US" altLang="zh-CN" sz="3200" baseline="30000" dirty="0" err="1"/>
              <a:t>i</a:t>
            </a:r>
            <a:endParaRPr lang="zh-CN" altLang="en-US" sz="3200" baseline="30000" dirty="0"/>
          </a:p>
        </p:txBody>
      </p:sp>
      <p:graphicFrame>
        <p:nvGraphicFramePr>
          <p:cNvPr id="4" name="对象 3"/>
          <p:cNvGraphicFramePr>
            <a:graphicFrameLocks noChangeAspect="1"/>
          </p:cNvGraphicFramePr>
          <p:nvPr>
            <p:extLst>
              <p:ext uri="{D42A27DB-BD31-4B8C-83A1-F6EECF244321}">
                <p14:modId xmlns:p14="http://schemas.microsoft.com/office/powerpoint/2010/main" val="2646751671"/>
              </p:ext>
            </p:extLst>
          </p:nvPr>
        </p:nvGraphicFramePr>
        <p:xfrm>
          <a:off x="4932040" y="3507854"/>
          <a:ext cx="4176464" cy="1563638"/>
        </p:xfrm>
        <a:graphic>
          <a:graphicData uri="http://schemas.openxmlformats.org/presentationml/2006/ole">
            <mc:AlternateContent xmlns:mc="http://schemas.openxmlformats.org/markup-compatibility/2006">
              <mc:Choice xmlns:v="urn:schemas-microsoft-com:vml" Requires="v">
                <p:oleObj name="Visio" r:id="rId3" imgW="5330286" imgH="2423614" progId="Visio.Drawing.11">
                  <p:embed/>
                </p:oleObj>
              </mc:Choice>
              <mc:Fallback>
                <p:oleObj name="Visio" r:id="rId3" imgW="5330286" imgH="2423614"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040" y="3507854"/>
                        <a:ext cx="4176464" cy="1563638"/>
                      </a:xfrm>
                      <a:prstGeom prst="rect">
                        <a:avLst/>
                      </a:prstGeom>
                      <a:solidFill>
                        <a:schemeClr val="bg1"/>
                      </a:solidFill>
                      <a:ln>
                        <a:noFill/>
                      </a:ln>
                    </p:spPr>
                  </p:pic>
                </p:oleObj>
              </mc:Fallback>
            </mc:AlternateContent>
          </a:graphicData>
        </a:graphic>
      </p:graphicFrame>
    </p:spTree>
    <p:extLst>
      <p:ext uri="{BB962C8B-B14F-4D97-AF65-F5344CB8AC3E}">
        <p14:creationId xmlns:p14="http://schemas.microsoft.com/office/powerpoint/2010/main" val="3819449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171">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71">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7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7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71">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171">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171">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171">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171">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animBg="1"/>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07504" y="123478"/>
            <a:ext cx="7772400" cy="857250"/>
          </a:xfrm>
          <a:noFill/>
        </p:spPr>
        <p:txBody>
          <a:bodyPr lIns="92075" tIns="46038" rIns="92075" bIns="46038">
            <a:normAutofit/>
          </a:bodyPr>
          <a:lstStyle/>
          <a:p>
            <a:pPr eaLnBrk="1" hangingPunct="1"/>
            <a:r>
              <a:rPr lang="en-US" altLang="zh-CN" sz="3200" b="1" dirty="0"/>
              <a:t>2.</a:t>
            </a:r>
            <a:r>
              <a:rPr lang="zh-CN" altLang="en-US" sz="3200" b="1" dirty="0"/>
              <a:t>代码生成器的输出：目标程序</a:t>
            </a:r>
          </a:p>
        </p:txBody>
      </p:sp>
      <p:sp>
        <p:nvSpPr>
          <p:cNvPr id="8195" name="Rectangle 3"/>
          <p:cNvSpPr>
            <a:spLocks noGrp="1" noChangeArrowheads="1"/>
          </p:cNvSpPr>
          <p:nvPr>
            <p:ph type="body" idx="1"/>
          </p:nvPr>
        </p:nvSpPr>
        <p:spPr>
          <a:xfrm>
            <a:off x="755650" y="914400"/>
            <a:ext cx="7848600" cy="4033614"/>
          </a:xfrm>
          <a:solidFill>
            <a:schemeClr val="bg1"/>
          </a:solidFill>
        </p:spPr>
        <p:txBody>
          <a:bodyPr lIns="92075" tIns="46038" rIns="92075" bIns="46038">
            <a:noAutofit/>
          </a:bodyPr>
          <a:lstStyle/>
          <a:p>
            <a:pPr eaLnBrk="1" hangingPunct="1">
              <a:spcBef>
                <a:spcPct val="0"/>
              </a:spcBef>
            </a:pPr>
            <a:r>
              <a:rPr lang="zh-CN" altLang="en-US" sz="2000" dirty="0">
                <a:solidFill>
                  <a:srgbClr val="FF0000"/>
                </a:solidFill>
              </a:rPr>
              <a:t>绝对机器代码</a:t>
            </a:r>
          </a:p>
          <a:p>
            <a:pPr lvl="1" eaLnBrk="1" hangingPunct="1">
              <a:spcBef>
                <a:spcPct val="0"/>
              </a:spcBef>
            </a:pPr>
            <a:r>
              <a:rPr lang="zh-CN" altLang="en-US" sz="2000" dirty="0"/>
              <a:t>可以放在内存中固定地方，并立即执行</a:t>
            </a:r>
          </a:p>
          <a:p>
            <a:pPr lvl="1" eaLnBrk="1" hangingPunct="1">
              <a:spcBef>
                <a:spcPct val="0"/>
              </a:spcBef>
            </a:pPr>
            <a:r>
              <a:rPr lang="zh-CN" altLang="en-US" sz="2000" dirty="0"/>
              <a:t>小程序、需要迅速编译和执行</a:t>
            </a:r>
          </a:p>
          <a:p>
            <a:pPr eaLnBrk="1" hangingPunct="1">
              <a:spcBef>
                <a:spcPct val="0"/>
              </a:spcBef>
            </a:pPr>
            <a:r>
              <a:rPr lang="zh-CN" altLang="en-US" sz="2000" dirty="0">
                <a:solidFill>
                  <a:srgbClr val="FF0000"/>
                </a:solidFill>
              </a:rPr>
              <a:t>可重定位的机器代码</a:t>
            </a:r>
          </a:p>
          <a:p>
            <a:pPr lvl="1" eaLnBrk="1" hangingPunct="1">
              <a:spcBef>
                <a:spcPct val="0"/>
              </a:spcBef>
            </a:pPr>
            <a:r>
              <a:rPr lang="zh-CN" altLang="en-US" sz="2000" dirty="0"/>
              <a:t>程序可以分为多个目标模块，分别编译</a:t>
            </a:r>
          </a:p>
          <a:p>
            <a:pPr lvl="1" eaLnBrk="1" hangingPunct="1">
              <a:spcBef>
                <a:spcPct val="0"/>
              </a:spcBef>
            </a:pPr>
            <a:r>
              <a:rPr lang="zh-CN" altLang="en-US" sz="2000" dirty="0"/>
              <a:t>需要连接装配器将一组可重定位模块一起装入执行</a:t>
            </a:r>
          </a:p>
          <a:p>
            <a:pPr lvl="1" eaLnBrk="1" hangingPunct="1">
              <a:spcBef>
                <a:spcPct val="0"/>
              </a:spcBef>
            </a:pPr>
            <a:r>
              <a:rPr lang="zh-CN" altLang="en-US" sz="2000" dirty="0"/>
              <a:t>需要额外的开销，但灵活：可分别编译子程序和从目标模块中调用其它先前编译好的程序模块</a:t>
            </a:r>
          </a:p>
          <a:p>
            <a:pPr lvl="1" eaLnBrk="1" hangingPunct="1">
              <a:spcBef>
                <a:spcPct val="0"/>
              </a:spcBef>
            </a:pPr>
            <a:r>
              <a:rPr lang="zh-CN" altLang="en-US" sz="2000" dirty="0"/>
              <a:t>如果目标机器不能自动处理重定位，则编译器必须提供显式的重定位信息给装配程序</a:t>
            </a:r>
          </a:p>
          <a:p>
            <a:pPr eaLnBrk="1" hangingPunct="1">
              <a:spcBef>
                <a:spcPct val="0"/>
              </a:spcBef>
            </a:pPr>
            <a:r>
              <a:rPr lang="zh-CN" altLang="en-US" sz="2000" dirty="0">
                <a:solidFill>
                  <a:srgbClr val="FF0000"/>
                </a:solidFill>
              </a:rPr>
              <a:t>汇编代码</a:t>
            </a:r>
          </a:p>
          <a:p>
            <a:pPr lvl="1" eaLnBrk="1" hangingPunct="1">
              <a:spcBef>
                <a:spcPct val="0"/>
              </a:spcBef>
            </a:pPr>
            <a:r>
              <a:rPr lang="zh-CN" altLang="en-US" sz="2000" dirty="0"/>
              <a:t>代码生成的过程容易</a:t>
            </a:r>
          </a:p>
          <a:p>
            <a:pPr lvl="1" eaLnBrk="1" hangingPunct="1">
              <a:spcBef>
                <a:spcPct val="0"/>
              </a:spcBef>
            </a:pPr>
            <a:r>
              <a:rPr lang="zh-CN" altLang="en-US" sz="2000" dirty="0"/>
              <a:t>避免了重复汇编器的工作</a:t>
            </a:r>
          </a:p>
        </p:txBody>
      </p:sp>
    </p:spTree>
    <p:extLst>
      <p:ext uri="{BB962C8B-B14F-4D97-AF65-F5344CB8AC3E}">
        <p14:creationId xmlns:p14="http://schemas.microsoft.com/office/powerpoint/2010/main" val="1814785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195">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195">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195">
                                            <p:txEl>
                                              <p:pRg st="5" end="5"/>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195">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195">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195">
                                            <p:txEl>
                                              <p:pRg st="9" end="9"/>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uiExpand="1"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79512" y="0"/>
            <a:ext cx="7772400" cy="685800"/>
          </a:xfrm>
          <a:noFill/>
        </p:spPr>
        <p:txBody>
          <a:bodyPr lIns="92075" tIns="46038" rIns="92075" bIns="46038">
            <a:normAutofit/>
          </a:bodyPr>
          <a:lstStyle/>
          <a:p>
            <a:pPr eaLnBrk="1" hangingPunct="1"/>
            <a:r>
              <a:rPr lang="en-US" altLang="zh-CN" sz="3200" b="1" dirty="0"/>
              <a:t>3.</a:t>
            </a:r>
            <a:r>
              <a:rPr lang="zh-CN" altLang="en-US" sz="3200" b="1" dirty="0"/>
              <a:t>指令选择</a:t>
            </a:r>
          </a:p>
        </p:txBody>
      </p:sp>
      <p:sp>
        <p:nvSpPr>
          <p:cNvPr id="13315" name="Rectangle 3"/>
          <p:cNvSpPr>
            <a:spLocks noGrp="1" noChangeArrowheads="1"/>
          </p:cNvSpPr>
          <p:nvPr>
            <p:ph type="body" idx="1"/>
          </p:nvPr>
        </p:nvSpPr>
        <p:spPr>
          <a:xfrm>
            <a:off x="611560" y="699542"/>
            <a:ext cx="7822828" cy="4176464"/>
          </a:xfrm>
          <a:solidFill>
            <a:schemeClr val="bg1"/>
          </a:solidFill>
        </p:spPr>
        <p:txBody>
          <a:bodyPr lIns="92075" tIns="46038" rIns="92075" bIns="46038">
            <a:normAutofit lnSpcReduction="10000"/>
          </a:bodyPr>
          <a:lstStyle/>
          <a:p>
            <a:pPr eaLnBrk="1" hangingPunct="1">
              <a:spcBef>
                <a:spcPts val="0"/>
              </a:spcBef>
            </a:pPr>
            <a:r>
              <a:rPr lang="zh-CN" altLang="en-US" sz="2200" dirty="0"/>
              <a:t>目标机器指令系统的性质决定了指令选择的难易程度</a:t>
            </a:r>
          </a:p>
          <a:p>
            <a:pPr eaLnBrk="1" hangingPunct="1">
              <a:spcBef>
                <a:spcPts val="0"/>
              </a:spcBef>
            </a:pPr>
            <a:r>
              <a:rPr lang="zh-CN" altLang="en-US" sz="2200" dirty="0"/>
              <a:t>指令系统的一致性和完整性是重要因素</a:t>
            </a:r>
          </a:p>
          <a:p>
            <a:pPr lvl="1" eaLnBrk="1" hangingPunct="1">
              <a:spcBef>
                <a:spcPts val="0"/>
              </a:spcBef>
            </a:pPr>
            <a:r>
              <a:rPr lang="zh-CN" altLang="en-US" dirty="0"/>
              <a:t>如果目标机器不能以一致的方式支持各种数据类型，则每种例外都要专门的处理</a:t>
            </a:r>
          </a:p>
          <a:p>
            <a:pPr eaLnBrk="1" hangingPunct="1">
              <a:spcBef>
                <a:spcPts val="0"/>
              </a:spcBef>
            </a:pPr>
            <a:r>
              <a:rPr lang="zh-CN" altLang="en-US" sz="2200" dirty="0"/>
              <a:t>指令的速度和机器的特点是另一些重要的因素</a:t>
            </a:r>
          </a:p>
          <a:p>
            <a:pPr lvl="1" eaLnBrk="1" hangingPunct="1">
              <a:spcBef>
                <a:spcPts val="0"/>
              </a:spcBef>
            </a:pPr>
            <a:r>
              <a:rPr lang="zh-CN" altLang="en-US" dirty="0"/>
              <a:t>如果不考虑目标程序的效率，则指令选择是直截了当的</a:t>
            </a:r>
          </a:p>
          <a:p>
            <a:pPr eaLnBrk="1" hangingPunct="1">
              <a:spcBef>
                <a:spcPts val="0"/>
              </a:spcBef>
            </a:pPr>
            <a:r>
              <a:rPr lang="zh-CN" altLang="en-US" sz="2200" dirty="0"/>
              <a:t>代码的质量取决于它的执行速度和长度</a:t>
            </a:r>
          </a:p>
          <a:p>
            <a:pPr lvl="1" eaLnBrk="1" hangingPunct="1">
              <a:spcBef>
                <a:spcPts val="0"/>
              </a:spcBef>
            </a:pPr>
            <a:r>
              <a:rPr lang="zh-CN" altLang="en-US" dirty="0"/>
              <a:t>可以从多种指令中选择合适的：</a:t>
            </a:r>
            <a:r>
              <a:rPr lang="en-US" altLang="zh-CN" b="1" dirty="0">
                <a:solidFill>
                  <a:srgbClr val="FF0000"/>
                </a:solidFill>
              </a:rPr>
              <a:t>a=a+1</a:t>
            </a:r>
          </a:p>
          <a:p>
            <a:pPr lvl="1" eaLnBrk="1" hangingPunct="1">
              <a:spcBef>
                <a:spcPts val="0"/>
              </a:spcBef>
            </a:pPr>
            <a:endParaRPr lang="en-US" altLang="zh-CN" dirty="0"/>
          </a:p>
          <a:p>
            <a:pPr lvl="1" eaLnBrk="1" hangingPunct="1">
              <a:spcBef>
                <a:spcPts val="0"/>
              </a:spcBef>
            </a:pPr>
            <a:endParaRPr lang="en-US" altLang="zh-CN" dirty="0"/>
          </a:p>
          <a:p>
            <a:pPr lvl="1" eaLnBrk="1" hangingPunct="1">
              <a:spcBef>
                <a:spcPts val="0"/>
              </a:spcBef>
            </a:pPr>
            <a:endParaRPr lang="en-US" altLang="zh-CN" dirty="0"/>
          </a:p>
          <a:p>
            <a:pPr lvl="1" eaLnBrk="1" hangingPunct="1">
              <a:spcBef>
                <a:spcPts val="0"/>
              </a:spcBef>
            </a:pPr>
            <a:endParaRPr lang="en-US" altLang="zh-CN" dirty="0"/>
          </a:p>
          <a:p>
            <a:pPr lvl="1" eaLnBrk="1" hangingPunct="1">
              <a:spcBef>
                <a:spcPts val="0"/>
              </a:spcBef>
            </a:pPr>
            <a:r>
              <a:rPr lang="zh-CN" altLang="en-US" dirty="0"/>
              <a:t>时间信息对代码序列是重要的，但不是任何时候都精确的</a:t>
            </a:r>
          </a:p>
        </p:txBody>
      </p:sp>
      <p:sp>
        <p:nvSpPr>
          <p:cNvPr id="2" name="矩形 1"/>
          <p:cNvSpPr/>
          <p:nvPr/>
        </p:nvSpPr>
        <p:spPr>
          <a:xfrm>
            <a:off x="1691680" y="3171131"/>
            <a:ext cx="2232248" cy="110799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200" dirty="0"/>
              <a:t>MOV	</a:t>
            </a:r>
            <a:r>
              <a:rPr lang="en-US" altLang="zh-CN" sz="2200" dirty="0" err="1"/>
              <a:t>AX,a</a:t>
            </a:r>
            <a:endParaRPr lang="en-US" altLang="zh-CN" sz="2200" dirty="0"/>
          </a:p>
          <a:p>
            <a:r>
              <a:rPr lang="en-US" altLang="zh-CN" sz="2200" dirty="0"/>
              <a:t>ADD   AX,#1</a:t>
            </a:r>
          </a:p>
          <a:p>
            <a:r>
              <a:rPr lang="en-US" altLang="zh-CN" sz="2200" dirty="0"/>
              <a:t>MOV	</a:t>
            </a:r>
            <a:r>
              <a:rPr lang="en-US" altLang="zh-CN" sz="2200" dirty="0" err="1"/>
              <a:t>a,AX</a:t>
            </a:r>
            <a:r>
              <a:rPr lang="en-US" altLang="zh-CN" sz="2200" dirty="0"/>
              <a:t> </a:t>
            </a:r>
          </a:p>
        </p:txBody>
      </p:sp>
      <p:sp>
        <p:nvSpPr>
          <p:cNvPr id="5" name="矩形 4"/>
          <p:cNvSpPr/>
          <p:nvPr/>
        </p:nvSpPr>
        <p:spPr>
          <a:xfrm>
            <a:off x="4355976" y="3481792"/>
            <a:ext cx="1584176" cy="43088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lvl="2" indent="-914400"/>
            <a:r>
              <a:rPr lang="en-US" altLang="zh-CN" sz="2200" dirty="0"/>
              <a:t>INC	a</a:t>
            </a:r>
          </a:p>
        </p:txBody>
      </p:sp>
    </p:spTree>
    <p:extLst>
      <p:ext uri="{BB962C8B-B14F-4D97-AF65-F5344CB8AC3E}">
        <p14:creationId xmlns:p14="http://schemas.microsoft.com/office/powerpoint/2010/main" val="2309062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51520" y="267494"/>
            <a:ext cx="7772400" cy="685800"/>
          </a:xfrm>
          <a:noFill/>
        </p:spPr>
        <p:txBody>
          <a:bodyPr lIns="92075" tIns="46038" rIns="92075" bIns="46038">
            <a:normAutofit/>
          </a:bodyPr>
          <a:lstStyle/>
          <a:p>
            <a:pPr eaLnBrk="1" hangingPunct="1"/>
            <a:r>
              <a:rPr lang="zh-CN" altLang="en-US" sz="3200" b="1" dirty="0"/>
              <a:t>指令选择的例子</a:t>
            </a:r>
          </a:p>
        </p:txBody>
      </p:sp>
      <p:sp>
        <p:nvSpPr>
          <p:cNvPr id="14339" name="Text Box 4"/>
          <p:cNvSpPr txBox="1">
            <a:spLocks noChangeArrowheads="1"/>
          </p:cNvSpPr>
          <p:nvPr/>
        </p:nvSpPr>
        <p:spPr bwMode="auto">
          <a:xfrm>
            <a:off x="1042989" y="2463404"/>
            <a:ext cx="2263775" cy="830997"/>
          </a:xfrm>
          <a:prstGeom prst="rect">
            <a:avLst/>
          </a:prstGeom>
          <a:solidFill>
            <a:schemeClr val="bg1"/>
          </a:solidFill>
          <a:ln w="28575">
            <a:solidFill>
              <a:srgbClr val="00FF00"/>
            </a:solidFill>
            <a:miter lim="800000"/>
            <a:headEnd/>
            <a:tailEnd/>
          </a:ln>
        </p:spPr>
        <p:txBody>
          <a:bodyPr>
            <a:spAutoFit/>
          </a:bodyPr>
          <a:lstStyle>
            <a:lvl1pPr marL="342900" indent="-342900">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indent="-555625">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lvl="2" eaLnBrk="1" hangingPunct="1">
              <a:spcBef>
                <a:spcPct val="0"/>
              </a:spcBef>
              <a:buFontTx/>
              <a:buNone/>
            </a:pPr>
            <a:r>
              <a:rPr lang="en-US" altLang="zh-CN" b="1"/>
              <a:t>a = b + c</a:t>
            </a:r>
          </a:p>
          <a:p>
            <a:pPr lvl="2" eaLnBrk="1" hangingPunct="1">
              <a:spcBef>
                <a:spcPct val="0"/>
              </a:spcBef>
              <a:buFontTx/>
              <a:buNone/>
            </a:pPr>
            <a:r>
              <a:rPr lang="en-US" altLang="zh-CN" b="1"/>
              <a:t>d = a + e</a:t>
            </a:r>
            <a:endParaRPr lang="en-US" altLang="zh-CN"/>
          </a:p>
        </p:txBody>
      </p:sp>
      <p:sp>
        <p:nvSpPr>
          <p:cNvPr id="14340" name="Text Box 5"/>
          <p:cNvSpPr txBox="1">
            <a:spLocks noChangeArrowheads="1"/>
          </p:cNvSpPr>
          <p:nvPr/>
        </p:nvSpPr>
        <p:spPr bwMode="auto">
          <a:xfrm>
            <a:off x="5291138" y="2085976"/>
            <a:ext cx="3529012" cy="2308324"/>
          </a:xfrm>
          <a:prstGeom prst="rect">
            <a:avLst/>
          </a:prstGeom>
          <a:solidFill>
            <a:schemeClr val="bg1"/>
          </a:solidFill>
          <a:ln w="28575">
            <a:solidFill>
              <a:srgbClr val="00FF00"/>
            </a:solidFill>
            <a:miter lim="800000"/>
            <a:headEnd/>
            <a:tailEnd/>
          </a:ln>
        </p:spPr>
        <p:txBody>
          <a:bodyPr>
            <a:spAutoFit/>
          </a:bodyPr>
          <a:lstStyle>
            <a:lvl1pPr marL="342900" indent="-342900">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lvl="2" eaLnBrk="1" hangingPunct="1">
              <a:spcBef>
                <a:spcPct val="0"/>
              </a:spcBef>
              <a:buFontTx/>
              <a:buNone/>
            </a:pPr>
            <a:r>
              <a:rPr lang="en-US" altLang="zh-CN" b="1" dirty="0"/>
              <a:t>MOV	</a:t>
            </a:r>
            <a:r>
              <a:rPr lang="en-US" altLang="zh-CN" b="1" dirty="0" err="1"/>
              <a:t>AX,b</a:t>
            </a:r>
            <a:endParaRPr lang="en-US" altLang="zh-CN" b="1" dirty="0"/>
          </a:p>
          <a:p>
            <a:pPr lvl="2" eaLnBrk="1" hangingPunct="1">
              <a:spcBef>
                <a:spcPct val="0"/>
              </a:spcBef>
              <a:buFontTx/>
              <a:buNone/>
            </a:pPr>
            <a:r>
              <a:rPr lang="en-US" altLang="zh-CN" b="1" dirty="0"/>
              <a:t>ADD	</a:t>
            </a:r>
            <a:r>
              <a:rPr lang="en-US" altLang="zh-CN" b="1" dirty="0" err="1"/>
              <a:t>AX,c</a:t>
            </a:r>
            <a:endParaRPr lang="en-US" altLang="zh-CN" b="1" dirty="0"/>
          </a:p>
          <a:p>
            <a:pPr lvl="2" eaLnBrk="1" hangingPunct="1">
              <a:spcBef>
                <a:spcPct val="0"/>
              </a:spcBef>
              <a:buFontTx/>
              <a:buNone/>
            </a:pPr>
            <a:r>
              <a:rPr lang="en-US" altLang="zh-CN" b="1" dirty="0"/>
              <a:t>MOV	</a:t>
            </a:r>
            <a:r>
              <a:rPr lang="en-US" altLang="zh-CN" b="1" dirty="0" err="1"/>
              <a:t>a,AX</a:t>
            </a:r>
            <a:endParaRPr lang="en-US" altLang="zh-CN" b="1" dirty="0"/>
          </a:p>
          <a:p>
            <a:pPr lvl="2" eaLnBrk="1" hangingPunct="1">
              <a:spcBef>
                <a:spcPct val="0"/>
              </a:spcBef>
              <a:buFontTx/>
              <a:buNone/>
            </a:pPr>
            <a:r>
              <a:rPr lang="en-US" altLang="zh-CN" b="1" dirty="0">
                <a:solidFill>
                  <a:srgbClr val="063DE8"/>
                </a:solidFill>
              </a:rPr>
              <a:t>MOV	</a:t>
            </a:r>
            <a:r>
              <a:rPr lang="en-US" altLang="zh-CN" b="1" dirty="0" err="1">
                <a:solidFill>
                  <a:srgbClr val="063DE8"/>
                </a:solidFill>
              </a:rPr>
              <a:t>AX,a</a:t>
            </a:r>
            <a:r>
              <a:rPr lang="en-US" altLang="zh-CN" b="1" dirty="0">
                <a:solidFill>
                  <a:srgbClr val="063DE8"/>
                </a:solidFill>
              </a:rPr>
              <a:t> </a:t>
            </a:r>
          </a:p>
          <a:p>
            <a:pPr lvl="2" eaLnBrk="1" hangingPunct="1">
              <a:spcBef>
                <a:spcPct val="0"/>
              </a:spcBef>
              <a:buFontTx/>
              <a:buNone/>
            </a:pPr>
            <a:r>
              <a:rPr lang="en-US" altLang="zh-CN" b="1" dirty="0"/>
              <a:t>ADD	</a:t>
            </a:r>
            <a:r>
              <a:rPr lang="en-US" altLang="zh-CN" b="1" dirty="0" err="1"/>
              <a:t>AX,e</a:t>
            </a:r>
            <a:endParaRPr lang="en-US" altLang="zh-CN" b="1" dirty="0"/>
          </a:p>
          <a:p>
            <a:pPr lvl="2" eaLnBrk="1" hangingPunct="1">
              <a:spcBef>
                <a:spcPct val="0"/>
              </a:spcBef>
              <a:buFontTx/>
              <a:buNone/>
            </a:pPr>
            <a:r>
              <a:rPr lang="en-US" altLang="zh-CN" b="1" dirty="0"/>
              <a:t>MOV	</a:t>
            </a:r>
            <a:r>
              <a:rPr lang="en-US" altLang="zh-CN" b="1" dirty="0" err="1"/>
              <a:t>d,AX</a:t>
            </a:r>
            <a:endParaRPr lang="en-US" altLang="zh-CN" b="1" dirty="0"/>
          </a:p>
        </p:txBody>
      </p:sp>
      <p:sp>
        <p:nvSpPr>
          <p:cNvPr id="14341" name="Rectangle 6"/>
          <p:cNvSpPr>
            <a:spLocks noGrp="1" noChangeArrowheads="1"/>
          </p:cNvSpPr>
          <p:nvPr>
            <p:ph type="body" idx="1"/>
          </p:nvPr>
        </p:nvSpPr>
        <p:spPr>
          <a:xfrm>
            <a:off x="683568" y="1203598"/>
            <a:ext cx="7772400" cy="539651"/>
          </a:xfrm>
        </p:spPr>
        <p:txBody>
          <a:bodyPr>
            <a:normAutofit/>
          </a:bodyPr>
          <a:lstStyle/>
          <a:p>
            <a:pPr eaLnBrk="1" hangingPunct="1"/>
            <a:r>
              <a:rPr lang="zh-CN" altLang="en-US" sz="2200" dirty="0"/>
              <a:t>逐条语句地产生代码的方法常常产生低质量的代码</a:t>
            </a:r>
          </a:p>
        </p:txBody>
      </p:sp>
      <p:sp>
        <p:nvSpPr>
          <p:cNvPr id="14342" name="AutoShape 7"/>
          <p:cNvSpPr>
            <a:spLocks noChangeArrowheads="1"/>
          </p:cNvSpPr>
          <p:nvPr/>
        </p:nvSpPr>
        <p:spPr bwMode="auto">
          <a:xfrm>
            <a:off x="3567113" y="2680098"/>
            <a:ext cx="1509712" cy="377428"/>
          </a:xfrm>
          <a:prstGeom prst="rightArrow">
            <a:avLst>
              <a:gd name="adj1" fmla="val 50000"/>
              <a:gd name="adj2" fmla="val 75000"/>
            </a:avLst>
          </a:prstGeom>
          <a:solidFill>
            <a:schemeClr val="accent1"/>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400"/>
          </a:p>
        </p:txBody>
      </p:sp>
    </p:spTree>
    <p:extLst>
      <p:ext uri="{BB962C8B-B14F-4D97-AF65-F5344CB8AC3E}">
        <p14:creationId xmlns:p14="http://schemas.microsoft.com/office/powerpoint/2010/main" val="792868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07962" y="195486"/>
            <a:ext cx="7772400" cy="685800"/>
          </a:xfrm>
          <a:noFill/>
        </p:spPr>
        <p:txBody>
          <a:bodyPr lIns="92075" tIns="46038" rIns="92075" bIns="46038">
            <a:normAutofit/>
          </a:bodyPr>
          <a:lstStyle/>
          <a:p>
            <a:pPr eaLnBrk="1" hangingPunct="1"/>
            <a:r>
              <a:rPr lang="en-US" altLang="zh-CN" sz="3200" b="1" dirty="0"/>
              <a:t>4.</a:t>
            </a:r>
            <a:r>
              <a:rPr lang="zh-CN" altLang="en-US" sz="3200" b="1" dirty="0"/>
              <a:t>寄存器分配</a:t>
            </a:r>
          </a:p>
        </p:txBody>
      </p:sp>
      <p:sp>
        <p:nvSpPr>
          <p:cNvPr id="15363" name="Rectangle 3"/>
          <p:cNvSpPr>
            <a:spLocks noGrp="1" noChangeArrowheads="1"/>
          </p:cNvSpPr>
          <p:nvPr>
            <p:ph type="body" idx="1"/>
          </p:nvPr>
        </p:nvSpPr>
        <p:spPr>
          <a:xfrm>
            <a:off x="755651" y="951310"/>
            <a:ext cx="7561263" cy="1743471"/>
          </a:xfrm>
          <a:noFill/>
        </p:spPr>
        <p:txBody>
          <a:bodyPr lIns="92075" tIns="46038" rIns="92075" bIns="46038">
            <a:normAutofit/>
          </a:bodyPr>
          <a:lstStyle/>
          <a:p>
            <a:pPr eaLnBrk="1" hangingPunct="1"/>
            <a:r>
              <a:rPr lang="zh-CN" altLang="en-US" sz="2200" dirty="0"/>
              <a:t>利用寄存器放置运算对象的指令比运算对象在内存中的指令短些</a:t>
            </a:r>
          </a:p>
          <a:p>
            <a:pPr eaLnBrk="1" hangingPunct="1"/>
            <a:r>
              <a:rPr lang="zh-CN" altLang="en-US" sz="2200" dirty="0"/>
              <a:t>执行也快些</a:t>
            </a:r>
          </a:p>
          <a:p>
            <a:pPr eaLnBrk="1" hangingPunct="1"/>
            <a:r>
              <a:rPr lang="zh-CN" altLang="en-US" sz="2200" dirty="0"/>
              <a:t>充分利用寄存器对高质量的代码生成是重要的</a:t>
            </a:r>
          </a:p>
        </p:txBody>
      </p:sp>
      <p:sp>
        <p:nvSpPr>
          <p:cNvPr id="2" name="矩形 1"/>
          <p:cNvSpPr/>
          <p:nvPr/>
        </p:nvSpPr>
        <p:spPr>
          <a:xfrm>
            <a:off x="924000" y="2787774"/>
            <a:ext cx="7320408" cy="144655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2200" dirty="0"/>
              <a:t>寄存器使用的两个子问题</a:t>
            </a:r>
          </a:p>
          <a:p>
            <a:pPr lvl="1"/>
            <a:r>
              <a:rPr lang="zh-CN" altLang="en-US" sz="2200" dirty="0"/>
              <a:t>寄存器</a:t>
            </a:r>
            <a:r>
              <a:rPr lang="zh-CN" altLang="en-US" sz="2200" b="1" dirty="0">
                <a:solidFill>
                  <a:srgbClr val="FF0000"/>
                </a:solidFill>
              </a:rPr>
              <a:t>分配</a:t>
            </a:r>
            <a:r>
              <a:rPr lang="zh-CN" altLang="en-US" sz="2200" dirty="0"/>
              <a:t>：为程序的某一点选择驻留在寄存器中的一组变量</a:t>
            </a:r>
          </a:p>
          <a:p>
            <a:pPr lvl="1"/>
            <a:r>
              <a:rPr lang="zh-CN" altLang="en-US" sz="2200" dirty="0"/>
              <a:t>寄存器</a:t>
            </a:r>
            <a:r>
              <a:rPr lang="zh-CN" altLang="en-US" sz="2200" b="1" dirty="0">
                <a:solidFill>
                  <a:srgbClr val="FF0000"/>
                </a:solidFill>
              </a:rPr>
              <a:t>指派</a:t>
            </a:r>
            <a:r>
              <a:rPr lang="zh-CN" altLang="en-US" sz="2200" dirty="0"/>
              <a:t>：挑出变量将要驻留的具体寄存器</a:t>
            </a:r>
          </a:p>
        </p:txBody>
      </p:sp>
      <p:sp>
        <p:nvSpPr>
          <p:cNvPr id="4" name="文本框 3">
            <a:extLst>
              <a:ext uri="{FF2B5EF4-FFF2-40B4-BE49-F238E27FC236}">
                <a16:creationId xmlns:a16="http://schemas.microsoft.com/office/drawing/2014/main" id="{88957CFE-BD62-C18B-E51A-7ED6EAFBC0B0}"/>
              </a:ext>
            </a:extLst>
          </p:cNvPr>
          <p:cNvSpPr txBox="1"/>
          <p:nvPr/>
        </p:nvSpPr>
        <p:spPr>
          <a:xfrm>
            <a:off x="4139952" y="1419622"/>
            <a:ext cx="4104456" cy="646331"/>
          </a:xfrm>
          <a:prstGeom prst="rect">
            <a:avLst/>
          </a:prstGeom>
          <a:noFill/>
          <a:ln>
            <a:solidFill>
              <a:srgbClr val="3333FF"/>
            </a:solidFill>
          </a:ln>
        </p:spPr>
        <p:txBody>
          <a:bodyPr wrap="square">
            <a:spAutoFit/>
          </a:bodyPr>
          <a:lstStyle/>
          <a:p>
            <a:r>
              <a:rPr lang="zh-CN" altLang="en-US" sz="1800" dirty="0">
                <a:latin typeface="宋体" panose="02010600030101010101" pitchFamily="2" charset="-122"/>
                <a:ea typeface="宋体" panose="02010600030101010101" pitchFamily="2" charset="-122"/>
              </a:rPr>
              <a:t>取指令的时间短</a:t>
            </a:r>
            <a:endParaRPr lang="en-US" altLang="zh-CN" sz="1800" dirty="0">
              <a:latin typeface="宋体" panose="02010600030101010101" pitchFamily="2" charset="-122"/>
              <a:ea typeface="宋体" panose="02010600030101010101" pitchFamily="2" charset="-122"/>
            </a:endParaRPr>
          </a:p>
          <a:p>
            <a:r>
              <a:rPr lang="zh-CN" altLang="en-US" sz="1800" dirty="0">
                <a:latin typeface="宋体" panose="02010600030101010101" pitchFamily="2" charset="-122"/>
                <a:ea typeface="宋体" panose="02010600030101010101" pitchFamily="2" charset="-122"/>
              </a:rPr>
              <a:t>寄存器寻址，使得读取数据的时间也短</a:t>
            </a:r>
            <a:endParaRPr lang="zh-CN" altLang="en-US" dirty="0"/>
          </a:p>
        </p:txBody>
      </p:sp>
    </p:spTree>
    <p:extLst>
      <p:ext uri="{BB962C8B-B14F-4D97-AF65-F5344CB8AC3E}">
        <p14:creationId xmlns:p14="http://schemas.microsoft.com/office/powerpoint/2010/main" val="342807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07962" y="195486"/>
            <a:ext cx="7772400" cy="685800"/>
          </a:xfrm>
          <a:noFill/>
        </p:spPr>
        <p:txBody>
          <a:bodyPr lIns="92075" tIns="46038" rIns="92075" bIns="46038">
            <a:normAutofit/>
          </a:bodyPr>
          <a:lstStyle/>
          <a:p>
            <a:pPr eaLnBrk="1" hangingPunct="1"/>
            <a:r>
              <a:rPr lang="zh-CN" altLang="en-US" sz="3200" b="1" dirty="0"/>
              <a:t>寄存器分配</a:t>
            </a:r>
          </a:p>
        </p:txBody>
      </p:sp>
      <p:sp>
        <p:nvSpPr>
          <p:cNvPr id="15363" name="Rectangle 3"/>
          <p:cNvSpPr>
            <a:spLocks noGrp="1" noChangeArrowheads="1"/>
          </p:cNvSpPr>
          <p:nvPr>
            <p:ph type="body" idx="1"/>
          </p:nvPr>
        </p:nvSpPr>
        <p:spPr>
          <a:xfrm>
            <a:off x="755651" y="951310"/>
            <a:ext cx="7561263" cy="1743471"/>
          </a:xfrm>
          <a:noFill/>
        </p:spPr>
        <p:txBody>
          <a:bodyPr lIns="92075" tIns="46038" rIns="92075" bIns="46038">
            <a:normAutofit/>
          </a:bodyPr>
          <a:lstStyle/>
          <a:p>
            <a:pPr eaLnBrk="1" hangingPunct="1"/>
            <a:r>
              <a:rPr lang="zh-CN" altLang="en-US" sz="2200" dirty="0"/>
              <a:t>利用寄存器放置运算对象的指令比运算对象在内存中的指令短些</a:t>
            </a:r>
          </a:p>
          <a:p>
            <a:pPr eaLnBrk="1" hangingPunct="1"/>
            <a:r>
              <a:rPr lang="zh-CN" altLang="en-US" sz="2200" dirty="0"/>
              <a:t>执行也快些</a:t>
            </a:r>
          </a:p>
          <a:p>
            <a:pPr eaLnBrk="1" hangingPunct="1"/>
            <a:r>
              <a:rPr lang="zh-CN" altLang="en-US" sz="2200" dirty="0"/>
              <a:t>充分利用寄存器对高质量的代码生成是重要的</a:t>
            </a:r>
          </a:p>
        </p:txBody>
      </p:sp>
      <p:grpSp>
        <p:nvGrpSpPr>
          <p:cNvPr id="15364" name="Group 12"/>
          <p:cNvGrpSpPr>
            <a:grpSpLocks/>
          </p:cNvGrpSpPr>
          <p:nvPr/>
        </p:nvGrpSpPr>
        <p:grpSpPr bwMode="auto">
          <a:xfrm>
            <a:off x="1979613" y="2694782"/>
            <a:ext cx="5872162" cy="2071688"/>
            <a:chOff x="912" y="2256"/>
            <a:chExt cx="3699" cy="1740"/>
          </a:xfrm>
        </p:grpSpPr>
        <p:sp>
          <p:nvSpPr>
            <p:cNvPr id="15365" name="Text Box 4"/>
            <p:cNvSpPr txBox="1">
              <a:spLocks noChangeArrowheads="1"/>
            </p:cNvSpPr>
            <p:nvPr/>
          </p:nvSpPr>
          <p:spPr bwMode="auto">
            <a:xfrm>
              <a:off x="1477" y="2274"/>
              <a:ext cx="1026" cy="1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type="none" w="sm" len="sm"/>
                  <a:tailEnd type="none" w="lg" len="med"/>
                </a14:hiddenLine>
              </a:ext>
            </a:extLst>
          </p:spPr>
          <p:txBody>
            <a:bodyPr wrap="non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lnSpc>
                  <a:spcPct val="128000"/>
                </a:lnSpc>
                <a:spcBef>
                  <a:spcPts val="0"/>
                </a:spcBef>
                <a:buFontTx/>
                <a:buNone/>
              </a:pPr>
              <a:r>
                <a:rPr kumimoji="0" lang="zh-CN" altLang="en-US" sz="2000" b="1" dirty="0"/>
                <a:t>寄存器</a:t>
              </a:r>
            </a:p>
            <a:p>
              <a:pPr algn="ctr">
                <a:lnSpc>
                  <a:spcPct val="128000"/>
                </a:lnSpc>
                <a:spcBef>
                  <a:spcPts val="0"/>
                </a:spcBef>
                <a:buFontTx/>
                <a:buNone/>
              </a:pPr>
              <a:r>
                <a:rPr kumimoji="0" lang="zh-CN" altLang="en-US" sz="2000" b="1" dirty="0"/>
                <a:t>片内</a:t>
              </a:r>
              <a:r>
                <a:rPr kumimoji="0" lang="en-US" altLang="zh-CN" sz="2000" b="1" dirty="0"/>
                <a:t>CACHE</a:t>
              </a:r>
            </a:p>
            <a:p>
              <a:pPr algn="ctr">
                <a:lnSpc>
                  <a:spcPct val="128000"/>
                </a:lnSpc>
                <a:spcBef>
                  <a:spcPts val="0"/>
                </a:spcBef>
                <a:buFontTx/>
                <a:buNone/>
              </a:pPr>
              <a:r>
                <a:rPr kumimoji="0" lang="zh-CN" altLang="en-US" sz="2000" b="1" dirty="0"/>
                <a:t>片外</a:t>
              </a:r>
              <a:r>
                <a:rPr kumimoji="0" lang="en-US" altLang="zh-CN" sz="2000" b="1" dirty="0"/>
                <a:t>CACHE</a:t>
              </a:r>
            </a:p>
            <a:p>
              <a:pPr algn="ctr">
                <a:lnSpc>
                  <a:spcPct val="128000"/>
                </a:lnSpc>
                <a:spcBef>
                  <a:spcPts val="0"/>
                </a:spcBef>
                <a:buFontTx/>
                <a:buNone/>
              </a:pPr>
              <a:r>
                <a:rPr kumimoji="0" lang="zh-CN" altLang="en-US" sz="2000" b="1" dirty="0"/>
                <a:t>主存</a:t>
              </a:r>
            </a:p>
            <a:p>
              <a:pPr algn="ctr">
                <a:lnSpc>
                  <a:spcPct val="128000"/>
                </a:lnSpc>
                <a:spcBef>
                  <a:spcPts val="0"/>
                </a:spcBef>
                <a:buFontTx/>
                <a:buNone/>
              </a:pPr>
              <a:r>
                <a:rPr kumimoji="0" lang="zh-CN" altLang="en-US" sz="2000" b="1" dirty="0"/>
                <a:t>外存</a:t>
              </a:r>
            </a:p>
          </p:txBody>
        </p:sp>
        <p:sp>
          <p:nvSpPr>
            <p:cNvPr id="15366" name="Rectangle 5"/>
            <p:cNvSpPr>
              <a:spLocks noChangeArrowheads="1"/>
            </p:cNvSpPr>
            <p:nvPr/>
          </p:nvSpPr>
          <p:spPr bwMode="auto">
            <a:xfrm>
              <a:off x="1536" y="2256"/>
              <a:ext cx="912" cy="336"/>
            </a:xfrm>
            <a:prstGeom prst="rect">
              <a:avLst/>
            </a:prstGeom>
            <a:noFill/>
            <a:ln w="22225">
              <a:solidFill>
                <a:schemeClr val="tx1"/>
              </a:solidFill>
              <a:miter lim="800000"/>
              <a:headEnd type="none" w="sm" len="sm"/>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15367" name="Rectangle 6"/>
            <p:cNvSpPr>
              <a:spLocks noChangeArrowheads="1"/>
            </p:cNvSpPr>
            <p:nvPr/>
          </p:nvSpPr>
          <p:spPr bwMode="auto">
            <a:xfrm>
              <a:off x="1392" y="2592"/>
              <a:ext cx="1200" cy="336"/>
            </a:xfrm>
            <a:prstGeom prst="rect">
              <a:avLst/>
            </a:prstGeom>
            <a:noFill/>
            <a:ln w="22225">
              <a:solidFill>
                <a:schemeClr val="tx1"/>
              </a:solidFill>
              <a:miter lim="800000"/>
              <a:headEnd type="none" w="sm" len="sm"/>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15368" name="Rectangle 7"/>
            <p:cNvSpPr>
              <a:spLocks noChangeArrowheads="1"/>
            </p:cNvSpPr>
            <p:nvPr/>
          </p:nvSpPr>
          <p:spPr bwMode="auto">
            <a:xfrm>
              <a:off x="1296" y="2939"/>
              <a:ext cx="1392" cy="336"/>
            </a:xfrm>
            <a:prstGeom prst="rect">
              <a:avLst/>
            </a:prstGeom>
            <a:noFill/>
            <a:ln w="22225">
              <a:solidFill>
                <a:schemeClr val="tx1"/>
              </a:solidFill>
              <a:miter lim="800000"/>
              <a:headEnd type="none" w="sm" len="sm"/>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15369" name="Rectangle 8"/>
            <p:cNvSpPr>
              <a:spLocks noChangeArrowheads="1"/>
            </p:cNvSpPr>
            <p:nvPr/>
          </p:nvSpPr>
          <p:spPr bwMode="auto">
            <a:xfrm>
              <a:off x="1152" y="3264"/>
              <a:ext cx="1680" cy="336"/>
            </a:xfrm>
            <a:prstGeom prst="rect">
              <a:avLst/>
            </a:prstGeom>
            <a:noFill/>
            <a:ln w="22225">
              <a:solidFill>
                <a:schemeClr val="tx1"/>
              </a:solidFill>
              <a:miter lim="800000"/>
              <a:headEnd type="none" w="sm" len="sm"/>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15370" name="Rectangle 9"/>
            <p:cNvSpPr>
              <a:spLocks noChangeArrowheads="1"/>
            </p:cNvSpPr>
            <p:nvPr/>
          </p:nvSpPr>
          <p:spPr bwMode="auto">
            <a:xfrm>
              <a:off x="912" y="3604"/>
              <a:ext cx="2112" cy="384"/>
            </a:xfrm>
            <a:prstGeom prst="rect">
              <a:avLst/>
            </a:prstGeom>
            <a:noFill/>
            <a:ln w="22225">
              <a:solidFill>
                <a:schemeClr val="tx1"/>
              </a:solidFill>
              <a:miter lim="800000"/>
              <a:headEnd type="none" w="sm" len="sm"/>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sp>
          <p:nvSpPr>
            <p:cNvPr id="15371" name="Text Box 10"/>
            <p:cNvSpPr txBox="1">
              <a:spLocks noChangeArrowheads="1"/>
            </p:cNvSpPr>
            <p:nvPr/>
          </p:nvSpPr>
          <p:spPr bwMode="auto">
            <a:xfrm>
              <a:off x="3682" y="2387"/>
              <a:ext cx="929" cy="1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type="none" w="sm" len="sm"/>
                  <a:tailEnd type="none" w="lg" len="med"/>
                </a14:hiddenLine>
              </a:ext>
            </a:extLst>
          </p:spPr>
          <p:txBody>
            <a:bodyPr wrap="non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Aft>
                  <a:spcPct val="20000"/>
                </a:spcAft>
                <a:buFontTx/>
                <a:buNone/>
              </a:pPr>
              <a:r>
                <a:rPr kumimoji="0" lang="zh-CN" altLang="en-US" sz="2000" b="1"/>
                <a:t>寄存器优化</a:t>
              </a:r>
            </a:p>
            <a:p>
              <a:pPr algn="ctr">
                <a:spcAft>
                  <a:spcPct val="20000"/>
                </a:spcAft>
                <a:buFontTx/>
                <a:buNone/>
              </a:pPr>
              <a:endParaRPr kumimoji="0" lang="zh-CN" altLang="en-US" sz="2000" b="1"/>
            </a:p>
            <a:p>
              <a:pPr algn="ctr">
                <a:spcAft>
                  <a:spcPct val="20000"/>
                </a:spcAft>
                <a:buFontTx/>
                <a:buNone/>
              </a:pPr>
              <a:r>
                <a:rPr kumimoji="0" lang="zh-CN" altLang="en-US" sz="2000" b="1"/>
                <a:t>局部性优化</a:t>
              </a:r>
            </a:p>
            <a:p>
              <a:pPr algn="ctr">
                <a:spcAft>
                  <a:spcPct val="20000"/>
                </a:spcAft>
                <a:buFontTx/>
                <a:buNone/>
              </a:pPr>
              <a:endParaRPr kumimoji="0" lang="en-US" altLang="zh-CN" sz="2000" b="1"/>
            </a:p>
          </p:txBody>
        </p:sp>
        <p:sp>
          <p:nvSpPr>
            <p:cNvPr id="15372" name="AutoShape 11"/>
            <p:cNvSpPr>
              <a:spLocks/>
            </p:cNvSpPr>
            <p:nvPr/>
          </p:nvSpPr>
          <p:spPr bwMode="auto">
            <a:xfrm>
              <a:off x="3360" y="2688"/>
              <a:ext cx="144" cy="1152"/>
            </a:xfrm>
            <a:prstGeom prst="rightBrace">
              <a:avLst>
                <a:gd name="adj1" fmla="val 66667"/>
                <a:gd name="adj2" fmla="val 50000"/>
              </a:avLst>
            </a:prstGeom>
            <a:noFill/>
            <a:ln w="22225">
              <a:solidFill>
                <a:schemeClr val="tx1"/>
              </a:solidFill>
              <a:round/>
              <a:headEnd type="none" w="sm" len="sm"/>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000"/>
            </a:p>
          </p:txBody>
        </p:sp>
      </p:grpSp>
    </p:spTree>
    <p:extLst>
      <p:ext uri="{BB962C8B-B14F-4D97-AF65-F5344CB8AC3E}">
        <p14:creationId xmlns:p14="http://schemas.microsoft.com/office/powerpoint/2010/main" val="3134801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79512" y="85750"/>
            <a:ext cx="7772400" cy="685800"/>
          </a:xfrm>
          <a:noFill/>
        </p:spPr>
        <p:txBody>
          <a:bodyPr lIns="92075" tIns="46038" rIns="92075" bIns="46038">
            <a:normAutofit/>
          </a:bodyPr>
          <a:lstStyle/>
          <a:p>
            <a:pPr eaLnBrk="1" hangingPunct="1"/>
            <a:r>
              <a:rPr lang="en-US" altLang="zh-CN" sz="3200" b="1" dirty="0"/>
              <a:t>5.</a:t>
            </a:r>
            <a:r>
              <a:rPr lang="zh-CN" altLang="en-US" sz="3200" b="1" dirty="0"/>
              <a:t>计算次序选择</a:t>
            </a:r>
          </a:p>
        </p:txBody>
      </p:sp>
      <p:sp>
        <p:nvSpPr>
          <p:cNvPr id="17411" name="Rectangle 3"/>
          <p:cNvSpPr>
            <a:spLocks noGrp="1" noChangeArrowheads="1"/>
          </p:cNvSpPr>
          <p:nvPr>
            <p:ph type="body" idx="1"/>
          </p:nvPr>
        </p:nvSpPr>
        <p:spPr>
          <a:xfrm>
            <a:off x="539552" y="915566"/>
            <a:ext cx="5688632" cy="2808312"/>
          </a:xfrm>
          <a:noFill/>
        </p:spPr>
        <p:txBody>
          <a:bodyPr lIns="92075" tIns="46038" rIns="92075" bIns="46038">
            <a:normAutofit/>
          </a:bodyPr>
          <a:lstStyle/>
          <a:p>
            <a:pPr marL="495300" indent="-495300" eaLnBrk="1" hangingPunct="1"/>
            <a:r>
              <a:rPr lang="zh-CN" altLang="en-US" sz="2200" dirty="0"/>
              <a:t>计算执行的次序会影响目标代码的效率</a:t>
            </a:r>
          </a:p>
          <a:p>
            <a:pPr marL="914400" lvl="1" indent="-457200" eaLnBrk="1" hangingPunct="1"/>
            <a:r>
              <a:rPr lang="zh-CN" altLang="en-US" dirty="0"/>
              <a:t>选择最佳次序是一个</a:t>
            </a:r>
            <a:r>
              <a:rPr lang="en-US" altLang="zh-CN" dirty="0"/>
              <a:t>NP</a:t>
            </a:r>
            <a:r>
              <a:rPr lang="zh-CN" altLang="en-US" dirty="0"/>
              <a:t>完全问题</a:t>
            </a:r>
          </a:p>
          <a:p>
            <a:pPr marL="914400" lvl="1" indent="-457200" eaLnBrk="1" hangingPunct="1">
              <a:buFontTx/>
              <a:buNone/>
            </a:pPr>
            <a:r>
              <a:rPr lang="zh-CN" altLang="en-US" dirty="0"/>
              <a:t>	</a:t>
            </a:r>
            <a:r>
              <a:rPr lang="zh-CN" altLang="en-US" dirty="0">
                <a:solidFill>
                  <a:srgbClr val="FF0000"/>
                </a:solidFill>
              </a:rPr>
              <a:t>（</a:t>
            </a:r>
            <a:r>
              <a:rPr lang="en-US" altLang="zh-CN" dirty="0">
                <a:solidFill>
                  <a:srgbClr val="FF0000"/>
                </a:solidFill>
              </a:rPr>
              <a:t>a+R0</a:t>
            </a:r>
            <a:r>
              <a:rPr lang="zh-CN" altLang="en-US" dirty="0">
                <a:solidFill>
                  <a:srgbClr val="FF0000"/>
                </a:solidFill>
              </a:rPr>
              <a:t>）</a:t>
            </a:r>
            <a:r>
              <a:rPr lang="en-US" altLang="zh-CN" dirty="0">
                <a:solidFill>
                  <a:srgbClr val="FF0000"/>
                </a:solidFill>
              </a:rPr>
              <a:t>+</a:t>
            </a:r>
            <a:r>
              <a:rPr lang="zh-CN" altLang="en-US" dirty="0">
                <a:solidFill>
                  <a:srgbClr val="FF0000"/>
                </a:solidFill>
              </a:rPr>
              <a:t>（</a:t>
            </a:r>
            <a:r>
              <a:rPr lang="en-US" altLang="zh-CN" dirty="0">
                <a:solidFill>
                  <a:srgbClr val="FF0000"/>
                </a:solidFill>
              </a:rPr>
              <a:t>R2 </a:t>
            </a:r>
            <a:r>
              <a:rPr lang="zh-CN" altLang="en-US" dirty="0">
                <a:solidFill>
                  <a:srgbClr val="FF0000"/>
                </a:solidFill>
              </a:rPr>
              <a:t>* </a:t>
            </a:r>
            <a:r>
              <a:rPr lang="en-US" altLang="zh-CN" dirty="0">
                <a:solidFill>
                  <a:srgbClr val="FF0000"/>
                </a:solidFill>
              </a:rPr>
              <a:t>R3</a:t>
            </a:r>
            <a:r>
              <a:rPr lang="zh-CN" altLang="en-US" dirty="0">
                <a:solidFill>
                  <a:srgbClr val="FF0000"/>
                </a:solidFill>
              </a:rPr>
              <a:t>）</a:t>
            </a:r>
          </a:p>
          <a:p>
            <a:pPr marL="914400" lvl="1" indent="-457200" eaLnBrk="1" hangingPunct="1">
              <a:buFontTx/>
              <a:buNone/>
            </a:pPr>
            <a:r>
              <a:rPr lang="zh-CN" altLang="en-US" dirty="0"/>
              <a:t>	</a:t>
            </a:r>
            <a:r>
              <a:rPr lang="en-US" altLang="zh-CN" dirty="0"/>
              <a:t>MOV R1 , A	       MOV R1 , A</a:t>
            </a:r>
          </a:p>
          <a:p>
            <a:pPr marL="914400" lvl="1" indent="-457200" eaLnBrk="1" hangingPunct="1">
              <a:buFontTx/>
              <a:buNone/>
            </a:pPr>
            <a:r>
              <a:rPr lang="en-US" altLang="zh-CN" dirty="0"/>
              <a:t>	ADD  R1 , R0		MUL R2 , R3</a:t>
            </a:r>
          </a:p>
          <a:p>
            <a:pPr marL="914400" lvl="1" indent="-457200" eaLnBrk="1" hangingPunct="1">
              <a:buFontTx/>
              <a:buNone/>
            </a:pPr>
            <a:r>
              <a:rPr lang="en-US" altLang="zh-CN" dirty="0"/>
              <a:t>	MUL  R2 , R3  	ADD R1 , R0</a:t>
            </a:r>
          </a:p>
          <a:p>
            <a:pPr marL="914400" lvl="1" indent="-457200" eaLnBrk="1" hangingPunct="1">
              <a:buFontTx/>
              <a:buNone/>
            </a:pPr>
            <a:r>
              <a:rPr lang="en-US" altLang="zh-CN" dirty="0"/>
              <a:t>	ADD  R1 , R2		ADD R1 , R2</a:t>
            </a:r>
          </a:p>
        </p:txBody>
      </p:sp>
      <p:sp>
        <p:nvSpPr>
          <p:cNvPr id="2" name="矩形 1"/>
          <p:cNvSpPr/>
          <p:nvPr/>
        </p:nvSpPr>
        <p:spPr>
          <a:xfrm>
            <a:off x="827584" y="3867894"/>
            <a:ext cx="5112568" cy="769441"/>
          </a:xfrm>
          <a:prstGeom prst="rect">
            <a:avLst/>
          </a:prstGeom>
        </p:spPr>
        <p:txBody>
          <a:bodyPr wrap="square">
            <a:spAutoFit/>
          </a:bodyPr>
          <a:lstStyle/>
          <a:p>
            <a:pPr marL="285750" indent="-285750">
              <a:buFont typeface="Arial" panose="020B0604020202020204" pitchFamily="34" charset="0"/>
              <a:buChar char="•"/>
            </a:pPr>
            <a:r>
              <a:rPr lang="zh-CN" altLang="zh-CN" sz="2200" dirty="0"/>
              <a:t>刚刚计算出来的结果存放在寄存器中，后面一个运算刚好使用这个结果</a:t>
            </a:r>
            <a:endParaRPr lang="zh-CN" altLang="en-US" sz="2200" dirty="0"/>
          </a:p>
        </p:txBody>
      </p:sp>
      <p:sp>
        <p:nvSpPr>
          <p:cNvPr id="5" name="Text Box 4"/>
          <p:cNvSpPr txBox="1">
            <a:spLocks noChangeArrowheads="1"/>
          </p:cNvSpPr>
          <p:nvPr/>
        </p:nvSpPr>
        <p:spPr bwMode="auto">
          <a:xfrm>
            <a:off x="6588224" y="555526"/>
            <a:ext cx="2263775" cy="830997"/>
          </a:xfrm>
          <a:prstGeom prst="rect">
            <a:avLst/>
          </a:prstGeom>
          <a:solidFill>
            <a:schemeClr val="bg1"/>
          </a:solidFill>
          <a:ln w="28575">
            <a:solidFill>
              <a:srgbClr val="00FF00"/>
            </a:solidFill>
            <a:miter lim="800000"/>
            <a:headEnd/>
            <a:tailEnd/>
          </a:ln>
        </p:spPr>
        <p:txBody>
          <a:bodyPr>
            <a:spAutoFit/>
          </a:bodyPr>
          <a:lstStyle>
            <a:lvl1pPr marL="342900" indent="-342900">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indent="-555625">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lvl="2" eaLnBrk="1" hangingPunct="1">
              <a:spcBef>
                <a:spcPct val="0"/>
              </a:spcBef>
              <a:buFontTx/>
              <a:buNone/>
            </a:pPr>
            <a:r>
              <a:rPr lang="en-US" altLang="zh-CN" b="1" dirty="0"/>
              <a:t>a = b + c</a:t>
            </a:r>
          </a:p>
          <a:p>
            <a:pPr lvl="2" eaLnBrk="1" hangingPunct="1">
              <a:spcBef>
                <a:spcPct val="0"/>
              </a:spcBef>
              <a:buFontTx/>
              <a:buNone/>
            </a:pPr>
            <a:r>
              <a:rPr lang="en-US" altLang="zh-CN" b="1" dirty="0"/>
              <a:t>d = a + e</a:t>
            </a:r>
            <a:endParaRPr lang="en-US" altLang="zh-CN" dirty="0"/>
          </a:p>
        </p:txBody>
      </p:sp>
      <p:sp>
        <p:nvSpPr>
          <p:cNvPr id="6" name="Text Box 5"/>
          <p:cNvSpPr txBox="1">
            <a:spLocks noChangeArrowheads="1"/>
          </p:cNvSpPr>
          <p:nvPr/>
        </p:nvSpPr>
        <p:spPr bwMode="auto">
          <a:xfrm>
            <a:off x="6836097" y="2499742"/>
            <a:ext cx="2015902" cy="2308324"/>
          </a:xfrm>
          <a:prstGeom prst="rect">
            <a:avLst/>
          </a:prstGeom>
          <a:solidFill>
            <a:schemeClr val="bg1"/>
          </a:solidFill>
          <a:ln w="28575">
            <a:solidFill>
              <a:srgbClr val="00FF00"/>
            </a:solidFill>
            <a:miter lim="800000"/>
            <a:headEnd/>
            <a:tailEnd/>
          </a:ln>
        </p:spPr>
        <p:txBody>
          <a:bodyPr wrap="square">
            <a:spAutoFit/>
          </a:bodyPr>
          <a:lstStyle>
            <a:lvl1pPr marL="342900" indent="-342900">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lvl="2" indent="-914400" eaLnBrk="1" hangingPunct="1">
              <a:spcBef>
                <a:spcPct val="0"/>
              </a:spcBef>
              <a:buFontTx/>
              <a:buNone/>
            </a:pPr>
            <a:r>
              <a:rPr lang="en-US" altLang="zh-CN" b="1" dirty="0"/>
              <a:t>MOV	</a:t>
            </a:r>
            <a:r>
              <a:rPr lang="en-US" altLang="zh-CN" b="1" dirty="0" err="1"/>
              <a:t>AX,b</a:t>
            </a:r>
            <a:endParaRPr lang="en-US" altLang="zh-CN" b="1" dirty="0"/>
          </a:p>
          <a:p>
            <a:pPr lvl="2" indent="-914400" eaLnBrk="1" hangingPunct="1">
              <a:spcBef>
                <a:spcPct val="0"/>
              </a:spcBef>
              <a:buFontTx/>
              <a:buNone/>
            </a:pPr>
            <a:r>
              <a:rPr lang="en-US" altLang="zh-CN" b="1" dirty="0"/>
              <a:t>ADD	</a:t>
            </a:r>
            <a:r>
              <a:rPr lang="en-US" altLang="zh-CN" b="1" dirty="0" err="1"/>
              <a:t>AX,c</a:t>
            </a:r>
            <a:endParaRPr lang="en-US" altLang="zh-CN" b="1" dirty="0"/>
          </a:p>
          <a:p>
            <a:pPr lvl="2" indent="-914400" eaLnBrk="1" hangingPunct="1">
              <a:spcBef>
                <a:spcPct val="0"/>
              </a:spcBef>
              <a:buFontTx/>
              <a:buNone/>
            </a:pPr>
            <a:r>
              <a:rPr lang="en-US" altLang="zh-CN" b="1" dirty="0"/>
              <a:t>MOV	</a:t>
            </a:r>
            <a:r>
              <a:rPr lang="en-US" altLang="zh-CN" b="1" dirty="0" err="1"/>
              <a:t>a,AX</a:t>
            </a:r>
            <a:endParaRPr lang="en-US" altLang="zh-CN" b="1" dirty="0"/>
          </a:p>
          <a:p>
            <a:pPr lvl="2" indent="-914400" eaLnBrk="1" hangingPunct="1">
              <a:spcBef>
                <a:spcPct val="0"/>
              </a:spcBef>
              <a:buFontTx/>
              <a:buNone/>
            </a:pPr>
            <a:r>
              <a:rPr lang="en-US" altLang="zh-CN" b="1" dirty="0">
                <a:solidFill>
                  <a:srgbClr val="063DE8"/>
                </a:solidFill>
              </a:rPr>
              <a:t>MOV	</a:t>
            </a:r>
            <a:r>
              <a:rPr lang="en-US" altLang="zh-CN" b="1" dirty="0" err="1">
                <a:solidFill>
                  <a:srgbClr val="063DE8"/>
                </a:solidFill>
              </a:rPr>
              <a:t>AX,a</a:t>
            </a:r>
            <a:r>
              <a:rPr lang="en-US" altLang="zh-CN" b="1" dirty="0">
                <a:solidFill>
                  <a:srgbClr val="063DE8"/>
                </a:solidFill>
              </a:rPr>
              <a:t> </a:t>
            </a:r>
          </a:p>
          <a:p>
            <a:pPr lvl="2" indent="-914400" eaLnBrk="1" hangingPunct="1">
              <a:spcBef>
                <a:spcPct val="0"/>
              </a:spcBef>
              <a:buFontTx/>
              <a:buNone/>
            </a:pPr>
            <a:r>
              <a:rPr lang="en-US" altLang="zh-CN" b="1" dirty="0"/>
              <a:t>ADD	</a:t>
            </a:r>
            <a:r>
              <a:rPr lang="en-US" altLang="zh-CN" b="1" dirty="0" err="1"/>
              <a:t>AX,e</a:t>
            </a:r>
            <a:endParaRPr lang="en-US" altLang="zh-CN" b="1" dirty="0"/>
          </a:p>
          <a:p>
            <a:pPr lvl="2" indent="-914400" eaLnBrk="1" hangingPunct="1">
              <a:spcBef>
                <a:spcPct val="0"/>
              </a:spcBef>
              <a:buFontTx/>
              <a:buNone/>
            </a:pPr>
            <a:r>
              <a:rPr lang="en-US" altLang="zh-CN" b="1" dirty="0"/>
              <a:t>MOV	</a:t>
            </a:r>
            <a:r>
              <a:rPr lang="en-US" altLang="zh-CN" b="1" dirty="0" err="1"/>
              <a:t>d,AX</a:t>
            </a:r>
            <a:endParaRPr lang="en-US" altLang="zh-CN" b="1" dirty="0"/>
          </a:p>
        </p:txBody>
      </p:sp>
      <p:sp>
        <p:nvSpPr>
          <p:cNvPr id="7" name="AutoShape 7"/>
          <p:cNvSpPr>
            <a:spLocks noChangeArrowheads="1"/>
          </p:cNvSpPr>
          <p:nvPr/>
        </p:nvSpPr>
        <p:spPr bwMode="auto">
          <a:xfrm rot="5400000">
            <a:off x="7178359" y="1769277"/>
            <a:ext cx="1083503" cy="377428"/>
          </a:xfrm>
          <a:prstGeom prst="rightArrow">
            <a:avLst>
              <a:gd name="adj1" fmla="val 50000"/>
              <a:gd name="adj2" fmla="val 75000"/>
            </a:avLst>
          </a:prstGeom>
          <a:solidFill>
            <a:schemeClr val="accent1"/>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400"/>
          </a:p>
        </p:txBody>
      </p:sp>
    </p:spTree>
    <p:extLst>
      <p:ext uri="{BB962C8B-B14F-4D97-AF65-F5344CB8AC3E}">
        <p14:creationId xmlns:p14="http://schemas.microsoft.com/office/powerpoint/2010/main" val="2552487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79512" y="-26151"/>
            <a:ext cx="5472608" cy="648072"/>
          </a:xfrm>
          <a:noFill/>
        </p:spPr>
        <p:txBody>
          <a:bodyPr lIns="92075" tIns="46038" rIns="92075" bIns="46038">
            <a:normAutofit/>
          </a:bodyPr>
          <a:lstStyle/>
          <a:p>
            <a:pPr eaLnBrk="1" hangingPunct="1"/>
            <a:r>
              <a:rPr lang="en-US" altLang="zh-CN" sz="3200" b="1" dirty="0"/>
              <a:t>6.</a:t>
            </a:r>
            <a:r>
              <a:rPr lang="zh-CN" altLang="en-US" sz="3200" b="1" dirty="0"/>
              <a:t>存储管理及地址计算</a:t>
            </a:r>
          </a:p>
        </p:txBody>
      </p:sp>
      <p:sp>
        <p:nvSpPr>
          <p:cNvPr id="10243" name="Rectangle 3"/>
          <p:cNvSpPr>
            <a:spLocks noGrp="1" noChangeArrowheads="1"/>
          </p:cNvSpPr>
          <p:nvPr>
            <p:ph type="body" idx="1"/>
          </p:nvPr>
        </p:nvSpPr>
        <p:spPr>
          <a:xfrm>
            <a:off x="251520" y="843558"/>
            <a:ext cx="6336704" cy="3816424"/>
          </a:xfrm>
          <a:solidFill>
            <a:schemeClr val="bg1"/>
          </a:solidFill>
        </p:spPr>
        <p:txBody>
          <a:bodyPr lIns="92075" tIns="46038" rIns="92075" bIns="46038">
            <a:noAutofit/>
          </a:bodyPr>
          <a:lstStyle/>
          <a:p>
            <a:pPr>
              <a:spcBef>
                <a:spcPct val="0"/>
              </a:spcBef>
            </a:pPr>
            <a:r>
              <a:rPr lang="zh-CN" altLang="zh-CN" sz="2000" dirty="0"/>
              <a:t>程序运行时数据和代码都要放入内存中</a:t>
            </a:r>
            <a:endParaRPr lang="en-US" altLang="zh-CN" sz="2000" dirty="0"/>
          </a:p>
          <a:p>
            <a:pPr>
              <a:spcBef>
                <a:spcPct val="0"/>
              </a:spcBef>
            </a:pPr>
            <a:r>
              <a:rPr lang="zh-CN" altLang="en-US" sz="2000" dirty="0"/>
              <a:t>语言中函数的语义决定了运行时刻名字如何与存储空间相联系</a:t>
            </a:r>
          </a:p>
          <a:p>
            <a:pPr lvl="1" eaLnBrk="1" hangingPunct="1">
              <a:spcBef>
                <a:spcPct val="0"/>
              </a:spcBef>
            </a:pPr>
            <a:r>
              <a:rPr lang="zh-CN" altLang="en-US" sz="2000" dirty="0">
                <a:solidFill>
                  <a:srgbClr val="FF0000"/>
                </a:solidFill>
              </a:rPr>
              <a:t>对名字的引用通过符号表</a:t>
            </a:r>
          </a:p>
          <a:p>
            <a:pPr lvl="2" eaLnBrk="1" hangingPunct="1">
              <a:spcBef>
                <a:spcPct val="0"/>
              </a:spcBef>
            </a:pPr>
            <a:r>
              <a:rPr lang="zh-CN" altLang="en-US" dirty="0"/>
              <a:t>记录了名字在过程数据区的相对地址</a:t>
            </a:r>
          </a:p>
          <a:p>
            <a:pPr lvl="2" eaLnBrk="1" hangingPunct="1">
              <a:spcBef>
                <a:spcPct val="0"/>
              </a:spcBef>
            </a:pPr>
            <a:r>
              <a:rPr lang="zh-CN" altLang="en-US" dirty="0"/>
              <a:t>所需要的存储空间</a:t>
            </a:r>
          </a:p>
          <a:p>
            <a:pPr lvl="1" eaLnBrk="1" hangingPunct="1">
              <a:spcBef>
                <a:spcPct val="0"/>
              </a:spcBef>
            </a:pPr>
            <a:r>
              <a:rPr lang="zh-CN" altLang="en-US" sz="2000" dirty="0">
                <a:solidFill>
                  <a:srgbClr val="FF0000"/>
                </a:solidFill>
              </a:rPr>
              <a:t>运行时活动记录的管理</a:t>
            </a:r>
          </a:p>
          <a:p>
            <a:pPr lvl="2" eaLnBrk="1" hangingPunct="1">
              <a:spcBef>
                <a:spcPct val="0"/>
              </a:spcBef>
            </a:pPr>
            <a:r>
              <a:rPr lang="zh-CN" altLang="en-US" dirty="0"/>
              <a:t>运行时活动记录的分配和释放作为过程调用和返回序列的一部分</a:t>
            </a:r>
          </a:p>
          <a:p>
            <a:pPr lvl="3" eaLnBrk="1" hangingPunct="1">
              <a:spcBef>
                <a:spcPct val="0"/>
              </a:spcBef>
            </a:pPr>
            <a:r>
              <a:rPr lang="en-US" altLang="zh-CN" dirty="0"/>
              <a:t>call</a:t>
            </a:r>
            <a:r>
              <a:rPr lang="zh-CN" altLang="en-US" dirty="0"/>
              <a:t>（调用），</a:t>
            </a:r>
            <a:r>
              <a:rPr lang="en-US" altLang="zh-CN" dirty="0"/>
              <a:t>return</a:t>
            </a:r>
            <a:r>
              <a:rPr lang="zh-CN" altLang="en-US" dirty="0"/>
              <a:t>（返回）</a:t>
            </a:r>
          </a:p>
          <a:p>
            <a:pPr lvl="3" eaLnBrk="1" hangingPunct="1">
              <a:spcBef>
                <a:spcPct val="0"/>
              </a:spcBef>
            </a:pPr>
            <a:r>
              <a:rPr lang="en-US" altLang="zh-CN" dirty="0"/>
              <a:t>halt</a:t>
            </a:r>
            <a:r>
              <a:rPr lang="zh-CN" altLang="en-US" dirty="0"/>
              <a:t>（暂停），其它语句</a:t>
            </a:r>
          </a:p>
          <a:p>
            <a:pPr lvl="1" eaLnBrk="1" hangingPunct="1">
              <a:spcBef>
                <a:spcPct val="0"/>
              </a:spcBef>
            </a:pPr>
            <a:r>
              <a:rPr lang="zh-CN" altLang="en-US" sz="2000" dirty="0"/>
              <a:t>存储管理分静态、栈式和堆式存储分配</a:t>
            </a:r>
          </a:p>
        </p:txBody>
      </p:sp>
      <p:grpSp>
        <p:nvGrpSpPr>
          <p:cNvPr id="19" name="组合 18"/>
          <p:cNvGrpSpPr/>
          <p:nvPr/>
        </p:nvGrpSpPr>
        <p:grpSpPr>
          <a:xfrm>
            <a:off x="6948264" y="627534"/>
            <a:ext cx="1800200" cy="4110362"/>
            <a:chOff x="6824364" y="339502"/>
            <a:chExt cx="1800200" cy="4110362"/>
          </a:xfrm>
        </p:grpSpPr>
        <p:sp>
          <p:nvSpPr>
            <p:cNvPr id="2" name="矩形 1"/>
            <p:cNvSpPr/>
            <p:nvPr/>
          </p:nvSpPr>
          <p:spPr>
            <a:xfrm>
              <a:off x="6824364" y="339502"/>
              <a:ext cx="1800200" cy="86409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代码段</a:t>
              </a:r>
            </a:p>
          </p:txBody>
        </p:sp>
        <p:sp>
          <p:nvSpPr>
            <p:cNvPr id="5" name="矩形 4"/>
            <p:cNvSpPr/>
            <p:nvPr/>
          </p:nvSpPr>
          <p:spPr>
            <a:xfrm>
              <a:off x="6824364" y="1347615"/>
              <a:ext cx="1800200" cy="7920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solidFill>
                  <a:schemeClr val="tx1"/>
                </a:solidFill>
              </a:endParaRPr>
            </a:p>
            <a:p>
              <a:pPr algn="ctr"/>
              <a:r>
                <a:rPr lang="zh-CN" altLang="en-US" dirty="0">
                  <a:solidFill>
                    <a:schemeClr val="tx1"/>
                  </a:solidFill>
                </a:rPr>
                <a:t>数据段</a:t>
              </a:r>
            </a:p>
          </p:txBody>
        </p:sp>
        <p:cxnSp>
          <p:nvCxnSpPr>
            <p:cNvPr id="4" name="直接连接符 3"/>
            <p:cNvCxnSpPr/>
            <p:nvPr/>
          </p:nvCxnSpPr>
          <p:spPr>
            <a:xfrm>
              <a:off x="6824364" y="915566"/>
              <a:ext cx="18002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824364" y="1625359"/>
              <a:ext cx="18002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824364" y="3219822"/>
              <a:ext cx="18002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824364" y="2283718"/>
              <a:ext cx="1800200" cy="12961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堆栈段</a:t>
              </a:r>
            </a:p>
          </p:txBody>
        </p:sp>
        <p:cxnSp>
          <p:nvCxnSpPr>
            <p:cNvPr id="11" name="直接连接符 10"/>
            <p:cNvCxnSpPr/>
            <p:nvPr/>
          </p:nvCxnSpPr>
          <p:spPr>
            <a:xfrm>
              <a:off x="6824364" y="4011910"/>
              <a:ext cx="18002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6824364" y="3729785"/>
              <a:ext cx="1800200" cy="7200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solidFill>
                  <a:schemeClr val="tx1"/>
                </a:solidFill>
              </a:endParaRPr>
            </a:p>
            <a:p>
              <a:pPr algn="ctr"/>
              <a:r>
                <a:rPr lang="zh-CN" altLang="en-US" dirty="0">
                  <a:solidFill>
                    <a:schemeClr val="tx1"/>
                  </a:solidFill>
                </a:rPr>
                <a:t>扩展段</a:t>
              </a:r>
            </a:p>
          </p:txBody>
        </p:sp>
      </p:grpSp>
      <p:sp>
        <p:nvSpPr>
          <p:cNvPr id="20" name="矩形 19"/>
          <p:cNvSpPr/>
          <p:nvPr/>
        </p:nvSpPr>
        <p:spPr>
          <a:xfrm>
            <a:off x="6660232" y="51470"/>
            <a:ext cx="2339102" cy="461665"/>
          </a:xfrm>
          <a:prstGeom prst="rect">
            <a:avLst/>
          </a:prstGeom>
        </p:spPr>
        <p:txBody>
          <a:bodyPr wrap="none">
            <a:spAutoFit/>
          </a:bodyPr>
          <a:lstStyle/>
          <a:p>
            <a:r>
              <a:rPr lang="zh-CN" altLang="en-US" sz="2400" dirty="0">
                <a:solidFill>
                  <a:srgbClr val="FF0000"/>
                </a:solidFill>
              </a:rPr>
              <a:t>与</a:t>
            </a:r>
            <a:r>
              <a:rPr lang="zh-CN" altLang="zh-CN" sz="2400" dirty="0">
                <a:solidFill>
                  <a:srgbClr val="FF0000"/>
                </a:solidFill>
              </a:rPr>
              <a:t>目标机器</a:t>
            </a:r>
            <a:r>
              <a:rPr lang="zh-CN" altLang="en-US" sz="2400" dirty="0">
                <a:solidFill>
                  <a:srgbClr val="FF0000"/>
                </a:solidFill>
              </a:rPr>
              <a:t>相关</a:t>
            </a:r>
          </a:p>
        </p:txBody>
      </p:sp>
    </p:spTree>
    <p:extLst>
      <p:ext uri="{BB962C8B-B14F-4D97-AF65-F5344CB8AC3E}">
        <p14:creationId xmlns:p14="http://schemas.microsoft.com/office/powerpoint/2010/main" val="2160927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77801" y="7100"/>
            <a:ext cx="7772400" cy="685800"/>
          </a:xfrm>
          <a:noFill/>
        </p:spPr>
        <p:txBody>
          <a:bodyPr lIns="92075" tIns="46038" rIns="92075" bIns="46038">
            <a:normAutofit/>
          </a:bodyPr>
          <a:lstStyle/>
          <a:p>
            <a:pPr eaLnBrk="1" hangingPunct="1"/>
            <a:r>
              <a:rPr lang="zh-CN" altLang="en-US" sz="3200" b="1" dirty="0"/>
              <a:t>一个代码生成器的输入</a:t>
            </a:r>
          </a:p>
        </p:txBody>
      </p:sp>
      <p:sp>
        <p:nvSpPr>
          <p:cNvPr id="11267" name="Rectangle 3"/>
          <p:cNvSpPr>
            <a:spLocks noGrp="1" noChangeArrowheads="1"/>
          </p:cNvSpPr>
          <p:nvPr>
            <p:ph type="body" idx="1"/>
          </p:nvPr>
        </p:nvSpPr>
        <p:spPr>
          <a:xfrm>
            <a:off x="755650" y="731540"/>
            <a:ext cx="7696200" cy="400050"/>
          </a:xfrm>
          <a:noFill/>
        </p:spPr>
        <p:txBody>
          <a:bodyPr lIns="92075" tIns="46038" rIns="92075" bIns="46038">
            <a:normAutofit fontScale="70000" lnSpcReduction="20000"/>
          </a:bodyPr>
          <a:lstStyle/>
          <a:p>
            <a:pPr eaLnBrk="1" hangingPunct="1">
              <a:buFontTx/>
              <a:buNone/>
            </a:pPr>
            <a:r>
              <a:rPr lang="zh-CN" altLang="en-US" sz="2600" dirty="0"/>
              <a:t>其中，</a:t>
            </a:r>
            <a:r>
              <a:rPr lang="en-US" altLang="zh-CN" sz="2600" dirty="0" err="1"/>
              <a:t>arr</a:t>
            </a:r>
            <a:r>
              <a:rPr lang="zh-CN" altLang="en-US" sz="2600" dirty="0"/>
              <a:t>，</a:t>
            </a:r>
            <a:r>
              <a:rPr lang="en-US" altLang="zh-CN" sz="2600" dirty="0" err="1"/>
              <a:t>i</a:t>
            </a:r>
            <a:r>
              <a:rPr lang="zh-CN" altLang="en-US" sz="2600" dirty="0"/>
              <a:t>，</a:t>
            </a:r>
            <a:r>
              <a:rPr lang="en-US" altLang="zh-CN" sz="2600" dirty="0"/>
              <a:t>j</a:t>
            </a:r>
            <a:r>
              <a:rPr lang="zh-CN" altLang="en-US" sz="2600" dirty="0"/>
              <a:t>是过程</a:t>
            </a:r>
            <a:r>
              <a:rPr lang="en-US" altLang="zh-CN" sz="2600" dirty="0"/>
              <a:t>s</a:t>
            </a:r>
            <a:r>
              <a:rPr lang="zh-CN" altLang="en-US" sz="2600" dirty="0"/>
              <a:t>中定义的数据；</a:t>
            </a:r>
            <a:r>
              <a:rPr lang="en-US" altLang="zh-CN" sz="2600" dirty="0" err="1"/>
              <a:t>buf</a:t>
            </a:r>
            <a:r>
              <a:rPr lang="zh-CN" altLang="en-US" sz="2600" dirty="0"/>
              <a:t>和</a:t>
            </a:r>
            <a:r>
              <a:rPr lang="en-US" altLang="zh-CN" sz="2600" dirty="0"/>
              <a:t>n</a:t>
            </a:r>
            <a:r>
              <a:rPr lang="zh-CN" altLang="en-US" sz="2600" dirty="0"/>
              <a:t>是过程</a:t>
            </a:r>
            <a:r>
              <a:rPr lang="en-US" altLang="zh-CN" sz="2600" dirty="0"/>
              <a:t>p</a:t>
            </a:r>
            <a:r>
              <a:rPr lang="zh-CN" altLang="en-US" sz="2600" dirty="0"/>
              <a:t>定义的数据</a:t>
            </a:r>
          </a:p>
        </p:txBody>
      </p:sp>
      <p:grpSp>
        <p:nvGrpSpPr>
          <p:cNvPr id="11268" name="Group 4"/>
          <p:cNvGrpSpPr>
            <a:grpSpLocks/>
          </p:cNvGrpSpPr>
          <p:nvPr/>
        </p:nvGrpSpPr>
        <p:grpSpPr bwMode="auto">
          <a:xfrm>
            <a:off x="971551" y="1329928"/>
            <a:ext cx="7862888" cy="3187304"/>
            <a:chOff x="571" y="1108"/>
            <a:chExt cx="4953" cy="2677"/>
          </a:xfrm>
        </p:grpSpPr>
        <p:sp>
          <p:nvSpPr>
            <p:cNvPr id="11269" name="Text Box 5"/>
            <p:cNvSpPr txBox="1">
              <a:spLocks noChangeArrowheads="1"/>
            </p:cNvSpPr>
            <p:nvPr/>
          </p:nvSpPr>
          <p:spPr bwMode="auto">
            <a:xfrm>
              <a:off x="611" y="1108"/>
              <a:ext cx="12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zh-CN" altLang="en-US" sz="2400" b="1"/>
                <a:t>三地址代码</a:t>
              </a:r>
            </a:p>
          </p:txBody>
        </p:sp>
        <p:sp>
          <p:nvSpPr>
            <p:cNvPr id="11270" name="Text Box 6"/>
            <p:cNvSpPr txBox="1">
              <a:spLocks noChangeArrowheads="1"/>
            </p:cNvSpPr>
            <p:nvPr/>
          </p:nvSpPr>
          <p:spPr bwMode="auto">
            <a:xfrm>
              <a:off x="571" y="1536"/>
              <a:ext cx="1452" cy="2249"/>
            </a:xfrm>
            <a:prstGeom prst="rect">
              <a:avLst/>
            </a:prstGeom>
            <a:solidFill>
              <a:schemeClr val="bg2"/>
            </a:solidFill>
            <a:ln w="9525">
              <a:solidFill>
                <a:schemeClr val="tx1"/>
              </a:solidFill>
              <a:miter lim="800000"/>
              <a:headEnd/>
              <a:tailEnd/>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ts val="0"/>
                </a:spcBef>
                <a:buFontTx/>
                <a:buNone/>
              </a:pPr>
              <a:r>
                <a:rPr lang="en-US" altLang="zh-CN" sz="2800" dirty="0"/>
                <a:t>   </a:t>
              </a:r>
              <a:r>
                <a:rPr lang="en-US" altLang="zh-CN" sz="2000" b="1" dirty="0"/>
                <a:t>/*s</a:t>
              </a:r>
              <a:r>
                <a:rPr lang="zh-CN" altLang="en-US" sz="2000" b="1" dirty="0"/>
                <a:t>的代码 *</a:t>
              </a:r>
              <a:r>
                <a:rPr lang="en-US" altLang="zh-CN" sz="2000" b="1" dirty="0"/>
                <a:t>/</a:t>
              </a:r>
            </a:p>
            <a:p>
              <a:pPr eaLnBrk="1" hangingPunct="1">
                <a:spcBef>
                  <a:spcPts val="0"/>
                </a:spcBef>
                <a:buFontTx/>
                <a:buNone/>
              </a:pPr>
              <a:r>
                <a:rPr lang="en-US" altLang="zh-CN" sz="2000" b="1" dirty="0"/>
                <a:t>      action</a:t>
              </a:r>
              <a:r>
                <a:rPr lang="en-US" altLang="zh-CN" sz="2000" b="1" baseline="-25000" dirty="0"/>
                <a:t>1</a:t>
              </a:r>
              <a:endParaRPr lang="en-US" altLang="zh-CN" sz="2000" b="1" dirty="0"/>
            </a:p>
            <a:p>
              <a:pPr eaLnBrk="1" hangingPunct="1">
                <a:spcBef>
                  <a:spcPts val="0"/>
                </a:spcBef>
                <a:buFontTx/>
                <a:buNone/>
              </a:pPr>
              <a:r>
                <a:rPr lang="en-US" altLang="zh-CN" sz="2000" b="1" dirty="0"/>
                <a:t>      call    p</a:t>
              </a:r>
            </a:p>
            <a:p>
              <a:pPr eaLnBrk="1" hangingPunct="1">
                <a:spcBef>
                  <a:spcPts val="0"/>
                </a:spcBef>
                <a:buFontTx/>
                <a:buNone/>
              </a:pPr>
              <a:r>
                <a:rPr lang="en-US" altLang="zh-CN" sz="2000" b="1" dirty="0"/>
                <a:t>      action</a:t>
              </a:r>
              <a:r>
                <a:rPr lang="en-US" altLang="zh-CN" sz="2000" b="1" baseline="-25000" dirty="0"/>
                <a:t>2</a:t>
              </a:r>
              <a:endParaRPr lang="en-US" altLang="zh-CN" sz="2000" b="1" dirty="0"/>
            </a:p>
            <a:p>
              <a:pPr eaLnBrk="1" hangingPunct="1">
                <a:spcBef>
                  <a:spcPts val="0"/>
                </a:spcBef>
                <a:buFontTx/>
                <a:buNone/>
              </a:pPr>
              <a:r>
                <a:rPr lang="en-US" altLang="zh-CN" sz="2000" b="1" dirty="0"/>
                <a:t>       halt</a:t>
              </a:r>
            </a:p>
            <a:p>
              <a:pPr eaLnBrk="1" hangingPunct="1">
                <a:spcBef>
                  <a:spcPts val="0"/>
                </a:spcBef>
                <a:buFontTx/>
                <a:buNone/>
              </a:pPr>
              <a:r>
                <a:rPr lang="en-US" altLang="zh-CN" sz="2000" b="1" dirty="0"/>
                <a:t>  /*p</a:t>
              </a:r>
              <a:r>
                <a:rPr lang="zh-CN" altLang="en-US" sz="2000" b="1" dirty="0"/>
                <a:t>的代码 *</a:t>
              </a:r>
              <a:r>
                <a:rPr lang="en-US" altLang="zh-CN" sz="2000" b="1" dirty="0"/>
                <a:t>/</a:t>
              </a:r>
            </a:p>
            <a:p>
              <a:pPr eaLnBrk="1" hangingPunct="1">
                <a:spcBef>
                  <a:spcPts val="0"/>
                </a:spcBef>
                <a:buFontTx/>
                <a:buNone/>
              </a:pPr>
              <a:r>
                <a:rPr lang="zh-CN" altLang="zh-CN" sz="2000" b="1" dirty="0"/>
                <a:t>       </a:t>
              </a:r>
              <a:r>
                <a:rPr lang="en-US" altLang="zh-CN" sz="2000" b="1" dirty="0"/>
                <a:t>action</a:t>
              </a:r>
              <a:r>
                <a:rPr lang="en-US" altLang="zh-CN" sz="2000" b="1" baseline="-25000" dirty="0"/>
                <a:t>3</a:t>
              </a:r>
              <a:endParaRPr lang="en-US" altLang="zh-CN" sz="2000" b="1" dirty="0"/>
            </a:p>
            <a:p>
              <a:pPr eaLnBrk="1" hangingPunct="1">
                <a:spcBef>
                  <a:spcPts val="0"/>
                </a:spcBef>
                <a:buFontTx/>
                <a:buNone/>
              </a:pPr>
              <a:r>
                <a:rPr lang="en-US" altLang="zh-CN" sz="2000" b="1" dirty="0"/>
                <a:t>        return</a:t>
              </a:r>
            </a:p>
          </p:txBody>
        </p:sp>
        <p:sp>
          <p:nvSpPr>
            <p:cNvPr id="11271" name="Line 7"/>
            <p:cNvSpPr>
              <a:spLocks noChangeShapeType="1"/>
            </p:cNvSpPr>
            <p:nvPr/>
          </p:nvSpPr>
          <p:spPr bwMode="auto">
            <a:xfrm>
              <a:off x="571" y="2937"/>
              <a:ext cx="14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2" name="Text Box 8"/>
            <p:cNvSpPr txBox="1">
              <a:spLocks noChangeArrowheads="1"/>
            </p:cNvSpPr>
            <p:nvPr/>
          </p:nvSpPr>
          <p:spPr bwMode="auto">
            <a:xfrm>
              <a:off x="2519" y="1279"/>
              <a:ext cx="132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b="1" dirty="0"/>
                <a:t>S</a:t>
              </a:r>
              <a:r>
                <a:rPr lang="zh-CN" altLang="zh-CN" sz="2400" b="1" dirty="0"/>
                <a:t>的活动记录</a:t>
              </a:r>
              <a:endParaRPr lang="zh-CN" altLang="en-US" sz="2400" b="1" dirty="0"/>
            </a:p>
          </p:txBody>
        </p:sp>
        <p:sp>
          <p:nvSpPr>
            <p:cNvPr id="11273" name="Text Box 9"/>
            <p:cNvSpPr txBox="1">
              <a:spLocks noChangeArrowheads="1"/>
            </p:cNvSpPr>
            <p:nvPr/>
          </p:nvSpPr>
          <p:spPr bwMode="auto">
            <a:xfrm>
              <a:off x="2640" y="1728"/>
              <a:ext cx="1125" cy="1535"/>
            </a:xfrm>
            <a:prstGeom prst="rect">
              <a:avLst/>
            </a:prstGeom>
            <a:solidFill>
              <a:schemeClr val="accent3">
                <a:lumMod val="20000"/>
                <a:lumOff val="80000"/>
              </a:schemeClr>
            </a:solidFill>
            <a:ln w="9525">
              <a:solidFill>
                <a:schemeClr val="tx1"/>
              </a:solidFill>
              <a:miter lim="800000"/>
              <a:headEnd/>
              <a:tailEnd/>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20000"/>
                </a:lnSpc>
                <a:spcBef>
                  <a:spcPts val="0"/>
                </a:spcBef>
                <a:buFontTx/>
                <a:buNone/>
              </a:pPr>
              <a:r>
                <a:rPr lang="zh-CN" altLang="en-US" sz="2000" b="1" dirty="0">
                  <a:latin typeface="宋体" panose="02010600030101010101" pitchFamily="2" charset="-122"/>
                </a:rPr>
                <a:t>返回地址</a:t>
              </a:r>
            </a:p>
            <a:p>
              <a:pPr eaLnBrk="1" hangingPunct="1">
                <a:lnSpc>
                  <a:spcPct val="120000"/>
                </a:lnSpc>
                <a:spcBef>
                  <a:spcPts val="0"/>
                </a:spcBef>
                <a:buFontTx/>
                <a:buNone/>
              </a:pPr>
              <a:r>
                <a:rPr lang="zh-CN" altLang="en-US" sz="2000" b="1" dirty="0">
                  <a:latin typeface="宋体" panose="02010600030101010101" pitchFamily="2" charset="-122"/>
                </a:rPr>
                <a:t>    </a:t>
              </a:r>
              <a:r>
                <a:rPr lang="en-US" altLang="en-US" sz="2000" b="1" dirty="0" err="1">
                  <a:latin typeface="宋体" panose="02010600030101010101" pitchFamily="2" charset="-122"/>
                </a:rPr>
                <a:t>arr</a:t>
              </a:r>
              <a:endParaRPr lang="en-US" altLang="en-US" sz="2000" b="1" dirty="0">
                <a:latin typeface="宋体" panose="02010600030101010101" pitchFamily="2" charset="-122"/>
              </a:endParaRPr>
            </a:p>
            <a:p>
              <a:pPr eaLnBrk="1" hangingPunct="1">
                <a:lnSpc>
                  <a:spcPct val="120000"/>
                </a:lnSpc>
                <a:spcBef>
                  <a:spcPts val="0"/>
                </a:spcBef>
                <a:buFontTx/>
                <a:buNone/>
              </a:pPr>
              <a:endParaRPr lang="en-US" altLang="en-US" sz="1400" b="1" dirty="0">
                <a:latin typeface="宋体" panose="02010600030101010101" pitchFamily="2" charset="-122"/>
              </a:endParaRPr>
            </a:p>
            <a:p>
              <a:pPr eaLnBrk="1" hangingPunct="1">
                <a:lnSpc>
                  <a:spcPct val="120000"/>
                </a:lnSpc>
                <a:spcBef>
                  <a:spcPts val="0"/>
                </a:spcBef>
                <a:buFontTx/>
                <a:buNone/>
              </a:pPr>
              <a:r>
                <a:rPr lang="en-US" altLang="en-US" sz="2000" b="1" dirty="0">
                  <a:latin typeface="宋体" panose="02010600030101010101" pitchFamily="2" charset="-122"/>
                </a:rPr>
                <a:t>     </a:t>
              </a:r>
              <a:r>
                <a:rPr lang="en-US" altLang="en-US" sz="2000" b="1" dirty="0" err="1">
                  <a:latin typeface="宋体" panose="02010600030101010101" pitchFamily="2" charset="-122"/>
                </a:rPr>
                <a:t>i</a:t>
              </a:r>
              <a:endParaRPr lang="en-US" altLang="en-US" sz="2000" b="1" dirty="0">
                <a:latin typeface="宋体" panose="02010600030101010101" pitchFamily="2" charset="-122"/>
              </a:endParaRPr>
            </a:p>
            <a:p>
              <a:pPr eaLnBrk="1" hangingPunct="1">
                <a:lnSpc>
                  <a:spcPct val="120000"/>
                </a:lnSpc>
                <a:spcBef>
                  <a:spcPts val="0"/>
                </a:spcBef>
                <a:buFontTx/>
                <a:buNone/>
              </a:pPr>
              <a:r>
                <a:rPr lang="en-US" altLang="zh-CN" sz="2000" b="1" dirty="0">
                  <a:latin typeface="宋体" panose="02010600030101010101" pitchFamily="2" charset="-122"/>
                </a:rPr>
                <a:t>     j</a:t>
              </a:r>
            </a:p>
          </p:txBody>
        </p:sp>
        <p:sp>
          <p:nvSpPr>
            <p:cNvPr id="11274" name="Text Box 10"/>
            <p:cNvSpPr txBox="1">
              <a:spLocks noChangeArrowheads="1"/>
            </p:cNvSpPr>
            <p:nvPr/>
          </p:nvSpPr>
          <p:spPr bwMode="auto">
            <a:xfrm>
              <a:off x="4199" y="1222"/>
              <a:ext cx="132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b="1"/>
                <a:t>p</a:t>
              </a:r>
              <a:r>
                <a:rPr lang="zh-CN" altLang="zh-CN" sz="2400" b="1"/>
                <a:t>的活动记录</a:t>
              </a:r>
              <a:endParaRPr lang="zh-CN" altLang="en-US" sz="2400" b="1"/>
            </a:p>
          </p:txBody>
        </p:sp>
        <p:sp>
          <p:nvSpPr>
            <p:cNvPr id="11275" name="Text Box 11"/>
            <p:cNvSpPr txBox="1">
              <a:spLocks noChangeArrowheads="1"/>
            </p:cNvSpPr>
            <p:nvPr/>
          </p:nvSpPr>
          <p:spPr bwMode="auto">
            <a:xfrm>
              <a:off x="4320" y="1728"/>
              <a:ext cx="1124" cy="1525"/>
            </a:xfrm>
            <a:prstGeom prst="rect">
              <a:avLst/>
            </a:prstGeom>
            <a:solidFill>
              <a:schemeClr val="accent3">
                <a:lumMod val="20000"/>
                <a:lumOff val="80000"/>
              </a:schemeClr>
            </a:solidFill>
            <a:ln w="9525">
              <a:solidFill>
                <a:schemeClr val="tx1"/>
              </a:solidFill>
              <a:miter lim="800000"/>
              <a:headEnd/>
              <a:tailEnd/>
            </a:ln>
          </p:spPr>
          <p:txBody>
            <a:bodyP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ts val="0"/>
                </a:spcBef>
                <a:buFontTx/>
                <a:buNone/>
              </a:pPr>
              <a:r>
                <a:rPr lang="zh-CN" altLang="en-US" sz="2000" b="1" dirty="0">
                  <a:latin typeface="宋体" panose="02010600030101010101" pitchFamily="2" charset="-122"/>
                </a:rPr>
                <a:t>返回地址</a:t>
              </a:r>
            </a:p>
            <a:p>
              <a:pPr eaLnBrk="1" hangingPunct="1">
                <a:spcBef>
                  <a:spcPts val="0"/>
                </a:spcBef>
                <a:buFontTx/>
                <a:buNone/>
              </a:pPr>
              <a:endParaRPr lang="zh-CN" altLang="en-US" sz="2000" b="1" dirty="0">
                <a:latin typeface="宋体" panose="02010600030101010101" pitchFamily="2" charset="-122"/>
              </a:endParaRPr>
            </a:p>
            <a:p>
              <a:pPr eaLnBrk="1" hangingPunct="1">
                <a:spcBef>
                  <a:spcPts val="0"/>
                </a:spcBef>
                <a:buFontTx/>
                <a:buNone/>
              </a:pPr>
              <a:r>
                <a:rPr lang="zh-CN" altLang="en-US" sz="2000" b="1" dirty="0">
                  <a:latin typeface="宋体" panose="02010600030101010101" pitchFamily="2" charset="-122"/>
                </a:rPr>
                <a:t>    </a:t>
              </a:r>
              <a:r>
                <a:rPr lang="en-US" altLang="en-US" sz="2000" b="1" dirty="0" err="1">
                  <a:latin typeface="宋体" panose="02010600030101010101" pitchFamily="2" charset="-122"/>
                </a:rPr>
                <a:t>buf</a:t>
              </a:r>
              <a:endParaRPr lang="en-US" altLang="en-US" sz="2000" b="1" dirty="0">
                <a:latin typeface="宋体" panose="02010600030101010101" pitchFamily="2" charset="-122"/>
              </a:endParaRPr>
            </a:p>
            <a:p>
              <a:pPr eaLnBrk="1" hangingPunct="1">
                <a:spcBef>
                  <a:spcPts val="0"/>
                </a:spcBef>
                <a:buFontTx/>
                <a:buNone/>
              </a:pPr>
              <a:endParaRPr lang="en-US" altLang="en-US" sz="1600" b="1" dirty="0">
                <a:latin typeface="宋体" panose="02010600030101010101" pitchFamily="2" charset="-122"/>
              </a:endParaRPr>
            </a:p>
            <a:p>
              <a:pPr eaLnBrk="1" hangingPunct="1">
                <a:spcBef>
                  <a:spcPts val="0"/>
                </a:spcBef>
                <a:buFontTx/>
                <a:buNone/>
              </a:pPr>
              <a:endParaRPr lang="en-US" altLang="en-US" sz="1600" b="1" dirty="0">
                <a:latin typeface="宋体" panose="02010600030101010101" pitchFamily="2" charset="-122"/>
              </a:endParaRPr>
            </a:p>
            <a:p>
              <a:pPr eaLnBrk="1" hangingPunct="1">
                <a:spcBef>
                  <a:spcPts val="0"/>
                </a:spcBef>
                <a:buFontTx/>
                <a:buNone/>
              </a:pPr>
              <a:r>
                <a:rPr lang="en-US" altLang="en-US" sz="2000" b="1" dirty="0">
                  <a:latin typeface="宋体" panose="02010600030101010101" pitchFamily="2" charset="-122"/>
                </a:rPr>
                <a:t>     n</a:t>
              </a:r>
              <a:endParaRPr lang="en-US" altLang="zh-CN" sz="2000" b="1" dirty="0">
                <a:latin typeface="宋体" panose="02010600030101010101" pitchFamily="2" charset="-122"/>
              </a:endParaRPr>
            </a:p>
          </p:txBody>
        </p:sp>
        <p:sp>
          <p:nvSpPr>
            <p:cNvPr id="11276" name="Line 12"/>
            <p:cNvSpPr>
              <a:spLocks noChangeShapeType="1"/>
            </p:cNvSpPr>
            <p:nvPr/>
          </p:nvSpPr>
          <p:spPr bwMode="auto">
            <a:xfrm>
              <a:off x="2640" y="2031"/>
              <a:ext cx="11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7" name="Line 13"/>
            <p:cNvSpPr>
              <a:spLocks noChangeShapeType="1"/>
            </p:cNvSpPr>
            <p:nvPr/>
          </p:nvSpPr>
          <p:spPr bwMode="auto">
            <a:xfrm>
              <a:off x="2668" y="2877"/>
              <a:ext cx="11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8" name="Line 14"/>
            <p:cNvSpPr>
              <a:spLocks noChangeShapeType="1"/>
            </p:cNvSpPr>
            <p:nvPr/>
          </p:nvSpPr>
          <p:spPr bwMode="auto">
            <a:xfrm>
              <a:off x="2620" y="2559"/>
              <a:ext cx="1124" cy="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9" name="Line 15"/>
            <p:cNvSpPr>
              <a:spLocks noChangeShapeType="1"/>
            </p:cNvSpPr>
            <p:nvPr/>
          </p:nvSpPr>
          <p:spPr bwMode="auto">
            <a:xfrm>
              <a:off x="4320" y="2040"/>
              <a:ext cx="11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0" name="Line 16"/>
            <p:cNvSpPr>
              <a:spLocks noChangeShapeType="1"/>
            </p:cNvSpPr>
            <p:nvPr/>
          </p:nvSpPr>
          <p:spPr bwMode="auto">
            <a:xfrm>
              <a:off x="4360" y="2816"/>
              <a:ext cx="10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1" name="Text Box 17"/>
            <p:cNvSpPr txBox="1">
              <a:spLocks noChangeArrowheads="1"/>
            </p:cNvSpPr>
            <p:nvPr/>
          </p:nvSpPr>
          <p:spPr bwMode="auto">
            <a:xfrm>
              <a:off x="2352" y="1776"/>
              <a:ext cx="36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type="none" w="sm" len="sm"/>
                  <a:tailEnd type="none" w="lg" len="med"/>
                </a14:hiddenLine>
              </a:ext>
            </a:extLst>
          </p:spPr>
          <p:txBody>
            <a:bodyPr wrap="non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000" b="1" dirty="0">
                  <a:latin typeface="Arial" pitchFamily="34" charset="0"/>
                </a:rPr>
                <a:t>0</a:t>
              </a:r>
              <a:r>
                <a:rPr kumimoji="0" lang="zh-CN" altLang="en-US" sz="2000" b="1" dirty="0">
                  <a:latin typeface="Arial" pitchFamily="34" charset="0"/>
                </a:rPr>
                <a:t>：</a:t>
              </a:r>
            </a:p>
          </p:txBody>
        </p:sp>
        <p:sp>
          <p:nvSpPr>
            <p:cNvPr id="11282" name="Text Box 18"/>
            <p:cNvSpPr txBox="1">
              <a:spLocks noChangeArrowheads="1"/>
            </p:cNvSpPr>
            <p:nvPr/>
          </p:nvSpPr>
          <p:spPr bwMode="auto">
            <a:xfrm>
              <a:off x="2352" y="2030"/>
              <a:ext cx="36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type="none" w="sm" len="sm"/>
                  <a:tailEnd type="none" w="lg" len="med"/>
                </a14:hiddenLine>
              </a:ext>
            </a:extLst>
          </p:spPr>
          <p:txBody>
            <a:bodyPr wrap="non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000" b="1" dirty="0">
                  <a:latin typeface="Arial" pitchFamily="34" charset="0"/>
                </a:rPr>
                <a:t>4</a:t>
              </a:r>
              <a:r>
                <a:rPr kumimoji="0" lang="zh-CN" altLang="en-US" sz="2000" b="1" dirty="0">
                  <a:latin typeface="Arial" pitchFamily="34" charset="0"/>
                </a:rPr>
                <a:t>：</a:t>
              </a:r>
            </a:p>
          </p:txBody>
        </p:sp>
        <p:sp>
          <p:nvSpPr>
            <p:cNvPr id="11283" name="Text Box 19"/>
            <p:cNvSpPr txBox="1">
              <a:spLocks noChangeArrowheads="1"/>
            </p:cNvSpPr>
            <p:nvPr/>
          </p:nvSpPr>
          <p:spPr bwMode="auto">
            <a:xfrm>
              <a:off x="2256" y="2635"/>
              <a:ext cx="45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type="none" w="sm" len="sm"/>
                  <a:tailEnd type="none" w="lg" len="med"/>
                </a14:hiddenLine>
              </a:ext>
            </a:extLst>
          </p:spPr>
          <p:txBody>
            <a:bodyPr wrap="non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000" b="1" dirty="0">
                  <a:latin typeface="Arial" pitchFamily="34" charset="0"/>
                </a:rPr>
                <a:t>56</a:t>
              </a:r>
              <a:r>
                <a:rPr kumimoji="0" lang="zh-CN" altLang="en-US" sz="2000" b="1" dirty="0">
                  <a:latin typeface="Arial" pitchFamily="34" charset="0"/>
                </a:rPr>
                <a:t>：</a:t>
              </a:r>
            </a:p>
          </p:txBody>
        </p:sp>
        <p:sp>
          <p:nvSpPr>
            <p:cNvPr id="11284" name="Text Box 20"/>
            <p:cNvSpPr txBox="1">
              <a:spLocks noChangeArrowheads="1"/>
            </p:cNvSpPr>
            <p:nvPr/>
          </p:nvSpPr>
          <p:spPr bwMode="auto">
            <a:xfrm>
              <a:off x="2256" y="2998"/>
              <a:ext cx="45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type="none" w="sm" len="sm"/>
                  <a:tailEnd type="none" w="lg" len="med"/>
                </a14:hiddenLine>
              </a:ext>
            </a:extLst>
          </p:spPr>
          <p:txBody>
            <a:bodyPr wrap="non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000" b="1" dirty="0">
                  <a:latin typeface="Arial" pitchFamily="34" charset="0"/>
                </a:rPr>
                <a:t>60</a:t>
              </a:r>
              <a:r>
                <a:rPr kumimoji="0" lang="zh-CN" altLang="en-US" sz="2000" b="1" dirty="0">
                  <a:latin typeface="Arial" pitchFamily="34" charset="0"/>
                </a:rPr>
                <a:t>：</a:t>
              </a:r>
            </a:p>
          </p:txBody>
        </p:sp>
        <p:sp>
          <p:nvSpPr>
            <p:cNvPr id="11285" name="Text Box 21"/>
            <p:cNvSpPr txBox="1">
              <a:spLocks noChangeArrowheads="1"/>
            </p:cNvSpPr>
            <p:nvPr/>
          </p:nvSpPr>
          <p:spPr bwMode="auto">
            <a:xfrm>
              <a:off x="4032" y="1728"/>
              <a:ext cx="36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type="none" w="sm" len="sm"/>
                  <a:tailEnd type="none" w="lg" len="med"/>
                </a14:hiddenLine>
              </a:ext>
            </a:extLst>
          </p:spPr>
          <p:txBody>
            <a:bodyPr wrap="non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000" b="1">
                  <a:latin typeface="Arial" pitchFamily="34" charset="0"/>
                </a:rPr>
                <a:t>0</a:t>
              </a:r>
              <a:r>
                <a:rPr kumimoji="0" lang="zh-CN" altLang="en-US" sz="2000" b="1">
                  <a:latin typeface="Arial" pitchFamily="34" charset="0"/>
                </a:rPr>
                <a:t>：</a:t>
              </a:r>
            </a:p>
          </p:txBody>
        </p:sp>
        <p:sp>
          <p:nvSpPr>
            <p:cNvPr id="11286" name="Text Box 22"/>
            <p:cNvSpPr txBox="1">
              <a:spLocks noChangeArrowheads="1"/>
            </p:cNvSpPr>
            <p:nvPr/>
          </p:nvSpPr>
          <p:spPr bwMode="auto">
            <a:xfrm>
              <a:off x="4032" y="1970"/>
              <a:ext cx="36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type="none" w="sm" len="sm"/>
                  <a:tailEnd type="none" w="lg" len="med"/>
                </a14:hiddenLine>
              </a:ext>
            </a:extLst>
          </p:spPr>
          <p:txBody>
            <a:bodyPr wrap="non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000" b="1" dirty="0">
                  <a:latin typeface="Arial" pitchFamily="34" charset="0"/>
                </a:rPr>
                <a:t>4</a:t>
              </a:r>
              <a:r>
                <a:rPr kumimoji="0" lang="zh-CN" altLang="en-US" sz="2000" b="1" dirty="0">
                  <a:latin typeface="Arial" pitchFamily="34" charset="0"/>
                </a:rPr>
                <a:t>：</a:t>
              </a:r>
            </a:p>
          </p:txBody>
        </p:sp>
        <p:sp>
          <p:nvSpPr>
            <p:cNvPr id="11287" name="Text Box 23"/>
            <p:cNvSpPr txBox="1">
              <a:spLocks noChangeArrowheads="1"/>
            </p:cNvSpPr>
            <p:nvPr/>
          </p:nvSpPr>
          <p:spPr bwMode="auto">
            <a:xfrm>
              <a:off x="3936" y="2998"/>
              <a:ext cx="45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type="none" w="sm" len="sm"/>
                  <a:tailEnd type="none" w="lg" len="med"/>
                </a14:hiddenLine>
              </a:ext>
            </a:extLst>
          </p:spPr>
          <p:txBody>
            <a:bodyPr wrap="non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000" b="1" dirty="0">
                  <a:latin typeface="Arial" pitchFamily="34" charset="0"/>
                </a:rPr>
                <a:t>84</a:t>
              </a:r>
              <a:r>
                <a:rPr kumimoji="0" lang="zh-CN" altLang="en-US" sz="2000" b="1" dirty="0">
                  <a:latin typeface="Arial" pitchFamily="34" charset="0"/>
                </a:rPr>
                <a:t>：</a:t>
              </a:r>
            </a:p>
          </p:txBody>
        </p:sp>
      </p:grpSp>
    </p:spTree>
    <p:extLst>
      <p:ext uri="{BB962C8B-B14F-4D97-AF65-F5344CB8AC3E}">
        <p14:creationId xmlns:p14="http://schemas.microsoft.com/office/powerpoint/2010/main" val="2355951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Autofit/>
          </a:bodyPr>
          <a:lstStyle/>
          <a:p>
            <a:pPr eaLnBrk="1" hangingPunct="1"/>
            <a:r>
              <a:rPr lang="zh-CN" altLang="en-US" sz="3200" b="1"/>
              <a:t>指令地址的决定</a:t>
            </a:r>
          </a:p>
        </p:txBody>
      </p:sp>
      <p:sp>
        <p:nvSpPr>
          <p:cNvPr id="12291" name="Rectangle 3"/>
          <p:cNvSpPr>
            <a:spLocks noGrp="1" noChangeArrowheads="1"/>
          </p:cNvSpPr>
          <p:nvPr>
            <p:ph type="body" idx="1"/>
          </p:nvPr>
        </p:nvSpPr>
        <p:spPr>
          <a:xfrm>
            <a:off x="216024" y="922478"/>
            <a:ext cx="5580112" cy="3881520"/>
          </a:xfrm>
          <a:solidFill>
            <a:schemeClr val="bg1"/>
          </a:solidFill>
        </p:spPr>
        <p:txBody>
          <a:bodyPr>
            <a:noAutofit/>
          </a:bodyPr>
          <a:lstStyle/>
          <a:p>
            <a:pPr eaLnBrk="1" hangingPunct="1"/>
            <a:r>
              <a:rPr lang="zh-CN" altLang="en-US" dirty="0"/>
              <a:t>通过计数器决定每个指令的地址</a:t>
            </a:r>
          </a:p>
          <a:p>
            <a:pPr eaLnBrk="1" hangingPunct="1"/>
            <a:r>
              <a:rPr lang="zh-CN" altLang="en-US" dirty="0"/>
              <a:t>标号的处理：</a:t>
            </a:r>
            <a:r>
              <a:rPr lang="en-US" altLang="zh-CN" b="1" dirty="0">
                <a:solidFill>
                  <a:srgbClr val="FF0000"/>
                </a:solidFill>
              </a:rPr>
              <a:t>j: </a:t>
            </a:r>
            <a:r>
              <a:rPr lang="en-US" altLang="zh-CN" b="1" dirty="0" err="1">
                <a:solidFill>
                  <a:srgbClr val="FF0000"/>
                </a:solidFill>
              </a:rPr>
              <a:t>goto</a:t>
            </a:r>
            <a:r>
              <a:rPr lang="en-US" altLang="zh-CN" b="1" dirty="0">
                <a:solidFill>
                  <a:srgbClr val="FF0000"/>
                </a:solidFill>
              </a:rPr>
              <a:t> </a:t>
            </a:r>
            <a:r>
              <a:rPr lang="en-US" altLang="zh-CN" b="1" dirty="0" err="1">
                <a:solidFill>
                  <a:srgbClr val="FF0000"/>
                </a:solidFill>
              </a:rPr>
              <a:t>i</a:t>
            </a:r>
            <a:r>
              <a:rPr lang="en-US" altLang="zh-CN" b="1" dirty="0">
                <a:solidFill>
                  <a:srgbClr val="FF0000"/>
                </a:solidFill>
              </a:rPr>
              <a:t> </a:t>
            </a:r>
            <a:r>
              <a:rPr lang="en-US" altLang="zh-CN" dirty="0"/>
              <a:t>/*j</a:t>
            </a:r>
            <a:r>
              <a:rPr lang="zh-CN" altLang="en-US" dirty="0"/>
              <a:t>是当前语句的号码*</a:t>
            </a:r>
            <a:r>
              <a:rPr lang="en-US" altLang="zh-CN" dirty="0"/>
              <a:t>/</a:t>
            </a:r>
          </a:p>
          <a:p>
            <a:pPr lvl="1" eaLnBrk="1" hangingPunct="1"/>
            <a:r>
              <a:rPr lang="zh-CN" altLang="en-US" sz="2400" dirty="0"/>
              <a:t>如果</a:t>
            </a:r>
            <a:r>
              <a:rPr lang="en-US" altLang="zh-CN" sz="2400" dirty="0" err="1"/>
              <a:t>i</a:t>
            </a:r>
            <a:r>
              <a:rPr lang="zh-CN" altLang="en-US" sz="2400" dirty="0"/>
              <a:t>小于</a:t>
            </a:r>
            <a:r>
              <a:rPr lang="en-US" altLang="zh-CN" sz="2400" dirty="0"/>
              <a:t>j</a:t>
            </a:r>
          </a:p>
          <a:p>
            <a:pPr lvl="2" eaLnBrk="1" hangingPunct="1"/>
            <a:r>
              <a:rPr lang="en-US" altLang="zh-CN" sz="2400" dirty="0" err="1"/>
              <a:t>i</a:t>
            </a:r>
            <a:r>
              <a:rPr lang="zh-CN" altLang="en-US" sz="2400" dirty="0"/>
              <a:t>出现在</a:t>
            </a:r>
            <a:r>
              <a:rPr lang="en-US" altLang="zh-CN" sz="2400" dirty="0"/>
              <a:t>j</a:t>
            </a:r>
            <a:r>
              <a:rPr lang="zh-CN" altLang="en-US" sz="2400" dirty="0"/>
              <a:t>之前，目标地址是</a:t>
            </a:r>
            <a:r>
              <a:rPr lang="en-US" altLang="zh-CN" sz="2400" dirty="0" err="1"/>
              <a:t>i</a:t>
            </a:r>
            <a:r>
              <a:rPr lang="zh-CN" altLang="en-US" sz="2400" dirty="0"/>
              <a:t>对应的三地址代码的第一条指令地址</a:t>
            </a:r>
          </a:p>
          <a:p>
            <a:pPr lvl="1" eaLnBrk="1" hangingPunct="1"/>
            <a:r>
              <a:rPr lang="zh-CN" altLang="en-US" sz="2400" dirty="0"/>
              <a:t>如果</a:t>
            </a:r>
            <a:r>
              <a:rPr lang="en-US" altLang="zh-CN" sz="2400" dirty="0" err="1"/>
              <a:t>i</a:t>
            </a:r>
            <a:r>
              <a:rPr lang="zh-CN" altLang="en-US" sz="2400" dirty="0"/>
              <a:t>大于</a:t>
            </a:r>
            <a:r>
              <a:rPr lang="en-US" altLang="zh-CN" sz="2400" dirty="0"/>
              <a:t>j</a:t>
            </a:r>
          </a:p>
          <a:p>
            <a:pPr lvl="2" eaLnBrk="1" hangingPunct="1"/>
            <a:r>
              <a:rPr lang="en-US" altLang="zh-CN" sz="2400" dirty="0" err="1"/>
              <a:t>i</a:t>
            </a:r>
            <a:r>
              <a:rPr lang="zh-CN" altLang="en-US" sz="2400" dirty="0"/>
              <a:t>出现在</a:t>
            </a:r>
            <a:r>
              <a:rPr lang="en-US" altLang="zh-CN" sz="2400" dirty="0"/>
              <a:t>j</a:t>
            </a:r>
            <a:r>
              <a:rPr lang="zh-CN" altLang="en-US" sz="2400" dirty="0"/>
              <a:t>之后，目标地址此时不可知，可以利用回填的技术解决</a:t>
            </a:r>
          </a:p>
          <a:p>
            <a:pPr eaLnBrk="1" hangingPunct="1"/>
            <a:endParaRPr lang="en-US" altLang="zh-CN" dirty="0"/>
          </a:p>
        </p:txBody>
      </p:sp>
      <p:grpSp>
        <p:nvGrpSpPr>
          <p:cNvPr id="4" name="组合 3"/>
          <p:cNvGrpSpPr/>
          <p:nvPr/>
        </p:nvGrpSpPr>
        <p:grpSpPr>
          <a:xfrm>
            <a:off x="6948264" y="195486"/>
            <a:ext cx="1800200" cy="2181057"/>
            <a:chOff x="6824364" y="339501"/>
            <a:chExt cx="1800200" cy="1800202"/>
          </a:xfrm>
        </p:grpSpPr>
        <p:sp>
          <p:nvSpPr>
            <p:cNvPr id="5" name="矩形 4"/>
            <p:cNvSpPr/>
            <p:nvPr/>
          </p:nvSpPr>
          <p:spPr>
            <a:xfrm>
              <a:off x="6824364" y="339501"/>
              <a:ext cx="1800200" cy="864097"/>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代码段</a:t>
              </a:r>
              <a:r>
                <a:rPr lang="en-US" altLang="zh-CN" dirty="0">
                  <a:solidFill>
                    <a:schemeClr val="tx1"/>
                  </a:solidFill>
                </a:rPr>
                <a:t>1</a:t>
              </a:r>
            </a:p>
          </p:txBody>
        </p:sp>
        <p:sp>
          <p:nvSpPr>
            <p:cNvPr id="6" name="矩形 5"/>
            <p:cNvSpPr/>
            <p:nvPr/>
          </p:nvSpPr>
          <p:spPr>
            <a:xfrm>
              <a:off x="6824364" y="1347615"/>
              <a:ext cx="1800200" cy="7920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代码段</a:t>
              </a:r>
              <a:r>
                <a:rPr lang="en-US" altLang="zh-CN" dirty="0">
                  <a:solidFill>
                    <a:schemeClr val="tx1"/>
                  </a:solidFill>
                </a:rPr>
                <a:t>2</a:t>
              </a:r>
              <a:endParaRPr lang="zh-CN" altLang="en-US" dirty="0">
                <a:solidFill>
                  <a:schemeClr val="tx1"/>
                </a:solidFill>
              </a:endParaRPr>
            </a:p>
          </p:txBody>
        </p:sp>
      </p:grpSp>
      <p:sp>
        <p:nvSpPr>
          <p:cNvPr id="2" name="矩形 1"/>
          <p:cNvSpPr/>
          <p:nvPr/>
        </p:nvSpPr>
        <p:spPr>
          <a:xfrm>
            <a:off x="7154905" y="2787774"/>
            <a:ext cx="1386918" cy="2308324"/>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algn="ctr"/>
            <a:r>
              <a:rPr lang="en-US" altLang="zh-CN" dirty="0">
                <a:solidFill>
                  <a:schemeClr val="tx1"/>
                </a:solidFill>
              </a:rPr>
              <a:t>…</a:t>
            </a:r>
          </a:p>
          <a:p>
            <a:r>
              <a:rPr lang="en-US" altLang="zh-CN" dirty="0">
                <a:solidFill>
                  <a:schemeClr val="tx1"/>
                </a:solidFill>
              </a:rPr>
              <a:t> : (  ……   )</a:t>
            </a:r>
          </a:p>
          <a:p>
            <a:pPr algn="ctr"/>
            <a:r>
              <a:rPr lang="en-US" altLang="zh-CN" dirty="0">
                <a:solidFill>
                  <a:schemeClr val="tx1"/>
                </a:solidFill>
              </a:rPr>
              <a:t>…</a:t>
            </a:r>
          </a:p>
          <a:p>
            <a:pPr algn="ctr"/>
            <a:endParaRPr lang="en-US" altLang="zh-CN" dirty="0">
              <a:solidFill>
                <a:schemeClr val="tx1"/>
              </a:solidFill>
            </a:endParaRPr>
          </a:p>
          <a:p>
            <a:pPr algn="ctr"/>
            <a:r>
              <a:rPr lang="en-US" altLang="zh-CN" dirty="0">
                <a:solidFill>
                  <a:schemeClr val="tx1"/>
                </a:solidFill>
              </a:rPr>
              <a:t>j:   </a:t>
            </a:r>
            <a:r>
              <a:rPr lang="en-US" altLang="zh-CN" dirty="0" err="1">
                <a:solidFill>
                  <a:schemeClr val="tx1"/>
                </a:solidFill>
              </a:rPr>
              <a:t>goto</a:t>
            </a:r>
            <a:r>
              <a:rPr lang="en-US" altLang="zh-CN" dirty="0">
                <a:solidFill>
                  <a:schemeClr val="tx1"/>
                </a:solidFill>
              </a:rPr>
              <a:t> </a:t>
            </a:r>
            <a:r>
              <a:rPr lang="en-US" altLang="zh-CN" dirty="0" err="1">
                <a:solidFill>
                  <a:schemeClr val="tx1"/>
                </a:solidFill>
              </a:rPr>
              <a:t>i</a:t>
            </a:r>
            <a:endParaRPr lang="en-US" altLang="zh-CN" dirty="0">
              <a:solidFill>
                <a:schemeClr val="tx1"/>
              </a:solidFill>
            </a:endParaRPr>
          </a:p>
          <a:p>
            <a:pPr algn="ctr"/>
            <a:endParaRPr lang="en-US" altLang="zh-CN" dirty="0">
              <a:solidFill>
                <a:schemeClr val="tx1"/>
              </a:solidFill>
            </a:endParaRPr>
          </a:p>
          <a:p>
            <a:pPr algn="ctr"/>
            <a:r>
              <a:rPr lang="en-US" altLang="zh-CN" dirty="0">
                <a:solidFill>
                  <a:schemeClr val="tx1"/>
                </a:solidFill>
              </a:rPr>
              <a:t>…</a:t>
            </a:r>
          </a:p>
          <a:p>
            <a:pPr algn="ctr"/>
            <a:endParaRPr lang="en-US" altLang="zh-CN" dirty="0">
              <a:solidFill>
                <a:schemeClr val="tx1"/>
              </a:solidFill>
            </a:endParaRPr>
          </a:p>
        </p:txBody>
      </p:sp>
      <p:sp>
        <p:nvSpPr>
          <p:cNvPr id="3" name="矩形 2"/>
          <p:cNvSpPr/>
          <p:nvPr/>
        </p:nvSpPr>
        <p:spPr>
          <a:xfrm>
            <a:off x="7236296" y="3066514"/>
            <a:ext cx="1260230" cy="353943"/>
          </a:xfrm>
          <a:prstGeom prst="rect">
            <a:avLst/>
          </a:prstGeom>
          <a:solidFill>
            <a:schemeClr val="bg1"/>
          </a:solidFill>
        </p:spPr>
        <p:txBody>
          <a:bodyPr wrap="square">
            <a:spAutoFit/>
          </a:bodyPr>
          <a:lstStyle/>
          <a:p>
            <a:pPr algn="ctr"/>
            <a:r>
              <a:rPr lang="en-US" altLang="zh-CN" sz="1700" dirty="0">
                <a:solidFill>
                  <a:srgbClr val="FF0000"/>
                </a:solidFill>
              </a:rPr>
              <a:t>i: (  ……   )</a:t>
            </a:r>
          </a:p>
        </p:txBody>
      </p:sp>
      <p:sp>
        <p:nvSpPr>
          <p:cNvPr id="15" name="矩形 14"/>
          <p:cNvSpPr/>
          <p:nvPr/>
        </p:nvSpPr>
        <p:spPr>
          <a:xfrm>
            <a:off x="7236295" y="4443958"/>
            <a:ext cx="1260231" cy="353943"/>
          </a:xfrm>
          <a:prstGeom prst="rect">
            <a:avLst/>
          </a:prstGeom>
          <a:solidFill>
            <a:schemeClr val="bg1"/>
          </a:solidFill>
        </p:spPr>
        <p:txBody>
          <a:bodyPr wrap="square">
            <a:spAutoFit/>
          </a:bodyPr>
          <a:lstStyle/>
          <a:p>
            <a:pPr algn="ctr"/>
            <a:r>
              <a:rPr lang="en-US" altLang="zh-CN" sz="1700" dirty="0">
                <a:solidFill>
                  <a:srgbClr val="FF0000"/>
                </a:solidFill>
              </a:rPr>
              <a:t>i: (  ……   )</a:t>
            </a:r>
          </a:p>
        </p:txBody>
      </p:sp>
    </p:spTree>
    <p:extLst>
      <p:ext uri="{BB962C8B-B14F-4D97-AF65-F5344CB8AC3E}">
        <p14:creationId xmlns:p14="http://schemas.microsoft.com/office/powerpoint/2010/main" val="2284902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normAutofit fontScale="90000"/>
          </a:bodyPr>
          <a:lstStyle/>
          <a:p>
            <a:endParaRPr lang="zh-CN" altLang="en-US"/>
          </a:p>
        </p:txBody>
      </p:sp>
    </p:spTree>
    <p:extLst>
      <p:ext uri="{BB962C8B-B14F-4D97-AF65-F5344CB8AC3E}">
        <p14:creationId xmlns:p14="http://schemas.microsoft.com/office/powerpoint/2010/main" val="3131230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9985" y="1971358"/>
            <a:ext cx="3937296" cy="769441"/>
          </a:xfrm>
          <a:prstGeom prst="rect">
            <a:avLst/>
          </a:prstGeom>
        </p:spPr>
        <p:txBody>
          <a:bodyPr wrap="none">
            <a:spAutoFit/>
          </a:bodyPr>
          <a:lstStyle/>
          <a:p>
            <a:r>
              <a:rPr lang="en-US" altLang="zh-CN" sz="4400" b="1" dirty="0">
                <a:solidFill>
                  <a:srgbClr val="CC0099"/>
                </a:solidFill>
                <a:ea typeface="隶书" pitchFamily="49" charset="-122"/>
              </a:rPr>
              <a:t>2</a:t>
            </a:r>
            <a:r>
              <a:rPr lang="zh-CN" altLang="en-US" sz="4400" b="1" dirty="0">
                <a:solidFill>
                  <a:srgbClr val="CC0099"/>
                </a:solidFill>
                <a:ea typeface="隶书" pitchFamily="49" charset="-122"/>
              </a:rPr>
              <a:t>、目标机简介</a:t>
            </a:r>
          </a:p>
        </p:txBody>
      </p:sp>
    </p:spTree>
    <p:extLst>
      <p:ext uri="{BB962C8B-B14F-4D97-AF65-F5344CB8AC3E}">
        <p14:creationId xmlns:p14="http://schemas.microsoft.com/office/powerpoint/2010/main" val="2383511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79512" y="13742"/>
            <a:ext cx="8458200" cy="685800"/>
          </a:xfrm>
          <a:noFill/>
        </p:spPr>
        <p:txBody>
          <a:bodyPr lIns="92075" tIns="46038" rIns="92075" bIns="46038">
            <a:noAutofit/>
          </a:bodyPr>
          <a:lstStyle/>
          <a:p>
            <a:pPr eaLnBrk="1" hangingPunct="1"/>
            <a:r>
              <a:rPr lang="zh-CN" altLang="en-US" b="1" dirty="0">
                <a:solidFill>
                  <a:srgbClr val="CC0099"/>
                </a:solidFill>
                <a:ea typeface="隶书" pitchFamily="49" charset="-122"/>
              </a:rPr>
              <a:t>目标机</a:t>
            </a:r>
            <a:r>
              <a:rPr lang="zh-CN" altLang="zh-CN" b="1" dirty="0">
                <a:solidFill>
                  <a:srgbClr val="CC0099"/>
                </a:solidFill>
                <a:ea typeface="隶书" pitchFamily="49" charset="-122"/>
              </a:rPr>
              <a:t>及指令系统简介</a:t>
            </a:r>
            <a:endParaRPr lang="zh-CN" altLang="en-US" b="1" dirty="0">
              <a:solidFill>
                <a:srgbClr val="CC0099"/>
              </a:solidFill>
              <a:ea typeface="隶书" pitchFamily="49" charset="-122"/>
            </a:endParaRPr>
          </a:p>
        </p:txBody>
      </p:sp>
      <p:sp>
        <p:nvSpPr>
          <p:cNvPr id="19459" name="Rectangle 3"/>
          <p:cNvSpPr>
            <a:spLocks noGrp="1" noChangeArrowheads="1"/>
          </p:cNvSpPr>
          <p:nvPr>
            <p:ph type="body" idx="1"/>
          </p:nvPr>
        </p:nvSpPr>
        <p:spPr>
          <a:xfrm>
            <a:off x="611560" y="857250"/>
            <a:ext cx="7992888" cy="3996929"/>
          </a:xfrm>
          <a:solidFill>
            <a:schemeClr val="bg1"/>
          </a:solidFill>
        </p:spPr>
        <p:txBody>
          <a:bodyPr lIns="92075" tIns="46038" rIns="92075" bIns="46038">
            <a:normAutofit fontScale="92500" lnSpcReduction="10000"/>
          </a:bodyPr>
          <a:lstStyle/>
          <a:p>
            <a:pPr marL="365125" indent="-365125" eaLnBrk="1" hangingPunct="1"/>
            <a:r>
              <a:rPr lang="zh-CN" altLang="en-US" sz="2400" dirty="0"/>
              <a:t>熟悉目标机的结构和它的指令系统</a:t>
            </a:r>
          </a:p>
          <a:p>
            <a:pPr marL="914400" lvl="1" indent="-457200" eaLnBrk="1" hangingPunct="1"/>
            <a:r>
              <a:rPr lang="zh-CN" altLang="en-US" sz="2400" dirty="0"/>
              <a:t>是设计一个好的代码生成器的先决条件</a:t>
            </a:r>
          </a:p>
          <a:p>
            <a:pPr marL="914400" lvl="1" indent="-457200"/>
            <a:r>
              <a:rPr lang="zh-CN" altLang="en-US" sz="2400" dirty="0"/>
              <a:t>不存在通用的有效的机器描述，尽可能选用通用功能</a:t>
            </a:r>
          </a:p>
          <a:p>
            <a:pPr marL="365125" indent="-365125" eaLnBrk="1" hangingPunct="1"/>
            <a:r>
              <a:rPr lang="zh-CN" altLang="en-US" sz="2400" dirty="0"/>
              <a:t>目标机器</a:t>
            </a:r>
          </a:p>
          <a:p>
            <a:pPr marL="914400" lvl="1" indent="-457200" eaLnBrk="1" hangingPunct="1"/>
            <a:r>
              <a:rPr lang="en-US" altLang="zh-CN" sz="2400" dirty="0"/>
              <a:t>8086</a:t>
            </a:r>
            <a:r>
              <a:rPr lang="zh-CN" altLang="zh-CN" sz="2400" dirty="0"/>
              <a:t>是</a:t>
            </a:r>
            <a:r>
              <a:rPr lang="en-US" altLang="zh-CN" sz="2400" dirty="0"/>
              <a:t>16</a:t>
            </a:r>
            <a:r>
              <a:rPr lang="zh-CN" altLang="zh-CN" sz="2400" dirty="0"/>
              <a:t>位微处理器，</a:t>
            </a:r>
            <a:r>
              <a:rPr lang="zh-CN" altLang="en-US" sz="2400" dirty="0"/>
              <a:t>字节可寻址机器，</a:t>
            </a:r>
            <a:r>
              <a:rPr lang="en-US" altLang="zh-CN" sz="2400" dirty="0"/>
              <a:t>2</a:t>
            </a:r>
            <a:r>
              <a:rPr lang="zh-CN" altLang="en-US" sz="2400" dirty="0"/>
              <a:t>字节为一个字</a:t>
            </a:r>
          </a:p>
          <a:p>
            <a:pPr marL="914400" lvl="1" indent="-457200" eaLnBrk="1" hangingPunct="1"/>
            <a:r>
              <a:rPr lang="en-US" altLang="zh-CN" sz="2400" dirty="0"/>
              <a:t>8086</a:t>
            </a:r>
            <a:r>
              <a:rPr lang="zh-CN" altLang="zh-CN" sz="2400" dirty="0"/>
              <a:t>有</a:t>
            </a:r>
            <a:r>
              <a:rPr lang="en-US" altLang="zh-CN" sz="2400" dirty="0"/>
              <a:t>14</a:t>
            </a:r>
            <a:r>
              <a:rPr lang="zh-CN" altLang="zh-CN" sz="2400" dirty="0"/>
              <a:t>个</a:t>
            </a:r>
            <a:r>
              <a:rPr lang="en-US" altLang="zh-CN" sz="2400" dirty="0"/>
              <a:t>16</a:t>
            </a:r>
            <a:r>
              <a:rPr lang="zh-CN" altLang="zh-CN" sz="2400" dirty="0"/>
              <a:t>位寄存器，包括</a:t>
            </a:r>
            <a:r>
              <a:rPr lang="en-US" altLang="zh-CN" sz="2400" dirty="0"/>
              <a:t>4</a:t>
            </a:r>
            <a:r>
              <a:rPr lang="zh-CN" altLang="zh-CN" sz="2400" dirty="0"/>
              <a:t>个数据寄存器：</a:t>
            </a:r>
            <a:r>
              <a:rPr lang="en-US" altLang="zh-CN" sz="2400" dirty="0"/>
              <a:t>AX</a:t>
            </a:r>
            <a:r>
              <a:rPr lang="zh-CN" altLang="zh-CN" sz="2400" dirty="0"/>
              <a:t>、</a:t>
            </a:r>
            <a:r>
              <a:rPr lang="en-US" altLang="zh-CN" sz="2400" dirty="0"/>
              <a:t>BX</a:t>
            </a:r>
            <a:r>
              <a:rPr lang="zh-CN" altLang="zh-CN" sz="2400" dirty="0"/>
              <a:t>、</a:t>
            </a:r>
            <a:r>
              <a:rPr lang="en-US" altLang="zh-CN" sz="2400" dirty="0"/>
              <a:t>CX</a:t>
            </a:r>
            <a:r>
              <a:rPr lang="zh-CN" altLang="zh-CN" sz="2400" dirty="0"/>
              <a:t>、</a:t>
            </a:r>
            <a:r>
              <a:rPr lang="en-US" altLang="zh-CN" sz="2400" dirty="0"/>
              <a:t>DX</a:t>
            </a:r>
            <a:r>
              <a:rPr lang="zh-CN" altLang="zh-CN" sz="2400" dirty="0"/>
              <a:t>，</a:t>
            </a:r>
            <a:r>
              <a:rPr lang="en-US" altLang="zh-CN" sz="2400" dirty="0"/>
              <a:t>4</a:t>
            </a:r>
            <a:r>
              <a:rPr lang="zh-CN" altLang="zh-CN" sz="2400" dirty="0"/>
              <a:t>个段寄存器：</a:t>
            </a:r>
            <a:r>
              <a:rPr lang="en-US" altLang="zh-CN" sz="2400" dirty="0"/>
              <a:t>CS</a:t>
            </a:r>
            <a:r>
              <a:rPr lang="zh-CN" altLang="zh-CN" sz="2400" dirty="0"/>
              <a:t>、</a:t>
            </a:r>
            <a:r>
              <a:rPr lang="en-US" altLang="zh-CN" sz="2400" dirty="0"/>
              <a:t>DS</a:t>
            </a:r>
            <a:r>
              <a:rPr lang="zh-CN" altLang="zh-CN" sz="2400" dirty="0"/>
              <a:t>、</a:t>
            </a:r>
            <a:r>
              <a:rPr lang="en-US" altLang="zh-CN" sz="2400" dirty="0"/>
              <a:t>SS</a:t>
            </a:r>
            <a:r>
              <a:rPr lang="zh-CN" altLang="zh-CN" sz="2400" dirty="0"/>
              <a:t>、</a:t>
            </a:r>
            <a:r>
              <a:rPr lang="en-US" altLang="zh-CN" sz="2400" dirty="0"/>
              <a:t>ES</a:t>
            </a:r>
            <a:r>
              <a:rPr lang="zh-CN" altLang="zh-CN" sz="2400" dirty="0"/>
              <a:t>，</a:t>
            </a:r>
            <a:r>
              <a:rPr lang="en-US" altLang="zh-CN" sz="2400" dirty="0"/>
              <a:t>2</a:t>
            </a:r>
            <a:r>
              <a:rPr lang="zh-CN" altLang="zh-CN" sz="2400" dirty="0"/>
              <a:t>个变址寄存器：</a:t>
            </a:r>
            <a:r>
              <a:rPr lang="en-US" altLang="zh-CN" sz="2400" dirty="0"/>
              <a:t>SI</a:t>
            </a:r>
            <a:r>
              <a:rPr lang="zh-CN" altLang="zh-CN" sz="2400" dirty="0"/>
              <a:t>、</a:t>
            </a:r>
            <a:r>
              <a:rPr lang="en-US" altLang="zh-CN" sz="2400" dirty="0"/>
              <a:t>DI</a:t>
            </a:r>
            <a:r>
              <a:rPr lang="zh-CN" altLang="zh-CN" sz="2400" dirty="0"/>
              <a:t>，</a:t>
            </a:r>
            <a:r>
              <a:rPr lang="en-US" altLang="zh-CN" sz="2400" dirty="0"/>
              <a:t>2</a:t>
            </a:r>
            <a:r>
              <a:rPr lang="zh-CN" altLang="zh-CN" sz="2400" dirty="0"/>
              <a:t>个指针寄存器：</a:t>
            </a:r>
            <a:r>
              <a:rPr lang="en-US" altLang="zh-CN" sz="2400" dirty="0"/>
              <a:t>BP</a:t>
            </a:r>
            <a:r>
              <a:rPr lang="zh-CN" altLang="zh-CN" sz="2400" dirty="0"/>
              <a:t>、</a:t>
            </a:r>
            <a:r>
              <a:rPr lang="en-US" altLang="zh-CN" sz="2400" dirty="0"/>
              <a:t>SP</a:t>
            </a:r>
            <a:r>
              <a:rPr lang="zh-CN" altLang="zh-CN" sz="2400" dirty="0"/>
              <a:t>，</a:t>
            </a:r>
            <a:r>
              <a:rPr lang="en-US" altLang="zh-CN" sz="2400" dirty="0"/>
              <a:t>1</a:t>
            </a:r>
            <a:r>
              <a:rPr lang="zh-CN" altLang="zh-CN" sz="2400" dirty="0"/>
              <a:t>个指令寄存器</a:t>
            </a:r>
            <a:r>
              <a:rPr lang="en-US" altLang="zh-CN" sz="2400" dirty="0"/>
              <a:t>IP</a:t>
            </a:r>
            <a:r>
              <a:rPr lang="zh-CN" altLang="zh-CN" sz="2400" dirty="0"/>
              <a:t>，和</a:t>
            </a:r>
            <a:r>
              <a:rPr lang="en-US" altLang="zh-CN" sz="2400" dirty="0"/>
              <a:t>1</a:t>
            </a:r>
            <a:r>
              <a:rPr lang="zh-CN" altLang="zh-CN" sz="2400" dirty="0"/>
              <a:t>个标志寄存器：</a:t>
            </a:r>
            <a:r>
              <a:rPr lang="en-US" altLang="zh-CN" sz="2400" dirty="0"/>
              <a:t>flag</a:t>
            </a:r>
            <a:r>
              <a:rPr lang="zh-CN" altLang="zh-CN" sz="2400" dirty="0"/>
              <a:t>。</a:t>
            </a:r>
          </a:p>
          <a:p>
            <a:pPr marL="914400" lvl="1" indent="-457200" eaLnBrk="1" hangingPunct="1"/>
            <a:r>
              <a:rPr lang="zh-CN" altLang="zh-CN" sz="2000" dirty="0"/>
              <a:t>数据寄存器是通用寄存器，主要用来进行运算，一次可以按照</a:t>
            </a:r>
            <a:r>
              <a:rPr lang="en-US" altLang="zh-CN" sz="2000" dirty="0"/>
              <a:t>16</a:t>
            </a:r>
            <a:r>
              <a:rPr lang="zh-CN" altLang="zh-CN" sz="2000" dirty="0"/>
              <a:t>位访问，也可以单独访问高</a:t>
            </a:r>
            <a:r>
              <a:rPr lang="en-US" altLang="zh-CN" sz="2000" dirty="0"/>
              <a:t>8</a:t>
            </a:r>
            <a:r>
              <a:rPr lang="zh-CN" altLang="zh-CN" sz="2000" dirty="0"/>
              <a:t>位和低</a:t>
            </a:r>
            <a:r>
              <a:rPr lang="en-US" altLang="zh-CN" sz="2000" dirty="0"/>
              <a:t>8</a:t>
            </a:r>
            <a:r>
              <a:rPr lang="zh-CN" altLang="zh-CN" sz="2000" dirty="0"/>
              <a:t>位，分为</a:t>
            </a:r>
            <a:r>
              <a:rPr lang="en-US" altLang="zh-CN" sz="2000" dirty="0"/>
              <a:t>AH</a:t>
            </a:r>
            <a:r>
              <a:rPr lang="zh-CN" altLang="zh-CN" sz="2000" dirty="0"/>
              <a:t>、</a:t>
            </a:r>
            <a:r>
              <a:rPr lang="en-US" altLang="zh-CN" sz="2000" dirty="0"/>
              <a:t>AL</a:t>
            </a:r>
            <a:r>
              <a:rPr lang="zh-CN" altLang="zh-CN" sz="2000" dirty="0"/>
              <a:t>，</a:t>
            </a:r>
            <a:r>
              <a:rPr lang="en-US" altLang="zh-CN" sz="2000" dirty="0"/>
              <a:t>BH</a:t>
            </a:r>
            <a:r>
              <a:rPr lang="zh-CN" altLang="zh-CN" sz="2000" dirty="0"/>
              <a:t>、</a:t>
            </a:r>
            <a:r>
              <a:rPr lang="en-US" altLang="zh-CN" sz="2000" dirty="0"/>
              <a:t>BL</a:t>
            </a:r>
            <a:r>
              <a:rPr lang="zh-CN" altLang="zh-CN" sz="2000" dirty="0"/>
              <a:t>，</a:t>
            </a:r>
            <a:r>
              <a:rPr lang="en-US" altLang="zh-CN" sz="2000" dirty="0"/>
              <a:t>CH</a:t>
            </a:r>
            <a:r>
              <a:rPr lang="zh-CN" altLang="zh-CN" sz="2000" dirty="0"/>
              <a:t>、</a:t>
            </a:r>
            <a:r>
              <a:rPr lang="en-US" altLang="zh-CN" sz="2000" dirty="0"/>
              <a:t>CL</a:t>
            </a:r>
            <a:r>
              <a:rPr lang="zh-CN" altLang="zh-CN" sz="2000" dirty="0"/>
              <a:t>，</a:t>
            </a:r>
            <a:r>
              <a:rPr lang="en-US" altLang="zh-CN" sz="2000" dirty="0"/>
              <a:t>DH</a:t>
            </a:r>
            <a:r>
              <a:rPr lang="zh-CN" altLang="zh-CN" sz="2000" dirty="0"/>
              <a:t>、</a:t>
            </a:r>
            <a:r>
              <a:rPr lang="en-US" altLang="zh-CN" sz="2000" dirty="0"/>
              <a:t>DL</a:t>
            </a:r>
            <a:r>
              <a:rPr lang="zh-CN" altLang="zh-CN" sz="2000" dirty="0"/>
              <a:t>。</a:t>
            </a:r>
          </a:p>
          <a:p>
            <a:pPr marL="914400" lvl="1" indent="-457200" eaLnBrk="1" hangingPunct="1"/>
            <a:endParaRPr lang="zh-CN" altLang="en-US" sz="2000" dirty="0"/>
          </a:p>
          <a:p>
            <a:pPr marL="1333500" lvl="2" indent="-419100" eaLnBrk="1" hangingPunct="1">
              <a:buFontTx/>
              <a:buNone/>
            </a:pPr>
            <a:endParaRPr lang="en-US" altLang="zh-CN" dirty="0"/>
          </a:p>
        </p:txBody>
      </p:sp>
    </p:spTree>
    <p:extLst>
      <p:ext uri="{BB962C8B-B14F-4D97-AF65-F5344CB8AC3E}">
        <p14:creationId xmlns:p14="http://schemas.microsoft.com/office/powerpoint/2010/main" val="2970875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5496" y="13742"/>
            <a:ext cx="4824536" cy="685800"/>
          </a:xfrm>
          <a:noFill/>
        </p:spPr>
        <p:txBody>
          <a:bodyPr lIns="92075" tIns="46038" rIns="92075" bIns="46038">
            <a:noAutofit/>
          </a:bodyPr>
          <a:lstStyle/>
          <a:p>
            <a:pPr eaLnBrk="1" hangingPunct="1"/>
            <a:r>
              <a:rPr lang="zh-CN" altLang="en-US" b="1" dirty="0">
                <a:solidFill>
                  <a:srgbClr val="CC0099"/>
                </a:solidFill>
                <a:ea typeface="隶书" pitchFamily="49" charset="-122"/>
              </a:rPr>
              <a:t>目标机</a:t>
            </a:r>
            <a:r>
              <a:rPr lang="zh-CN" altLang="zh-CN" b="1" dirty="0">
                <a:solidFill>
                  <a:srgbClr val="CC0099"/>
                </a:solidFill>
                <a:ea typeface="隶书" pitchFamily="49" charset="-122"/>
              </a:rPr>
              <a:t>及指令系统简介</a:t>
            </a:r>
            <a:endParaRPr lang="zh-CN" altLang="en-US" b="1" dirty="0">
              <a:solidFill>
                <a:srgbClr val="CC0099"/>
              </a:solidFill>
              <a:ea typeface="隶书" pitchFamily="49" charset="-122"/>
            </a:endParaRPr>
          </a:p>
        </p:txBody>
      </p:sp>
      <p:sp>
        <p:nvSpPr>
          <p:cNvPr id="19459" name="Rectangle 3"/>
          <p:cNvSpPr>
            <a:spLocks noGrp="1" noChangeArrowheads="1"/>
          </p:cNvSpPr>
          <p:nvPr>
            <p:ph type="body" idx="1"/>
          </p:nvPr>
        </p:nvSpPr>
        <p:spPr>
          <a:xfrm>
            <a:off x="251520" y="843558"/>
            <a:ext cx="4680520" cy="2088232"/>
          </a:xfrm>
          <a:solidFill>
            <a:schemeClr val="bg1"/>
          </a:solidFill>
        </p:spPr>
        <p:txBody>
          <a:bodyPr lIns="92075" tIns="46038" rIns="92075" bIns="46038">
            <a:normAutofit/>
          </a:bodyPr>
          <a:lstStyle/>
          <a:p>
            <a:pPr marL="365125" indent="-365125" eaLnBrk="1" hangingPunct="1"/>
            <a:r>
              <a:rPr lang="zh-CN" altLang="en-US" sz="2000" dirty="0"/>
              <a:t>熟悉目标机器和它的指令系统</a:t>
            </a:r>
          </a:p>
          <a:p>
            <a:pPr marL="914400" lvl="1" indent="-457200" eaLnBrk="1" hangingPunct="1"/>
            <a:r>
              <a:rPr lang="zh-CN" altLang="en-US" sz="2000" dirty="0"/>
              <a:t>是设计一个好的代码生成器的先决条件</a:t>
            </a:r>
          </a:p>
          <a:p>
            <a:pPr marL="914400" lvl="1" indent="-457200"/>
            <a:r>
              <a:rPr lang="zh-CN" altLang="en-US" sz="2000" dirty="0"/>
              <a:t>不存在通用的有效的机器描述，尽可能选用通用功能</a:t>
            </a:r>
          </a:p>
          <a:p>
            <a:pPr marL="365125" indent="-365125" eaLnBrk="1" hangingPunct="1"/>
            <a:r>
              <a:rPr lang="zh-CN" altLang="en-US" sz="2000" dirty="0"/>
              <a:t>目标机器结构</a:t>
            </a:r>
          </a:p>
          <a:p>
            <a:pPr marL="914400" lvl="1" indent="-457200" eaLnBrk="1" hangingPunct="1"/>
            <a:endParaRPr lang="zh-CN" altLang="en-US" sz="2000" dirty="0"/>
          </a:p>
          <a:p>
            <a:pPr marL="1333500" lvl="2" indent="-419100" eaLnBrk="1" hangingPunct="1">
              <a:buFontTx/>
              <a:buNone/>
            </a:pPr>
            <a:endParaRPr lang="en-US" altLang="zh-CN"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2828086374"/>
              </p:ext>
            </p:extLst>
          </p:nvPr>
        </p:nvGraphicFramePr>
        <p:xfrm>
          <a:off x="4932040" y="195486"/>
          <a:ext cx="4211960" cy="4935439"/>
        </p:xfrm>
        <a:graphic>
          <a:graphicData uri="http://schemas.openxmlformats.org/presentationml/2006/ole">
            <mc:AlternateContent xmlns:mc="http://schemas.openxmlformats.org/markup-compatibility/2006">
              <mc:Choice xmlns:v="urn:schemas-microsoft-com:vml" Requires="v">
                <p:oleObj name="Visio" r:id="rId3" imgW="3323617" imgH="3669030" progId="Visio.Drawing.11">
                  <p:embed/>
                </p:oleObj>
              </mc:Choice>
              <mc:Fallback>
                <p:oleObj name="Visio" r:id="rId3" imgW="3323617" imgH="366903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040" y="195486"/>
                        <a:ext cx="4211960" cy="4935439"/>
                      </a:xfrm>
                      <a:prstGeom prst="rect">
                        <a:avLst/>
                      </a:prstGeom>
                      <a:noFill/>
                    </p:spPr>
                  </p:pic>
                </p:oleObj>
              </mc:Fallback>
            </mc:AlternateContent>
          </a:graphicData>
        </a:graphic>
      </p:graphicFrame>
      <p:sp>
        <p:nvSpPr>
          <p:cNvPr id="6" name="矩形 5"/>
          <p:cNvSpPr/>
          <p:nvPr/>
        </p:nvSpPr>
        <p:spPr>
          <a:xfrm>
            <a:off x="5436096" y="339502"/>
            <a:ext cx="1296144" cy="576064"/>
          </a:xfrm>
          <a:prstGeom prst="rect">
            <a:avLst/>
          </a:prstGeom>
          <a:noFill/>
          <a:ln w="28575">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77246" y="3147814"/>
            <a:ext cx="4572000" cy="1631216"/>
          </a:xfrm>
          <a:prstGeom prst="rect">
            <a:avLst/>
          </a:prstGeom>
          <a:solidFill>
            <a:schemeClr val="bg1"/>
          </a:solidFill>
        </p:spPr>
        <p:txBody>
          <a:bodyPr>
            <a:spAutoFit/>
          </a:bodyPr>
          <a:lstStyle/>
          <a:p>
            <a:pPr marL="342900" indent="-342900">
              <a:buFont typeface="Arial" panose="020B0604020202020204" pitchFamily="34" charset="0"/>
              <a:buChar char="•"/>
            </a:pPr>
            <a:r>
              <a:rPr lang="zh-CN" altLang="zh-CN" sz="2000" dirty="0"/>
              <a:t>数据寄存器是通用寄存器</a:t>
            </a:r>
            <a:endParaRPr lang="en-US" altLang="zh-CN" sz="2000" dirty="0"/>
          </a:p>
          <a:p>
            <a:pPr marL="342900" indent="-342900">
              <a:buFont typeface="Arial" panose="020B0604020202020204" pitchFamily="34" charset="0"/>
              <a:buChar char="•"/>
            </a:pPr>
            <a:r>
              <a:rPr lang="zh-CN" altLang="zh-CN" sz="2000" dirty="0"/>
              <a:t>用来</a:t>
            </a:r>
            <a:r>
              <a:rPr lang="zh-CN" altLang="en-US" sz="2000" dirty="0"/>
              <a:t>存放参加</a:t>
            </a:r>
            <a:r>
              <a:rPr lang="zh-CN" altLang="zh-CN" sz="2000" dirty="0"/>
              <a:t>运算</a:t>
            </a:r>
            <a:r>
              <a:rPr lang="zh-CN" altLang="en-US" sz="2000" dirty="0"/>
              <a:t>的数据</a:t>
            </a:r>
            <a:endParaRPr lang="en-US" altLang="zh-CN" sz="2000" dirty="0"/>
          </a:p>
          <a:p>
            <a:pPr marL="342900" indent="-342900">
              <a:buFont typeface="Arial" panose="020B0604020202020204" pitchFamily="34" charset="0"/>
              <a:buChar char="•"/>
            </a:pPr>
            <a:r>
              <a:rPr lang="zh-CN" altLang="zh-CN" sz="2000" dirty="0"/>
              <a:t>一次可以按照</a:t>
            </a:r>
            <a:r>
              <a:rPr lang="en-US" altLang="zh-CN" sz="2000" dirty="0"/>
              <a:t>16</a:t>
            </a:r>
            <a:r>
              <a:rPr lang="zh-CN" altLang="zh-CN" sz="2000" dirty="0"/>
              <a:t>位访问，也可以单独访问高</a:t>
            </a:r>
            <a:r>
              <a:rPr lang="en-US" altLang="zh-CN" sz="2000" dirty="0"/>
              <a:t>8</a:t>
            </a:r>
            <a:r>
              <a:rPr lang="zh-CN" altLang="zh-CN" sz="2000" dirty="0"/>
              <a:t>位和低</a:t>
            </a:r>
            <a:r>
              <a:rPr lang="en-US" altLang="zh-CN" sz="2000" dirty="0"/>
              <a:t>8</a:t>
            </a:r>
            <a:r>
              <a:rPr lang="zh-CN" altLang="zh-CN" sz="2000" dirty="0"/>
              <a:t>位，分为</a:t>
            </a:r>
            <a:r>
              <a:rPr lang="en-US" altLang="zh-CN" sz="2000" dirty="0"/>
              <a:t>AH</a:t>
            </a:r>
            <a:r>
              <a:rPr lang="zh-CN" altLang="zh-CN" sz="2000" dirty="0"/>
              <a:t>、</a:t>
            </a:r>
            <a:r>
              <a:rPr lang="en-US" altLang="zh-CN" sz="2000" dirty="0"/>
              <a:t>AL</a:t>
            </a:r>
            <a:r>
              <a:rPr lang="zh-CN" altLang="zh-CN" sz="2000" dirty="0"/>
              <a:t>，</a:t>
            </a:r>
            <a:r>
              <a:rPr lang="en-US" altLang="zh-CN" sz="2000" dirty="0"/>
              <a:t>BH</a:t>
            </a:r>
            <a:r>
              <a:rPr lang="zh-CN" altLang="zh-CN" sz="2000" dirty="0"/>
              <a:t>、</a:t>
            </a:r>
            <a:r>
              <a:rPr lang="en-US" altLang="zh-CN" sz="2000" dirty="0"/>
              <a:t>BL</a:t>
            </a:r>
            <a:r>
              <a:rPr lang="zh-CN" altLang="zh-CN" sz="2000" dirty="0"/>
              <a:t>，</a:t>
            </a:r>
            <a:r>
              <a:rPr lang="en-US" altLang="zh-CN" sz="2000" dirty="0"/>
              <a:t>CH</a:t>
            </a:r>
            <a:r>
              <a:rPr lang="zh-CN" altLang="zh-CN" sz="2000" dirty="0"/>
              <a:t>、</a:t>
            </a:r>
            <a:r>
              <a:rPr lang="en-US" altLang="zh-CN" sz="2000" dirty="0"/>
              <a:t>CL</a:t>
            </a:r>
            <a:r>
              <a:rPr lang="zh-CN" altLang="zh-CN" sz="2000" dirty="0"/>
              <a:t>，</a:t>
            </a:r>
            <a:r>
              <a:rPr lang="en-US" altLang="zh-CN" sz="2000" dirty="0"/>
              <a:t>DH</a:t>
            </a:r>
            <a:r>
              <a:rPr lang="zh-CN" altLang="zh-CN" sz="2000" dirty="0"/>
              <a:t>、</a:t>
            </a:r>
            <a:r>
              <a:rPr lang="en-US" altLang="zh-CN" sz="2000" dirty="0"/>
              <a:t>DL</a:t>
            </a:r>
            <a:r>
              <a:rPr lang="zh-CN" altLang="zh-CN" sz="2000" dirty="0"/>
              <a:t>。</a:t>
            </a:r>
            <a:endParaRPr lang="zh-CN" altLang="en-US" sz="2000" dirty="0"/>
          </a:p>
        </p:txBody>
      </p:sp>
    </p:spTree>
    <p:extLst>
      <p:ext uri="{BB962C8B-B14F-4D97-AF65-F5344CB8AC3E}">
        <p14:creationId xmlns:p14="http://schemas.microsoft.com/office/powerpoint/2010/main" val="254888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 name="对象 37"/>
          <p:cNvGraphicFramePr>
            <a:graphicFrameLocks noChangeAspect="1"/>
          </p:cNvGraphicFramePr>
          <p:nvPr>
            <p:extLst>
              <p:ext uri="{D42A27DB-BD31-4B8C-83A1-F6EECF244321}">
                <p14:modId xmlns:p14="http://schemas.microsoft.com/office/powerpoint/2010/main" val="417209834"/>
              </p:ext>
            </p:extLst>
          </p:nvPr>
        </p:nvGraphicFramePr>
        <p:xfrm>
          <a:off x="3851920" y="1029153"/>
          <a:ext cx="2462505" cy="3270789"/>
        </p:xfrm>
        <a:graphic>
          <a:graphicData uri="http://schemas.openxmlformats.org/presentationml/2006/ole">
            <mc:AlternateContent xmlns:mc="http://schemas.openxmlformats.org/markup-compatibility/2006">
              <mc:Choice xmlns:v="urn:schemas-microsoft-com:vml" Requires="v">
                <p:oleObj name="Visio" r:id="rId2" imgW="1613660" imgH="1768392" progId="Visio.Drawing.11">
                  <p:embed/>
                </p:oleObj>
              </mc:Choice>
              <mc:Fallback>
                <p:oleObj name="Visio" r:id="rId2" imgW="1613660" imgH="1768392"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920" y="1029153"/>
                        <a:ext cx="2462505" cy="3270789"/>
                      </a:xfrm>
                      <a:prstGeom prst="rect">
                        <a:avLst/>
                      </a:prstGeom>
                      <a:noFill/>
                    </p:spPr>
                  </p:pic>
                </p:oleObj>
              </mc:Fallback>
            </mc:AlternateContent>
          </a:graphicData>
        </a:graphic>
      </p:graphicFrame>
      <p:sp>
        <p:nvSpPr>
          <p:cNvPr id="19459" name="内容占位符 2"/>
          <p:cNvSpPr>
            <a:spLocks noGrp="1"/>
          </p:cNvSpPr>
          <p:nvPr>
            <p:ph idx="1"/>
          </p:nvPr>
        </p:nvSpPr>
        <p:spPr>
          <a:xfrm>
            <a:off x="107504" y="1059582"/>
            <a:ext cx="3672408" cy="1595843"/>
          </a:xfrm>
        </p:spPr>
        <p:txBody>
          <a:bodyPr>
            <a:normAutofit fontScale="92500" lnSpcReduction="10000"/>
          </a:bodyPr>
          <a:lstStyle/>
          <a:p>
            <a:pPr>
              <a:defRPr/>
            </a:pPr>
            <a:r>
              <a:rPr lang="zh-CN" altLang="zh-CN" sz="2200" dirty="0"/>
              <a:t>内存分为代码段、数据段、堆栈段、扩展段</a:t>
            </a:r>
            <a:r>
              <a:rPr lang="en-US" altLang="zh-CN" sz="2200" dirty="0"/>
              <a:t>4</a:t>
            </a:r>
            <a:r>
              <a:rPr lang="zh-CN" altLang="zh-CN" sz="2200" dirty="0"/>
              <a:t>个段。</a:t>
            </a:r>
            <a:endParaRPr lang="en-US" altLang="zh-CN" sz="2200" dirty="0"/>
          </a:p>
          <a:p>
            <a:pPr>
              <a:defRPr/>
            </a:pPr>
            <a:r>
              <a:rPr lang="zh-CN" altLang="zh-CN" sz="2200" dirty="0"/>
              <a:t>分别用</a:t>
            </a:r>
            <a:r>
              <a:rPr lang="en-US" altLang="zh-CN" sz="2200" dirty="0"/>
              <a:t>CS</a:t>
            </a:r>
            <a:r>
              <a:rPr lang="zh-CN" altLang="zh-CN" sz="2200" dirty="0"/>
              <a:t>、</a:t>
            </a:r>
            <a:r>
              <a:rPr lang="en-US" altLang="zh-CN" sz="2200" dirty="0"/>
              <a:t>DS</a:t>
            </a:r>
            <a:r>
              <a:rPr lang="zh-CN" altLang="zh-CN" sz="2200" dirty="0"/>
              <a:t>、</a:t>
            </a:r>
            <a:r>
              <a:rPr lang="en-US" altLang="zh-CN" sz="2200" dirty="0"/>
              <a:t>SS</a:t>
            </a:r>
            <a:r>
              <a:rPr lang="zh-CN" altLang="zh-CN" sz="2200" dirty="0"/>
              <a:t>、</a:t>
            </a:r>
            <a:r>
              <a:rPr lang="en-US" altLang="zh-CN" sz="2200" dirty="0"/>
              <a:t>ES</a:t>
            </a:r>
            <a:r>
              <a:rPr lang="zh-CN" altLang="zh-CN" sz="2200" dirty="0"/>
              <a:t>四个段寄存器</a:t>
            </a:r>
            <a:r>
              <a:rPr lang="zh-CN" altLang="en-US" sz="2200" dirty="0"/>
              <a:t>来存放各个段的首地址</a:t>
            </a:r>
            <a:r>
              <a:rPr lang="zh-CN" altLang="zh-CN" sz="2200" dirty="0"/>
              <a:t>。</a:t>
            </a:r>
            <a:endParaRPr lang="en-US" altLang="zh-CN" sz="2200" dirty="0"/>
          </a:p>
          <a:p>
            <a:pPr marL="0" indent="0">
              <a:buFontTx/>
              <a:buNone/>
              <a:defRPr/>
            </a:pPr>
            <a:endParaRPr lang="zh-CN" altLang="en-US" sz="2200" dirty="0"/>
          </a:p>
        </p:txBody>
      </p:sp>
      <p:sp>
        <p:nvSpPr>
          <p:cNvPr id="5" name="矩形 4"/>
          <p:cNvSpPr/>
          <p:nvPr/>
        </p:nvSpPr>
        <p:spPr>
          <a:xfrm>
            <a:off x="7164288" y="627534"/>
            <a:ext cx="1800200" cy="86409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代码段</a:t>
            </a:r>
          </a:p>
        </p:txBody>
      </p:sp>
      <p:sp>
        <p:nvSpPr>
          <p:cNvPr id="6" name="矩形 5"/>
          <p:cNvSpPr/>
          <p:nvPr/>
        </p:nvSpPr>
        <p:spPr>
          <a:xfrm>
            <a:off x="7164288" y="1635647"/>
            <a:ext cx="1800200" cy="7920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solidFill>
                <a:schemeClr val="tx1"/>
              </a:solidFill>
            </a:endParaRPr>
          </a:p>
          <a:p>
            <a:pPr algn="ctr"/>
            <a:r>
              <a:rPr lang="zh-CN" altLang="en-US" dirty="0">
                <a:solidFill>
                  <a:schemeClr val="tx1"/>
                </a:solidFill>
              </a:rPr>
              <a:t>数据段</a:t>
            </a:r>
          </a:p>
        </p:txBody>
      </p:sp>
      <p:cxnSp>
        <p:nvCxnSpPr>
          <p:cNvPr id="7" name="直接连接符 6"/>
          <p:cNvCxnSpPr/>
          <p:nvPr/>
        </p:nvCxnSpPr>
        <p:spPr>
          <a:xfrm>
            <a:off x="7164288" y="915566"/>
            <a:ext cx="18002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7164288" y="1913391"/>
            <a:ext cx="18002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7164288" y="3507854"/>
            <a:ext cx="18002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164288" y="2571750"/>
            <a:ext cx="1800200" cy="12961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堆栈段</a:t>
            </a:r>
          </a:p>
        </p:txBody>
      </p:sp>
      <p:cxnSp>
        <p:nvCxnSpPr>
          <p:cNvPr id="11" name="直接连接符 10"/>
          <p:cNvCxnSpPr/>
          <p:nvPr/>
        </p:nvCxnSpPr>
        <p:spPr>
          <a:xfrm>
            <a:off x="7164288" y="4299942"/>
            <a:ext cx="18002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7164288" y="4017817"/>
            <a:ext cx="1800200" cy="7200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solidFill>
                <a:schemeClr val="tx1"/>
              </a:solidFill>
            </a:endParaRPr>
          </a:p>
          <a:p>
            <a:pPr algn="ctr"/>
            <a:r>
              <a:rPr lang="zh-CN" altLang="en-US" dirty="0">
                <a:solidFill>
                  <a:schemeClr val="tx1"/>
                </a:solidFill>
              </a:rPr>
              <a:t>扩展段</a:t>
            </a:r>
          </a:p>
        </p:txBody>
      </p:sp>
      <p:cxnSp>
        <p:nvCxnSpPr>
          <p:cNvPr id="30" name="直接箭头连接符 29"/>
          <p:cNvCxnSpPr/>
          <p:nvPr/>
        </p:nvCxnSpPr>
        <p:spPr>
          <a:xfrm flipV="1">
            <a:off x="6084168" y="627534"/>
            <a:ext cx="1080120" cy="223224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flipV="1">
            <a:off x="6084168" y="1682754"/>
            <a:ext cx="1080120" cy="348937"/>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6084168" y="2546850"/>
            <a:ext cx="1080120"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6031084" y="2251458"/>
            <a:ext cx="1080120" cy="177903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3" name="TextBox 42"/>
          <p:cNvSpPr txBox="1"/>
          <p:nvPr/>
        </p:nvSpPr>
        <p:spPr>
          <a:xfrm>
            <a:off x="7884368" y="186194"/>
            <a:ext cx="792088" cy="369332"/>
          </a:xfrm>
          <a:prstGeom prst="rect">
            <a:avLst/>
          </a:prstGeom>
          <a:noFill/>
        </p:spPr>
        <p:txBody>
          <a:bodyPr wrap="square" rtlCol="0">
            <a:spAutoFit/>
          </a:bodyPr>
          <a:lstStyle/>
          <a:p>
            <a:r>
              <a:rPr lang="zh-CN" altLang="en-US" dirty="0"/>
              <a:t>内存</a:t>
            </a:r>
          </a:p>
        </p:txBody>
      </p:sp>
      <p:cxnSp>
        <p:nvCxnSpPr>
          <p:cNvPr id="47" name="直接箭头连接符 46"/>
          <p:cNvCxnSpPr/>
          <p:nvPr/>
        </p:nvCxnSpPr>
        <p:spPr>
          <a:xfrm flipV="1">
            <a:off x="6031084" y="797267"/>
            <a:ext cx="1277220" cy="2343709"/>
          </a:xfrm>
          <a:prstGeom prst="straightConnector1">
            <a:avLst/>
          </a:prstGeom>
          <a:ln w="28575">
            <a:solidFill>
              <a:srgbClr val="0000CC"/>
            </a:solidFill>
            <a:tailEnd type="arrow"/>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4260344" y="2803250"/>
            <a:ext cx="1512168" cy="416572"/>
          </a:xfrm>
          <a:prstGeom prst="rect">
            <a:avLst/>
          </a:prstGeom>
          <a:noFill/>
          <a:ln w="28575">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4260344" y="3219821"/>
            <a:ext cx="1512168" cy="233495"/>
          </a:xfrm>
          <a:prstGeom prst="rect">
            <a:avLst/>
          </a:prstGeom>
          <a:noFill/>
          <a:ln w="28575">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260344" y="2571750"/>
            <a:ext cx="1512168" cy="233495"/>
          </a:xfrm>
          <a:prstGeom prst="rect">
            <a:avLst/>
          </a:prstGeom>
          <a:noFill/>
          <a:ln w="28575">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4894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50"/>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30"/>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subTnLst>
                                    <p:set>
                                      <p:cBhvr override="childStyle">
                                        <p:cTn dur="1" fill="hold" display="0" masterRel="nextClick" afterEffect="1"/>
                                        <p:tgtEl>
                                          <p:spTgt spid="33"/>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35"/>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51"/>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subTnLst>
                                    <p:set>
                                      <p:cBhvr override="childStyle">
                                        <p:cTn dur="1" fill="hold" display="0" masterRel="nextClick" afterEffect="1"/>
                                        <p:tgtEl>
                                          <p:spTgt spid="37"/>
                                        </p:tgtEl>
                                        <p:attrNameLst>
                                          <p:attrName>style.visibility</p:attrName>
                                        </p:attrNameLst>
                                      </p:cBhvr>
                                      <p:to>
                                        <p:strVal val="hidden"/>
                                      </p:to>
                                    </p:set>
                                  </p:sub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179512" y="195486"/>
            <a:ext cx="7772400" cy="702469"/>
          </a:xfrm>
        </p:spPr>
        <p:txBody>
          <a:bodyPr>
            <a:normAutofit/>
          </a:bodyPr>
          <a:lstStyle/>
          <a:p>
            <a:r>
              <a:rPr lang="zh-CN" altLang="zh-CN" sz="3200" dirty="0"/>
              <a:t>标志寄存器</a:t>
            </a:r>
            <a:endParaRPr lang="zh-CN" altLang="en-US" sz="3200" dirty="0"/>
          </a:p>
        </p:txBody>
      </p:sp>
      <p:sp>
        <p:nvSpPr>
          <p:cNvPr id="6" name="矩形 5"/>
          <p:cNvSpPr/>
          <p:nvPr/>
        </p:nvSpPr>
        <p:spPr>
          <a:xfrm>
            <a:off x="5076056" y="1840706"/>
            <a:ext cx="3523781" cy="2862322"/>
          </a:xfrm>
          <a:prstGeom prst="rect">
            <a:avLst/>
          </a:prstGeom>
        </p:spPr>
        <p:txBody>
          <a:bodyPr wrap="square">
            <a:spAutoFit/>
          </a:bodyPr>
          <a:lstStyle/>
          <a:p>
            <a:pPr marL="457200" indent="-457200" eaLnBrk="1" hangingPunct="1">
              <a:buFont typeface="Wingdings" panose="05000000000000000000" pitchFamily="2" charset="2"/>
              <a:buChar char="Ø"/>
              <a:defRPr/>
            </a:pPr>
            <a:r>
              <a:rPr lang="en-US" altLang="zh-CN" dirty="0"/>
              <a:t>CF:</a:t>
            </a:r>
            <a:r>
              <a:rPr lang="zh-CN" altLang="en-US" dirty="0"/>
              <a:t>进位标志位</a:t>
            </a:r>
            <a:endParaRPr lang="en-US" altLang="zh-CN" dirty="0"/>
          </a:p>
          <a:p>
            <a:pPr marL="457200" indent="-457200" eaLnBrk="1" hangingPunct="1">
              <a:buFont typeface="Wingdings" panose="05000000000000000000" pitchFamily="2" charset="2"/>
              <a:buChar char="Ø"/>
              <a:defRPr/>
            </a:pPr>
            <a:r>
              <a:rPr lang="en-US" altLang="zh-CN" dirty="0"/>
              <a:t>ZF:</a:t>
            </a:r>
            <a:r>
              <a:rPr lang="zh-CN" altLang="zh-CN" dirty="0"/>
              <a:t>零标志位</a:t>
            </a:r>
            <a:endParaRPr lang="en-US" altLang="zh-CN" dirty="0"/>
          </a:p>
          <a:p>
            <a:pPr marL="457200" indent="-457200" eaLnBrk="1" hangingPunct="1">
              <a:buFont typeface="Wingdings" panose="05000000000000000000" pitchFamily="2" charset="2"/>
              <a:buChar char="Ø"/>
              <a:defRPr/>
            </a:pPr>
            <a:r>
              <a:rPr lang="en-US" altLang="zh-CN" dirty="0"/>
              <a:t>PF:</a:t>
            </a:r>
            <a:r>
              <a:rPr lang="zh-CN" altLang="zh-CN" dirty="0"/>
              <a:t>奇偶标志位</a:t>
            </a:r>
            <a:endParaRPr lang="en-US" altLang="zh-CN" dirty="0"/>
          </a:p>
          <a:p>
            <a:pPr marL="457200" indent="-457200" eaLnBrk="1" hangingPunct="1">
              <a:buFont typeface="Wingdings" panose="05000000000000000000" pitchFamily="2" charset="2"/>
              <a:buChar char="Ø"/>
              <a:defRPr/>
            </a:pPr>
            <a:r>
              <a:rPr lang="en-US" altLang="zh-CN" dirty="0"/>
              <a:t>SF:</a:t>
            </a:r>
            <a:r>
              <a:rPr lang="zh-CN" altLang="zh-CN" dirty="0"/>
              <a:t>符号标志位</a:t>
            </a:r>
            <a:endParaRPr lang="en-US" altLang="zh-CN" dirty="0"/>
          </a:p>
          <a:p>
            <a:pPr marL="457200" indent="-457200" eaLnBrk="1" hangingPunct="1">
              <a:buFont typeface="Wingdings" panose="05000000000000000000" pitchFamily="2" charset="2"/>
              <a:buChar char="Ø"/>
              <a:defRPr/>
            </a:pPr>
            <a:r>
              <a:rPr lang="en-US" altLang="zh-CN" dirty="0"/>
              <a:t>OF:</a:t>
            </a:r>
            <a:r>
              <a:rPr lang="zh-CN" altLang="zh-CN" dirty="0"/>
              <a:t>溢出标志位</a:t>
            </a:r>
            <a:endParaRPr lang="en-US" altLang="zh-CN" dirty="0"/>
          </a:p>
          <a:p>
            <a:pPr marL="457200" indent="-457200" eaLnBrk="1" hangingPunct="1">
              <a:buFont typeface="Wingdings" panose="05000000000000000000" pitchFamily="2" charset="2"/>
              <a:buChar char="Ø"/>
              <a:defRPr/>
            </a:pPr>
            <a:r>
              <a:rPr lang="en-US" altLang="zh-CN" dirty="0"/>
              <a:t>DF:</a:t>
            </a:r>
            <a:r>
              <a:rPr lang="zh-CN" altLang="zh-CN" dirty="0"/>
              <a:t>方向标志位</a:t>
            </a:r>
            <a:endParaRPr lang="en-US" altLang="zh-CN" dirty="0"/>
          </a:p>
          <a:p>
            <a:pPr marL="457200" indent="-457200" eaLnBrk="1" hangingPunct="1">
              <a:buFont typeface="Wingdings" panose="05000000000000000000" pitchFamily="2" charset="2"/>
              <a:buChar char="Ø"/>
              <a:defRPr/>
            </a:pPr>
            <a:r>
              <a:rPr lang="en-US" altLang="zh-CN" dirty="0"/>
              <a:t> IF:</a:t>
            </a:r>
            <a:r>
              <a:rPr lang="zh-CN" altLang="zh-CN" dirty="0"/>
              <a:t>中断允许标志</a:t>
            </a:r>
            <a:endParaRPr lang="en-US" altLang="zh-CN" dirty="0"/>
          </a:p>
          <a:p>
            <a:pPr marL="457200" indent="-457200" eaLnBrk="1" hangingPunct="1">
              <a:buFont typeface="Wingdings" panose="05000000000000000000" pitchFamily="2" charset="2"/>
              <a:buChar char="Ø"/>
              <a:defRPr/>
            </a:pPr>
            <a:r>
              <a:rPr lang="en-US" altLang="zh-CN" dirty="0"/>
              <a:t>TF:</a:t>
            </a:r>
            <a:r>
              <a:rPr lang="zh-CN" altLang="zh-CN" dirty="0"/>
              <a:t>单步跟踪标志</a:t>
            </a:r>
            <a:endParaRPr lang="en-US" altLang="zh-CN" dirty="0"/>
          </a:p>
          <a:p>
            <a:pPr marL="457200" indent="-457200" eaLnBrk="1" hangingPunct="1">
              <a:buFont typeface="Wingdings" panose="05000000000000000000" pitchFamily="2" charset="2"/>
              <a:buChar char="Ø"/>
              <a:defRPr/>
            </a:pPr>
            <a:r>
              <a:rPr lang="en-US" altLang="zh-CN" dirty="0"/>
              <a:t>AF:</a:t>
            </a:r>
            <a:r>
              <a:rPr lang="zh-CN" altLang="zh-CN" dirty="0"/>
              <a:t>辅助进位</a:t>
            </a:r>
            <a:r>
              <a:rPr lang="en-US" altLang="zh-CN" dirty="0"/>
              <a:t>/</a:t>
            </a:r>
            <a:r>
              <a:rPr lang="zh-CN" altLang="zh-CN" dirty="0"/>
              <a:t>借位标志位</a:t>
            </a:r>
            <a:endParaRPr lang="en-US" altLang="zh-CN" dirty="0"/>
          </a:p>
          <a:p>
            <a:pPr marL="457200" indent="-457200" eaLnBrk="1" hangingPunct="1">
              <a:buFont typeface="Wingdings" panose="05000000000000000000" pitchFamily="2" charset="2"/>
              <a:buChar char="Ø"/>
              <a:defRPr/>
            </a:pPr>
            <a:r>
              <a:rPr lang="zh-CN" altLang="en-US" dirty="0"/>
              <a:t>其余</a:t>
            </a:r>
            <a:r>
              <a:rPr lang="zh-CN" altLang="zh-CN" dirty="0"/>
              <a:t>没有使用</a:t>
            </a:r>
            <a:endParaRPr lang="zh-CN" altLang="en-US" dirty="0"/>
          </a:p>
        </p:txBody>
      </p:sp>
      <p:pic>
        <p:nvPicPr>
          <p:cNvPr id="38913"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843558"/>
            <a:ext cx="8964488" cy="7200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323528" y="2130410"/>
            <a:ext cx="4338228" cy="1200329"/>
          </a:xfrm>
          <a:prstGeom prst="rect">
            <a:avLst/>
          </a:prstGeom>
        </p:spPr>
        <p:txBody>
          <a:bodyPr wrap="square">
            <a:spAutoFit/>
          </a:bodyPr>
          <a:lstStyle/>
          <a:p>
            <a:pPr marL="342900" indent="-342900">
              <a:buFont typeface="Arial" panose="020B0604020202020204" pitchFamily="34" charset="0"/>
              <a:buChar char="•"/>
            </a:pPr>
            <a:r>
              <a:rPr lang="zh-CN" altLang="zh-CN" sz="2400" dirty="0"/>
              <a:t>存放有某些指令执行后的结果的状态</a:t>
            </a:r>
            <a:endParaRPr lang="en-US" altLang="zh-CN" sz="2400" dirty="0"/>
          </a:p>
          <a:p>
            <a:pPr marL="342900" indent="-342900">
              <a:buFont typeface="Arial" panose="020B0604020202020204" pitchFamily="34" charset="0"/>
              <a:buChar char="•"/>
            </a:pPr>
            <a:r>
              <a:rPr lang="zh-CN" altLang="en-US" sz="2400" dirty="0"/>
              <a:t>按位访问</a:t>
            </a:r>
          </a:p>
        </p:txBody>
      </p:sp>
    </p:spTree>
    <p:extLst>
      <p:ext uri="{BB962C8B-B14F-4D97-AF65-F5344CB8AC3E}">
        <p14:creationId xmlns:p14="http://schemas.microsoft.com/office/powerpoint/2010/main" val="4009743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xfrm>
            <a:off x="184731" y="261610"/>
            <a:ext cx="7772400" cy="647700"/>
          </a:xfrm>
        </p:spPr>
        <p:txBody>
          <a:bodyPr>
            <a:normAutofit/>
          </a:bodyPr>
          <a:lstStyle/>
          <a:p>
            <a:r>
              <a:rPr lang="en-US" altLang="zh-CN" sz="3200" dirty="0"/>
              <a:t>80x86</a:t>
            </a:r>
            <a:r>
              <a:rPr lang="zh-CN" altLang="en-US" sz="3200" dirty="0"/>
              <a:t>指令系统介绍</a:t>
            </a:r>
          </a:p>
        </p:txBody>
      </p:sp>
      <p:sp>
        <p:nvSpPr>
          <p:cNvPr id="24579" name="内容占位符 2"/>
          <p:cNvSpPr>
            <a:spLocks noGrp="1"/>
          </p:cNvSpPr>
          <p:nvPr>
            <p:ph idx="1"/>
          </p:nvPr>
        </p:nvSpPr>
        <p:spPr>
          <a:xfrm>
            <a:off x="685800" y="2688134"/>
            <a:ext cx="7989888" cy="1936254"/>
          </a:xfrm>
          <a:solidFill>
            <a:schemeClr val="bg1"/>
          </a:solidFill>
        </p:spPr>
        <p:txBody>
          <a:bodyPr>
            <a:normAutofit fontScale="92500" lnSpcReduction="10000"/>
          </a:bodyPr>
          <a:lstStyle/>
          <a:p>
            <a:pPr>
              <a:lnSpc>
                <a:spcPct val="120000"/>
              </a:lnSpc>
              <a:spcBef>
                <a:spcPts val="0"/>
              </a:spcBef>
            </a:pPr>
            <a:r>
              <a:rPr lang="en-US" altLang="zh-CN" sz="2400" dirty="0"/>
              <a:t>Opcode</a:t>
            </a:r>
            <a:r>
              <a:rPr lang="zh-CN" altLang="zh-CN" sz="2400" dirty="0"/>
              <a:t>是指令的操作码，用来告诉</a:t>
            </a:r>
            <a:r>
              <a:rPr lang="en-US" altLang="zh-CN" sz="2400" dirty="0"/>
              <a:t>CPU</a:t>
            </a:r>
            <a:r>
              <a:rPr lang="zh-CN" altLang="zh-CN" sz="2400" dirty="0"/>
              <a:t>执行哪个操作</a:t>
            </a:r>
          </a:p>
          <a:p>
            <a:pPr>
              <a:lnSpc>
                <a:spcPct val="120000"/>
              </a:lnSpc>
              <a:spcBef>
                <a:spcPts val="0"/>
              </a:spcBef>
            </a:pPr>
            <a:r>
              <a:rPr lang="en-US" altLang="zh-CN" sz="2400" dirty="0" err="1"/>
              <a:t>ModR</a:t>
            </a:r>
            <a:r>
              <a:rPr lang="en-US" altLang="zh-CN" sz="2400" dirty="0"/>
              <a:t>/M</a:t>
            </a:r>
            <a:r>
              <a:rPr lang="zh-CN" altLang="zh-CN" sz="2400" dirty="0"/>
              <a:t>主要用来指定寻址方式、寄存器号；选择的寻址方式（圆括号表示取其中的内容）包括寄存器寻址、直接寻址、寄存器间接寻址和基址（或变址）寻址</a:t>
            </a:r>
          </a:p>
          <a:p>
            <a:pPr>
              <a:lnSpc>
                <a:spcPct val="120000"/>
              </a:lnSpc>
              <a:spcBef>
                <a:spcPts val="0"/>
              </a:spcBef>
            </a:pPr>
            <a:r>
              <a:rPr lang="en-US" altLang="zh-CN" sz="2400" dirty="0"/>
              <a:t>Displacement</a:t>
            </a:r>
            <a:r>
              <a:rPr lang="zh-CN" altLang="zh-CN" sz="2400" dirty="0"/>
              <a:t>和</a:t>
            </a:r>
            <a:r>
              <a:rPr lang="en-US" altLang="zh-CN" sz="2400" dirty="0"/>
              <a:t>Immediate</a:t>
            </a:r>
            <a:r>
              <a:rPr lang="zh-CN" altLang="zh-CN" sz="2400" dirty="0"/>
              <a:t>是内存偏移地址和立即数</a:t>
            </a:r>
          </a:p>
        </p:txBody>
      </p:sp>
      <p:sp>
        <p:nvSpPr>
          <p:cNvPr id="24580" name="Rectangle 2"/>
          <p:cNvSpPr>
            <a:spLocks noChangeArrowheads="1"/>
          </p:cNvSpPr>
          <p:nvPr/>
        </p:nvSpPr>
        <p:spPr bwMode="auto">
          <a:xfrm>
            <a:off x="0" y="-2616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en-US" sz="2800"/>
          </a:p>
        </p:txBody>
      </p:sp>
      <p:graphicFrame>
        <p:nvGraphicFramePr>
          <p:cNvPr id="24581" name="对象 4"/>
          <p:cNvGraphicFramePr>
            <a:graphicFrameLocks noChangeAspect="1"/>
          </p:cNvGraphicFramePr>
          <p:nvPr>
            <p:extLst>
              <p:ext uri="{D42A27DB-BD31-4B8C-83A1-F6EECF244321}">
                <p14:modId xmlns:p14="http://schemas.microsoft.com/office/powerpoint/2010/main" val="2340897080"/>
              </p:ext>
            </p:extLst>
          </p:nvPr>
        </p:nvGraphicFramePr>
        <p:xfrm>
          <a:off x="827584" y="1159604"/>
          <a:ext cx="7763723" cy="1037159"/>
        </p:xfrm>
        <a:graphic>
          <a:graphicData uri="http://schemas.openxmlformats.org/presentationml/2006/ole">
            <mc:AlternateContent xmlns:mc="http://schemas.openxmlformats.org/markup-compatibility/2006">
              <mc:Choice xmlns:v="urn:schemas-microsoft-com:vml" Requires="v">
                <p:oleObj r:id="rId2" imgW="3317780" imgH="586596" progId="Visio.Drawing.11">
                  <p:embed/>
                </p:oleObj>
              </mc:Choice>
              <mc:Fallback>
                <p:oleObj r:id="rId2" imgW="3317780" imgH="586596"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159604"/>
                        <a:ext cx="7763723" cy="1037159"/>
                      </a:xfrm>
                      <a:prstGeom prst="rect">
                        <a:avLst/>
                      </a:prstGeom>
                      <a:noFill/>
                      <a:ln>
                        <a:noFill/>
                      </a:ln>
                    </p:spPr>
                  </p:pic>
                </p:oleObj>
              </mc:Fallback>
            </mc:AlternateContent>
          </a:graphicData>
        </a:graphic>
      </p:graphicFrame>
      <p:sp>
        <p:nvSpPr>
          <p:cNvPr id="6" name="矩形 5"/>
          <p:cNvSpPr/>
          <p:nvPr/>
        </p:nvSpPr>
        <p:spPr>
          <a:xfrm>
            <a:off x="2916238" y="2226469"/>
            <a:ext cx="3231975" cy="461665"/>
          </a:xfrm>
          <a:prstGeom prst="rect">
            <a:avLst/>
          </a:prstGeom>
        </p:spPr>
        <p:txBody>
          <a:bodyPr wrap="none">
            <a:spAutoFit/>
          </a:bodyPr>
          <a:lstStyle/>
          <a:p>
            <a:pPr eaLnBrk="1" hangingPunct="1">
              <a:defRPr/>
            </a:pPr>
            <a:r>
              <a:rPr lang="en-US" altLang="zh-CN" sz="2400" kern="100" dirty="0"/>
              <a:t>Intel 80x86 </a:t>
            </a:r>
            <a:r>
              <a:rPr lang="zh-CN" altLang="zh-CN" sz="2400" kern="100" dirty="0">
                <a:cs typeface="Times New Roman" panose="02020603050405020304" pitchFamily="18" charset="0"/>
              </a:rPr>
              <a:t>指令格式</a:t>
            </a:r>
            <a:endParaRPr lang="zh-CN" altLang="en-US" sz="2400" dirty="0"/>
          </a:p>
        </p:txBody>
      </p:sp>
    </p:spTree>
    <p:extLst>
      <p:ext uri="{BB962C8B-B14F-4D97-AF65-F5344CB8AC3E}">
        <p14:creationId xmlns:p14="http://schemas.microsoft.com/office/powerpoint/2010/main" val="3997984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2"/>
          <p:cNvSpPr>
            <a:spLocks noChangeArrowheads="1"/>
          </p:cNvSpPr>
          <p:nvPr/>
        </p:nvSpPr>
        <p:spPr bwMode="auto">
          <a:xfrm>
            <a:off x="323528" y="357188"/>
            <a:ext cx="8352928" cy="1354217"/>
          </a:xfrm>
          <a:prstGeom prst="rect">
            <a:avLst/>
          </a:prstGeom>
          <a:noFill/>
          <a:ln w="9525">
            <a:noFill/>
            <a:miter lim="800000"/>
            <a:headEnd/>
            <a:tailEnd/>
          </a:ln>
        </p:spPr>
        <p:txBody>
          <a:bodyPr wrap="square" lIns="0" tIns="0" rIns="0" bIns="0">
            <a:spAutoFit/>
          </a:bodyPr>
          <a:lstStyle/>
          <a:p>
            <a:pPr marL="357188" lvl="1" indent="-357188" eaLnBrk="1" hangingPunct="1">
              <a:buFontTx/>
              <a:buChar char="•"/>
              <a:defRPr/>
            </a:pPr>
            <a:r>
              <a:rPr lang="zh-CN" altLang="en-US" sz="2200" dirty="0">
                <a:solidFill>
                  <a:srgbClr val="000000"/>
                </a:solidFill>
                <a:latin typeface="宋体" pitchFamily="2" charset="-122"/>
                <a:ea typeface="宋体" panose="02010600030101010101" pitchFamily="2" charset="-122"/>
              </a:rPr>
              <a:t>有三类指令：</a:t>
            </a:r>
            <a:endParaRPr lang="en-US" altLang="zh-CN" sz="2200" dirty="0">
              <a:solidFill>
                <a:srgbClr val="000000"/>
              </a:solidFill>
              <a:latin typeface="宋体" pitchFamily="2" charset="-122"/>
              <a:ea typeface="宋体" panose="02010600030101010101" pitchFamily="2" charset="-122"/>
            </a:endParaRPr>
          </a:p>
          <a:p>
            <a:pPr marL="857250" lvl="1" indent="-457200" eaLnBrk="1" hangingPunct="1">
              <a:buFont typeface="Times New Roman" pitchFamily="18" charset="0"/>
              <a:buChar char="−"/>
              <a:defRPr/>
            </a:pPr>
            <a:r>
              <a:rPr lang="zh-CN" altLang="zh-CN" sz="2200" b="1" dirty="0">
                <a:solidFill>
                  <a:srgbClr val="FF0000"/>
                </a:solidFill>
                <a:latin typeface="宋体" panose="02010600030101010101" pitchFamily="2" charset="-122"/>
                <a:ea typeface="宋体" panose="02010600030101010101" pitchFamily="2" charset="-122"/>
              </a:rPr>
              <a:t>数据传送指令</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MOV</a:t>
            </a:r>
            <a:r>
              <a:rPr lang="zh-CN" altLang="zh-CN" sz="2200" dirty="0">
                <a:latin typeface="宋体" panose="02010600030101010101" pitchFamily="2" charset="-122"/>
                <a:ea typeface="宋体" panose="02010600030101010101" pitchFamily="2" charset="-122"/>
              </a:rPr>
              <a:t>）</a:t>
            </a:r>
            <a:endParaRPr lang="en-US" altLang="zh-CN" sz="2200" dirty="0">
              <a:latin typeface="宋体" panose="02010600030101010101" pitchFamily="2" charset="-122"/>
              <a:ea typeface="宋体" panose="02010600030101010101" pitchFamily="2" charset="-122"/>
            </a:endParaRPr>
          </a:p>
          <a:p>
            <a:pPr marL="857250" lvl="1" indent="-457200" eaLnBrk="1" hangingPunct="1">
              <a:buFont typeface="Times New Roman" pitchFamily="18" charset="0"/>
              <a:buChar char="−"/>
              <a:defRPr/>
            </a:pPr>
            <a:r>
              <a:rPr lang="zh-CN" altLang="zh-CN" sz="2200" b="1" dirty="0">
                <a:solidFill>
                  <a:srgbClr val="FF0000"/>
                </a:solidFill>
                <a:latin typeface="宋体" panose="02010600030101010101" pitchFamily="2" charset="-122"/>
                <a:ea typeface="宋体" panose="02010600030101010101" pitchFamily="2" charset="-122"/>
              </a:rPr>
              <a:t>算术逻辑运算指令</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ADD</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SUB</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MUL</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DIV</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AND</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OR</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CMP</a:t>
            </a:r>
            <a:r>
              <a:rPr lang="zh-CN" altLang="zh-CN" sz="2200" dirty="0">
                <a:latin typeface="宋体" panose="02010600030101010101" pitchFamily="2" charset="-122"/>
                <a:ea typeface="宋体" panose="02010600030101010101" pitchFamily="2" charset="-122"/>
              </a:rPr>
              <a:t>等）</a:t>
            </a:r>
            <a:endParaRPr lang="en-US" altLang="zh-CN" sz="2200" dirty="0">
              <a:latin typeface="宋体" panose="02010600030101010101" pitchFamily="2" charset="-122"/>
              <a:ea typeface="宋体" panose="02010600030101010101" pitchFamily="2" charset="-122"/>
            </a:endParaRPr>
          </a:p>
          <a:p>
            <a:pPr marL="857250" lvl="1" indent="-457200" eaLnBrk="1" hangingPunct="1">
              <a:buFont typeface="Times New Roman" pitchFamily="18" charset="0"/>
              <a:buChar char="−"/>
              <a:defRPr/>
            </a:pPr>
            <a:r>
              <a:rPr lang="zh-CN" altLang="zh-CN" sz="2200" b="1" dirty="0">
                <a:solidFill>
                  <a:srgbClr val="FF0000"/>
                </a:solidFill>
                <a:latin typeface="宋体" panose="02010600030101010101" pitchFamily="2" charset="-122"/>
                <a:ea typeface="宋体" panose="02010600030101010101" pitchFamily="2" charset="-122"/>
              </a:rPr>
              <a:t>控制转移指令</a:t>
            </a:r>
            <a:r>
              <a:rPr lang="zh-CN" altLang="zh-CN" sz="2200" dirty="0">
                <a:latin typeface="宋体" panose="02010600030101010101" pitchFamily="2" charset="-122"/>
                <a:ea typeface="宋体" panose="02010600030101010101" pitchFamily="2" charset="-122"/>
              </a:rPr>
              <a:t>（无条件跳转、条件跳转、函数调用和返回）</a:t>
            </a:r>
          </a:p>
        </p:txBody>
      </p:sp>
      <p:sp>
        <p:nvSpPr>
          <p:cNvPr id="2" name="矩形 1"/>
          <p:cNvSpPr/>
          <p:nvPr/>
        </p:nvSpPr>
        <p:spPr>
          <a:xfrm>
            <a:off x="323528" y="1819513"/>
            <a:ext cx="8783638" cy="3139321"/>
          </a:xfrm>
          <a:prstGeom prst="rect">
            <a:avLst/>
          </a:prstGeom>
          <a:solidFill>
            <a:schemeClr val="bg1"/>
          </a:solidFill>
        </p:spPr>
        <p:txBody>
          <a:bodyPr>
            <a:spAutoFit/>
          </a:bodyPr>
          <a:lstStyle/>
          <a:p>
            <a:pPr indent="266700" eaLnBrk="1" hangingPunct="1">
              <a:spcAft>
                <a:spcPts val="0"/>
              </a:spcAft>
              <a:defRPr/>
            </a:pPr>
            <a:r>
              <a:rPr lang="zh-CN"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en-US"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rPr>
              <a:t>1</a:t>
            </a:r>
            <a:r>
              <a:rPr lang="zh-CN"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）数据传送指令</a:t>
            </a:r>
            <a:endParaRPr lang="zh-CN"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endParaRPr>
          </a:p>
          <a:p>
            <a:pPr indent="600075" eaLnBrk="1" hangingPunct="1">
              <a:spcAft>
                <a:spcPts val="0"/>
              </a:spcAft>
              <a:defRPr/>
            </a:pPr>
            <a:r>
              <a:rPr lang="en-US"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rPr>
              <a:t>MOV Rd,(</a:t>
            </a:r>
            <a:r>
              <a:rPr lang="en-US" altLang="zh-CN" sz="2200" dirty="0" err="1">
                <a:solidFill>
                  <a:srgbClr val="000000"/>
                </a:solidFill>
                <a:latin typeface="宋体" panose="02010600030101010101" pitchFamily="2" charset="-122"/>
                <a:ea typeface="宋体" panose="02010600030101010101" pitchFamily="2" charset="-122"/>
                <a:cs typeface="宋体" panose="02010600030101010101" pitchFamily="2" charset="-122"/>
              </a:rPr>
              <a:t>Rs</a:t>
            </a:r>
            <a:r>
              <a:rPr lang="en-US"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rPr>
              <a:t>)/M ;</a:t>
            </a:r>
            <a:r>
              <a:rPr lang="zh-CN"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表示将</a:t>
            </a:r>
            <a:r>
              <a:rPr lang="en-US" altLang="zh-CN" sz="2200" dirty="0" err="1">
                <a:solidFill>
                  <a:srgbClr val="000000"/>
                </a:solidFill>
                <a:latin typeface="宋体" panose="02010600030101010101" pitchFamily="2" charset="-122"/>
                <a:ea typeface="宋体" panose="02010600030101010101" pitchFamily="2" charset="-122"/>
                <a:cs typeface="宋体" panose="02010600030101010101" pitchFamily="2" charset="-122"/>
              </a:rPr>
              <a:t>Rs</a:t>
            </a:r>
            <a:r>
              <a:rPr lang="en-US"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rPr>
              <a:t>/M</a:t>
            </a:r>
            <a:r>
              <a:rPr lang="zh-CN"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中的内容送到</a:t>
            </a:r>
            <a:r>
              <a:rPr lang="en-US"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rPr>
              <a:t>Rd</a:t>
            </a:r>
            <a:r>
              <a:rPr lang="zh-CN"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中</a:t>
            </a:r>
            <a:endParaRPr lang="zh-CN"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endParaRPr>
          </a:p>
          <a:p>
            <a:pPr indent="600075" eaLnBrk="1" hangingPunct="1">
              <a:spcAft>
                <a:spcPts val="0"/>
              </a:spcAft>
              <a:defRPr/>
            </a:pPr>
            <a:r>
              <a:rPr lang="en-US"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rPr>
              <a:t>MOV </a:t>
            </a:r>
            <a:r>
              <a:rPr lang="en-US" altLang="zh-CN" sz="2200" dirty="0" err="1">
                <a:solidFill>
                  <a:srgbClr val="000000"/>
                </a:solidFill>
                <a:latin typeface="宋体" panose="02010600030101010101" pitchFamily="2" charset="-122"/>
                <a:ea typeface="宋体" panose="02010600030101010101" pitchFamily="2" charset="-122"/>
                <a:cs typeface="宋体" panose="02010600030101010101" pitchFamily="2" charset="-122"/>
              </a:rPr>
              <a:t>Rd,Rs</a:t>
            </a:r>
            <a:r>
              <a:rPr lang="en-US"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zh-CN"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表示将</a:t>
            </a:r>
            <a:r>
              <a:rPr lang="en-US" altLang="zh-CN" sz="2200" dirty="0" err="1">
                <a:solidFill>
                  <a:srgbClr val="000000"/>
                </a:solidFill>
                <a:latin typeface="宋体" panose="02010600030101010101" pitchFamily="2" charset="-122"/>
                <a:ea typeface="宋体" panose="02010600030101010101" pitchFamily="2" charset="-122"/>
                <a:cs typeface="宋体" panose="02010600030101010101" pitchFamily="2" charset="-122"/>
              </a:rPr>
              <a:t>Rs</a:t>
            </a:r>
            <a:r>
              <a:rPr lang="zh-CN"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中的内容送到</a:t>
            </a:r>
            <a:r>
              <a:rPr lang="en-US"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rPr>
              <a:t>Rd</a:t>
            </a:r>
            <a:r>
              <a:rPr lang="zh-CN"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中</a:t>
            </a:r>
            <a:endParaRPr lang="zh-CN"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endParaRPr>
          </a:p>
          <a:p>
            <a:pPr indent="600075" eaLnBrk="1" hangingPunct="1">
              <a:spcAft>
                <a:spcPts val="0"/>
              </a:spcAft>
              <a:defRPr/>
            </a:pPr>
            <a:r>
              <a:rPr lang="en-US"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rPr>
              <a:t>MOV </a:t>
            </a:r>
            <a:r>
              <a:rPr lang="en-US" altLang="zh-CN" sz="2200" dirty="0" err="1">
                <a:solidFill>
                  <a:srgbClr val="000000"/>
                </a:solidFill>
                <a:latin typeface="宋体" panose="02010600030101010101" pitchFamily="2" charset="-122"/>
                <a:ea typeface="宋体" panose="02010600030101010101" pitchFamily="2" charset="-122"/>
                <a:cs typeface="宋体" panose="02010600030101010101" pitchFamily="2" charset="-122"/>
              </a:rPr>
              <a:t>Rd,imm</a:t>
            </a:r>
            <a:r>
              <a:rPr lang="en-US"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en-US" altLang="zh-CN" sz="2200" dirty="0" err="1">
                <a:solidFill>
                  <a:srgbClr val="000000"/>
                </a:solidFill>
                <a:latin typeface="宋体" panose="02010600030101010101" pitchFamily="2" charset="-122"/>
                <a:ea typeface="宋体" panose="02010600030101010101" pitchFamily="2" charset="-122"/>
                <a:cs typeface="宋体" panose="02010600030101010101" pitchFamily="2" charset="-122"/>
              </a:rPr>
              <a:t>imm</a:t>
            </a:r>
            <a:r>
              <a:rPr lang="zh-CN"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为立即数，表示将</a:t>
            </a:r>
            <a:r>
              <a:rPr lang="en-US" altLang="zh-CN" sz="2200" dirty="0" err="1">
                <a:solidFill>
                  <a:srgbClr val="000000"/>
                </a:solidFill>
                <a:latin typeface="宋体" panose="02010600030101010101" pitchFamily="2" charset="-122"/>
                <a:ea typeface="宋体" panose="02010600030101010101" pitchFamily="2" charset="-122"/>
                <a:cs typeface="宋体" panose="02010600030101010101" pitchFamily="2" charset="-122"/>
              </a:rPr>
              <a:t>imm</a:t>
            </a:r>
            <a:r>
              <a:rPr lang="zh-CN"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送到</a:t>
            </a:r>
            <a:r>
              <a:rPr lang="en-US"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rPr>
              <a:t>Rd</a:t>
            </a:r>
            <a:r>
              <a:rPr lang="zh-CN"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中</a:t>
            </a:r>
            <a:endParaRPr lang="zh-CN"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endParaRPr>
          </a:p>
          <a:p>
            <a:pPr indent="600075" eaLnBrk="1" hangingPunct="1">
              <a:spcAft>
                <a:spcPts val="0"/>
              </a:spcAft>
              <a:defRPr/>
            </a:pPr>
            <a:r>
              <a:rPr lang="en-US"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rPr>
              <a:t>MOV M,Rs    ;M</a:t>
            </a:r>
            <a:r>
              <a:rPr lang="zh-CN"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为内存单元，表示将</a:t>
            </a:r>
            <a:r>
              <a:rPr lang="en-US" altLang="zh-CN" sz="2200" dirty="0" err="1">
                <a:solidFill>
                  <a:srgbClr val="000000"/>
                </a:solidFill>
                <a:latin typeface="宋体" panose="02010600030101010101" pitchFamily="2" charset="-122"/>
                <a:ea typeface="宋体" panose="02010600030101010101" pitchFamily="2" charset="-122"/>
                <a:cs typeface="宋体" panose="02010600030101010101" pitchFamily="2" charset="-122"/>
              </a:rPr>
              <a:t>Rs</a:t>
            </a:r>
            <a:r>
              <a:rPr lang="zh-CN"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中的数据存入内存单元</a:t>
            </a:r>
            <a:r>
              <a:rPr lang="en-US"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rPr>
              <a:t>M</a:t>
            </a:r>
            <a:r>
              <a:rPr lang="zh-CN"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中</a:t>
            </a:r>
            <a:endParaRPr lang="zh-CN"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endParaRPr>
          </a:p>
          <a:p>
            <a:pPr indent="600075" eaLnBrk="1" hangingPunct="1">
              <a:spcAft>
                <a:spcPts val="0"/>
              </a:spcAft>
              <a:defRPr/>
            </a:pPr>
            <a:r>
              <a:rPr lang="en-US"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rPr>
              <a:t>PUSH Rd     ;</a:t>
            </a:r>
            <a:r>
              <a:rPr lang="zh-CN"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表示将</a:t>
            </a:r>
            <a:r>
              <a:rPr lang="en-US" altLang="zh-CN" sz="2200" dirty="0">
                <a:solidFill>
                  <a:srgbClr val="000000"/>
                </a:solidFill>
                <a:latin typeface="宋体" panose="02010600030101010101" pitchFamily="2" charset="-122"/>
                <a:ea typeface="宋体" panose="02010600030101010101" pitchFamily="2" charset="-122"/>
                <a:cs typeface="宋体" panose="02010600030101010101" pitchFamily="2" charset="-122"/>
              </a:rPr>
              <a:t>Rd</a:t>
            </a:r>
            <a:r>
              <a:rPr lang="zh-CN"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的数据压入堆栈</a:t>
            </a:r>
            <a:endParaRPr lang="en-US"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indent="174625" eaLnBrk="1" hangingPunct="1">
              <a:spcAft>
                <a:spcPts val="0"/>
              </a:spcAft>
              <a:defRPr/>
            </a:pPr>
            <a:r>
              <a:rPr lang="zh-CN"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en-US"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2</a:t>
            </a:r>
            <a:r>
              <a:rPr lang="zh-CN" altLang="zh-CN" sz="2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）算术逻辑运算指令</a:t>
            </a:r>
            <a:endParaRPr lang="zh-CN" altLang="zh-CN" sz="2200" dirty="0">
              <a:latin typeface="宋体" panose="02010600030101010101" pitchFamily="2" charset="-122"/>
              <a:ea typeface="宋体" panose="02010600030101010101" pitchFamily="2" charset="-122"/>
            </a:endParaRPr>
          </a:p>
          <a:p>
            <a:pPr indent="449263" eaLnBrk="1" hangingPunct="1">
              <a:defRPr/>
            </a:pPr>
            <a:r>
              <a:rPr lang="en-US" altLang="zh-CN" sz="2200" dirty="0">
                <a:latin typeface="宋体" panose="02010600030101010101" pitchFamily="2" charset="-122"/>
                <a:ea typeface="宋体" panose="02010600030101010101" pitchFamily="2" charset="-122"/>
              </a:rPr>
              <a:t>ADD </a:t>
            </a:r>
            <a:r>
              <a:rPr lang="en-US" altLang="zh-CN" sz="2200" dirty="0" err="1">
                <a:latin typeface="宋体" panose="02010600030101010101" pitchFamily="2" charset="-122"/>
                <a:ea typeface="宋体" panose="02010600030101010101" pitchFamily="2" charset="-122"/>
              </a:rPr>
              <a:t>Rd,Rs</a:t>
            </a:r>
            <a:r>
              <a:rPr lang="en-US" altLang="zh-CN" sz="2200" dirty="0">
                <a:latin typeface="宋体" panose="02010600030101010101" pitchFamily="2" charset="-122"/>
                <a:ea typeface="宋体" panose="02010600030101010101" pitchFamily="2" charset="-122"/>
              </a:rPr>
              <a:t>/M  ;</a:t>
            </a:r>
            <a:r>
              <a:rPr lang="zh-CN" altLang="zh-CN" sz="2200" dirty="0">
                <a:latin typeface="宋体" panose="02010600030101010101" pitchFamily="2" charset="-122"/>
                <a:ea typeface="宋体" panose="02010600030101010101" pitchFamily="2" charset="-122"/>
              </a:rPr>
              <a:t>表示</a:t>
            </a:r>
            <a:r>
              <a:rPr lang="en-US" altLang="zh-CN" sz="2200" dirty="0">
                <a:latin typeface="宋体" panose="02010600030101010101" pitchFamily="2" charset="-122"/>
                <a:ea typeface="宋体" panose="02010600030101010101" pitchFamily="2" charset="-122"/>
              </a:rPr>
              <a:t>(Rd)+(</a:t>
            </a:r>
            <a:r>
              <a:rPr lang="en-US" altLang="zh-CN" sz="2200" dirty="0" err="1">
                <a:latin typeface="宋体" panose="02010600030101010101" pitchFamily="2" charset="-122"/>
                <a:ea typeface="宋体" panose="02010600030101010101" pitchFamily="2" charset="-122"/>
              </a:rPr>
              <a:t>Rs</a:t>
            </a:r>
            <a:r>
              <a:rPr lang="en-US" altLang="zh-CN" sz="2200" dirty="0">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或</a:t>
            </a:r>
            <a:r>
              <a:rPr lang="en-US" altLang="zh-CN" sz="2200" dirty="0">
                <a:latin typeface="宋体" panose="02010600030101010101" pitchFamily="2" charset="-122"/>
                <a:ea typeface="宋体" panose="02010600030101010101" pitchFamily="2" charset="-122"/>
              </a:rPr>
              <a:t>(M)</a:t>
            </a:r>
            <a:r>
              <a:rPr lang="zh-CN" altLang="zh-CN" sz="2200" dirty="0">
                <a:latin typeface="宋体" panose="02010600030101010101" pitchFamily="2" charset="-122"/>
                <a:ea typeface="宋体" panose="02010600030101010101" pitchFamily="2" charset="-122"/>
              </a:rPr>
              <a:t>送</a:t>
            </a:r>
            <a:r>
              <a:rPr lang="en-US" altLang="zh-CN" sz="2200" dirty="0">
                <a:latin typeface="宋体" panose="02010600030101010101" pitchFamily="2" charset="-122"/>
                <a:ea typeface="宋体" panose="02010600030101010101" pitchFamily="2" charset="-122"/>
              </a:rPr>
              <a:t>Rd</a:t>
            </a:r>
            <a:endParaRPr lang="zh-CN" altLang="zh-CN" sz="2200" dirty="0">
              <a:latin typeface="宋体" panose="02010600030101010101" pitchFamily="2" charset="-122"/>
              <a:ea typeface="宋体" panose="02010600030101010101" pitchFamily="2" charset="-122"/>
            </a:endParaRPr>
          </a:p>
          <a:p>
            <a:pPr indent="449263" eaLnBrk="1" hangingPunct="1">
              <a:defRPr/>
            </a:pPr>
            <a:r>
              <a:rPr lang="en-US" altLang="zh-CN" sz="2200" dirty="0">
                <a:latin typeface="宋体" panose="02010600030101010101" pitchFamily="2" charset="-122"/>
                <a:ea typeface="宋体" panose="02010600030101010101" pitchFamily="2" charset="-122"/>
              </a:rPr>
              <a:t>ADD </a:t>
            </a:r>
            <a:r>
              <a:rPr lang="en-US" altLang="zh-CN" sz="2200" dirty="0" err="1">
                <a:latin typeface="宋体" panose="02010600030101010101" pitchFamily="2" charset="-122"/>
                <a:ea typeface="宋体" panose="02010600030101010101" pitchFamily="2" charset="-122"/>
              </a:rPr>
              <a:t>Rd,imm</a:t>
            </a:r>
            <a:r>
              <a:rPr lang="en-US" altLang="zh-CN" sz="2200" dirty="0">
                <a:latin typeface="宋体" panose="02010600030101010101" pitchFamily="2" charset="-122"/>
                <a:ea typeface="宋体" panose="02010600030101010101" pitchFamily="2" charset="-122"/>
              </a:rPr>
              <a:t>   ;</a:t>
            </a:r>
            <a:r>
              <a:rPr lang="zh-CN" altLang="zh-CN" sz="2200" dirty="0">
                <a:latin typeface="宋体" panose="02010600030101010101" pitchFamily="2" charset="-122"/>
                <a:ea typeface="宋体" panose="02010600030101010101" pitchFamily="2" charset="-122"/>
              </a:rPr>
              <a:t>表示</a:t>
            </a:r>
            <a:r>
              <a:rPr lang="en-US" altLang="zh-CN" sz="2200" dirty="0">
                <a:latin typeface="宋体" panose="02010600030101010101" pitchFamily="2" charset="-122"/>
                <a:ea typeface="宋体" panose="02010600030101010101" pitchFamily="2" charset="-122"/>
              </a:rPr>
              <a:t>(Rd)+ </a:t>
            </a:r>
            <a:r>
              <a:rPr lang="en-US" altLang="zh-CN" sz="2200" dirty="0" err="1">
                <a:latin typeface="宋体" panose="02010600030101010101" pitchFamily="2" charset="-122"/>
                <a:ea typeface="宋体" panose="02010600030101010101" pitchFamily="2" charset="-122"/>
              </a:rPr>
              <a:t>imm</a:t>
            </a:r>
            <a:r>
              <a:rPr lang="zh-CN" altLang="zh-CN" sz="2200" dirty="0">
                <a:latin typeface="宋体" panose="02010600030101010101" pitchFamily="2" charset="-122"/>
                <a:ea typeface="宋体" panose="02010600030101010101" pitchFamily="2" charset="-122"/>
              </a:rPr>
              <a:t>送</a:t>
            </a:r>
            <a:r>
              <a:rPr lang="en-US" altLang="zh-CN" sz="2200" dirty="0">
                <a:latin typeface="宋体" panose="02010600030101010101" pitchFamily="2" charset="-122"/>
                <a:ea typeface="宋体" panose="02010600030101010101" pitchFamily="2" charset="-122"/>
              </a:rPr>
              <a:t>Rd</a:t>
            </a:r>
            <a:endParaRPr lang="zh-CN" altLang="zh-CN" sz="2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912868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ChangeArrowheads="1"/>
          </p:cNvSpPr>
          <p:nvPr/>
        </p:nvSpPr>
        <p:spPr bwMode="auto">
          <a:xfrm>
            <a:off x="323850" y="382468"/>
            <a:ext cx="8712200" cy="4493538"/>
          </a:xfrm>
          <a:prstGeom prst="rect">
            <a:avLst/>
          </a:prstGeom>
          <a:solidFill>
            <a:schemeClr val="bg1"/>
          </a:solidFill>
          <a:ln>
            <a:noFill/>
          </a:ln>
          <a:effectLst/>
        </p:spPr>
        <p:txBody>
          <a:bodyPr anchor="ctr">
            <a:spAutoFit/>
          </a:bodyPr>
          <a:lstStyle>
            <a:lvl1pPr indent="266700">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lang="zh-CN" altLang="zh-CN" sz="2200" dirty="0">
                <a:cs typeface="Times New Roman" pitchFamily="18" charset="0"/>
              </a:rPr>
              <a:t>（</a:t>
            </a:r>
            <a:r>
              <a:rPr lang="en-US" altLang="zh-CN" sz="2200" dirty="0">
                <a:cs typeface="Times New Roman" pitchFamily="18" charset="0"/>
              </a:rPr>
              <a:t>3</a:t>
            </a:r>
            <a:r>
              <a:rPr lang="zh-CN" altLang="en-US" sz="2200" dirty="0">
                <a:cs typeface="Times New Roman" pitchFamily="18" charset="0"/>
              </a:rPr>
              <a:t>）转移指令</a:t>
            </a:r>
            <a:endParaRPr lang="zh-CN" altLang="en-US" sz="2200" dirty="0">
              <a:solidFill>
                <a:srgbClr val="000000"/>
              </a:solidFill>
            </a:endParaRPr>
          </a:p>
          <a:p>
            <a:pPr>
              <a:spcBef>
                <a:spcPct val="0"/>
              </a:spcBef>
              <a:buFontTx/>
              <a:buNone/>
            </a:pPr>
            <a:r>
              <a:rPr lang="zh-CN" altLang="en-US" sz="2200" dirty="0">
                <a:cs typeface="Times New Roman" pitchFamily="18" charset="0"/>
              </a:rPr>
              <a:t>转移指令指的是它的执行能修改</a:t>
            </a:r>
            <a:r>
              <a:rPr lang="en-US" altLang="zh-CN" sz="2200" dirty="0">
                <a:cs typeface="Times New Roman" pitchFamily="18" charset="0"/>
              </a:rPr>
              <a:t>IP</a:t>
            </a:r>
            <a:r>
              <a:rPr lang="zh-CN" altLang="en-US" sz="2200" dirty="0">
                <a:cs typeface="Times New Roman" pitchFamily="18" charset="0"/>
              </a:rPr>
              <a:t>的值，转移指令分为无条件转移和条件转移指令。无条件转移指令是指</a:t>
            </a:r>
            <a:r>
              <a:rPr lang="en-US" altLang="zh-CN" sz="2200" dirty="0">
                <a:cs typeface="Times New Roman" pitchFamily="18" charset="0"/>
              </a:rPr>
              <a:t>JMP</a:t>
            </a:r>
            <a:r>
              <a:rPr lang="zh-CN" altLang="en-US" sz="2200" dirty="0">
                <a:cs typeface="Times New Roman" pitchFamily="18" charset="0"/>
              </a:rPr>
              <a:t>。</a:t>
            </a:r>
            <a:endParaRPr lang="zh-CN" altLang="en-US" sz="2200" dirty="0">
              <a:solidFill>
                <a:srgbClr val="000000"/>
              </a:solidFill>
            </a:endParaRPr>
          </a:p>
          <a:p>
            <a:pPr>
              <a:spcBef>
                <a:spcPct val="0"/>
              </a:spcBef>
              <a:buFontTx/>
              <a:buNone/>
            </a:pPr>
            <a:r>
              <a:rPr lang="zh-CN" altLang="en-US" sz="2200" dirty="0">
                <a:cs typeface="Times New Roman" pitchFamily="18" charset="0"/>
              </a:rPr>
              <a:t>条件转移将根据这些标志位进行修改</a:t>
            </a:r>
            <a:r>
              <a:rPr lang="en-US" altLang="zh-CN" sz="2200" dirty="0">
                <a:cs typeface="Times New Roman" pitchFamily="18" charset="0"/>
              </a:rPr>
              <a:t>IP</a:t>
            </a:r>
            <a:r>
              <a:rPr lang="zh-CN" altLang="en-US" sz="2200" dirty="0">
                <a:cs typeface="Times New Roman" pitchFamily="18" charset="0"/>
              </a:rPr>
              <a:t>的值，条件转移指令有多种，各指令的含义：</a:t>
            </a:r>
            <a:endParaRPr lang="zh-CN" altLang="en-US" sz="2200" dirty="0">
              <a:solidFill>
                <a:srgbClr val="000000"/>
              </a:solidFill>
            </a:endParaRPr>
          </a:p>
          <a:p>
            <a:pPr>
              <a:spcBef>
                <a:spcPct val="0"/>
              </a:spcBef>
              <a:buFontTx/>
              <a:buNone/>
            </a:pPr>
            <a:endParaRPr lang="en-US" altLang="zh-CN" sz="2200" dirty="0">
              <a:solidFill>
                <a:srgbClr val="000000"/>
              </a:solidFill>
            </a:endParaRPr>
          </a:p>
          <a:p>
            <a:pPr>
              <a:spcBef>
                <a:spcPct val="0"/>
              </a:spcBef>
              <a:buFontTx/>
              <a:buNone/>
            </a:pPr>
            <a:endParaRPr lang="en-US" altLang="zh-CN" sz="2200" dirty="0">
              <a:solidFill>
                <a:srgbClr val="000000"/>
              </a:solidFill>
            </a:endParaRPr>
          </a:p>
          <a:p>
            <a:pPr>
              <a:spcBef>
                <a:spcPct val="0"/>
              </a:spcBef>
              <a:buFontTx/>
              <a:buNone/>
            </a:pPr>
            <a:endParaRPr lang="en-US" altLang="zh-CN" sz="2200" dirty="0">
              <a:solidFill>
                <a:srgbClr val="000000"/>
              </a:solidFill>
            </a:endParaRPr>
          </a:p>
          <a:p>
            <a:pPr>
              <a:spcBef>
                <a:spcPct val="0"/>
              </a:spcBef>
              <a:buFontTx/>
              <a:buNone/>
            </a:pPr>
            <a:endParaRPr lang="en-US" altLang="zh-CN" sz="2200" dirty="0">
              <a:solidFill>
                <a:srgbClr val="000000"/>
              </a:solidFill>
            </a:endParaRPr>
          </a:p>
          <a:p>
            <a:pPr>
              <a:spcBef>
                <a:spcPct val="0"/>
              </a:spcBef>
              <a:buFontTx/>
              <a:buNone/>
            </a:pPr>
            <a:endParaRPr lang="en-US" altLang="zh-CN" sz="2200" dirty="0">
              <a:solidFill>
                <a:srgbClr val="000000"/>
              </a:solidFill>
            </a:endParaRPr>
          </a:p>
          <a:p>
            <a:pPr>
              <a:spcBef>
                <a:spcPct val="0"/>
              </a:spcBef>
              <a:buFontTx/>
              <a:buNone/>
            </a:pPr>
            <a:endParaRPr lang="en-US" altLang="zh-CN" sz="2200" dirty="0">
              <a:solidFill>
                <a:srgbClr val="000000"/>
              </a:solidFill>
            </a:endParaRPr>
          </a:p>
          <a:p>
            <a:pPr>
              <a:spcBef>
                <a:spcPct val="0"/>
              </a:spcBef>
              <a:buFontTx/>
              <a:buNone/>
            </a:pPr>
            <a:endParaRPr lang="en-US" altLang="zh-CN" sz="2200" dirty="0">
              <a:solidFill>
                <a:srgbClr val="000000"/>
              </a:solidFill>
            </a:endParaRPr>
          </a:p>
          <a:p>
            <a:pPr>
              <a:spcBef>
                <a:spcPct val="0"/>
              </a:spcBef>
              <a:buFontTx/>
              <a:buNone/>
            </a:pPr>
            <a:r>
              <a:rPr lang="zh-CN" altLang="en-US" sz="2200" dirty="0">
                <a:cs typeface="Times New Roman" pitchFamily="18" charset="0"/>
              </a:rPr>
              <a:t>改变指令执行顺序的指令还有子程序调用指令</a:t>
            </a:r>
            <a:r>
              <a:rPr lang="en-US" altLang="zh-CN" sz="2200" dirty="0">
                <a:cs typeface="Times New Roman" pitchFamily="18" charset="0"/>
              </a:rPr>
              <a:t>CALL</a:t>
            </a:r>
            <a:r>
              <a:rPr lang="zh-CN" altLang="en-US" sz="2200" dirty="0">
                <a:cs typeface="Times New Roman" pitchFamily="18" charset="0"/>
              </a:rPr>
              <a:t>和返回指令</a:t>
            </a:r>
            <a:r>
              <a:rPr lang="en-US" altLang="zh-CN" sz="2200" dirty="0">
                <a:cs typeface="Times New Roman" pitchFamily="18" charset="0"/>
              </a:rPr>
              <a:t>RET</a:t>
            </a:r>
            <a:r>
              <a:rPr lang="zh-CN" altLang="en-US" sz="2200" dirty="0">
                <a:cs typeface="Times New Roman" pitchFamily="18" charset="0"/>
              </a:rPr>
              <a:t>。</a:t>
            </a:r>
            <a:endParaRPr lang="zh-CN" altLang="en-US" sz="2200" dirty="0"/>
          </a:p>
        </p:txBody>
      </p:sp>
      <p:graphicFrame>
        <p:nvGraphicFramePr>
          <p:cNvPr id="6" name="内容占位符 2"/>
          <p:cNvGraphicFramePr>
            <a:graphicFrameLocks noGrp="1"/>
          </p:cNvGraphicFramePr>
          <p:nvPr>
            <p:ph/>
            <p:extLst>
              <p:ext uri="{D42A27DB-BD31-4B8C-83A1-F6EECF244321}">
                <p14:modId xmlns:p14="http://schemas.microsoft.com/office/powerpoint/2010/main" val="4226541636"/>
              </p:ext>
            </p:extLst>
          </p:nvPr>
        </p:nvGraphicFramePr>
        <p:xfrm>
          <a:off x="2987824" y="2211710"/>
          <a:ext cx="5608637" cy="1920478"/>
        </p:xfrm>
        <a:graphic>
          <a:graphicData uri="http://schemas.openxmlformats.org/drawingml/2006/table">
            <a:tbl>
              <a:tblPr/>
              <a:tblGrid>
                <a:gridCol w="1135491">
                  <a:extLst>
                    <a:ext uri="{9D8B030D-6E8A-4147-A177-3AD203B41FA5}">
                      <a16:colId xmlns:a16="http://schemas.microsoft.com/office/drawing/2014/main" val="20000"/>
                    </a:ext>
                  </a:extLst>
                </a:gridCol>
                <a:gridCol w="2236573">
                  <a:extLst>
                    <a:ext uri="{9D8B030D-6E8A-4147-A177-3AD203B41FA5}">
                      <a16:colId xmlns:a16="http://schemas.microsoft.com/office/drawing/2014/main" val="20001"/>
                    </a:ext>
                  </a:extLst>
                </a:gridCol>
                <a:gridCol w="2236573">
                  <a:extLst>
                    <a:ext uri="{9D8B030D-6E8A-4147-A177-3AD203B41FA5}">
                      <a16:colId xmlns:a16="http://schemas.microsoft.com/office/drawing/2014/main" val="20002"/>
                    </a:ext>
                  </a:extLst>
                </a:gridCol>
              </a:tblGrid>
              <a:tr h="274354">
                <a:tc>
                  <a:txBody>
                    <a:bodyPr/>
                    <a:lstStyle/>
                    <a:p>
                      <a:pPr>
                        <a:spcAft>
                          <a:spcPts val="0"/>
                        </a:spcAft>
                      </a:pPr>
                      <a:r>
                        <a:rPr 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指令码</a:t>
                      </a:r>
                      <a:endParaRPr 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意义</a:t>
                      </a:r>
                      <a:endParaRPr lang="zh-CN"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条件</a:t>
                      </a:r>
                      <a:endParaRPr lang="zh-CN"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4354">
                <a:tc>
                  <a:txBody>
                    <a:bodyPr/>
                    <a:lstStyle/>
                    <a:p>
                      <a:pPr>
                        <a:spcAft>
                          <a:spcPts val="0"/>
                        </a:spcAft>
                      </a:pPr>
                      <a:r>
                        <a:rPr lang="en-US"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JE</a:t>
                      </a:r>
                      <a:endParaRPr lang="zh-CN"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相等时转移</a:t>
                      </a:r>
                      <a:endParaRPr lang="zh-CN"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zf =1</a:t>
                      </a:r>
                      <a:endParaRPr lang="zh-CN"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4354">
                <a:tc>
                  <a:txBody>
                    <a:bodyPr/>
                    <a:lstStyle/>
                    <a:p>
                      <a:pPr>
                        <a:spcAft>
                          <a:spcPts val="0"/>
                        </a:spcAft>
                      </a:pPr>
                      <a:r>
                        <a:rPr lang="en-US"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JNE</a:t>
                      </a:r>
                      <a:endParaRPr 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不相等时转移</a:t>
                      </a:r>
                      <a:endParaRPr lang="zh-CN"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800"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zf</a:t>
                      </a:r>
                      <a:r>
                        <a:rPr lang="en-US"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=0</a:t>
                      </a:r>
                      <a:endParaRPr 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4354">
                <a:tc>
                  <a:txBody>
                    <a:bodyPr/>
                    <a:lstStyle/>
                    <a:p>
                      <a:pPr>
                        <a:spcAft>
                          <a:spcPts val="0"/>
                        </a:spcAft>
                      </a:pPr>
                      <a:r>
                        <a:rPr lang="en-US"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JB</a:t>
                      </a:r>
                      <a:endParaRPr lang="zh-CN"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低于则转移</a:t>
                      </a:r>
                      <a:endParaRPr lang="zh-CN"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cf=1</a:t>
                      </a:r>
                      <a:endParaRPr lang="zh-CN"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74354">
                <a:tc>
                  <a:txBody>
                    <a:bodyPr/>
                    <a:lstStyle/>
                    <a:p>
                      <a:pPr>
                        <a:spcAft>
                          <a:spcPts val="0"/>
                        </a:spcAft>
                      </a:pPr>
                      <a:r>
                        <a:rPr lang="en-US"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JNB</a:t>
                      </a:r>
                      <a:endParaRPr lang="zh-CN"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不低于则转移</a:t>
                      </a:r>
                      <a:endParaRPr lang="zh-CN"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cf=0</a:t>
                      </a:r>
                      <a:endParaRPr lang="zh-CN"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74354">
                <a:tc>
                  <a:txBody>
                    <a:bodyPr/>
                    <a:lstStyle/>
                    <a:p>
                      <a:pPr>
                        <a:spcAft>
                          <a:spcPts val="0"/>
                        </a:spcAft>
                      </a:pPr>
                      <a:r>
                        <a:rPr lang="en-US"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JA</a:t>
                      </a:r>
                      <a:endParaRPr lang="zh-CN"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高于则转移</a:t>
                      </a:r>
                      <a:endParaRPr lang="zh-CN"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cf=0</a:t>
                      </a:r>
                      <a:r>
                        <a:rPr lang="zh-CN" sz="1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且</a:t>
                      </a:r>
                      <a:r>
                        <a:rPr lang="en-US"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zf=0</a:t>
                      </a:r>
                      <a:endParaRPr lang="zh-CN"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74354">
                <a:tc>
                  <a:txBody>
                    <a:bodyPr/>
                    <a:lstStyle/>
                    <a:p>
                      <a:pPr>
                        <a:spcAft>
                          <a:spcPts val="0"/>
                        </a:spcAft>
                      </a:pPr>
                      <a:r>
                        <a:rPr lang="en-US"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JNA</a:t>
                      </a:r>
                      <a:endParaRPr lang="zh-CN"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CN" sz="1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不高于则转移</a:t>
                      </a:r>
                      <a:endParaRPr lang="zh-CN" sz="180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800"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cf</a:t>
                      </a:r>
                      <a:r>
                        <a:rPr lang="en-US"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a:t>
                      </a:r>
                      <a:r>
                        <a:rPr 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或</a:t>
                      </a:r>
                      <a:r>
                        <a:rPr lang="en-US" sz="1800"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zf</a:t>
                      </a:r>
                      <a:r>
                        <a:rPr lang="en-US"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=1</a:t>
                      </a:r>
                      <a:endParaRPr 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993013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p:nvPr>
        </p:nvSpPr>
        <p:spPr/>
        <p:txBody>
          <a:bodyPr/>
          <a:lstStyle/>
          <a:p>
            <a:endParaRPr lang="zh-CN" altLang="en-US"/>
          </a:p>
        </p:txBody>
      </p:sp>
    </p:spTree>
    <p:extLst>
      <p:ext uri="{BB962C8B-B14F-4D97-AF65-F5344CB8AC3E}">
        <p14:creationId xmlns:p14="http://schemas.microsoft.com/office/powerpoint/2010/main" val="42509239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9985" y="1971358"/>
            <a:ext cx="5634876" cy="769441"/>
          </a:xfrm>
          <a:prstGeom prst="rect">
            <a:avLst/>
          </a:prstGeom>
        </p:spPr>
        <p:txBody>
          <a:bodyPr wrap="none">
            <a:spAutoFit/>
          </a:bodyPr>
          <a:lstStyle/>
          <a:p>
            <a:r>
              <a:rPr lang="en-US" altLang="zh-CN" sz="4400" b="1" dirty="0">
                <a:solidFill>
                  <a:srgbClr val="CC0099"/>
                </a:solidFill>
                <a:ea typeface="隶书" pitchFamily="49" charset="-122"/>
              </a:rPr>
              <a:t>3</a:t>
            </a:r>
            <a:r>
              <a:rPr lang="zh-CN" altLang="en-US" sz="4400" b="1" dirty="0">
                <a:solidFill>
                  <a:srgbClr val="CC0099"/>
                </a:solidFill>
                <a:ea typeface="隶书" pitchFamily="49" charset="-122"/>
              </a:rPr>
              <a:t>、简单的代码生成器</a:t>
            </a:r>
          </a:p>
        </p:txBody>
      </p:sp>
    </p:spTree>
    <p:extLst>
      <p:ext uri="{BB962C8B-B14F-4D97-AF65-F5344CB8AC3E}">
        <p14:creationId xmlns:p14="http://schemas.microsoft.com/office/powerpoint/2010/main" val="377935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79512" y="15240"/>
            <a:ext cx="8059737" cy="685800"/>
          </a:xfrm>
          <a:noFill/>
        </p:spPr>
        <p:txBody>
          <a:bodyPr lIns="92075" tIns="46038" rIns="92075" bIns="46038">
            <a:noAutofit/>
          </a:bodyPr>
          <a:lstStyle/>
          <a:p>
            <a:pPr eaLnBrk="1" hangingPunct="1"/>
            <a:r>
              <a:rPr lang="zh-CN" altLang="en-US" b="1" dirty="0">
                <a:solidFill>
                  <a:srgbClr val="CC0099"/>
                </a:solidFill>
                <a:ea typeface="隶书" pitchFamily="49" charset="-122"/>
              </a:rPr>
              <a:t>简单的代码生成器</a:t>
            </a:r>
          </a:p>
        </p:txBody>
      </p:sp>
      <p:sp>
        <p:nvSpPr>
          <p:cNvPr id="27651" name="Rectangle 3"/>
          <p:cNvSpPr>
            <a:spLocks noGrp="1" noChangeArrowheads="1"/>
          </p:cNvSpPr>
          <p:nvPr>
            <p:ph type="body" idx="1"/>
          </p:nvPr>
        </p:nvSpPr>
        <p:spPr>
          <a:xfrm>
            <a:off x="539552" y="699541"/>
            <a:ext cx="7920880" cy="2150947"/>
          </a:xfrm>
          <a:noFill/>
        </p:spPr>
        <p:txBody>
          <a:bodyPr lIns="92075" tIns="46038" rIns="92075" bIns="46038">
            <a:normAutofit fontScale="92500" lnSpcReduction="20000"/>
          </a:bodyPr>
          <a:lstStyle/>
          <a:p>
            <a:pPr marL="495300" indent="-495300" eaLnBrk="1" hangingPunct="1">
              <a:lnSpc>
                <a:spcPct val="110000"/>
              </a:lnSpc>
              <a:spcBef>
                <a:spcPct val="0"/>
              </a:spcBef>
            </a:pPr>
            <a:r>
              <a:rPr lang="zh-CN" altLang="en-US" sz="2200" dirty="0"/>
              <a:t>不</a:t>
            </a:r>
            <a:r>
              <a:rPr lang="zh-CN" altLang="zh-CN" sz="2200" dirty="0"/>
              <a:t>考虑目标代码的效率，也不考虑对寄存器的选择</a:t>
            </a:r>
            <a:endParaRPr lang="en-US" altLang="zh-CN" sz="2200" dirty="0"/>
          </a:p>
          <a:p>
            <a:pPr marL="495300" indent="-495300" eaLnBrk="1" hangingPunct="1">
              <a:lnSpc>
                <a:spcPct val="110000"/>
              </a:lnSpc>
              <a:spcBef>
                <a:spcPct val="0"/>
              </a:spcBef>
            </a:pPr>
            <a:r>
              <a:rPr lang="zh-CN" altLang="zh-CN" sz="2200" dirty="0"/>
              <a:t>只是依次把每条中间代码根据算符的含义直接翻译为对应的</a:t>
            </a:r>
            <a:r>
              <a:rPr lang="en-US" altLang="zh-CN" sz="2200" dirty="0"/>
              <a:t>80x86</a:t>
            </a:r>
            <a:r>
              <a:rPr lang="zh-CN" altLang="zh-CN" sz="2200" dirty="0"/>
              <a:t>汇编指令。</a:t>
            </a:r>
            <a:endParaRPr lang="en-US" altLang="zh-CN" sz="2200" dirty="0"/>
          </a:p>
          <a:p>
            <a:pPr marL="495300" indent="-495300">
              <a:lnSpc>
                <a:spcPct val="110000"/>
              </a:lnSpc>
              <a:spcBef>
                <a:spcPct val="0"/>
              </a:spcBef>
            </a:pPr>
            <a:r>
              <a:rPr lang="zh-CN" altLang="zh-CN" sz="2000" dirty="0"/>
              <a:t>假定指令中只使用一个寄存器</a:t>
            </a:r>
            <a:endParaRPr lang="en-US" altLang="zh-CN" sz="2000" dirty="0"/>
          </a:p>
          <a:p>
            <a:pPr marL="495300" indent="-495300">
              <a:lnSpc>
                <a:spcPct val="110000"/>
              </a:lnSpc>
              <a:spcBef>
                <a:spcPct val="0"/>
              </a:spcBef>
            </a:pPr>
            <a:r>
              <a:rPr lang="zh-CN" altLang="zh-CN" sz="2200" dirty="0"/>
              <a:t>简单代码生成的核心就是理解每条四元式的含义</a:t>
            </a:r>
            <a:r>
              <a:rPr lang="zh-CN" altLang="en-US" sz="2200" dirty="0"/>
              <a:t>，四元式和目标代码之间的对应关系。</a:t>
            </a:r>
            <a:endParaRPr lang="en-US" altLang="zh-CN" sz="2200" dirty="0"/>
          </a:p>
          <a:p>
            <a:pPr marL="495300" indent="-495300">
              <a:lnSpc>
                <a:spcPct val="110000"/>
              </a:lnSpc>
              <a:spcBef>
                <a:spcPct val="0"/>
              </a:spcBef>
            </a:pPr>
            <a:r>
              <a:rPr lang="zh-CN" altLang="en-US" sz="2200" b="1" dirty="0">
                <a:solidFill>
                  <a:srgbClr val="FF0000"/>
                </a:solidFill>
              </a:rPr>
              <a:t>算术运算的翻译</a:t>
            </a:r>
            <a:endParaRPr lang="en-US" altLang="zh-CN" sz="2200" b="1" dirty="0">
              <a:solidFill>
                <a:srgbClr val="FF0000"/>
              </a:solidFill>
            </a:endParaRPr>
          </a:p>
          <a:p>
            <a:pPr marL="495300" indent="-495300" eaLnBrk="1" hangingPunct="1">
              <a:lnSpc>
                <a:spcPct val="110000"/>
              </a:lnSpc>
              <a:spcBef>
                <a:spcPct val="0"/>
              </a:spcBef>
            </a:pPr>
            <a:endParaRPr lang="en-US" altLang="zh-CN" sz="2200"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2743118491"/>
              </p:ext>
            </p:extLst>
          </p:nvPr>
        </p:nvGraphicFramePr>
        <p:xfrm>
          <a:off x="3995936" y="2787773"/>
          <a:ext cx="4968552" cy="2459625"/>
        </p:xfrm>
        <a:graphic>
          <a:graphicData uri="http://schemas.openxmlformats.org/presentationml/2006/ole">
            <mc:AlternateContent xmlns:mc="http://schemas.openxmlformats.org/markup-compatibility/2006">
              <mc:Choice xmlns:v="urn:schemas-microsoft-com:vml" Requires="v">
                <p:oleObj name="Visio" r:id="rId3" imgW="4331835" imgH="2122529" progId="Visio.Drawing.11">
                  <p:embed/>
                </p:oleObj>
              </mc:Choice>
              <mc:Fallback>
                <p:oleObj name="Visio" r:id="rId3" imgW="4331835" imgH="2122529"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936" y="2787773"/>
                        <a:ext cx="4968552" cy="2459625"/>
                      </a:xfrm>
                      <a:prstGeom prst="rect">
                        <a:avLst/>
                      </a:prstGeom>
                      <a:noFill/>
                    </p:spPr>
                  </p:pic>
                </p:oleObj>
              </mc:Fallback>
            </mc:AlternateContent>
          </a:graphicData>
        </a:graphic>
      </p:graphicFrame>
      <p:sp>
        <p:nvSpPr>
          <p:cNvPr id="4" name="矩形 3"/>
          <p:cNvSpPr/>
          <p:nvPr/>
        </p:nvSpPr>
        <p:spPr>
          <a:xfrm>
            <a:off x="971600" y="2922498"/>
            <a:ext cx="2106667" cy="369332"/>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zh-CN" altLang="zh-CN" dirty="0"/>
              <a:t>（</a:t>
            </a:r>
            <a:r>
              <a:rPr lang="en-US" altLang="zh-CN" dirty="0"/>
              <a:t>+</a:t>
            </a:r>
            <a:r>
              <a:rPr lang="zh-CN" altLang="zh-CN" dirty="0"/>
              <a:t>，</a:t>
            </a:r>
            <a:r>
              <a:rPr lang="en-US" altLang="zh-CN" dirty="0"/>
              <a:t>B</a:t>
            </a:r>
            <a:r>
              <a:rPr lang="zh-CN" altLang="zh-CN" dirty="0"/>
              <a:t>，</a:t>
            </a:r>
            <a:r>
              <a:rPr lang="en-US" altLang="zh-CN" dirty="0"/>
              <a:t>C</a:t>
            </a:r>
            <a:r>
              <a:rPr lang="zh-CN" altLang="zh-CN" dirty="0"/>
              <a:t>，</a:t>
            </a:r>
            <a:r>
              <a:rPr lang="en-US" altLang="zh-CN" dirty="0"/>
              <a:t>T1</a:t>
            </a:r>
            <a:r>
              <a:rPr lang="zh-CN" altLang="zh-CN" dirty="0"/>
              <a:t>）</a:t>
            </a:r>
            <a:endParaRPr lang="zh-CN" altLang="en-US" dirty="0"/>
          </a:p>
        </p:txBody>
      </p:sp>
      <p:sp>
        <p:nvSpPr>
          <p:cNvPr id="5" name="矩形 4"/>
          <p:cNvSpPr/>
          <p:nvPr/>
        </p:nvSpPr>
        <p:spPr>
          <a:xfrm>
            <a:off x="971600" y="3880668"/>
            <a:ext cx="2106667" cy="9233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zh-CN" altLang="zh-CN" dirty="0"/>
              <a:t>（</a:t>
            </a:r>
            <a:r>
              <a:rPr lang="en-US" altLang="zh-CN" dirty="0"/>
              <a:t>1</a:t>
            </a:r>
            <a:r>
              <a:rPr lang="zh-CN" altLang="zh-CN" dirty="0"/>
              <a:t>）</a:t>
            </a:r>
            <a:r>
              <a:rPr lang="en-US" altLang="zh-CN" dirty="0"/>
              <a:t>MOV AX,B</a:t>
            </a:r>
            <a:endParaRPr lang="zh-CN" altLang="zh-CN" dirty="0"/>
          </a:p>
          <a:p>
            <a:r>
              <a:rPr lang="zh-CN" altLang="zh-CN" dirty="0"/>
              <a:t>（</a:t>
            </a:r>
            <a:r>
              <a:rPr lang="en-US" altLang="zh-CN" dirty="0"/>
              <a:t>2</a:t>
            </a:r>
            <a:r>
              <a:rPr lang="zh-CN" altLang="zh-CN" dirty="0"/>
              <a:t>）</a:t>
            </a:r>
            <a:r>
              <a:rPr lang="en-US" altLang="zh-CN" dirty="0"/>
              <a:t>ADD AX,C</a:t>
            </a:r>
            <a:endParaRPr lang="zh-CN" altLang="zh-CN" dirty="0"/>
          </a:p>
          <a:p>
            <a:r>
              <a:rPr lang="zh-CN" altLang="zh-CN" dirty="0"/>
              <a:t>（</a:t>
            </a:r>
            <a:r>
              <a:rPr lang="en-US" altLang="zh-CN" dirty="0"/>
              <a:t>3</a:t>
            </a:r>
            <a:r>
              <a:rPr lang="zh-CN" altLang="zh-CN" dirty="0"/>
              <a:t>）</a:t>
            </a:r>
            <a:r>
              <a:rPr lang="en-US" altLang="zh-CN" dirty="0"/>
              <a:t>MOV T1,AX</a:t>
            </a:r>
            <a:endParaRPr lang="zh-CN" altLang="zh-CN" dirty="0"/>
          </a:p>
        </p:txBody>
      </p:sp>
      <p:sp>
        <p:nvSpPr>
          <p:cNvPr id="6" name="下箭头 5"/>
          <p:cNvSpPr/>
          <p:nvPr/>
        </p:nvSpPr>
        <p:spPr>
          <a:xfrm>
            <a:off x="1763688" y="3291830"/>
            <a:ext cx="261245" cy="516830"/>
          </a:xfrm>
          <a:prstGeom prst="down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711095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5496" y="-20538"/>
            <a:ext cx="8229600" cy="576064"/>
          </a:xfrm>
        </p:spPr>
        <p:txBody>
          <a:bodyPr>
            <a:normAutofit fontScale="90000"/>
          </a:bodyPr>
          <a:lstStyle/>
          <a:p>
            <a:r>
              <a:rPr lang="zh-CN" altLang="en-US" dirty="0">
                <a:effectLst/>
              </a:rPr>
              <a:t>关系运算和布尔运算的</a:t>
            </a:r>
            <a:r>
              <a:rPr lang="zh-CN" altLang="zh-CN" dirty="0">
                <a:effectLst/>
              </a:rPr>
              <a:t>目标代码生成</a:t>
            </a:r>
            <a:endParaRPr lang="zh-CN" altLang="en-US" dirty="0"/>
          </a:p>
        </p:txBody>
      </p:sp>
      <p:sp>
        <p:nvSpPr>
          <p:cNvPr id="4" name="矩形 3"/>
          <p:cNvSpPr/>
          <p:nvPr/>
        </p:nvSpPr>
        <p:spPr>
          <a:xfrm>
            <a:off x="434925" y="1683748"/>
            <a:ext cx="1930337" cy="369332"/>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lgn="just">
              <a:spcAft>
                <a:spcPts val="0"/>
              </a:spcAft>
            </a:pP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&lt;</a:t>
            </a: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A</a:t>
            </a: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B</a:t>
            </a: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T</a:t>
            </a:r>
            <a:r>
              <a:rPr lang="zh-CN" altLang="zh-CN" kern="100" dirty="0">
                <a:latin typeface="Times New Roman" panose="02020603050405020304" pitchFamily="18" charset="0"/>
                <a:ea typeface="宋体" panose="02010600030101010101" pitchFamily="2" charset="-122"/>
              </a:rPr>
              <a:t>）</a:t>
            </a:r>
          </a:p>
        </p:txBody>
      </p:sp>
      <p:sp>
        <p:nvSpPr>
          <p:cNvPr id="5" name="矩形 4"/>
          <p:cNvSpPr/>
          <p:nvPr/>
        </p:nvSpPr>
        <p:spPr>
          <a:xfrm>
            <a:off x="3677278" y="627534"/>
            <a:ext cx="2262873"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spcAft>
                <a:spcPts val="0"/>
              </a:spcAft>
            </a:pPr>
            <a:r>
              <a:rPr lang="en-US" altLang="zh-CN" kern="100" dirty="0">
                <a:latin typeface="Times New Roman" panose="02020603050405020304" pitchFamily="18" charset="0"/>
                <a:ea typeface="宋体" panose="02010600030101010101" pitchFamily="2" charset="-122"/>
              </a:rPr>
              <a:t>MOV DX,1 </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MOV AX,A </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CMP AX,B</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JB _LT</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MOV DX,0</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_LT: MOV T ,DX</a:t>
            </a:r>
            <a:endParaRPr lang="zh-CN" altLang="zh-CN" kern="100" dirty="0">
              <a:latin typeface="Times New Roman" panose="02020603050405020304" pitchFamily="18" charset="0"/>
              <a:ea typeface="宋体" panose="02010600030101010101" pitchFamily="2" charset="-122"/>
            </a:endParaRPr>
          </a:p>
        </p:txBody>
      </p:sp>
      <p:sp>
        <p:nvSpPr>
          <p:cNvPr id="6" name="矩形 5"/>
          <p:cNvSpPr/>
          <p:nvPr/>
        </p:nvSpPr>
        <p:spPr>
          <a:xfrm>
            <a:off x="460185" y="3219822"/>
            <a:ext cx="1930337"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spcAft>
                <a:spcPts val="0"/>
              </a:spcAft>
            </a:pP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&amp;&amp;</a:t>
            </a: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A</a:t>
            </a: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B</a:t>
            </a: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T</a:t>
            </a:r>
            <a:r>
              <a:rPr lang="zh-CN" altLang="zh-CN" kern="100" dirty="0">
                <a:latin typeface="Times New Roman" panose="02020603050405020304" pitchFamily="18" charset="0"/>
                <a:ea typeface="宋体" panose="02010600030101010101" pitchFamily="2" charset="-122"/>
              </a:rPr>
              <a:t>）</a:t>
            </a:r>
          </a:p>
        </p:txBody>
      </p:sp>
      <p:sp>
        <p:nvSpPr>
          <p:cNvPr id="7" name="矩形 6"/>
          <p:cNvSpPr/>
          <p:nvPr/>
        </p:nvSpPr>
        <p:spPr>
          <a:xfrm>
            <a:off x="3654152" y="2532877"/>
            <a:ext cx="2286000" cy="258532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spcAft>
                <a:spcPts val="0"/>
              </a:spcAft>
            </a:pPr>
            <a:r>
              <a:rPr lang="en-US" altLang="zh-CN" kern="100" dirty="0">
                <a:latin typeface="Times New Roman" panose="02020603050405020304" pitchFamily="18" charset="0"/>
                <a:ea typeface="宋体" panose="02010600030101010101" pitchFamily="2" charset="-122"/>
              </a:rPr>
              <a:t>MOV DX,0 </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MOV AX,A</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CMP AX,0</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JE _AND</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MOV AX,B</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CMP AX,0</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JE _AND</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MOV DX,1</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_AND: MOV T ,DX</a:t>
            </a:r>
            <a:endParaRPr lang="zh-CN" altLang="zh-CN" kern="100" dirty="0">
              <a:latin typeface="Times New Roman" panose="02020603050405020304" pitchFamily="18" charset="0"/>
              <a:ea typeface="宋体" panose="02010600030101010101" pitchFamily="2" charset="-122"/>
            </a:endParaRPr>
          </a:p>
        </p:txBody>
      </p:sp>
      <p:sp>
        <p:nvSpPr>
          <p:cNvPr id="8" name="右箭头 7"/>
          <p:cNvSpPr/>
          <p:nvPr/>
        </p:nvSpPr>
        <p:spPr>
          <a:xfrm>
            <a:off x="2437270" y="1739012"/>
            <a:ext cx="1198626" cy="184666"/>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0" name="右箭头 9"/>
          <p:cNvSpPr/>
          <p:nvPr/>
        </p:nvSpPr>
        <p:spPr>
          <a:xfrm>
            <a:off x="2390522" y="3312155"/>
            <a:ext cx="1198626" cy="184666"/>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1" name="Rectangle 3"/>
          <p:cNvSpPr txBox="1">
            <a:spLocks noChangeArrowheads="1"/>
          </p:cNvSpPr>
          <p:nvPr/>
        </p:nvSpPr>
        <p:spPr bwMode="auto">
          <a:xfrm>
            <a:off x="6516216" y="712410"/>
            <a:ext cx="2344011" cy="1156004"/>
          </a:xfrm>
          <a:prstGeom prst="rect">
            <a:avLst/>
          </a:prstGeom>
          <a:ln/>
        </p:spPr>
        <p:style>
          <a:lnRef idx="1">
            <a:schemeClr val="accent1"/>
          </a:lnRef>
          <a:fillRef idx="2">
            <a:schemeClr val="accent1"/>
          </a:fillRef>
          <a:effectRef idx="1">
            <a:schemeClr val="accent1"/>
          </a:effectRef>
          <a:fontRef idx="minor">
            <a:schemeClr val="dk1"/>
          </a:fontRef>
        </p:style>
        <p:txBody>
          <a:bodyPr lIns="92075" tIns="46038" rIns="92075" bIns="46038"/>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spcBef>
                <a:spcPts val="0"/>
              </a:spcBef>
              <a:buNone/>
              <a:defRPr/>
            </a:pPr>
            <a:r>
              <a:rPr lang="zh-CN" altLang="en-US" sz="2000" kern="0" dirty="0">
                <a:latin typeface="宋体" panose="02010600030101010101" pitchFamily="2" charset="-122"/>
                <a:ea typeface="宋体" panose="02010600030101010101" pitchFamily="2" charset="-122"/>
              </a:rPr>
              <a:t>这个四元式的含义是，当</a:t>
            </a:r>
            <a:r>
              <a:rPr lang="en-US" altLang="zh-CN" sz="2400" b="1" kern="0" dirty="0">
                <a:solidFill>
                  <a:srgbClr val="FF0000"/>
                </a:solidFill>
                <a:latin typeface="宋体" panose="02010600030101010101" pitchFamily="2" charset="-122"/>
                <a:ea typeface="宋体" panose="02010600030101010101" pitchFamily="2" charset="-122"/>
              </a:rPr>
              <a:t>A&lt;B</a:t>
            </a:r>
            <a:r>
              <a:rPr lang="zh-CN" altLang="en-US" sz="2000" kern="0" dirty="0">
                <a:latin typeface="宋体" panose="02010600030101010101" pitchFamily="2" charset="-122"/>
                <a:ea typeface="宋体" panose="02010600030101010101" pitchFamily="2" charset="-122"/>
              </a:rPr>
              <a:t>时置</a:t>
            </a:r>
            <a:r>
              <a:rPr lang="en-US" altLang="zh-CN" sz="2000" kern="0" dirty="0">
                <a:latin typeface="宋体" panose="02010600030101010101" pitchFamily="2" charset="-122"/>
                <a:ea typeface="宋体" panose="02010600030101010101" pitchFamily="2" charset="-122"/>
              </a:rPr>
              <a:t>T=1</a:t>
            </a:r>
            <a:r>
              <a:rPr lang="zh-CN" altLang="en-US" sz="2000" kern="0" dirty="0">
                <a:latin typeface="宋体" panose="02010600030101010101" pitchFamily="2" charset="-122"/>
                <a:ea typeface="宋体" panose="02010600030101010101" pitchFamily="2" charset="-122"/>
              </a:rPr>
              <a:t>，否则置</a:t>
            </a:r>
            <a:r>
              <a:rPr lang="en-US" altLang="zh-CN" sz="2000" kern="0" dirty="0">
                <a:latin typeface="宋体" panose="02010600030101010101" pitchFamily="2" charset="-122"/>
                <a:ea typeface="宋体" panose="02010600030101010101" pitchFamily="2" charset="-122"/>
              </a:rPr>
              <a:t>T=0</a:t>
            </a:r>
            <a:r>
              <a:rPr lang="zh-CN" altLang="en-US" sz="2000" kern="0" dirty="0">
                <a:latin typeface="宋体" panose="02010600030101010101" pitchFamily="2" charset="-122"/>
                <a:ea typeface="宋体" panose="02010600030101010101" pitchFamily="2" charset="-122"/>
              </a:rPr>
              <a:t>。</a:t>
            </a:r>
            <a:endParaRPr lang="en-US" altLang="zh-CN" sz="2000" kern="0" dirty="0">
              <a:latin typeface="宋体" panose="02010600030101010101" pitchFamily="2" charset="-122"/>
              <a:ea typeface="宋体" panose="02010600030101010101" pitchFamily="2" charset="-122"/>
            </a:endParaRPr>
          </a:p>
        </p:txBody>
      </p:sp>
      <p:sp>
        <p:nvSpPr>
          <p:cNvPr id="12" name="矩形 11"/>
          <p:cNvSpPr/>
          <p:nvPr/>
        </p:nvSpPr>
        <p:spPr>
          <a:xfrm>
            <a:off x="414396" y="768956"/>
            <a:ext cx="985697"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spcAft>
                <a:spcPts val="0"/>
              </a:spcAft>
            </a:pPr>
            <a:r>
              <a:rPr lang="en-US" altLang="zh-CN" kern="100" dirty="0">
                <a:latin typeface="Times New Roman" panose="02020603050405020304" pitchFamily="18" charset="0"/>
                <a:ea typeface="宋体" panose="02010600030101010101" pitchFamily="2" charset="-122"/>
              </a:rPr>
              <a:t>A&lt;B</a:t>
            </a:r>
            <a:endParaRPr lang="zh-CN" altLang="zh-CN" kern="100" dirty="0">
              <a:latin typeface="Times New Roman" panose="02020603050405020304" pitchFamily="18" charset="0"/>
              <a:ea typeface="宋体" panose="02010600030101010101" pitchFamily="2" charset="-122"/>
            </a:endParaRPr>
          </a:p>
        </p:txBody>
      </p:sp>
      <p:sp>
        <p:nvSpPr>
          <p:cNvPr id="14" name="Rectangle 3"/>
          <p:cNvSpPr txBox="1">
            <a:spLocks noChangeArrowheads="1"/>
          </p:cNvSpPr>
          <p:nvPr/>
        </p:nvSpPr>
        <p:spPr bwMode="auto">
          <a:xfrm>
            <a:off x="6331024" y="2725847"/>
            <a:ext cx="2344011" cy="2199381"/>
          </a:xfrm>
          <a:prstGeom prst="rect">
            <a:avLst/>
          </a:prstGeom>
          <a:ln/>
        </p:spPr>
        <p:style>
          <a:lnRef idx="1">
            <a:schemeClr val="accent1"/>
          </a:lnRef>
          <a:fillRef idx="2">
            <a:schemeClr val="accent1"/>
          </a:fillRef>
          <a:effectRef idx="1">
            <a:schemeClr val="accent1"/>
          </a:effectRef>
          <a:fontRef idx="minor">
            <a:schemeClr val="dk1"/>
          </a:fontRef>
        </p:style>
        <p:txBody>
          <a:bodyPr lIns="92075" tIns="46038" rIns="92075" bIns="46038"/>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spcBef>
                <a:spcPts val="0"/>
              </a:spcBef>
              <a:buNone/>
              <a:defRPr/>
            </a:pPr>
            <a:r>
              <a:rPr lang="zh-CN" altLang="en-US" sz="2000" kern="0" dirty="0">
                <a:latin typeface="宋体" panose="02010600030101010101" pitchFamily="2" charset="-122"/>
                <a:ea typeface="宋体" panose="02010600030101010101" pitchFamily="2" charset="-122"/>
              </a:rPr>
              <a:t>这个四元式的含义是，当</a:t>
            </a:r>
            <a:r>
              <a:rPr lang="en-US" altLang="zh-CN" sz="2400" b="1" kern="0" dirty="0">
                <a:solidFill>
                  <a:srgbClr val="FF0000"/>
                </a:solidFill>
                <a:latin typeface="宋体" panose="02010600030101010101" pitchFamily="2" charset="-122"/>
                <a:ea typeface="宋体" panose="02010600030101010101" pitchFamily="2" charset="-122"/>
              </a:rPr>
              <a:t>A</a:t>
            </a:r>
            <a:r>
              <a:rPr lang="zh-CN" altLang="en-US" sz="2400" b="1" kern="0" dirty="0">
                <a:solidFill>
                  <a:srgbClr val="FF0000"/>
                </a:solidFill>
                <a:latin typeface="宋体" panose="02010600030101010101" pitchFamily="2" charset="-122"/>
                <a:ea typeface="宋体" panose="02010600030101010101" pitchFamily="2" charset="-122"/>
              </a:rPr>
              <a:t>为</a:t>
            </a:r>
            <a:r>
              <a:rPr lang="en-US" altLang="zh-CN" sz="2400" b="1" kern="0" dirty="0">
                <a:solidFill>
                  <a:srgbClr val="FF0000"/>
                </a:solidFill>
                <a:latin typeface="宋体" panose="02010600030101010101" pitchFamily="2" charset="-122"/>
                <a:ea typeface="宋体" panose="02010600030101010101" pitchFamily="2" charset="-122"/>
              </a:rPr>
              <a:t>0</a:t>
            </a:r>
            <a:r>
              <a:rPr lang="zh-CN" altLang="en-US" sz="2000" kern="0" dirty="0">
                <a:latin typeface="宋体" panose="02010600030101010101" pitchFamily="2" charset="-122"/>
                <a:ea typeface="宋体" panose="02010600030101010101" pitchFamily="2" charset="-122"/>
              </a:rPr>
              <a:t>时结果为</a:t>
            </a:r>
            <a:r>
              <a:rPr lang="en-US" altLang="zh-CN" sz="2000" kern="0" dirty="0">
                <a:latin typeface="宋体" panose="02010600030101010101" pitchFamily="2" charset="-122"/>
                <a:ea typeface="宋体" panose="02010600030101010101" pitchFamily="2" charset="-122"/>
              </a:rPr>
              <a:t>0</a:t>
            </a:r>
            <a:r>
              <a:rPr lang="zh-CN" altLang="en-US" sz="2000" kern="0" dirty="0">
                <a:latin typeface="宋体" panose="02010600030101010101" pitchFamily="2" charset="-122"/>
                <a:ea typeface="宋体" panose="02010600030101010101" pitchFamily="2" charset="-122"/>
              </a:rPr>
              <a:t>；当</a:t>
            </a:r>
            <a:r>
              <a:rPr lang="en-US" altLang="zh-CN" sz="2400" b="1" kern="0" dirty="0">
                <a:solidFill>
                  <a:srgbClr val="FF0000"/>
                </a:solidFill>
                <a:latin typeface="宋体" panose="02010600030101010101" pitchFamily="2" charset="-122"/>
                <a:ea typeface="宋体" panose="02010600030101010101" pitchFamily="2" charset="-122"/>
              </a:rPr>
              <a:t>A</a:t>
            </a:r>
            <a:r>
              <a:rPr lang="zh-CN" altLang="en-US" sz="2400" b="1" kern="0" dirty="0">
                <a:solidFill>
                  <a:srgbClr val="FF0000"/>
                </a:solidFill>
                <a:latin typeface="宋体" panose="02010600030101010101" pitchFamily="2" charset="-122"/>
                <a:ea typeface="宋体" panose="02010600030101010101" pitchFamily="2" charset="-122"/>
              </a:rPr>
              <a:t>为</a:t>
            </a:r>
            <a:r>
              <a:rPr lang="en-US" altLang="zh-CN" sz="2400" b="1" kern="0" dirty="0">
                <a:solidFill>
                  <a:srgbClr val="FF0000"/>
                </a:solidFill>
                <a:latin typeface="宋体" panose="02010600030101010101" pitchFamily="2" charset="-122"/>
                <a:ea typeface="宋体" panose="02010600030101010101" pitchFamily="2" charset="-122"/>
              </a:rPr>
              <a:t>1</a:t>
            </a:r>
            <a:r>
              <a:rPr lang="zh-CN" altLang="en-US" sz="2000" kern="0" dirty="0">
                <a:latin typeface="宋体" panose="02010600030101010101" pitchFamily="2" charset="-122"/>
                <a:ea typeface="宋体" panose="02010600030101010101" pitchFamily="2" charset="-122"/>
              </a:rPr>
              <a:t>时，还要看</a:t>
            </a:r>
            <a:r>
              <a:rPr lang="en-US" altLang="zh-CN" sz="2000" kern="0" dirty="0">
                <a:latin typeface="宋体" panose="02010600030101010101" pitchFamily="2" charset="-122"/>
                <a:ea typeface="宋体" panose="02010600030101010101" pitchFamily="2" charset="-122"/>
              </a:rPr>
              <a:t>B</a:t>
            </a:r>
            <a:r>
              <a:rPr lang="zh-CN" altLang="en-US" sz="2000" kern="0" dirty="0">
                <a:latin typeface="宋体" panose="02010600030101010101" pitchFamily="2" charset="-122"/>
                <a:ea typeface="宋体" panose="02010600030101010101" pitchFamily="2" charset="-122"/>
              </a:rPr>
              <a:t>的值，如果</a:t>
            </a:r>
            <a:r>
              <a:rPr lang="en-US" altLang="zh-CN" sz="2000" kern="0" dirty="0">
                <a:solidFill>
                  <a:srgbClr val="0000CC"/>
                </a:solidFill>
                <a:latin typeface="宋体" panose="02010600030101010101" pitchFamily="2" charset="-122"/>
                <a:ea typeface="宋体" panose="02010600030101010101" pitchFamily="2" charset="-122"/>
              </a:rPr>
              <a:t>B</a:t>
            </a:r>
            <a:r>
              <a:rPr lang="zh-CN" altLang="en-US" sz="2000" kern="0" dirty="0">
                <a:solidFill>
                  <a:srgbClr val="0000CC"/>
                </a:solidFill>
                <a:latin typeface="宋体" panose="02010600030101010101" pitchFamily="2" charset="-122"/>
                <a:ea typeface="宋体" panose="02010600030101010101" pitchFamily="2" charset="-122"/>
              </a:rPr>
              <a:t>为</a:t>
            </a:r>
            <a:r>
              <a:rPr lang="en-US" altLang="zh-CN" sz="2000" kern="0" dirty="0">
                <a:solidFill>
                  <a:srgbClr val="0000CC"/>
                </a:solidFill>
                <a:latin typeface="宋体" panose="02010600030101010101" pitchFamily="2" charset="-122"/>
                <a:ea typeface="宋体" panose="02010600030101010101" pitchFamily="2" charset="-122"/>
              </a:rPr>
              <a:t>0</a:t>
            </a:r>
            <a:r>
              <a:rPr lang="zh-CN" altLang="en-US" sz="2000" kern="0" dirty="0">
                <a:solidFill>
                  <a:srgbClr val="0000CC"/>
                </a:solidFill>
                <a:latin typeface="宋体" panose="02010600030101010101" pitchFamily="2" charset="-122"/>
                <a:ea typeface="宋体" panose="02010600030101010101" pitchFamily="2" charset="-122"/>
              </a:rPr>
              <a:t>结果为</a:t>
            </a:r>
            <a:r>
              <a:rPr lang="en-US" altLang="zh-CN" sz="2000" kern="0" dirty="0">
                <a:solidFill>
                  <a:srgbClr val="0000CC"/>
                </a:solidFill>
                <a:latin typeface="宋体" panose="02010600030101010101" pitchFamily="2" charset="-122"/>
                <a:ea typeface="宋体" panose="02010600030101010101" pitchFamily="2" charset="-122"/>
              </a:rPr>
              <a:t>0</a:t>
            </a:r>
            <a:r>
              <a:rPr lang="zh-CN" altLang="en-US" sz="2000" kern="0" dirty="0">
                <a:latin typeface="宋体" panose="02010600030101010101" pitchFamily="2" charset="-122"/>
                <a:ea typeface="宋体" panose="02010600030101010101" pitchFamily="2" charset="-122"/>
              </a:rPr>
              <a:t>；</a:t>
            </a:r>
            <a:r>
              <a:rPr lang="zh-CN" altLang="en-US" sz="2000" kern="0" dirty="0">
                <a:solidFill>
                  <a:srgbClr val="0000CC"/>
                </a:solidFill>
                <a:latin typeface="宋体" panose="02010600030101010101" pitchFamily="2" charset="-122"/>
                <a:ea typeface="宋体" panose="02010600030101010101" pitchFamily="2" charset="-122"/>
              </a:rPr>
              <a:t>否则结果为</a:t>
            </a:r>
            <a:r>
              <a:rPr lang="en-US" altLang="zh-CN" sz="2000" kern="0" dirty="0">
                <a:solidFill>
                  <a:srgbClr val="0000CC"/>
                </a:solidFill>
                <a:latin typeface="宋体" panose="02010600030101010101" pitchFamily="2" charset="-122"/>
                <a:ea typeface="宋体" panose="02010600030101010101" pitchFamily="2" charset="-122"/>
              </a:rPr>
              <a:t>1</a:t>
            </a:r>
            <a:r>
              <a:rPr lang="zh-CN" altLang="en-US" sz="2000" kern="0" dirty="0">
                <a:latin typeface="宋体" panose="02010600030101010101" pitchFamily="2" charset="-122"/>
                <a:ea typeface="宋体" panose="02010600030101010101" pitchFamily="2" charset="-122"/>
              </a:rPr>
              <a:t>。</a:t>
            </a:r>
            <a:endParaRPr lang="en-US" altLang="zh-CN" sz="2000" kern="0" dirty="0">
              <a:latin typeface="宋体" panose="02010600030101010101" pitchFamily="2" charset="-122"/>
              <a:ea typeface="宋体" panose="02010600030101010101" pitchFamily="2" charset="-122"/>
            </a:endParaRPr>
          </a:p>
        </p:txBody>
      </p:sp>
      <p:graphicFrame>
        <p:nvGraphicFramePr>
          <p:cNvPr id="15" name="对象 14"/>
          <p:cNvGraphicFramePr>
            <a:graphicFrameLocks noChangeAspect="1"/>
          </p:cNvGraphicFramePr>
          <p:nvPr>
            <p:extLst>
              <p:ext uri="{D42A27DB-BD31-4B8C-83A1-F6EECF244321}">
                <p14:modId xmlns:p14="http://schemas.microsoft.com/office/powerpoint/2010/main" val="1654174726"/>
              </p:ext>
            </p:extLst>
          </p:nvPr>
        </p:nvGraphicFramePr>
        <p:xfrm>
          <a:off x="6343520" y="36310"/>
          <a:ext cx="2689402" cy="2496567"/>
        </p:xfrm>
        <a:graphic>
          <a:graphicData uri="http://schemas.openxmlformats.org/presentationml/2006/ole">
            <mc:AlternateContent xmlns:mc="http://schemas.openxmlformats.org/markup-compatibility/2006">
              <mc:Choice xmlns:v="urn:schemas-microsoft-com:vml" Requires="v">
                <p:oleObj name="Visio" r:id="rId2" imgW="2031640" imgH="1885680" progId="Visio.Drawing.11">
                  <p:embed/>
                </p:oleObj>
              </mc:Choice>
              <mc:Fallback>
                <p:oleObj name="Visio" r:id="rId2" imgW="2031640" imgH="1885680" progId="Visio.Drawing.11">
                  <p:embed/>
                  <p:pic>
                    <p:nvPicPr>
                      <p:cNvPr id="0" name="对象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3520" y="36310"/>
                        <a:ext cx="2689402" cy="2496567"/>
                      </a:xfrm>
                      <a:prstGeom prst="rect">
                        <a:avLst/>
                      </a:prstGeom>
                      <a:solidFill>
                        <a:schemeClr val="accent3">
                          <a:lumMod val="20000"/>
                          <a:lumOff val="80000"/>
                        </a:schemeClr>
                      </a:solidFill>
                      <a:ln>
                        <a:noFill/>
                      </a:ln>
                    </p:spPr>
                  </p:pic>
                </p:oleObj>
              </mc:Fallback>
            </mc:AlternateContent>
          </a:graphicData>
        </a:graphic>
      </p:graphicFrame>
    </p:spTree>
    <p:extLst>
      <p:ext uri="{BB962C8B-B14F-4D97-AF65-F5344CB8AC3E}">
        <p14:creationId xmlns:p14="http://schemas.microsoft.com/office/powerpoint/2010/main" val="2446043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11">
                                            <p:bg/>
                                          </p:spTgt>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14">
                                            <p:bg/>
                                          </p:spTgt>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P spid="11" grpId="1" uiExpand="1" build="allAtOnce" animBg="1"/>
      <p:bldP spid="12" grpId="0" animBg="1"/>
      <p:bldP spid="14" grpId="1" build="allAtOnce"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7544" y="699542"/>
            <a:ext cx="8064896" cy="2376264"/>
          </a:xfrm>
        </p:spPr>
        <p:txBody>
          <a:bodyPr>
            <a:normAutofit fontScale="92500"/>
          </a:bodyPr>
          <a:lstStyle/>
          <a:p>
            <a:r>
              <a:rPr lang="zh-CN" altLang="en-US" sz="2000" dirty="0"/>
              <a:t>有多个条件转移指令：</a:t>
            </a:r>
            <a:r>
              <a:rPr lang="en-US" altLang="zh-CN" sz="2000" dirty="0"/>
              <a:t>JZ</a:t>
            </a:r>
            <a:r>
              <a:rPr lang="zh-CN" altLang="zh-CN" sz="2000" dirty="0"/>
              <a:t>、</a:t>
            </a:r>
            <a:r>
              <a:rPr lang="en-US" altLang="zh-CN" sz="2000" dirty="0"/>
              <a:t>JNZ</a:t>
            </a:r>
            <a:r>
              <a:rPr lang="zh-CN" altLang="zh-CN" sz="2000" dirty="0"/>
              <a:t>、</a:t>
            </a:r>
            <a:r>
              <a:rPr lang="en-US" altLang="zh-CN" sz="2000" dirty="0"/>
              <a:t>JG</a:t>
            </a:r>
            <a:r>
              <a:rPr lang="zh-CN" altLang="en-US" sz="2000" dirty="0"/>
              <a:t>、</a:t>
            </a:r>
            <a:r>
              <a:rPr lang="en-US" altLang="zh-CN" sz="2000" dirty="0"/>
              <a:t>JL</a:t>
            </a:r>
            <a:r>
              <a:rPr lang="zh-CN" altLang="en-US" sz="2000" dirty="0"/>
              <a:t>、</a:t>
            </a:r>
            <a:r>
              <a:rPr lang="en-US" altLang="zh-CN" sz="2000" dirty="0"/>
              <a:t>JB</a:t>
            </a:r>
            <a:r>
              <a:rPr lang="zh-CN" altLang="en-US" sz="2000" dirty="0"/>
              <a:t>、</a:t>
            </a:r>
            <a:r>
              <a:rPr lang="en-US" altLang="zh-CN" sz="2000" dirty="0"/>
              <a:t>JE</a:t>
            </a:r>
            <a:r>
              <a:rPr lang="zh-CN" altLang="en-US" sz="2000" dirty="0"/>
              <a:t>等，根据标志位转移</a:t>
            </a:r>
          </a:p>
          <a:p>
            <a:r>
              <a:rPr lang="zh-CN" altLang="zh-CN" sz="2000" dirty="0"/>
              <a:t>使用标志寄存器中的标志位来指示最后计算出来的或存入一个寄存器的数值是负数、零或正数</a:t>
            </a:r>
            <a:endParaRPr lang="en-US" altLang="zh-CN" sz="2000" dirty="0"/>
          </a:p>
          <a:p>
            <a:r>
              <a:rPr lang="zh-CN" altLang="en-US" sz="2000" dirty="0"/>
              <a:t>也可以</a:t>
            </a:r>
            <a:r>
              <a:rPr lang="zh-CN" altLang="zh-CN" sz="2000" dirty="0"/>
              <a:t>使用比较指令</a:t>
            </a:r>
            <a:r>
              <a:rPr lang="zh-CN" altLang="en-US" sz="2000" dirty="0"/>
              <a:t>来</a:t>
            </a:r>
            <a:r>
              <a:rPr lang="zh-CN" altLang="zh-CN" sz="2000" dirty="0"/>
              <a:t>设置标志位而不必实际计算出一个值来</a:t>
            </a:r>
            <a:r>
              <a:rPr lang="zh-CN" altLang="en-US" sz="2000" dirty="0"/>
              <a:t>，比如使用</a:t>
            </a:r>
            <a:r>
              <a:rPr lang="zh-CN" altLang="zh-CN" sz="2000" dirty="0"/>
              <a:t>指令</a:t>
            </a:r>
            <a:r>
              <a:rPr lang="en-US" altLang="zh-CN" sz="2200" b="1" dirty="0">
                <a:solidFill>
                  <a:srgbClr val="FF0000"/>
                </a:solidFill>
              </a:rPr>
              <a:t>CMP </a:t>
            </a:r>
            <a:r>
              <a:rPr lang="en-US" altLang="zh-CN" sz="2200" b="1" dirty="0" err="1">
                <a:solidFill>
                  <a:srgbClr val="FF0000"/>
                </a:solidFill>
              </a:rPr>
              <a:t>x,y</a:t>
            </a:r>
            <a:r>
              <a:rPr lang="zh-CN" altLang="en-US" sz="2000" dirty="0"/>
              <a:t>后</a:t>
            </a:r>
            <a:r>
              <a:rPr lang="zh-CN" altLang="zh-CN" sz="2000" dirty="0"/>
              <a:t>，在</a:t>
            </a:r>
            <a:r>
              <a:rPr lang="en-US" altLang="zh-CN" sz="2000" dirty="0"/>
              <a:t>x&lt;y</a:t>
            </a:r>
            <a:r>
              <a:rPr lang="zh-CN" altLang="zh-CN" sz="2000" dirty="0"/>
              <a:t>时设置符号标志位</a:t>
            </a:r>
            <a:r>
              <a:rPr lang="en-US" altLang="zh-CN" sz="2000" dirty="0"/>
              <a:t>SF</a:t>
            </a:r>
            <a:r>
              <a:rPr lang="zh-CN" altLang="zh-CN" sz="2000" dirty="0"/>
              <a:t>为</a:t>
            </a:r>
            <a:r>
              <a:rPr lang="en-US" altLang="zh-CN" sz="2000" dirty="0"/>
              <a:t>1</a:t>
            </a:r>
            <a:r>
              <a:rPr lang="zh-CN" altLang="zh-CN" sz="2000" dirty="0"/>
              <a:t>，</a:t>
            </a:r>
            <a:r>
              <a:rPr lang="zh-CN" altLang="en-US" sz="2000" dirty="0"/>
              <a:t>否则设置为</a:t>
            </a:r>
            <a:r>
              <a:rPr lang="en-US" altLang="zh-CN" sz="2000" dirty="0"/>
              <a:t>0</a:t>
            </a:r>
          </a:p>
          <a:p>
            <a:r>
              <a:rPr lang="zh-CN" altLang="en-US" sz="2000" dirty="0"/>
              <a:t>如果程序中是</a:t>
            </a:r>
            <a:r>
              <a:rPr lang="zh-CN" altLang="zh-CN" sz="2000" dirty="0"/>
              <a:t>满足指定的条件</a:t>
            </a:r>
            <a:r>
              <a:rPr lang="en-US" altLang="zh-CN" sz="2000" dirty="0"/>
              <a:t>&lt;</a:t>
            </a:r>
            <a:r>
              <a:rPr lang="zh-CN" altLang="zh-CN" sz="2000" dirty="0"/>
              <a:t>、</a:t>
            </a:r>
            <a:r>
              <a:rPr lang="en-US" altLang="zh-CN" sz="2000" dirty="0"/>
              <a:t>=</a:t>
            </a:r>
            <a:r>
              <a:rPr lang="zh-CN" altLang="zh-CN" sz="2000" dirty="0"/>
              <a:t>、</a:t>
            </a:r>
            <a:r>
              <a:rPr lang="en-US" altLang="zh-CN" sz="2000" dirty="0"/>
              <a:t>&gt;</a:t>
            </a:r>
            <a:r>
              <a:rPr lang="zh-CN" altLang="zh-CN" sz="2000" dirty="0"/>
              <a:t>、≤、≠或≥</a:t>
            </a:r>
            <a:r>
              <a:rPr lang="zh-CN" altLang="en-US" sz="2000" dirty="0"/>
              <a:t>进行转移</a:t>
            </a:r>
            <a:r>
              <a:rPr lang="zh-CN" altLang="zh-CN" sz="2000" dirty="0"/>
              <a:t>，</a:t>
            </a:r>
            <a:r>
              <a:rPr lang="zh-CN" altLang="en-US" sz="2000" dirty="0"/>
              <a:t>将生成比较指令和</a:t>
            </a:r>
            <a:r>
              <a:rPr lang="zh-CN" altLang="zh-CN" sz="2000" dirty="0"/>
              <a:t>条件转移指令</a:t>
            </a:r>
            <a:r>
              <a:rPr lang="zh-CN" altLang="en-US" sz="2000" dirty="0"/>
              <a:t>，根据标志位</a:t>
            </a:r>
            <a:r>
              <a:rPr lang="zh-CN" altLang="zh-CN" sz="2000" dirty="0"/>
              <a:t>进行转移</a:t>
            </a:r>
            <a:endParaRPr lang="en-US" altLang="zh-CN" sz="2000" dirty="0"/>
          </a:p>
        </p:txBody>
      </p:sp>
      <p:sp>
        <p:nvSpPr>
          <p:cNvPr id="3" name="标题 2"/>
          <p:cNvSpPr>
            <a:spLocks noGrp="1"/>
          </p:cNvSpPr>
          <p:nvPr>
            <p:ph type="title"/>
          </p:nvPr>
        </p:nvSpPr>
        <p:spPr>
          <a:xfrm>
            <a:off x="-57200" y="0"/>
            <a:ext cx="8229600" cy="576064"/>
          </a:xfrm>
        </p:spPr>
        <p:txBody>
          <a:bodyPr>
            <a:normAutofit fontScale="90000"/>
          </a:bodyPr>
          <a:lstStyle/>
          <a:p>
            <a:r>
              <a:rPr lang="zh-CN" altLang="zh-CN" dirty="0">
                <a:effectLst/>
              </a:rPr>
              <a:t>条件</a:t>
            </a:r>
            <a:r>
              <a:rPr lang="zh-CN" altLang="en-US" dirty="0">
                <a:effectLst/>
              </a:rPr>
              <a:t>跳转的</a:t>
            </a:r>
            <a:r>
              <a:rPr lang="zh-CN" altLang="zh-CN" dirty="0">
                <a:effectLst/>
              </a:rPr>
              <a:t>目标代码生成</a:t>
            </a:r>
            <a:endParaRPr lang="zh-CN" altLang="en-US" dirty="0"/>
          </a:p>
        </p:txBody>
      </p:sp>
      <p:sp>
        <p:nvSpPr>
          <p:cNvPr id="4" name="矩形 3"/>
          <p:cNvSpPr/>
          <p:nvPr/>
        </p:nvSpPr>
        <p:spPr>
          <a:xfrm>
            <a:off x="611560" y="3204507"/>
            <a:ext cx="4320480" cy="193899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zh-CN" sz="2000" dirty="0"/>
              <a:t>中间代码</a:t>
            </a:r>
            <a:r>
              <a:rPr lang="en-US" altLang="zh-CN" sz="2000" b="1" dirty="0">
                <a:solidFill>
                  <a:srgbClr val="FF0000"/>
                </a:solidFill>
              </a:rPr>
              <a:t>(j&gt;, A, B, L)</a:t>
            </a:r>
            <a:r>
              <a:rPr lang="zh-CN" altLang="en-US" sz="2000" b="1" dirty="0">
                <a:solidFill>
                  <a:schemeClr val="tx1"/>
                </a:solidFill>
              </a:rPr>
              <a:t>或</a:t>
            </a:r>
            <a:r>
              <a:rPr lang="en-US" altLang="zh-CN" sz="2000" b="1" dirty="0">
                <a:solidFill>
                  <a:srgbClr val="FF0000"/>
                </a:solidFill>
              </a:rPr>
              <a:t>if A&gt;B </a:t>
            </a:r>
            <a:r>
              <a:rPr lang="en-US" altLang="zh-CN" sz="2000" b="1" dirty="0" err="1">
                <a:solidFill>
                  <a:srgbClr val="FF0000"/>
                </a:solidFill>
              </a:rPr>
              <a:t>goto</a:t>
            </a:r>
            <a:r>
              <a:rPr lang="en-US" altLang="zh-CN" sz="2000" b="1" dirty="0">
                <a:solidFill>
                  <a:srgbClr val="FF0000"/>
                </a:solidFill>
              </a:rPr>
              <a:t> L</a:t>
            </a:r>
            <a:r>
              <a:rPr lang="zh-CN" altLang="zh-CN" sz="2000" dirty="0"/>
              <a:t>翻译为如下形式的目标代码：</a:t>
            </a:r>
          </a:p>
          <a:p>
            <a:r>
              <a:rPr lang="en-US" altLang="zh-CN" sz="2000" dirty="0">
                <a:solidFill>
                  <a:srgbClr val="FF0000"/>
                </a:solidFill>
              </a:rPr>
              <a:t>MOV AX,A</a:t>
            </a:r>
          </a:p>
          <a:p>
            <a:r>
              <a:rPr lang="en-US" altLang="zh-CN" sz="2000" dirty="0">
                <a:solidFill>
                  <a:srgbClr val="FF0000"/>
                </a:solidFill>
              </a:rPr>
              <a:t>CMP AX,B</a:t>
            </a:r>
            <a:endParaRPr lang="zh-CN" altLang="zh-CN" sz="2000" dirty="0">
              <a:solidFill>
                <a:srgbClr val="FF0000"/>
              </a:solidFill>
            </a:endParaRPr>
          </a:p>
          <a:p>
            <a:r>
              <a:rPr lang="en-US" altLang="zh-CN" sz="2000" dirty="0">
                <a:solidFill>
                  <a:srgbClr val="FF0000"/>
                </a:solidFill>
              </a:rPr>
              <a:t>JG p' </a:t>
            </a:r>
            <a:r>
              <a:rPr lang="zh-CN" altLang="zh-CN" sz="2000" dirty="0"/>
              <a:t>（其中</a:t>
            </a:r>
            <a:r>
              <a:rPr lang="en-US" altLang="zh-CN" sz="2000" dirty="0"/>
              <a:t>p'</a:t>
            </a:r>
            <a:r>
              <a:rPr lang="zh-CN" altLang="zh-CN" sz="2000" dirty="0"/>
              <a:t>表示中间代码</a:t>
            </a:r>
            <a:r>
              <a:rPr lang="en-US" altLang="zh-CN" sz="2000" dirty="0"/>
              <a:t>L</a:t>
            </a:r>
            <a:r>
              <a:rPr lang="zh-CN" altLang="zh-CN" sz="2000" dirty="0"/>
              <a:t>对应的第一条目标代码的地址）</a:t>
            </a:r>
          </a:p>
        </p:txBody>
      </p:sp>
      <p:sp>
        <p:nvSpPr>
          <p:cNvPr id="5" name="矩形 4"/>
          <p:cNvSpPr/>
          <p:nvPr/>
        </p:nvSpPr>
        <p:spPr>
          <a:xfrm>
            <a:off x="5724128" y="3204507"/>
            <a:ext cx="2520280" cy="193899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zh-CN" sz="2000" b="1" dirty="0">
                <a:solidFill>
                  <a:srgbClr val="FF0000"/>
                </a:solidFill>
              </a:rPr>
              <a:t>（</a:t>
            </a:r>
            <a:r>
              <a:rPr lang="en-US" altLang="zh-CN" sz="2000" b="1" dirty="0">
                <a:solidFill>
                  <a:srgbClr val="FF0000"/>
                </a:solidFill>
              </a:rPr>
              <a:t>+</a:t>
            </a:r>
            <a:r>
              <a:rPr lang="zh-CN" altLang="zh-CN" sz="2000" b="1" dirty="0">
                <a:solidFill>
                  <a:srgbClr val="FF0000"/>
                </a:solidFill>
              </a:rPr>
              <a:t>，</a:t>
            </a:r>
            <a:r>
              <a:rPr lang="en-US" altLang="zh-CN" sz="2000" b="1" dirty="0">
                <a:solidFill>
                  <a:srgbClr val="FF0000"/>
                </a:solidFill>
              </a:rPr>
              <a:t>y</a:t>
            </a:r>
            <a:r>
              <a:rPr lang="zh-CN" altLang="zh-CN" sz="2000" b="1" dirty="0">
                <a:solidFill>
                  <a:srgbClr val="FF0000"/>
                </a:solidFill>
              </a:rPr>
              <a:t>，</a:t>
            </a:r>
            <a:r>
              <a:rPr lang="en-US" altLang="zh-CN" sz="2000" b="1" dirty="0">
                <a:solidFill>
                  <a:srgbClr val="FF0000"/>
                </a:solidFill>
              </a:rPr>
              <a:t>z</a:t>
            </a:r>
            <a:r>
              <a:rPr lang="zh-CN" altLang="zh-CN" sz="2000" b="1" dirty="0">
                <a:solidFill>
                  <a:srgbClr val="FF0000"/>
                </a:solidFill>
              </a:rPr>
              <a:t>，</a:t>
            </a:r>
            <a:r>
              <a:rPr lang="en-US" altLang="zh-CN" sz="2000" b="1" dirty="0">
                <a:solidFill>
                  <a:srgbClr val="FF0000"/>
                </a:solidFill>
              </a:rPr>
              <a:t>x</a:t>
            </a:r>
            <a:r>
              <a:rPr lang="zh-CN" altLang="zh-CN" sz="2000" b="1" dirty="0">
                <a:solidFill>
                  <a:srgbClr val="FF0000"/>
                </a:solidFill>
              </a:rPr>
              <a:t>）</a:t>
            </a:r>
          </a:p>
          <a:p>
            <a:r>
              <a:rPr lang="zh-CN" altLang="zh-CN" sz="2000" b="1" dirty="0">
                <a:solidFill>
                  <a:srgbClr val="FF0000"/>
                </a:solidFill>
              </a:rPr>
              <a:t>（</a:t>
            </a:r>
            <a:r>
              <a:rPr lang="en-US" altLang="zh-CN" sz="2000" b="1" dirty="0" err="1">
                <a:solidFill>
                  <a:srgbClr val="FF0000"/>
                </a:solidFill>
              </a:rPr>
              <a:t>jz</a:t>
            </a:r>
            <a:r>
              <a:rPr lang="zh-CN" altLang="zh-CN" sz="2000" b="1" dirty="0">
                <a:solidFill>
                  <a:srgbClr val="FF0000"/>
                </a:solidFill>
              </a:rPr>
              <a:t>，</a:t>
            </a:r>
            <a:r>
              <a:rPr lang="en-US" altLang="zh-CN" sz="2000" b="1" dirty="0">
                <a:solidFill>
                  <a:srgbClr val="FF0000"/>
                </a:solidFill>
              </a:rPr>
              <a:t>x</a:t>
            </a:r>
            <a:r>
              <a:rPr lang="zh-CN" altLang="zh-CN" sz="2000" b="1" dirty="0">
                <a:solidFill>
                  <a:srgbClr val="FF0000"/>
                </a:solidFill>
              </a:rPr>
              <a:t>， ，</a:t>
            </a:r>
            <a:r>
              <a:rPr lang="en-US" altLang="zh-CN" sz="2000" b="1" dirty="0">
                <a:solidFill>
                  <a:srgbClr val="FF0000"/>
                </a:solidFill>
              </a:rPr>
              <a:t>p</a:t>
            </a:r>
            <a:r>
              <a:rPr lang="zh-CN" altLang="zh-CN" sz="2000" b="1" dirty="0">
                <a:solidFill>
                  <a:srgbClr val="FF0000"/>
                </a:solidFill>
              </a:rPr>
              <a:t>）</a:t>
            </a:r>
          </a:p>
          <a:p>
            <a:r>
              <a:rPr lang="zh-CN" altLang="zh-CN" sz="2000" dirty="0"/>
              <a:t>可实现如下： </a:t>
            </a:r>
          </a:p>
          <a:p>
            <a:r>
              <a:rPr lang="en-US" altLang="zh-CN" sz="2000" dirty="0">
                <a:solidFill>
                  <a:srgbClr val="FF0000"/>
                </a:solidFill>
              </a:rPr>
              <a:t>MOV AX, y </a:t>
            </a:r>
            <a:endParaRPr lang="zh-CN" altLang="zh-CN" sz="2000" dirty="0">
              <a:solidFill>
                <a:srgbClr val="FF0000"/>
              </a:solidFill>
            </a:endParaRPr>
          </a:p>
          <a:p>
            <a:r>
              <a:rPr lang="en-US" altLang="zh-CN" sz="2000" dirty="0">
                <a:solidFill>
                  <a:srgbClr val="FF0000"/>
                </a:solidFill>
              </a:rPr>
              <a:t>ADD AX, z</a:t>
            </a:r>
            <a:endParaRPr lang="zh-CN" altLang="zh-CN" sz="2000" dirty="0">
              <a:solidFill>
                <a:srgbClr val="FF0000"/>
              </a:solidFill>
            </a:endParaRPr>
          </a:p>
          <a:p>
            <a:r>
              <a:rPr lang="en-US" altLang="zh-CN" sz="2000" dirty="0">
                <a:solidFill>
                  <a:srgbClr val="FF0000"/>
                </a:solidFill>
              </a:rPr>
              <a:t>JZ p' </a:t>
            </a:r>
            <a:endParaRPr lang="zh-CN" altLang="zh-CN" sz="2000" dirty="0"/>
          </a:p>
        </p:txBody>
      </p:sp>
      <p:sp>
        <p:nvSpPr>
          <p:cNvPr id="6" name="矩形 5"/>
          <p:cNvSpPr/>
          <p:nvPr/>
        </p:nvSpPr>
        <p:spPr>
          <a:xfrm>
            <a:off x="5076056" y="-37415"/>
            <a:ext cx="4061872" cy="646331"/>
          </a:xfrm>
          <a:prstGeom prst="rect">
            <a:avLst/>
          </a:prstGeom>
        </p:spPr>
        <p:txBody>
          <a:bodyPr wrap="square">
            <a:spAutoFit/>
          </a:bodyPr>
          <a:lstStyle/>
          <a:p>
            <a:r>
              <a:rPr lang="en-US" altLang="zh-CN" dirty="0">
                <a:hlinkClick r:id="rId2"/>
              </a:rPr>
              <a:t>https://blog.csdn.net/weixin_32589873/article/details/78207020</a:t>
            </a:r>
            <a:endParaRPr lang="zh-CN" altLang="en-US" dirty="0"/>
          </a:p>
        </p:txBody>
      </p:sp>
    </p:spTree>
    <p:extLst>
      <p:ext uri="{BB962C8B-B14F-4D97-AF65-F5344CB8AC3E}">
        <p14:creationId xmlns:p14="http://schemas.microsoft.com/office/powerpoint/2010/main" val="1044205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animBg="1"/>
      <p:bldP spid="5" grpId="0" uiExpand="1" animBg="1"/>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03434" y="150020"/>
            <a:ext cx="4868592" cy="576064"/>
          </a:xfrm>
        </p:spPr>
        <p:txBody>
          <a:bodyPr>
            <a:normAutofit fontScale="90000"/>
          </a:bodyPr>
          <a:lstStyle/>
          <a:p>
            <a:r>
              <a:rPr lang="zh-CN" altLang="en-US" dirty="0"/>
              <a:t>函数相关四元式</a:t>
            </a:r>
            <a:br>
              <a:rPr lang="en-US" altLang="zh-CN" dirty="0"/>
            </a:br>
            <a:r>
              <a:rPr lang="zh-CN" altLang="en-US" dirty="0"/>
              <a:t>    的目标代码生成</a:t>
            </a:r>
          </a:p>
        </p:txBody>
      </p:sp>
      <p:sp>
        <p:nvSpPr>
          <p:cNvPr id="4" name="矩形 3"/>
          <p:cNvSpPr/>
          <p:nvPr/>
        </p:nvSpPr>
        <p:spPr>
          <a:xfrm>
            <a:off x="155125" y="1203650"/>
            <a:ext cx="2005742" cy="369332"/>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lgn="just">
              <a:spcAft>
                <a:spcPts val="0"/>
              </a:spcAft>
            </a:pP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para</a:t>
            </a:r>
            <a:r>
              <a:rPr lang="zh-CN" altLang="zh-CN" kern="100" dirty="0">
                <a:latin typeface="Times New Roman" panose="02020603050405020304" pitchFamily="18" charset="0"/>
                <a:ea typeface="宋体" panose="02010600030101010101" pitchFamily="2" charset="-122"/>
              </a:rPr>
              <a:t>，， ， </a:t>
            </a:r>
            <a:r>
              <a:rPr lang="en-US" altLang="zh-CN" kern="100" dirty="0">
                <a:latin typeface="Times New Roman" panose="02020603050405020304" pitchFamily="18" charset="0"/>
                <a:ea typeface="宋体" panose="02010600030101010101" pitchFamily="2" charset="-122"/>
              </a:rPr>
              <a:t>A</a:t>
            </a:r>
            <a:r>
              <a:rPr lang="zh-CN" altLang="zh-CN" kern="100" dirty="0">
                <a:latin typeface="Times New Roman" panose="02020603050405020304" pitchFamily="18" charset="0"/>
                <a:ea typeface="宋体" panose="02010600030101010101" pitchFamily="2" charset="-122"/>
              </a:rPr>
              <a:t>）</a:t>
            </a:r>
          </a:p>
        </p:txBody>
      </p:sp>
      <p:sp>
        <p:nvSpPr>
          <p:cNvPr id="5" name="矩形 4"/>
          <p:cNvSpPr/>
          <p:nvPr/>
        </p:nvSpPr>
        <p:spPr>
          <a:xfrm>
            <a:off x="3563888" y="1059582"/>
            <a:ext cx="1408138"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spcAft>
                <a:spcPts val="0"/>
              </a:spcAft>
            </a:pPr>
            <a:r>
              <a:rPr lang="en-US" altLang="zh-CN" kern="100" dirty="0">
                <a:latin typeface="Times New Roman" panose="02020603050405020304" pitchFamily="18" charset="0"/>
                <a:ea typeface="宋体" panose="02010600030101010101" pitchFamily="2" charset="-122"/>
              </a:rPr>
              <a:t>MOV AX,A</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PUSH AX</a:t>
            </a:r>
            <a:endParaRPr lang="zh-CN" altLang="zh-CN" kern="100" dirty="0">
              <a:latin typeface="Times New Roman" panose="02020603050405020304" pitchFamily="18" charset="0"/>
              <a:ea typeface="宋体" panose="02010600030101010101" pitchFamily="2" charset="-122"/>
            </a:endParaRPr>
          </a:p>
        </p:txBody>
      </p:sp>
      <p:sp>
        <p:nvSpPr>
          <p:cNvPr id="6" name="矩形 5"/>
          <p:cNvSpPr/>
          <p:nvPr/>
        </p:nvSpPr>
        <p:spPr>
          <a:xfrm>
            <a:off x="148745" y="1923678"/>
            <a:ext cx="2364750" cy="369332"/>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lgn="just">
              <a:spcAft>
                <a:spcPts val="0"/>
              </a:spcAft>
            </a:pP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CALL</a:t>
            </a: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fun</a:t>
            </a:r>
            <a:r>
              <a:rPr lang="zh-CN" altLang="zh-CN" kern="100" dirty="0">
                <a:latin typeface="Times New Roman" panose="02020603050405020304" pitchFamily="18" charset="0"/>
                <a:ea typeface="宋体" panose="02010600030101010101" pitchFamily="2" charset="-122"/>
              </a:rPr>
              <a:t>， ， ）</a:t>
            </a:r>
          </a:p>
        </p:txBody>
      </p:sp>
      <p:sp>
        <p:nvSpPr>
          <p:cNvPr id="7" name="矩形 6"/>
          <p:cNvSpPr/>
          <p:nvPr/>
        </p:nvSpPr>
        <p:spPr>
          <a:xfrm>
            <a:off x="3563888" y="1923678"/>
            <a:ext cx="1408138"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spcAft>
                <a:spcPts val="0"/>
              </a:spcAft>
            </a:pPr>
            <a:r>
              <a:rPr lang="en-US" altLang="zh-CN" kern="100" dirty="0">
                <a:latin typeface="Times New Roman" panose="02020603050405020304" pitchFamily="18" charset="0"/>
                <a:ea typeface="宋体" panose="02010600030101010101" pitchFamily="2" charset="-122"/>
              </a:rPr>
              <a:t>CALL A</a:t>
            </a:r>
            <a:endParaRPr lang="zh-CN" altLang="zh-CN" kern="100" dirty="0">
              <a:latin typeface="Times New Roman" panose="02020603050405020304" pitchFamily="18" charset="0"/>
              <a:ea typeface="宋体" panose="02010600030101010101" pitchFamily="2" charset="-122"/>
            </a:endParaRPr>
          </a:p>
        </p:txBody>
      </p:sp>
      <p:sp>
        <p:nvSpPr>
          <p:cNvPr id="8" name="矩形 7"/>
          <p:cNvSpPr/>
          <p:nvPr/>
        </p:nvSpPr>
        <p:spPr>
          <a:xfrm>
            <a:off x="155125" y="3966928"/>
            <a:ext cx="2044214" cy="369332"/>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lgn="just">
              <a:spcAft>
                <a:spcPts val="0"/>
              </a:spcAft>
            </a:pP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RET</a:t>
            </a:r>
            <a:r>
              <a:rPr lang="zh-CN" altLang="zh-CN" kern="100" dirty="0">
                <a:latin typeface="Times New Roman" panose="02020603050405020304" pitchFamily="18" charset="0"/>
                <a:ea typeface="宋体" panose="02010600030101010101" pitchFamily="2" charset="-122"/>
              </a:rPr>
              <a:t>，， ， </a:t>
            </a:r>
            <a:r>
              <a:rPr lang="en-US" altLang="zh-CN" kern="100" dirty="0">
                <a:latin typeface="Times New Roman" panose="02020603050405020304" pitchFamily="18" charset="0"/>
                <a:ea typeface="宋体" panose="02010600030101010101" pitchFamily="2" charset="-122"/>
              </a:rPr>
              <a:t>A</a:t>
            </a:r>
            <a:r>
              <a:rPr lang="zh-CN" altLang="zh-CN" kern="100" dirty="0">
                <a:latin typeface="Times New Roman" panose="02020603050405020304" pitchFamily="18" charset="0"/>
                <a:ea typeface="宋体" panose="02010600030101010101" pitchFamily="2" charset="-122"/>
              </a:rPr>
              <a:t>）</a:t>
            </a:r>
          </a:p>
        </p:txBody>
      </p:sp>
      <p:sp>
        <p:nvSpPr>
          <p:cNvPr id="9" name="矩形 8"/>
          <p:cNvSpPr/>
          <p:nvPr/>
        </p:nvSpPr>
        <p:spPr>
          <a:xfrm>
            <a:off x="3563888" y="3603669"/>
            <a:ext cx="1408138"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spcAft>
                <a:spcPts val="0"/>
              </a:spcAft>
            </a:pPr>
            <a:r>
              <a:rPr lang="en-US" altLang="zh-CN" kern="100" dirty="0">
                <a:latin typeface="Times New Roman" panose="02020603050405020304" pitchFamily="18" charset="0"/>
                <a:ea typeface="宋体" panose="02010600030101010101" pitchFamily="2" charset="-122"/>
              </a:rPr>
              <a:t>MOV AX,A</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MOV SP,BP</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POP BP</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RET</a:t>
            </a:r>
            <a:endParaRPr lang="zh-CN" altLang="zh-CN" kern="100" dirty="0">
              <a:latin typeface="Times New Roman" panose="02020603050405020304" pitchFamily="18" charset="0"/>
              <a:ea typeface="宋体" panose="02010600030101010101" pitchFamily="2" charset="-122"/>
            </a:endParaRPr>
          </a:p>
        </p:txBody>
      </p:sp>
      <p:sp>
        <p:nvSpPr>
          <p:cNvPr id="10" name="矩形 9"/>
          <p:cNvSpPr/>
          <p:nvPr/>
        </p:nvSpPr>
        <p:spPr>
          <a:xfrm>
            <a:off x="148745" y="2789515"/>
            <a:ext cx="1819729" cy="369332"/>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lgn="just">
              <a:spcAft>
                <a:spcPts val="0"/>
              </a:spcAft>
            </a:pP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fun</a:t>
            </a:r>
            <a:r>
              <a:rPr lang="zh-CN" altLang="zh-CN" kern="100" dirty="0">
                <a:latin typeface="Times New Roman" panose="02020603050405020304" pitchFamily="18" charset="0"/>
                <a:ea typeface="宋体" panose="02010600030101010101" pitchFamily="2" charset="-122"/>
              </a:rPr>
              <a:t>， ， ， ）</a:t>
            </a:r>
          </a:p>
        </p:txBody>
      </p:sp>
      <p:sp>
        <p:nvSpPr>
          <p:cNvPr id="11" name="矩形 10"/>
          <p:cNvSpPr/>
          <p:nvPr/>
        </p:nvSpPr>
        <p:spPr>
          <a:xfrm>
            <a:off x="3563888" y="2512516"/>
            <a:ext cx="1408138"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indent="57150" algn="just">
              <a:spcAft>
                <a:spcPts val="0"/>
              </a:spcAft>
            </a:pPr>
            <a:r>
              <a:rPr lang="en-US" altLang="zh-CN" kern="100" dirty="0">
                <a:latin typeface="Times New Roman" panose="02020603050405020304" pitchFamily="18" charset="0"/>
                <a:ea typeface="宋体" panose="02010600030101010101" pitchFamily="2" charset="-122"/>
              </a:rPr>
              <a:t>PUSH BP</a:t>
            </a:r>
            <a:endParaRPr lang="zh-CN" altLang="zh-CN" kern="100" dirty="0">
              <a:latin typeface="Times New Roman" panose="02020603050405020304" pitchFamily="18" charset="0"/>
              <a:ea typeface="宋体" panose="02010600030101010101" pitchFamily="2" charset="-122"/>
            </a:endParaRPr>
          </a:p>
          <a:p>
            <a:pPr indent="57150" algn="just">
              <a:spcAft>
                <a:spcPts val="0"/>
              </a:spcAft>
            </a:pPr>
            <a:r>
              <a:rPr lang="en-US" altLang="zh-CN" kern="100" dirty="0">
                <a:latin typeface="Times New Roman" panose="02020603050405020304" pitchFamily="18" charset="0"/>
                <a:ea typeface="宋体" panose="02010600030101010101" pitchFamily="2" charset="-122"/>
              </a:rPr>
              <a:t>MOV BP,SP</a:t>
            </a:r>
            <a:endParaRPr lang="zh-CN" altLang="zh-CN" kern="100" dirty="0">
              <a:latin typeface="Times New Roman" panose="02020603050405020304" pitchFamily="18" charset="0"/>
              <a:ea typeface="宋体" panose="02010600030101010101" pitchFamily="2" charset="-122"/>
            </a:endParaRPr>
          </a:p>
          <a:p>
            <a:pPr indent="57150" algn="just">
              <a:spcAft>
                <a:spcPts val="0"/>
              </a:spcAft>
            </a:pPr>
            <a:r>
              <a:rPr lang="en-US" altLang="zh-CN" kern="100" dirty="0">
                <a:latin typeface="Times New Roman" panose="02020603050405020304" pitchFamily="18" charset="0"/>
                <a:ea typeface="宋体" panose="02010600030101010101" pitchFamily="2" charset="-122"/>
              </a:rPr>
              <a:t>SUB SP, 2</a:t>
            </a:r>
            <a:endParaRPr lang="zh-CN" altLang="zh-CN" kern="100" dirty="0">
              <a:latin typeface="Times New Roman" panose="02020603050405020304" pitchFamily="18" charset="0"/>
              <a:ea typeface="宋体" panose="02010600030101010101" pitchFamily="2" charset="-122"/>
            </a:endParaRPr>
          </a:p>
        </p:txBody>
      </p:sp>
      <p:sp>
        <p:nvSpPr>
          <p:cNvPr id="12" name="右箭头 11"/>
          <p:cNvSpPr/>
          <p:nvPr/>
        </p:nvSpPr>
        <p:spPr>
          <a:xfrm>
            <a:off x="2335680" y="1295983"/>
            <a:ext cx="1125433" cy="184666"/>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3" name="右箭头 12"/>
          <p:cNvSpPr/>
          <p:nvPr/>
        </p:nvSpPr>
        <p:spPr>
          <a:xfrm>
            <a:off x="2577010" y="2010969"/>
            <a:ext cx="884103" cy="219833"/>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4" name="右箭头 13"/>
          <p:cNvSpPr/>
          <p:nvPr/>
        </p:nvSpPr>
        <p:spPr>
          <a:xfrm>
            <a:off x="2262487" y="4059261"/>
            <a:ext cx="1198626" cy="184666"/>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5" name="右箭头 14"/>
          <p:cNvSpPr/>
          <p:nvPr/>
        </p:nvSpPr>
        <p:spPr>
          <a:xfrm>
            <a:off x="2003266" y="2881848"/>
            <a:ext cx="1457847" cy="184666"/>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7"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extLst>
              <p:ext uri="{D42A27DB-BD31-4B8C-83A1-F6EECF244321}">
                <p14:modId xmlns:p14="http://schemas.microsoft.com/office/powerpoint/2010/main" val="2398233743"/>
              </p:ext>
            </p:extLst>
          </p:nvPr>
        </p:nvGraphicFramePr>
        <p:xfrm>
          <a:off x="5160753" y="176150"/>
          <a:ext cx="3939663" cy="3763752"/>
        </p:xfrm>
        <a:graphic>
          <a:graphicData uri="http://schemas.openxmlformats.org/presentationml/2006/ole">
            <mc:AlternateContent xmlns:mc="http://schemas.openxmlformats.org/markup-compatibility/2006">
              <mc:Choice xmlns:v="urn:schemas-microsoft-com:vml" Requires="v">
                <p:oleObj name="Visio" r:id="rId2" imgW="3410739" imgH="3264624" progId="Visio.Drawing.11">
                  <p:embed/>
                </p:oleObj>
              </mc:Choice>
              <mc:Fallback>
                <p:oleObj name="Visio" r:id="rId2" imgW="3410739" imgH="3264624"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0753" y="176150"/>
                        <a:ext cx="3939663" cy="3763752"/>
                      </a:xfrm>
                      <a:prstGeom prst="rect">
                        <a:avLst/>
                      </a:prstGeom>
                      <a:noFill/>
                    </p:spPr>
                  </p:pic>
                </p:oleObj>
              </mc:Fallback>
            </mc:AlternateContent>
          </a:graphicData>
        </a:graphic>
      </p:graphicFrame>
      <p:sp>
        <p:nvSpPr>
          <p:cNvPr id="19" name="矩形 18"/>
          <p:cNvSpPr/>
          <p:nvPr/>
        </p:nvSpPr>
        <p:spPr>
          <a:xfrm>
            <a:off x="7236296" y="4240128"/>
            <a:ext cx="1345240" cy="707886"/>
          </a:xfrm>
          <a:prstGeom prst="rect">
            <a:avLst/>
          </a:prstGeom>
          <a:ln>
            <a:solidFill>
              <a:srgbClr val="CC00FF"/>
            </a:solidFill>
          </a:ln>
        </p:spPr>
        <p:txBody>
          <a:bodyPr wrap="none">
            <a:spAutoFit/>
          </a:bodyPr>
          <a:lstStyle/>
          <a:p>
            <a:r>
              <a:rPr lang="en-US" altLang="zh-CN" sz="2000" dirty="0"/>
              <a:t>ret</a:t>
            </a:r>
          </a:p>
          <a:p>
            <a:r>
              <a:rPr lang="en-US" altLang="zh-CN" sz="2000" dirty="0"/>
              <a:t>add </a:t>
            </a:r>
            <a:r>
              <a:rPr lang="en-US" altLang="zh-CN" sz="2000" dirty="0" err="1"/>
              <a:t>sp,m</a:t>
            </a:r>
            <a:endParaRPr lang="zh-CN" altLang="en-US" sz="2000" dirty="0"/>
          </a:p>
        </p:txBody>
      </p:sp>
      <p:sp>
        <p:nvSpPr>
          <p:cNvPr id="21" name="矩形 20"/>
          <p:cNvSpPr/>
          <p:nvPr/>
        </p:nvSpPr>
        <p:spPr>
          <a:xfrm>
            <a:off x="5508104" y="4334641"/>
            <a:ext cx="848309" cy="400110"/>
          </a:xfrm>
          <a:prstGeom prst="rect">
            <a:avLst/>
          </a:prstGeom>
          <a:ln>
            <a:solidFill>
              <a:srgbClr val="CC00FF"/>
            </a:solidFill>
          </a:ln>
        </p:spPr>
        <p:txBody>
          <a:bodyPr wrap="none">
            <a:spAutoFit/>
          </a:bodyPr>
          <a:lstStyle/>
          <a:p>
            <a:r>
              <a:rPr lang="en-US" altLang="zh-CN" sz="2000" dirty="0"/>
              <a:t>ret m</a:t>
            </a:r>
          </a:p>
        </p:txBody>
      </p:sp>
      <p:sp>
        <p:nvSpPr>
          <p:cNvPr id="20" name="左右箭头 19"/>
          <p:cNvSpPr/>
          <p:nvPr/>
        </p:nvSpPr>
        <p:spPr>
          <a:xfrm>
            <a:off x="6372200" y="4447299"/>
            <a:ext cx="833186" cy="184666"/>
          </a:xfrm>
          <a:prstGeom prst="leftRightArrow">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84236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2" grpId="0" animBg="1"/>
      <p:bldP spid="13" grpId="0" animBg="1"/>
      <p:bldP spid="14" grpId="0" animBg="1"/>
      <p:bldP spid="15" grpId="0" animBg="1"/>
      <p:bldP spid="19" grpId="0" animBg="1"/>
      <p:bldP spid="21" grpId="0" animBg="1"/>
      <p:bldP spid="2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323527" y="0"/>
            <a:ext cx="8133085" cy="627460"/>
          </a:xfrm>
        </p:spPr>
        <p:txBody>
          <a:bodyPr>
            <a:normAutofit fontScale="90000"/>
          </a:bodyPr>
          <a:lstStyle/>
          <a:p>
            <a:r>
              <a:rPr lang="zh-CN" altLang="en-US" dirty="0"/>
              <a:t>各个</a:t>
            </a:r>
            <a:r>
              <a:rPr lang="zh-CN" altLang="zh-CN" dirty="0"/>
              <a:t>中间代码</a:t>
            </a:r>
            <a:r>
              <a:rPr lang="zh-CN" altLang="en-US" dirty="0"/>
              <a:t>对应的目标代码列表</a:t>
            </a:r>
            <a:r>
              <a:rPr lang="en-US" altLang="zh-CN" dirty="0"/>
              <a:t>(</a:t>
            </a:r>
            <a:r>
              <a:rPr lang="zh-CN" altLang="en-US" dirty="0"/>
              <a:t>见附录</a:t>
            </a:r>
            <a:r>
              <a:rPr lang="en-US" altLang="zh-CN" dirty="0"/>
              <a:t>C)</a:t>
            </a:r>
            <a:endParaRPr lang="zh-CN" altLang="en-US" dirty="0"/>
          </a:p>
        </p:txBody>
      </p:sp>
      <p:sp>
        <p:nvSpPr>
          <p:cNvPr id="28675" name="内容占位符 2"/>
          <p:cNvSpPr>
            <a:spLocks noGrp="1"/>
          </p:cNvSpPr>
          <p:nvPr>
            <p:ph idx="1"/>
          </p:nvPr>
        </p:nvSpPr>
        <p:spPr>
          <a:xfrm>
            <a:off x="247701" y="741760"/>
            <a:ext cx="8205093" cy="1800274"/>
          </a:xfrm>
        </p:spPr>
        <p:txBody>
          <a:bodyPr>
            <a:noAutofit/>
          </a:bodyPr>
          <a:lstStyle/>
          <a:p>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根据上面的介绍，</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针对每一条四元式，都</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有了</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对应的汇编指令序列</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t>翻译的时候</a:t>
            </a:r>
            <a:r>
              <a:rPr lang="zh-CN" altLang="zh-CN" sz="2000" dirty="0"/>
              <a:t>，</a:t>
            </a:r>
            <a:r>
              <a:rPr lang="zh-CN" altLang="en-US" sz="2000" dirty="0"/>
              <a:t>只需要</a:t>
            </a:r>
            <a:r>
              <a:rPr lang="zh-CN" altLang="zh-CN" sz="2000" dirty="0"/>
              <a:t>依次把每条中间代码</a:t>
            </a:r>
            <a:r>
              <a:rPr lang="zh-CN" altLang="en-US" sz="2000" dirty="0"/>
              <a:t>对应</a:t>
            </a:r>
            <a:r>
              <a:rPr lang="zh-CN" altLang="zh-CN" sz="2000" dirty="0"/>
              <a:t>翻译为</a:t>
            </a:r>
            <a:r>
              <a:rPr lang="en-US" altLang="zh-CN" sz="2000" dirty="0"/>
              <a:t>8086</a:t>
            </a:r>
            <a:r>
              <a:rPr lang="zh-CN" altLang="zh-CN" sz="2000" dirty="0"/>
              <a:t>的汇编指令</a:t>
            </a:r>
            <a:endParaRPr lang="en-US" altLang="zh-CN" sz="2000" dirty="0"/>
          </a:p>
          <a:p>
            <a:r>
              <a:rPr lang="zh-CN" altLang="en-US" sz="2000" dirty="0">
                <a:solidFill>
                  <a:srgbClr val="0000CC"/>
                </a:solidFill>
              </a:rPr>
              <a:t>从正确性上看，这种翻译没有问题，但</a:t>
            </a:r>
            <a:r>
              <a:rPr lang="zh-CN" altLang="en-US" sz="2000" b="1" dirty="0">
                <a:solidFill>
                  <a:srgbClr val="FF0000"/>
                </a:solidFill>
              </a:rPr>
              <a:t>出现了两个问题</a:t>
            </a:r>
            <a:r>
              <a:rPr lang="zh-CN" altLang="en-US" sz="2000" dirty="0"/>
              <a:t>：</a:t>
            </a:r>
            <a:endParaRPr lang="en-US" altLang="zh-CN" sz="2000" dirty="0"/>
          </a:p>
          <a:p>
            <a:pPr lvl="1"/>
            <a:r>
              <a:rPr lang="zh-CN" altLang="en-US" sz="1800" dirty="0">
                <a:solidFill>
                  <a:srgbClr val="0000CC"/>
                </a:solidFill>
              </a:rPr>
              <a:t>效率不高，出现很多不必要的操作</a:t>
            </a:r>
            <a:endParaRPr lang="en-US" altLang="zh-CN" sz="1800" dirty="0">
              <a:solidFill>
                <a:srgbClr val="0000CC"/>
              </a:solidFill>
            </a:endParaRPr>
          </a:p>
          <a:p>
            <a:pPr lvl="1"/>
            <a:r>
              <a:rPr lang="zh-CN" altLang="en-US" sz="1800" dirty="0">
                <a:solidFill>
                  <a:srgbClr val="0000CC"/>
                </a:solidFill>
              </a:rPr>
              <a:t>没有构成一个完整的汇编语言程序（没有开始和结束）</a:t>
            </a:r>
            <a:endParaRPr lang="en-US" altLang="zh-CN" sz="1800" dirty="0">
              <a:solidFill>
                <a:srgbClr val="0000CC"/>
              </a:solidFill>
            </a:endParaRPr>
          </a:p>
          <a:p>
            <a:pPr lvl="1"/>
            <a:endParaRPr lang="zh-CN" altLang="en-US" sz="1800" dirty="0"/>
          </a:p>
        </p:txBody>
      </p:sp>
      <p:graphicFrame>
        <p:nvGraphicFramePr>
          <p:cNvPr id="2" name="表格 1"/>
          <p:cNvGraphicFramePr>
            <a:graphicFrameLocks noGrp="1"/>
          </p:cNvGraphicFramePr>
          <p:nvPr>
            <p:extLst>
              <p:ext uri="{D42A27DB-BD31-4B8C-83A1-F6EECF244321}">
                <p14:modId xmlns:p14="http://schemas.microsoft.com/office/powerpoint/2010/main" val="1964845630"/>
              </p:ext>
            </p:extLst>
          </p:nvPr>
        </p:nvGraphicFramePr>
        <p:xfrm>
          <a:off x="323527" y="2643758"/>
          <a:ext cx="8208912" cy="1967206"/>
        </p:xfrm>
        <a:graphic>
          <a:graphicData uri="http://schemas.openxmlformats.org/drawingml/2006/table">
            <a:tbl>
              <a:tblPr/>
              <a:tblGrid>
                <a:gridCol w="1492392">
                  <a:extLst>
                    <a:ext uri="{9D8B030D-6E8A-4147-A177-3AD203B41FA5}">
                      <a16:colId xmlns:a16="http://schemas.microsoft.com/office/drawing/2014/main" val="20000"/>
                    </a:ext>
                  </a:extLst>
                </a:gridCol>
                <a:gridCol w="2612064">
                  <a:extLst>
                    <a:ext uri="{9D8B030D-6E8A-4147-A177-3AD203B41FA5}">
                      <a16:colId xmlns:a16="http://schemas.microsoft.com/office/drawing/2014/main" val="20001"/>
                    </a:ext>
                  </a:extLst>
                </a:gridCol>
                <a:gridCol w="1990039">
                  <a:extLst>
                    <a:ext uri="{9D8B030D-6E8A-4147-A177-3AD203B41FA5}">
                      <a16:colId xmlns:a16="http://schemas.microsoft.com/office/drawing/2014/main" val="20002"/>
                    </a:ext>
                  </a:extLst>
                </a:gridCol>
                <a:gridCol w="2114417">
                  <a:extLst>
                    <a:ext uri="{9D8B030D-6E8A-4147-A177-3AD203B41FA5}">
                      <a16:colId xmlns:a16="http://schemas.microsoft.com/office/drawing/2014/main" val="20003"/>
                    </a:ext>
                  </a:extLst>
                </a:gridCol>
              </a:tblGrid>
              <a:tr h="350432">
                <a:tc>
                  <a:txBody>
                    <a:bodyPr/>
                    <a:lstStyle/>
                    <a:p>
                      <a:pPr algn="just">
                        <a:spcAft>
                          <a:spcPts val="0"/>
                        </a:spcAft>
                      </a:pPr>
                      <a:r>
                        <a:rPr lang="zh-CN" sz="1500" kern="100" dirty="0">
                          <a:effectLst/>
                          <a:latin typeface="宋体" panose="02010600030101010101" pitchFamily="2" charset="-122"/>
                          <a:ea typeface="宋体" panose="02010600030101010101" pitchFamily="2" charset="-122"/>
                        </a:rPr>
                        <a:t>序号</a:t>
                      </a: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500" kern="100">
                          <a:effectLst/>
                          <a:latin typeface="宋体" panose="02010600030101010101" pitchFamily="2" charset="-122"/>
                          <a:ea typeface="宋体" panose="02010600030101010101" pitchFamily="2" charset="-122"/>
                        </a:rPr>
                        <a:t>四元式代码</a:t>
                      </a: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500" kern="100">
                          <a:effectLst/>
                          <a:latin typeface="宋体" panose="02010600030101010101" pitchFamily="2" charset="-122"/>
                          <a:ea typeface="宋体" panose="02010600030101010101" pitchFamily="2" charset="-122"/>
                        </a:rPr>
                        <a:t>汇编代码</a:t>
                      </a: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500" kern="100" dirty="0">
                          <a:effectLst/>
                          <a:latin typeface="宋体" panose="02010600030101010101" pitchFamily="2" charset="-122"/>
                          <a:ea typeface="宋体" panose="02010600030101010101" pitchFamily="2" charset="-122"/>
                        </a:rPr>
                        <a:t>含义</a:t>
                      </a: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12381">
                <a:tc>
                  <a:txBody>
                    <a:bodyPr/>
                    <a:lstStyle/>
                    <a:p>
                      <a:pPr algn="just">
                        <a:spcAft>
                          <a:spcPts val="0"/>
                        </a:spcAft>
                      </a:pPr>
                      <a:r>
                        <a:rPr lang="zh-CN" sz="1400" kern="100" dirty="0">
                          <a:effectLst/>
                          <a:latin typeface="宋体" panose="02010600030101010101" pitchFamily="2" charset="-122"/>
                          <a:ea typeface="宋体" panose="02010600030101010101" pitchFamily="2" charset="-122"/>
                        </a:rPr>
                        <a:t>（</a:t>
                      </a:r>
                      <a:r>
                        <a:rPr lang="en-US" sz="1400" kern="100" dirty="0">
                          <a:effectLst/>
                          <a:latin typeface="宋体" panose="02010600030101010101" pitchFamily="2" charset="-122"/>
                          <a:ea typeface="宋体" panose="02010600030101010101" pitchFamily="2" charset="-122"/>
                        </a:rPr>
                        <a:t>1</a:t>
                      </a:r>
                      <a:r>
                        <a:rPr lang="zh-CN" sz="1400" kern="100" dirty="0">
                          <a:effectLst/>
                          <a:latin typeface="宋体" panose="02010600030101010101" pitchFamily="2" charset="-122"/>
                          <a:ea typeface="宋体" panose="02010600030101010101" pitchFamily="2" charset="-122"/>
                        </a:rPr>
                        <a:t>）</a:t>
                      </a: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400" kern="100" dirty="0">
                          <a:effectLst/>
                          <a:latin typeface="宋体" panose="02010600030101010101" pitchFamily="2" charset="-122"/>
                          <a:ea typeface="宋体" panose="02010600030101010101" pitchFamily="2" charset="-122"/>
                        </a:rPr>
                        <a:t>（</a:t>
                      </a:r>
                      <a:r>
                        <a:rPr lang="en-US" sz="1400" kern="100" dirty="0">
                          <a:effectLst/>
                          <a:latin typeface="宋体" panose="02010600030101010101" pitchFamily="2" charset="-122"/>
                          <a:ea typeface="宋体" panose="02010600030101010101" pitchFamily="2" charset="-122"/>
                        </a:rPr>
                        <a:t>+</a:t>
                      </a:r>
                      <a:r>
                        <a:rPr lang="zh-CN" sz="1400" kern="100" dirty="0">
                          <a:effectLst/>
                          <a:latin typeface="宋体" panose="02010600030101010101" pitchFamily="2" charset="-122"/>
                          <a:ea typeface="宋体" panose="02010600030101010101" pitchFamily="2" charset="-122"/>
                        </a:rPr>
                        <a:t>，</a:t>
                      </a:r>
                      <a:r>
                        <a:rPr lang="en-US" sz="1400" kern="100" dirty="0">
                          <a:effectLst/>
                          <a:latin typeface="宋体" panose="02010600030101010101" pitchFamily="2" charset="-122"/>
                          <a:ea typeface="宋体" panose="02010600030101010101" pitchFamily="2" charset="-122"/>
                        </a:rPr>
                        <a:t>A</a:t>
                      </a:r>
                      <a:r>
                        <a:rPr lang="zh-CN" sz="1400" kern="100" dirty="0">
                          <a:effectLst/>
                          <a:latin typeface="宋体" panose="02010600030101010101" pitchFamily="2" charset="-122"/>
                          <a:ea typeface="宋体" panose="02010600030101010101" pitchFamily="2" charset="-122"/>
                        </a:rPr>
                        <a:t>，</a:t>
                      </a:r>
                      <a:r>
                        <a:rPr lang="en-US" sz="1400" kern="100" dirty="0">
                          <a:effectLst/>
                          <a:latin typeface="宋体" panose="02010600030101010101" pitchFamily="2" charset="-122"/>
                          <a:ea typeface="宋体" panose="02010600030101010101" pitchFamily="2" charset="-122"/>
                        </a:rPr>
                        <a:t>B</a:t>
                      </a:r>
                      <a:r>
                        <a:rPr lang="zh-CN" sz="1400" kern="100" dirty="0">
                          <a:effectLst/>
                          <a:latin typeface="宋体" panose="02010600030101010101" pitchFamily="2" charset="-122"/>
                          <a:ea typeface="宋体" panose="02010600030101010101" pitchFamily="2" charset="-122"/>
                        </a:rPr>
                        <a:t>，</a:t>
                      </a:r>
                      <a:r>
                        <a:rPr lang="en-US" sz="1400" kern="100" dirty="0">
                          <a:effectLst/>
                          <a:latin typeface="宋体" panose="02010600030101010101" pitchFamily="2" charset="-122"/>
                          <a:ea typeface="宋体" panose="02010600030101010101" pitchFamily="2" charset="-122"/>
                        </a:rPr>
                        <a:t>T</a:t>
                      </a:r>
                      <a:r>
                        <a:rPr lang="zh-CN" sz="1400" kern="100" dirty="0">
                          <a:effectLst/>
                          <a:latin typeface="宋体" panose="02010600030101010101" pitchFamily="2" charset="-122"/>
                          <a:ea typeface="宋体" panose="02010600030101010101" pitchFamily="2" charset="-122"/>
                        </a:rPr>
                        <a:t>）</a:t>
                      </a: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en-US" sz="1400" kern="100" dirty="0">
                          <a:effectLst/>
                          <a:latin typeface="宋体" panose="02010600030101010101" pitchFamily="2" charset="-122"/>
                          <a:ea typeface="宋体" panose="02010600030101010101" pitchFamily="2" charset="-122"/>
                        </a:rPr>
                        <a:t>MOV AX,A</a:t>
                      </a:r>
                      <a:endParaRPr lang="zh-CN" sz="1400" kern="100" dirty="0">
                        <a:effectLst/>
                        <a:latin typeface="宋体" panose="02010600030101010101" pitchFamily="2" charset="-122"/>
                        <a:ea typeface="宋体" panose="02010600030101010101" pitchFamily="2" charset="-122"/>
                      </a:endParaRPr>
                    </a:p>
                    <a:p>
                      <a:pPr algn="just">
                        <a:spcAft>
                          <a:spcPts val="0"/>
                        </a:spcAft>
                      </a:pPr>
                      <a:r>
                        <a:rPr lang="en-US" sz="1400" kern="100" dirty="0">
                          <a:effectLst/>
                          <a:latin typeface="宋体" panose="02010600030101010101" pitchFamily="2" charset="-122"/>
                          <a:ea typeface="宋体" panose="02010600030101010101" pitchFamily="2" charset="-122"/>
                        </a:rPr>
                        <a:t>ADD AX,B</a:t>
                      </a:r>
                      <a:endParaRPr lang="zh-CN" sz="1400" kern="100" dirty="0">
                        <a:effectLst/>
                        <a:latin typeface="宋体" panose="02010600030101010101" pitchFamily="2" charset="-122"/>
                        <a:ea typeface="宋体" panose="02010600030101010101" pitchFamily="2" charset="-122"/>
                      </a:endParaRPr>
                    </a:p>
                    <a:p>
                      <a:pPr algn="just">
                        <a:spcAft>
                          <a:spcPts val="0"/>
                        </a:spcAft>
                      </a:pPr>
                      <a:r>
                        <a:rPr lang="en-US" sz="1400" kern="100" dirty="0">
                          <a:effectLst/>
                          <a:latin typeface="宋体" panose="02010600030101010101" pitchFamily="2" charset="-122"/>
                          <a:ea typeface="宋体" panose="02010600030101010101" pitchFamily="2" charset="-122"/>
                        </a:rPr>
                        <a:t>MOV T,AX;</a:t>
                      </a:r>
                      <a:endParaRPr lang="zh-CN" sz="1400" kern="100" dirty="0">
                        <a:effectLst/>
                        <a:latin typeface="宋体" panose="02010600030101010101" pitchFamily="2" charset="-122"/>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400" kern="100" dirty="0">
                          <a:effectLst/>
                          <a:latin typeface="宋体" panose="02010600030101010101" pitchFamily="2" charset="-122"/>
                          <a:ea typeface="宋体" panose="02010600030101010101" pitchFamily="2" charset="-122"/>
                        </a:rPr>
                        <a:t>加法</a:t>
                      </a: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12381">
                <a:tc>
                  <a:txBody>
                    <a:bodyPr/>
                    <a:lstStyle/>
                    <a:p>
                      <a:pPr algn="just">
                        <a:spcAft>
                          <a:spcPts val="0"/>
                        </a:spcAft>
                      </a:pPr>
                      <a:r>
                        <a:rPr lang="zh-CN" sz="1400" kern="100">
                          <a:effectLst/>
                          <a:latin typeface="宋体" panose="02010600030101010101" pitchFamily="2" charset="-122"/>
                          <a:ea typeface="宋体" panose="02010600030101010101" pitchFamily="2" charset="-122"/>
                        </a:rPr>
                        <a:t>（</a:t>
                      </a:r>
                      <a:r>
                        <a:rPr lang="en-US" sz="1400" kern="100">
                          <a:effectLst/>
                          <a:latin typeface="宋体" panose="02010600030101010101" pitchFamily="2" charset="-122"/>
                          <a:ea typeface="宋体" panose="02010600030101010101" pitchFamily="2" charset="-122"/>
                        </a:rPr>
                        <a:t>2</a:t>
                      </a:r>
                      <a:r>
                        <a:rPr lang="zh-CN" sz="1400" kern="100">
                          <a:effectLst/>
                          <a:latin typeface="宋体" panose="02010600030101010101" pitchFamily="2" charset="-122"/>
                          <a:ea typeface="宋体" panose="02010600030101010101" pitchFamily="2" charset="-122"/>
                        </a:rPr>
                        <a:t>）</a:t>
                      </a: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400" kern="100" dirty="0">
                          <a:effectLst/>
                          <a:latin typeface="宋体" panose="02010600030101010101" pitchFamily="2" charset="-122"/>
                          <a:ea typeface="宋体" panose="02010600030101010101" pitchFamily="2" charset="-122"/>
                        </a:rPr>
                        <a:t>（—，</a:t>
                      </a:r>
                      <a:r>
                        <a:rPr lang="en-US" sz="1400" kern="100" dirty="0">
                          <a:effectLst/>
                          <a:latin typeface="宋体" panose="02010600030101010101" pitchFamily="2" charset="-122"/>
                          <a:ea typeface="宋体" panose="02010600030101010101" pitchFamily="2" charset="-122"/>
                        </a:rPr>
                        <a:t>A</a:t>
                      </a:r>
                      <a:r>
                        <a:rPr lang="zh-CN" sz="1400" kern="100" dirty="0">
                          <a:effectLst/>
                          <a:latin typeface="宋体" panose="02010600030101010101" pitchFamily="2" charset="-122"/>
                          <a:ea typeface="宋体" panose="02010600030101010101" pitchFamily="2" charset="-122"/>
                        </a:rPr>
                        <a:t>，</a:t>
                      </a:r>
                      <a:r>
                        <a:rPr lang="en-US" sz="1400" kern="100" dirty="0">
                          <a:effectLst/>
                          <a:latin typeface="宋体" panose="02010600030101010101" pitchFamily="2" charset="-122"/>
                          <a:ea typeface="宋体" panose="02010600030101010101" pitchFamily="2" charset="-122"/>
                        </a:rPr>
                        <a:t>B</a:t>
                      </a:r>
                      <a:r>
                        <a:rPr lang="zh-CN" sz="1400" kern="100" dirty="0">
                          <a:effectLst/>
                          <a:latin typeface="宋体" panose="02010600030101010101" pitchFamily="2" charset="-122"/>
                          <a:ea typeface="宋体" panose="02010600030101010101" pitchFamily="2" charset="-122"/>
                        </a:rPr>
                        <a:t>，</a:t>
                      </a:r>
                      <a:r>
                        <a:rPr lang="en-US" sz="1400" kern="100" dirty="0">
                          <a:effectLst/>
                          <a:latin typeface="宋体" panose="02010600030101010101" pitchFamily="2" charset="-122"/>
                          <a:ea typeface="宋体" panose="02010600030101010101" pitchFamily="2" charset="-122"/>
                        </a:rPr>
                        <a:t>T</a:t>
                      </a:r>
                      <a:r>
                        <a:rPr lang="zh-CN" sz="1400" kern="100" dirty="0">
                          <a:effectLst/>
                          <a:latin typeface="宋体" panose="02010600030101010101" pitchFamily="2" charset="-122"/>
                          <a:ea typeface="宋体" panose="02010600030101010101" pitchFamily="2" charset="-122"/>
                        </a:rPr>
                        <a:t>）</a:t>
                      </a: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en-US" sz="1400" kern="100" dirty="0">
                          <a:effectLst/>
                          <a:latin typeface="宋体" panose="02010600030101010101" pitchFamily="2" charset="-122"/>
                          <a:ea typeface="宋体" panose="02010600030101010101" pitchFamily="2" charset="-122"/>
                        </a:rPr>
                        <a:t>MOV AX,A</a:t>
                      </a:r>
                      <a:endParaRPr lang="zh-CN" sz="1400" kern="100" dirty="0">
                        <a:effectLst/>
                        <a:latin typeface="宋体" panose="02010600030101010101" pitchFamily="2" charset="-122"/>
                        <a:ea typeface="宋体" panose="02010600030101010101" pitchFamily="2" charset="-122"/>
                      </a:endParaRPr>
                    </a:p>
                    <a:p>
                      <a:pPr algn="just">
                        <a:spcAft>
                          <a:spcPts val="0"/>
                        </a:spcAft>
                      </a:pPr>
                      <a:r>
                        <a:rPr lang="en-US" sz="1400" kern="100" dirty="0">
                          <a:effectLst/>
                          <a:latin typeface="宋体" panose="02010600030101010101" pitchFamily="2" charset="-122"/>
                          <a:ea typeface="宋体" panose="02010600030101010101" pitchFamily="2" charset="-122"/>
                        </a:rPr>
                        <a:t>SUB AX,B</a:t>
                      </a:r>
                      <a:endParaRPr lang="zh-CN" sz="1400" kern="100" dirty="0">
                        <a:effectLst/>
                        <a:latin typeface="宋体" panose="02010600030101010101" pitchFamily="2" charset="-122"/>
                        <a:ea typeface="宋体" panose="02010600030101010101" pitchFamily="2" charset="-122"/>
                      </a:endParaRPr>
                    </a:p>
                    <a:p>
                      <a:pPr algn="just">
                        <a:spcAft>
                          <a:spcPts val="0"/>
                        </a:spcAft>
                      </a:pPr>
                      <a:r>
                        <a:rPr lang="en-US" sz="1400" kern="100" dirty="0">
                          <a:effectLst/>
                          <a:latin typeface="宋体" panose="02010600030101010101" pitchFamily="2" charset="-122"/>
                          <a:ea typeface="宋体" panose="02010600030101010101" pitchFamily="2" charset="-122"/>
                        </a:rPr>
                        <a:t>MOV T,AX</a:t>
                      </a:r>
                      <a:endParaRPr lang="zh-CN" sz="1400" kern="100" dirty="0">
                        <a:effectLst/>
                        <a:latin typeface="宋体" panose="02010600030101010101" pitchFamily="2" charset="-122"/>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400" kern="100" dirty="0">
                          <a:effectLst/>
                          <a:latin typeface="宋体" panose="02010600030101010101" pitchFamily="2" charset="-122"/>
                          <a:ea typeface="宋体" panose="02010600030101010101" pitchFamily="2" charset="-122"/>
                        </a:rPr>
                        <a:t>减法</a:t>
                      </a: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36614">
                <a:tc>
                  <a:txBody>
                    <a:bodyPr/>
                    <a:lstStyle/>
                    <a:p>
                      <a:pPr algn="just">
                        <a:spcAft>
                          <a:spcPts val="0"/>
                        </a:spcAft>
                      </a:pPr>
                      <a:r>
                        <a:rPr lang="en-US" altLang="zh-CN" sz="1400" kern="100" dirty="0">
                          <a:effectLst/>
                          <a:latin typeface="宋体" panose="02010600030101010101" pitchFamily="2" charset="-122"/>
                          <a:ea typeface="宋体" panose="02010600030101010101" pitchFamily="2" charset="-122"/>
                        </a:rPr>
                        <a:t>……</a:t>
                      </a:r>
                      <a:endParaRPr lang="zh-CN" sz="1400" kern="100" dirty="0">
                        <a:effectLst/>
                        <a:latin typeface="宋体" panose="02010600030101010101" pitchFamily="2" charset="-122"/>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endParaRPr lang="zh-CN" sz="1400" kern="100" dirty="0">
                        <a:effectLst/>
                        <a:latin typeface="宋体" panose="02010600030101010101" pitchFamily="2" charset="-122"/>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endParaRPr lang="zh-CN" sz="1400" kern="100" dirty="0">
                        <a:effectLst/>
                        <a:latin typeface="宋体" panose="02010600030101010101" pitchFamily="2" charset="-122"/>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endParaRPr lang="zh-CN" sz="1400" kern="100" dirty="0">
                        <a:effectLst/>
                        <a:latin typeface="宋体" panose="02010600030101010101" pitchFamily="2" charset="-122"/>
                        <a:ea typeface="宋体" panose="02010600030101010101" pitchFamily="2" charset="-122"/>
                      </a:endParaRPr>
                    </a:p>
                  </a:txBody>
                  <a:tcPr marL="68574" marR="685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7901288"/>
                  </a:ext>
                </a:extLst>
              </a:tr>
            </a:tbl>
          </a:graphicData>
        </a:graphic>
      </p:graphicFrame>
      <p:sp>
        <p:nvSpPr>
          <p:cNvPr id="4" name="Rectangle 3">
            <a:extLst>
              <a:ext uri="{FF2B5EF4-FFF2-40B4-BE49-F238E27FC236}">
                <a16:creationId xmlns:a16="http://schemas.microsoft.com/office/drawing/2014/main" id="{6CEAC7EB-24DA-DAB5-CE43-6E000212F0FD}"/>
              </a:ext>
            </a:extLst>
          </p:cNvPr>
          <p:cNvSpPr txBox="1">
            <a:spLocks noChangeArrowheads="1"/>
          </p:cNvSpPr>
          <p:nvPr/>
        </p:nvSpPr>
        <p:spPr>
          <a:xfrm>
            <a:off x="1691680" y="4697036"/>
            <a:ext cx="7272808" cy="317748"/>
          </a:xfrm>
          <a:prstGeom prst="rect">
            <a:avLst/>
          </a:prstGeom>
          <a:solidFill>
            <a:schemeClr val="bg1"/>
          </a:solidFill>
        </p:spPr>
        <p:txBody>
          <a:bodyPr vert="horz" lIns="92075" tIns="46038" rIns="92075" bIns="46038">
            <a:normAutofit fontScale="92500" lnSpcReduction="20000"/>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495300" indent="-495300">
              <a:lnSpc>
                <a:spcPct val="90000"/>
              </a:lnSpc>
              <a:spcBef>
                <a:spcPct val="0"/>
              </a:spcBef>
            </a:pPr>
            <a:r>
              <a:rPr lang="zh-CN" altLang="en-US" sz="2200" b="1" dirty="0">
                <a:solidFill>
                  <a:srgbClr val="FF0000"/>
                </a:solidFill>
              </a:rPr>
              <a:t>以后</a:t>
            </a:r>
            <a:r>
              <a:rPr lang="zh-CN" altLang="zh-CN" sz="2200" b="1" dirty="0">
                <a:solidFill>
                  <a:srgbClr val="FF0000"/>
                </a:solidFill>
              </a:rPr>
              <a:t>根据四元式的形式去查</a:t>
            </a:r>
            <a:r>
              <a:rPr lang="zh-CN" altLang="en-US" sz="2200" b="1" dirty="0">
                <a:solidFill>
                  <a:srgbClr val="FF0000"/>
                </a:solidFill>
              </a:rPr>
              <a:t>附录</a:t>
            </a:r>
            <a:r>
              <a:rPr lang="en-US" altLang="zh-CN" sz="2200" b="1" dirty="0">
                <a:solidFill>
                  <a:srgbClr val="FF0000"/>
                </a:solidFill>
              </a:rPr>
              <a:t>C</a:t>
            </a:r>
            <a:r>
              <a:rPr lang="zh-CN" altLang="en-US" sz="2200" b="1" dirty="0">
                <a:solidFill>
                  <a:srgbClr val="FF0000"/>
                </a:solidFill>
              </a:rPr>
              <a:t>的</a:t>
            </a:r>
            <a:r>
              <a:rPr lang="zh-CN" altLang="zh-CN" sz="2200" b="1" dirty="0">
                <a:solidFill>
                  <a:srgbClr val="FF0000"/>
                </a:solidFill>
              </a:rPr>
              <a:t>表就可以了</a:t>
            </a:r>
            <a:r>
              <a:rPr lang="zh-CN" altLang="zh-CN" sz="2200" dirty="0"/>
              <a:t>。</a:t>
            </a:r>
          </a:p>
        </p:txBody>
      </p:sp>
    </p:spTree>
    <p:extLst>
      <p:ext uri="{BB962C8B-B14F-4D97-AF65-F5344CB8AC3E}">
        <p14:creationId xmlns:p14="http://schemas.microsoft.com/office/powerpoint/2010/main" val="1416944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107504" y="130324"/>
            <a:ext cx="4680520" cy="857250"/>
          </a:xfrm>
        </p:spPr>
        <p:txBody>
          <a:bodyPr>
            <a:noAutofit/>
          </a:bodyPr>
          <a:lstStyle/>
          <a:p>
            <a:r>
              <a:rPr lang="zh-CN" altLang="en-US" sz="2400" dirty="0"/>
              <a:t>例：利用简单的代码生成算法将这个赋值表达式翻译为目标代码</a:t>
            </a:r>
          </a:p>
        </p:txBody>
      </p:sp>
      <p:graphicFrame>
        <p:nvGraphicFramePr>
          <p:cNvPr id="7" name="表格 6"/>
          <p:cNvGraphicFramePr>
            <a:graphicFrameLocks noGrp="1"/>
          </p:cNvGraphicFramePr>
          <p:nvPr>
            <p:extLst>
              <p:ext uri="{D42A27DB-BD31-4B8C-83A1-F6EECF244321}">
                <p14:modId xmlns:p14="http://schemas.microsoft.com/office/powerpoint/2010/main" val="4238809821"/>
              </p:ext>
            </p:extLst>
          </p:nvPr>
        </p:nvGraphicFramePr>
        <p:xfrm>
          <a:off x="521520" y="1131590"/>
          <a:ext cx="1818232" cy="3816424"/>
        </p:xfrm>
        <a:graphic>
          <a:graphicData uri="http://schemas.openxmlformats.org/drawingml/2006/table">
            <a:tbl>
              <a:tblPr/>
              <a:tblGrid>
                <a:gridCol w="1818232">
                  <a:extLst>
                    <a:ext uri="{9D8B030D-6E8A-4147-A177-3AD203B41FA5}">
                      <a16:colId xmlns:a16="http://schemas.microsoft.com/office/drawing/2014/main" val="20000"/>
                    </a:ext>
                  </a:extLst>
                </a:gridCol>
              </a:tblGrid>
              <a:tr h="341203">
                <a:tc>
                  <a:txBody>
                    <a:bodyPr/>
                    <a:lstStyle/>
                    <a:p>
                      <a:pPr algn="just">
                        <a:spcAft>
                          <a:spcPts val="0"/>
                        </a:spcAft>
                        <a:tabLst>
                          <a:tab pos="266700" algn="l"/>
                        </a:tabLst>
                      </a:pPr>
                      <a:endParaRPr lang="zh-CN" sz="2000" kern="100" dirty="0">
                        <a:latin typeface="Times New Roman"/>
                        <a:ea typeface="宋体"/>
                        <a:cs typeface="Times New Roman"/>
                      </a:endParaRPr>
                    </a:p>
                  </a:txBody>
                  <a:tcPr marL="68576" marR="685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056983">
                <a:tc>
                  <a:txBody>
                    <a:bodyPr/>
                    <a:lstStyle/>
                    <a:p>
                      <a:pPr marL="0" marR="0" indent="0" algn="just" defTabSz="914400" rtl="0" eaLnBrk="1" fontAlgn="auto" latinLnBrk="0" hangingPunct="1">
                        <a:lnSpc>
                          <a:spcPct val="100000"/>
                        </a:lnSpc>
                        <a:spcBef>
                          <a:spcPts val="0"/>
                        </a:spcBef>
                        <a:spcAft>
                          <a:spcPts val="0"/>
                        </a:spcAft>
                        <a:buClrTx/>
                        <a:buSzTx/>
                        <a:buFontTx/>
                        <a:buNone/>
                        <a:tabLst>
                          <a:tab pos="266700" algn="l"/>
                        </a:tabLst>
                        <a:defRPr/>
                      </a:pPr>
                      <a:r>
                        <a:rPr lang="en-US" altLang="zh-CN" sz="2000" kern="100" dirty="0">
                          <a:solidFill>
                            <a:srgbClr val="000000"/>
                          </a:solidFill>
                          <a:latin typeface="Times New Roman"/>
                          <a:ea typeface="宋体"/>
                          <a:cs typeface="Times New Roman"/>
                        </a:rPr>
                        <a:t>1.</a:t>
                      </a:r>
                      <a:r>
                        <a:rPr lang="zh-CN" altLang="zh-CN" sz="2000" kern="100" dirty="0">
                          <a:solidFill>
                            <a:srgbClr val="000000"/>
                          </a:solidFill>
                          <a:latin typeface="Times New Roman"/>
                          <a:ea typeface="宋体"/>
                          <a:cs typeface="Times New Roman"/>
                        </a:rPr>
                        <a:t>（</a:t>
                      </a:r>
                      <a:r>
                        <a:rPr lang="en-US" altLang="zh-CN" sz="2000" kern="100" dirty="0">
                          <a:solidFill>
                            <a:srgbClr val="000000"/>
                          </a:solidFill>
                          <a:latin typeface="Times New Roman"/>
                          <a:ea typeface="宋体"/>
                          <a:cs typeface="Times New Roman"/>
                        </a:rPr>
                        <a:t>+,B,C,T</a:t>
                      </a:r>
                      <a:r>
                        <a:rPr lang="en-US" altLang="zh-CN" sz="2000" kern="100" baseline="-25000" dirty="0">
                          <a:latin typeface="Times New Roman"/>
                          <a:ea typeface="宋体"/>
                          <a:cs typeface="Times New Roman"/>
                        </a:rPr>
                        <a:t>1</a:t>
                      </a:r>
                      <a:r>
                        <a:rPr lang="zh-CN" altLang="zh-CN" sz="2000" kern="100" dirty="0">
                          <a:solidFill>
                            <a:srgbClr val="000000"/>
                          </a:solidFill>
                          <a:latin typeface="Times New Roman"/>
                          <a:ea typeface="宋体"/>
                          <a:cs typeface="Times New Roman"/>
                        </a:rPr>
                        <a:t>）</a:t>
                      </a:r>
                      <a:endParaRPr lang="zh-CN" altLang="zh-CN" sz="2000" kern="100" dirty="0">
                        <a:latin typeface="Times New Roman"/>
                        <a:ea typeface="宋体"/>
                        <a:cs typeface="Times New Roman"/>
                      </a:endParaRPr>
                    </a:p>
                  </a:txBody>
                  <a:tcPr marL="68576" marR="685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128511">
                <a:tc>
                  <a:txBody>
                    <a:bodyPr/>
                    <a:lstStyle/>
                    <a:p>
                      <a:pPr marL="0" marR="0" indent="0" algn="just" defTabSz="914400" rtl="0" eaLnBrk="1" fontAlgn="auto" latinLnBrk="0" hangingPunct="1">
                        <a:lnSpc>
                          <a:spcPct val="100000"/>
                        </a:lnSpc>
                        <a:spcBef>
                          <a:spcPts val="0"/>
                        </a:spcBef>
                        <a:spcAft>
                          <a:spcPts val="0"/>
                        </a:spcAft>
                        <a:buClrTx/>
                        <a:buSzTx/>
                        <a:buFontTx/>
                        <a:buNone/>
                        <a:tabLst>
                          <a:tab pos="266700" algn="l"/>
                        </a:tabLst>
                        <a:defRPr/>
                      </a:pPr>
                      <a:r>
                        <a:rPr lang="en-US" altLang="zh-CN" sz="2000" kern="100" dirty="0">
                          <a:solidFill>
                            <a:srgbClr val="000000"/>
                          </a:solidFill>
                          <a:latin typeface="Times New Roman"/>
                          <a:ea typeface="宋体"/>
                          <a:cs typeface="Times New Roman"/>
                        </a:rPr>
                        <a:t>2.</a:t>
                      </a:r>
                      <a:r>
                        <a:rPr lang="zh-CN" altLang="zh-CN" sz="2000" kern="100" dirty="0">
                          <a:solidFill>
                            <a:srgbClr val="000000"/>
                          </a:solidFill>
                          <a:latin typeface="Times New Roman"/>
                          <a:ea typeface="宋体"/>
                          <a:cs typeface="Times New Roman"/>
                        </a:rPr>
                        <a:t>（</a:t>
                      </a:r>
                      <a:r>
                        <a:rPr lang="en-US" altLang="zh-CN" sz="2000" kern="100" dirty="0">
                          <a:solidFill>
                            <a:srgbClr val="000000"/>
                          </a:solidFill>
                          <a:latin typeface="Times New Roman"/>
                          <a:ea typeface="宋体"/>
                          <a:cs typeface="Times New Roman"/>
                        </a:rPr>
                        <a:t>*,T</a:t>
                      </a:r>
                      <a:r>
                        <a:rPr lang="en-US" altLang="zh-CN" sz="2000" kern="100" baseline="-25000" dirty="0">
                          <a:latin typeface="Times New Roman"/>
                          <a:ea typeface="宋体"/>
                          <a:cs typeface="Times New Roman"/>
                        </a:rPr>
                        <a:t>1</a:t>
                      </a:r>
                      <a:r>
                        <a:rPr lang="en-US" altLang="zh-CN" sz="2000" kern="100" dirty="0">
                          <a:solidFill>
                            <a:srgbClr val="000000"/>
                          </a:solidFill>
                          <a:latin typeface="Times New Roman"/>
                          <a:ea typeface="宋体"/>
                          <a:cs typeface="Times New Roman"/>
                        </a:rPr>
                        <a:t>,D,T</a:t>
                      </a:r>
                      <a:r>
                        <a:rPr lang="en-US" altLang="zh-CN" sz="2000" kern="100" baseline="-25000" dirty="0">
                          <a:latin typeface="Times New Roman"/>
                          <a:ea typeface="宋体"/>
                          <a:cs typeface="Times New Roman"/>
                        </a:rPr>
                        <a:t>2</a:t>
                      </a:r>
                      <a:r>
                        <a:rPr lang="zh-CN" altLang="zh-CN" sz="2000" kern="100" dirty="0">
                          <a:solidFill>
                            <a:srgbClr val="000000"/>
                          </a:solidFill>
                          <a:latin typeface="Times New Roman"/>
                          <a:ea typeface="宋体"/>
                          <a:cs typeface="Times New Roman"/>
                        </a:rPr>
                        <a:t>）</a:t>
                      </a:r>
                      <a:endParaRPr lang="zh-CN" altLang="zh-CN" sz="2000" kern="100" dirty="0">
                        <a:latin typeface="Times New Roman"/>
                        <a:ea typeface="宋体"/>
                        <a:cs typeface="Times New Roman"/>
                      </a:endParaRPr>
                    </a:p>
                  </a:txBody>
                  <a:tcPr marL="68576" marR="685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289727">
                <a:tc>
                  <a:txBody>
                    <a:bodyPr/>
                    <a:lstStyle/>
                    <a:p>
                      <a:pPr marL="0" marR="0" indent="0" algn="just" defTabSz="914400" rtl="0" eaLnBrk="1" fontAlgn="auto" latinLnBrk="0" hangingPunct="1">
                        <a:lnSpc>
                          <a:spcPct val="100000"/>
                        </a:lnSpc>
                        <a:spcBef>
                          <a:spcPts val="0"/>
                        </a:spcBef>
                        <a:spcAft>
                          <a:spcPts val="0"/>
                        </a:spcAft>
                        <a:buClrTx/>
                        <a:buSzTx/>
                        <a:buFontTx/>
                        <a:buNone/>
                        <a:tabLst>
                          <a:tab pos="266700" algn="l"/>
                        </a:tabLst>
                        <a:defRPr/>
                      </a:pPr>
                      <a:r>
                        <a:rPr lang="en-US" altLang="zh-CN" sz="2000" kern="100" dirty="0">
                          <a:solidFill>
                            <a:srgbClr val="000000"/>
                          </a:solidFill>
                          <a:latin typeface="Times New Roman"/>
                          <a:ea typeface="宋体"/>
                          <a:cs typeface="Times New Roman"/>
                        </a:rPr>
                        <a:t>3.</a:t>
                      </a:r>
                      <a:r>
                        <a:rPr lang="zh-CN" altLang="zh-CN" sz="2000" kern="100" dirty="0">
                          <a:solidFill>
                            <a:srgbClr val="000000"/>
                          </a:solidFill>
                          <a:latin typeface="Times New Roman"/>
                          <a:ea typeface="宋体"/>
                          <a:cs typeface="Times New Roman"/>
                        </a:rPr>
                        <a:t>（</a:t>
                      </a:r>
                      <a:r>
                        <a:rPr lang="en-US" altLang="zh-CN" sz="2000" kern="100" dirty="0">
                          <a:solidFill>
                            <a:srgbClr val="000000"/>
                          </a:solidFill>
                          <a:latin typeface="Times New Roman"/>
                          <a:ea typeface="宋体"/>
                          <a:cs typeface="Times New Roman"/>
                        </a:rPr>
                        <a:t>+,T</a:t>
                      </a:r>
                      <a:r>
                        <a:rPr lang="en-US" altLang="zh-CN" sz="2000" kern="100" baseline="-25000" dirty="0">
                          <a:latin typeface="Times New Roman"/>
                          <a:ea typeface="宋体"/>
                          <a:cs typeface="Times New Roman"/>
                        </a:rPr>
                        <a:t>2</a:t>
                      </a:r>
                      <a:r>
                        <a:rPr lang="en-US" altLang="zh-CN" sz="2000" kern="100" dirty="0">
                          <a:solidFill>
                            <a:srgbClr val="000000"/>
                          </a:solidFill>
                          <a:latin typeface="Times New Roman"/>
                          <a:ea typeface="宋体"/>
                          <a:cs typeface="Times New Roman"/>
                        </a:rPr>
                        <a:t>,E,A</a:t>
                      </a:r>
                      <a:r>
                        <a:rPr lang="zh-CN" altLang="zh-CN" sz="2000" kern="100" dirty="0">
                          <a:solidFill>
                            <a:srgbClr val="000000"/>
                          </a:solidFill>
                          <a:latin typeface="Times New Roman"/>
                          <a:ea typeface="宋体"/>
                          <a:cs typeface="Times New Roman"/>
                        </a:rPr>
                        <a:t>）</a:t>
                      </a:r>
                      <a:endParaRPr lang="zh-CN" altLang="zh-CN" sz="2000" kern="100" dirty="0">
                        <a:latin typeface="Times New Roman"/>
                        <a:ea typeface="宋体"/>
                        <a:cs typeface="Times New Roman"/>
                      </a:endParaRPr>
                    </a:p>
                  </a:txBody>
                  <a:tcPr marL="68576" marR="685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graphicFrame>
        <p:nvGraphicFramePr>
          <p:cNvPr id="4" name="内容占位符 3"/>
          <p:cNvGraphicFramePr>
            <a:graphicFrameLocks noGrp="1"/>
          </p:cNvGraphicFramePr>
          <p:nvPr>
            <p:ph idx="1"/>
            <p:extLst>
              <p:ext uri="{D42A27DB-BD31-4B8C-83A1-F6EECF244321}">
                <p14:modId xmlns:p14="http://schemas.microsoft.com/office/powerpoint/2010/main" val="301720229"/>
              </p:ext>
            </p:extLst>
          </p:nvPr>
        </p:nvGraphicFramePr>
        <p:xfrm>
          <a:off x="539552" y="1131590"/>
          <a:ext cx="3834456" cy="3816424"/>
        </p:xfrm>
        <a:graphic>
          <a:graphicData uri="http://schemas.openxmlformats.org/drawingml/2006/table">
            <a:tbl>
              <a:tblPr/>
              <a:tblGrid>
                <a:gridCol w="1818232">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tblGrid>
              <a:tr h="274320">
                <a:tc>
                  <a:txBody>
                    <a:bodyPr/>
                    <a:lstStyle/>
                    <a:p>
                      <a:pPr algn="just">
                        <a:spcAft>
                          <a:spcPts val="0"/>
                        </a:spcAft>
                        <a:tabLst>
                          <a:tab pos="266700" algn="l"/>
                        </a:tabLst>
                      </a:pPr>
                      <a:r>
                        <a:rPr lang="zh-CN" sz="2000" kern="100" dirty="0">
                          <a:solidFill>
                            <a:srgbClr val="000000"/>
                          </a:solidFill>
                          <a:latin typeface="Times New Roman"/>
                          <a:ea typeface="宋体"/>
                          <a:cs typeface="Times New Roman"/>
                        </a:rPr>
                        <a:t>四元式代码</a:t>
                      </a:r>
                      <a:endParaRPr lang="zh-CN" sz="2000" kern="100" dirty="0">
                        <a:latin typeface="Times New Roman"/>
                        <a:ea typeface="宋体"/>
                        <a:cs typeface="Times New Roman"/>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266700" algn="l"/>
                        </a:tabLst>
                      </a:pPr>
                      <a:r>
                        <a:rPr lang="zh-CN" sz="2000" kern="100">
                          <a:solidFill>
                            <a:srgbClr val="000000"/>
                          </a:solidFill>
                          <a:latin typeface="Times New Roman"/>
                          <a:ea typeface="宋体"/>
                          <a:cs typeface="Times New Roman"/>
                        </a:rPr>
                        <a:t>汇编代码</a:t>
                      </a:r>
                      <a:endParaRPr lang="zh-CN" sz="2000" kern="100">
                        <a:latin typeface="Times New Roman"/>
                        <a:ea typeface="宋体"/>
                        <a:cs typeface="Times New Roman"/>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44215">
                <a:tc>
                  <a:txBody>
                    <a:bodyPr/>
                    <a:lstStyle/>
                    <a:p>
                      <a:pPr algn="just">
                        <a:spcAft>
                          <a:spcPts val="0"/>
                        </a:spcAft>
                        <a:tabLst>
                          <a:tab pos="266700" algn="l"/>
                        </a:tabLst>
                      </a:pPr>
                      <a:endParaRPr lang="zh-CN" sz="2000" kern="100" dirty="0">
                        <a:latin typeface="Times New Roman"/>
                        <a:ea typeface="宋体"/>
                        <a:cs typeface="Times New Roman"/>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266700" algn="l"/>
                        </a:tabLst>
                      </a:pPr>
                      <a:endParaRPr lang="zh-CN" sz="2000" kern="100" dirty="0">
                        <a:solidFill>
                          <a:srgbClr val="FF0000"/>
                        </a:solidFill>
                        <a:latin typeface="Times New Roman"/>
                        <a:ea typeface="宋体"/>
                        <a:cs typeface="Times New Roman"/>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15281">
                <a:tc>
                  <a:txBody>
                    <a:bodyPr/>
                    <a:lstStyle/>
                    <a:p>
                      <a:pPr algn="just">
                        <a:spcAft>
                          <a:spcPts val="0"/>
                        </a:spcAft>
                        <a:tabLst>
                          <a:tab pos="266700" algn="l"/>
                        </a:tabLst>
                      </a:pPr>
                      <a:endParaRPr lang="zh-CN" sz="2000" kern="100" dirty="0">
                        <a:latin typeface="Times New Roman"/>
                        <a:ea typeface="宋体"/>
                        <a:cs typeface="Times New Roman"/>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266700" algn="l"/>
                        </a:tabLst>
                      </a:pPr>
                      <a:endParaRPr lang="zh-CN" sz="2000" kern="100" dirty="0">
                        <a:solidFill>
                          <a:srgbClr val="FF0000"/>
                        </a:solidFill>
                        <a:latin typeface="Times New Roman"/>
                        <a:ea typeface="宋体"/>
                        <a:cs typeface="Times New Roman"/>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52128">
                <a:tc>
                  <a:txBody>
                    <a:bodyPr/>
                    <a:lstStyle/>
                    <a:p>
                      <a:pPr algn="just">
                        <a:spcAft>
                          <a:spcPts val="0"/>
                        </a:spcAft>
                        <a:tabLst>
                          <a:tab pos="266700" algn="l"/>
                        </a:tabLst>
                      </a:pPr>
                      <a:endParaRPr lang="zh-CN" sz="2000" kern="100" dirty="0">
                        <a:latin typeface="Times New Roman"/>
                        <a:ea typeface="宋体"/>
                        <a:cs typeface="Times New Roman"/>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266700" algn="l"/>
                        </a:tabLst>
                      </a:pPr>
                      <a:endParaRPr lang="zh-CN" sz="2000" kern="100" dirty="0">
                        <a:latin typeface="Times New Roman"/>
                        <a:ea typeface="宋体"/>
                        <a:cs typeface="Times New Roman"/>
                      </a:endParaRPr>
                    </a:p>
                  </a:txBody>
                  <a:tcPr marL="68576" marR="6857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3812" name="矩形 5"/>
          <p:cNvSpPr>
            <a:spLocks noChangeArrowheads="1"/>
          </p:cNvSpPr>
          <p:nvPr/>
        </p:nvSpPr>
        <p:spPr bwMode="auto">
          <a:xfrm>
            <a:off x="4617566" y="1206452"/>
            <a:ext cx="4338837" cy="1938992"/>
          </a:xfrm>
          <a:prstGeom prst="rect">
            <a:avLst/>
          </a:prstGeom>
          <a:solidFill>
            <a:schemeClr val="bg1"/>
          </a:solid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marL="342900" indent="-342900">
              <a:spcBef>
                <a:spcPct val="0"/>
              </a:spcBef>
            </a:pPr>
            <a:r>
              <a:rPr lang="zh-CN" altLang="zh-CN" sz="2000" dirty="0"/>
              <a:t>第</a:t>
            </a:r>
            <a:r>
              <a:rPr lang="en-US" altLang="zh-CN" sz="2000" dirty="0"/>
              <a:t>4</a:t>
            </a:r>
            <a:r>
              <a:rPr lang="zh-CN" altLang="zh-CN" sz="2000" dirty="0"/>
              <a:t>和第</a:t>
            </a:r>
            <a:r>
              <a:rPr lang="en-US" altLang="zh-CN" sz="2000" dirty="0"/>
              <a:t>8</a:t>
            </a:r>
            <a:r>
              <a:rPr lang="zh-CN" altLang="zh-CN" sz="2000" dirty="0"/>
              <a:t>行是多余的</a:t>
            </a:r>
            <a:r>
              <a:rPr lang="zh-CN" altLang="en-US" sz="2000" dirty="0"/>
              <a:t>，</a:t>
            </a:r>
            <a:r>
              <a:rPr lang="en-US" altLang="zh-CN" sz="2000" dirty="0"/>
              <a:t>T</a:t>
            </a:r>
            <a:r>
              <a:rPr lang="en-US" altLang="zh-CN" sz="2000" baseline="-25000" dirty="0"/>
              <a:t>1</a:t>
            </a:r>
            <a:r>
              <a:rPr lang="zh-CN" altLang="zh-CN" sz="2000" dirty="0"/>
              <a:t>和</a:t>
            </a:r>
            <a:r>
              <a:rPr lang="en-US" altLang="zh-CN" sz="2000" dirty="0"/>
              <a:t>T</a:t>
            </a:r>
            <a:r>
              <a:rPr lang="en-US" altLang="zh-CN" sz="2000" baseline="-25000" dirty="0"/>
              <a:t>2</a:t>
            </a:r>
            <a:r>
              <a:rPr lang="zh-CN" altLang="en-US" sz="2000" dirty="0"/>
              <a:t>本来在</a:t>
            </a:r>
            <a:r>
              <a:rPr lang="en-US" altLang="zh-CN" sz="2000" dirty="0"/>
              <a:t>AX</a:t>
            </a:r>
            <a:r>
              <a:rPr lang="zh-CN" altLang="en-US" sz="2000" dirty="0"/>
              <a:t>中</a:t>
            </a:r>
            <a:endParaRPr lang="en-US" altLang="zh-CN" sz="2000" dirty="0"/>
          </a:p>
          <a:p>
            <a:pPr marL="342900" indent="-342900">
              <a:spcBef>
                <a:spcPct val="0"/>
              </a:spcBef>
            </a:pPr>
            <a:r>
              <a:rPr lang="en-US" altLang="zh-CN" sz="2000" dirty="0"/>
              <a:t>T</a:t>
            </a:r>
            <a:r>
              <a:rPr lang="en-US" altLang="zh-CN" sz="2000" baseline="-25000" dirty="0"/>
              <a:t>1</a:t>
            </a:r>
            <a:r>
              <a:rPr lang="zh-CN" altLang="zh-CN" sz="2000" dirty="0"/>
              <a:t>和</a:t>
            </a:r>
            <a:r>
              <a:rPr lang="en-US" altLang="zh-CN" sz="2000" dirty="0"/>
              <a:t>T</a:t>
            </a:r>
            <a:r>
              <a:rPr lang="en-US" altLang="zh-CN" sz="2000" baseline="-25000" dirty="0"/>
              <a:t>2</a:t>
            </a:r>
            <a:r>
              <a:rPr lang="zh-CN" altLang="zh-CN" sz="2000" dirty="0"/>
              <a:t>是生成中间代码时引入的临时变量，出了所在的基本块将不再被引用，</a:t>
            </a:r>
            <a:r>
              <a:rPr lang="zh-CN" altLang="en-US" sz="2000" dirty="0"/>
              <a:t>没有必要存在内存中，</a:t>
            </a:r>
            <a:r>
              <a:rPr lang="zh-CN" altLang="zh-CN" sz="2000" dirty="0"/>
              <a:t>所以</a:t>
            </a:r>
            <a:r>
              <a:rPr lang="en-US" altLang="zh-CN" sz="2000" dirty="0"/>
              <a:t>3</a:t>
            </a:r>
            <a:r>
              <a:rPr lang="zh-CN" altLang="zh-CN" sz="2000" dirty="0"/>
              <a:t>和</a:t>
            </a:r>
            <a:r>
              <a:rPr lang="en-US" altLang="zh-CN" sz="2000" dirty="0"/>
              <a:t>6</a:t>
            </a:r>
            <a:r>
              <a:rPr lang="zh-CN" altLang="zh-CN" sz="2000" dirty="0"/>
              <a:t>两行代码也可以省掉</a:t>
            </a:r>
            <a:endParaRPr lang="zh-CN" altLang="en-US" sz="2000" dirty="0"/>
          </a:p>
        </p:txBody>
      </p:sp>
      <p:sp>
        <p:nvSpPr>
          <p:cNvPr id="2" name="矩形 1"/>
          <p:cNvSpPr/>
          <p:nvPr/>
        </p:nvSpPr>
        <p:spPr>
          <a:xfrm>
            <a:off x="5417666" y="329869"/>
            <a:ext cx="2970685" cy="52322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2800" dirty="0"/>
              <a:t>A =</a:t>
            </a:r>
            <a:r>
              <a:rPr lang="zh-CN" altLang="en-US" sz="2800" dirty="0"/>
              <a:t>（</a:t>
            </a:r>
            <a:r>
              <a:rPr lang="en-US" altLang="zh-CN" sz="2800" dirty="0"/>
              <a:t>B+C)*D+E</a:t>
            </a:r>
            <a:endParaRPr lang="zh-CN" altLang="en-US" sz="2800" dirty="0"/>
          </a:p>
        </p:txBody>
      </p:sp>
      <p:graphicFrame>
        <p:nvGraphicFramePr>
          <p:cNvPr id="3" name="表格 2"/>
          <p:cNvGraphicFramePr>
            <a:graphicFrameLocks noGrp="1"/>
          </p:cNvGraphicFramePr>
          <p:nvPr>
            <p:extLst>
              <p:ext uri="{D42A27DB-BD31-4B8C-83A1-F6EECF244321}">
                <p14:modId xmlns:p14="http://schemas.microsoft.com/office/powerpoint/2010/main" val="2026576901"/>
              </p:ext>
            </p:extLst>
          </p:nvPr>
        </p:nvGraphicFramePr>
        <p:xfrm>
          <a:off x="557584" y="1439979"/>
          <a:ext cx="3827379" cy="936104"/>
        </p:xfrm>
        <a:graphic>
          <a:graphicData uri="http://schemas.openxmlformats.org/drawingml/2006/table">
            <a:tbl>
              <a:tblPr/>
              <a:tblGrid>
                <a:gridCol w="1782168">
                  <a:extLst>
                    <a:ext uri="{9D8B030D-6E8A-4147-A177-3AD203B41FA5}">
                      <a16:colId xmlns:a16="http://schemas.microsoft.com/office/drawing/2014/main" val="20000"/>
                    </a:ext>
                  </a:extLst>
                </a:gridCol>
                <a:gridCol w="2045211">
                  <a:extLst>
                    <a:ext uri="{9D8B030D-6E8A-4147-A177-3AD203B41FA5}">
                      <a16:colId xmlns:a16="http://schemas.microsoft.com/office/drawing/2014/main" val="20001"/>
                    </a:ext>
                  </a:extLst>
                </a:gridCol>
              </a:tblGrid>
              <a:tr h="936104">
                <a:tc>
                  <a:txBody>
                    <a:bodyPr/>
                    <a:lstStyle/>
                    <a:p>
                      <a:pPr algn="just">
                        <a:spcAft>
                          <a:spcPts val="0"/>
                        </a:spcAft>
                        <a:tabLst>
                          <a:tab pos="266700" algn="l"/>
                        </a:tabLst>
                      </a:pPr>
                      <a:endParaRPr lang="zh-CN" sz="2000" kern="100" dirty="0">
                        <a:latin typeface="Times New Roman"/>
                        <a:ea typeface="宋体"/>
                        <a:cs typeface="Times New Roman"/>
                      </a:endParaRPr>
                    </a:p>
                  </a:txBody>
                  <a:tcPr marL="68576" marR="685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84138" algn="just">
                        <a:spcAft>
                          <a:spcPts val="0"/>
                        </a:spcAft>
                        <a:tabLst>
                          <a:tab pos="266700" algn="l"/>
                        </a:tabLst>
                      </a:pPr>
                      <a:r>
                        <a:rPr lang="en-US" sz="2000" kern="100" dirty="0">
                          <a:solidFill>
                            <a:srgbClr val="000000"/>
                          </a:solidFill>
                          <a:latin typeface="Times New Roman"/>
                          <a:ea typeface="宋体"/>
                          <a:cs typeface="Times New Roman"/>
                        </a:rPr>
                        <a:t>1. MOV AX,B</a:t>
                      </a:r>
                    </a:p>
                    <a:p>
                      <a:pPr marL="0" indent="84138" algn="just">
                        <a:spcAft>
                          <a:spcPts val="0"/>
                        </a:spcAft>
                        <a:tabLst>
                          <a:tab pos="266700" algn="l"/>
                        </a:tabLst>
                      </a:pPr>
                      <a:r>
                        <a:rPr lang="en-US" sz="2000" kern="100" dirty="0">
                          <a:solidFill>
                            <a:srgbClr val="000000"/>
                          </a:solidFill>
                          <a:latin typeface="Times New Roman"/>
                          <a:ea typeface="宋体"/>
                          <a:cs typeface="Times New Roman"/>
                        </a:rPr>
                        <a:t>2. ADD AX,C</a:t>
                      </a:r>
                      <a:endParaRPr lang="zh-CN" sz="2000" kern="100" dirty="0">
                        <a:latin typeface="Times New Roman"/>
                        <a:ea typeface="宋体"/>
                        <a:cs typeface="Times New Roman"/>
                      </a:endParaRPr>
                    </a:p>
                    <a:p>
                      <a:pPr marL="0" indent="84138" algn="just">
                        <a:spcAft>
                          <a:spcPts val="0"/>
                        </a:spcAft>
                        <a:tabLst>
                          <a:tab pos="266700" algn="l"/>
                        </a:tabLst>
                      </a:pPr>
                      <a:r>
                        <a:rPr lang="en-US" sz="2000" kern="100" dirty="0">
                          <a:solidFill>
                            <a:srgbClr val="FF0000"/>
                          </a:solidFill>
                          <a:latin typeface="Times New Roman"/>
                          <a:ea typeface="宋体"/>
                          <a:cs typeface="Times New Roman"/>
                        </a:rPr>
                        <a:t>3. MOV T</a:t>
                      </a:r>
                      <a:r>
                        <a:rPr lang="en-US" sz="2000" kern="100" baseline="-25000" dirty="0">
                          <a:solidFill>
                            <a:srgbClr val="FF0000"/>
                          </a:solidFill>
                          <a:latin typeface="Times New Roman"/>
                          <a:ea typeface="宋体"/>
                          <a:cs typeface="Times New Roman"/>
                        </a:rPr>
                        <a:t>1</a:t>
                      </a:r>
                      <a:r>
                        <a:rPr lang="en-US" sz="2000" kern="100" dirty="0">
                          <a:solidFill>
                            <a:srgbClr val="FF0000"/>
                          </a:solidFill>
                          <a:latin typeface="Times New Roman"/>
                          <a:ea typeface="宋体"/>
                          <a:cs typeface="Times New Roman"/>
                        </a:rPr>
                        <a:t>,AX</a:t>
                      </a:r>
                      <a:endParaRPr lang="zh-CN" sz="2000" kern="100" dirty="0">
                        <a:solidFill>
                          <a:srgbClr val="FF0000"/>
                        </a:solidFill>
                        <a:latin typeface="Times New Roman"/>
                        <a:ea typeface="宋体"/>
                        <a:cs typeface="Times New Roman"/>
                      </a:endParaRPr>
                    </a:p>
                  </a:txBody>
                  <a:tcPr marL="68576" marR="685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2599170205"/>
              </p:ext>
            </p:extLst>
          </p:nvPr>
        </p:nvGraphicFramePr>
        <p:xfrm>
          <a:off x="539552" y="2427733"/>
          <a:ext cx="3834456" cy="1382093"/>
        </p:xfrm>
        <a:graphic>
          <a:graphicData uri="http://schemas.openxmlformats.org/drawingml/2006/table">
            <a:tbl>
              <a:tblPr/>
              <a:tblGrid>
                <a:gridCol w="1782168">
                  <a:extLst>
                    <a:ext uri="{9D8B030D-6E8A-4147-A177-3AD203B41FA5}">
                      <a16:colId xmlns:a16="http://schemas.microsoft.com/office/drawing/2014/main" val="20000"/>
                    </a:ext>
                  </a:extLst>
                </a:gridCol>
                <a:gridCol w="2052288">
                  <a:extLst>
                    <a:ext uri="{9D8B030D-6E8A-4147-A177-3AD203B41FA5}">
                      <a16:colId xmlns:a16="http://schemas.microsoft.com/office/drawing/2014/main" val="20001"/>
                    </a:ext>
                  </a:extLst>
                </a:gridCol>
              </a:tblGrid>
              <a:tr h="1382093">
                <a:tc>
                  <a:txBody>
                    <a:bodyPr/>
                    <a:lstStyle/>
                    <a:p>
                      <a:pPr algn="just">
                        <a:spcAft>
                          <a:spcPts val="0"/>
                        </a:spcAft>
                        <a:tabLst>
                          <a:tab pos="266700" algn="l"/>
                        </a:tabLst>
                      </a:pPr>
                      <a:endParaRPr lang="zh-CN" sz="2000" kern="100" dirty="0">
                        <a:latin typeface="Times New Roman"/>
                        <a:ea typeface="宋体"/>
                        <a:cs typeface="Times New Roman"/>
                      </a:endParaRPr>
                    </a:p>
                  </a:txBody>
                  <a:tcPr marL="68576" marR="685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84138" algn="l"/>
                      <a:r>
                        <a:rPr kumimoji="0" lang="en-US" altLang="zh-CN" sz="2000" kern="100" dirty="0">
                          <a:solidFill>
                            <a:srgbClr val="6600CC"/>
                          </a:solidFill>
                          <a:latin typeface="Times New Roman"/>
                          <a:ea typeface="宋体"/>
                          <a:cs typeface="Times New Roman"/>
                        </a:rPr>
                        <a:t>4.MOV AX,T</a:t>
                      </a:r>
                      <a:r>
                        <a:rPr kumimoji="0" lang="en-US" altLang="zh-CN" sz="2000" kern="100" baseline="-25000" dirty="0">
                          <a:solidFill>
                            <a:srgbClr val="6600CC"/>
                          </a:solidFill>
                          <a:latin typeface="Times New Roman"/>
                          <a:ea typeface="宋体"/>
                          <a:cs typeface="Times New Roman"/>
                        </a:rPr>
                        <a:t>1</a:t>
                      </a:r>
                      <a:endParaRPr kumimoji="0" lang="zh-CN" altLang="zh-CN" sz="2000" kern="100" baseline="-25000" dirty="0">
                        <a:solidFill>
                          <a:srgbClr val="6600CC"/>
                        </a:solidFill>
                        <a:latin typeface="Times New Roman"/>
                        <a:ea typeface="宋体"/>
                        <a:cs typeface="Times New Roman"/>
                      </a:endParaRPr>
                    </a:p>
                    <a:p>
                      <a:pPr marL="0" indent="84138" algn="l"/>
                      <a:r>
                        <a:rPr kumimoji="0" lang="en-US" altLang="zh-CN" sz="2000" kern="100" dirty="0">
                          <a:solidFill>
                            <a:srgbClr val="000000"/>
                          </a:solidFill>
                          <a:latin typeface="Times New Roman"/>
                          <a:ea typeface="宋体"/>
                          <a:cs typeface="Times New Roman"/>
                        </a:rPr>
                        <a:t>5.MOV BX,D</a:t>
                      </a:r>
                      <a:endParaRPr kumimoji="0" lang="zh-CN" altLang="zh-CN" sz="2000" kern="100" dirty="0">
                        <a:solidFill>
                          <a:srgbClr val="000000"/>
                        </a:solidFill>
                        <a:latin typeface="Times New Roman"/>
                        <a:ea typeface="宋体"/>
                        <a:cs typeface="Times New Roman"/>
                      </a:endParaRPr>
                    </a:p>
                    <a:p>
                      <a:pPr marL="0" indent="84138" algn="l"/>
                      <a:r>
                        <a:rPr kumimoji="0" lang="en-US" altLang="zh-CN" sz="2000" kern="100" dirty="0">
                          <a:solidFill>
                            <a:srgbClr val="000000"/>
                          </a:solidFill>
                          <a:latin typeface="Times New Roman"/>
                          <a:ea typeface="宋体"/>
                          <a:cs typeface="Times New Roman"/>
                        </a:rPr>
                        <a:t>6.MUL BX</a:t>
                      </a:r>
                      <a:endParaRPr kumimoji="0" lang="zh-CN" altLang="zh-CN" sz="2000" kern="100" dirty="0">
                        <a:solidFill>
                          <a:srgbClr val="000000"/>
                        </a:solidFill>
                        <a:latin typeface="Times New Roman"/>
                        <a:ea typeface="宋体"/>
                        <a:cs typeface="Times New Roman"/>
                      </a:endParaRPr>
                    </a:p>
                    <a:p>
                      <a:pPr marL="0" indent="84138" algn="l"/>
                      <a:r>
                        <a:rPr kumimoji="0" lang="en-US" altLang="zh-CN" sz="2000" kern="100" dirty="0">
                          <a:solidFill>
                            <a:srgbClr val="FF0000"/>
                          </a:solidFill>
                          <a:latin typeface="Times New Roman"/>
                          <a:ea typeface="宋体"/>
                          <a:cs typeface="Times New Roman"/>
                        </a:rPr>
                        <a:t>7.MOV T</a:t>
                      </a:r>
                      <a:r>
                        <a:rPr kumimoji="0" lang="en-US" altLang="zh-CN" sz="2000" kern="100" baseline="-25000" dirty="0">
                          <a:solidFill>
                            <a:srgbClr val="FF0000"/>
                          </a:solidFill>
                          <a:latin typeface="Times New Roman"/>
                          <a:ea typeface="宋体"/>
                          <a:cs typeface="Times New Roman"/>
                        </a:rPr>
                        <a:t>2</a:t>
                      </a:r>
                      <a:r>
                        <a:rPr kumimoji="0" lang="en-US" altLang="zh-CN" sz="2000" kern="100" dirty="0">
                          <a:solidFill>
                            <a:srgbClr val="FF0000"/>
                          </a:solidFill>
                          <a:latin typeface="Times New Roman"/>
                          <a:ea typeface="宋体"/>
                          <a:cs typeface="Times New Roman"/>
                        </a:rPr>
                        <a:t>,AX</a:t>
                      </a:r>
                      <a:endParaRPr kumimoji="0" lang="zh-CN" sz="2000" kern="100" dirty="0">
                        <a:solidFill>
                          <a:srgbClr val="FF0000"/>
                        </a:solidFill>
                        <a:latin typeface="Times New Roman"/>
                        <a:ea typeface="宋体"/>
                        <a:cs typeface="Times New Roman"/>
                      </a:endParaRPr>
                    </a:p>
                  </a:txBody>
                  <a:tcPr marL="68576" marR="685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623070339"/>
              </p:ext>
            </p:extLst>
          </p:nvPr>
        </p:nvGraphicFramePr>
        <p:xfrm>
          <a:off x="539552" y="3799088"/>
          <a:ext cx="3834456" cy="1152128"/>
        </p:xfrm>
        <a:graphic>
          <a:graphicData uri="http://schemas.openxmlformats.org/drawingml/2006/table">
            <a:tbl>
              <a:tblPr/>
              <a:tblGrid>
                <a:gridCol w="1818232">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tblGrid>
              <a:tr h="1152128">
                <a:tc>
                  <a:txBody>
                    <a:bodyPr/>
                    <a:lstStyle/>
                    <a:p>
                      <a:pPr algn="just">
                        <a:spcAft>
                          <a:spcPts val="0"/>
                        </a:spcAft>
                        <a:tabLst>
                          <a:tab pos="266700" algn="l"/>
                        </a:tabLst>
                      </a:pPr>
                      <a:endParaRPr lang="zh-CN" sz="2000" kern="100" dirty="0">
                        <a:latin typeface="Times New Roman"/>
                        <a:ea typeface="宋体"/>
                        <a:cs typeface="Times New Roman"/>
                      </a:endParaRPr>
                    </a:p>
                  </a:txBody>
                  <a:tcPr marL="68576" marR="685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84138" algn="just">
                        <a:spcAft>
                          <a:spcPts val="0"/>
                        </a:spcAft>
                        <a:tabLst>
                          <a:tab pos="266700" algn="l"/>
                        </a:tabLst>
                      </a:pPr>
                      <a:r>
                        <a:rPr lang="fr-FR" sz="2000" kern="100" dirty="0">
                          <a:solidFill>
                            <a:srgbClr val="6600CC"/>
                          </a:solidFill>
                          <a:latin typeface="Times New Roman"/>
                          <a:ea typeface="宋体"/>
                          <a:cs typeface="Times New Roman"/>
                        </a:rPr>
                        <a:t>8. MOV AX,T</a:t>
                      </a:r>
                      <a:r>
                        <a:rPr lang="fr-FR" sz="2000" kern="100" baseline="-25000" dirty="0">
                          <a:solidFill>
                            <a:srgbClr val="6600CC"/>
                          </a:solidFill>
                          <a:latin typeface="Times New Roman"/>
                          <a:ea typeface="宋体"/>
                          <a:cs typeface="Times New Roman"/>
                        </a:rPr>
                        <a:t>2</a:t>
                      </a:r>
                      <a:endParaRPr lang="zh-CN" sz="2000" kern="100" dirty="0">
                        <a:solidFill>
                          <a:srgbClr val="6600CC"/>
                        </a:solidFill>
                        <a:latin typeface="Times New Roman"/>
                        <a:ea typeface="宋体"/>
                        <a:cs typeface="Times New Roman"/>
                      </a:endParaRPr>
                    </a:p>
                    <a:p>
                      <a:pPr marL="0" indent="84138" algn="just">
                        <a:spcAft>
                          <a:spcPts val="0"/>
                        </a:spcAft>
                        <a:tabLst>
                          <a:tab pos="266700" algn="l"/>
                        </a:tabLst>
                      </a:pPr>
                      <a:r>
                        <a:rPr lang="fr-FR" sz="2000" kern="100" dirty="0">
                          <a:solidFill>
                            <a:srgbClr val="000000"/>
                          </a:solidFill>
                          <a:latin typeface="Times New Roman"/>
                          <a:ea typeface="宋体"/>
                          <a:cs typeface="Times New Roman"/>
                        </a:rPr>
                        <a:t>9. ADD AX,E</a:t>
                      </a:r>
                      <a:endParaRPr lang="zh-CN" sz="2000" kern="100" dirty="0">
                        <a:latin typeface="Times New Roman"/>
                        <a:ea typeface="宋体"/>
                        <a:cs typeface="Times New Roman"/>
                      </a:endParaRPr>
                    </a:p>
                    <a:p>
                      <a:pPr marL="0" indent="84138" algn="just">
                        <a:spcAft>
                          <a:spcPts val="0"/>
                        </a:spcAft>
                        <a:tabLst>
                          <a:tab pos="266700" algn="l"/>
                        </a:tabLst>
                      </a:pPr>
                      <a:r>
                        <a:rPr lang="pt-PT" sz="2000" kern="100" dirty="0">
                          <a:solidFill>
                            <a:srgbClr val="000000"/>
                          </a:solidFill>
                          <a:latin typeface="Times New Roman"/>
                          <a:ea typeface="宋体"/>
                          <a:cs typeface="Times New Roman"/>
                        </a:rPr>
                        <a:t>10. MOV A,AX </a:t>
                      </a:r>
                      <a:endParaRPr lang="zh-CN" sz="2000" kern="100" dirty="0">
                        <a:latin typeface="Times New Roman"/>
                        <a:ea typeface="宋体"/>
                        <a:cs typeface="Times New Roman"/>
                      </a:endParaRPr>
                    </a:p>
                  </a:txBody>
                  <a:tcPr marL="68576" marR="685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8" name="矩形 7"/>
          <p:cNvSpPr/>
          <p:nvPr/>
        </p:nvSpPr>
        <p:spPr>
          <a:xfrm>
            <a:off x="5785245" y="3375225"/>
            <a:ext cx="2169492" cy="1754326"/>
          </a:xfrm>
          <a:prstGeom prst="rect">
            <a:avLst/>
          </a:prstGeom>
          <a:ln>
            <a:solidFill>
              <a:schemeClr val="tx1"/>
            </a:solidFill>
          </a:ln>
        </p:spPr>
        <p:txBody>
          <a:bodyPr wrap="square">
            <a:spAutoFit/>
          </a:bodyPr>
          <a:lstStyle/>
          <a:p>
            <a:r>
              <a:rPr lang="zh-CN" altLang="zh-CN" dirty="0"/>
              <a:t>（</a:t>
            </a:r>
            <a:r>
              <a:rPr lang="en-US" altLang="zh-CN" dirty="0"/>
              <a:t>1</a:t>
            </a:r>
            <a:r>
              <a:rPr lang="zh-CN" altLang="zh-CN" dirty="0"/>
              <a:t>）</a:t>
            </a:r>
            <a:r>
              <a:rPr lang="en-US" altLang="zh-CN" dirty="0"/>
              <a:t>MOV AX,B</a:t>
            </a:r>
            <a:endParaRPr lang="zh-CN" altLang="zh-CN" dirty="0"/>
          </a:p>
          <a:p>
            <a:r>
              <a:rPr lang="zh-CN" altLang="zh-CN" dirty="0"/>
              <a:t>（</a:t>
            </a:r>
            <a:r>
              <a:rPr lang="en-US" altLang="zh-CN" dirty="0"/>
              <a:t>2</a:t>
            </a:r>
            <a:r>
              <a:rPr lang="zh-CN" altLang="zh-CN" dirty="0"/>
              <a:t>）</a:t>
            </a:r>
            <a:r>
              <a:rPr lang="en-US" altLang="zh-CN" dirty="0"/>
              <a:t>ADD AX,C</a:t>
            </a:r>
            <a:endParaRPr lang="zh-CN" altLang="zh-CN" dirty="0"/>
          </a:p>
          <a:p>
            <a:r>
              <a:rPr lang="zh-CN" altLang="zh-CN" dirty="0"/>
              <a:t>（</a:t>
            </a:r>
            <a:r>
              <a:rPr lang="en-US" altLang="zh-CN" dirty="0"/>
              <a:t>3</a:t>
            </a:r>
            <a:r>
              <a:rPr lang="zh-CN" altLang="zh-CN" dirty="0"/>
              <a:t>）</a:t>
            </a:r>
            <a:r>
              <a:rPr lang="en-US" altLang="zh-CN" dirty="0"/>
              <a:t>MOV BX,D</a:t>
            </a:r>
            <a:endParaRPr lang="zh-CN" altLang="zh-CN" dirty="0"/>
          </a:p>
          <a:p>
            <a:r>
              <a:rPr lang="zh-CN" altLang="zh-CN" dirty="0"/>
              <a:t>（</a:t>
            </a:r>
            <a:r>
              <a:rPr lang="en-US" altLang="zh-CN" dirty="0"/>
              <a:t>4</a:t>
            </a:r>
            <a:r>
              <a:rPr lang="zh-CN" altLang="zh-CN" dirty="0"/>
              <a:t>）</a:t>
            </a:r>
            <a:r>
              <a:rPr lang="en-US" altLang="zh-CN" dirty="0"/>
              <a:t>MUL BX</a:t>
            </a:r>
            <a:endParaRPr lang="zh-CN" altLang="zh-CN" dirty="0"/>
          </a:p>
          <a:p>
            <a:r>
              <a:rPr lang="zh-CN" altLang="zh-CN" dirty="0"/>
              <a:t>（</a:t>
            </a:r>
            <a:r>
              <a:rPr lang="en-US" altLang="zh-CN" dirty="0"/>
              <a:t>5</a:t>
            </a:r>
            <a:r>
              <a:rPr lang="zh-CN" altLang="zh-CN" dirty="0"/>
              <a:t>）</a:t>
            </a:r>
            <a:r>
              <a:rPr lang="en-US" altLang="zh-CN" dirty="0"/>
              <a:t>ADD AX,E</a:t>
            </a:r>
            <a:endParaRPr lang="zh-CN" altLang="zh-CN" dirty="0"/>
          </a:p>
          <a:p>
            <a:r>
              <a:rPr lang="zh-CN" altLang="zh-CN" dirty="0"/>
              <a:t>（</a:t>
            </a:r>
            <a:r>
              <a:rPr lang="en-US" altLang="zh-CN" dirty="0"/>
              <a:t>6</a:t>
            </a:r>
            <a:r>
              <a:rPr lang="zh-CN" altLang="zh-CN" dirty="0"/>
              <a:t>）</a:t>
            </a:r>
            <a:r>
              <a:rPr lang="en-US" altLang="zh-CN" dirty="0"/>
              <a:t>MOV A,AX</a:t>
            </a:r>
            <a:endParaRPr lang="zh-CN" altLang="zh-CN" dirty="0"/>
          </a:p>
        </p:txBody>
      </p:sp>
      <p:sp>
        <p:nvSpPr>
          <p:cNvPr id="12" name="任意多边形 11"/>
          <p:cNvSpPr/>
          <p:nvPr/>
        </p:nvSpPr>
        <p:spPr>
          <a:xfrm>
            <a:off x="4402667" y="3234267"/>
            <a:ext cx="1456266" cy="1068054"/>
          </a:xfrm>
          <a:custGeom>
            <a:avLst/>
            <a:gdLst>
              <a:gd name="connsiteX0" fmla="*/ 0 w 1456266"/>
              <a:gd name="connsiteY0" fmla="*/ 0 h 1068054"/>
              <a:gd name="connsiteX1" fmla="*/ 491066 w 1456266"/>
              <a:gd name="connsiteY1" fmla="*/ 914400 h 1068054"/>
              <a:gd name="connsiteX2" fmla="*/ 1456266 w 1456266"/>
              <a:gd name="connsiteY2" fmla="*/ 1066800 h 1068054"/>
              <a:gd name="connsiteX3" fmla="*/ 1456266 w 1456266"/>
              <a:gd name="connsiteY3" fmla="*/ 1066800 h 1068054"/>
            </a:gdLst>
            <a:ahLst/>
            <a:cxnLst>
              <a:cxn ang="0">
                <a:pos x="connsiteX0" y="connsiteY0"/>
              </a:cxn>
              <a:cxn ang="0">
                <a:pos x="connsiteX1" y="connsiteY1"/>
              </a:cxn>
              <a:cxn ang="0">
                <a:pos x="connsiteX2" y="connsiteY2"/>
              </a:cxn>
              <a:cxn ang="0">
                <a:pos x="connsiteX3" y="connsiteY3"/>
              </a:cxn>
            </a:cxnLst>
            <a:rect l="l" t="t" r="r" b="b"/>
            <a:pathLst>
              <a:path w="1456266" h="1068054">
                <a:moveTo>
                  <a:pt x="0" y="0"/>
                </a:moveTo>
                <a:cubicBezTo>
                  <a:pt x="124177" y="368300"/>
                  <a:pt x="248355" y="736600"/>
                  <a:pt x="491066" y="914400"/>
                </a:cubicBezTo>
                <a:cubicBezTo>
                  <a:pt x="733777" y="1092200"/>
                  <a:pt x="1456266" y="1066800"/>
                  <a:pt x="1456266" y="1066800"/>
                </a:cubicBezTo>
                <a:lnTo>
                  <a:pt x="1456266" y="1066800"/>
                </a:lnTo>
              </a:path>
            </a:pathLst>
          </a:custGeom>
          <a:noFill/>
          <a:ln>
            <a:solidFill>
              <a:srgbClr val="0000CC"/>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53992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8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12" grpId="0" animBg="1"/>
      <p:bldP spid="8" grpId="0" animBg="1"/>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noChangeArrowheads="1"/>
          </p:cNvSpPr>
          <p:nvPr>
            <p:ph type="title"/>
          </p:nvPr>
        </p:nvSpPr>
        <p:spPr>
          <a:xfrm>
            <a:off x="-4142" y="382122"/>
            <a:ext cx="2948742" cy="1419622"/>
          </a:xfrm>
        </p:spPr>
        <p:txBody>
          <a:bodyPr>
            <a:normAutofit fontScale="90000"/>
          </a:bodyPr>
          <a:lstStyle/>
          <a:p>
            <a:r>
              <a:rPr lang="en-US" altLang="zh-CN" sz="2800" dirty="0"/>
              <a:t>main</a:t>
            </a:r>
            <a:r>
              <a:rPr lang="zh-CN" altLang="en-US" sz="2800" dirty="0"/>
              <a:t>和</a:t>
            </a:r>
            <a:r>
              <a:rPr lang="en-US" altLang="zh-CN" sz="2800" dirty="0"/>
              <a:t>sys</a:t>
            </a:r>
            <a:r>
              <a:rPr lang="zh-CN" altLang="en-US" sz="2800" dirty="0"/>
              <a:t>的目标代码</a:t>
            </a:r>
            <a:r>
              <a:rPr lang="en-US" altLang="zh-CN" sz="2800" dirty="0"/>
              <a:t>——</a:t>
            </a:r>
            <a:r>
              <a:rPr lang="zh-CN" altLang="zh-CN" sz="2800" dirty="0"/>
              <a:t>构成完整的汇编程序</a:t>
            </a:r>
            <a:r>
              <a:rPr lang="zh-CN" altLang="en-US" sz="2800" dirty="0"/>
              <a:t>的头和尾</a:t>
            </a:r>
          </a:p>
        </p:txBody>
      </p:sp>
      <p:graphicFrame>
        <p:nvGraphicFramePr>
          <p:cNvPr id="5" name="表格 4"/>
          <p:cNvGraphicFramePr>
            <a:graphicFrameLocks noGrp="1"/>
          </p:cNvGraphicFramePr>
          <p:nvPr>
            <p:extLst>
              <p:ext uri="{D42A27DB-BD31-4B8C-83A1-F6EECF244321}">
                <p14:modId xmlns:p14="http://schemas.microsoft.com/office/powerpoint/2010/main" val="162250298"/>
              </p:ext>
            </p:extLst>
          </p:nvPr>
        </p:nvGraphicFramePr>
        <p:xfrm>
          <a:off x="2843808" y="247411"/>
          <a:ext cx="6120034" cy="3728442"/>
        </p:xfrm>
        <a:graphic>
          <a:graphicData uri="http://schemas.openxmlformats.org/drawingml/2006/table">
            <a:tbl>
              <a:tblPr firstRow="1" firstCol="1" bandRow="1"/>
              <a:tblGrid>
                <a:gridCol w="6120034">
                  <a:extLst>
                    <a:ext uri="{9D8B030D-6E8A-4147-A177-3AD203B41FA5}">
                      <a16:colId xmlns:a16="http://schemas.microsoft.com/office/drawing/2014/main" val="20000"/>
                    </a:ext>
                  </a:extLst>
                </a:gridCol>
              </a:tblGrid>
              <a:tr h="3728442">
                <a:tc>
                  <a:txBody>
                    <a:bodyPr/>
                    <a:lstStyle/>
                    <a:p>
                      <a:pPr algn="just">
                        <a:lnSpc>
                          <a:spcPct val="100000"/>
                        </a:lnSpc>
                        <a:spcAft>
                          <a:spcPts val="0"/>
                        </a:spcAft>
                      </a:pPr>
                      <a:r>
                        <a:rPr lang="en-US" sz="1200" kern="100" dirty="0">
                          <a:effectLst/>
                          <a:latin typeface="宋体" panose="02010600030101010101" pitchFamily="2" charset="-122"/>
                          <a:ea typeface="宋体" panose="02010600030101010101" pitchFamily="2" charset="-122"/>
                        </a:rPr>
                        <a:t>assume </a:t>
                      </a:r>
                      <a:r>
                        <a:rPr lang="en-US" sz="1200" kern="100" dirty="0" err="1">
                          <a:effectLst/>
                          <a:latin typeface="宋体" panose="02010600030101010101" pitchFamily="2" charset="-122"/>
                          <a:ea typeface="宋体" panose="02010600030101010101" pitchFamily="2" charset="-122"/>
                        </a:rPr>
                        <a:t>cs:code,ds:data,ss:stack,es:extended</a:t>
                      </a:r>
                      <a:r>
                        <a:rPr lang="en-US" sz="1200" kern="100" dirty="0">
                          <a:effectLst/>
                          <a:latin typeface="宋体" panose="02010600030101010101" pitchFamily="2" charset="-122"/>
                          <a:ea typeface="宋体" panose="02010600030101010101" pitchFamily="2" charset="-122"/>
                        </a:rPr>
                        <a:t>      ;</a:t>
                      </a:r>
                      <a:r>
                        <a:rPr lang="zh-CN" sz="1200" kern="100" dirty="0">
                          <a:effectLst/>
                          <a:latin typeface="Times New Roman" panose="02020603050405020304" pitchFamily="18" charset="0"/>
                          <a:ea typeface="宋体" panose="02010600030101010101" pitchFamily="2" charset="-122"/>
                        </a:rPr>
                        <a:t>程序开始，初始化</a:t>
                      </a:r>
                      <a:r>
                        <a:rPr lang="en-US" sz="1200" kern="100" dirty="0">
                          <a:effectLst/>
                          <a:latin typeface="Times New Roman" panose="02020603050405020304" pitchFamily="18" charset="0"/>
                          <a:ea typeface="宋体" panose="02010600030101010101" pitchFamily="2" charset="-122"/>
                        </a:rPr>
                        <a:t>4</a:t>
                      </a:r>
                      <a:r>
                        <a:rPr lang="zh-CN" sz="1200" kern="100" dirty="0">
                          <a:effectLst/>
                          <a:latin typeface="Times New Roman" panose="02020603050405020304" pitchFamily="18" charset="0"/>
                          <a:ea typeface="宋体" panose="02010600030101010101" pitchFamily="2" charset="-122"/>
                        </a:rPr>
                        <a:t>个段地址</a:t>
                      </a:r>
                    </a:p>
                    <a:p>
                      <a:pPr algn="just">
                        <a:lnSpc>
                          <a:spcPct val="100000"/>
                        </a:lnSpc>
                        <a:spcAft>
                          <a:spcPts val="0"/>
                        </a:spcAft>
                      </a:pPr>
                      <a:r>
                        <a:rPr lang="en-US" sz="1200" kern="100" dirty="0">
                          <a:effectLst/>
                          <a:latin typeface="宋体" panose="02010600030101010101" pitchFamily="2" charset="-122"/>
                          <a:ea typeface="宋体" panose="02010600030101010101" pitchFamily="2" charset="-122"/>
                        </a:rPr>
                        <a:t>extended segment                           ;</a:t>
                      </a:r>
                      <a:r>
                        <a:rPr lang="zh-CN" sz="1200" kern="100" dirty="0">
                          <a:effectLst/>
                          <a:latin typeface="Times New Roman" panose="02020603050405020304" pitchFamily="18" charset="0"/>
                          <a:ea typeface="宋体" panose="02010600030101010101" pitchFamily="2" charset="-122"/>
                        </a:rPr>
                        <a:t>初始化扩展段中的信息</a:t>
                      </a:r>
                    </a:p>
                    <a:p>
                      <a:pPr indent="228600" algn="just">
                        <a:lnSpc>
                          <a:spcPct val="100000"/>
                        </a:lnSpc>
                        <a:spcAft>
                          <a:spcPts val="0"/>
                        </a:spcAft>
                      </a:pPr>
                      <a:r>
                        <a:rPr lang="en-US" sz="1200" kern="100" dirty="0" err="1">
                          <a:effectLst/>
                          <a:latin typeface="宋体" panose="02010600030101010101" pitchFamily="2" charset="-122"/>
                          <a:ea typeface="宋体" panose="02010600030101010101" pitchFamily="2" charset="-122"/>
                        </a:rPr>
                        <a:t>db</a:t>
                      </a:r>
                      <a:r>
                        <a:rPr lang="en-US" sz="1200" kern="100" dirty="0">
                          <a:effectLst/>
                          <a:latin typeface="宋体" panose="02010600030101010101" pitchFamily="2" charset="-122"/>
                          <a:ea typeface="宋体" panose="02010600030101010101" pitchFamily="2" charset="-122"/>
                        </a:rPr>
                        <a:t> 1024 dup (0)</a:t>
                      </a:r>
                      <a:endParaRPr lang="zh-CN" sz="1200" kern="100" dirty="0">
                        <a:effectLst/>
                        <a:latin typeface="Times New Roman" panose="02020603050405020304" pitchFamily="18" charset="0"/>
                        <a:ea typeface="宋体" panose="02010600030101010101" pitchFamily="2" charset="-122"/>
                      </a:endParaRPr>
                    </a:p>
                    <a:p>
                      <a:pPr algn="just">
                        <a:lnSpc>
                          <a:spcPct val="100000"/>
                        </a:lnSpc>
                        <a:spcAft>
                          <a:spcPts val="0"/>
                        </a:spcAft>
                      </a:pPr>
                      <a:r>
                        <a:rPr lang="en-US" sz="1200" kern="100" dirty="0">
                          <a:effectLst/>
                          <a:latin typeface="宋体" panose="02010600030101010101" pitchFamily="2" charset="-122"/>
                          <a:ea typeface="宋体" panose="02010600030101010101" pitchFamily="2" charset="-122"/>
                        </a:rPr>
                        <a:t>extended ends</a:t>
                      </a:r>
                      <a:endParaRPr lang="zh-CN" sz="1200" kern="100" dirty="0">
                        <a:effectLst/>
                        <a:latin typeface="Times New Roman" panose="02020603050405020304" pitchFamily="18" charset="0"/>
                        <a:ea typeface="宋体" panose="02010600030101010101" pitchFamily="2" charset="-122"/>
                      </a:endParaRPr>
                    </a:p>
                    <a:p>
                      <a:pPr algn="just">
                        <a:lnSpc>
                          <a:spcPct val="100000"/>
                        </a:lnSpc>
                        <a:spcAft>
                          <a:spcPts val="0"/>
                        </a:spcAft>
                      </a:pPr>
                      <a:r>
                        <a:rPr lang="en-US" sz="1200" kern="100" dirty="0">
                          <a:effectLst/>
                          <a:latin typeface="宋体" panose="02010600030101010101" pitchFamily="2" charset="-122"/>
                          <a:ea typeface="宋体" panose="02010600030101010101" pitchFamily="2" charset="-122"/>
                        </a:rPr>
                        <a:t>stack segment                              ;</a:t>
                      </a:r>
                      <a:r>
                        <a:rPr lang="zh-CN" sz="1200" kern="100" dirty="0">
                          <a:effectLst/>
                          <a:latin typeface="Times New Roman" panose="02020603050405020304" pitchFamily="18" charset="0"/>
                          <a:ea typeface="宋体" panose="02010600030101010101" pitchFamily="2" charset="-122"/>
                        </a:rPr>
                        <a:t>初始化堆栈段中的信息</a:t>
                      </a:r>
                    </a:p>
                    <a:p>
                      <a:pPr indent="228600" algn="just">
                        <a:lnSpc>
                          <a:spcPct val="100000"/>
                        </a:lnSpc>
                        <a:spcAft>
                          <a:spcPts val="0"/>
                        </a:spcAft>
                      </a:pPr>
                      <a:r>
                        <a:rPr lang="en-US" sz="1200" kern="100" dirty="0" err="1">
                          <a:effectLst/>
                          <a:latin typeface="宋体" panose="02010600030101010101" pitchFamily="2" charset="-122"/>
                          <a:ea typeface="宋体" panose="02010600030101010101" pitchFamily="2" charset="-122"/>
                        </a:rPr>
                        <a:t>db</a:t>
                      </a:r>
                      <a:r>
                        <a:rPr lang="en-US" sz="1200" kern="100" dirty="0">
                          <a:effectLst/>
                          <a:latin typeface="宋体" panose="02010600030101010101" pitchFamily="2" charset="-122"/>
                          <a:ea typeface="宋体" panose="02010600030101010101" pitchFamily="2" charset="-122"/>
                        </a:rPr>
                        <a:t> 1024 dup (0)</a:t>
                      </a:r>
                      <a:endParaRPr lang="zh-CN" sz="1200" kern="100" dirty="0">
                        <a:effectLst/>
                        <a:latin typeface="Times New Roman" panose="02020603050405020304" pitchFamily="18" charset="0"/>
                        <a:ea typeface="宋体" panose="02010600030101010101" pitchFamily="2" charset="-122"/>
                      </a:endParaRPr>
                    </a:p>
                    <a:p>
                      <a:pPr algn="just">
                        <a:lnSpc>
                          <a:spcPct val="100000"/>
                        </a:lnSpc>
                        <a:spcAft>
                          <a:spcPts val="0"/>
                        </a:spcAft>
                      </a:pPr>
                      <a:r>
                        <a:rPr lang="en-US" sz="1200" kern="100" dirty="0">
                          <a:effectLst/>
                          <a:latin typeface="宋体" panose="02010600030101010101" pitchFamily="2" charset="-122"/>
                          <a:ea typeface="宋体" panose="02010600030101010101" pitchFamily="2" charset="-122"/>
                        </a:rPr>
                        <a:t>stack ends</a:t>
                      </a:r>
                      <a:endParaRPr lang="zh-CN" sz="1200" kern="100" dirty="0">
                        <a:effectLst/>
                        <a:latin typeface="Times New Roman" panose="02020603050405020304" pitchFamily="18" charset="0"/>
                        <a:ea typeface="宋体" panose="02010600030101010101" pitchFamily="2" charset="-122"/>
                      </a:endParaRPr>
                    </a:p>
                    <a:p>
                      <a:pPr algn="just">
                        <a:lnSpc>
                          <a:spcPct val="100000"/>
                        </a:lnSpc>
                        <a:spcAft>
                          <a:spcPts val="0"/>
                        </a:spcAft>
                      </a:pPr>
                      <a:r>
                        <a:rPr lang="en-US" sz="1200" kern="100" dirty="0">
                          <a:effectLst/>
                          <a:latin typeface="宋体" panose="02010600030101010101" pitchFamily="2" charset="-122"/>
                          <a:ea typeface="宋体" panose="02010600030101010101" pitchFamily="2" charset="-122"/>
                        </a:rPr>
                        <a:t>data segment                               ;</a:t>
                      </a:r>
                      <a:r>
                        <a:rPr lang="zh-CN" sz="1200" kern="100" dirty="0">
                          <a:effectLst/>
                          <a:latin typeface="Times New Roman" panose="02020603050405020304" pitchFamily="18" charset="0"/>
                          <a:ea typeface="宋体" panose="02010600030101010101" pitchFamily="2" charset="-122"/>
                        </a:rPr>
                        <a:t>初始化数据段中的信息</a:t>
                      </a:r>
                    </a:p>
                    <a:p>
                      <a:pPr indent="228600" algn="just">
                        <a:lnSpc>
                          <a:spcPct val="100000"/>
                        </a:lnSpc>
                        <a:spcAft>
                          <a:spcPts val="0"/>
                        </a:spcAft>
                      </a:pPr>
                      <a:r>
                        <a:rPr lang="en-US" sz="1200" kern="100" dirty="0" err="1">
                          <a:effectLst/>
                          <a:latin typeface="宋体" panose="02010600030101010101" pitchFamily="2" charset="-122"/>
                          <a:ea typeface="宋体" panose="02010600030101010101" pitchFamily="2" charset="-122"/>
                        </a:rPr>
                        <a:t>t_buff_p</a:t>
                      </a:r>
                      <a:r>
                        <a:rPr lang="en-US" sz="1200" kern="100" dirty="0">
                          <a:effectLst/>
                          <a:latin typeface="宋体" panose="02010600030101010101" pitchFamily="2" charset="-122"/>
                          <a:ea typeface="宋体" panose="02010600030101010101" pitchFamily="2" charset="-122"/>
                        </a:rPr>
                        <a:t> </a:t>
                      </a:r>
                      <a:r>
                        <a:rPr lang="en-US" sz="1200" kern="100" dirty="0" err="1">
                          <a:effectLst/>
                          <a:latin typeface="宋体" panose="02010600030101010101" pitchFamily="2" charset="-122"/>
                          <a:ea typeface="宋体" panose="02010600030101010101" pitchFamily="2" charset="-122"/>
                        </a:rPr>
                        <a:t>db</a:t>
                      </a:r>
                      <a:r>
                        <a:rPr lang="en-US" sz="1200" kern="100" dirty="0">
                          <a:effectLst/>
                          <a:latin typeface="宋体" panose="02010600030101010101" pitchFamily="2" charset="-122"/>
                          <a:ea typeface="宋体" panose="02010600030101010101" pitchFamily="2" charset="-122"/>
                        </a:rPr>
                        <a:t> 256 dup (24h)</a:t>
                      </a:r>
                      <a:endParaRPr lang="zh-CN" sz="1200" kern="100" dirty="0">
                        <a:effectLst/>
                        <a:latin typeface="Times New Roman" panose="02020603050405020304" pitchFamily="18" charset="0"/>
                        <a:ea typeface="宋体" panose="02010600030101010101" pitchFamily="2" charset="-122"/>
                      </a:endParaRPr>
                    </a:p>
                    <a:p>
                      <a:pPr indent="228600" algn="just">
                        <a:lnSpc>
                          <a:spcPct val="100000"/>
                        </a:lnSpc>
                        <a:spcAft>
                          <a:spcPts val="0"/>
                        </a:spcAft>
                      </a:pPr>
                      <a:r>
                        <a:rPr lang="en-US" sz="1200" kern="100" dirty="0" err="1">
                          <a:effectLst/>
                          <a:latin typeface="宋体" panose="02010600030101010101" pitchFamily="2" charset="-122"/>
                          <a:ea typeface="宋体" panose="02010600030101010101" pitchFamily="2" charset="-122"/>
                        </a:rPr>
                        <a:t>t_buff_s</a:t>
                      </a:r>
                      <a:r>
                        <a:rPr lang="en-US" sz="1200" kern="100" dirty="0">
                          <a:effectLst/>
                          <a:latin typeface="宋体" panose="02010600030101010101" pitchFamily="2" charset="-122"/>
                          <a:ea typeface="宋体" panose="02010600030101010101" pitchFamily="2" charset="-122"/>
                        </a:rPr>
                        <a:t> </a:t>
                      </a:r>
                      <a:r>
                        <a:rPr lang="en-US" sz="1200" kern="100" dirty="0" err="1">
                          <a:effectLst/>
                          <a:latin typeface="宋体" panose="02010600030101010101" pitchFamily="2" charset="-122"/>
                          <a:ea typeface="宋体" panose="02010600030101010101" pitchFamily="2" charset="-122"/>
                        </a:rPr>
                        <a:t>db</a:t>
                      </a:r>
                      <a:r>
                        <a:rPr lang="en-US" sz="1200" kern="100" dirty="0">
                          <a:effectLst/>
                          <a:latin typeface="宋体" panose="02010600030101010101" pitchFamily="2" charset="-122"/>
                          <a:ea typeface="宋体" panose="02010600030101010101" pitchFamily="2" charset="-122"/>
                        </a:rPr>
                        <a:t> 256 dup (0)</a:t>
                      </a:r>
                      <a:endParaRPr lang="zh-CN" sz="1200" kern="100" dirty="0">
                        <a:effectLst/>
                        <a:latin typeface="Times New Roman" panose="02020603050405020304" pitchFamily="18" charset="0"/>
                        <a:ea typeface="宋体" panose="02010600030101010101" pitchFamily="2" charset="-122"/>
                      </a:endParaRPr>
                    </a:p>
                    <a:p>
                      <a:pPr algn="just">
                        <a:lnSpc>
                          <a:spcPct val="100000"/>
                        </a:lnSpc>
                        <a:spcAft>
                          <a:spcPts val="0"/>
                        </a:spcAft>
                      </a:pPr>
                      <a:r>
                        <a:rPr lang="en-US" sz="1200" kern="100" dirty="0">
                          <a:effectLst/>
                          <a:latin typeface="宋体" panose="02010600030101010101" pitchFamily="2" charset="-122"/>
                          <a:ea typeface="宋体" panose="02010600030101010101" pitchFamily="2" charset="-122"/>
                        </a:rPr>
                        <a:t>data ends</a:t>
                      </a:r>
                      <a:endParaRPr lang="zh-CN" sz="1200" kern="100" dirty="0">
                        <a:effectLst/>
                        <a:latin typeface="Times New Roman" panose="02020603050405020304" pitchFamily="18" charset="0"/>
                        <a:ea typeface="宋体" panose="02010600030101010101" pitchFamily="2" charset="-122"/>
                      </a:endParaRPr>
                    </a:p>
                    <a:p>
                      <a:pPr algn="just">
                        <a:lnSpc>
                          <a:spcPct val="100000"/>
                        </a:lnSpc>
                        <a:spcAft>
                          <a:spcPts val="0"/>
                        </a:spcAft>
                      </a:pPr>
                      <a:r>
                        <a:rPr lang="en-US" sz="1200" kern="100" dirty="0">
                          <a:effectLst/>
                          <a:latin typeface="宋体" panose="02010600030101010101" pitchFamily="2" charset="-122"/>
                          <a:ea typeface="宋体" panose="02010600030101010101" pitchFamily="2" charset="-122"/>
                        </a:rPr>
                        <a:t>code segment                              ;</a:t>
                      </a:r>
                      <a:r>
                        <a:rPr lang="zh-CN" sz="1200" kern="100" dirty="0">
                          <a:effectLst/>
                          <a:latin typeface="Times New Roman" panose="02020603050405020304" pitchFamily="18" charset="0"/>
                          <a:ea typeface="宋体" panose="02010600030101010101" pitchFamily="2" charset="-122"/>
                        </a:rPr>
                        <a:t>代码段开始</a:t>
                      </a:r>
                    </a:p>
                    <a:p>
                      <a:pPr algn="just">
                        <a:lnSpc>
                          <a:spcPct val="100000"/>
                        </a:lnSpc>
                        <a:spcAft>
                          <a:spcPts val="0"/>
                        </a:spcAft>
                      </a:pPr>
                      <a:r>
                        <a:rPr lang="en-US" sz="1200" kern="100" dirty="0">
                          <a:effectLst/>
                          <a:latin typeface="宋体" panose="02010600030101010101" pitchFamily="2" charset="-122"/>
                          <a:ea typeface="宋体" panose="02010600030101010101" pitchFamily="2" charset="-122"/>
                        </a:rPr>
                        <a:t>start: </a:t>
                      </a:r>
                      <a:r>
                        <a:rPr lang="en-US" sz="1200" kern="100" dirty="0" err="1">
                          <a:effectLst/>
                          <a:latin typeface="宋体" panose="02010600030101010101" pitchFamily="2" charset="-122"/>
                          <a:ea typeface="宋体" panose="02010600030101010101" pitchFamily="2" charset="-122"/>
                        </a:rPr>
                        <a:t>mov</a:t>
                      </a:r>
                      <a:r>
                        <a:rPr lang="en-US" sz="1200" kern="100" dirty="0">
                          <a:effectLst/>
                          <a:latin typeface="宋体" panose="02010600030101010101" pitchFamily="2" charset="-122"/>
                          <a:ea typeface="宋体" panose="02010600030101010101" pitchFamily="2" charset="-122"/>
                        </a:rPr>
                        <a:t> </a:t>
                      </a:r>
                      <a:r>
                        <a:rPr lang="en-US" sz="1200" kern="100" dirty="0" err="1">
                          <a:effectLst/>
                          <a:latin typeface="宋体" panose="02010600030101010101" pitchFamily="2" charset="-122"/>
                          <a:ea typeface="宋体" panose="02010600030101010101" pitchFamily="2" charset="-122"/>
                        </a:rPr>
                        <a:t>ax,extended</a:t>
                      </a:r>
                      <a:r>
                        <a:rPr lang="en-US" sz="1200" kern="100" dirty="0">
                          <a:effectLst/>
                          <a:latin typeface="宋体" panose="02010600030101010101" pitchFamily="2" charset="-122"/>
                          <a:ea typeface="宋体" panose="02010600030101010101" pitchFamily="2" charset="-122"/>
                        </a:rPr>
                        <a:t>:                   ;</a:t>
                      </a:r>
                      <a:r>
                        <a:rPr lang="zh-CN" sz="1200" kern="100" dirty="0">
                          <a:effectLst/>
                          <a:latin typeface="Times New Roman" panose="02020603050405020304" pitchFamily="18" charset="0"/>
                          <a:ea typeface="宋体" panose="02010600030101010101" pitchFamily="2" charset="-122"/>
                        </a:rPr>
                        <a:t>定义程序入口</a:t>
                      </a:r>
                    </a:p>
                    <a:p>
                      <a:pPr indent="228600" algn="just">
                        <a:lnSpc>
                          <a:spcPct val="100000"/>
                        </a:lnSpc>
                        <a:spcAft>
                          <a:spcPts val="0"/>
                        </a:spcAft>
                      </a:pPr>
                      <a:r>
                        <a:rPr lang="en-US" sz="1200" kern="100" dirty="0" err="1">
                          <a:effectLst/>
                          <a:latin typeface="宋体" panose="02010600030101010101" pitchFamily="2" charset="-122"/>
                          <a:ea typeface="宋体" panose="02010600030101010101" pitchFamily="2" charset="-122"/>
                        </a:rPr>
                        <a:t>mov</a:t>
                      </a:r>
                      <a:r>
                        <a:rPr lang="en-US" sz="1200" kern="100" dirty="0">
                          <a:effectLst/>
                          <a:latin typeface="宋体" panose="02010600030101010101" pitchFamily="2" charset="-122"/>
                          <a:ea typeface="宋体" panose="02010600030101010101" pitchFamily="2" charset="-122"/>
                        </a:rPr>
                        <a:t> </a:t>
                      </a:r>
                      <a:r>
                        <a:rPr lang="en-US" sz="1200" kern="100" dirty="0" err="1">
                          <a:effectLst/>
                          <a:latin typeface="宋体" panose="02010600030101010101" pitchFamily="2" charset="-122"/>
                          <a:ea typeface="宋体" panose="02010600030101010101" pitchFamily="2" charset="-122"/>
                        </a:rPr>
                        <a:t>es,ax</a:t>
                      </a:r>
                      <a:r>
                        <a:rPr lang="en-US" sz="1200" kern="100" dirty="0">
                          <a:effectLst/>
                          <a:latin typeface="宋体" panose="02010600030101010101" pitchFamily="2" charset="-122"/>
                          <a:ea typeface="宋体" panose="02010600030101010101" pitchFamily="2" charset="-122"/>
                        </a:rPr>
                        <a:t>                             ;</a:t>
                      </a:r>
                      <a:r>
                        <a:rPr lang="zh-CN" sz="1200" kern="100" dirty="0">
                          <a:effectLst/>
                          <a:latin typeface="Times New Roman" panose="02020603050405020304" pitchFamily="18" charset="0"/>
                          <a:ea typeface="宋体" panose="02010600030101010101" pitchFamily="2" charset="-122"/>
                        </a:rPr>
                        <a:t>接下来的</a:t>
                      </a:r>
                      <a:r>
                        <a:rPr lang="en-US" sz="1200" kern="100" dirty="0" err="1">
                          <a:effectLst/>
                          <a:latin typeface="Times New Roman" panose="02020603050405020304" pitchFamily="18" charset="0"/>
                          <a:ea typeface="宋体" panose="02010600030101010101" pitchFamily="2" charset="-122"/>
                        </a:rPr>
                        <a:t>mov</a:t>
                      </a:r>
                      <a:r>
                        <a:rPr lang="zh-CN" sz="1200" kern="100" dirty="0">
                          <a:effectLst/>
                          <a:latin typeface="Times New Roman" panose="02020603050405020304" pitchFamily="18" charset="0"/>
                          <a:ea typeface="宋体" panose="02010600030101010101" pitchFamily="2" charset="-122"/>
                        </a:rPr>
                        <a:t>指令为各个段寄存器赋值</a:t>
                      </a:r>
                    </a:p>
                    <a:p>
                      <a:pPr indent="228600" algn="just">
                        <a:lnSpc>
                          <a:spcPct val="100000"/>
                        </a:lnSpc>
                        <a:spcAft>
                          <a:spcPts val="0"/>
                        </a:spcAft>
                      </a:pPr>
                      <a:r>
                        <a:rPr lang="en-US" sz="1200" kern="100" dirty="0" err="1">
                          <a:effectLst/>
                          <a:latin typeface="宋体" panose="02010600030101010101" pitchFamily="2" charset="-122"/>
                          <a:ea typeface="宋体" panose="02010600030101010101" pitchFamily="2" charset="-122"/>
                        </a:rPr>
                        <a:t>mov</a:t>
                      </a:r>
                      <a:r>
                        <a:rPr lang="en-US" sz="1200" kern="100" dirty="0">
                          <a:effectLst/>
                          <a:latin typeface="宋体" panose="02010600030101010101" pitchFamily="2" charset="-122"/>
                          <a:ea typeface="宋体" panose="02010600030101010101" pitchFamily="2" charset="-122"/>
                        </a:rPr>
                        <a:t> </a:t>
                      </a:r>
                      <a:r>
                        <a:rPr lang="en-US" sz="1200" kern="100" dirty="0" err="1">
                          <a:effectLst/>
                          <a:latin typeface="宋体" panose="02010600030101010101" pitchFamily="2" charset="-122"/>
                          <a:ea typeface="宋体" panose="02010600030101010101" pitchFamily="2" charset="-122"/>
                        </a:rPr>
                        <a:t>ax,stack</a:t>
                      </a:r>
                      <a:endParaRPr lang="zh-CN" sz="1200" kern="100" dirty="0">
                        <a:effectLst/>
                        <a:latin typeface="Times New Roman" panose="02020603050405020304" pitchFamily="18" charset="0"/>
                        <a:ea typeface="宋体" panose="02010600030101010101" pitchFamily="2" charset="-122"/>
                      </a:endParaRPr>
                    </a:p>
                    <a:p>
                      <a:pPr indent="228600" algn="just">
                        <a:lnSpc>
                          <a:spcPct val="100000"/>
                        </a:lnSpc>
                        <a:spcAft>
                          <a:spcPts val="0"/>
                        </a:spcAft>
                      </a:pPr>
                      <a:r>
                        <a:rPr lang="en-US" sz="1200" kern="100" dirty="0" err="1">
                          <a:effectLst/>
                          <a:latin typeface="宋体" panose="02010600030101010101" pitchFamily="2" charset="-122"/>
                          <a:ea typeface="宋体" panose="02010600030101010101" pitchFamily="2" charset="-122"/>
                        </a:rPr>
                        <a:t>mov</a:t>
                      </a:r>
                      <a:r>
                        <a:rPr lang="en-US" sz="1200" kern="100" dirty="0">
                          <a:effectLst/>
                          <a:latin typeface="宋体" panose="02010600030101010101" pitchFamily="2" charset="-122"/>
                          <a:ea typeface="宋体" panose="02010600030101010101" pitchFamily="2" charset="-122"/>
                        </a:rPr>
                        <a:t> </a:t>
                      </a:r>
                      <a:r>
                        <a:rPr lang="en-US" sz="1200" kern="100" dirty="0" err="1">
                          <a:effectLst/>
                          <a:latin typeface="宋体" panose="02010600030101010101" pitchFamily="2" charset="-122"/>
                          <a:ea typeface="宋体" panose="02010600030101010101" pitchFamily="2" charset="-122"/>
                        </a:rPr>
                        <a:t>ss,ax</a:t>
                      </a:r>
                      <a:endParaRPr lang="zh-CN" sz="1200" kern="100" dirty="0">
                        <a:effectLst/>
                        <a:latin typeface="Times New Roman" panose="02020603050405020304" pitchFamily="18" charset="0"/>
                        <a:ea typeface="宋体" panose="02010600030101010101" pitchFamily="2" charset="-122"/>
                      </a:endParaRPr>
                    </a:p>
                    <a:p>
                      <a:pPr indent="228600" algn="just">
                        <a:lnSpc>
                          <a:spcPct val="100000"/>
                        </a:lnSpc>
                        <a:spcAft>
                          <a:spcPts val="0"/>
                        </a:spcAft>
                      </a:pPr>
                      <a:r>
                        <a:rPr lang="en-US" sz="1200" kern="100" dirty="0" err="1">
                          <a:effectLst/>
                          <a:latin typeface="宋体" panose="02010600030101010101" pitchFamily="2" charset="-122"/>
                          <a:ea typeface="宋体" panose="02010600030101010101" pitchFamily="2" charset="-122"/>
                        </a:rPr>
                        <a:t>mov</a:t>
                      </a:r>
                      <a:r>
                        <a:rPr lang="en-US" sz="1200" kern="100" dirty="0">
                          <a:effectLst/>
                          <a:latin typeface="宋体" panose="02010600030101010101" pitchFamily="2" charset="-122"/>
                          <a:ea typeface="宋体" panose="02010600030101010101" pitchFamily="2" charset="-122"/>
                        </a:rPr>
                        <a:t> sp,1024</a:t>
                      </a:r>
                      <a:endParaRPr lang="zh-CN" sz="1200" kern="100" dirty="0">
                        <a:effectLst/>
                        <a:latin typeface="Times New Roman" panose="02020603050405020304" pitchFamily="18" charset="0"/>
                        <a:ea typeface="宋体" panose="02010600030101010101" pitchFamily="2" charset="-122"/>
                      </a:endParaRPr>
                    </a:p>
                    <a:p>
                      <a:pPr indent="228600" algn="just">
                        <a:lnSpc>
                          <a:spcPct val="100000"/>
                        </a:lnSpc>
                        <a:spcAft>
                          <a:spcPts val="0"/>
                        </a:spcAft>
                      </a:pPr>
                      <a:r>
                        <a:rPr lang="en-US" sz="1200" kern="100" dirty="0" err="1">
                          <a:effectLst/>
                          <a:latin typeface="宋体" panose="02010600030101010101" pitchFamily="2" charset="-122"/>
                          <a:ea typeface="宋体" panose="02010600030101010101" pitchFamily="2" charset="-122"/>
                        </a:rPr>
                        <a:t>mov</a:t>
                      </a:r>
                      <a:r>
                        <a:rPr lang="en-US" sz="1200" kern="100" dirty="0">
                          <a:effectLst/>
                          <a:latin typeface="宋体" panose="02010600030101010101" pitchFamily="2" charset="-122"/>
                          <a:ea typeface="宋体" panose="02010600030101010101" pitchFamily="2" charset="-122"/>
                        </a:rPr>
                        <a:t> </a:t>
                      </a:r>
                      <a:r>
                        <a:rPr lang="en-US" sz="1200" kern="100" dirty="0" err="1">
                          <a:effectLst/>
                          <a:latin typeface="宋体" panose="02010600030101010101" pitchFamily="2" charset="-122"/>
                          <a:ea typeface="宋体" panose="02010600030101010101" pitchFamily="2" charset="-122"/>
                        </a:rPr>
                        <a:t>bp,sp</a:t>
                      </a:r>
                      <a:endParaRPr lang="zh-CN" sz="1200" kern="100" dirty="0">
                        <a:effectLst/>
                        <a:latin typeface="Times New Roman" panose="02020603050405020304" pitchFamily="18" charset="0"/>
                        <a:ea typeface="宋体" panose="02010600030101010101" pitchFamily="2" charset="-122"/>
                      </a:endParaRPr>
                    </a:p>
                    <a:p>
                      <a:pPr indent="228600" algn="just">
                        <a:lnSpc>
                          <a:spcPct val="100000"/>
                        </a:lnSpc>
                        <a:spcAft>
                          <a:spcPts val="0"/>
                        </a:spcAft>
                      </a:pPr>
                      <a:r>
                        <a:rPr lang="en-US" sz="1200" kern="100" dirty="0" err="1">
                          <a:effectLst/>
                          <a:latin typeface="宋体" panose="02010600030101010101" pitchFamily="2" charset="-122"/>
                          <a:ea typeface="宋体" panose="02010600030101010101" pitchFamily="2" charset="-122"/>
                        </a:rPr>
                        <a:t>mov</a:t>
                      </a:r>
                      <a:r>
                        <a:rPr lang="en-US" sz="1200" kern="100" dirty="0">
                          <a:effectLst/>
                          <a:latin typeface="宋体" panose="02010600030101010101" pitchFamily="2" charset="-122"/>
                          <a:ea typeface="宋体" panose="02010600030101010101" pitchFamily="2" charset="-122"/>
                        </a:rPr>
                        <a:t> </a:t>
                      </a:r>
                      <a:r>
                        <a:rPr lang="en-US" sz="1200" kern="100" dirty="0" err="1">
                          <a:effectLst/>
                          <a:latin typeface="宋体" panose="02010600030101010101" pitchFamily="2" charset="-122"/>
                          <a:ea typeface="宋体" panose="02010600030101010101" pitchFamily="2" charset="-122"/>
                        </a:rPr>
                        <a:t>ax,data</a:t>
                      </a:r>
                      <a:endParaRPr lang="zh-CN" sz="1200" kern="100" dirty="0">
                        <a:effectLst/>
                        <a:latin typeface="Times New Roman" panose="02020603050405020304" pitchFamily="18" charset="0"/>
                        <a:ea typeface="宋体" panose="02010600030101010101" pitchFamily="2" charset="-122"/>
                      </a:endParaRPr>
                    </a:p>
                    <a:p>
                      <a:pPr indent="228600" algn="just">
                        <a:lnSpc>
                          <a:spcPct val="100000"/>
                        </a:lnSpc>
                        <a:spcAft>
                          <a:spcPts val="0"/>
                        </a:spcAft>
                      </a:pPr>
                      <a:r>
                        <a:rPr lang="en-US" sz="1200" kern="100" dirty="0" err="1">
                          <a:effectLst/>
                          <a:latin typeface="宋体" panose="02010600030101010101" pitchFamily="2" charset="-122"/>
                          <a:ea typeface="宋体" panose="02010600030101010101" pitchFamily="2" charset="-122"/>
                        </a:rPr>
                        <a:t>mov</a:t>
                      </a:r>
                      <a:r>
                        <a:rPr lang="en-US" sz="1200" kern="100" dirty="0">
                          <a:effectLst/>
                          <a:latin typeface="宋体" panose="02010600030101010101" pitchFamily="2" charset="-122"/>
                          <a:ea typeface="宋体" panose="02010600030101010101" pitchFamily="2" charset="-122"/>
                        </a:rPr>
                        <a:t> </a:t>
                      </a:r>
                      <a:r>
                        <a:rPr lang="en-US" sz="1200" kern="100" dirty="0" err="1">
                          <a:effectLst/>
                          <a:latin typeface="宋体" panose="02010600030101010101" pitchFamily="2" charset="-122"/>
                          <a:ea typeface="宋体" panose="02010600030101010101" pitchFamily="2" charset="-122"/>
                        </a:rPr>
                        <a:t>ds,ax</a:t>
                      </a:r>
                      <a:endParaRPr lang="zh-CN" sz="1200" kern="100" dirty="0">
                        <a:effectLst/>
                        <a:latin typeface="Times New Roman" panose="02020603050405020304" pitchFamily="18" charset="0"/>
                        <a:ea typeface="宋体" panose="02010600030101010101" pitchFamily="2" charset="-122"/>
                      </a:endParaRPr>
                    </a:p>
                  </a:txBody>
                  <a:tcPr marL="68358" marR="68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2123288936"/>
              </p:ext>
            </p:extLst>
          </p:nvPr>
        </p:nvGraphicFramePr>
        <p:xfrm>
          <a:off x="2843809" y="4011910"/>
          <a:ext cx="6120680" cy="216024"/>
        </p:xfrm>
        <a:graphic>
          <a:graphicData uri="http://schemas.openxmlformats.org/drawingml/2006/table">
            <a:tbl>
              <a:tblPr firstRow="1" firstCol="1" bandRow="1"/>
              <a:tblGrid>
                <a:gridCol w="6120680">
                  <a:extLst>
                    <a:ext uri="{9D8B030D-6E8A-4147-A177-3AD203B41FA5}">
                      <a16:colId xmlns:a16="http://schemas.microsoft.com/office/drawing/2014/main" val="20000"/>
                    </a:ext>
                  </a:extLst>
                </a:gridCol>
              </a:tblGrid>
              <a:tr h="216024">
                <a:tc>
                  <a:txBody>
                    <a:bodyPr/>
                    <a:lstStyle/>
                    <a:p>
                      <a:pPr indent="201930" algn="just">
                        <a:lnSpc>
                          <a:spcPct val="100000"/>
                        </a:lnSpc>
                        <a:spcAft>
                          <a:spcPts val="0"/>
                        </a:spcAft>
                      </a:pPr>
                      <a:r>
                        <a:rPr lang="en-US" sz="1200" b="1" kern="100" dirty="0">
                          <a:solidFill>
                            <a:srgbClr val="FF0000"/>
                          </a:solidFill>
                          <a:effectLst/>
                          <a:latin typeface="宋体" panose="02010600030101010101" pitchFamily="2" charset="-122"/>
                          <a:ea typeface="宋体" panose="02010600030101010101" pitchFamily="2" charset="-122"/>
                        </a:rPr>
                        <a:t>……                                 </a:t>
                      </a:r>
                      <a:r>
                        <a:rPr lang="en-US" altLang="zh-CN" sz="1200" b="1" kern="100" dirty="0">
                          <a:solidFill>
                            <a:srgbClr val="FF0000"/>
                          </a:solidFill>
                          <a:effectLst/>
                          <a:latin typeface="宋体" panose="02010600030101010101" pitchFamily="2" charset="-122"/>
                          <a:ea typeface="宋体" panose="02010600030101010101" pitchFamily="2" charset="-122"/>
                        </a:rPr>
                        <a:t>//</a:t>
                      </a:r>
                      <a:r>
                        <a:rPr lang="zh-CN" altLang="en-US" sz="1200" b="1" kern="100" dirty="0">
                          <a:solidFill>
                            <a:srgbClr val="FF0000"/>
                          </a:solidFill>
                          <a:effectLst/>
                          <a:latin typeface="宋体" panose="02010600030101010101" pitchFamily="2" charset="-122"/>
                          <a:ea typeface="宋体" panose="02010600030101010101" pitchFamily="2" charset="-122"/>
                        </a:rPr>
                        <a:t>主程序中的汇编代码就插入到这个地方</a:t>
                      </a:r>
                      <a:endParaRPr lang="zh-CN" sz="1200" kern="100" dirty="0">
                        <a:solidFill>
                          <a:srgbClr val="FF0000"/>
                        </a:solidFill>
                        <a:effectLst/>
                        <a:latin typeface="Times New Roman" panose="02020603050405020304" pitchFamily="18" charset="0"/>
                        <a:ea typeface="宋体" panose="02010600030101010101" pitchFamily="2" charset="-122"/>
                      </a:endParaRPr>
                    </a:p>
                  </a:txBody>
                  <a:tcPr marL="68358" marR="68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3979899116"/>
              </p:ext>
            </p:extLst>
          </p:nvPr>
        </p:nvGraphicFramePr>
        <p:xfrm>
          <a:off x="2843809" y="4248017"/>
          <a:ext cx="6120680" cy="914400"/>
        </p:xfrm>
        <a:graphic>
          <a:graphicData uri="http://schemas.openxmlformats.org/drawingml/2006/table">
            <a:tbl>
              <a:tblPr firstRow="1" firstCol="1" bandRow="1"/>
              <a:tblGrid>
                <a:gridCol w="6120680">
                  <a:extLst>
                    <a:ext uri="{9D8B030D-6E8A-4147-A177-3AD203B41FA5}">
                      <a16:colId xmlns:a16="http://schemas.microsoft.com/office/drawing/2014/main" val="20000"/>
                    </a:ext>
                  </a:extLst>
                </a:gridCol>
              </a:tblGrid>
              <a:tr h="844013">
                <a:tc>
                  <a:txBody>
                    <a:bodyPr/>
                    <a:lstStyle/>
                    <a:p>
                      <a:pPr algn="just">
                        <a:lnSpc>
                          <a:spcPct val="100000"/>
                        </a:lnSpc>
                        <a:spcAft>
                          <a:spcPts val="0"/>
                        </a:spcAft>
                      </a:pPr>
                      <a:r>
                        <a:rPr lang="en-US" sz="1200" kern="100" dirty="0">
                          <a:effectLst/>
                          <a:latin typeface="宋体" panose="02010600030101010101" pitchFamily="2" charset="-122"/>
                          <a:ea typeface="宋体" panose="02010600030101010101" pitchFamily="2" charset="-122"/>
                        </a:rPr>
                        <a:t>quit: </a:t>
                      </a:r>
                      <a:r>
                        <a:rPr lang="en-US" sz="1200" kern="100" dirty="0" err="1">
                          <a:effectLst/>
                          <a:latin typeface="宋体" panose="02010600030101010101" pitchFamily="2" charset="-122"/>
                          <a:ea typeface="宋体" panose="02010600030101010101" pitchFamily="2" charset="-122"/>
                        </a:rPr>
                        <a:t>mov</a:t>
                      </a:r>
                      <a:r>
                        <a:rPr lang="en-US" sz="1200" kern="100" dirty="0">
                          <a:effectLst/>
                          <a:latin typeface="宋体" panose="02010600030101010101" pitchFamily="2" charset="-122"/>
                          <a:ea typeface="宋体" panose="02010600030101010101" pitchFamily="2" charset="-122"/>
                        </a:rPr>
                        <a:t> ah,4ch</a:t>
                      </a:r>
                      <a:endParaRPr lang="zh-CN" sz="1200" kern="100" dirty="0">
                        <a:effectLst/>
                        <a:latin typeface="Times New Roman" panose="02020603050405020304" pitchFamily="18" charset="0"/>
                        <a:ea typeface="宋体" panose="02010600030101010101" pitchFamily="2" charset="-122"/>
                      </a:endParaRPr>
                    </a:p>
                    <a:p>
                      <a:pPr indent="228600" algn="just">
                        <a:lnSpc>
                          <a:spcPct val="100000"/>
                        </a:lnSpc>
                        <a:spcAft>
                          <a:spcPts val="0"/>
                        </a:spcAft>
                      </a:pPr>
                      <a:r>
                        <a:rPr lang="en-US" sz="1200" kern="100" dirty="0">
                          <a:effectLst/>
                          <a:latin typeface="宋体" panose="02010600030101010101" pitchFamily="2" charset="-122"/>
                          <a:ea typeface="宋体" panose="02010600030101010101" pitchFamily="2" charset="-122"/>
                        </a:rPr>
                        <a:t>INT 21H                               ; </a:t>
                      </a:r>
                      <a:r>
                        <a:rPr lang="zh-CN" sz="1200" kern="100" dirty="0">
                          <a:effectLst/>
                          <a:latin typeface="Times New Roman" panose="02020603050405020304" pitchFamily="18" charset="0"/>
                          <a:ea typeface="宋体" panose="02010600030101010101" pitchFamily="2" charset="-122"/>
                        </a:rPr>
                        <a:t>程序返回操作系统控制，恢复寄存器等</a:t>
                      </a:r>
                      <a:endParaRPr lang="en-US" altLang="zh-CN" sz="1200" kern="100" dirty="0">
                        <a:effectLst/>
                        <a:latin typeface="Times New Roman" panose="02020603050405020304" pitchFamily="18" charset="0"/>
                        <a:ea typeface="宋体" panose="02010600030101010101" pitchFamily="2" charset="-122"/>
                      </a:endParaRPr>
                    </a:p>
                    <a:p>
                      <a:pPr indent="228600" algn="just">
                        <a:lnSpc>
                          <a:spcPct val="100000"/>
                        </a:lnSpc>
                        <a:spcAft>
                          <a:spcPts val="0"/>
                        </a:spcAft>
                      </a:pPr>
                      <a:r>
                        <a:rPr lang="en-US" altLang="zh-CN" sz="1200" kern="100" dirty="0">
                          <a:effectLst/>
                          <a:latin typeface="Times New Roman" panose="02020603050405020304" pitchFamily="18" charset="0"/>
                          <a:ea typeface="宋体" panose="02010600030101010101" pitchFamily="2" charset="-122"/>
                        </a:rPr>
                        <a:t>                             </a:t>
                      </a:r>
                      <a:r>
                        <a:rPr lang="zh-CN" altLang="en-US" sz="1200" kern="100" dirty="0">
                          <a:effectLst/>
                          <a:latin typeface="Times New Roman" panose="02020603050405020304" pitchFamily="18" charset="0"/>
                          <a:ea typeface="宋体" panose="02010600030101010101" pitchFamily="2" charset="-122"/>
                        </a:rPr>
                        <a:t>；如果有函数应该加到这个地方</a:t>
                      </a:r>
                      <a:endParaRPr lang="zh-CN" sz="1200" kern="100" dirty="0">
                        <a:effectLst/>
                        <a:latin typeface="Times New Roman" panose="02020603050405020304" pitchFamily="18" charset="0"/>
                        <a:ea typeface="宋体" panose="02010600030101010101" pitchFamily="2" charset="-122"/>
                      </a:endParaRPr>
                    </a:p>
                    <a:p>
                      <a:pPr algn="just">
                        <a:lnSpc>
                          <a:spcPct val="100000"/>
                        </a:lnSpc>
                        <a:spcAft>
                          <a:spcPts val="0"/>
                        </a:spcAft>
                      </a:pPr>
                      <a:r>
                        <a:rPr lang="en-US" sz="1200" kern="100" dirty="0">
                          <a:effectLst/>
                          <a:latin typeface="宋体" panose="02010600030101010101" pitchFamily="2" charset="-122"/>
                          <a:ea typeface="宋体" panose="02010600030101010101" pitchFamily="2" charset="-122"/>
                        </a:rPr>
                        <a:t>code ends                                 ;</a:t>
                      </a:r>
                      <a:r>
                        <a:rPr lang="zh-CN" sz="1200" kern="100" dirty="0">
                          <a:effectLst/>
                          <a:latin typeface="Times New Roman" panose="02020603050405020304" pitchFamily="18" charset="0"/>
                          <a:ea typeface="宋体" panose="02010600030101010101" pitchFamily="2" charset="-122"/>
                        </a:rPr>
                        <a:t>代码段结束</a:t>
                      </a:r>
                    </a:p>
                    <a:p>
                      <a:pPr algn="just">
                        <a:lnSpc>
                          <a:spcPct val="100000"/>
                        </a:lnSpc>
                        <a:spcAft>
                          <a:spcPts val="0"/>
                        </a:spcAft>
                      </a:pPr>
                      <a:r>
                        <a:rPr lang="en-US" sz="1200" kern="100" dirty="0">
                          <a:effectLst/>
                          <a:latin typeface="宋体" panose="02010600030101010101" pitchFamily="2" charset="-122"/>
                          <a:ea typeface="宋体" panose="02010600030101010101" pitchFamily="2" charset="-122"/>
                        </a:rPr>
                        <a:t>end start                                 ;</a:t>
                      </a:r>
                      <a:r>
                        <a:rPr lang="zh-CN" sz="1200" kern="100" dirty="0">
                          <a:effectLst/>
                          <a:latin typeface="Times New Roman" panose="02020603050405020304" pitchFamily="18" charset="0"/>
                          <a:ea typeface="宋体" panose="02010600030101010101" pitchFamily="2" charset="-122"/>
                        </a:rPr>
                        <a:t>程序执行结束，对应于程序入口</a:t>
                      </a:r>
                      <a:r>
                        <a:rPr lang="en-US" sz="1200" kern="100" dirty="0">
                          <a:effectLst/>
                          <a:latin typeface="Times New Roman" panose="02020603050405020304" pitchFamily="18" charset="0"/>
                          <a:ea typeface="宋体" panose="02010600030101010101" pitchFamily="2" charset="-122"/>
                        </a:rPr>
                        <a:t>start</a:t>
                      </a:r>
                      <a:endParaRPr lang="zh-CN" sz="1200" kern="100" dirty="0">
                        <a:effectLst/>
                        <a:latin typeface="Times New Roman" panose="02020603050405020304" pitchFamily="18" charset="0"/>
                        <a:ea typeface="宋体" panose="02010600030101010101" pitchFamily="2" charset="-122"/>
                      </a:endParaRPr>
                    </a:p>
                  </a:txBody>
                  <a:tcPr marL="68358" marR="68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bl>
          </a:graphicData>
        </a:graphic>
      </p:graphicFrame>
      <p:sp>
        <p:nvSpPr>
          <p:cNvPr id="8" name="矩形 7"/>
          <p:cNvSpPr/>
          <p:nvPr/>
        </p:nvSpPr>
        <p:spPr>
          <a:xfrm>
            <a:off x="227137" y="2202418"/>
            <a:ext cx="1915909" cy="369332"/>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lgn="just">
              <a:spcAft>
                <a:spcPts val="0"/>
              </a:spcAft>
            </a:pP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main</a:t>
            </a:r>
            <a:r>
              <a:rPr lang="zh-CN" altLang="zh-CN" kern="100" dirty="0">
                <a:latin typeface="Times New Roman" panose="02020603050405020304" pitchFamily="18" charset="0"/>
                <a:ea typeface="宋体" panose="02010600030101010101" pitchFamily="2" charset="-122"/>
              </a:rPr>
              <a:t>，， ， ）</a:t>
            </a:r>
          </a:p>
        </p:txBody>
      </p:sp>
      <p:sp>
        <p:nvSpPr>
          <p:cNvPr id="9" name="矩形 8"/>
          <p:cNvSpPr/>
          <p:nvPr/>
        </p:nvSpPr>
        <p:spPr>
          <a:xfrm>
            <a:off x="334876" y="4515966"/>
            <a:ext cx="1749197" cy="369332"/>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lgn="just">
              <a:spcAft>
                <a:spcPts val="0"/>
              </a:spcAft>
            </a:pP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sys</a:t>
            </a:r>
            <a:r>
              <a:rPr lang="zh-CN" altLang="zh-CN" kern="100" dirty="0">
                <a:latin typeface="Times New Roman" panose="02020603050405020304" pitchFamily="18" charset="0"/>
                <a:ea typeface="宋体" panose="02010600030101010101" pitchFamily="2" charset="-122"/>
              </a:rPr>
              <a:t>，， ， ）</a:t>
            </a:r>
          </a:p>
        </p:txBody>
      </p:sp>
      <p:sp>
        <p:nvSpPr>
          <p:cNvPr id="10" name="右箭头 9"/>
          <p:cNvSpPr/>
          <p:nvPr/>
        </p:nvSpPr>
        <p:spPr>
          <a:xfrm>
            <a:off x="2194342" y="2305784"/>
            <a:ext cx="625083" cy="184666"/>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1" name="右箭头 10"/>
          <p:cNvSpPr/>
          <p:nvPr/>
        </p:nvSpPr>
        <p:spPr>
          <a:xfrm>
            <a:off x="2135369" y="4549681"/>
            <a:ext cx="682668" cy="150951"/>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pic>
        <p:nvPicPr>
          <p:cNvPr id="2" name="图片 1">
            <a:extLst>
              <a:ext uri="{FF2B5EF4-FFF2-40B4-BE49-F238E27FC236}">
                <a16:creationId xmlns:a16="http://schemas.microsoft.com/office/drawing/2014/main" id="{20E6E0AA-CAD9-49A8-8164-46E5D87E0374}"/>
              </a:ext>
            </a:extLst>
          </p:cNvPr>
          <p:cNvPicPr>
            <a:picLocks noChangeAspect="1"/>
          </p:cNvPicPr>
          <p:nvPr/>
        </p:nvPicPr>
        <p:blipFill rotWithShape="1">
          <a:blip r:embed="rId2"/>
          <a:srcRect l="42965" t="-5719"/>
          <a:stretch/>
        </p:blipFill>
        <p:spPr>
          <a:xfrm>
            <a:off x="3491880" y="4562711"/>
            <a:ext cx="573546" cy="286408"/>
          </a:xfrm>
          <a:prstGeom prst="rect">
            <a:avLst/>
          </a:prstGeom>
        </p:spPr>
      </p:pic>
    </p:spTree>
    <p:extLst>
      <p:ext uri="{BB962C8B-B14F-4D97-AF65-F5344CB8AC3E}">
        <p14:creationId xmlns:p14="http://schemas.microsoft.com/office/powerpoint/2010/main" val="28581944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560" y="1990818"/>
            <a:ext cx="7688323" cy="1323439"/>
          </a:xfrm>
          <a:prstGeom prst="rect">
            <a:avLst/>
          </a:prstGeom>
        </p:spPr>
        <p:txBody>
          <a:bodyPr wrap="none">
            <a:spAutoFit/>
          </a:bodyPr>
          <a:lstStyle/>
          <a:p>
            <a:r>
              <a:rPr lang="en-US" altLang="zh-CN" sz="4400" b="1" dirty="0">
                <a:solidFill>
                  <a:srgbClr val="CC0099"/>
                </a:solidFill>
                <a:ea typeface="隶书" pitchFamily="49" charset="-122"/>
              </a:rPr>
              <a:t>4</a:t>
            </a:r>
            <a:r>
              <a:rPr lang="zh-CN" altLang="en-US" sz="4400" b="1" dirty="0">
                <a:solidFill>
                  <a:srgbClr val="CC0099"/>
                </a:solidFill>
                <a:ea typeface="隶书" pitchFamily="49" charset="-122"/>
              </a:rPr>
              <a:t>、基本块的代码生成</a:t>
            </a:r>
            <a:endParaRPr lang="en-US" altLang="zh-CN" sz="4400" b="1" dirty="0">
              <a:solidFill>
                <a:srgbClr val="CC0099"/>
              </a:solidFill>
              <a:ea typeface="隶书" pitchFamily="49" charset="-122"/>
            </a:endParaRPr>
          </a:p>
          <a:p>
            <a:r>
              <a:rPr lang="en-US" altLang="zh-CN" sz="3600" b="1" dirty="0">
                <a:solidFill>
                  <a:srgbClr val="CC0099"/>
                </a:solidFill>
                <a:ea typeface="隶书" pitchFamily="49" charset="-122"/>
              </a:rPr>
              <a:t>       ——</a:t>
            </a:r>
            <a:r>
              <a:rPr lang="zh-CN" altLang="en-US" sz="3600" b="1" dirty="0">
                <a:solidFill>
                  <a:srgbClr val="CC0099"/>
                </a:solidFill>
                <a:ea typeface="隶书" pitchFamily="49" charset="-122"/>
              </a:rPr>
              <a:t>变量的引用信息和活跃信息</a:t>
            </a:r>
          </a:p>
        </p:txBody>
      </p:sp>
    </p:spTree>
    <p:extLst>
      <p:ext uri="{BB962C8B-B14F-4D97-AF65-F5344CB8AC3E}">
        <p14:creationId xmlns:p14="http://schemas.microsoft.com/office/powerpoint/2010/main" val="190037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内容占位符 2"/>
          <p:cNvSpPr>
            <a:spLocks noGrp="1"/>
          </p:cNvSpPr>
          <p:nvPr>
            <p:ph idx="1"/>
          </p:nvPr>
        </p:nvSpPr>
        <p:spPr>
          <a:xfrm>
            <a:off x="755576" y="915566"/>
            <a:ext cx="7632848" cy="3600400"/>
          </a:xfrm>
          <a:solidFill>
            <a:schemeClr val="bg1"/>
          </a:solidFill>
        </p:spPr>
        <p:txBody>
          <a:bodyPr>
            <a:noAutofit/>
          </a:bodyPr>
          <a:lstStyle/>
          <a:p>
            <a:pPr marL="342900" indent="-342900">
              <a:lnSpc>
                <a:spcPct val="120000"/>
              </a:lnSpc>
              <a:spcBef>
                <a:spcPts val="0"/>
              </a:spcBef>
              <a:defRPr/>
            </a:pPr>
            <a:r>
              <a:rPr lang="zh-CN" altLang="zh-CN" sz="2000" dirty="0"/>
              <a:t>为了使生成的代码更加高效，</a:t>
            </a:r>
            <a:r>
              <a:rPr lang="zh-CN" altLang="en-US" sz="2000" dirty="0"/>
              <a:t>必须</a:t>
            </a:r>
            <a:r>
              <a:rPr lang="zh-CN" altLang="zh-CN" sz="2000" dirty="0"/>
              <a:t>考虑如何充分利用寄存器</a:t>
            </a:r>
            <a:endParaRPr lang="en-US" altLang="zh-CN" sz="2000" dirty="0"/>
          </a:p>
          <a:p>
            <a:pPr marL="342900" indent="-342900">
              <a:lnSpc>
                <a:spcPct val="120000"/>
              </a:lnSpc>
              <a:spcBef>
                <a:spcPts val="0"/>
              </a:spcBef>
              <a:defRPr/>
            </a:pPr>
            <a:r>
              <a:rPr lang="zh-CN" altLang="en-US" sz="2000" dirty="0"/>
              <a:t>假定以</a:t>
            </a:r>
            <a:r>
              <a:rPr lang="zh-CN" altLang="zh-CN" sz="2000" dirty="0"/>
              <a:t>基本块</a:t>
            </a:r>
            <a:r>
              <a:rPr lang="zh-CN" altLang="en-US" sz="2000" dirty="0"/>
              <a:t>为单位。好处：</a:t>
            </a:r>
            <a:r>
              <a:rPr lang="zh-CN" altLang="zh-CN" sz="2000" dirty="0"/>
              <a:t>各个基本块都可以独立考虑寄存器的分配和使用</a:t>
            </a:r>
            <a:endParaRPr lang="en-US" altLang="zh-CN" sz="2000" dirty="0"/>
          </a:p>
          <a:p>
            <a:pPr marL="342900" indent="-342900">
              <a:lnSpc>
                <a:spcPct val="120000"/>
              </a:lnSpc>
              <a:spcBef>
                <a:spcPts val="0"/>
              </a:spcBef>
              <a:defRPr/>
            </a:pPr>
            <a:r>
              <a:rPr lang="zh-CN" altLang="en-US" sz="2000" dirty="0"/>
              <a:t>进入基本块时，所有寄存器都可用；退出基本块之前，要把所有在寄存器中的、以后还会使用的变量保存到内存中</a:t>
            </a:r>
            <a:endParaRPr lang="en-US" altLang="zh-CN" sz="2000" dirty="0"/>
          </a:p>
          <a:p>
            <a:pPr marL="342900" lvl="1" indent="-342900">
              <a:lnSpc>
                <a:spcPct val="120000"/>
              </a:lnSpc>
              <a:spcBef>
                <a:spcPts val="0"/>
              </a:spcBef>
              <a:buSzPct val="68000"/>
              <a:buFont typeface="Wingdings 3"/>
              <a:buChar char=""/>
              <a:defRPr/>
            </a:pPr>
            <a:r>
              <a:rPr lang="zh-CN" altLang="en-US" sz="2000" dirty="0"/>
              <a:t>只要</a:t>
            </a:r>
            <a:r>
              <a:rPr lang="zh-CN" altLang="zh-CN" sz="2000" dirty="0"/>
              <a:t>操作数尽可能地保存在寄存器中，充分利用寄存器进行运算，总指令数和访问内存指令数都可以减少</a:t>
            </a:r>
            <a:r>
              <a:rPr lang="zh-CN" altLang="en-US" sz="2000" dirty="0"/>
              <a:t>，达到了优化的目标</a:t>
            </a:r>
            <a:endParaRPr lang="en-US" altLang="zh-CN" sz="2000" dirty="0"/>
          </a:p>
        </p:txBody>
      </p:sp>
      <p:sp>
        <p:nvSpPr>
          <p:cNvPr id="34819" name="标题 1"/>
          <p:cNvSpPr>
            <a:spLocks noGrp="1"/>
          </p:cNvSpPr>
          <p:nvPr>
            <p:ph type="title"/>
          </p:nvPr>
        </p:nvSpPr>
        <p:spPr>
          <a:xfrm>
            <a:off x="107504" y="0"/>
            <a:ext cx="7772400" cy="771550"/>
          </a:xfrm>
        </p:spPr>
        <p:txBody>
          <a:bodyPr>
            <a:normAutofit/>
          </a:bodyPr>
          <a:lstStyle/>
          <a:p>
            <a:pPr eaLnBrk="1" hangingPunct="1"/>
            <a:r>
              <a:rPr lang="zh-CN" altLang="zh-CN" sz="3200" b="1" dirty="0">
                <a:solidFill>
                  <a:srgbClr val="CC0099"/>
                </a:solidFill>
                <a:ea typeface="隶书" pitchFamily="49" charset="-122"/>
              </a:rPr>
              <a:t>基本块的代码生成</a:t>
            </a:r>
            <a:r>
              <a:rPr lang="zh-CN" altLang="en-US" sz="3200" b="1" dirty="0">
                <a:solidFill>
                  <a:srgbClr val="CC0099"/>
                </a:solidFill>
                <a:ea typeface="隶书" pitchFamily="49" charset="-122"/>
              </a:rPr>
              <a:t>器</a:t>
            </a:r>
          </a:p>
        </p:txBody>
      </p:sp>
    </p:spTree>
    <p:extLst>
      <p:ext uri="{BB962C8B-B14F-4D97-AF65-F5344CB8AC3E}">
        <p14:creationId xmlns:p14="http://schemas.microsoft.com/office/powerpoint/2010/main" val="35894064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内容占位符 2"/>
          <p:cNvSpPr>
            <a:spLocks noGrp="1"/>
          </p:cNvSpPr>
          <p:nvPr>
            <p:ph idx="1"/>
          </p:nvPr>
        </p:nvSpPr>
        <p:spPr>
          <a:xfrm>
            <a:off x="755576" y="843558"/>
            <a:ext cx="8134350" cy="3312368"/>
          </a:xfrm>
          <a:solidFill>
            <a:schemeClr val="bg1"/>
          </a:solidFill>
        </p:spPr>
        <p:txBody>
          <a:bodyPr>
            <a:noAutofit/>
          </a:bodyPr>
          <a:lstStyle/>
          <a:p>
            <a:pPr marL="342900" indent="-342900">
              <a:lnSpc>
                <a:spcPct val="120000"/>
              </a:lnSpc>
              <a:spcBef>
                <a:spcPts val="0"/>
              </a:spcBef>
              <a:defRPr/>
            </a:pPr>
            <a:r>
              <a:rPr lang="zh-CN" altLang="en-US" sz="2000" dirty="0"/>
              <a:t>主要从</a:t>
            </a:r>
            <a:r>
              <a:rPr lang="zh-CN" altLang="zh-CN" sz="2000" dirty="0"/>
              <a:t>以下三个方面</a:t>
            </a:r>
            <a:r>
              <a:rPr lang="zh-CN" altLang="en-US" sz="2000" dirty="0"/>
              <a:t>来考虑</a:t>
            </a:r>
            <a:r>
              <a:rPr lang="zh-CN" altLang="zh-CN" sz="2000" dirty="0"/>
              <a:t>：</a:t>
            </a:r>
            <a:endParaRPr lang="en-US" altLang="zh-CN" sz="2000" dirty="0"/>
          </a:p>
          <a:p>
            <a:pPr marL="342900" indent="-342900">
              <a:lnSpc>
                <a:spcPct val="120000"/>
              </a:lnSpc>
              <a:spcBef>
                <a:spcPts val="0"/>
              </a:spcBef>
              <a:defRPr/>
            </a:pPr>
            <a:r>
              <a:rPr lang="zh-CN" altLang="zh-CN" sz="2000" dirty="0"/>
              <a:t>（</a:t>
            </a:r>
            <a:r>
              <a:rPr lang="en-US" altLang="zh-CN" sz="2000" dirty="0"/>
              <a:t>1</a:t>
            </a:r>
            <a:r>
              <a:rPr lang="zh-CN" altLang="zh-CN" sz="2000" dirty="0"/>
              <a:t>）</a:t>
            </a:r>
            <a:r>
              <a:rPr lang="zh-CN" altLang="zh-CN" sz="2000" dirty="0">
                <a:solidFill>
                  <a:srgbClr val="FF0000"/>
                </a:solidFill>
              </a:rPr>
              <a:t>尽可能留</a:t>
            </a:r>
            <a:r>
              <a:rPr lang="zh-CN" altLang="en-US" sz="2000" dirty="0"/>
              <a:t>：</a:t>
            </a:r>
            <a:r>
              <a:rPr lang="zh-CN" altLang="zh-CN" sz="2000" dirty="0"/>
              <a:t>在生成计算某变量值的目标代码时，尽可能将后面还要使用的变量保存在寄存器中；</a:t>
            </a:r>
            <a:endParaRPr lang="en-US" altLang="zh-CN" sz="2000" dirty="0"/>
          </a:p>
          <a:p>
            <a:pPr marL="342900" indent="-342900">
              <a:lnSpc>
                <a:spcPct val="120000"/>
              </a:lnSpc>
              <a:spcBef>
                <a:spcPts val="0"/>
              </a:spcBef>
              <a:defRPr/>
            </a:pPr>
            <a:r>
              <a:rPr lang="zh-CN" altLang="zh-CN" sz="2000" dirty="0"/>
              <a:t>（</a:t>
            </a:r>
            <a:r>
              <a:rPr lang="en-US" altLang="zh-CN" sz="2000" dirty="0"/>
              <a:t>2</a:t>
            </a:r>
            <a:r>
              <a:rPr lang="zh-CN" altLang="zh-CN" sz="2000" dirty="0"/>
              <a:t>）</a:t>
            </a:r>
            <a:r>
              <a:rPr lang="zh-CN" altLang="zh-CN" sz="2000" dirty="0">
                <a:solidFill>
                  <a:srgbClr val="FF0000"/>
                </a:solidFill>
              </a:rPr>
              <a:t>尽可能用</a:t>
            </a:r>
            <a:r>
              <a:rPr lang="zh-CN" altLang="en-US" sz="2000" dirty="0"/>
              <a:t>：</a:t>
            </a:r>
            <a:r>
              <a:rPr lang="zh-CN" altLang="zh-CN" sz="2000" dirty="0"/>
              <a:t>后续的目标代码尽可能引用变量在寄存器中的值，而不是访问内存</a:t>
            </a:r>
            <a:endParaRPr lang="en-US" altLang="zh-CN" sz="2000" dirty="0"/>
          </a:p>
          <a:p>
            <a:pPr marL="342900" indent="-342900">
              <a:lnSpc>
                <a:spcPct val="120000"/>
              </a:lnSpc>
              <a:spcBef>
                <a:spcPts val="0"/>
              </a:spcBef>
              <a:defRPr/>
            </a:pPr>
            <a:r>
              <a:rPr lang="zh-CN" altLang="zh-CN" sz="2000" dirty="0"/>
              <a:t>（</a:t>
            </a:r>
            <a:r>
              <a:rPr lang="en-US" altLang="zh-CN" sz="2000" dirty="0"/>
              <a:t>3</a:t>
            </a:r>
            <a:r>
              <a:rPr lang="zh-CN" altLang="zh-CN" sz="2000" dirty="0"/>
              <a:t>）</a:t>
            </a:r>
            <a:r>
              <a:rPr lang="zh-CN" altLang="zh-CN" sz="2000" dirty="0">
                <a:solidFill>
                  <a:srgbClr val="FF0000"/>
                </a:solidFill>
              </a:rPr>
              <a:t>及时腾空</a:t>
            </a:r>
            <a:r>
              <a:rPr lang="zh-CN" altLang="en-US" sz="2000" dirty="0"/>
              <a:t>：</a:t>
            </a:r>
            <a:r>
              <a:rPr lang="zh-CN" altLang="zh-CN" sz="2000" dirty="0"/>
              <a:t>在离开某个基本块时，尽可能把不再使用的变量所占用的寄存器及时释放掉，把寄存器中的</a:t>
            </a:r>
            <a:r>
              <a:rPr lang="zh-CN" altLang="en-US" sz="2000" dirty="0"/>
              <a:t>、后面还会引用的信息</a:t>
            </a:r>
            <a:r>
              <a:rPr lang="zh-CN" altLang="zh-CN" sz="2000" dirty="0"/>
              <a:t>写入到</a:t>
            </a:r>
            <a:r>
              <a:rPr lang="zh-CN" altLang="en-US" sz="2000" dirty="0"/>
              <a:t>内</a:t>
            </a:r>
            <a:r>
              <a:rPr lang="zh-CN" altLang="zh-CN" sz="2000" dirty="0"/>
              <a:t>存中</a:t>
            </a:r>
          </a:p>
        </p:txBody>
      </p:sp>
      <p:sp>
        <p:nvSpPr>
          <p:cNvPr id="34819" name="标题 1"/>
          <p:cNvSpPr>
            <a:spLocks noGrp="1"/>
          </p:cNvSpPr>
          <p:nvPr>
            <p:ph type="title"/>
          </p:nvPr>
        </p:nvSpPr>
        <p:spPr>
          <a:xfrm>
            <a:off x="107504" y="0"/>
            <a:ext cx="7772400" cy="771550"/>
          </a:xfrm>
        </p:spPr>
        <p:txBody>
          <a:bodyPr>
            <a:normAutofit/>
          </a:bodyPr>
          <a:lstStyle/>
          <a:p>
            <a:r>
              <a:rPr lang="zh-CN" altLang="zh-CN" sz="3200" dirty="0">
                <a:solidFill>
                  <a:srgbClr val="CC0099"/>
                </a:solidFill>
              </a:rPr>
              <a:t>基本块的代码生成</a:t>
            </a:r>
            <a:r>
              <a:rPr lang="zh-CN" altLang="en-US" sz="3200" dirty="0">
                <a:solidFill>
                  <a:srgbClr val="CC0099"/>
                </a:solidFill>
              </a:rPr>
              <a:t>器</a:t>
            </a:r>
            <a:endParaRPr lang="zh-CN" altLang="en-US" sz="3200" b="1" dirty="0">
              <a:solidFill>
                <a:srgbClr val="CC0099"/>
              </a:solidFill>
              <a:ea typeface="隶书" pitchFamily="49" charset="-122"/>
            </a:endParaRPr>
          </a:p>
        </p:txBody>
      </p:sp>
    </p:spTree>
    <p:extLst>
      <p:ext uri="{BB962C8B-B14F-4D97-AF65-F5344CB8AC3E}">
        <p14:creationId xmlns:p14="http://schemas.microsoft.com/office/powerpoint/2010/main" val="13865892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内容占位符 2"/>
          <p:cNvSpPr>
            <a:spLocks noGrp="1"/>
          </p:cNvSpPr>
          <p:nvPr>
            <p:ph idx="1"/>
          </p:nvPr>
        </p:nvSpPr>
        <p:spPr>
          <a:xfrm>
            <a:off x="755576" y="843558"/>
            <a:ext cx="7560840" cy="3312368"/>
          </a:xfrm>
          <a:solidFill>
            <a:schemeClr val="bg1"/>
          </a:solidFill>
        </p:spPr>
        <p:txBody>
          <a:bodyPr>
            <a:noAutofit/>
          </a:bodyPr>
          <a:lstStyle/>
          <a:p>
            <a:pPr marL="342900" indent="-342900">
              <a:lnSpc>
                <a:spcPct val="120000"/>
              </a:lnSpc>
              <a:spcBef>
                <a:spcPts val="0"/>
              </a:spcBef>
              <a:defRPr/>
            </a:pPr>
            <a:r>
              <a:rPr lang="zh-CN" altLang="en-US" sz="2000" dirty="0"/>
              <a:t>在</a:t>
            </a:r>
            <a:r>
              <a:rPr lang="zh-CN" altLang="zh-CN" sz="2000" dirty="0"/>
              <a:t>翻译每个四元式时，必须知道</a:t>
            </a:r>
            <a:r>
              <a:rPr lang="zh-CN" altLang="zh-CN" sz="2000" dirty="0">
                <a:solidFill>
                  <a:srgbClr val="FF0000"/>
                </a:solidFill>
              </a:rPr>
              <a:t>每个变量在将来会不会被使用，</a:t>
            </a:r>
            <a:r>
              <a:rPr lang="zh-CN" altLang="en-US" sz="2000" dirty="0">
                <a:solidFill>
                  <a:srgbClr val="FF0000"/>
                </a:solidFill>
              </a:rPr>
              <a:t>在哪些语句中使用</a:t>
            </a:r>
            <a:r>
              <a:rPr lang="zh-CN" altLang="zh-CN" sz="2000" dirty="0">
                <a:solidFill>
                  <a:srgbClr val="FF0000"/>
                </a:solidFill>
              </a:rPr>
              <a:t>，这个变量在基本块外是否还有用</a:t>
            </a:r>
            <a:r>
              <a:rPr lang="zh-CN" altLang="en-US" sz="2000" dirty="0"/>
              <a:t>。</a:t>
            </a:r>
            <a:endParaRPr lang="en-US" altLang="zh-CN" sz="2000" dirty="0"/>
          </a:p>
          <a:p>
            <a:pPr marL="342900" indent="-342900">
              <a:lnSpc>
                <a:spcPct val="120000"/>
              </a:lnSpc>
              <a:spcBef>
                <a:spcPts val="0"/>
              </a:spcBef>
              <a:defRPr/>
            </a:pPr>
            <a:r>
              <a:rPr lang="zh-CN" altLang="zh-CN" sz="2000" dirty="0"/>
              <a:t>引入基本块内各个变量的引用信息和活跃信息</a:t>
            </a:r>
            <a:r>
              <a:rPr lang="zh-CN" altLang="en-US" sz="2000" dirty="0"/>
              <a:t>，为优化寻找机会：</a:t>
            </a:r>
            <a:endParaRPr lang="en-US" altLang="zh-CN" sz="2000" dirty="0"/>
          </a:p>
          <a:p>
            <a:pPr marL="598932" lvl="1" indent="-342900">
              <a:lnSpc>
                <a:spcPct val="120000"/>
              </a:lnSpc>
              <a:spcBef>
                <a:spcPts val="0"/>
              </a:spcBef>
              <a:defRPr/>
            </a:pPr>
            <a:r>
              <a:rPr lang="zh-CN" altLang="en-US" sz="2000" dirty="0"/>
              <a:t>下次</a:t>
            </a:r>
            <a:r>
              <a:rPr lang="zh-CN" altLang="en-US" sz="2000" dirty="0">
                <a:solidFill>
                  <a:srgbClr val="FF0000"/>
                </a:solidFill>
              </a:rPr>
              <a:t>不再引用</a:t>
            </a:r>
            <a:r>
              <a:rPr lang="zh-CN" altLang="en-US" sz="2000" dirty="0"/>
              <a:t>意味着放在寄存器是一种浪费</a:t>
            </a:r>
            <a:endParaRPr lang="en-US" altLang="zh-CN" sz="2000" dirty="0"/>
          </a:p>
          <a:p>
            <a:pPr marL="598932" lvl="1" indent="-342900">
              <a:lnSpc>
                <a:spcPct val="120000"/>
              </a:lnSpc>
              <a:spcBef>
                <a:spcPts val="0"/>
              </a:spcBef>
              <a:defRPr/>
            </a:pPr>
            <a:r>
              <a:rPr lang="zh-CN" altLang="en-US" sz="2000" dirty="0"/>
              <a:t>在什么位置是</a:t>
            </a:r>
            <a:r>
              <a:rPr lang="zh-CN" altLang="en-US" sz="2000" dirty="0">
                <a:solidFill>
                  <a:srgbClr val="FF0000"/>
                </a:solidFill>
              </a:rPr>
              <a:t>活跃</a:t>
            </a:r>
            <a:r>
              <a:rPr lang="zh-CN" altLang="en-US" sz="2000" dirty="0"/>
              <a:t>的，意味着在那个位置装入寄存器对提高访问速度是最有效的</a:t>
            </a:r>
            <a:endParaRPr lang="en-US" altLang="zh-CN" sz="2000" dirty="0"/>
          </a:p>
          <a:p>
            <a:pPr marL="342900" indent="-342900">
              <a:lnSpc>
                <a:spcPct val="120000"/>
              </a:lnSpc>
              <a:spcBef>
                <a:spcPts val="0"/>
              </a:spcBef>
              <a:defRPr/>
            </a:pPr>
            <a:endParaRPr lang="en-US" altLang="zh-CN" sz="2000" dirty="0"/>
          </a:p>
          <a:p>
            <a:pPr marL="495300" indent="-495300">
              <a:lnSpc>
                <a:spcPct val="90000"/>
              </a:lnSpc>
            </a:pPr>
            <a:endParaRPr lang="zh-CN" altLang="en-US" sz="2000" dirty="0"/>
          </a:p>
        </p:txBody>
      </p:sp>
      <p:sp>
        <p:nvSpPr>
          <p:cNvPr id="34819" name="标题 1"/>
          <p:cNvSpPr>
            <a:spLocks noGrp="1"/>
          </p:cNvSpPr>
          <p:nvPr>
            <p:ph type="title"/>
          </p:nvPr>
        </p:nvSpPr>
        <p:spPr>
          <a:xfrm>
            <a:off x="107504" y="0"/>
            <a:ext cx="7772400" cy="771550"/>
          </a:xfrm>
        </p:spPr>
        <p:txBody>
          <a:bodyPr>
            <a:normAutofit/>
          </a:bodyPr>
          <a:lstStyle/>
          <a:p>
            <a:r>
              <a:rPr lang="zh-CN" altLang="en-US" sz="3200" dirty="0">
                <a:solidFill>
                  <a:srgbClr val="CC0099"/>
                </a:solidFill>
              </a:rPr>
              <a:t>变量的引用信息和活跃信息</a:t>
            </a:r>
            <a:endParaRPr lang="zh-CN" altLang="en-US" sz="3200" b="1" dirty="0">
              <a:solidFill>
                <a:srgbClr val="CC0099"/>
              </a:solidFill>
              <a:ea typeface="隶书" pitchFamily="49" charset="-122"/>
            </a:endParaRPr>
          </a:p>
        </p:txBody>
      </p:sp>
    </p:spTree>
    <p:extLst>
      <p:ext uri="{BB962C8B-B14F-4D97-AF65-F5344CB8AC3E}">
        <p14:creationId xmlns:p14="http://schemas.microsoft.com/office/powerpoint/2010/main" val="12013857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内容占位符 2"/>
          <p:cNvSpPr>
            <a:spLocks noGrp="1"/>
          </p:cNvSpPr>
          <p:nvPr>
            <p:ph idx="1"/>
          </p:nvPr>
        </p:nvSpPr>
        <p:spPr>
          <a:xfrm>
            <a:off x="489422" y="555526"/>
            <a:ext cx="8256488" cy="1289020"/>
          </a:xfrm>
          <a:solidFill>
            <a:schemeClr val="bg1"/>
          </a:solidFill>
        </p:spPr>
        <p:txBody>
          <a:bodyPr>
            <a:noAutofit/>
          </a:bodyPr>
          <a:lstStyle/>
          <a:p>
            <a:pPr marL="342900" indent="-342900">
              <a:lnSpc>
                <a:spcPct val="120000"/>
              </a:lnSpc>
              <a:spcBef>
                <a:spcPts val="0"/>
              </a:spcBef>
              <a:defRPr/>
            </a:pPr>
            <a:r>
              <a:rPr lang="zh-CN" altLang="en-US" sz="2000" dirty="0"/>
              <a:t>回顾：</a:t>
            </a:r>
            <a:r>
              <a:rPr lang="zh-CN" altLang="zh-CN" sz="2000" dirty="0"/>
              <a:t>在一个基本块中，第</a:t>
            </a:r>
            <a:r>
              <a:rPr lang="en-US" altLang="zh-CN" sz="2000" dirty="0" err="1"/>
              <a:t>i</a:t>
            </a:r>
            <a:r>
              <a:rPr lang="zh-CN" altLang="zh-CN" sz="2000" dirty="0"/>
              <a:t>条中间代码对</a:t>
            </a:r>
            <a:r>
              <a:rPr lang="en-US" altLang="zh-CN" sz="2000" dirty="0"/>
              <a:t>A</a:t>
            </a:r>
            <a:r>
              <a:rPr lang="zh-CN" altLang="zh-CN" sz="2000" dirty="0">
                <a:solidFill>
                  <a:srgbClr val="FF0000"/>
                </a:solidFill>
              </a:rPr>
              <a:t>定值</a:t>
            </a:r>
            <a:r>
              <a:rPr lang="zh-CN" altLang="zh-CN" sz="2000" dirty="0"/>
              <a:t>，第</a:t>
            </a:r>
            <a:r>
              <a:rPr lang="en-US" altLang="zh-CN" sz="2000" dirty="0"/>
              <a:t>j</a:t>
            </a:r>
            <a:r>
              <a:rPr lang="zh-CN" altLang="zh-CN" sz="2000" dirty="0"/>
              <a:t>条中间代码</a:t>
            </a:r>
            <a:r>
              <a:rPr lang="zh-CN" altLang="zh-CN" sz="2000" dirty="0">
                <a:solidFill>
                  <a:srgbClr val="FF0000"/>
                </a:solidFill>
              </a:rPr>
              <a:t>引用</a:t>
            </a:r>
            <a:r>
              <a:rPr lang="en-US" altLang="zh-CN" sz="2000" dirty="0"/>
              <a:t>A</a:t>
            </a:r>
            <a:r>
              <a:rPr lang="zh-CN" altLang="zh-CN" sz="2000" dirty="0"/>
              <a:t>的值，从</a:t>
            </a:r>
            <a:r>
              <a:rPr lang="en-US" altLang="zh-CN" sz="2000" dirty="0" err="1"/>
              <a:t>i</a:t>
            </a:r>
            <a:r>
              <a:rPr lang="zh-CN" altLang="zh-CN" sz="2000" dirty="0"/>
              <a:t>到</a:t>
            </a:r>
            <a:r>
              <a:rPr lang="en-US" altLang="zh-CN" sz="2000" dirty="0"/>
              <a:t>j</a:t>
            </a:r>
            <a:r>
              <a:rPr lang="zh-CN" altLang="zh-CN" sz="2000" dirty="0"/>
              <a:t>之间的代码没有</a:t>
            </a:r>
            <a:r>
              <a:rPr lang="en-US" altLang="zh-CN" sz="2000" dirty="0"/>
              <a:t>A</a:t>
            </a:r>
            <a:r>
              <a:rPr lang="zh-CN" altLang="zh-CN" sz="2000" dirty="0"/>
              <a:t>的其他定值，即</a:t>
            </a:r>
            <a:r>
              <a:rPr lang="en-US" altLang="zh-CN" sz="2000" dirty="0"/>
              <a:t>j</a:t>
            </a:r>
            <a:r>
              <a:rPr lang="zh-CN" altLang="zh-CN" sz="2000" dirty="0"/>
              <a:t>引用了</a:t>
            </a:r>
            <a:r>
              <a:rPr lang="en-US" altLang="zh-CN" sz="2000" dirty="0" err="1"/>
              <a:t>i</a:t>
            </a:r>
            <a:r>
              <a:rPr lang="zh-CN" altLang="zh-CN" sz="2000" dirty="0"/>
              <a:t>对</a:t>
            </a:r>
            <a:r>
              <a:rPr lang="en-US" altLang="zh-CN" sz="2000" dirty="0"/>
              <a:t>A</a:t>
            </a:r>
            <a:r>
              <a:rPr lang="zh-CN" altLang="zh-CN" sz="2000" dirty="0"/>
              <a:t>的定值，则称变量</a:t>
            </a:r>
            <a:r>
              <a:rPr lang="en-US" altLang="zh-CN" sz="2000" dirty="0"/>
              <a:t>A</a:t>
            </a:r>
            <a:r>
              <a:rPr lang="zh-CN" altLang="zh-CN" sz="2000" dirty="0"/>
              <a:t>在</a:t>
            </a:r>
            <a:r>
              <a:rPr lang="en-US" altLang="zh-CN" sz="2000" dirty="0" err="1"/>
              <a:t>i</a:t>
            </a:r>
            <a:r>
              <a:rPr lang="zh-CN" altLang="zh-CN" sz="2000" dirty="0"/>
              <a:t>处是</a:t>
            </a:r>
            <a:r>
              <a:rPr lang="zh-CN" altLang="zh-CN" sz="2000" dirty="0">
                <a:solidFill>
                  <a:srgbClr val="FF0000"/>
                </a:solidFill>
              </a:rPr>
              <a:t>活跃</a:t>
            </a:r>
            <a:r>
              <a:rPr lang="zh-CN" altLang="zh-CN" sz="2000" dirty="0"/>
              <a:t>的，</a:t>
            </a:r>
            <a:r>
              <a:rPr lang="en-US" altLang="zh-CN" sz="2000" dirty="0"/>
              <a:t>j</a:t>
            </a:r>
            <a:r>
              <a:rPr lang="zh-CN" altLang="zh-CN" sz="2000" dirty="0"/>
              <a:t>是</a:t>
            </a:r>
            <a:r>
              <a:rPr lang="en-US" altLang="zh-CN" sz="2000" dirty="0"/>
              <a:t>A</a:t>
            </a:r>
            <a:r>
              <a:rPr lang="zh-CN" altLang="zh-CN" sz="2000" dirty="0"/>
              <a:t>的引用信息。</a:t>
            </a:r>
            <a:endParaRPr lang="zh-CN" altLang="en-US" sz="2600" dirty="0"/>
          </a:p>
        </p:txBody>
      </p:sp>
      <p:sp>
        <p:nvSpPr>
          <p:cNvPr id="34819" name="标题 1"/>
          <p:cNvSpPr>
            <a:spLocks noGrp="1"/>
          </p:cNvSpPr>
          <p:nvPr>
            <p:ph type="title"/>
          </p:nvPr>
        </p:nvSpPr>
        <p:spPr>
          <a:xfrm>
            <a:off x="179512" y="4978"/>
            <a:ext cx="7484368" cy="550548"/>
          </a:xfrm>
        </p:spPr>
        <p:txBody>
          <a:bodyPr>
            <a:noAutofit/>
          </a:bodyPr>
          <a:lstStyle/>
          <a:p>
            <a:pPr eaLnBrk="1" hangingPunct="1"/>
            <a:r>
              <a:rPr lang="zh-CN" altLang="en-US" sz="3200" dirty="0">
                <a:solidFill>
                  <a:srgbClr val="CC0099"/>
                </a:solidFill>
              </a:rPr>
              <a:t>变量</a:t>
            </a:r>
            <a:r>
              <a:rPr lang="en-US" altLang="zh-CN" sz="3200" dirty="0">
                <a:solidFill>
                  <a:srgbClr val="CC0099"/>
                </a:solidFill>
              </a:rPr>
              <a:t>A</a:t>
            </a:r>
            <a:r>
              <a:rPr lang="zh-CN" altLang="en-US" sz="3200" dirty="0">
                <a:solidFill>
                  <a:srgbClr val="CC0099"/>
                </a:solidFill>
              </a:rPr>
              <a:t>的</a:t>
            </a:r>
            <a:r>
              <a:rPr lang="zh-CN" altLang="en-US" sz="3200" b="1" dirty="0">
                <a:solidFill>
                  <a:srgbClr val="CC0099"/>
                </a:solidFill>
                <a:ea typeface="隶书" pitchFamily="49" charset="-122"/>
              </a:rPr>
              <a:t>引用信息和活跃信息</a:t>
            </a:r>
          </a:p>
        </p:txBody>
      </p:sp>
      <p:sp>
        <p:nvSpPr>
          <p:cNvPr id="2" name="矩形 1"/>
          <p:cNvSpPr/>
          <p:nvPr/>
        </p:nvSpPr>
        <p:spPr>
          <a:xfrm>
            <a:off x="6084168" y="1916127"/>
            <a:ext cx="2520280" cy="101566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000" dirty="0"/>
              <a:t>i: </a:t>
            </a:r>
            <a:r>
              <a:rPr lang="zh-CN" altLang="zh-CN" sz="2000" dirty="0"/>
              <a:t>（</a:t>
            </a:r>
            <a:r>
              <a:rPr lang="en-US" altLang="zh-CN" sz="2000" dirty="0"/>
              <a:t>OP</a:t>
            </a:r>
            <a:r>
              <a:rPr lang="zh-CN" altLang="zh-CN" sz="2000" dirty="0"/>
              <a:t>，</a:t>
            </a:r>
            <a:r>
              <a:rPr lang="en-US" altLang="zh-CN" sz="2000" dirty="0"/>
              <a:t>B</a:t>
            </a:r>
            <a:r>
              <a:rPr lang="zh-CN" altLang="zh-CN" sz="2000" dirty="0"/>
              <a:t>，</a:t>
            </a:r>
            <a:r>
              <a:rPr lang="en-US" altLang="zh-CN" sz="2000" dirty="0"/>
              <a:t>C</a:t>
            </a:r>
            <a:r>
              <a:rPr lang="zh-CN" altLang="zh-CN" sz="2000" dirty="0"/>
              <a:t>，</a:t>
            </a:r>
            <a:r>
              <a:rPr lang="en-US" altLang="zh-CN" sz="2000" dirty="0"/>
              <a:t>A</a:t>
            </a:r>
            <a:r>
              <a:rPr lang="zh-CN" altLang="zh-CN" sz="2000" dirty="0"/>
              <a:t>）</a:t>
            </a:r>
          </a:p>
          <a:p>
            <a:r>
              <a:rPr lang="en-US" altLang="zh-CN" sz="2000" dirty="0"/>
              <a:t>……</a:t>
            </a:r>
            <a:endParaRPr lang="zh-CN" altLang="zh-CN" sz="2000" dirty="0"/>
          </a:p>
          <a:p>
            <a:r>
              <a:rPr lang="en-US" altLang="zh-CN" sz="2000" dirty="0"/>
              <a:t>j: </a:t>
            </a:r>
            <a:r>
              <a:rPr lang="zh-CN" altLang="zh-CN" sz="2000" dirty="0"/>
              <a:t>（</a:t>
            </a:r>
            <a:r>
              <a:rPr lang="en-US" altLang="zh-CN" sz="2000" dirty="0"/>
              <a:t>OP</a:t>
            </a:r>
            <a:r>
              <a:rPr lang="zh-CN" altLang="zh-CN" sz="2000" dirty="0"/>
              <a:t>，</a:t>
            </a:r>
            <a:r>
              <a:rPr lang="en-US" altLang="zh-CN" sz="2000" dirty="0"/>
              <a:t>A</a:t>
            </a:r>
            <a:r>
              <a:rPr lang="zh-CN" altLang="zh-CN" sz="2000" dirty="0"/>
              <a:t>，</a:t>
            </a:r>
            <a:r>
              <a:rPr lang="en-US" altLang="zh-CN" sz="2000" dirty="0"/>
              <a:t>D</a:t>
            </a:r>
            <a:r>
              <a:rPr lang="zh-CN" altLang="zh-CN" sz="2000" dirty="0"/>
              <a:t>，</a:t>
            </a:r>
            <a:r>
              <a:rPr lang="en-US" altLang="zh-CN" sz="2000" dirty="0"/>
              <a:t>E</a:t>
            </a:r>
            <a:r>
              <a:rPr lang="zh-CN" altLang="zh-CN" sz="2000" dirty="0"/>
              <a:t>）</a:t>
            </a:r>
            <a:endParaRPr lang="zh-CN" altLang="en-US" sz="2000" dirty="0"/>
          </a:p>
        </p:txBody>
      </p:sp>
      <p:sp>
        <p:nvSpPr>
          <p:cNvPr id="6" name="内容占位符 2"/>
          <p:cNvSpPr txBox="1">
            <a:spLocks/>
          </p:cNvSpPr>
          <p:nvPr/>
        </p:nvSpPr>
        <p:spPr>
          <a:xfrm>
            <a:off x="489422" y="1831344"/>
            <a:ext cx="5522738" cy="1476058"/>
          </a:xfrm>
          <a:prstGeom prst="rect">
            <a:avLst/>
          </a:prstGeom>
          <a:solidFill>
            <a:schemeClr val="bg1"/>
          </a:solidFill>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342900" indent="-342900">
              <a:lnSpc>
                <a:spcPct val="120000"/>
              </a:lnSpc>
              <a:spcBef>
                <a:spcPts val="0"/>
              </a:spcBef>
              <a:defRPr/>
            </a:pPr>
            <a:r>
              <a:rPr lang="zh-CN" altLang="zh-CN" sz="2000" dirty="0"/>
              <a:t>变量</a:t>
            </a:r>
            <a:r>
              <a:rPr lang="en-US" altLang="zh-CN" sz="2000" dirty="0"/>
              <a:t>A</a:t>
            </a:r>
            <a:r>
              <a:rPr lang="zh-CN" altLang="zh-CN" sz="2000" dirty="0"/>
              <a:t>的</a:t>
            </a:r>
            <a:r>
              <a:rPr lang="zh-CN" altLang="zh-CN" sz="2000" dirty="0">
                <a:solidFill>
                  <a:srgbClr val="FF0000"/>
                </a:solidFill>
              </a:rPr>
              <a:t>活跃信息</a:t>
            </a:r>
            <a:r>
              <a:rPr lang="zh-CN" altLang="en-US" sz="2000" dirty="0"/>
              <a:t>：用来</a:t>
            </a:r>
            <a:r>
              <a:rPr lang="zh-CN" altLang="zh-CN" sz="2000" dirty="0"/>
              <a:t>记录</a:t>
            </a:r>
            <a:r>
              <a:rPr lang="en-US" altLang="zh-CN" sz="2000" dirty="0"/>
              <a:t>A</a:t>
            </a:r>
            <a:r>
              <a:rPr lang="zh-CN" altLang="zh-CN" sz="2000" dirty="0"/>
              <a:t>在将来会</a:t>
            </a:r>
            <a:r>
              <a:rPr lang="zh-CN" altLang="zh-CN" sz="2000" dirty="0">
                <a:solidFill>
                  <a:srgbClr val="FF0000"/>
                </a:solidFill>
              </a:rPr>
              <a:t>被使用的情况</a:t>
            </a:r>
            <a:endParaRPr lang="en-US" altLang="zh-CN" sz="2000" dirty="0"/>
          </a:p>
          <a:p>
            <a:pPr marL="598932" lvl="1" indent="-342900">
              <a:lnSpc>
                <a:spcPct val="120000"/>
              </a:lnSpc>
              <a:spcBef>
                <a:spcPts val="0"/>
              </a:spcBef>
              <a:defRPr/>
            </a:pPr>
            <a:r>
              <a:rPr lang="zh-CN" altLang="zh-CN" sz="1800" dirty="0"/>
              <a:t>是“活跃的”表示将来会被使用</a:t>
            </a:r>
            <a:endParaRPr lang="en-US" altLang="zh-CN" sz="1800" dirty="0"/>
          </a:p>
          <a:p>
            <a:pPr marL="598932" lvl="1" indent="-342900">
              <a:lnSpc>
                <a:spcPct val="120000"/>
              </a:lnSpc>
              <a:spcBef>
                <a:spcPts val="0"/>
              </a:spcBef>
              <a:defRPr/>
            </a:pPr>
            <a:r>
              <a:rPr lang="zh-CN" altLang="zh-CN" sz="1800" dirty="0"/>
              <a:t>是“非活跃的”表示将来不会被使用</a:t>
            </a:r>
            <a:endParaRPr lang="en-US" altLang="zh-CN" sz="1800" dirty="0"/>
          </a:p>
        </p:txBody>
      </p:sp>
      <p:sp>
        <p:nvSpPr>
          <p:cNvPr id="4" name="矩形 3"/>
          <p:cNvSpPr/>
          <p:nvPr/>
        </p:nvSpPr>
        <p:spPr>
          <a:xfrm>
            <a:off x="6284582" y="4382794"/>
            <a:ext cx="2319866" cy="40011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2000" dirty="0"/>
              <a:t>A: </a:t>
            </a:r>
            <a:r>
              <a:rPr lang="zh-CN" altLang="zh-CN" sz="2000" dirty="0"/>
              <a:t>（引用，活跃）</a:t>
            </a:r>
            <a:endParaRPr lang="zh-CN" altLang="en-US" sz="2000" dirty="0"/>
          </a:p>
        </p:txBody>
      </p:sp>
      <p:sp>
        <p:nvSpPr>
          <p:cNvPr id="5" name="线形标注 1 4"/>
          <p:cNvSpPr/>
          <p:nvPr/>
        </p:nvSpPr>
        <p:spPr>
          <a:xfrm>
            <a:off x="6156176" y="3129295"/>
            <a:ext cx="2304256" cy="666591"/>
          </a:xfrm>
          <a:prstGeom prst="borderCallout1">
            <a:avLst>
              <a:gd name="adj1" fmla="val 93744"/>
              <a:gd name="adj2" fmla="val 27606"/>
              <a:gd name="adj3" fmla="val 182001"/>
              <a:gd name="adj4" fmla="val 42241"/>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dirty="0"/>
              <a:t>取值为四元式编号，或者为</a:t>
            </a:r>
            <a:r>
              <a:rPr lang="en-US" altLang="zh-CN" dirty="0"/>
              <a:t>N</a:t>
            </a:r>
            <a:r>
              <a:rPr lang="zh-CN" altLang="en-US" dirty="0"/>
              <a:t>表示未引用</a:t>
            </a:r>
          </a:p>
        </p:txBody>
      </p:sp>
      <p:sp>
        <p:nvSpPr>
          <p:cNvPr id="9" name="线形标注 1 8"/>
          <p:cNvSpPr/>
          <p:nvPr/>
        </p:nvSpPr>
        <p:spPr>
          <a:xfrm>
            <a:off x="6300192" y="3129295"/>
            <a:ext cx="2304256" cy="666591"/>
          </a:xfrm>
          <a:prstGeom prst="borderCallout1">
            <a:avLst>
              <a:gd name="adj1" fmla="val 100347"/>
              <a:gd name="adj2" fmla="val 76274"/>
              <a:gd name="adj3" fmla="val 182001"/>
              <a:gd name="adj4" fmla="val 75185"/>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dirty="0"/>
              <a:t>取值为</a:t>
            </a:r>
            <a:r>
              <a:rPr lang="en-US" altLang="zh-CN" dirty="0"/>
              <a:t>Y</a:t>
            </a:r>
            <a:r>
              <a:rPr lang="zh-CN" altLang="en-US" dirty="0"/>
              <a:t>表示活跃，或者为</a:t>
            </a:r>
            <a:r>
              <a:rPr lang="en-US" altLang="zh-CN" dirty="0"/>
              <a:t>N</a:t>
            </a:r>
            <a:r>
              <a:rPr lang="zh-CN" altLang="en-US" dirty="0"/>
              <a:t>表示非活跃</a:t>
            </a:r>
          </a:p>
        </p:txBody>
      </p:sp>
      <p:sp>
        <p:nvSpPr>
          <p:cNvPr id="10" name="内容占位符 2"/>
          <p:cNvSpPr txBox="1">
            <a:spLocks/>
          </p:cNvSpPr>
          <p:nvPr/>
        </p:nvSpPr>
        <p:spPr>
          <a:xfrm>
            <a:off x="489422" y="3291830"/>
            <a:ext cx="5522738" cy="843293"/>
          </a:xfrm>
          <a:prstGeom prst="rect">
            <a:avLst/>
          </a:prstGeom>
          <a:solidFill>
            <a:schemeClr val="bg1"/>
          </a:solidFill>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342900" indent="-342900">
              <a:lnSpc>
                <a:spcPct val="120000"/>
              </a:lnSpc>
              <a:spcBef>
                <a:spcPts val="0"/>
              </a:spcBef>
              <a:defRPr/>
            </a:pPr>
            <a:r>
              <a:rPr lang="zh-CN" altLang="en-US" sz="2000" dirty="0"/>
              <a:t>变量</a:t>
            </a:r>
            <a:r>
              <a:rPr lang="en-US" altLang="zh-CN" sz="2000" dirty="0"/>
              <a:t>A</a:t>
            </a:r>
            <a:r>
              <a:rPr lang="zh-CN" altLang="zh-CN" sz="2000" dirty="0"/>
              <a:t>的</a:t>
            </a:r>
            <a:r>
              <a:rPr lang="zh-CN" altLang="zh-CN" sz="2000" dirty="0">
                <a:solidFill>
                  <a:srgbClr val="FF0000"/>
                </a:solidFill>
              </a:rPr>
              <a:t>引用信息</a:t>
            </a:r>
            <a:r>
              <a:rPr lang="zh-CN" altLang="en-US" sz="2000" dirty="0"/>
              <a:t>：用来记录</a:t>
            </a:r>
            <a:r>
              <a:rPr lang="en-US" altLang="zh-CN" sz="2000" dirty="0"/>
              <a:t>A</a:t>
            </a:r>
            <a:r>
              <a:rPr lang="zh-CN" altLang="zh-CN" sz="2000" dirty="0"/>
              <a:t>在将来的</a:t>
            </a:r>
            <a:r>
              <a:rPr lang="zh-CN" altLang="en-US" sz="2000" dirty="0"/>
              <a:t>哪</a:t>
            </a:r>
            <a:r>
              <a:rPr lang="zh-CN" altLang="zh-CN" sz="2000" dirty="0"/>
              <a:t>条四元式中使用。</a:t>
            </a:r>
            <a:endParaRPr lang="en-US" altLang="zh-CN" sz="2000" dirty="0"/>
          </a:p>
        </p:txBody>
      </p:sp>
      <p:sp>
        <p:nvSpPr>
          <p:cNvPr id="11" name="内容占位符 2"/>
          <p:cNvSpPr txBox="1">
            <a:spLocks/>
          </p:cNvSpPr>
          <p:nvPr/>
        </p:nvSpPr>
        <p:spPr>
          <a:xfrm>
            <a:off x="489422" y="4155926"/>
            <a:ext cx="5522738" cy="853847"/>
          </a:xfrm>
          <a:prstGeom prst="rect">
            <a:avLst/>
          </a:prstGeom>
          <a:solidFill>
            <a:schemeClr val="bg1"/>
          </a:solidFill>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342900" indent="-342900">
              <a:lnSpc>
                <a:spcPct val="120000"/>
              </a:lnSpc>
              <a:spcBef>
                <a:spcPts val="0"/>
              </a:spcBef>
              <a:defRPr/>
            </a:pPr>
            <a:r>
              <a:rPr lang="zh-CN" altLang="zh-CN" sz="2000" dirty="0"/>
              <a:t>针对每个变量，使用二元组形式来表示活跃信息和引用信息</a:t>
            </a:r>
            <a:endParaRPr lang="zh-CN" altLang="en-US" sz="2800" dirty="0"/>
          </a:p>
        </p:txBody>
      </p:sp>
    </p:spTree>
    <p:extLst>
      <p:ext uri="{BB962C8B-B14F-4D97-AF65-F5344CB8AC3E}">
        <p14:creationId xmlns:p14="http://schemas.microsoft.com/office/powerpoint/2010/main" val="2448901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4" grpId="0" animBg="1"/>
      <p:bldP spid="5" grpId="0" animBg="1"/>
      <p:bldP spid="9" grpId="0" animBg="1"/>
      <p:bldP spid="10" grpId="0" animBg="1"/>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内容占位符 2"/>
          <p:cNvSpPr>
            <a:spLocks noGrp="1"/>
          </p:cNvSpPr>
          <p:nvPr>
            <p:ph idx="1"/>
          </p:nvPr>
        </p:nvSpPr>
        <p:spPr>
          <a:xfrm>
            <a:off x="467544" y="555526"/>
            <a:ext cx="8134350" cy="864096"/>
          </a:xfrm>
          <a:solidFill>
            <a:schemeClr val="bg1"/>
          </a:solidFill>
        </p:spPr>
        <p:txBody>
          <a:bodyPr>
            <a:noAutofit/>
          </a:bodyPr>
          <a:lstStyle/>
          <a:p>
            <a:pPr marL="342900" indent="-342900">
              <a:lnSpc>
                <a:spcPct val="120000"/>
              </a:lnSpc>
              <a:spcBef>
                <a:spcPts val="0"/>
              </a:spcBef>
              <a:defRPr/>
            </a:pPr>
            <a:r>
              <a:rPr lang="zh-CN" altLang="zh-CN" sz="2000" dirty="0"/>
              <a:t>为了反映变量的引用信息和活跃信息，</a:t>
            </a:r>
            <a:r>
              <a:rPr lang="zh-CN" altLang="en-US" sz="2000" dirty="0"/>
              <a:t>针对</a:t>
            </a:r>
            <a:r>
              <a:rPr lang="zh-CN" altLang="zh-CN" sz="2000" dirty="0"/>
              <a:t>每条四元式中的每个变量记录</a:t>
            </a:r>
            <a:r>
              <a:rPr lang="zh-CN" altLang="en-US" sz="2000" dirty="0"/>
              <a:t>它的</a:t>
            </a:r>
            <a:r>
              <a:rPr lang="zh-CN" altLang="zh-CN" sz="2000" dirty="0"/>
              <a:t>引用信息和活跃信息</a:t>
            </a:r>
            <a:endParaRPr lang="zh-CN" altLang="en-US" sz="2600" dirty="0"/>
          </a:p>
        </p:txBody>
      </p:sp>
      <p:sp>
        <p:nvSpPr>
          <p:cNvPr id="34819" name="标题 1"/>
          <p:cNvSpPr>
            <a:spLocks noGrp="1"/>
          </p:cNvSpPr>
          <p:nvPr>
            <p:ph type="title"/>
          </p:nvPr>
        </p:nvSpPr>
        <p:spPr>
          <a:xfrm>
            <a:off x="107504" y="-72008"/>
            <a:ext cx="7772400" cy="627534"/>
          </a:xfrm>
        </p:spPr>
        <p:txBody>
          <a:bodyPr>
            <a:normAutofit/>
          </a:bodyPr>
          <a:lstStyle/>
          <a:p>
            <a:pPr eaLnBrk="1" hangingPunct="1"/>
            <a:r>
              <a:rPr lang="zh-CN" altLang="en-US" sz="3200" dirty="0">
                <a:solidFill>
                  <a:srgbClr val="CC0099"/>
                </a:solidFill>
              </a:rPr>
              <a:t>引用信息和活跃信息</a:t>
            </a:r>
            <a:endParaRPr lang="zh-CN" altLang="en-US" sz="3200" b="1" dirty="0">
              <a:solidFill>
                <a:srgbClr val="CC0099"/>
              </a:solidFill>
              <a:ea typeface="隶书" pitchFamily="49"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1964771687"/>
              </p:ext>
            </p:extLst>
          </p:nvPr>
        </p:nvGraphicFramePr>
        <p:xfrm>
          <a:off x="1403648" y="1419623"/>
          <a:ext cx="6926159" cy="1152129"/>
        </p:xfrm>
        <a:graphic>
          <a:graphicData uri="http://schemas.openxmlformats.org/drawingml/2006/table">
            <a:tbl>
              <a:tblPr>
                <a:tableStyleId>{5C22544A-7EE6-4342-B048-85BDC9FD1C3A}</a:tableStyleId>
              </a:tblPr>
              <a:tblGrid>
                <a:gridCol w="903123">
                  <a:extLst>
                    <a:ext uri="{9D8B030D-6E8A-4147-A177-3AD203B41FA5}">
                      <a16:colId xmlns:a16="http://schemas.microsoft.com/office/drawing/2014/main" val="20000"/>
                    </a:ext>
                  </a:extLst>
                </a:gridCol>
                <a:gridCol w="1413344">
                  <a:extLst>
                    <a:ext uri="{9D8B030D-6E8A-4147-A177-3AD203B41FA5}">
                      <a16:colId xmlns:a16="http://schemas.microsoft.com/office/drawing/2014/main" val="20001"/>
                    </a:ext>
                  </a:extLst>
                </a:gridCol>
                <a:gridCol w="1536195">
                  <a:extLst>
                    <a:ext uri="{9D8B030D-6E8A-4147-A177-3AD203B41FA5}">
                      <a16:colId xmlns:a16="http://schemas.microsoft.com/office/drawing/2014/main" val="20002"/>
                    </a:ext>
                  </a:extLst>
                </a:gridCol>
                <a:gridCol w="1536195">
                  <a:extLst>
                    <a:ext uri="{9D8B030D-6E8A-4147-A177-3AD203B41FA5}">
                      <a16:colId xmlns:a16="http://schemas.microsoft.com/office/drawing/2014/main" val="20003"/>
                    </a:ext>
                  </a:extLst>
                </a:gridCol>
                <a:gridCol w="1537302">
                  <a:extLst>
                    <a:ext uri="{9D8B030D-6E8A-4147-A177-3AD203B41FA5}">
                      <a16:colId xmlns:a16="http://schemas.microsoft.com/office/drawing/2014/main" val="20004"/>
                    </a:ext>
                  </a:extLst>
                </a:gridCol>
              </a:tblGrid>
              <a:tr h="384043">
                <a:tc>
                  <a:txBody>
                    <a:bodyPr/>
                    <a:lstStyle/>
                    <a:p>
                      <a:pPr algn="ctr">
                        <a:spcAft>
                          <a:spcPts val="0"/>
                        </a:spcAft>
                      </a:pPr>
                      <a:r>
                        <a:rPr lang="zh-CN" sz="1800" kern="100" dirty="0">
                          <a:effectLst/>
                        </a:rPr>
                        <a:t>序号</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dirty="0">
                          <a:effectLst/>
                        </a:rPr>
                        <a:t>四元式</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结果</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左变量</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右变量</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4043">
                <a:tc>
                  <a:txBody>
                    <a:bodyPr/>
                    <a:lstStyle/>
                    <a:p>
                      <a:pPr algn="ctr">
                        <a:spcAft>
                          <a:spcPts val="0"/>
                        </a:spcAft>
                      </a:pPr>
                      <a:r>
                        <a:rPr lang="en-US" sz="1800" kern="100">
                          <a:effectLst/>
                        </a:rPr>
                        <a:t>1</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a:t>
                      </a:r>
                      <a:r>
                        <a:rPr lang="en-US" sz="1800" kern="100" dirty="0" err="1">
                          <a:effectLst/>
                        </a:rPr>
                        <a:t>op,y,z,x</a:t>
                      </a:r>
                      <a:r>
                        <a:rPr lang="en-US" sz="1800" kern="100" dirty="0">
                          <a:effectLst/>
                        </a:rPr>
                        <a:t>)</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a:t>
                      </a:r>
                      <a:r>
                        <a:rPr lang="zh-CN" sz="1800" kern="100">
                          <a:effectLst/>
                        </a:rPr>
                        <a:t>引用，活跃</a:t>
                      </a:r>
                      <a:r>
                        <a:rPr lang="en-US" sz="1800" kern="100">
                          <a:effectLst/>
                        </a:rPr>
                        <a:t>)</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a:t>
                      </a:r>
                      <a:r>
                        <a:rPr lang="zh-CN" sz="1800" kern="100">
                          <a:effectLst/>
                        </a:rPr>
                        <a:t>引用，活跃</a:t>
                      </a:r>
                      <a:r>
                        <a:rPr lang="en-US" sz="1800" kern="100">
                          <a:effectLst/>
                        </a:rPr>
                        <a:t>)</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a:t>
                      </a:r>
                      <a:r>
                        <a:rPr lang="zh-CN" sz="1800" kern="100">
                          <a:effectLst/>
                        </a:rPr>
                        <a:t>引用，活跃</a:t>
                      </a:r>
                      <a:r>
                        <a:rPr lang="en-US" sz="1800" kern="100">
                          <a:effectLst/>
                        </a:rPr>
                        <a:t>)</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4043">
                <a:tc>
                  <a:txBody>
                    <a:bodyPr/>
                    <a:lstStyle/>
                    <a:p>
                      <a:pPr algn="ctr">
                        <a:spcAft>
                          <a:spcPts val="0"/>
                        </a:spcAft>
                      </a:pPr>
                      <a:r>
                        <a:rPr lang="en-US" sz="1800" kern="100">
                          <a:effectLst/>
                        </a:rPr>
                        <a:t>2</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矩形 2"/>
          <p:cNvSpPr/>
          <p:nvPr/>
        </p:nvSpPr>
        <p:spPr>
          <a:xfrm>
            <a:off x="539552" y="2643758"/>
            <a:ext cx="7776864" cy="646331"/>
          </a:xfrm>
          <a:prstGeom prst="rect">
            <a:avLst/>
          </a:prstGeom>
        </p:spPr>
        <p:txBody>
          <a:bodyPr wrap="square">
            <a:spAutoFit/>
          </a:bodyPr>
          <a:lstStyle/>
          <a:p>
            <a:pPr marL="285750" indent="-285750">
              <a:buFont typeface="Arial" panose="020B0604020202020204" pitchFamily="34" charset="0"/>
              <a:buChar char="•"/>
            </a:pPr>
            <a:r>
              <a:rPr lang="zh-CN" altLang="zh-CN" dirty="0"/>
              <a:t>例</a:t>
            </a:r>
            <a:r>
              <a:rPr lang="en-US" altLang="zh-CN" dirty="0"/>
              <a:t>  </a:t>
            </a:r>
            <a:r>
              <a:rPr lang="zh-CN" altLang="en-US" dirty="0"/>
              <a:t>求</a:t>
            </a:r>
            <a:r>
              <a:rPr lang="zh-CN" altLang="zh-CN" dirty="0"/>
              <a:t>赋值语句</a:t>
            </a:r>
            <a:r>
              <a:rPr lang="en-US" altLang="zh-CN" dirty="0"/>
              <a:t>d=(a-b)+(a-c)+(a-c)</a:t>
            </a:r>
            <a:r>
              <a:rPr lang="zh-CN" altLang="en-US" dirty="0"/>
              <a:t>；</a:t>
            </a:r>
            <a:r>
              <a:rPr lang="zh-CN" altLang="zh-CN" dirty="0"/>
              <a:t>的四元式序列</a:t>
            </a:r>
            <a:r>
              <a:rPr lang="zh-CN" altLang="en-US" dirty="0"/>
              <a:t>中各个变量的引用信息和活跃信息</a:t>
            </a:r>
          </a:p>
        </p:txBody>
      </p:sp>
      <p:graphicFrame>
        <p:nvGraphicFramePr>
          <p:cNvPr id="4" name="表格 3"/>
          <p:cNvGraphicFramePr>
            <a:graphicFrameLocks noGrp="1"/>
          </p:cNvGraphicFramePr>
          <p:nvPr>
            <p:extLst>
              <p:ext uri="{D42A27DB-BD31-4B8C-83A1-F6EECF244321}">
                <p14:modId xmlns:p14="http://schemas.microsoft.com/office/powerpoint/2010/main" val="3563732827"/>
              </p:ext>
            </p:extLst>
          </p:nvPr>
        </p:nvGraphicFramePr>
        <p:xfrm>
          <a:off x="1331640" y="3329899"/>
          <a:ext cx="6984776" cy="1618115"/>
        </p:xfrm>
        <a:graphic>
          <a:graphicData uri="http://schemas.openxmlformats.org/drawingml/2006/table">
            <a:tbl>
              <a:tblPr>
                <a:tableStyleId>{5C22544A-7EE6-4342-B048-85BDC9FD1C3A}</a:tableStyleId>
              </a:tblPr>
              <a:tblGrid>
                <a:gridCol w="782537">
                  <a:extLst>
                    <a:ext uri="{9D8B030D-6E8A-4147-A177-3AD203B41FA5}">
                      <a16:colId xmlns:a16="http://schemas.microsoft.com/office/drawing/2014/main" val="20000"/>
                    </a:ext>
                  </a:extLst>
                </a:gridCol>
                <a:gridCol w="2060962">
                  <a:extLst>
                    <a:ext uri="{9D8B030D-6E8A-4147-A177-3AD203B41FA5}">
                      <a16:colId xmlns:a16="http://schemas.microsoft.com/office/drawing/2014/main" val="20001"/>
                    </a:ext>
                  </a:extLst>
                </a:gridCol>
                <a:gridCol w="1388489">
                  <a:extLst>
                    <a:ext uri="{9D8B030D-6E8A-4147-A177-3AD203B41FA5}">
                      <a16:colId xmlns:a16="http://schemas.microsoft.com/office/drawing/2014/main" val="20002"/>
                    </a:ext>
                  </a:extLst>
                </a:gridCol>
                <a:gridCol w="1378813">
                  <a:extLst>
                    <a:ext uri="{9D8B030D-6E8A-4147-A177-3AD203B41FA5}">
                      <a16:colId xmlns:a16="http://schemas.microsoft.com/office/drawing/2014/main" val="20003"/>
                    </a:ext>
                  </a:extLst>
                </a:gridCol>
                <a:gridCol w="1373975">
                  <a:extLst>
                    <a:ext uri="{9D8B030D-6E8A-4147-A177-3AD203B41FA5}">
                      <a16:colId xmlns:a16="http://schemas.microsoft.com/office/drawing/2014/main" val="20004"/>
                    </a:ext>
                  </a:extLst>
                </a:gridCol>
              </a:tblGrid>
              <a:tr h="323623">
                <a:tc>
                  <a:txBody>
                    <a:bodyPr/>
                    <a:lstStyle/>
                    <a:p>
                      <a:pPr algn="ctr">
                        <a:spcAft>
                          <a:spcPts val="0"/>
                        </a:spcAft>
                      </a:pPr>
                      <a:r>
                        <a:rPr lang="zh-CN" sz="1800" kern="100" dirty="0">
                          <a:effectLst/>
                        </a:rPr>
                        <a:t>序号</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四元式</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结果</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左变量</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右变量</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3623">
                <a:tc>
                  <a:txBody>
                    <a:bodyPr/>
                    <a:lstStyle/>
                    <a:p>
                      <a:pPr algn="ctr"/>
                      <a:r>
                        <a:rPr lang="en-US" sz="1800" kern="100" dirty="0">
                          <a:effectLst/>
                        </a:rPr>
                        <a:t>1</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23623">
                <a:tc>
                  <a:txBody>
                    <a:bodyPr/>
                    <a:lstStyle/>
                    <a:p>
                      <a:pPr algn="ctr"/>
                      <a:r>
                        <a:rPr lang="en-US" sz="1800" kern="100">
                          <a:effectLst/>
                        </a:rPr>
                        <a:t>2</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23623">
                <a:tc>
                  <a:txBody>
                    <a:bodyPr/>
                    <a:lstStyle/>
                    <a:p>
                      <a:pPr algn="ctr"/>
                      <a:r>
                        <a:rPr lang="en-US" sz="1800" kern="100">
                          <a:effectLst/>
                        </a:rPr>
                        <a:t>3</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23623">
                <a:tc>
                  <a:txBody>
                    <a:bodyPr/>
                    <a:lstStyle/>
                    <a:p>
                      <a:pPr algn="ctr"/>
                      <a:r>
                        <a:rPr lang="en-US" sz="1800" kern="100">
                          <a:effectLst/>
                        </a:rPr>
                        <a:t>4</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2021254288"/>
              </p:ext>
            </p:extLst>
          </p:nvPr>
        </p:nvGraphicFramePr>
        <p:xfrm>
          <a:off x="2123728" y="3702825"/>
          <a:ext cx="2060962" cy="1245189"/>
        </p:xfrm>
        <a:graphic>
          <a:graphicData uri="http://schemas.openxmlformats.org/drawingml/2006/table">
            <a:tbl>
              <a:tblPr>
                <a:tableStyleId>{5C22544A-7EE6-4342-B048-85BDC9FD1C3A}</a:tableStyleId>
              </a:tblPr>
              <a:tblGrid>
                <a:gridCol w="2060962">
                  <a:extLst>
                    <a:ext uri="{9D8B030D-6E8A-4147-A177-3AD203B41FA5}">
                      <a16:colId xmlns:a16="http://schemas.microsoft.com/office/drawing/2014/main" val="20000"/>
                    </a:ext>
                  </a:extLst>
                </a:gridCol>
              </a:tblGrid>
              <a:tr h="0">
                <a:tc>
                  <a:txBody>
                    <a:bodyPr/>
                    <a:lstStyle/>
                    <a:p>
                      <a:pPr algn="l"/>
                      <a:r>
                        <a:rPr lang="zh-CN" sz="1800" kern="100" dirty="0">
                          <a:effectLst/>
                        </a:rPr>
                        <a:t>（－</a:t>
                      </a:r>
                      <a:r>
                        <a:rPr lang="fr-FR" sz="1800" kern="100" dirty="0">
                          <a:effectLst/>
                        </a:rPr>
                        <a:t>,a,b,T1</a:t>
                      </a:r>
                      <a:r>
                        <a:rPr lang="zh-CN" sz="1800" kern="100" dirty="0">
                          <a:effectLst/>
                        </a:rPr>
                        <a:t>）</a:t>
                      </a:r>
                      <a:endParaRPr lang="zh-CN" sz="1800" kern="100" dirty="0">
                        <a:effectLst/>
                        <a:latin typeface="Calibri"/>
                        <a:cs typeface="宋体"/>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23623">
                <a:tc>
                  <a:txBody>
                    <a:bodyPr/>
                    <a:lstStyle/>
                    <a:p>
                      <a:pPr algn="l"/>
                      <a:r>
                        <a:rPr lang="zh-CN" sz="1800" kern="100" dirty="0">
                          <a:effectLst/>
                        </a:rPr>
                        <a:t>（－</a:t>
                      </a:r>
                      <a:r>
                        <a:rPr lang="fr-FR" sz="1800" kern="100" dirty="0">
                          <a:effectLst/>
                        </a:rPr>
                        <a:t>,a,c,T2</a:t>
                      </a:r>
                      <a:r>
                        <a:rPr lang="zh-CN" sz="1800" kern="100" dirty="0">
                          <a:effectLst/>
                        </a:rPr>
                        <a:t>）</a:t>
                      </a:r>
                      <a:endParaRPr lang="zh-CN" sz="1800" kern="100" dirty="0">
                        <a:effectLst/>
                        <a:latin typeface="Calibri"/>
                        <a:cs typeface="宋体"/>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23623">
                <a:tc>
                  <a:txBody>
                    <a:bodyPr/>
                    <a:lstStyle/>
                    <a:p>
                      <a:pPr algn="l"/>
                      <a:r>
                        <a:rPr lang="zh-CN" sz="1800" kern="100" dirty="0">
                          <a:effectLst/>
                        </a:rPr>
                        <a:t>（＋</a:t>
                      </a:r>
                      <a:r>
                        <a:rPr lang="fr-FR" sz="1800" kern="100" dirty="0">
                          <a:effectLst/>
                        </a:rPr>
                        <a:t>,T1,T2,T3</a:t>
                      </a:r>
                      <a:r>
                        <a:rPr lang="zh-CN" sz="1800" kern="100" dirty="0">
                          <a:effectLst/>
                        </a:rPr>
                        <a:t>）</a:t>
                      </a:r>
                      <a:endParaRPr lang="zh-CN" sz="1800" kern="100" dirty="0">
                        <a:effectLst/>
                        <a:latin typeface="Calibri"/>
                        <a:cs typeface="宋体"/>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23623">
                <a:tc>
                  <a:txBody>
                    <a:bodyPr/>
                    <a:lstStyle/>
                    <a:p>
                      <a:pPr algn="l"/>
                      <a:r>
                        <a:rPr lang="zh-CN" sz="1800" kern="100" dirty="0">
                          <a:effectLst/>
                        </a:rPr>
                        <a:t>（＋</a:t>
                      </a:r>
                      <a:r>
                        <a:rPr lang="fr-FR" sz="1800" kern="100" dirty="0">
                          <a:effectLst/>
                        </a:rPr>
                        <a:t>,T2,T3,d</a:t>
                      </a:r>
                      <a:r>
                        <a:rPr lang="zh-CN" sz="1800" kern="100" dirty="0">
                          <a:effectLst/>
                        </a:rPr>
                        <a:t>）</a:t>
                      </a:r>
                      <a:endParaRPr lang="zh-CN" sz="1800" kern="100" dirty="0">
                        <a:effectLst/>
                        <a:latin typeface="Calibri"/>
                        <a:cs typeface="宋体"/>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4259274303"/>
              </p:ext>
            </p:extLst>
          </p:nvPr>
        </p:nvGraphicFramePr>
        <p:xfrm>
          <a:off x="4175139" y="3651871"/>
          <a:ext cx="4141277" cy="1294492"/>
        </p:xfrm>
        <a:graphic>
          <a:graphicData uri="http://schemas.openxmlformats.org/drawingml/2006/table">
            <a:tbl>
              <a:tblPr>
                <a:tableStyleId>{5C22544A-7EE6-4342-B048-85BDC9FD1C3A}</a:tableStyleId>
              </a:tblPr>
              <a:tblGrid>
                <a:gridCol w="1388489">
                  <a:extLst>
                    <a:ext uri="{9D8B030D-6E8A-4147-A177-3AD203B41FA5}">
                      <a16:colId xmlns:a16="http://schemas.microsoft.com/office/drawing/2014/main" val="20000"/>
                    </a:ext>
                  </a:extLst>
                </a:gridCol>
                <a:gridCol w="1378813">
                  <a:extLst>
                    <a:ext uri="{9D8B030D-6E8A-4147-A177-3AD203B41FA5}">
                      <a16:colId xmlns:a16="http://schemas.microsoft.com/office/drawing/2014/main" val="20001"/>
                    </a:ext>
                  </a:extLst>
                </a:gridCol>
                <a:gridCol w="1373975">
                  <a:extLst>
                    <a:ext uri="{9D8B030D-6E8A-4147-A177-3AD203B41FA5}">
                      <a16:colId xmlns:a16="http://schemas.microsoft.com/office/drawing/2014/main" val="20002"/>
                    </a:ext>
                  </a:extLst>
                </a:gridCol>
              </a:tblGrid>
              <a:tr h="323623">
                <a:tc>
                  <a:txBody>
                    <a:bodyPr/>
                    <a:lstStyle/>
                    <a:p>
                      <a:pPr algn="ctr"/>
                      <a:endParaRPr lang="zh-CN" sz="1800" kern="100" dirty="0">
                        <a:effectLst/>
                        <a:latin typeface="Calibri"/>
                        <a:cs typeface="宋体"/>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sz="1800" kern="100" dirty="0">
                        <a:effectLst/>
                        <a:latin typeface="Calibri"/>
                        <a:cs typeface="宋体"/>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sz="1800" kern="100" dirty="0">
                        <a:effectLst/>
                        <a:latin typeface="Calibri"/>
                        <a:cs typeface="宋体"/>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23623">
                <a:tc>
                  <a:txBody>
                    <a:bodyPr/>
                    <a:lstStyle/>
                    <a:p>
                      <a:pPr algn="ctr"/>
                      <a:r>
                        <a:rPr lang="fr-FR" sz="1800" kern="100" dirty="0">
                          <a:effectLst/>
                        </a:rPr>
                        <a:t>(3,Y)</a:t>
                      </a:r>
                      <a:endParaRPr lang="zh-CN" sz="1800" kern="100" dirty="0">
                        <a:effectLst/>
                        <a:latin typeface="Calibri"/>
                        <a:cs typeface="宋体"/>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800" kern="100" dirty="0">
                          <a:effectLst/>
                        </a:rPr>
                        <a:t>(N,N)</a:t>
                      </a:r>
                      <a:endParaRPr lang="zh-CN" sz="1800" kern="100" dirty="0">
                        <a:effectLst/>
                        <a:latin typeface="Calibri"/>
                        <a:cs typeface="宋体"/>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800" kern="100">
                          <a:effectLst/>
                        </a:rPr>
                        <a:t>(N,N)</a:t>
                      </a:r>
                      <a:endParaRPr lang="zh-CN" sz="1800" kern="100">
                        <a:effectLst/>
                        <a:latin typeface="Calibri"/>
                        <a:cs typeface="宋体"/>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23623">
                <a:tc>
                  <a:txBody>
                    <a:bodyPr/>
                    <a:lstStyle/>
                    <a:p>
                      <a:pPr algn="ctr"/>
                      <a:r>
                        <a:rPr lang="fr-FR" sz="1800" kern="100">
                          <a:effectLst/>
                        </a:rPr>
                        <a:t>(4,Y)</a:t>
                      </a:r>
                      <a:endParaRPr lang="zh-CN" sz="1800" kern="100">
                        <a:effectLst/>
                        <a:latin typeface="Calibri"/>
                        <a:cs typeface="宋体"/>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800" kern="100" dirty="0">
                          <a:effectLst/>
                        </a:rPr>
                        <a:t>(N,N)</a:t>
                      </a:r>
                      <a:endParaRPr lang="zh-CN" sz="1800" kern="100" dirty="0">
                        <a:effectLst/>
                        <a:latin typeface="Calibri"/>
                        <a:cs typeface="宋体"/>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800" kern="100" dirty="0">
                          <a:effectLst/>
                        </a:rPr>
                        <a:t>(4,Y)</a:t>
                      </a:r>
                      <a:endParaRPr lang="zh-CN" sz="1800" kern="100" dirty="0">
                        <a:effectLst/>
                        <a:latin typeface="Calibri"/>
                        <a:cs typeface="宋体"/>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23623">
                <a:tc>
                  <a:txBody>
                    <a:bodyPr/>
                    <a:lstStyle/>
                    <a:p>
                      <a:pPr algn="ctr"/>
                      <a:r>
                        <a:rPr lang="fr-FR" sz="1800" kern="100">
                          <a:effectLst/>
                        </a:rPr>
                        <a:t>(N,Y)</a:t>
                      </a:r>
                      <a:endParaRPr lang="zh-CN" sz="1800" kern="100">
                        <a:effectLst/>
                        <a:latin typeface="Calibri"/>
                        <a:cs typeface="宋体"/>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800" kern="100">
                          <a:effectLst/>
                        </a:rPr>
                        <a:t>(N,N)</a:t>
                      </a:r>
                      <a:endParaRPr lang="zh-CN" sz="1800" kern="100">
                        <a:effectLst/>
                        <a:latin typeface="Calibri"/>
                        <a:cs typeface="宋体"/>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800" kern="100" dirty="0">
                          <a:effectLst/>
                        </a:rPr>
                        <a:t>(N,N)</a:t>
                      </a:r>
                      <a:endParaRPr lang="zh-CN" sz="1800" kern="100" dirty="0">
                        <a:effectLst/>
                        <a:latin typeface="Calibri"/>
                        <a:cs typeface="宋体"/>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7" name="矩形 6"/>
          <p:cNvSpPr/>
          <p:nvPr/>
        </p:nvSpPr>
        <p:spPr>
          <a:xfrm>
            <a:off x="4494983" y="3642578"/>
            <a:ext cx="699229" cy="369332"/>
          </a:xfrm>
          <a:prstGeom prst="rect">
            <a:avLst/>
          </a:prstGeom>
        </p:spPr>
        <p:txBody>
          <a:bodyPr wrap="none">
            <a:spAutoFit/>
          </a:bodyPr>
          <a:lstStyle/>
          <a:p>
            <a:pPr algn="ctr"/>
            <a:r>
              <a:rPr lang="fr-FR" altLang="zh-CN" kern="100" dirty="0"/>
              <a:t>(3,Y)</a:t>
            </a:r>
            <a:endParaRPr lang="zh-CN" altLang="zh-CN" kern="100" dirty="0">
              <a:latin typeface="Calibri"/>
              <a:cs typeface="宋体"/>
            </a:endParaRPr>
          </a:p>
        </p:txBody>
      </p:sp>
      <p:sp>
        <p:nvSpPr>
          <p:cNvPr id="8" name="矩形 7"/>
          <p:cNvSpPr/>
          <p:nvPr/>
        </p:nvSpPr>
        <p:spPr>
          <a:xfrm>
            <a:off x="5888995" y="3638154"/>
            <a:ext cx="699229" cy="369332"/>
          </a:xfrm>
          <a:prstGeom prst="rect">
            <a:avLst/>
          </a:prstGeom>
        </p:spPr>
        <p:txBody>
          <a:bodyPr wrap="none">
            <a:spAutoFit/>
          </a:bodyPr>
          <a:lstStyle/>
          <a:p>
            <a:pPr algn="ctr"/>
            <a:r>
              <a:rPr lang="fr-FR" altLang="zh-CN" kern="100" dirty="0"/>
              <a:t>(2,Y)</a:t>
            </a:r>
            <a:endParaRPr lang="zh-CN" altLang="zh-CN" kern="100" dirty="0">
              <a:latin typeface="Calibri"/>
              <a:cs typeface="宋体"/>
            </a:endParaRPr>
          </a:p>
        </p:txBody>
      </p:sp>
      <p:sp>
        <p:nvSpPr>
          <p:cNvPr id="9" name="矩形 8"/>
          <p:cNvSpPr/>
          <p:nvPr/>
        </p:nvSpPr>
        <p:spPr>
          <a:xfrm>
            <a:off x="7236296" y="3638154"/>
            <a:ext cx="748923" cy="369332"/>
          </a:xfrm>
          <a:prstGeom prst="rect">
            <a:avLst/>
          </a:prstGeom>
        </p:spPr>
        <p:txBody>
          <a:bodyPr wrap="none">
            <a:spAutoFit/>
          </a:bodyPr>
          <a:lstStyle/>
          <a:p>
            <a:r>
              <a:rPr lang="fr-FR" altLang="zh-CN" kern="100" dirty="0"/>
              <a:t>(N,N)</a:t>
            </a:r>
            <a:endParaRPr lang="zh-CN" altLang="en-US" dirty="0"/>
          </a:p>
        </p:txBody>
      </p:sp>
    </p:spTree>
    <p:extLst>
      <p:ext uri="{BB962C8B-B14F-4D97-AF65-F5344CB8AC3E}">
        <p14:creationId xmlns:p14="http://schemas.microsoft.com/office/powerpoint/2010/main" val="2448901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23528" y="771550"/>
            <a:ext cx="8229600" cy="1080120"/>
          </a:xfrm>
        </p:spPr>
        <p:txBody>
          <a:bodyPr>
            <a:normAutofit lnSpcReduction="10000"/>
          </a:bodyPr>
          <a:lstStyle/>
          <a:p>
            <a:pPr>
              <a:lnSpc>
                <a:spcPct val="110000"/>
              </a:lnSpc>
              <a:spcBef>
                <a:spcPts val="0"/>
              </a:spcBef>
            </a:pPr>
            <a:r>
              <a:rPr lang="zh-CN" altLang="zh-CN" sz="2000" dirty="0"/>
              <a:t>在</a:t>
            </a:r>
            <a:r>
              <a:rPr lang="zh-CN" altLang="zh-CN" sz="2000" dirty="0">
                <a:solidFill>
                  <a:srgbClr val="FF0000"/>
                </a:solidFill>
              </a:rPr>
              <a:t>符号表</a:t>
            </a:r>
            <a:r>
              <a:rPr lang="zh-CN" altLang="zh-CN" sz="2000" dirty="0"/>
              <a:t>中增加域</a:t>
            </a:r>
            <a:r>
              <a:rPr lang="zh-CN" altLang="en-US" sz="2000" dirty="0"/>
              <a:t>，</a:t>
            </a:r>
            <a:r>
              <a:rPr lang="zh-CN" altLang="zh-CN" sz="2000" b="1" dirty="0"/>
              <a:t>引用信息和活跃信息</a:t>
            </a:r>
            <a:r>
              <a:rPr lang="en-US" altLang="zh-CN" sz="2000" dirty="0"/>
              <a:t>:</a:t>
            </a:r>
            <a:r>
              <a:rPr lang="zh-CN" altLang="zh-CN" sz="2000" dirty="0"/>
              <a:t>用于</a:t>
            </a:r>
            <a:r>
              <a:rPr lang="zh-CN" altLang="en-US" sz="2000" dirty="0"/>
              <a:t>记录在反向扫描过程中</a:t>
            </a:r>
            <a:r>
              <a:rPr lang="zh-CN" altLang="zh-CN" sz="2000" dirty="0"/>
              <a:t>各</a:t>
            </a:r>
            <a:r>
              <a:rPr lang="zh-CN" altLang="en-US" sz="2000" dirty="0"/>
              <a:t>各</a:t>
            </a:r>
            <a:r>
              <a:rPr lang="zh-CN" altLang="zh-CN" sz="2000" dirty="0"/>
              <a:t>变量的下次引用信息和活跃信息</a:t>
            </a:r>
            <a:r>
              <a:rPr lang="zh-CN" altLang="en-US" sz="2000" dirty="0"/>
              <a:t>变化过程，</a:t>
            </a:r>
            <a:r>
              <a:rPr lang="zh-CN" altLang="zh-CN" sz="2000" dirty="0"/>
              <a:t>用于建立基本块内的的引用信息链和活跃信息链。</a:t>
            </a:r>
            <a:endParaRPr lang="zh-CN" altLang="en-US" sz="2000" dirty="0"/>
          </a:p>
          <a:p>
            <a:pPr>
              <a:lnSpc>
                <a:spcPct val="110000"/>
              </a:lnSpc>
              <a:spcBef>
                <a:spcPts val="0"/>
              </a:spcBef>
            </a:pPr>
            <a:endParaRPr lang="zh-CN" altLang="en-US" sz="2000" dirty="0"/>
          </a:p>
        </p:txBody>
      </p:sp>
      <p:sp>
        <p:nvSpPr>
          <p:cNvPr id="3" name="标题 2"/>
          <p:cNvSpPr>
            <a:spLocks noGrp="1"/>
          </p:cNvSpPr>
          <p:nvPr>
            <p:ph type="title"/>
          </p:nvPr>
        </p:nvSpPr>
        <p:spPr/>
        <p:txBody>
          <a:bodyPr>
            <a:normAutofit fontScale="90000"/>
          </a:bodyPr>
          <a:lstStyle/>
          <a:p>
            <a:r>
              <a:rPr lang="zh-CN" altLang="en-US" dirty="0">
                <a:solidFill>
                  <a:srgbClr val="CC0099"/>
                </a:solidFill>
              </a:rPr>
              <a:t>某变量的引用信息和活跃信息的计算方法</a:t>
            </a:r>
            <a:endParaRPr lang="zh-CN" altLang="en-US" dirty="0"/>
          </a:p>
        </p:txBody>
      </p:sp>
      <p:sp>
        <p:nvSpPr>
          <p:cNvPr id="5" name="Rectangle 1"/>
          <p:cNvSpPr>
            <a:spLocks noChangeArrowheads="1"/>
          </p:cNvSpPr>
          <p:nvPr/>
        </p:nvSpPr>
        <p:spPr bwMode="auto">
          <a:xfrm>
            <a:off x="323850" y="2058402"/>
            <a:ext cx="36000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tabLst>
                <a:tab pos="266700" algn="l"/>
              </a:tabLst>
              <a:defRPr kumimoji="1" sz="2800">
                <a:solidFill>
                  <a:schemeClr val="tx1"/>
                </a:solidFill>
                <a:latin typeface="Times New Roman" pitchFamily="18" charset="0"/>
                <a:ea typeface="宋体" pitchFamily="2" charset="-122"/>
              </a:defRPr>
            </a:lvl1pPr>
            <a:lvl2pPr marL="742950" indent="-285750" eaLnBrk="0" hangingPunct="0">
              <a:tabLst>
                <a:tab pos="266700" algn="l"/>
              </a:tabLst>
              <a:defRPr kumimoji="1" sz="2800">
                <a:solidFill>
                  <a:schemeClr val="tx1"/>
                </a:solidFill>
                <a:latin typeface="Times New Roman" pitchFamily="18" charset="0"/>
                <a:ea typeface="宋体" pitchFamily="2" charset="-122"/>
              </a:defRPr>
            </a:lvl2pPr>
            <a:lvl3pPr marL="1143000" indent="-228600" eaLnBrk="0" hangingPunct="0">
              <a:tabLst>
                <a:tab pos="266700" algn="l"/>
              </a:tabLst>
              <a:defRPr kumimoji="1" sz="2800">
                <a:solidFill>
                  <a:schemeClr val="tx1"/>
                </a:solidFill>
                <a:latin typeface="Times New Roman" pitchFamily="18" charset="0"/>
                <a:ea typeface="宋体" pitchFamily="2" charset="-122"/>
              </a:defRPr>
            </a:lvl3pPr>
            <a:lvl4pPr marL="1600200" indent="-228600" eaLnBrk="0" hangingPunct="0">
              <a:tabLst>
                <a:tab pos="266700" algn="l"/>
              </a:tabLst>
              <a:defRPr kumimoji="1" sz="2800">
                <a:solidFill>
                  <a:schemeClr val="tx1"/>
                </a:solidFill>
                <a:latin typeface="Times New Roman" pitchFamily="18" charset="0"/>
                <a:ea typeface="宋体" pitchFamily="2" charset="-122"/>
              </a:defRPr>
            </a:lvl4pPr>
            <a:lvl5pPr marL="2057400" indent="-228600" eaLnBrk="0" hangingPunct="0">
              <a:tabLst>
                <a:tab pos="266700" algn="l"/>
              </a:tabLst>
              <a:defRPr kumimoji="1"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tabLst>
                <a:tab pos="266700" algn="l"/>
              </a:tabLst>
              <a:defRPr kumimoji="1"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tabLst>
                <a:tab pos="266700" algn="l"/>
              </a:tabLst>
              <a:defRPr kumimoji="1"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tabLst>
                <a:tab pos="266700" algn="l"/>
              </a:tabLst>
              <a:defRPr kumimoji="1"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tabLst>
                <a:tab pos="266700" algn="l"/>
              </a:tabLst>
              <a:defRPr kumimoji="1" sz="2800">
                <a:solidFill>
                  <a:schemeClr val="tx1"/>
                </a:solidFill>
                <a:latin typeface="Times New Roman" pitchFamily="18" charset="0"/>
                <a:ea typeface="宋体" pitchFamily="2" charset="-122"/>
              </a:defRPr>
            </a:lvl9pPr>
          </a:lstStyle>
          <a:p>
            <a:r>
              <a:rPr lang="zh-CN" altLang="zh-CN" sz="1800" dirty="0"/>
              <a:t>符号表中的引用信息及活跃信息</a:t>
            </a:r>
          </a:p>
        </p:txBody>
      </p:sp>
      <p:graphicFrame>
        <p:nvGraphicFramePr>
          <p:cNvPr id="9" name="表格 8"/>
          <p:cNvGraphicFramePr>
            <a:graphicFrameLocks noGrp="1"/>
          </p:cNvGraphicFramePr>
          <p:nvPr>
            <p:extLst>
              <p:ext uri="{D42A27DB-BD31-4B8C-83A1-F6EECF244321}">
                <p14:modId xmlns:p14="http://schemas.microsoft.com/office/powerpoint/2010/main" val="2896430053"/>
              </p:ext>
            </p:extLst>
          </p:nvPr>
        </p:nvGraphicFramePr>
        <p:xfrm>
          <a:off x="248548" y="2499742"/>
          <a:ext cx="3675380" cy="2187243"/>
        </p:xfrm>
        <a:graphic>
          <a:graphicData uri="http://schemas.openxmlformats.org/drawingml/2006/table">
            <a:tbl>
              <a:tblPr>
                <a:tableStyleId>{5C22544A-7EE6-4342-B048-85BDC9FD1C3A}</a:tableStyleId>
              </a:tblPr>
              <a:tblGrid>
                <a:gridCol w="720080">
                  <a:extLst>
                    <a:ext uri="{9D8B030D-6E8A-4147-A177-3AD203B41FA5}">
                      <a16:colId xmlns:a16="http://schemas.microsoft.com/office/drawing/2014/main" val="20000"/>
                    </a:ext>
                  </a:extLst>
                </a:gridCol>
                <a:gridCol w="2955300">
                  <a:extLst>
                    <a:ext uri="{9D8B030D-6E8A-4147-A177-3AD203B41FA5}">
                      <a16:colId xmlns:a16="http://schemas.microsoft.com/office/drawing/2014/main" val="20001"/>
                    </a:ext>
                  </a:extLst>
                </a:gridCol>
              </a:tblGrid>
              <a:tr h="360040">
                <a:tc>
                  <a:txBody>
                    <a:bodyPr/>
                    <a:lstStyle/>
                    <a:p>
                      <a:pPr algn="l">
                        <a:spcAft>
                          <a:spcPts val="0"/>
                        </a:spcAft>
                        <a:tabLst>
                          <a:tab pos="266700" algn="l"/>
                        </a:tabLst>
                      </a:pPr>
                      <a:r>
                        <a:rPr lang="zh-CN" sz="1600" kern="100" dirty="0">
                          <a:effectLst/>
                        </a:rPr>
                        <a:t>变量</a:t>
                      </a:r>
                      <a:endParaRPr lang="zh-CN" sz="1600" kern="100" dirty="0">
                        <a:solidFill>
                          <a:srgbClr val="000000"/>
                        </a:solidFill>
                        <a:effectLst/>
                        <a:latin typeface="Times New Roman"/>
                        <a:ea typeface="宋体"/>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tabLst>
                          <a:tab pos="266700" algn="l"/>
                        </a:tabLst>
                      </a:pPr>
                      <a:r>
                        <a:rPr lang="zh-CN" sz="1600" kern="100">
                          <a:effectLst/>
                        </a:rPr>
                        <a:t>引用信息及活跃信息链</a:t>
                      </a:r>
                      <a:endParaRPr lang="zh-CN" sz="1600" kern="100">
                        <a:solidFill>
                          <a:srgbClr val="000000"/>
                        </a:solidFill>
                        <a:effectLst/>
                        <a:latin typeface="Times New Roman"/>
                        <a:ea typeface="宋体"/>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827203">
                <a:tc>
                  <a:txBody>
                    <a:bodyPr/>
                    <a:lstStyle/>
                    <a:p>
                      <a:pPr>
                        <a:spcAft>
                          <a:spcPts val="0"/>
                        </a:spcAft>
                      </a:pPr>
                      <a:r>
                        <a:rPr lang="fr-FR" sz="1600">
                          <a:effectLst/>
                        </a:rPr>
                        <a:t>T1</a:t>
                      </a:r>
                      <a:endParaRPr lang="zh-CN" sz="1600">
                        <a:effectLst/>
                      </a:endParaRPr>
                    </a:p>
                    <a:p>
                      <a:pPr>
                        <a:spcAft>
                          <a:spcPts val="0"/>
                        </a:spcAft>
                      </a:pPr>
                      <a:r>
                        <a:rPr lang="fr-FR" sz="1600">
                          <a:effectLst/>
                        </a:rPr>
                        <a:t>a</a:t>
                      </a:r>
                      <a:endParaRPr lang="zh-CN" sz="1600">
                        <a:effectLst/>
                      </a:endParaRPr>
                    </a:p>
                    <a:p>
                      <a:pPr>
                        <a:spcAft>
                          <a:spcPts val="0"/>
                        </a:spcAft>
                      </a:pPr>
                      <a:r>
                        <a:rPr lang="fr-FR" sz="1600">
                          <a:effectLst/>
                        </a:rPr>
                        <a:t>b</a:t>
                      </a:r>
                      <a:endParaRPr lang="zh-CN" sz="1600">
                        <a:effectLst/>
                      </a:endParaRPr>
                    </a:p>
                    <a:p>
                      <a:pPr>
                        <a:spcAft>
                          <a:spcPts val="0"/>
                        </a:spcAft>
                      </a:pPr>
                      <a:r>
                        <a:rPr lang="fr-FR" sz="1600">
                          <a:effectLst/>
                        </a:rPr>
                        <a:t>c</a:t>
                      </a:r>
                      <a:endParaRPr lang="zh-CN" sz="1600">
                        <a:effectLst/>
                      </a:endParaRPr>
                    </a:p>
                    <a:p>
                      <a:pPr>
                        <a:spcAft>
                          <a:spcPts val="0"/>
                        </a:spcAft>
                      </a:pPr>
                      <a:r>
                        <a:rPr lang="fr-FR" sz="1600">
                          <a:effectLst/>
                        </a:rPr>
                        <a:t>T2</a:t>
                      </a:r>
                      <a:endParaRPr lang="zh-CN" sz="1600">
                        <a:effectLst/>
                      </a:endParaRPr>
                    </a:p>
                    <a:p>
                      <a:pPr>
                        <a:spcAft>
                          <a:spcPts val="0"/>
                        </a:spcAft>
                      </a:pPr>
                      <a:r>
                        <a:rPr lang="fr-FR" sz="1600">
                          <a:effectLst/>
                        </a:rPr>
                        <a:t>T3</a:t>
                      </a:r>
                      <a:endParaRPr lang="zh-CN" sz="1600">
                        <a:effectLst/>
                      </a:endParaRPr>
                    </a:p>
                    <a:p>
                      <a:pPr>
                        <a:spcAft>
                          <a:spcPts val="0"/>
                        </a:spcAft>
                      </a:pPr>
                      <a:r>
                        <a:rPr lang="fr-FR" sz="1600">
                          <a:effectLst/>
                        </a:rPr>
                        <a:t>d</a:t>
                      </a:r>
                      <a:endParaRPr lang="zh-CN" sz="1600">
                        <a:solidFill>
                          <a:srgbClr val="000000"/>
                        </a:solidFill>
                        <a:effectLst/>
                        <a:latin typeface="Times New Roman"/>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tabLst>
                          <a:tab pos="266700" algn="l"/>
                        </a:tabLst>
                      </a:pPr>
                      <a:r>
                        <a:rPr lang="pt-PT" sz="1600" kern="100" dirty="0">
                          <a:effectLst/>
                        </a:rPr>
                        <a:t>(N,N) </a:t>
                      </a:r>
                      <a:r>
                        <a:rPr lang="en-US" sz="1600" kern="100" dirty="0">
                          <a:effectLst/>
                          <a:sym typeface="Symbol"/>
                        </a:rPr>
                        <a:t></a:t>
                      </a:r>
                      <a:r>
                        <a:rPr lang="pt-PT" sz="1600" kern="100" dirty="0">
                          <a:effectLst/>
                        </a:rPr>
                        <a:t>(3,Y)</a:t>
                      </a:r>
                      <a:r>
                        <a:rPr lang="en-US" sz="1600" kern="100" dirty="0">
                          <a:effectLst/>
                          <a:sym typeface="Symbol"/>
                        </a:rPr>
                        <a:t></a:t>
                      </a:r>
                      <a:r>
                        <a:rPr lang="pt-PT" sz="1600" kern="100" dirty="0">
                          <a:effectLst/>
                        </a:rPr>
                        <a:t>(N,N)</a:t>
                      </a:r>
                      <a:endParaRPr lang="zh-CN" sz="1600" kern="100" dirty="0">
                        <a:effectLst/>
                      </a:endParaRPr>
                    </a:p>
                    <a:p>
                      <a:pPr algn="l">
                        <a:spcAft>
                          <a:spcPts val="0"/>
                        </a:spcAft>
                        <a:tabLst>
                          <a:tab pos="266700" algn="l"/>
                        </a:tabLst>
                      </a:pPr>
                      <a:r>
                        <a:rPr lang="pt-PT" sz="1600" kern="100" dirty="0">
                          <a:effectLst/>
                        </a:rPr>
                        <a:t>(N,N) </a:t>
                      </a:r>
                      <a:r>
                        <a:rPr lang="en-US" sz="1600" kern="100" dirty="0">
                          <a:effectLst/>
                          <a:sym typeface="Symbol"/>
                        </a:rPr>
                        <a:t></a:t>
                      </a:r>
                      <a:r>
                        <a:rPr lang="pt-PT" sz="1600" kern="100" dirty="0">
                          <a:effectLst/>
                        </a:rPr>
                        <a:t>(2,Y) </a:t>
                      </a:r>
                      <a:r>
                        <a:rPr lang="en-US" sz="1600" kern="100" dirty="0">
                          <a:effectLst/>
                          <a:sym typeface="Symbol"/>
                        </a:rPr>
                        <a:t></a:t>
                      </a:r>
                      <a:r>
                        <a:rPr lang="pt-PT" sz="1600" kern="100" dirty="0">
                          <a:effectLst/>
                        </a:rPr>
                        <a:t>(1,Y)</a:t>
                      </a:r>
                      <a:endParaRPr lang="zh-CN" sz="1600" kern="100" dirty="0">
                        <a:effectLst/>
                      </a:endParaRPr>
                    </a:p>
                    <a:p>
                      <a:pPr algn="l">
                        <a:spcAft>
                          <a:spcPts val="0"/>
                        </a:spcAft>
                        <a:tabLst>
                          <a:tab pos="266700" algn="l"/>
                        </a:tabLst>
                      </a:pPr>
                      <a:r>
                        <a:rPr lang="pt-PT" sz="1600" kern="100" dirty="0">
                          <a:effectLst/>
                        </a:rPr>
                        <a:t>(N,N) </a:t>
                      </a:r>
                      <a:r>
                        <a:rPr lang="en-US" sz="1600" kern="100" dirty="0">
                          <a:effectLst/>
                          <a:sym typeface="Symbol"/>
                        </a:rPr>
                        <a:t></a:t>
                      </a:r>
                      <a:r>
                        <a:rPr lang="pt-PT" sz="1600" kern="100" dirty="0">
                          <a:effectLst/>
                        </a:rPr>
                        <a:t>(1,Y)</a:t>
                      </a:r>
                      <a:endParaRPr lang="zh-CN" sz="1600" kern="100" dirty="0">
                        <a:effectLst/>
                      </a:endParaRPr>
                    </a:p>
                    <a:p>
                      <a:pPr algn="l">
                        <a:spcAft>
                          <a:spcPts val="0"/>
                        </a:spcAft>
                        <a:tabLst>
                          <a:tab pos="266700" algn="l"/>
                        </a:tabLst>
                      </a:pPr>
                      <a:r>
                        <a:rPr lang="pt-PT" sz="1600" kern="100" dirty="0">
                          <a:effectLst/>
                        </a:rPr>
                        <a:t>(N,N) </a:t>
                      </a:r>
                      <a:r>
                        <a:rPr lang="en-US" sz="1600" kern="100" dirty="0">
                          <a:effectLst/>
                          <a:sym typeface="Symbol"/>
                        </a:rPr>
                        <a:t></a:t>
                      </a:r>
                      <a:r>
                        <a:rPr lang="pt-PT" sz="1600" kern="100" dirty="0">
                          <a:effectLst/>
                        </a:rPr>
                        <a:t>(2,Y)</a:t>
                      </a:r>
                      <a:endParaRPr lang="zh-CN" sz="1600" kern="100" dirty="0">
                        <a:effectLst/>
                      </a:endParaRPr>
                    </a:p>
                    <a:p>
                      <a:pPr algn="l">
                        <a:spcAft>
                          <a:spcPts val="0"/>
                        </a:spcAft>
                        <a:tabLst>
                          <a:tab pos="266700" algn="l"/>
                        </a:tabLst>
                      </a:pPr>
                      <a:r>
                        <a:rPr lang="pt-PT" sz="1600" kern="100" dirty="0">
                          <a:effectLst/>
                        </a:rPr>
                        <a:t>(N,N) </a:t>
                      </a:r>
                      <a:r>
                        <a:rPr lang="en-US" sz="1600" kern="100" dirty="0">
                          <a:effectLst/>
                          <a:sym typeface="Symbol"/>
                        </a:rPr>
                        <a:t></a:t>
                      </a:r>
                      <a:r>
                        <a:rPr lang="pt-PT" sz="1600" kern="100" dirty="0">
                          <a:effectLst/>
                        </a:rPr>
                        <a:t>(4,Y) </a:t>
                      </a:r>
                      <a:r>
                        <a:rPr lang="en-US" sz="1600" kern="100" dirty="0">
                          <a:effectLst/>
                          <a:sym typeface="Symbol"/>
                        </a:rPr>
                        <a:t></a:t>
                      </a:r>
                      <a:r>
                        <a:rPr lang="pt-PT" sz="1600" kern="100" dirty="0">
                          <a:effectLst/>
                        </a:rPr>
                        <a:t>(3,Y) </a:t>
                      </a:r>
                      <a:r>
                        <a:rPr lang="en-US" sz="1600" kern="100" dirty="0">
                          <a:effectLst/>
                          <a:sym typeface="Symbol"/>
                        </a:rPr>
                        <a:t></a:t>
                      </a:r>
                      <a:r>
                        <a:rPr lang="pt-PT" sz="1600" kern="100" dirty="0">
                          <a:effectLst/>
                        </a:rPr>
                        <a:t>(N,N)</a:t>
                      </a:r>
                      <a:endParaRPr lang="zh-CN" sz="1600" kern="100" dirty="0">
                        <a:effectLst/>
                      </a:endParaRPr>
                    </a:p>
                    <a:p>
                      <a:pPr algn="l">
                        <a:spcAft>
                          <a:spcPts val="0"/>
                        </a:spcAft>
                        <a:tabLst>
                          <a:tab pos="266700" algn="l"/>
                        </a:tabLst>
                      </a:pPr>
                      <a:r>
                        <a:rPr lang="pt-PT" sz="1600" kern="100" dirty="0">
                          <a:effectLst/>
                        </a:rPr>
                        <a:t>(N,N) </a:t>
                      </a:r>
                      <a:r>
                        <a:rPr lang="en-US" sz="1600" kern="100" dirty="0">
                          <a:effectLst/>
                          <a:sym typeface="Symbol"/>
                        </a:rPr>
                        <a:t></a:t>
                      </a:r>
                      <a:r>
                        <a:rPr lang="pt-PT" sz="1600" kern="100" dirty="0">
                          <a:effectLst/>
                        </a:rPr>
                        <a:t>(4,Y) </a:t>
                      </a:r>
                      <a:r>
                        <a:rPr lang="en-US" sz="1600" kern="100" dirty="0">
                          <a:effectLst/>
                          <a:sym typeface="Symbol"/>
                        </a:rPr>
                        <a:t></a:t>
                      </a:r>
                      <a:r>
                        <a:rPr lang="pt-PT" sz="1600" kern="100" dirty="0">
                          <a:effectLst/>
                        </a:rPr>
                        <a:t>(N,N)</a:t>
                      </a:r>
                      <a:endParaRPr lang="zh-CN" sz="1600" kern="100" dirty="0">
                        <a:effectLst/>
                      </a:endParaRPr>
                    </a:p>
                    <a:p>
                      <a:pPr algn="l">
                        <a:spcAft>
                          <a:spcPts val="0"/>
                        </a:spcAft>
                        <a:tabLst>
                          <a:tab pos="266700" algn="l"/>
                        </a:tabLst>
                      </a:pPr>
                      <a:r>
                        <a:rPr lang="en-US" sz="1600" kern="100" dirty="0">
                          <a:effectLst/>
                        </a:rPr>
                        <a:t>(N,Y) </a:t>
                      </a:r>
                      <a:r>
                        <a:rPr lang="en-US" sz="1600" kern="100" dirty="0">
                          <a:effectLst/>
                          <a:sym typeface="Symbol"/>
                        </a:rPr>
                        <a:t></a:t>
                      </a:r>
                      <a:r>
                        <a:rPr lang="en-US" sz="1600" kern="100" dirty="0">
                          <a:effectLst/>
                        </a:rPr>
                        <a:t>(N,N)</a:t>
                      </a:r>
                      <a:endParaRPr lang="zh-CN" sz="1600" kern="100" dirty="0">
                        <a:solidFill>
                          <a:srgbClr val="000000"/>
                        </a:solidFill>
                        <a:effectLst/>
                        <a:latin typeface="Times New Roman"/>
                        <a:ea typeface="宋体"/>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0" name="矩形 9"/>
          <p:cNvSpPr/>
          <p:nvPr/>
        </p:nvSpPr>
        <p:spPr>
          <a:xfrm>
            <a:off x="4716016" y="2099101"/>
            <a:ext cx="2464136" cy="400110"/>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r>
              <a:rPr lang="en-US" altLang="zh-CN" sz="2000" dirty="0"/>
              <a:t>i:</a:t>
            </a:r>
            <a:r>
              <a:rPr lang="zh-CN" altLang="zh-CN" sz="2000" dirty="0"/>
              <a:t>（</a:t>
            </a:r>
            <a:r>
              <a:rPr lang="en-US" altLang="zh-CN" sz="2000" dirty="0"/>
              <a:t>OP</a:t>
            </a:r>
            <a:r>
              <a:rPr lang="zh-CN" altLang="zh-CN" sz="2000" dirty="0"/>
              <a:t>，</a:t>
            </a:r>
            <a:r>
              <a:rPr lang="en-US" altLang="zh-CN" sz="2000" dirty="0"/>
              <a:t>B</a:t>
            </a:r>
            <a:r>
              <a:rPr lang="zh-CN" altLang="zh-CN" sz="2000" dirty="0"/>
              <a:t>，</a:t>
            </a:r>
            <a:r>
              <a:rPr lang="en-US" altLang="zh-CN" sz="2000" dirty="0"/>
              <a:t>C</a:t>
            </a:r>
            <a:r>
              <a:rPr lang="zh-CN" altLang="zh-CN" sz="2000" dirty="0"/>
              <a:t>，</a:t>
            </a:r>
            <a:r>
              <a:rPr lang="en-US" altLang="zh-CN" sz="2000" dirty="0"/>
              <a:t>A</a:t>
            </a:r>
            <a:r>
              <a:rPr lang="zh-CN" altLang="zh-CN" sz="2000" dirty="0"/>
              <a:t>）</a:t>
            </a:r>
            <a:endParaRPr lang="zh-CN" altLang="en-US" sz="2000" dirty="0"/>
          </a:p>
        </p:txBody>
      </p:sp>
      <p:sp>
        <p:nvSpPr>
          <p:cNvPr id="11" name="矩形 10"/>
          <p:cNvSpPr/>
          <p:nvPr/>
        </p:nvSpPr>
        <p:spPr>
          <a:xfrm>
            <a:off x="4211638" y="2643758"/>
            <a:ext cx="4572000" cy="2031325"/>
          </a:xfrm>
          <a:prstGeom prst="rect">
            <a:avLst/>
          </a:prstGeom>
        </p:spPr>
        <p:txBody>
          <a:bodyPr>
            <a:spAutoFit/>
          </a:bodyPr>
          <a:lstStyle/>
          <a:p>
            <a:r>
              <a:rPr lang="zh-CN" altLang="en-US" dirty="0"/>
              <a:t>这条</a:t>
            </a:r>
            <a:r>
              <a:rPr lang="zh-CN" altLang="zh-CN" dirty="0"/>
              <a:t>四元式对</a:t>
            </a:r>
            <a:r>
              <a:rPr lang="en-US" altLang="zh-CN" dirty="0"/>
              <a:t>A</a:t>
            </a:r>
            <a:r>
              <a:rPr lang="zh-CN" altLang="zh-CN" dirty="0"/>
              <a:t>定值，其含义是后续四元式中使用的</a:t>
            </a:r>
            <a:r>
              <a:rPr lang="en-US" altLang="zh-CN" dirty="0"/>
              <a:t>A</a:t>
            </a:r>
            <a:r>
              <a:rPr lang="zh-CN" altLang="zh-CN" dirty="0"/>
              <a:t>都将是第</a:t>
            </a:r>
            <a:r>
              <a:rPr lang="en-US" altLang="zh-CN" dirty="0" err="1"/>
              <a:t>i</a:t>
            </a:r>
            <a:r>
              <a:rPr lang="zh-CN" altLang="zh-CN" dirty="0"/>
              <a:t>条四元式定的值，第</a:t>
            </a:r>
            <a:r>
              <a:rPr lang="en-US" altLang="zh-CN" dirty="0" err="1"/>
              <a:t>i</a:t>
            </a:r>
            <a:r>
              <a:rPr lang="zh-CN" altLang="zh-CN" dirty="0"/>
              <a:t>条四元式之前如果有对</a:t>
            </a:r>
            <a:r>
              <a:rPr lang="en-US" altLang="zh-CN" dirty="0"/>
              <a:t>A</a:t>
            </a:r>
            <a:r>
              <a:rPr lang="zh-CN" altLang="zh-CN" dirty="0"/>
              <a:t>的定值都不再使用，因此，在</a:t>
            </a:r>
            <a:r>
              <a:rPr lang="zh-CN" altLang="zh-CN" dirty="0">
                <a:solidFill>
                  <a:srgbClr val="FF0000"/>
                </a:solidFill>
              </a:rPr>
              <a:t>从后往前扫描的过程</a:t>
            </a:r>
            <a:r>
              <a:rPr lang="zh-CN" altLang="zh-CN" dirty="0"/>
              <a:t>中，应该在第</a:t>
            </a:r>
            <a:r>
              <a:rPr lang="en-US" altLang="zh-CN" dirty="0" err="1"/>
              <a:t>i</a:t>
            </a:r>
            <a:r>
              <a:rPr lang="zh-CN" altLang="zh-CN" dirty="0"/>
              <a:t>条四元式中设置</a:t>
            </a:r>
            <a:r>
              <a:rPr lang="en-US" altLang="zh-CN" dirty="0"/>
              <a:t>A</a:t>
            </a:r>
            <a:r>
              <a:rPr lang="zh-CN" altLang="zh-CN" dirty="0"/>
              <a:t>为非活跃非引用</a:t>
            </a:r>
            <a:r>
              <a:rPr lang="zh-CN" altLang="zh-CN" dirty="0">
                <a:solidFill>
                  <a:srgbClr val="FF0000"/>
                </a:solidFill>
              </a:rPr>
              <a:t>（</a:t>
            </a:r>
            <a:r>
              <a:rPr lang="en-US" altLang="zh-CN" dirty="0">
                <a:solidFill>
                  <a:srgbClr val="FF0000"/>
                </a:solidFill>
              </a:rPr>
              <a:t>N,N</a:t>
            </a:r>
            <a:r>
              <a:rPr lang="zh-CN" altLang="zh-CN" dirty="0">
                <a:solidFill>
                  <a:srgbClr val="FF0000"/>
                </a:solidFill>
              </a:rPr>
              <a:t>）</a:t>
            </a:r>
            <a:r>
              <a:rPr lang="zh-CN" altLang="zh-CN" dirty="0"/>
              <a:t>，对于</a:t>
            </a:r>
            <a:r>
              <a:rPr lang="en-US" altLang="zh-CN" dirty="0"/>
              <a:t>B</a:t>
            </a:r>
            <a:r>
              <a:rPr lang="zh-CN" altLang="zh-CN" dirty="0"/>
              <a:t>、</a:t>
            </a:r>
            <a:r>
              <a:rPr lang="en-US" altLang="zh-CN" dirty="0"/>
              <a:t>C</a:t>
            </a:r>
            <a:r>
              <a:rPr lang="zh-CN" altLang="zh-CN" dirty="0"/>
              <a:t>应设置其在第</a:t>
            </a:r>
            <a:r>
              <a:rPr lang="en-US" altLang="zh-CN" dirty="0" err="1"/>
              <a:t>i</a:t>
            </a:r>
            <a:r>
              <a:rPr lang="zh-CN" altLang="zh-CN" dirty="0"/>
              <a:t>条四元式引用过，也是活跃的，即设置为</a:t>
            </a:r>
            <a:r>
              <a:rPr lang="zh-CN" altLang="zh-CN" dirty="0">
                <a:solidFill>
                  <a:srgbClr val="FF0000"/>
                </a:solidFill>
              </a:rPr>
              <a:t>（</a:t>
            </a:r>
            <a:r>
              <a:rPr lang="en-US" altLang="zh-CN" dirty="0" err="1">
                <a:solidFill>
                  <a:srgbClr val="FF0000"/>
                </a:solidFill>
              </a:rPr>
              <a:t>i</a:t>
            </a:r>
            <a:r>
              <a:rPr lang="en-US" altLang="zh-CN" dirty="0">
                <a:solidFill>
                  <a:srgbClr val="FF0000"/>
                </a:solidFill>
              </a:rPr>
              <a:t>, Y</a:t>
            </a:r>
            <a:r>
              <a:rPr lang="zh-CN" altLang="zh-CN" dirty="0">
                <a:solidFill>
                  <a:srgbClr val="FF0000"/>
                </a:solidFill>
              </a:rPr>
              <a:t>）</a:t>
            </a:r>
            <a:endParaRPr lang="zh-CN" altLang="zh-CN" dirty="0"/>
          </a:p>
        </p:txBody>
      </p:sp>
    </p:spTree>
    <p:extLst>
      <p:ext uri="{BB962C8B-B14F-4D97-AF65-F5344CB8AC3E}">
        <p14:creationId xmlns:p14="http://schemas.microsoft.com/office/powerpoint/2010/main" val="64331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10" grpId="0" animBg="1"/>
      <p:bldP spid="1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a:spLocks noGrp="1"/>
          </p:cNvSpPr>
          <p:nvPr>
            <p:ph type="title"/>
          </p:nvPr>
        </p:nvSpPr>
        <p:spPr>
          <a:xfrm>
            <a:off x="107504" y="123478"/>
            <a:ext cx="8229600" cy="576064"/>
          </a:xfrm>
        </p:spPr>
        <p:txBody>
          <a:bodyPr>
            <a:normAutofit fontScale="90000"/>
          </a:bodyPr>
          <a:lstStyle/>
          <a:p>
            <a:r>
              <a:rPr lang="zh-CN" altLang="en-US" dirty="0">
                <a:solidFill>
                  <a:srgbClr val="CC0099"/>
                </a:solidFill>
              </a:rPr>
              <a:t>计算引用信息和活跃信息的算法</a:t>
            </a:r>
            <a:endParaRPr lang="zh-CN" altLang="en-US" dirty="0"/>
          </a:p>
        </p:txBody>
      </p:sp>
      <p:sp>
        <p:nvSpPr>
          <p:cNvPr id="5" name="矩形 4"/>
          <p:cNvSpPr/>
          <p:nvPr/>
        </p:nvSpPr>
        <p:spPr>
          <a:xfrm>
            <a:off x="395536" y="855752"/>
            <a:ext cx="8219950" cy="70788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lvl="0" indent="-285750" fontAlgn="base">
              <a:spcBef>
                <a:spcPct val="0"/>
              </a:spcBef>
              <a:spcAft>
                <a:spcPct val="0"/>
              </a:spcAft>
              <a:buFont typeface="Arial" panose="020B0604020202020204" pitchFamily="34" charset="0"/>
              <a:buChar char="•"/>
            </a:pPr>
            <a:r>
              <a:rPr lang="zh-CN" altLang="zh-CN" sz="2000" dirty="0">
                <a:solidFill>
                  <a:srgbClr val="000000"/>
                </a:solidFill>
                <a:latin typeface="Times New Roman" pitchFamily="18" charset="0"/>
                <a:ea typeface="宋体" pitchFamily="2" charset="-122"/>
                <a:cs typeface="Times New Roman" pitchFamily="18" charset="0"/>
              </a:rPr>
              <a:t>开始时，把各变量在符号表中的下次引用信息置为“</a:t>
            </a:r>
            <a:r>
              <a:rPr lang="en-US" altLang="zh-CN" sz="2000" dirty="0">
                <a:solidFill>
                  <a:srgbClr val="000000"/>
                </a:solidFill>
                <a:latin typeface="Times New Roman" pitchFamily="18" charset="0"/>
                <a:ea typeface="宋体" pitchFamily="2" charset="-122"/>
                <a:cs typeface="Times New Roman" pitchFamily="18" charset="0"/>
              </a:rPr>
              <a:t>N</a:t>
            </a:r>
            <a:r>
              <a:rPr lang="zh-CN" altLang="zh-CN" sz="2000" dirty="0">
                <a:solidFill>
                  <a:srgbClr val="000000"/>
                </a:solidFill>
                <a:latin typeface="Times New Roman" pitchFamily="18" charset="0"/>
                <a:ea typeface="宋体" pitchFamily="2" charset="-122"/>
                <a:cs typeface="Times New Roman" pitchFamily="18" charset="0"/>
              </a:rPr>
              <a:t>”，根据该变量在基本块出口之后是不是活跃的，把活跃信息域置为“</a:t>
            </a:r>
            <a:r>
              <a:rPr lang="en-US" altLang="zh-CN" sz="2000" dirty="0">
                <a:solidFill>
                  <a:srgbClr val="000000"/>
                </a:solidFill>
                <a:latin typeface="Times New Roman" pitchFamily="18" charset="0"/>
                <a:ea typeface="宋体" pitchFamily="2" charset="-122"/>
                <a:cs typeface="Times New Roman" pitchFamily="18" charset="0"/>
              </a:rPr>
              <a:t>Y</a:t>
            </a:r>
            <a:r>
              <a:rPr lang="zh-CN" altLang="zh-CN" sz="2000" dirty="0">
                <a:solidFill>
                  <a:srgbClr val="000000"/>
                </a:solidFill>
                <a:latin typeface="Times New Roman" pitchFamily="18" charset="0"/>
                <a:ea typeface="宋体" pitchFamily="2" charset="-122"/>
                <a:cs typeface="Times New Roman" pitchFamily="18" charset="0"/>
              </a:rPr>
              <a:t>”或“</a:t>
            </a:r>
            <a:r>
              <a:rPr lang="en-US" altLang="zh-CN" sz="2000" dirty="0">
                <a:solidFill>
                  <a:srgbClr val="000000"/>
                </a:solidFill>
                <a:latin typeface="Times New Roman" pitchFamily="18" charset="0"/>
                <a:ea typeface="宋体" pitchFamily="2" charset="-122"/>
                <a:cs typeface="Times New Roman" pitchFamily="18" charset="0"/>
              </a:rPr>
              <a:t>N</a:t>
            </a:r>
            <a:r>
              <a:rPr lang="zh-CN" altLang="zh-CN" sz="2000" dirty="0">
                <a:solidFill>
                  <a:srgbClr val="000000"/>
                </a:solidFill>
                <a:latin typeface="Times New Roman" pitchFamily="18" charset="0"/>
                <a:ea typeface="宋体" pitchFamily="2" charset="-122"/>
                <a:cs typeface="Times New Roman" pitchFamily="18" charset="0"/>
              </a:rPr>
              <a:t>”</a:t>
            </a:r>
            <a:endParaRPr lang="zh-CN" altLang="zh-CN" sz="2000" dirty="0">
              <a:solidFill>
                <a:srgbClr val="000000"/>
              </a:solidFill>
              <a:latin typeface="Times New Roman" pitchFamily="18" charset="0"/>
              <a:ea typeface="宋体" pitchFamily="2" charset="-122"/>
            </a:endParaRPr>
          </a:p>
        </p:txBody>
      </p:sp>
      <p:sp>
        <p:nvSpPr>
          <p:cNvPr id="6" name="矩形 5"/>
          <p:cNvSpPr/>
          <p:nvPr/>
        </p:nvSpPr>
        <p:spPr>
          <a:xfrm>
            <a:off x="395536" y="1707654"/>
            <a:ext cx="8219950" cy="144655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lvl="0" indent="-285750" fontAlgn="base">
              <a:spcBef>
                <a:spcPct val="0"/>
              </a:spcBef>
              <a:spcAft>
                <a:spcPct val="0"/>
              </a:spcAft>
              <a:buFont typeface="Arial" panose="020B0604020202020204" pitchFamily="34" charset="0"/>
              <a:buChar char="•"/>
            </a:pPr>
            <a:r>
              <a:rPr lang="zh-CN" altLang="zh-CN" sz="2000" dirty="0">
                <a:latin typeface="宋体" panose="02010600030101010101" pitchFamily="2" charset="-122"/>
                <a:ea typeface="宋体" panose="02010600030101010101" pitchFamily="2" charset="-122"/>
              </a:rPr>
              <a:t>从基本块出口到入口由后向前依次处理每一条中间代码，把符号表中该四元式中变量的现有信息填写到四元式对应变量的引用信息和活跃信息栏，再更新符号表中每个变量新的引用信息和活跃信息。</a:t>
            </a:r>
            <a:r>
              <a:rPr lang="zh-CN" altLang="en-US" sz="2000" dirty="0">
                <a:latin typeface="宋体" panose="02010600030101010101" pitchFamily="2" charset="-122"/>
                <a:ea typeface="宋体" panose="02010600030101010101" pitchFamily="2" charset="-122"/>
              </a:rPr>
              <a:t>具体步骤是：对</a:t>
            </a:r>
            <a:r>
              <a:rPr lang="zh-CN" altLang="zh-CN" sz="2000" dirty="0">
                <a:solidFill>
                  <a:srgbClr val="000000"/>
                </a:solidFill>
                <a:latin typeface="宋体" panose="02010600030101010101" pitchFamily="2" charset="-122"/>
                <a:ea typeface="宋体" panose="02010600030101010101" pitchFamily="2" charset="-122"/>
                <a:cs typeface="Times New Roman" pitchFamily="18" charset="0"/>
              </a:rPr>
              <a:t>四元式形式</a:t>
            </a:r>
            <a:r>
              <a:rPr lang="en-US" altLang="zh-CN" sz="2800" b="1" dirty="0" err="1">
                <a:solidFill>
                  <a:srgbClr val="FF0000"/>
                </a:solidFill>
                <a:latin typeface="宋体" panose="02010600030101010101" pitchFamily="2" charset="-122"/>
                <a:ea typeface="宋体" panose="02010600030101010101" pitchFamily="2" charset="-122"/>
              </a:rPr>
              <a:t>i</a:t>
            </a:r>
            <a:r>
              <a:rPr lang="zh-CN" altLang="zh-CN" sz="2800" b="1" dirty="0">
                <a:solidFill>
                  <a:srgbClr val="FF0000"/>
                </a:solidFill>
                <a:latin typeface="宋体" panose="02010600030101010101" pitchFamily="2" charset="-122"/>
                <a:ea typeface="宋体" panose="02010600030101010101" pitchFamily="2" charset="-122"/>
                <a:cs typeface="Times New Roman" pitchFamily="18" charset="0"/>
              </a:rPr>
              <a:t>：</a:t>
            </a:r>
            <a:r>
              <a:rPr lang="en-US" altLang="zh-CN" sz="2800" b="1" dirty="0">
                <a:solidFill>
                  <a:srgbClr val="FF0000"/>
                </a:solidFill>
                <a:latin typeface="宋体" panose="02010600030101010101" pitchFamily="2" charset="-122"/>
                <a:ea typeface="宋体" panose="02010600030101010101" pitchFamily="2" charset="-122"/>
                <a:cs typeface="Times New Roman" pitchFamily="18" charset="0"/>
              </a:rPr>
              <a:t>(</a:t>
            </a:r>
            <a:r>
              <a:rPr lang="en-US" altLang="zh-CN" sz="2800" b="1" dirty="0" err="1">
                <a:solidFill>
                  <a:srgbClr val="FF0000"/>
                </a:solidFill>
                <a:latin typeface="宋体" panose="02010600030101010101" pitchFamily="2" charset="-122"/>
                <a:ea typeface="宋体" panose="02010600030101010101" pitchFamily="2" charset="-122"/>
              </a:rPr>
              <a:t>op,y,z,x</a:t>
            </a:r>
            <a:r>
              <a:rPr lang="en-US" altLang="zh-CN" sz="2800" b="1" dirty="0">
                <a:solidFill>
                  <a:srgbClr val="FF0000"/>
                </a:solidFill>
                <a:latin typeface="宋体" panose="02010600030101010101" pitchFamily="2" charset="-122"/>
                <a:ea typeface="宋体" panose="02010600030101010101" pitchFamily="2" charset="-122"/>
              </a:rPr>
              <a:t>)</a:t>
            </a:r>
            <a:r>
              <a:rPr lang="zh-CN" altLang="zh-CN" sz="2800" b="1" dirty="0">
                <a:solidFill>
                  <a:srgbClr val="FF0000"/>
                </a:solidFill>
                <a:latin typeface="宋体" panose="02010600030101010101" pitchFamily="2" charset="-122"/>
                <a:ea typeface="宋体" panose="02010600030101010101" pitchFamily="2" charset="-122"/>
                <a:cs typeface="Times New Roman" pitchFamily="18" charset="0"/>
              </a:rPr>
              <a:t> </a:t>
            </a:r>
            <a:r>
              <a:rPr lang="zh-CN" altLang="zh-CN" sz="2000" dirty="0">
                <a:solidFill>
                  <a:srgbClr val="000000"/>
                </a:solidFill>
                <a:latin typeface="宋体" panose="02010600030101010101" pitchFamily="2" charset="-122"/>
                <a:ea typeface="宋体" panose="02010600030101010101" pitchFamily="2" charset="-122"/>
                <a:cs typeface="Times New Roman" pitchFamily="18" charset="0"/>
              </a:rPr>
              <a:t>依次执行</a:t>
            </a:r>
            <a:r>
              <a:rPr lang="zh-CN" altLang="en-US" sz="2000" dirty="0">
                <a:solidFill>
                  <a:srgbClr val="000000"/>
                </a:solidFill>
                <a:latin typeface="宋体" panose="02010600030101010101" pitchFamily="2" charset="-122"/>
                <a:ea typeface="宋体" panose="02010600030101010101" pitchFamily="2" charset="-122"/>
                <a:cs typeface="Times New Roman" pitchFamily="18" charset="0"/>
              </a:rPr>
              <a:t>动作</a:t>
            </a:r>
            <a:r>
              <a:rPr lang="zh-CN" altLang="zh-CN" sz="2000" dirty="0">
                <a:solidFill>
                  <a:srgbClr val="000000"/>
                </a:solidFill>
                <a:latin typeface="宋体" panose="02010600030101010101" pitchFamily="2" charset="-122"/>
                <a:ea typeface="宋体" panose="02010600030101010101" pitchFamily="2" charset="-122"/>
                <a:cs typeface="Times New Roman" pitchFamily="18" charset="0"/>
              </a:rPr>
              <a:t>：</a:t>
            </a:r>
            <a:endParaRPr lang="zh-CN" altLang="zh-CN" sz="2000" dirty="0">
              <a:solidFill>
                <a:srgbClr val="000000"/>
              </a:solidFill>
              <a:latin typeface="宋体" panose="02010600030101010101" pitchFamily="2" charset="-122"/>
              <a:ea typeface="宋体" panose="02010600030101010101" pitchFamily="2"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4270460054"/>
              </p:ext>
            </p:extLst>
          </p:nvPr>
        </p:nvGraphicFramePr>
        <p:xfrm>
          <a:off x="251520" y="3363838"/>
          <a:ext cx="3455987" cy="1645920"/>
        </p:xfrm>
        <a:graphic>
          <a:graphicData uri="http://schemas.openxmlformats.org/drawingml/2006/table">
            <a:tbl>
              <a:tblPr/>
              <a:tblGrid>
                <a:gridCol w="916895">
                  <a:extLst>
                    <a:ext uri="{9D8B030D-6E8A-4147-A177-3AD203B41FA5}">
                      <a16:colId xmlns:a16="http://schemas.microsoft.com/office/drawing/2014/main" val="20000"/>
                    </a:ext>
                  </a:extLst>
                </a:gridCol>
                <a:gridCol w="2539092">
                  <a:extLst>
                    <a:ext uri="{9D8B030D-6E8A-4147-A177-3AD203B41FA5}">
                      <a16:colId xmlns:a16="http://schemas.microsoft.com/office/drawing/2014/main" val="20001"/>
                    </a:ext>
                  </a:extLst>
                </a:gridCol>
              </a:tblGrid>
              <a:tr h="0">
                <a:tc>
                  <a:txBody>
                    <a:bodyPr/>
                    <a:lstStyle/>
                    <a:p>
                      <a:pPr algn="l">
                        <a:spcAft>
                          <a:spcPts val="0"/>
                        </a:spcAft>
                        <a:tabLst>
                          <a:tab pos="266700" algn="l"/>
                        </a:tabLst>
                      </a:pPr>
                      <a:r>
                        <a:rPr lang="zh-CN" sz="1800" kern="100" dirty="0">
                          <a:solidFill>
                            <a:srgbClr val="000000"/>
                          </a:solidFill>
                          <a:latin typeface="宋体" panose="02010600030101010101" pitchFamily="2" charset="-122"/>
                          <a:ea typeface="宋体" panose="02010600030101010101" pitchFamily="2" charset="-122"/>
                        </a:rPr>
                        <a:t>变量</a:t>
                      </a:r>
                      <a:endParaRPr lang="zh-CN" sz="1800" kern="100" dirty="0">
                        <a:latin typeface="宋体" panose="02010600030101010101" pitchFamily="2" charset="-122"/>
                        <a:ea typeface="宋体" panose="02010600030101010101" pitchFamily="2" charset="-122"/>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tabLst>
                          <a:tab pos="266700" algn="l"/>
                        </a:tabLst>
                      </a:pPr>
                      <a:r>
                        <a:rPr lang="zh-CN" sz="1800" kern="100" dirty="0">
                          <a:solidFill>
                            <a:srgbClr val="000000"/>
                          </a:solidFill>
                          <a:latin typeface="宋体" panose="02010600030101010101" pitchFamily="2" charset="-122"/>
                          <a:ea typeface="宋体" panose="02010600030101010101" pitchFamily="2" charset="-122"/>
                        </a:rPr>
                        <a:t>引用信息及活跃信息</a:t>
                      </a:r>
                      <a:endParaRPr lang="zh-CN" sz="1800" kern="100" dirty="0">
                        <a:latin typeface="宋体" panose="02010600030101010101" pitchFamily="2" charset="-122"/>
                        <a:ea typeface="宋体" panose="02010600030101010101" pitchFamily="2" charset="-122"/>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l">
                        <a:spcAft>
                          <a:spcPts val="0"/>
                        </a:spcAft>
                        <a:tabLst>
                          <a:tab pos="266700" algn="l"/>
                        </a:tabLst>
                      </a:pPr>
                      <a:r>
                        <a:rPr lang="en-US" sz="1800" kern="100" dirty="0">
                          <a:solidFill>
                            <a:srgbClr val="000000"/>
                          </a:solidFill>
                          <a:latin typeface="宋体" panose="02010600030101010101" pitchFamily="2" charset="-122"/>
                          <a:ea typeface="宋体" panose="02010600030101010101" pitchFamily="2" charset="-122"/>
                        </a:rPr>
                        <a:t>x</a:t>
                      </a:r>
                      <a:endParaRPr lang="zh-CN" sz="1800" kern="100" dirty="0">
                        <a:latin typeface="宋体" panose="02010600030101010101" pitchFamily="2" charset="-122"/>
                        <a:ea typeface="宋体" panose="02010600030101010101" pitchFamily="2" charset="-122"/>
                      </a:endParaRPr>
                    </a:p>
                    <a:p>
                      <a:pPr algn="l">
                        <a:spcAft>
                          <a:spcPts val="0"/>
                        </a:spcAft>
                        <a:tabLst>
                          <a:tab pos="266700" algn="l"/>
                        </a:tabLst>
                      </a:pPr>
                      <a:r>
                        <a:rPr lang="en-US" altLang="zh-CN" sz="1800" kern="100" dirty="0">
                          <a:solidFill>
                            <a:srgbClr val="000000"/>
                          </a:solidFill>
                          <a:latin typeface="宋体" panose="02010600030101010101" pitchFamily="2" charset="-122"/>
                          <a:ea typeface="宋体" panose="02010600030101010101" pitchFamily="2" charset="-122"/>
                        </a:rPr>
                        <a:t>y</a:t>
                      </a:r>
                      <a:endParaRPr lang="zh-CN" sz="1800" kern="100" dirty="0">
                        <a:latin typeface="宋体" panose="02010600030101010101" pitchFamily="2" charset="-122"/>
                        <a:ea typeface="宋体" panose="02010600030101010101" pitchFamily="2" charset="-122"/>
                      </a:endParaRPr>
                    </a:p>
                    <a:p>
                      <a:pPr algn="l">
                        <a:spcAft>
                          <a:spcPts val="0"/>
                        </a:spcAft>
                        <a:tabLst>
                          <a:tab pos="266700" algn="l"/>
                        </a:tabLst>
                      </a:pPr>
                      <a:r>
                        <a:rPr lang="en-US" altLang="zh-CN" sz="1800" kern="100" dirty="0">
                          <a:solidFill>
                            <a:srgbClr val="000000"/>
                          </a:solidFill>
                          <a:latin typeface="宋体" panose="02010600030101010101" pitchFamily="2" charset="-122"/>
                          <a:ea typeface="宋体" panose="02010600030101010101" pitchFamily="2" charset="-122"/>
                        </a:rPr>
                        <a:t>z</a:t>
                      </a:r>
                    </a:p>
                    <a:p>
                      <a:pPr algn="l">
                        <a:spcAft>
                          <a:spcPts val="0"/>
                        </a:spcAft>
                        <a:tabLst>
                          <a:tab pos="266700" algn="l"/>
                        </a:tabLst>
                      </a:pPr>
                      <a:r>
                        <a:rPr lang="en-US" altLang="zh-CN" sz="1800" kern="100" dirty="0">
                          <a:solidFill>
                            <a:srgbClr val="000000"/>
                          </a:solidFill>
                          <a:latin typeface="宋体" panose="02010600030101010101" pitchFamily="2" charset="-122"/>
                          <a:ea typeface="宋体" panose="02010600030101010101" pitchFamily="2" charset="-122"/>
                        </a:rPr>
                        <a:t>d</a:t>
                      </a:r>
                    </a:p>
                    <a:p>
                      <a:pPr algn="l">
                        <a:spcAft>
                          <a:spcPts val="0"/>
                        </a:spcAft>
                        <a:tabLst>
                          <a:tab pos="266700" algn="l"/>
                        </a:tabLst>
                      </a:pPr>
                      <a:r>
                        <a:rPr lang="en-US" altLang="zh-CN" sz="1800" kern="100" dirty="0">
                          <a:solidFill>
                            <a:srgbClr val="000000"/>
                          </a:solidFill>
                          <a:latin typeface="宋体" panose="02010600030101010101" pitchFamily="2" charset="-122"/>
                          <a:ea typeface="宋体" panose="02010600030101010101" pitchFamily="2" charset="-122"/>
                        </a:rPr>
                        <a:t>…</a:t>
                      </a:r>
                      <a:endParaRPr lang="zh-CN" sz="1800" kern="100" dirty="0">
                        <a:latin typeface="宋体" panose="02010600030101010101" pitchFamily="2" charset="-122"/>
                        <a:ea typeface="宋体" panose="02010600030101010101" pitchFamily="2" charset="-122"/>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spcAft>
                          <a:spcPts val="0"/>
                        </a:spcAft>
                        <a:tabLst>
                          <a:tab pos="266700" algn="l"/>
                        </a:tabLst>
                      </a:pPr>
                      <a:endParaRPr lang="en-US" altLang="zh-CN" sz="1800" kern="100" dirty="0">
                        <a:latin typeface="宋体" panose="02010600030101010101" pitchFamily="2" charset="-122"/>
                        <a:ea typeface="宋体" panose="02010600030101010101" pitchFamily="2" charset="-122"/>
                      </a:endParaRPr>
                    </a:p>
                    <a:p>
                      <a:pPr algn="l">
                        <a:spcAft>
                          <a:spcPts val="0"/>
                        </a:spcAft>
                        <a:tabLst>
                          <a:tab pos="266700" algn="l"/>
                        </a:tabLst>
                      </a:pPr>
                      <a:endParaRPr lang="en-US" altLang="zh-CN" sz="1800" kern="100" dirty="0">
                        <a:latin typeface="宋体" panose="02010600030101010101" pitchFamily="2" charset="-122"/>
                        <a:ea typeface="宋体" panose="02010600030101010101" pitchFamily="2" charset="-122"/>
                      </a:endParaRPr>
                    </a:p>
                    <a:p>
                      <a:pPr algn="l">
                        <a:spcAft>
                          <a:spcPts val="0"/>
                        </a:spcAft>
                        <a:tabLst>
                          <a:tab pos="266700" algn="l"/>
                        </a:tabLst>
                      </a:pPr>
                      <a:endParaRPr lang="en-US" altLang="zh-CN" sz="1800" kern="100" dirty="0">
                        <a:latin typeface="宋体" panose="02010600030101010101" pitchFamily="2" charset="-122"/>
                        <a:ea typeface="宋体" panose="02010600030101010101" pitchFamily="2" charset="-122"/>
                      </a:endParaRPr>
                    </a:p>
                    <a:p>
                      <a:pPr algn="l">
                        <a:spcAft>
                          <a:spcPts val="0"/>
                        </a:spcAft>
                        <a:tabLst>
                          <a:tab pos="266700" algn="l"/>
                        </a:tabLst>
                      </a:pPr>
                      <a:endParaRPr lang="en-US" altLang="zh-CN" sz="1800" kern="100" dirty="0">
                        <a:latin typeface="宋体" panose="02010600030101010101" pitchFamily="2" charset="-122"/>
                        <a:ea typeface="宋体" panose="02010600030101010101" pitchFamily="2" charset="-122"/>
                      </a:endParaRPr>
                    </a:p>
                    <a:p>
                      <a:pPr algn="l">
                        <a:spcAft>
                          <a:spcPts val="0"/>
                        </a:spcAft>
                        <a:tabLst>
                          <a:tab pos="266700" algn="l"/>
                        </a:tabLst>
                      </a:pPr>
                      <a:endParaRPr lang="zh-CN" altLang="zh-CN" sz="1800" kern="100" dirty="0">
                        <a:latin typeface="宋体" panose="02010600030101010101" pitchFamily="2" charset="-122"/>
                        <a:ea typeface="宋体" panose="02010600030101010101" pitchFamily="2" charset="-122"/>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3398061457"/>
              </p:ext>
            </p:extLst>
          </p:nvPr>
        </p:nvGraphicFramePr>
        <p:xfrm>
          <a:off x="3995738" y="3507854"/>
          <a:ext cx="4680718" cy="822960"/>
        </p:xfrm>
        <a:graphic>
          <a:graphicData uri="http://schemas.openxmlformats.org/drawingml/2006/table">
            <a:tbl>
              <a:tblPr/>
              <a:tblGrid>
                <a:gridCol w="657223">
                  <a:extLst>
                    <a:ext uri="{9D8B030D-6E8A-4147-A177-3AD203B41FA5}">
                      <a16:colId xmlns:a16="http://schemas.microsoft.com/office/drawing/2014/main" val="20000"/>
                    </a:ext>
                  </a:extLst>
                </a:gridCol>
                <a:gridCol w="1359199">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936104">
                  <a:extLst>
                    <a:ext uri="{9D8B030D-6E8A-4147-A177-3AD203B41FA5}">
                      <a16:colId xmlns:a16="http://schemas.microsoft.com/office/drawing/2014/main" val="20003"/>
                    </a:ext>
                  </a:extLst>
                </a:gridCol>
                <a:gridCol w="1008112">
                  <a:extLst>
                    <a:ext uri="{9D8B030D-6E8A-4147-A177-3AD203B41FA5}">
                      <a16:colId xmlns:a16="http://schemas.microsoft.com/office/drawing/2014/main" val="20004"/>
                    </a:ext>
                  </a:extLst>
                </a:gridCol>
              </a:tblGrid>
              <a:tr h="0">
                <a:tc>
                  <a:txBody>
                    <a:bodyPr/>
                    <a:lstStyle/>
                    <a:p>
                      <a:pPr algn="ctr">
                        <a:spcAft>
                          <a:spcPts val="0"/>
                        </a:spcAft>
                      </a:pPr>
                      <a:r>
                        <a:rPr lang="zh-CN" sz="1800" dirty="0">
                          <a:solidFill>
                            <a:srgbClr val="000000"/>
                          </a:solidFill>
                          <a:latin typeface="宋体" panose="02010600030101010101" pitchFamily="2" charset="-122"/>
                          <a:ea typeface="宋体" panose="02010600030101010101" pitchFamily="2" charset="-122"/>
                          <a:cs typeface="Times New Roman"/>
                        </a:rPr>
                        <a:t>序号</a:t>
                      </a:r>
                      <a:endParaRPr lang="zh-CN" sz="1800" dirty="0">
                        <a:solidFill>
                          <a:srgbClr val="000000"/>
                        </a:solidFill>
                        <a:latin typeface="宋体" panose="02010600030101010101" pitchFamily="2" charset="-122"/>
                        <a:ea typeface="宋体" panose="02010600030101010101" pitchFamily="2" charset="-122"/>
                        <a:cs typeface="宋体"/>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a:solidFill>
                            <a:srgbClr val="000000"/>
                          </a:solidFill>
                          <a:latin typeface="宋体" panose="02010600030101010101" pitchFamily="2" charset="-122"/>
                          <a:ea typeface="宋体" panose="02010600030101010101" pitchFamily="2" charset="-122"/>
                          <a:cs typeface="Times New Roman"/>
                        </a:rPr>
                        <a:t>四元式</a:t>
                      </a:r>
                      <a:endParaRPr lang="zh-CN" sz="1800">
                        <a:solidFill>
                          <a:srgbClr val="000000"/>
                        </a:solidFill>
                        <a:latin typeface="宋体" panose="02010600030101010101" pitchFamily="2" charset="-122"/>
                        <a:ea typeface="宋体" panose="02010600030101010101" pitchFamily="2" charset="-122"/>
                        <a:cs typeface="宋体"/>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a:solidFill>
                            <a:srgbClr val="000000"/>
                          </a:solidFill>
                          <a:latin typeface="宋体" panose="02010600030101010101" pitchFamily="2" charset="-122"/>
                          <a:ea typeface="宋体" panose="02010600030101010101" pitchFamily="2" charset="-122"/>
                          <a:cs typeface="Times New Roman"/>
                        </a:rPr>
                        <a:t>结果</a:t>
                      </a:r>
                      <a:endParaRPr lang="zh-CN" sz="1800">
                        <a:solidFill>
                          <a:srgbClr val="000000"/>
                        </a:solidFill>
                        <a:latin typeface="宋体" panose="02010600030101010101" pitchFamily="2" charset="-122"/>
                        <a:ea typeface="宋体" panose="02010600030101010101" pitchFamily="2" charset="-122"/>
                        <a:cs typeface="宋体"/>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a:solidFill>
                            <a:srgbClr val="000000"/>
                          </a:solidFill>
                          <a:latin typeface="宋体" panose="02010600030101010101" pitchFamily="2" charset="-122"/>
                          <a:ea typeface="宋体" panose="02010600030101010101" pitchFamily="2" charset="-122"/>
                          <a:cs typeface="Times New Roman"/>
                        </a:rPr>
                        <a:t>左变量</a:t>
                      </a:r>
                      <a:endParaRPr lang="zh-CN" sz="1800">
                        <a:solidFill>
                          <a:srgbClr val="000000"/>
                        </a:solidFill>
                        <a:latin typeface="宋体" panose="02010600030101010101" pitchFamily="2" charset="-122"/>
                        <a:ea typeface="宋体" panose="02010600030101010101" pitchFamily="2" charset="-122"/>
                        <a:cs typeface="宋体"/>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a:solidFill>
                            <a:srgbClr val="000000"/>
                          </a:solidFill>
                          <a:latin typeface="宋体" panose="02010600030101010101" pitchFamily="2" charset="-122"/>
                          <a:ea typeface="宋体" panose="02010600030101010101" pitchFamily="2" charset="-122"/>
                          <a:cs typeface="Times New Roman"/>
                        </a:rPr>
                        <a:t>右变量</a:t>
                      </a:r>
                      <a:endParaRPr lang="zh-CN" sz="1800">
                        <a:solidFill>
                          <a:srgbClr val="000000"/>
                        </a:solidFill>
                        <a:latin typeface="宋体" panose="02010600030101010101" pitchFamily="2" charset="-122"/>
                        <a:ea typeface="宋体" panose="02010600030101010101" pitchFamily="2" charset="-122"/>
                        <a:cs typeface="宋体"/>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a:spcAft>
                          <a:spcPts val="0"/>
                        </a:spcAft>
                      </a:pPr>
                      <a:r>
                        <a:rPr lang="en-US" altLang="zh-CN" sz="1800" dirty="0" err="1">
                          <a:solidFill>
                            <a:srgbClr val="000000"/>
                          </a:solidFill>
                          <a:latin typeface="宋体" panose="02010600030101010101" pitchFamily="2" charset="-122"/>
                          <a:ea typeface="宋体" panose="02010600030101010101" pitchFamily="2" charset="-122"/>
                          <a:cs typeface="宋体"/>
                        </a:rPr>
                        <a:t>i</a:t>
                      </a:r>
                      <a:endParaRPr lang="zh-CN" sz="1800" dirty="0">
                        <a:solidFill>
                          <a:srgbClr val="000000"/>
                        </a:solidFill>
                        <a:latin typeface="宋体" panose="02010600030101010101" pitchFamily="2" charset="-122"/>
                        <a:ea typeface="宋体" panose="02010600030101010101" pitchFamily="2" charset="-122"/>
                        <a:cs typeface="宋体"/>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dirty="0">
                          <a:solidFill>
                            <a:srgbClr val="000000"/>
                          </a:solidFill>
                          <a:latin typeface="宋体" panose="02010600030101010101" pitchFamily="2" charset="-122"/>
                          <a:ea typeface="宋体" panose="02010600030101010101" pitchFamily="2" charset="-122"/>
                          <a:cs typeface="宋体"/>
                        </a:rPr>
                        <a:t>(</a:t>
                      </a:r>
                      <a:r>
                        <a:rPr lang="en-US" sz="1800" dirty="0" err="1">
                          <a:solidFill>
                            <a:srgbClr val="000000"/>
                          </a:solidFill>
                          <a:latin typeface="宋体" panose="02010600030101010101" pitchFamily="2" charset="-122"/>
                          <a:ea typeface="宋体" panose="02010600030101010101" pitchFamily="2" charset="-122"/>
                          <a:cs typeface="宋体"/>
                        </a:rPr>
                        <a:t>op,y,z,x</a:t>
                      </a:r>
                      <a:r>
                        <a:rPr lang="en-US" sz="1800" dirty="0">
                          <a:solidFill>
                            <a:srgbClr val="000000"/>
                          </a:solidFill>
                          <a:latin typeface="宋体" panose="02010600030101010101" pitchFamily="2" charset="-122"/>
                          <a:ea typeface="宋体" panose="02010600030101010101" pitchFamily="2" charset="-122"/>
                          <a:cs typeface="宋体"/>
                        </a:rPr>
                        <a:t>)</a:t>
                      </a:r>
                      <a:endParaRPr lang="zh-CN" sz="1800" dirty="0">
                        <a:solidFill>
                          <a:srgbClr val="000000"/>
                        </a:solidFill>
                        <a:latin typeface="宋体" panose="02010600030101010101" pitchFamily="2" charset="-122"/>
                        <a:ea typeface="宋体" panose="02010600030101010101" pitchFamily="2" charset="-122"/>
                        <a:cs typeface="宋体"/>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800" dirty="0">
                        <a:solidFill>
                          <a:srgbClr val="000000"/>
                        </a:solidFill>
                        <a:latin typeface="宋体" panose="02010600030101010101" pitchFamily="2" charset="-122"/>
                        <a:ea typeface="宋体" panose="02010600030101010101" pitchFamily="2" charset="-122"/>
                        <a:cs typeface="宋体"/>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800">
                        <a:solidFill>
                          <a:srgbClr val="000000"/>
                        </a:solidFill>
                        <a:latin typeface="宋体" panose="02010600030101010101" pitchFamily="2" charset="-122"/>
                        <a:ea typeface="宋体" panose="02010600030101010101" pitchFamily="2" charset="-122"/>
                        <a:cs typeface="宋体"/>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800" dirty="0">
                        <a:solidFill>
                          <a:srgbClr val="000000"/>
                        </a:solidFill>
                        <a:latin typeface="宋体" panose="02010600030101010101" pitchFamily="2" charset="-122"/>
                        <a:ea typeface="宋体" panose="02010600030101010101" pitchFamily="2" charset="-122"/>
                        <a:cs typeface="宋体"/>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spcAft>
                          <a:spcPts val="0"/>
                        </a:spcAft>
                      </a:pPr>
                      <a:endParaRPr lang="zh-CN" sz="1800" dirty="0">
                        <a:solidFill>
                          <a:srgbClr val="000000"/>
                        </a:solidFill>
                        <a:latin typeface="宋体" panose="02010600030101010101" pitchFamily="2" charset="-122"/>
                        <a:ea typeface="宋体" panose="02010600030101010101" pitchFamily="2" charset="-122"/>
                        <a:cs typeface="宋体"/>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dirty="0">
                          <a:solidFill>
                            <a:srgbClr val="000000"/>
                          </a:solidFill>
                          <a:latin typeface="宋体" panose="02010600030101010101" pitchFamily="2" charset="-122"/>
                          <a:ea typeface="宋体" panose="02010600030101010101" pitchFamily="2" charset="-122"/>
                          <a:cs typeface="宋体"/>
                        </a:rPr>
                        <a:t>……</a:t>
                      </a:r>
                      <a:endParaRPr lang="zh-CN" sz="1800" dirty="0">
                        <a:solidFill>
                          <a:srgbClr val="000000"/>
                        </a:solidFill>
                        <a:latin typeface="宋体" panose="02010600030101010101" pitchFamily="2" charset="-122"/>
                        <a:ea typeface="宋体" panose="02010600030101010101" pitchFamily="2" charset="-122"/>
                        <a:cs typeface="宋体"/>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dirty="0">
                          <a:solidFill>
                            <a:srgbClr val="000000"/>
                          </a:solidFill>
                          <a:latin typeface="宋体" panose="02010600030101010101" pitchFamily="2" charset="-122"/>
                          <a:ea typeface="宋体" panose="02010600030101010101" pitchFamily="2" charset="-122"/>
                          <a:cs typeface="宋体"/>
                        </a:rPr>
                        <a:t>……</a:t>
                      </a:r>
                      <a:endParaRPr lang="zh-CN" sz="1800" dirty="0">
                        <a:solidFill>
                          <a:srgbClr val="000000"/>
                        </a:solidFill>
                        <a:latin typeface="宋体" panose="02010600030101010101" pitchFamily="2" charset="-122"/>
                        <a:ea typeface="宋体" panose="02010600030101010101" pitchFamily="2" charset="-122"/>
                        <a:cs typeface="宋体"/>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a:solidFill>
                            <a:srgbClr val="000000"/>
                          </a:solidFill>
                          <a:latin typeface="宋体" panose="02010600030101010101" pitchFamily="2" charset="-122"/>
                          <a:ea typeface="宋体" panose="02010600030101010101" pitchFamily="2" charset="-122"/>
                          <a:cs typeface="宋体"/>
                        </a:rPr>
                        <a:t>……</a:t>
                      </a:r>
                      <a:endParaRPr lang="zh-CN" sz="1800">
                        <a:solidFill>
                          <a:srgbClr val="000000"/>
                        </a:solidFill>
                        <a:latin typeface="宋体" panose="02010600030101010101" pitchFamily="2" charset="-122"/>
                        <a:ea typeface="宋体" panose="02010600030101010101" pitchFamily="2" charset="-122"/>
                        <a:cs typeface="宋体"/>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dirty="0">
                          <a:solidFill>
                            <a:srgbClr val="000000"/>
                          </a:solidFill>
                          <a:latin typeface="宋体" panose="02010600030101010101" pitchFamily="2" charset="-122"/>
                          <a:ea typeface="宋体" panose="02010600030101010101" pitchFamily="2" charset="-122"/>
                          <a:cs typeface="宋体"/>
                        </a:rPr>
                        <a:t>……</a:t>
                      </a:r>
                      <a:endParaRPr lang="zh-CN" sz="1800" dirty="0">
                        <a:solidFill>
                          <a:srgbClr val="000000"/>
                        </a:solidFill>
                        <a:latin typeface="宋体" panose="02010600030101010101" pitchFamily="2" charset="-122"/>
                        <a:ea typeface="宋体" panose="02010600030101010101" pitchFamily="2" charset="-122"/>
                        <a:cs typeface="宋体"/>
                      </a:endParaRPr>
                    </a:p>
                  </a:txBody>
                  <a:tcPr marL="68577" marR="685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1" name="矩形 10"/>
          <p:cNvSpPr/>
          <p:nvPr/>
        </p:nvSpPr>
        <p:spPr>
          <a:xfrm>
            <a:off x="1187624" y="3607608"/>
            <a:ext cx="1296144" cy="1477328"/>
          </a:xfrm>
          <a:prstGeom prst="rect">
            <a:avLst/>
          </a:prstGeom>
        </p:spPr>
        <p:txBody>
          <a:bodyPr wrap="square">
            <a:spAutoFit/>
          </a:bodyPr>
          <a:lstStyle/>
          <a:p>
            <a:pPr>
              <a:tabLst>
                <a:tab pos="266700" algn="l"/>
              </a:tabLst>
            </a:pPr>
            <a:r>
              <a:rPr lang="pt-PT" altLang="zh-CN" kern="100" dirty="0">
                <a:latin typeface="宋体" panose="02010600030101010101" pitchFamily="2" charset="-122"/>
                <a:ea typeface="宋体" panose="02010600030101010101" pitchFamily="2" charset="-122"/>
              </a:rPr>
              <a:t>(N,N)</a:t>
            </a:r>
            <a:endParaRPr lang="pt-PT" altLang="zh-CN" kern="100" dirty="0">
              <a:solidFill>
                <a:srgbClr val="000000"/>
              </a:solidFill>
              <a:latin typeface="宋体" panose="02010600030101010101" pitchFamily="2" charset="-122"/>
              <a:ea typeface="宋体" panose="02010600030101010101" pitchFamily="2" charset="-122"/>
            </a:endParaRPr>
          </a:p>
          <a:p>
            <a:pPr>
              <a:tabLst>
                <a:tab pos="266700" algn="l"/>
              </a:tabLst>
            </a:pPr>
            <a:r>
              <a:rPr lang="pt-PT" altLang="zh-CN" kern="100" dirty="0">
                <a:solidFill>
                  <a:srgbClr val="000000"/>
                </a:solidFill>
                <a:latin typeface="宋体" panose="02010600030101010101" pitchFamily="2" charset="-122"/>
                <a:ea typeface="宋体" panose="02010600030101010101" pitchFamily="2" charset="-122"/>
              </a:rPr>
              <a:t>(N,N)</a:t>
            </a:r>
          </a:p>
          <a:p>
            <a:pPr>
              <a:tabLst>
                <a:tab pos="266700" algn="l"/>
              </a:tabLst>
              <a:defRPr/>
            </a:pPr>
            <a:r>
              <a:rPr lang="pt-PT" altLang="zh-CN" kern="100" dirty="0">
                <a:latin typeface="宋体" panose="02010600030101010101" pitchFamily="2" charset="-122"/>
                <a:ea typeface="宋体" panose="02010600030101010101" pitchFamily="2" charset="-122"/>
              </a:rPr>
              <a:t>(N,N)</a:t>
            </a:r>
          </a:p>
          <a:p>
            <a:pPr>
              <a:tabLst>
                <a:tab pos="266700" algn="l"/>
              </a:tabLst>
              <a:defRPr/>
            </a:pPr>
            <a:r>
              <a:rPr lang="en-US" altLang="zh-CN" kern="100" dirty="0">
                <a:latin typeface="宋体" panose="02010600030101010101" pitchFamily="2" charset="-122"/>
                <a:ea typeface="宋体" panose="02010600030101010101" pitchFamily="2" charset="-122"/>
              </a:rPr>
              <a:t>(N,Y)</a:t>
            </a:r>
          </a:p>
          <a:p>
            <a:pPr>
              <a:tabLst>
                <a:tab pos="266700" algn="l"/>
              </a:tabLst>
              <a:defRPr/>
            </a:pPr>
            <a:r>
              <a:rPr lang="pt-PT" altLang="zh-CN" kern="100" dirty="0">
                <a:latin typeface="宋体" panose="02010600030101010101" pitchFamily="2" charset="-122"/>
                <a:ea typeface="宋体" panose="02010600030101010101" pitchFamily="2" charset="-122"/>
              </a:rPr>
              <a:t> </a:t>
            </a:r>
            <a:r>
              <a:rPr lang="en-US" altLang="zh-CN" kern="100" dirty="0">
                <a:solidFill>
                  <a:srgbClr val="000000"/>
                </a:solidFill>
                <a:latin typeface="宋体" panose="02010600030101010101" pitchFamily="2" charset="-122"/>
                <a:ea typeface="宋体" panose="02010600030101010101" pitchFamily="2" charset="-122"/>
              </a:rPr>
              <a:t>…</a:t>
            </a:r>
            <a:endParaRPr lang="zh-CN" altLang="zh-CN" kern="100" dirty="0">
              <a:latin typeface="宋体" panose="02010600030101010101" pitchFamily="2" charset="-122"/>
              <a:ea typeface="宋体" panose="02010600030101010101" pitchFamily="2" charset="-122"/>
            </a:endParaRPr>
          </a:p>
        </p:txBody>
      </p:sp>
      <p:sp>
        <p:nvSpPr>
          <p:cNvPr id="10" name="矩形 9"/>
          <p:cNvSpPr/>
          <p:nvPr/>
        </p:nvSpPr>
        <p:spPr>
          <a:xfrm>
            <a:off x="1187624" y="3659069"/>
            <a:ext cx="2376264" cy="1144929"/>
          </a:xfrm>
          <a:prstGeom prst="rect">
            <a:avLst/>
          </a:prstGeom>
          <a:solidFill>
            <a:schemeClr val="bg1"/>
          </a:solidFill>
        </p:spPr>
        <p:txBody>
          <a:bodyPr wrap="square">
            <a:spAutoFit/>
          </a:bodyPr>
          <a:lstStyle/>
          <a:p>
            <a:pPr>
              <a:lnSpc>
                <a:spcPct val="95000"/>
              </a:lnSpc>
              <a:tabLst>
                <a:tab pos="266700" algn="l"/>
              </a:tabLst>
            </a:pPr>
            <a:r>
              <a:rPr lang="pt-PT" altLang="zh-CN" kern="100" dirty="0">
                <a:latin typeface="宋体" panose="02010600030101010101" pitchFamily="2" charset="-122"/>
                <a:ea typeface="宋体" panose="02010600030101010101" pitchFamily="2" charset="-122"/>
              </a:rPr>
              <a:t>(N,N)</a:t>
            </a:r>
            <a:r>
              <a:rPr lang="en-US" altLang="zh-CN" kern="100" dirty="0">
                <a:latin typeface="宋体" panose="02010600030101010101" pitchFamily="2" charset="-122"/>
                <a:ea typeface="宋体" panose="02010600030101010101" pitchFamily="2" charset="-122"/>
                <a:sym typeface="Symbol"/>
              </a:rPr>
              <a:t></a:t>
            </a:r>
            <a:r>
              <a:rPr lang="pt-PT" altLang="zh-CN" kern="100" dirty="0">
                <a:latin typeface="宋体" panose="02010600030101010101" pitchFamily="2" charset="-122"/>
                <a:ea typeface="宋体" panose="02010600030101010101" pitchFamily="2" charset="-122"/>
              </a:rPr>
              <a:t>(3,Y) </a:t>
            </a:r>
            <a:endParaRPr lang="pt-PT" altLang="zh-CN" kern="100" dirty="0">
              <a:solidFill>
                <a:srgbClr val="000000"/>
              </a:solidFill>
              <a:latin typeface="宋体" panose="02010600030101010101" pitchFamily="2" charset="-122"/>
              <a:ea typeface="宋体" panose="02010600030101010101" pitchFamily="2" charset="-122"/>
            </a:endParaRPr>
          </a:p>
          <a:p>
            <a:pPr>
              <a:lnSpc>
                <a:spcPct val="95000"/>
              </a:lnSpc>
              <a:tabLst>
                <a:tab pos="266700" algn="l"/>
              </a:tabLst>
            </a:pPr>
            <a:r>
              <a:rPr lang="pt-PT" altLang="zh-CN" kern="100" dirty="0">
                <a:solidFill>
                  <a:srgbClr val="000000"/>
                </a:solidFill>
                <a:latin typeface="宋体" panose="02010600030101010101" pitchFamily="2" charset="-122"/>
                <a:ea typeface="宋体" panose="02010600030101010101" pitchFamily="2" charset="-122"/>
              </a:rPr>
              <a:t>(N,N)</a:t>
            </a:r>
          </a:p>
          <a:p>
            <a:pPr>
              <a:lnSpc>
                <a:spcPct val="95000"/>
              </a:lnSpc>
              <a:tabLst>
                <a:tab pos="266700" algn="l"/>
              </a:tabLst>
              <a:defRPr/>
            </a:pPr>
            <a:r>
              <a:rPr lang="pt-PT" altLang="zh-CN" kern="100" dirty="0">
                <a:latin typeface="宋体" panose="02010600030101010101" pitchFamily="2" charset="-122"/>
                <a:ea typeface="宋体" panose="02010600030101010101" pitchFamily="2" charset="-122"/>
              </a:rPr>
              <a:t>(N,N)</a:t>
            </a:r>
            <a:r>
              <a:rPr lang="en-US" altLang="zh-CN" kern="100" dirty="0">
                <a:latin typeface="宋体" panose="02010600030101010101" pitchFamily="2" charset="-122"/>
                <a:ea typeface="宋体" panose="02010600030101010101" pitchFamily="2" charset="-122"/>
                <a:sym typeface="Symbol"/>
              </a:rPr>
              <a:t></a:t>
            </a:r>
            <a:r>
              <a:rPr lang="pt-PT" altLang="zh-CN" kern="100" dirty="0">
                <a:latin typeface="宋体" panose="02010600030101010101" pitchFamily="2" charset="-122"/>
                <a:ea typeface="宋体" panose="02010600030101010101" pitchFamily="2" charset="-122"/>
              </a:rPr>
              <a:t>(4,Y)</a:t>
            </a:r>
          </a:p>
          <a:p>
            <a:pPr>
              <a:lnSpc>
                <a:spcPct val="95000"/>
              </a:lnSpc>
              <a:tabLst>
                <a:tab pos="266700" algn="l"/>
              </a:tabLst>
              <a:defRPr/>
            </a:pPr>
            <a:r>
              <a:rPr lang="en-US" altLang="zh-CN" kern="100" dirty="0">
                <a:latin typeface="宋体" panose="02010600030101010101" pitchFamily="2" charset="-122"/>
                <a:ea typeface="宋体" panose="02010600030101010101" pitchFamily="2" charset="-122"/>
              </a:rPr>
              <a:t>(N,Y)</a:t>
            </a:r>
            <a:endParaRPr lang="zh-CN" altLang="zh-CN" kern="100" dirty="0">
              <a:latin typeface="宋体" panose="02010600030101010101" pitchFamily="2" charset="-122"/>
              <a:ea typeface="宋体" panose="02010600030101010101" pitchFamily="2" charset="-122"/>
            </a:endParaRPr>
          </a:p>
        </p:txBody>
      </p:sp>
      <p:sp>
        <p:nvSpPr>
          <p:cNvPr id="12" name="矩形 11"/>
          <p:cNvSpPr/>
          <p:nvPr/>
        </p:nvSpPr>
        <p:spPr>
          <a:xfrm>
            <a:off x="2123728" y="3659069"/>
            <a:ext cx="576064" cy="3528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042501" y="3723878"/>
            <a:ext cx="761747" cy="369332"/>
          </a:xfrm>
          <a:prstGeom prst="rect">
            <a:avLst/>
          </a:prstGeom>
        </p:spPr>
        <p:txBody>
          <a:bodyPr wrap="none">
            <a:spAutoFit/>
          </a:bodyPr>
          <a:lstStyle/>
          <a:p>
            <a:pPr algn="ctr">
              <a:spcAft>
                <a:spcPts val="0"/>
              </a:spcAft>
            </a:pPr>
            <a:r>
              <a:rPr lang="en-US" altLang="zh-CN" dirty="0">
                <a:solidFill>
                  <a:srgbClr val="FF0000"/>
                </a:solidFill>
                <a:latin typeface="宋体" panose="02010600030101010101" pitchFamily="2" charset="-122"/>
                <a:ea typeface="宋体" panose="02010600030101010101" pitchFamily="2" charset="-122"/>
                <a:cs typeface="宋体"/>
              </a:rPr>
              <a:t>(3,Y)</a:t>
            </a:r>
            <a:endParaRPr lang="zh-CN" altLang="zh-CN" dirty="0">
              <a:solidFill>
                <a:srgbClr val="FF0000"/>
              </a:solidFill>
              <a:latin typeface="宋体" panose="02010600030101010101" pitchFamily="2" charset="-122"/>
              <a:ea typeface="宋体" panose="02010600030101010101" pitchFamily="2" charset="-122"/>
              <a:cs typeface="宋体"/>
            </a:endParaRPr>
          </a:p>
        </p:txBody>
      </p:sp>
      <p:grpSp>
        <p:nvGrpSpPr>
          <p:cNvPr id="16" name="组合 15"/>
          <p:cNvGrpSpPr/>
          <p:nvPr/>
        </p:nvGrpSpPr>
        <p:grpSpPr>
          <a:xfrm>
            <a:off x="2699792" y="3830320"/>
            <a:ext cx="3467328" cy="478914"/>
            <a:chOff x="2699792" y="3830320"/>
            <a:chExt cx="3467328" cy="478914"/>
          </a:xfrm>
        </p:grpSpPr>
        <p:sp>
          <p:nvSpPr>
            <p:cNvPr id="14" name="任意多边形 13"/>
            <p:cNvSpPr/>
            <p:nvPr/>
          </p:nvSpPr>
          <p:spPr>
            <a:xfrm>
              <a:off x="2699792" y="3830320"/>
              <a:ext cx="3467328" cy="401213"/>
            </a:xfrm>
            <a:custGeom>
              <a:avLst/>
              <a:gdLst>
                <a:gd name="connsiteX0" fmla="*/ 0 w 3393440"/>
                <a:gd name="connsiteY0" fmla="*/ 0 h 539787"/>
                <a:gd name="connsiteX1" fmla="*/ 1270000 w 3393440"/>
                <a:gd name="connsiteY1" fmla="*/ 538480 h 539787"/>
                <a:gd name="connsiteX2" fmla="*/ 3393440 w 3393440"/>
                <a:gd name="connsiteY2" fmla="*/ 162560 h 539787"/>
                <a:gd name="connsiteX3" fmla="*/ 3393440 w 3393440"/>
                <a:gd name="connsiteY3" fmla="*/ 162560 h 539787"/>
              </a:gdLst>
              <a:ahLst/>
              <a:cxnLst>
                <a:cxn ang="0">
                  <a:pos x="connsiteX0" y="connsiteY0"/>
                </a:cxn>
                <a:cxn ang="0">
                  <a:pos x="connsiteX1" y="connsiteY1"/>
                </a:cxn>
                <a:cxn ang="0">
                  <a:pos x="connsiteX2" y="connsiteY2"/>
                </a:cxn>
                <a:cxn ang="0">
                  <a:pos x="connsiteX3" y="connsiteY3"/>
                </a:cxn>
              </a:cxnLst>
              <a:rect l="l" t="t" r="r" b="b"/>
              <a:pathLst>
                <a:path w="3393440" h="539787">
                  <a:moveTo>
                    <a:pt x="0" y="0"/>
                  </a:moveTo>
                  <a:cubicBezTo>
                    <a:pt x="352213" y="255693"/>
                    <a:pt x="704427" y="511387"/>
                    <a:pt x="1270000" y="538480"/>
                  </a:cubicBezTo>
                  <a:cubicBezTo>
                    <a:pt x="1835573" y="565573"/>
                    <a:pt x="3393440" y="162560"/>
                    <a:pt x="3393440" y="162560"/>
                  </a:cubicBezTo>
                  <a:lnTo>
                    <a:pt x="3393440" y="162560"/>
                  </a:lnTo>
                </a:path>
              </a:pathLst>
            </a:custGeom>
            <a:noFill/>
            <a:ln w="1905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4"/>
            <p:cNvSpPr txBox="1"/>
            <p:nvPr/>
          </p:nvSpPr>
          <p:spPr>
            <a:xfrm>
              <a:off x="3563888" y="3939902"/>
              <a:ext cx="432048" cy="369332"/>
            </a:xfrm>
            <a:prstGeom prst="rect">
              <a:avLst/>
            </a:prstGeom>
            <a:noFill/>
          </p:spPr>
          <p:txBody>
            <a:bodyPr wrap="square" rtlCol="0">
              <a:spAutoFit/>
            </a:bodyPr>
            <a:lstStyle/>
            <a:p>
              <a:r>
                <a:rPr lang="en-US" altLang="zh-CN" dirty="0">
                  <a:solidFill>
                    <a:srgbClr val="FF0000"/>
                  </a:solidFill>
                </a:rPr>
                <a:t>(1)</a:t>
              </a:r>
              <a:endParaRPr lang="zh-CN" altLang="en-US" dirty="0">
                <a:solidFill>
                  <a:srgbClr val="FF0000"/>
                </a:solidFill>
              </a:endParaRPr>
            </a:p>
          </p:txBody>
        </p:sp>
      </p:grpSp>
      <p:sp>
        <p:nvSpPr>
          <p:cNvPr id="17" name="矩形 16"/>
          <p:cNvSpPr/>
          <p:nvPr/>
        </p:nvSpPr>
        <p:spPr>
          <a:xfrm>
            <a:off x="2555776" y="3650823"/>
            <a:ext cx="989373" cy="369332"/>
          </a:xfrm>
          <a:prstGeom prst="rect">
            <a:avLst/>
          </a:prstGeom>
        </p:spPr>
        <p:txBody>
          <a:bodyPr wrap="none">
            <a:spAutoFit/>
          </a:bodyPr>
          <a:lstStyle/>
          <a:p>
            <a:r>
              <a:rPr lang="en-US" altLang="zh-CN" b="1" kern="100" dirty="0">
                <a:solidFill>
                  <a:srgbClr val="00B050"/>
                </a:solidFill>
                <a:latin typeface="宋体" panose="02010600030101010101" pitchFamily="2" charset="-122"/>
                <a:ea typeface="宋体" panose="02010600030101010101" pitchFamily="2" charset="-122"/>
                <a:sym typeface="Symbol"/>
              </a:rPr>
              <a:t></a:t>
            </a:r>
            <a:r>
              <a:rPr lang="pt-PT" altLang="zh-CN" b="1" kern="100" dirty="0">
                <a:solidFill>
                  <a:srgbClr val="00B050"/>
                </a:solidFill>
                <a:latin typeface="宋体" panose="02010600030101010101" pitchFamily="2" charset="-122"/>
                <a:ea typeface="宋体" panose="02010600030101010101" pitchFamily="2" charset="-122"/>
              </a:rPr>
              <a:t>(N,N)</a:t>
            </a:r>
            <a:endParaRPr lang="zh-CN" altLang="en-US" b="1" dirty="0">
              <a:solidFill>
                <a:srgbClr val="00B050"/>
              </a:solidFill>
              <a:latin typeface="宋体" panose="02010600030101010101" pitchFamily="2" charset="-122"/>
              <a:ea typeface="宋体" panose="02010600030101010101" pitchFamily="2" charset="-122"/>
            </a:endParaRPr>
          </a:p>
        </p:txBody>
      </p:sp>
      <p:sp>
        <p:nvSpPr>
          <p:cNvPr id="18" name="TextBox 17"/>
          <p:cNvSpPr txBox="1"/>
          <p:nvPr/>
        </p:nvSpPr>
        <p:spPr>
          <a:xfrm>
            <a:off x="3275856" y="3498562"/>
            <a:ext cx="432048" cy="369332"/>
          </a:xfrm>
          <a:prstGeom prst="rect">
            <a:avLst/>
          </a:prstGeom>
          <a:noFill/>
        </p:spPr>
        <p:txBody>
          <a:bodyPr wrap="square" rtlCol="0">
            <a:spAutoFit/>
          </a:bodyPr>
          <a:lstStyle/>
          <a:p>
            <a:r>
              <a:rPr lang="en-US" altLang="zh-CN" b="1" dirty="0">
                <a:solidFill>
                  <a:srgbClr val="00B050"/>
                </a:solidFill>
              </a:rPr>
              <a:t>(2)</a:t>
            </a:r>
            <a:endParaRPr lang="zh-CN" altLang="en-US" b="1" dirty="0">
              <a:solidFill>
                <a:srgbClr val="00B050"/>
              </a:solidFill>
            </a:endParaRPr>
          </a:p>
        </p:txBody>
      </p:sp>
      <p:sp>
        <p:nvSpPr>
          <p:cNvPr id="26" name="矩形 25"/>
          <p:cNvSpPr/>
          <p:nvPr/>
        </p:nvSpPr>
        <p:spPr>
          <a:xfrm>
            <a:off x="1282206" y="3946658"/>
            <a:ext cx="576064" cy="352841"/>
          </a:xfrm>
          <a:prstGeom prst="rect">
            <a:avLst/>
          </a:prstGeom>
          <a:no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CC"/>
              </a:solidFill>
            </a:endParaRPr>
          </a:p>
        </p:txBody>
      </p:sp>
      <p:sp>
        <p:nvSpPr>
          <p:cNvPr id="27" name="矩形 26"/>
          <p:cNvSpPr/>
          <p:nvPr/>
        </p:nvSpPr>
        <p:spPr>
          <a:xfrm>
            <a:off x="6834589" y="3723878"/>
            <a:ext cx="761747" cy="369332"/>
          </a:xfrm>
          <a:prstGeom prst="rect">
            <a:avLst/>
          </a:prstGeom>
        </p:spPr>
        <p:txBody>
          <a:bodyPr wrap="none">
            <a:spAutoFit/>
          </a:bodyPr>
          <a:lstStyle/>
          <a:p>
            <a:pPr algn="ctr">
              <a:spcAft>
                <a:spcPts val="0"/>
              </a:spcAft>
            </a:pPr>
            <a:r>
              <a:rPr lang="en-US" altLang="zh-CN" dirty="0">
                <a:solidFill>
                  <a:srgbClr val="0000CC"/>
                </a:solidFill>
                <a:latin typeface="宋体" panose="02010600030101010101" pitchFamily="2" charset="-122"/>
                <a:ea typeface="宋体" panose="02010600030101010101" pitchFamily="2" charset="-122"/>
                <a:cs typeface="宋体"/>
              </a:rPr>
              <a:t>(N,N)</a:t>
            </a:r>
            <a:endParaRPr lang="zh-CN" altLang="zh-CN" dirty="0">
              <a:solidFill>
                <a:srgbClr val="0000CC"/>
              </a:solidFill>
              <a:latin typeface="宋体" panose="02010600030101010101" pitchFamily="2" charset="-122"/>
              <a:ea typeface="宋体" panose="02010600030101010101" pitchFamily="2" charset="-122"/>
              <a:cs typeface="宋体"/>
            </a:endParaRPr>
          </a:p>
        </p:txBody>
      </p:sp>
      <p:grpSp>
        <p:nvGrpSpPr>
          <p:cNvPr id="28" name="组合 27"/>
          <p:cNvGrpSpPr/>
          <p:nvPr/>
        </p:nvGrpSpPr>
        <p:grpSpPr>
          <a:xfrm rot="21376727">
            <a:off x="2781492" y="4070416"/>
            <a:ext cx="5399907" cy="534597"/>
            <a:chOff x="2729396" y="3826847"/>
            <a:chExt cx="5399907" cy="534597"/>
          </a:xfrm>
        </p:grpSpPr>
        <p:sp>
          <p:nvSpPr>
            <p:cNvPr id="29" name="任意多边形 28"/>
            <p:cNvSpPr/>
            <p:nvPr/>
          </p:nvSpPr>
          <p:spPr>
            <a:xfrm>
              <a:off x="2729396" y="3826847"/>
              <a:ext cx="4515670" cy="397122"/>
            </a:xfrm>
            <a:custGeom>
              <a:avLst/>
              <a:gdLst>
                <a:gd name="connsiteX0" fmla="*/ 0 w 3393440"/>
                <a:gd name="connsiteY0" fmla="*/ 0 h 539787"/>
                <a:gd name="connsiteX1" fmla="*/ 1270000 w 3393440"/>
                <a:gd name="connsiteY1" fmla="*/ 538480 h 539787"/>
                <a:gd name="connsiteX2" fmla="*/ 3393440 w 3393440"/>
                <a:gd name="connsiteY2" fmla="*/ 162560 h 539787"/>
                <a:gd name="connsiteX3" fmla="*/ 3393440 w 3393440"/>
                <a:gd name="connsiteY3" fmla="*/ 162560 h 539787"/>
              </a:gdLst>
              <a:ahLst/>
              <a:cxnLst>
                <a:cxn ang="0">
                  <a:pos x="connsiteX0" y="connsiteY0"/>
                </a:cxn>
                <a:cxn ang="0">
                  <a:pos x="connsiteX1" y="connsiteY1"/>
                </a:cxn>
                <a:cxn ang="0">
                  <a:pos x="connsiteX2" y="connsiteY2"/>
                </a:cxn>
                <a:cxn ang="0">
                  <a:pos x="connsiteX3" y="connsiteY3"/>
                </a:cxn>
              </a:cxnLst>
              <a:rect l="l" t="t" r="r" b="b"/>
              <a:pathLst>
                <a:path w="3393440" h="539787">
                  <a:moveTo>
                    <a:pt x="0" y="0"/>
                  </a:moveTo>
                  <a:cubicBezTo>
                    <a:pt x="352213" y="255693"/>
                    <a:pt x="704427" y="511387"/>
                    <a:pt x="1270000" y="538480"/>
                  </a:cubicBezTo>
                  <a:cubicBezTo>
                    <a:pt x="1835573" y="565573"/>
                    <a:pt x="3393440" y="162560"/>
                    <a:pt x="3393440" y="162560"/>
                  </a:cubicBezTo>
                  <a:lnTo>
                    <a:pt x="3393440" y="162560"/>
                  </a:lnTo>
                </a:path>
              </a:pathLst>
            </a:custGeom>
            <a:noFill/>
            <a:ln w="19050">
              <a:solidFill>
                <a:srgbClr val="0000CC"/>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TextBox 29"/>
            <p:cNvSpPr txBox="1"/>
            <p:nvPr/>
          </p:nvSpPr>
          <p:spPr>
            <a:xfrm>
              <a:off x="3563888" y="3935937"/>
              <a:ext cx="432048" cy="369332"/>
            </a:xfrm>
            <a:prstGeom prst="rect">
              <a:avLst/>
            </a:prstGeom>
            <a:noFill/>
          </p:spPr>
          <p:txBody>
            <a:bodyPr wrap="square" rtlCol="0">
              <a:spAutoFit/>
            </a:bodyPr>
            <a:lstStyle/>
            <a:p>
              <a:r>
                <a:rPr lang="en-US" altLang="zh-CN" dirty="0">
                  <a:solidFill>
                    <a:srgbClr val="0000CC"/>
                  </a:solidFill>
                </a:rPr>
                <a:t>(3)</a:t>
              </a:r>
              <a:endParaRPr lang="zh-CN" altLang="en-US" dirty="0">
                <a:solidFill>
                  <a:srgbClr val="0000CC"/>
                </a:solidFill>
              </a:endParaRPr>
            </a:p>
          </p:txBody>
        </p:sp>
        <p:sp>
          <p:nvSpPr>
            <p:cNvPr id="35" name="任意多边形 34"/>
            <p:cNvSpPr/>
            <p:nvPr/>
          </p:nvSpPr>
          <p:spPr>
            <a:xfrm rot="21153961">
              <a:off x="5539206" y="4006416"/>
              <a:ext cx="2590097" cy="355028"/>
            </a:xfrm>
            <a:custGeom>
              <a:avLst/>
              <a:gdLst>
                <a:gd name="connsiteX0" fmla="*/ 0 w 3393440"/>
                <a:gd name="connsiteY0" fmla="*/ 0 h 539787"/>
                <a:gd name="connsiteX1" fmla="*/ 1270000 w 3393440"/>
                <a:gd name="connsiteY1" fmla="*/ 538480 h 539787"/>
                <a:gd name="connsiteX2" fmla="*/ 3393440 w 3393440"/>
                <a:gd name="connsiteY2" fmla="*/ 162560 h 539787"/>
                <a:gd name="connsiteX3" fmla="*/ 3393440 w 3393440"/>
                <a:gd name="connsiteY3" fmla="*/ 162560 h 539787"/>
              </a:gdLst>
              <a:ahLst/>
              <a:cxnLst>
                <a:cxn ang="0">
                  <a:pos x="connsiteX0" y="connsiteY0"/>
                </a:cxn>
                <a:cxn ang="0">
                  <a:pos x="connsiteX1" y="connsiteY1"/>
                </a:cxn>
                <a:cxn ang="0">
                  <a:pos x="connsiteX2" y="connsiteY2"/>
                </a:cxn>
                <a:cxn ang="0">
                  <a:pos x="connsiteX3" y="connsiteY3"/>
                </a:cxn>
              </a:cxnLst>
              <a:rect l="l" t="t" r="r" b="b"/>
              <a:pathLst>
                <a:path w="3393440" h="539787">
                  <a:moveTo>
                    <a:pt x="0" y="0"/>
                  </a:moveTo>
                  <a:cubicBezTo>
                    <a:pt x="352213" y="255693"/>
                    <a:pt x="704427" y="511387"/>
                    <a:pt x="1270000" y="538480"/>
                  </a:cubicBezTo>
                  <a:cubicBezTo>
                    <a:pt x="1835573" y="565573"/>
                    <a:pt x="3393440" y="162560"/>
                    <a:pt x="3393440" y="162560"/>
                  </a:cubicBezTo>
                  <a:lnTo>
                    <a:pt x="3393440" y="162560"/>
                  </a:lnTo>
                </a:path>
              </a:pathLst>
            </a:custGeom>
            <a:noFill/>
            <a:ln w="19050">
              <a:solidFill>
                <a:srgbClr val="0000CC"/>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矩形 30"/>
          <p:cNvSpPr/>
          <p:nvPr/>
        </p:nvSpPr>
        <p:spPr>
          <a:xfrm>
            <a:off x="1780463" y="3867894"/>
            <a:ext cx="989373" cy="369332"/>
          </a:xfrm>
          <a:prstGeom prst="rect">
            <a:avLst/>
          </a:prstGeom>
        </p:spPr>
        <p:txBody>
          <a:bodyPr wrap="none">
            <a:spAutoFit/>
          </a:bodyPr>
          <a:lstStyle/>
          <a:p>
            <a:r>
              <a:rPr lang="en-US" altLang="zh-CN" kern="100" dirty="0">
                <a:solidFill>
                  <a:srgbClr val="9900CC"/>
                </a:solidFill>
                <a:latin typeface="宋体" panose="02010600030101010101" pitchFamily="2" charset="-122"/>
                <a:ea typeface="宋体" panose="02010600030101010101" pitchFamily="2" charset="-122"/>
                <a:sym typeface="Symbol"/>
              </a:rPr>
              <a:t></a:t>
            </a:r>
            <a:r>
              <a:rPr lang="pt-PT" altLang="zh-CN" kern="100" dirty="0">
                <a:solidFill>
                  <a:srgbClr val="9900CC"/>
                </a:solidFill>
                <a:latin typeface="宋体" panose="02010600030101010101" pitchFamily="2" charset="-122"/>
                <a:ea typeface="宋体" panose="02010600030101010101" pitchFamily="2" charset="-122"/>
              </a:rPr>
              <a:t>(i,Y)</a:t>
            </a:r>
            <a:endParaRPr lang="zh-CN" altLang="en-US" dirty="0">
              <a:solidFill>
                <a:srgbClr val="9900CC"/>
              </a:solidFill>
              <a:latin typeface="宋体" panose="02010600030101010101" pitchFamily="2" charset="-122"/>
              <a:ea typeface="宋体" panose="02010600030101010101" pitchFamily="2" charset="-122"/>
            </a:endParaRPr>
          </a:p>
        </p:txBody>
      </p:sp>
      <p:sp>
        <p:nvSpPr>
          <p:cNvPr id="32" name="TextBox 31"/>
          <p:cNvSpPr txBox="1"/>
          <p:nvPr/>
        </p:nvSpPr>
        <p:spPr>
          <a:xfrm>
            <a:off x="3031147" y="4391507"/>
            <a:ext cx="432048" cy="369332"/>
          </a:xfrm>
          <a:prstGeom prst="rect">
            <a:avLst/>
          </a:prstGeom>
          <a:noFill/>
        </p:spPr>
        <p:txBody>
          <a:bodyPr wrap="square" rtlCol="0">
            <a:spAutoFit/>
          </a:bodyPr>
          <a:lstStyle/>
          <a:p>
            <a:r>
              <a:rPr lang="en-US" altLang="zh-CN" dirty="0">
                <a:solidFill>
                  <a:srgbClr val="9900CC"/>
                </a:solidFill>
              </a:rPr>
              <a:t>(4)</a:t>
            </a:r>
            <a:endParaRPr lang="zh-CN" altLang="en-US" dirty="0">
              <a:solidFill>
                <a:srgbClr val="9900CC"/>
              </a:solidFill>
            </a:endParaRPr>
          </a:p>
        </p:txBody>
      </p:sp>
      <p:sp>
        <p:nvSpPr>
          <p:cNvPr id="33" name="矩形 32"/>
          <p:cNvSpPr/>
          <p:nvPr/>
        </p:nvSpPr>
        <p:spPr>
          <a:xfrm>
            <a:off x="2123728" y="4169851"/>
            <a:ext cx="576064" cy="352841"/>
          </a:xfrm>
          <a:prstGeom prst="rect">
            <a:avLst/>
          </a:prstGeom>
          <a:no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CC"/>
              </a:solidFill>
            </a:endParaRPr>
          </a:p>
        </p:txBody>
      </p:sp>
      <p:sp>
        <p:nvSpPr>
          <p:cNvPr id="36" name="矩形 35"/>
          <p:cNvSpPr/>
          <p:nvPr/>
        </p:nvSpPr>
        <p:spPr>
          <a:xfrm>
            <a:off x="7770693" y="3723878"/>
            <a:ext cx="761747" cy="369332"/>
          </a:xfrm>
          <a:prstGeom prst="rect">
            <a:avLst/>
          </a:prstGeom>
        </p:spPr>
        <p:txBody>
          <a:bodyPr wrap="none">
            <a:spAutoFit/>
          </a:bodyPr>
          <a:lstStyle/>
          <a:p>
            <a:pPr algn="ctr">
              <a:spcAft>
                <a:spcPts val="0"/>
              </a:spcAft>
            </a:pPr>
            <a:r>
              <a:rPr lang="en-US" altLang="zh-CN" dirty="0">
                <a:solidFill>
                  <a:srgbClr val="0000CC"/>
                </a:solidFill>
                <a:latin typeface="宋体" panose="02010600030101010101" pitchFamily="2" charset="-122"/>
                <a:ea typeface="宋体" panose="02010600030101010101" pitchFamily="2" charset="-122"/>
                <a:cs typeface="宋体"/>
              </a:rPr>
              <a:t>(4,Y)</a:t>
            </a:r>
            <a:endParaRPr lang="zh-CN" altLang="zh-CN" dirty="0">
              <a:solidFill>
                <a:srgbClr val="0000CC"/>
              </a:solidFill>
              <a:latin typeface="宋体" panose="02010600030101010101" pitchFamily="2" charset="-122"/>
              <a:ea typeface="宋体" panose="02010600030101010101" pitchFamily="2" charset="-122"/>
              <a:cs typeface="宋体"/>
            </a:endParaRPr>
          </a:p>
        </p:txBody>
      </p:sp>
      <p:sp>
        <p:nvSpPr>
          <p:cNvPr id="37" name="矩形 36"/>
          <p:cNvSpPr/>
          <p:nvPr/>
        </p:nvSpPr>
        <p:spPr>
          <a:xfrm>
            <a:off x="2627784" y="4140340"/>
            <a:ext cx="989373" cy="369332"/>
          </a:xfrm>
          <a:prstGeom prst="rect">
            <a:avLst/>
          </a:prstGeom>
        </p:spPr>
        <p:txBody>
          <a:bodyPr wrap="none">
            <a:spAutoFit/>
          </a:bodyPr>
          <a:lstStyle/>
          <a:p>
            <a:r>
              <a:rPr lang="en-US" altLang="zh-CN" kern="100" dirty="0">
                <a:solidFill>
                  <a:srgbClr val="9900CC"/>
                </a:solidFill>
                <a:latin typeface="宋体" panose="02010600030101010101" pitchFamily="2" charset="-122"/>
                <a:ea typeface="宋体" panose="02010600030101010101" pitchFamily="2" charset="-122"/>
                <a:sym typeface="Symbol"/>
              </a:rPr>
              <a:t></a:t>
            </a:r>
            <a:r>
              <a:rPr lang="pt-PT" altLang="zh-CN" kern="100" dirty="0">
                <a:solidFill>
                  <a:srgbClr val="9900CC"/>
                </a:solidFill>
                <a:latin typeface="宋体" panose="02010600030101010101" pitchFamily="2" charset="-122"/>
                <a:ea typeface="宋体" panose="02010600030101010101" pitchFamily="2" charset="-122"/>
              </a:rPr>
              <a:t>(i,Y)</a:t>
            </a:r>
            <a:endParaRPr lang="zh-CN" altLang="en-US" dirty="0">
              <a:solidFill>
                <a:srgbClr val="9900CC"/>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13161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2"/>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6"/>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wipe(left)">
                                      <p:cBhvr>
                                        <p:cTn id="55" dur="500"/>
                                        <p:tgtEl>
                                          <p:spTgt spid="28"/>
                                        </p:tgtEl>
                                      </p:cBhvr>
                                    </p:animEffect>
                                  </p:childTnLst>
                                </p:cTn>
                              </p:par>
                            </p:childTnLst>
                          </p:cTn>
                        </p:par>
                        <p:par>
                          <p:cTn id="56" fill="hold">
                            <p:stCondLst>
                              <p:cond delay="500"/>
                            </p:stCondLst>
                            <p:childTnLst>
                              <p:par>
                                <p:cTn id="57" presetID="1" presetClass="entr" presetSubtype="0" fill="hold" grpId="0" nodeType="after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childTnLst>
                          </p:cTn>
                        </p:par>
                        <p:par>
                          <p:cTn id="59" fill="hold">
                            <p:stCondLst>
                              <p:cond delay="500"/>
                            </p:stCondLst>
                            <p:childTnLst>
                              <p:par>
                                <p:cTn id="60" presetID="1" presetClass="entr" presetSubtype="0" fill="hold" grpId="0" nodeType="afterEffect">
                                  <p:stCondLst>
                                    <p:cond delay="0"/>
                                  </p:stCondLst>
                                  <p:childTnLst>
                                    <p:set>
                                      <p:cBhvr>
                                        <p:cTn id="61" dur="1" fill="hold">
                                          <p:stCondLst>
                                            <p:cond delay="0"/>
                                          </p:stCondLst>
                                        </p:cTn>
                                        <p:tgtEl>
                                          <p:spTgt spid="3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grpId="1" nodeType="clickEffect">
                                  <p:stCondLst>
                                    <p:cond delay="0"/>
                                  </p:stCondLst>
                                  <p:childTnLst>
                                    <p:set>
                                      <p:cBhvr>
                                        <p:cTn id="65" dur="1" fill="hold">
                                          <p:stCondLst>
                                            <p:cond delay="0"/>
                                          </p:stCondLst>
                                        </p:cTn>
                                        <p:tgtEl>
                                          <p:spTgt spid="26"/>
                                        </p:tgtEl>
                                        <p:attrNameLst>
                                          <p:attrName>style.visibility</p:attrName>
                                        </p:attrNameLst>
                                      </p:cBhvr>
                                      <p:to>
                                        <p:strVal val="hidden"/>
                                      </p:to>
                                    </p:set>
                                  </p:childTnLst>
                                </p:cTn>
                              </p:par>
                              <p:par>
                                <p:cTn id="66" presetID="1" presetClass="exit" presetSubtype="0" fill="hold" grpId="1" nodeType="withEffect">
                                  <p:stCondLst>
                                    <p:cond delay="0"/>
                                  </p:stCondLst>
                                  <p:childTnLst>
                                    <p:set>
                                      <p:cBhvr>
                                        <p:cTn id="67" dur="1" fill="hold">
                                          <p:stCondLst>
                                            <p:cond delay="0"/>
                                          </p:stCondLst>
                                        </p:cTn>
                                        <p:tgtEl>
                                          <p:spTgt spid="33"/>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28"/>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32"/>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31"/>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p:bldP spid="10" grpId="0" animBg="1"/>
      <p:bldP spid="12" grpId="0" animBg="1"/>
      <p:bldP spid="12" grpId="1" animBg="1"/>
      <p:bldP spid="13" grpId="0"/>
      <p:bldP spid="17" grpId="0"/>
      <p:bldP spid="18" grpId="0"/>
      <p:bldP spid="26" grpId="0" animBg="1"/>
      <p:bldP spid="26" grpId="1" animBg="1"/>
      <p:bldP spid="27" grpId="0"/>
      <p:bldP spid="31" grpId="0"/>
      <p:bldP spid="32" grpId="0"/>
      <p:bldP spid="33" grpId="0" animBg="1"/>
      <p:bldP spid="33" grpId="1" animBg="1"/>
      <p:bldP spid="36" grpId="0"/>
      <p:bldP spid="3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07504" y="-20538"/>
            <a:ext cx="8640960" cy="792088"/>
          </a:xfrm>
        </p:spPr>
        <p:txBody>
          <a:bodyPr>
            <a:noAutofit/>
          </a:bodyPr>
          <a:lstStyle/>
          <a:p>
            <a:r>
              <a:rPr lang="zh-CN" altLang="en-US" sz="2700" dirty="0">
                <a:effectLst/>
              </a:rPr>
              <a:t>例：</a:t>
            </a:r>
            <a:r>
              <a:rPr lang="zh-CN" altLang="zh-CN" sz="2700" dirty="0">
                <a:effectLst/>
              </a:rPr>
              <a:t>计算</a:t>
            </a:r>
            <a:r>
              <a:rPr lang="zh-CN" altLang="en-US" sz="2700" dirty="0">
                <a:effectLst/>
              </a:rPr>
              <a:t>这个赋值语句翻译后的</a:t>
            </a:r>
            <a:r>
              <a:rPr lang="zh-CN" altLang="zh-CN" sz="2700" dirty="0">
                <a:effectLst/>
              </a:rPr>
              <a:t>四元式中有关变量的引用信息和活跃信息</a:t>
            </a:r>
            <a:r>
              <a:rPr lang="zh-CN" altLang="en-US" sz="2700" dirty="0">
                <a:effectLst/>
              </a:rPr>
              <a:t>，</a:t>
            </a:r>
            <a:r>
              <a:rPr lang="en-US" altLang="zh-CN" sz="2800" dirty="0">
                <a:solidFill>
                  <a:srgbClr val="FF0000"/>
                </a:solidFill>
              </a:rPr>
              <a:t>d=(a-b)+(a-c)+(a-c);</a:t>
            </a:r>
            <a:endParaRPr lang="zh-CN" altLang="en-US" sz="2700" dirty="0">
              <a:solidFill>
                <a:srgbClr val="FF0000"/>
              </a:solidFill>
            </a:endParaRPr>
          </a:p>
        </p:txBody>
      </p:sp>
      <p:graphicFrame>
        <p:nvGraphicFramePr>
          <p:cNvPr id="4" name="表格 3"/>
          <p:cNvGraphicFramePr>
            <a:graphicFrameLocks noGrp="1"/>
          </p:cNvGraphicFramePr>
          <p:nvPr>
            <p:extLst>
              <p:ext uri="{D42A27DB-BD31-4B8C-83A1-F6EECF244321}">
                <p14:modId xmlns:p14="http://schemas.microsoft.com/office/powerpoint/2010/main" val="3035320317"/>
              </p:ext>
            </p:extLst>
          </p:nvPr>
        </p:nvGraphicFramePr>
        <p:xfrm>
          <a:off x="3887417" y="2737072"/>
          <a:ext cx="5256583" cy="1618115"/>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20000"/>
                    </a:ext>
                  </a:extLst>
                </a:gridCol>
                <a:gridCol w="1728192">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1008112">
                  <a:extLst>
                    <a:ext uri="{9D8B030D-6E8A-4147-A177-3AD203B41FA5}">
                      <a16:colId xmlns:a16="http://schemas.microsoft.com/office/drawing/2014/main" val="20003"/>
                    </a:ext>
                  </a:extLst>
                </a:gridCol>
                <a:gridCol w="936103">
                  <a:extLst>
                    <a:ext uri="{9D8B030D-6E8A-4147-A177-3AD203B41FA5}">
                      <a16:colId xmlns:a16="http://schemas.microsoft.com/office/drawing/2014/main" val="20004"/>
                    </a:ext>
                  </a:extLst>
                </a:gridCol>
              </a:tblGrid>
              <a:tr h="323623">
                <a:tc>
                  <a:txBody>
                    <a:bodyPr/>
                    <a:lstStyle/>
                    <a:p>
                      <a:pPr algn="ctr">
                        <a:spcAft>
                          <a:spcPts val="0"/>
                        </a:spcAft>
                      </a:pPr>
                      <a:r>
                        <a:rPr lang="zh-CN" sz="1600" kern="100" dirty="0">
                          <a:effectLst/>
                        </a:rPr>
                        <a:t>序号</a:t>
                      </a:r>
                      <a:endParaRPr lang="zh-CN" sz="16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dirty="0">
                          <a:effectLst/>
                        </a:rPr>
                        <a:t>四元式</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结果</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左变量</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右变量</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3623">
                <a:tc>
                  <a:txBody>
                    <a:bodyPr/>
                    <a:lstStyle/>
                    <a:p>
                      <a:pPr algn="ctr"/>
                      <a:r>
                        <a:rPr lang="en-US" sz="1800" kern="100" dirty="0">
                          <a:effectLst/>
                        </a:rPr>
                        <a:t>1</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sz="1800" kern="100" dirty="0">
                          <a:effectLst/>
                        </a:rPr>
                        <a:t>（－</a:t>
                      </a:r>
                      <a:r>
                        <a:rPr lang="fr-FR" sz="1800" kern="100" dirty="0">
                          <a:effectLst/>
                        </a:rPr>
                        <a:t>,a,b,T1</a:t>
                      </a:r>
                      <a:r>
                        <a:rPr lang="zh-CN" sz="1800" kern="100" dirty="0">
                          <a:effectLst/>
                        </a:rPr>
                        <a:t>）</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23623">
                <a:tc>
                  <a:txBody>
                    <a:bodyPr/>
                    <a:lstStyle/>
                    <a:p>
                      <a:pPr algn="ctr"/>
                      <a:r>
                        <a:rPr lang="en-US" sz="1800" kern="100">
                          <a:effectLst/>
                        </a:rPr>
                        <a:t>2</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sz="1800" kern="100" dirty="0">
                          <a:effectLst/>
                        </a:rPr>
                        <a:t>（－</a:t>
                      </a:r>
                      <a:r>
                        <a:rPr lang="fr-FR" sz="1800" kern="100" dirty="0">
                          <a:effectLst/>
                        </a:rPr>
                        <a:t>,a,c,T2</a:t>
                      </a:r>
                      <a:r>
                        <a:rPr lang="zh-CN" sz="1800" kern="100" dirty="0">
                          <a:effectLst/>
                        </a:rPr>
                        <a:t>）</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23623">
                <a:tc>
                  <a:txBody>
                    <a:bodyPr/>
                    <a:lstStyle/>
                    <a:p>
                      <a:pPr algn="ctr"/>
                      <a:r>
                        <a:rPr lang="en-US" sz="1800" kern="100">
                          <a:effectLst/>
                        </a:rPr>
                        <a:t>3</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sz="1800" kern="100" dirty="0">
                          <a:effectLst/>
                        </a:rPr>
                        <a:t>（＋</a:t>
                      </a:r>
                      <a:r>
                        <a:rPr lang="fr-FR" sz="1800" kern="100" dirty="0">
                          <a:effectLst/>
                        </a:rPr>
                        <a:t>,T1,T2,T3</a:t>
                      </a:r>
                      <a:r>
                        <a:rPr lang="zh-CN" sz="1800" kern="100" dirty="0">
                          <a:effectLst/>
                        </a:rPr>
                        <a:t>）</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23623">
                <a:tc>
                  <a:txBody>
                    <a:bodyPr/>
                    <a:lstStyle/>
                    <a:p>
                      <a:pPr algn="ctr"/>
                      <a:r>
                        <a:rPr lang="en-US" sz="1800" kern="100">
                          <a:effectLst/>
                        </a:rPr>
                        <a:t>4</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sz="1800" kern="100" dirty="0">
                          <a:effectLst/>
                        </a:rPr>
                        <a:t>（＋</a:t>
                      </a:r>
                      <a:r>
                        <a:rPr lang="fr-FR" sz="1800" kern="100" dirty="0">
                          <a:effectLst/>
                        </a:rPr>
                        <a:t>,T2,T3,d</a:t>
                      </a:r>
                      <a:r>
                        <a:rPr lang="zh-CN" sz="1800" kern="100" dirty="0">
                          <a:effectLst/>
                        </a:rPr>
                        <a:t>）</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501478614"/>
              </p:ext>
            </p:extLst>
          </p:nvPr>
        </p:nvGraphicFramePr>
        <p:xfrm>
          <a:off x="107504" y="2355726"/>
          <a:ext cx="3384376" cy="2187243"/>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20000"/>
                    </a:ext>
                  </a:extLst>
                </a:gridCol>
                <a:gridCol w="2808312">
                  <a:extLst>
                    <a:ext uri="{9D8B030D-6E8A-4147-A177-3AD203B41FA5}">
                      <a16:colId xmlns:a16="http://schemas.microsoft.com/office/drawing/2014/main" val="20001"/>
                    </a:ext>
                  </a:extLst>
                </a:gridCol>
              </a:tblGrid>
              <a:tr h="360040">
                <a:tc>
                  <a:txBody>
                    <a:bodyPr/>
                    <a:lstStyle/>
                    <a:p>
                      <a:pPr algn="l">
                        <a:spcAft>
                          <a:spcPts val="0"/>
                        </a:spcAft>
                        <a:tabLst>
                          <a:tab pos="266700" algn="l"/>
                        </a:tabLst>
                      </a:pPr>
                      <a:r>
                        <a:rPr lang="zh-CN" sz="1600" kern="100" dirty="0">
                          <a:effectLst/>
                        </a:rPr>
                        <a:t>变量</a:t>
                      </a:r>
                      <a:endParaRPr lang="zh-CN" sz="1600" kern="100" dirty="0">
                        <a:solidFill>
                          <a:srgbClr val="000000"/>
                        </a:solidFill>
                        <a:effectLst/>
                        <a:latin typeface="Times New Roman"/>
                        <a:ea typeface="宋体"/>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tabLst>
                          <a:tab pos="266700" algn="l"/>
                        </a:tabLst>
                      </a:pPr>
                      <a:r>
                        <a:rPr lang="zh-CN" sz="1600" kern="100">
                          <a:effectLst/>
                        </a:rPr>
                        <a:t>引用信息及活跃信息链</a:t>
                      </a:r>
                      <a:endParaRPr lang="zh-CN" sz="1600" kern="100">
                        <a:solidFill>
                          <a:srgbClr val="000000"/>
                        </a:solidFill>
                        <a:effectLst/>
                        <a:latin typeface="Times New Roman"/>
                        <a:ea typeface="宋体"/>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827203">
                <a:tc>
                  <a:txBody>
                    <a:bodyPr/>
                    <a:lstStyle/>
                    <a:p>
                      <a:pPr>
                        <a:spcAft>
                          <a:spcPts val="0"/>
                        </a:spcAft>
                      </a:pPr>
                      <a:r>
                        <a:rPr lang="fr-FR" sz="1600">
                          <a:effectLst/>
                        </a:rPr>
                        <a:t>T1</a:t>
                      </a:r>
                      <a:endParaRPr lang="zh-CN" sz="1600">
                        <a:effectLst/>
                      </a:endParaRPr>
                    </a:p>
                    <a:p>
                      <a:pPr>
                        <a:spcAft>
                          <a:spcPts val="0"/>
                        </a:spcAft>
                      </a:pPr>
                      <a:r>
                        <a:rPr lang="fr-FR" sz="1600">
                          <a:effectLst/>
                        </a:rPr>
                        <a:t>a</a:t>
                      </a:r>
                      <a:endParaRPr lang="zh-CN" sz="1600">
                        <a:effectLst/>
                      </a:endParaRPr>
                    </a:p>
                    <a:p>
                      <a:pPr>
                        <a:spcAft>
                          <a:spcPts val="0"/>
                        </a:spcAft>
                      </a:pPr>
                      <a:r>
                        <a:rPr lang="fr-FR" sz="1600">
                          <a:effectLst/>
                        </a:rPr>
                        <a:t>b</a:t>
                      </a:r>
                      <a:endParaRPr lang="zh-CN" sz="1600">
                        <a:effectLst/>
                      </a:endParaRPr>
                    </a:p>
                    <a:p>
                      <a:pPr>
                        <a:spcAft>
                          <a:spcPts val="0"/>
                        </a:spcAft>
                      </a:pPr>
                      <a:r>
                        <a:rPr lang="fr-FR" sz="1600">
                          <a:effectLst/>
                        </a:rPr>
                        <a:t>c</a:t>
                      </a:r>
                      <a:endParaRPr lang="zh-CN" sz="1600">
                        <a:effectLst/>
                      </a:endParaRPr>
                    </a:p>
                    <a:p>
                      <a:pPr>
                        <a:spcAft>
                          <a:spcPts val="0"/>
                        </a:spcAft>
                      </a:pPr>
                      <a:r>
                        <a:rPr lang="fr-FR" sz="1600">
                          <a:effectLst/>
                        </a:rPr>
                        <a:t>T2</a:t>
                      </a:r>
                      <a:endParaRPr lang="zh-CN" sz="1600">
                        <a:effectLst/>
                      </a:endParaRPr>
                    </a:p>
                    <a:p>
                      <a:pPr>
                        <a:spcAft>
                          <a:spcPts val="0"/>
                        </a:spcAft>
                      </a:pPr>
                      <a:r>
                        <a:rPr lang="fr-FR" sz="1600">
                          <a:effectLst/>
                        </a:rPr>
                        <a:t>T3</a:t>
                      </a:r>
                      <a:endParaRPr lang="zh-CN" sz="1600">
                        <a:effectLst/>
                      </a:endParaRPr>
                    </a:p>
                    <a:p>
                      <a:pPr>
                        <a:spcAft>
                          <a:spcPts val="0"/>
                        </a:spcAft>
                      </a:pPr>
                      <a:r>
                        <a:rPr lang="fr-FR" sz="1600">
                          <a:effectLst/>
                        </a:rPr>
                        <a:t>d</a:t>
                      </a:r>
                      <a:endParaRPr lang="zh-CN" sz="1600">
                        <a:solidFill>
                          <a:srgbClr val="000000"/>
                        </a:solidFill>
                        <a:effectLst/>
                        <a:latin typeface="Times New Roman"/>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tabLst>
                          <a:tab pos="266700" algn="l"/>
                        </a:tabLst>
                      </a:pPr>
                      <a:r>
                        <a:rPr lang="pt-PT" sz="1600" kern="100" dirty="0">
                          <a:effectLst/>
                        </a:rPr>
                        <a:t>(N,N)</a:t>
                      </a:r>
                      <a:endParaRPr lang="zh-CN" sz="1600" kern="100" dirty="0">
                        <a:effectLst/>
                      </a:endParaRPr>
                    </a:p>
                    <a:p>
                      <a:pPr algn="l">
                        <a:spcAft>
                          <a:spcPts val="0"/>
                        </a:spcAft>
                        <a:tabLst>
                          <a:tab pos="266700" algn="l"/>
                        </a:tabLst>
                      </a:pPr>
                      <a:r>
                        <a:rPr lang="pt-PT" sz="1600" kern="100" dirty="0">
                          <a:effectLst/>
                        </a:rPr>
                        <a:t>(N,N)</a:t>
                      </a:r>
                      <a:endParaRPr lang="zh-CN" sz="1600" kern="100" dirty="0">
                        <a:effectLst/>
                      </a:endParaRPr>
                    </a:p>
                    <a:p>
                      <a:pPr algn="l">
                        <a:spcAft>
                          <a:spcPts val="0"/>
                        </a:spcAft>
                        <a:tabLst>
                          <a:tab pos="266700" algn="l"/>
                        </a:tabLst>
                      </a:pPr>
                      <a:r>
                        <a:rPr lang="pt-PT" sz="1600" kern="100" dirty="0">
                          <a:effectLst/>
                        </a:rPr>
                        <a:t>(N,N)</a:t>
                      </a:r>
                      <a:endParaRPr lang="zh-CN" sz="1600" kern="100" dirty="0">
                        <a:effectLst/>
                      </a:endParaRPr>
                    </a:p>
                    <a:p>
                      <a:pPr algn="l">
                        <a:spcAft>
                          <a:spcPts val="0"/>
                        </a:spcAft>
                        <a:tabLst>
                          <a:tab pos="266700" algn="l"/>
                        </a:tabLst>
                      </a:pPr>
                      <a:r>
                        <a:rPr lang="pt-PT" sz="1600" kern="100" dirty="0">
                          <a:effectLst/>
                        </a:rPr>
                        <a:t>(N,N)</a:t>
                      </a:r>
                      <a:endParaRPr lang="zh-CN" sz="1600" kern="100" dirty="0">
                        <a:effectLst/>
                      </a:endParaRPr>
                    </a:p>
                    <a:p>
                      <a:pPr algn="l">
                        <a:spcAft>
                          <a:spcPts val="0"/>
                        </a:spcAft>
                        <a:tabLst>
                          <a:tab pos="266700" algn="l"/>
                        </a:tabLst>
                      </a:pPr>
                      <a:r>
                        <a:rPr lang="pt-PT" sz="1600" kern="100" dirty="0">
                          <a:effectLst/>
                        </a:rPr>
                        <a:t>(N,N)</a:t>
                      </a:r>
                      <a:endParaRPr lang="zh-CN" sz="1600" kern="100" dirty="0">
                        <a:effectLst/>
                      </a:endParaRPr>
                    </a:p>
                    <a:p>
                      <a:pPr algn="l">
                        <a:spcAft>
                          <a:spcPts val="0"/>
                        </a:spcAft>
                        <a:tabLst>
                          <a:tab pos="266700" algn="l"/>
                        </a:tabLst>
                      </a:pPr>
                      <a:r>
                        <a:rPr lang="pt-PT" sz="1600" kern="100" dirty="0">
                          <a:effectLst/>
                        </a:rPr>
                        <a:t>(N,N)</a:t>
                      </a:r>
                      <a:endParaRPr lang="zh-CN" sz="1600" kern="100" dirty="0">
                        <a:effectLst/>
                      </a:endParaRPr>
                    </a:p>
                    <a:p>
                      <a:pPr algn="l">
                        <a:spcAft>
                          <a:spcPts val="0"/>
                        </a:spcAft>
                        <a:tabLst>
                          <a:tab pos="266700" algn="l"/>
                        </a:tabLst>
                      </a:pPr>
                      <a:r>
                        <a:rPr lang="en-US" sz="1600" kern="100" dirty="0">
                          <a:effectLst/>
                        </a:rPr>
                        <a:t>(N,Y)</a:t>
                      </a:r>
                      <a:endParaRPr lang="zh-CN" sz="1600" kern="100" dirty="0">
                        <a:solidFill>
                          <a:srgbClr val="000000"/>
                        </a:solidFill>
                        <a:effectLst/>
                        <a:latin typeface="Times New Roman"/>
                        <a:ea typeface="宋体"/>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7" name="TextBox 6"/>
          <p:cNvSpPr txBox="1"/>
          <p:nvPr/>
        </p:nvSpPr>
        <p:spPr>
          <a:xfrm>
            <a:off x="1331640" y="4227934"/>
            <a:ext cx="1080120" cy="338554"/>
          </a:xfrm>
          <a:prstGeom prst="rect">
            <a:avLst/>
          </a:prstGeom>
          <a:noFill/>
        </p:spPr>
        <p:txBody>
          <a:bodyPr wrap="square" rtlCol="0">
            <a:spAutoFit/>
          </a:bodyPr>
          <a:lstStyle/>
          <a:p>
            <a:r>
              <a:rPr lang="zh-CN" altLang="en-US" sz="1600" dirty="0"/>
              <a:t>→</a:t>
            </a:r>
            <a:r>
              <a:rPr lang="en-US" altLang="zh-CN" sz="1600" dirty="0"/>
              <a:t>(N,N)</a:t>
            </a:r>
            <a:endParaRPr lang="zh-CN" altLang="en-US" sz="1600" dirty="0"/>
          </a:p>
        </p:txBody>
      </p:sp>
      <p:sp>
        <p:nvSpPr>
          <p:cNvPr id="8" name="矩形 7"/>
          <p:cNvSpPr/>
          <p:nvPr/>
        </p:nvSpPr>
        <p:spPr>
          <a:xfrm>
            <a:off x="6300192" y="4009301"/>
            <a:ext cx="723275" cy="369332"/>
          </a:xfrm>
          <a:prstGeom prst="rect">
            <a:avLst/>
          </a:prstGeom>
        </p:spPr>
        <p:txBody>
          <a:bodyPr wrap="none">
            <a:spAutoFit/>
          </a:bodyPr>
          <a:lstStyle/>
          <a:p>
            <a:r>
              <a:rPr lang="en-US" altLang="zh-CN" kern="100" dirty="0"/>
              <a:t>(N,Y)</a:t>
            </a:r>
            <a:endParaRPr lang="zh-CN" altLang="en-US" dirty="0"/>
          </a:p>
        </p:txBody>
      </p:sp>
      <p:sp>
        <p:nvSpPr>
          <p:cNvPr id="9" name="矩形 8"/>
          <p:cNvSpPr/>
          <p:nvPr/>
        </p:nvSpPr>
        <p:spPr>
          <a:xfrm>
            <a:off x="7308304" y="4018593"/>
            <a:ext cx="748923" cy="369332"/>
          </a:xfrm>
          <a:prstGeom prst="rect">
            <a:avLst/>
          </a:prstGeom>
        </p:spPr>
        <p:txBody>
          <a:bodyPr wrap="none">
            <a:spAutoFit/>
          </a:bodyPr>
          <a:lstStyle/>
          <a:p>
            <a:pPr>
              <a:tabLst>
                <a:tab pos="266700" algn="l"/>
              </a:tabLst>
            </a:pPr>
            <a:r>
              <a:rPr lang="pt-PT" altLang="zh-CN" kern="100" dirty="0"/>
              <a:t>(N,N)</a:t>
            </a:r>
            <a:endParaRPr lang="zh-CN" altLang="zh-CN" kern="100" dirty="0"/>
          </a:p>
        </p:txBody>
      </p:sp>
      <p:sp>
        <p:nvSpPr>
          <p:cNvPr id="10" name="矩形 9"/>
          <p:cNvSpPr/>
          <p:nvPr/>
        </p:nvSpPr>
        <p:spPr>
          <a:xfrm>
            <a:off x="8287573" y="4015685"/>
            <a:ext cx="748923" cy="369332"/>
          </a:xfrm>
          <a:prstGeom prst="rect">
            <a:avLst/>
          </a:prstGeom>
        </p:spPr>
        <p:txBody>
          <a:bodyPr wrap="none">
            <a:spAutoFit/>
          </a:bodyPr>
          <a:lstStyle/>
          <a:p>
            <a:pPr>
              <a:tabLst>
                <a:tab pos="266700" algn="l"/>
              </a:tabLst>
            </a:pPr>
            <a:r>
              <a:rPr lang="pt-PT" altLang="zh-CN" kern="100" dirty="0"/>
              <a:t>(N,N)</a:t>
            </a:r>
            <a:endParaRPr lang="zh-CN" altLang="zh-CN" kern="100" dirty="0"/>
          </a:p>
        </p:txBody>
      </p:sp>
      <p:sp>
        <p:nvSpPr>
          <p:cNvPr id="11" name="TextBox 10"/>
          <p:cNvSpPr txBox="1"/>
          <p:nvPr/>
        </p:nvSpPr>
        <p:spPr>
          <a:xfrm>
            <a:off x="1331640" y="3720103"/>
            <a:ext cx="1080120" cy="338554"/>
          </a:xfrm>
          <a:prstGeom prst="rect">
            <a:avLst/>
          </a:prstGeom>
          <a:noFill/>
        </p:spPr>
        <p:txBody>
          <a:bodyPr wrap="square" rtlCol="0">
            <a:spAutoFit/>
          </a:bodyPr>
          <a:lstStyle/>
          <a:p>
            <a:r>
              <a:rPr lang="zh-CN" altLang="en-US" sz="1600" dirty="0"/>
              <a:t>→</a:t>
            </a:r>
            <a:r>
              <a:rPr lang="en-US" altLang="zh-CN" sz="1600" dirty="0"/>
              <a:t>(4,Y)</a:t>
            </a:r>
            <a:endParaRPr lang="zh-CN" altLang="en-US" sz="1600" dirty="0"/>
          </a:p>
        </p:txBody>
      </p:sp>
      <p:sp>
        <p:nvSpPr>
          <p:cNvPr id="12" name="TextBox 11"/>
          <p:cNvSpPr txBox="1"/>
          <p:nvPr/>
        </p:nvSpPr>
        <p:spPr>
          <a:xfrm>
            <a:off x="1331640" y="3961388"/>
            <a:ext cx="1080120" cy="338554"/>
          </a:xfrm>
          <a:prstGeom prst="rect">
            <a:avLst/>
          </a:prstGeom>
          <a:noFill/>
        </p:spPr>
        <p:txBody>
          <a:bodyPr wrap="square" rtlCol="0">
            <a:spAutoFit/>
          </a:bodyPr>
          <a:lstStyle/>
          <a:p>
            <a:r>
              <a:rPr lang="zh-CN" altLang="en-US" sz="1600" dirty="0"/>
              <a:t>→</a:t>
            </a:r>
            <a:r>
              <a:rPr lang="en-US" altLang="zh-CN" sz="1600" dirty="0"/>
              <a:t>(4,Y)</a:t>
            </a:r>
            <a:endParaRPr lang="zh-CN" altLang="en-US" sz="1600" dirty="0"/>
          </a:p>
        </p:txBody>
      </p:sp>
      <p:sp>
        <p:nvSpPr>
          <p:cNvPr id="13" name="矩形 12"/>
          <p:cNvSpPr/>
          <p:nvPr/>
        </p:nvSpPr>
        <p:spPr>
          <a:xfrm>
            <a:off x="6300192" y="3718361"/>
            <a:ext cx="699230" cy="369332"/>
          </a:xfrm>
          <a:prstGeom prst="rect">
            <a:avLst/>
          </a:prstGeom>
        </p:spPr>
        <p:txBody>
          <a:bodyPr wrap="none">
            <a:spAutoFit/>
          </a:bodyPr>
          <a:lstStyle/>
          <a:p>
            <a:r>
              <a:rPr lang="en-US" altLang="zh-CN" kern="100" dirty="0"/>
              <a:t>(4,Y)</a:t>
            </a:r>
            <a:endParaRPr lang="zh-CN" altLang="en-US" dirty="0"/>
          </a:p>
        </p:txBody>
      </p:sp>
      <p:sp>
        <p:nvSpPr>
          <p:cNvPr id="14" name="矩形 13"/>
          <p:cNvSpPr/>
          <p:nvPr/>
        </p:nvSpPr>
        <p:spPr>
          <a:xfrm>
            <a:off x="7308304" y="3718892"/>
            <a:ext cx="748923" cy="369332"/>
          </a:xfrm>
          <a:prstGeom prst="rect">
            <a:avLst/>
          </a:prstGeom>
        </p:spPr>
        <p:txBody>
          <a:bodyPr wrap="none">
            <a:spAutoFit/>
          </a:bodyPr>
          <a:lstStyle/>
          <a:p>
            <a:pPr>
              <a:tabLst>
                <a:tab pos="266700" algn="l"/>
              </a:tabLst>
            </a:pPr>
            <a:r>
              <a:rPr lang="pt-PT" altLang="zh-CN" kern="100" dirty="0"/>
              <a:t>(N,N)</a:t>
            </a:r>
            <a:endParaRPr lang="zh-CN" altLang="zh-CN" kern="100" dirty="0"/>
          </a:p>
        </p:txBody>
      </p:sp>
      <p:sp>
        <p:nvSpPr>
          <p:cNvPr id="15" name="矩形 14"/>
          <p:cNvSpPr/>
          <p:nvPr/>
        </p:nvSpPr>
        <p:spPr>
          <a:xfrm>
            <a:off x="8287573" y="3718892"/>
            <a:ext cx="699230" cy="369332"/>
          </a:xfrm>
          <a:prstGeom prst="rect">
            <a:avLst/>
          </a:prstGeom>
        </p:spPr>
        <p:txBody>
          <a:bodyPr wrap="none">
            <a:spAutoFit/>
          </a:bodyPr>
          <a:lstStyle/>
          <a:p>
            <a:pPr>
              <a:tabLst>
                <a:tab pos="266700" algn="l"/>
              </a:tabLst>
            </a:pPr>
            <a:r>
              <a:rPr lang="pt-PT" altLang="zh-CN" kern="100" dirty="0"/>
              <a:t>(4,</a:t>
            </a:r>
            <a:r>
              <a:rPr lang="en-US" altLang="zh-CN" kern="100" dirty="0"/>
              <a:t>Y</a:t>
            </a:r>
            <a:r>
              <a:rPr lang="pt-PT" altLang="zh-CN" kern="100" dirty="0"/>
              <a:t>)</a:t>
            </a:r>
            <a:endParaRPr lang="zh-CN" altLang="zh-CN" kern="100" dirty="0"/>
          </a:p>
        </p:txBody>
      </p:sp>
      <p:sp>
        <p:nvSpPr>
          <p:cNvPr id="16" name="TextBox 15"/>
          <p:cNvSpPr txBox="1"/>
          <p:nvPr/>
        </p:nvSpPr>
        <p:spPr>
          <a:xfrm>
            <a:off x="1979712" y="3961388"/>
            <a:ext cx="1080120" cy="338554"/>
          </a:xfrm>
          <a:prstGeom prst="rect">
            <a:avLst/>
          </a:prstGeom>
          <a:noFill/>
        </p:spPr>
        <p:txBody>
          <a:bodyPr wrap="square" rtlCol="0">
            <a:spAutoFit/>
          </a:bodyPr>
          <a:lstStyle/>
          <a:p>
            <a:r>
              <a:rPr lang="zh-CN" altLang="en-US" sz="1600" dirty="0"/>
              <a:t>→</a:t>
            </a:r>
            <a:r>
              <a:rPr lang="en-US" altLang="zh-CN" sz="1600" dirty="0"/>
              <a:t>(N,N)</a:t>
            </a:r>
            <a:endParaRPr lang="zh-CN" altLang="en-US" sz="1600" dirty="0"/>
          </a:p>
        </p:txBody>
      </p:sp>
      <p:sp>
        <p:nvSpPr>
          <p:cNvPr id="17" name="TextBox 16"/>
          <p:cNvSpPr txBox="1"/>
          <p:nvPr/>
        </p:nvSpPr>
        <p:spPr>
          <a:xfrm>
            <a:off x="1331640" y="2715766"/>
            <a:ext cx="1080120" cy="338554"/>
          </a:xfrm>
          <a:prstGeom prst="rect">
            <a:avLst/>
          </a:prstGeom>
          <a:noFill/>
        </p:spPr>
        <p:txBody>
          <a:bodyPr wrap="square" rtlCol="0">
            <a:spAutoFit/>
          </a:bodyPr>
          <a:lstStyle/>
          <a:p>
            <a:r>
              <a:rPr lang="zh-CN" altLang="en-US" sz="1600" dirty="0"/>
              <a:t>→</a:t>
            </a:r>
            <a:r>
              <a:rPr lang="en-US" altLang="zh-CN" sz="1600" dirty="0"/>
              <a:t>(3,Y)</a:t>
            </a:r>
            <a:endParaRPr lang="zh-CN" altLang="en-US" sz="1600" dirty="0"/>
          </a:p>
        </p:txBody>
      </p:sp>
      <p:sp>
        <p:nvSpPr>
          <p:cNvPr id="18" name="TextBox 17"/>
          <p:cNvSpPr txBox="1"/>
          <p:nvPr/>
        </p:nvSpPr>
        <p:spPr>
          <a:xfrm>
            <a:off x="1979712" y="3723878"/>
            <a:ext cx="1080120" cy="338554"/>
          </a:xfrm>
          <a:prstGeom prst="rect">
            <a:avLst/>
          </a:prstGeom>
          <a:noFill/>
        </p:spPr>
        <p:txBody>
          <a:bodyPr wrap="square" rtlCol="0">
            <a:spAutoFit/>
          </a:bodyPr>
          <a:lstStyle/>
          <a:p>
            <a:r>
              <a:rPr lang="zh-CN" altLang="en-US" sz="1600" dirty="0"/>
              <a:t>→</a:t>
            </a:r>
            <a:r>
              <a:rPr lang="en-US" altLang="zh-CN" sz="1600" dirty="0"/>
              <a:t>(3,Y)</a:t>
            </a:r>
            <a:endParaRPr lang="zh-CN" altLang="en-US" sz="1600" dirty="0"/>
          </a:p>
        </p:txBody>
      </p:sp>
      <p:sp>
        <p:nvSpPr>
          <p:cNvPr id="19" name="矩形 18"/>
          <p:cNvSpPr/>
          <p:nvPr/>
        </p:nvSpPr>
        <p:spPr>
          <a:xfrm>
            <a:off x="6300192" y="3367613"/>
            <a:ext cx="699230" cy="369332"/>
          </a:xfrm>
          <a:prstGeom prst="rect">
            <a:avLst/>
          </a:prstGeom>
        </p:spPr>
        <p:txBody>
          <a:bodyPr wrap="none">
            <a:spAutoFit/>
          </a:bodyPr>
          <a:lstStyle/>
          <a:p>
            <a:r>
              <a:rPr lang="en-US" altLang="zh-CN" kern="100" dirty="0"/>
              <a:t>(3,Y)</a:t>
            </a:r>
            <a:endParaRPr lang="zh-CN" altLang="en-US" dirty="0"/>
          </a:p>
        </p:txBody>
      </p:sp>
      <p:sp>
        <p:nvSpPr>
          <p:cNvPr id="20" name="TextBox 19"/>
          <p:cNvSpPr txBox="1"/>
          <p:nvPr/>
        </p:nvSpPr>
        <p:spPr>
          <a:xfrm>
            <a:off x="2627784" y="3715796"/>
            <a:ext cx="1080120" cy="338554"/>
          </a:xfrm>
          <a:prstGeom prst="rect">
            <a:avLst/>
          </a:prstGeom>
          <a:noFill/>
        </p:spPr>
        <p:txBody>
          <a:bodyPr wrap="square" rtlCol="0">
            <a:spAutoFit/>
          </a:bodyPr>
          <a:lstStyle/>
          <a:p>
            <a:r>
              <a:rPr lang="zh-CN" altLang="en-US" sz="1600" dirty="0"/>
              <a:t>→</a:t>
            </a:r>
            <a:r>
              <a:rPr lang="en-US" altLang="zh-CN" sz="1600" dirty="0"/>
              <a:t>(N,N)</a:t>
            </a:r>
            <a:endParaRPr lang="zh-CN" altLang="en-US" sz="1600" dirty="0"/>
          </a:p>
        </p:txBody>
      </p:sp>
      <p:sp>
        <p:nvSpPr>
          <p:cNvPr id="21" name="矩形 20"/>
          <p:cNvSpPr/>
          <p:nvPr/>
        </p:nvSpPr>
        <p:spPr>
          <a:xfrm>
            <a:off x="7318815" y="3386693"/>
            <a:ext cx="748923" cy="369332"/>
          </a:xfrm>
          <a:prstGeom prst="rect">
            <a:avLst/>
          </a:prstGeom>
        </p:spPr>
        <p:txBody>
          <a:bodyPr wrap="none">
            <a:spAutoFit/>
          </a:bodyPr>
          <a:lstStyle/>
          <a:p>
            <a:pPr>
              <a:tabLst>
                <a:tab pos="266700" algn="l"/>
              </a:tabLst>
            </a:pPr>
            <a:r>
              <a:rPr lang="pt-PT" altLang="zh-CN" kern="100" dirty="0"/>
              <a:t>(N,N)</a:t>
            </a:r>
            <a:endParaRPr lang="zh-CN" altLang="zh-CN" kern="100" dirty="0"/>
          </a:p>
        </p:txBody>
      </p:sp>
      <p:sp>
        <p:nvSpPr>
          <p:cNvPr id="22" name="矩形 21"/>
          <p:cNvSpPr/>
          <p:nvPr/>
        </p:nvSpPr>
        <p:spPr>
          <a:xfrm>
            <a:off x="8287573" y="3392650"/>
            <a:ext cx="748923" cy="369332"/>
          </a:xfrm>
          <a:prstGeom prst="rect">
            <a:avLst/>
          </a:prstGeom>
        </p:spPr>
        <p:txBody>
          <a:bodyPr wrap="none">
            <a:spAutoFit/>
          </a:bodyPr>
          <a:lstStyle/>
          <a:p>
            <a:pPr>
              <a:tabLst>
                <a:tab pos="266700" algn="l"/>
              </a:tabLst>
            </a:pPr>
            <a:r>
              <a:rPr lang="pt-PT" altLang="zh-CN" kern="100" dirty="0"/>
              <a:t>(N,N)</a:t>
            </a:r>
            <a:endParaRPr lang="zh-CN" altLang="zh-CN" kern="100" dirty="0"/>
          </a:p>
        </p:txBody>
      </p:sp>
      <p:sp>
        <p:nvSpPr>
          <p:cNvPr id="23" name="TextBox 22"/>
          <p:cNvSpPr txBox="1"/>
          <p:nvPr/>
        </p:nvSpPr>
        <p:spPr>
          <a:xfrm>
            <a:off x="1331640" y="2953276"/>
            <a:ext cx="1080120" cy="338554"/>
          </a:xfrm>
          <a:prstGeom prst="rect">
            <a:avLst/>
          </a:prstGeom>
          <a:noFill/>
        </p:spPr>
        <p:txBody>
          <a:bodyPr wrap="square" rtlCol="0">
            <a:spAutoFit/>
          </a:bodyPr>
          <a:lstStyle/>
          <a:p>
            <a:r>
              <a:rPr lang="zh-CN" altLang="en-US" sz="1600" dirty="0"/>
              <a:t>→</a:t>
            </a:r>
            <a:r>
              <a:rPr lang="en-US" altLang="zh-CN" sz="1600" dirty="0"/>
              <a:t>(2,Y)</a:t>
            </a:r>
            <a:endParaRPr lang="zh-CN" altLang="en-US" sz="1600" dirty="0"/>
          </a:p>
        </p:txBody>
      </p:sp>
      <p:sp>
        <p:nvSpPr>
          <p:cNvPr id="24" name="TextBox 23"/>
          <p:cNvSpPr txBox="1"/>
          <p:nvPr/>
        </p:nvSpPr>
        <p:spPr>
          <a:xfrm>
            <a:off x="1331640" y="3457332"/>
            <a:ext cx="1080120" cy="338554"/>
          </a:xfrm>
          <a:prstGeom prst="rect">
            <a:avLst/>
          </a:prstGeom>
          <a:noFill/>
        </p:spPr>
        <p:txBody>
          <a:bodyPr wrap="square" rtlCol="0">
            <a:spAutoFit/>
          </a:bodyPr>
          <a:lstStyle/>
          <a:p>
            <a:r>
              <a:rPr lang="zh-CN" altLang="en-US" sz="1600" dirty="0"/>
              <a:t>→</a:t>
            </a:r>
            <a:r>
              <a:rPr lang="en-US" altLang="zh-CN" sz="1600" dirty="0"/>
              <a:t>(2,Y)</a:t>
            </a:r>
            <a:endParaRPr lang="zh-CN" altLang="en-US" sz="1600" dirty="0"/>
          </a:p>
        </p:txBody>
      </p:sp>
      <p:sp>
        <p:nvSpPr>
          <p:cNvPr id="25" name="矩形 24"/>
          <p:cNvSpPr/>
          <p:nvPr/>
        </p:nvSpPr>
        <p:spPr>
          <a:xfrm>
            <a:off x="6324237" y="3043342"/>
            <a:ext cx="699230" cy="369332"/>
          </a:xfrm>
          <a:prstGeom prst="rect">
            <a:avLst/>
          </a:prstGeom>
        </p:spPr>
        <p:txBody>
          <a:bodyPr wrap="none">
            <a:spAutoFit/>
          </a:bodyPr>
          <a:lstStyle/>
          <a:p>
            <a:r>
              <a:rPr lang="en-US" altLang="zh-CN" kern="100" dirty="0"/>
              <a:t>(3,Y)</a:t>
            </a:r>
            <a:endParaRPr lang="zh-CN" altLang="en-US" dirty="0"/>
          </a:p>
        </p:txBody>
      </p:sp>
      <p:sp>
        <p:nvSpPr>
          <p:cNvPr id="26" name="TextBox 25"/>
          <p:cNvSpPr txBox="1"/>
          <p:nvPr/>
        </p:nvSpPr>
        <p:spPr>
          <a:xfrm>
            <a:off x="1979712" y="2715766"/>
            <a:ext cx="1080120" cy="338554"/>
          </a:xfrm>
          <a:prstGeom prst="rect">
            <a:avLst/>
          </a:prstGeom>
          <a:noFill/>
        </p:spPr>
        <p:txBody>
          <a:bodyPr wrap="square" rtlCol="0">
            <a:spAutoFit/>
          </a:bodyPr>
          <a:lstStyle/>
          <a:p>
            <a:r>
              <a:rPr lang="zh-CN" altLang="en-US" sz="1600" dirty="0"/>
              <a:t>→</a:t>
            </a:r>
            <a:r>
              <a:rPr lang="en-US" altLang="zh-CN" sz="1600" dirty="0"/>
              <a:t>(N,N)</a:t>
            </a:r>
            <a:endParaRPr lang="zh-CN" altLang="en-US" sz="1600" dirty="0"/>
          </a:p>
        </p:txBody>
      </p:sp>
      <p:sp>
        <p:nvSpPr>
          <p:cNvPr id="27" name="矩形 26"/>
          <p:cNvSpPr/>
          <p:nvPr/>
        </p:nvSpPr>
        <p:spPr>
          <a:xfrm>
            <a:off x="7308304" y="3070289"/>
            <a:ext cx="699230" cy="369332"/>
          </a:xfrm>
          <a:prstGeom prst="rect">
            <a:avLst/>
          </a:prstGeom>
        </p:spPr>
        <p:txBody>
          <a:bodyPr wrap="none">
            <a:spAutoFit/>
          </a:bodyPr>
          <a:lstStyle/>
          <a:p>
            <a:r>
              <a:rPr lang="en-US" altLang="zh-CN" kern="100" dirty="0"/>
              <a:t>(2,Y)</a:t>
            </a:r>
            <a:endParaRPr lang="zh-CN" altLang="en-US" dirty="0"/>
          </a:p>
        </p:txBody>
      </p:sp>
      <p:sp>
        <p:nvSpPr>
          <p:cNvPr id="28" name="矩形 27"/>
          <p:cNvSpPr/>
          <p:nvPr/>
        </p:nvSpPr>
        <p:spPr>
          <a:xfrm>
            <a:off x="8312419" y="3043342"/>
            <a:ext cx="748923" cy="369332"/>
          </a:xfrm>
          <a:prstGeom prst="rect">
            <a:avLst/>
          </a:prstGeom>
        </p:spPr>
        <p:txBody>
          <a:bodyPr wrap="none">
            <a:spAutoFit/>
          </a:bodyPr>
          <a:lstStyle/>
          <a:p>
            <a:r>
              <a:rPr lang="en-US" altLang="zh-CN" kern="100" dirty="0"/>
              <a:t>(N,N)</a:t>
            </a:r>
            <a:endParaRPr lang="zh-CN" altLang="en-US" dirty="0"/>
          </a:p>
        </p:txBody>
      </p:sp>
      <p:sp>
        <p:nvSpPr>
          <p:cNvPr id="29" name="TextBox 28"/>
          <p:cNvSpPr txBox="1"/>
          <p:nvPr/>
        </p:nvSpPr>
        <p:spPr>
          <a:xfrm>
            <a:off x="1979712" y="2953276"/>
            <a:ext cx="1080120" cy="338554"/>
          </a:xfrm>
          <a:prstGeom prst="rect">
            <a:avLst/>
          </a:prstGeom>
          <a:noFill/>
        </p:spPr>
        <p:txBody>
          <a:bodyPr wrap="square" rtlCol="0">
            <a:spAutoFit/>
          </a:bodyPr>
          <a:lstStyle/>
          <a:p>
            <a:r>
              <a:rPr lang="zh-CN" altLang="en-US" sz="1600" dirty="0"/>
              <a:t>→</a:t>
            </a:r>
            <a:r>
              <a:rPr lang="en-US" altLang="zh-CN" sz="1600" dirty="0"/>
              <a:t>(1,Y)</a:t>
            </a:r>
            <a:endParaRPr lang="zh-CN" altLang="en-US" sz="1600" dirty="0"/>
          </a:p>
        </p:txBody>
      </p:sp>
      <p:sp>
        <p:nvSpPr>
          <p:cNvPr id="30" name="TextBox 29"/>
          <p:cNvSpPr txBox="1"/>
          <p:nvPr/>
        </p:nvSpPr>
        <p:spPr>
          <a:xfrm>
            <a:off x="1331640" y="3219822"/>
            <a:ext cx="1080120" cy="338554"/>
          </a:xfrm>
          <a:prstGeom prst="rect">
            <a:avLst/>
          </a:prstGeom>
          <a:noFill/>
        </p:spPr>
        <p:txBody>
          <a:bodyPr wrap="square" rtlCol="0">
            <a:spAutoFit/>
          </a:bodyPr>
          <a:lstStyle/>
          <a:p>
            <a:r>
              <a:rPr lang="zh-CN" altLang="en-US" sz="1600" dirty="0"/>
              <a:t>→</a:t>
            </a:r>
            <a:r>
              <a:rPr lang="en-US" altLang="zh-CN" sz="1600" dirty="0"/>
              <a:t>(1,Y)</a:t>
            </a:r>
            <a:endParaRPr lang="zh-CN" altLang="en-US" sz="1600" dirty="0"/>
          </a:p>
        </p:txBody>
      </p:sp>
      <p:sp>
        <p:nvSpPr>
          <p:cNvPr id="33" name="矩形 32"/>
          <p:cNvSpPr/>
          <p:nvPr/>
        </p:nvSpPr>
        <p:spPr>
          <a:xfrm>
            <a:off x="467544" y="915566"/>
            <a:ext cx="8468263" cy="138499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600" dirty="0"/>
              <a:t>  </a:t>
            </a:r>
            <a:r>
              <a:rPr lang="zh-CN" altLang="en-US" sz="2000" dirty="0"/>
              <a:t>对第</a:t>
            </a:r>
            <a:r>
              <a:rPr lang="en-US" altLang="zh-CN" sz="2000" dirty="0" err="1"/>
              <a:t>i</a:t>
            </a:r>
            <a:r>
              <a:rPr lang="zh-CN" altLang="en-US" sz="2000" dirty="0"/>
              <a:t>条四元式 </a:t>
            </a:r>
            <a:r>
              <a:rPr lang="en-US" altLang="zh-CN" sz="2000" b="1" dirty="0">
                <a:solidFill>
                  <a:srgbClr val="FF0000"/>
                </a:solidFill>
              </a:rPr>
              <a:t>i:(+,y,z,x) </a:t>
            </a:r>
            <a:r>
              <a:rPr lang="zh-CN" altLang="en-US" sz="2000" dirty="0"/>
              <a:t>的计算方法</a:t>
            </a:r>
            <a:endParaRPr lang="en-US" altLang="zh-CN" sz="2000" dirty="0"/>
          </a:p>
          <a:p>
            <a:pPr marL="285750" indent="-285750">
              <a:buFont typeface="Arial" panose="020B0604020202020204" pitchFamily="34" charset="0"/>
              <a:buChar char="•"/>
            </a:pPr>
            <a:r>
              <a:rPr lang="zh-CN" altLang="zh-CN" sz="1600" dirty="0"/>
              <a:t>把符号表中变量</a:t>
            </a:r>
            <a:r>
              <a:rPr lang="en-US" altLang="zh-CN" sz="1600" dirty="0"/>
              <a:t>x</a:t>
            </a:r>
            <a:r>
              <a:rPr lang="zh-CN" altLang="zh-CN" sz="1600" dirty="0"/>
              <a:t>的引用信息和活跃信息</a:t>
            </a:r>
            <a:r>
              <a:rPr lang="en-US" altLang="zh-CN" sz="1600" dirty="0"/>
              <a:t>N</a:t>
            </a:r>
            <a:r>
              <a:rPr lang="zh-CN" altLang="zh-CN" sz="1600" dirty="0"/>
              <a:t>和</a:t>
            </a:r>
            <a:r>
              <a:rPr lang="en-US" altLang="zh-CN" sz="1600" dirty="0"/>
              <a:t>Y</a:t>
            </a:r>
            <a:r>
              <a:rPr lang="zh-CN" altLang="zh-CN" sz="1600" dirty="0"/>
              <a:t>附加到四元式</a:t>
            </a:r>
            <a:r>
              <a:rPr lang="en-US" altLang="zh-CN" sz="1600" dirty="0" err="1"/>
              <a:t>i</a:t>
            </a:r>
            <a:r>
              <a:rPr lang="zh-CN" altLang="zh-CN" sz="1600" dirty="0"/>
              <a:t>中的结果</a:t>
            </a:r>
            <a:r>
              <a:rPr lang="en-US" altLang="zh-CN" sz="1600" dirty="0"/>
              <a:t>x</a:t>
            </a:r>
            <a:r>
              <a:rPr lang="zh-CN" altLang="zh-CN" sz="1600" dirty="0"/>
              <a:t>上；</a:t>
            </a:r>
          </a:p>
          <a:p>
            <a:pPr marL="285750" indent="-285750">
              <a:buFont typeface="Arial" panose="020B0604020202020204" pitchFamily="34" charset="0"/>
              <a:buChar char="•"/>
            </a:pPr>
            <a:r>
              <a:rPr lang="zh-CN" altLang="zh-CN" sz="1600" dirty="0"/>
              <a:t>把符号表中</a:t>
            </a:r>
            <a:r>
              <a:rPr lang="en-US" altLang="zh-CN" sz="1600" dirty="0"/>
              <a:t>x</a:t>
            </a:r>
            <a:r>
              <a:rPr lang="zh-CN" altLang="zh-CN" sz="1600" dirty="0"/>
              <a:t>的引用信息和活跃信息置为“</a:t>
            </a:r>
            <a:r>
              <a:rPr lang="en-US" altLang="zh-CN" sz="1600" dirty="0"/>
              <a:t>N</a:t>
            </a:r>
            <a:r>
              <a:rPr lang="zh-CN" altLang="zh-CN" sz="1600" dirty="0"/>
              <a:t>，</a:t>
            </a:r>
            <a:r>
              <a:rPr lang="en-US" altLang="zh-CN" sz="1600" dirty="0"/>
              <a:t>N</a:t>
            </a:r>
            <a:r>
              <a:rPr lang="zh-CN" altLang="zh-CN" sz="1600" dirty="0"/>
              <a:t>”含义是，非引用和非活跃；</a:t>
            </a:r>
          </a:p>
          <a:p>
            <a:pPr marL="285750" indent="-285750">
              <a:buFont typeface="Arial" panose="020B0604020202020204" pitchFamily="34" charset="0"/>
              <a:buChar char="•"/>
            </a:pPr>
            <a:r>
              <a:rPr lang="zh-CN" altLang="zh-CN" sz="1600" dirty="0"/>
              <a:t>把符号表中变量</a:t>
            </a:r>
            <a:r>
              <a:rPr lang="en-US" altLang="zh-CN" sz="1600" dirty="0"/>
              <a:t>y</a:t>
            </a:r>
            <a:r>
              <a:rPr lang="zh-CN" altLang="zh-CN" sz="1600" dirty="0"/>
              <a:t>和</a:t>
            </a:r>
            <a:r>
              <a:rPr lang="en-US" altLang="zh-CN" sz="1600" dirty="0"/>
              <a:t>z</a:t>
            </a:r>
            <a:r>
              <a:rPr lang="zh-CN" altLang="zh-CN" sz="1600" dirty="0"/>
              <a:t>的引用信息和活跃信息附加到四元式</a:t>
            </a:r>
            <a:r>
              <a:rPr lang="en-US" altLang="zh-CN" sz="1600" dirty="0" err="1"/>
              <a:t>i</a:t>
            </a:r>
            <a:r>
              <a:rPr lang="zh-CN" altLang="zh-CN" sz="1600" dirty="0"/>
              <a:t>的左变量和右变量上；</a:t>
            </a:r>
          </a:p>
          <a:p>
            <a:pPr marL="285750" indent="-285750">
              <a:buFont typeface="Arial" panose="020B0604020202020204" pitchFamily="34" charset="0"/>
              <a:buChar char="•"/>
            </a:pPr>
            <a:r>
              <a:rPr lang="zh-CN" altLang="zh-CN" sz="1600" dirty="0"/>
              <a:t>把符号表中</a:t>
            </a:r>
            <a:r>
              <a:rPr lang="en-US" altLang="zh-CN" sz="1600" dirty="0"/>
              <a:t>y</a:t>
            </a:r>
            <a:r>
              <a:rPr lang="zh-CN" altLang="zh-CN" sz="1600" dirty="0"/>
              <a:t>和</a:t>
            </a:r>
            <a:r>
              <a:rPr lang="en-US" altLang="zh-CN" sz="1600" dirty="0"/>
              <a:t>z</a:t>
            </a:r>
            <a:r>
              <a:rPr lang="zh-CN" altLang="zh-CN" sz="1600" dirty="0"/>
              <a:t>的引用信息和活跃信息置为</a:t>
            </a:r>
            <a:r>
              <a:rPr lang="en-US" altLang="zh-CN" sz="1600" dirty="0" err="1"/>
              <a:t>i</a:t>
            </a:r>
            <a:r>
              <a:rPr lang="zh-CN" altLang="zh-CN" sz="1600" dirty="0"/>
              <a:t>，</a:t>
            </a:r>
            <a:r>
              <a:rPr lang="en-US" altLang="zh-CN" sz="1600" dirty="0"/>
              <a:t>Y</a:t>
            </a:r>
            <a:r>
              <a:rPr lang="zh-CN" altLang="zh-CN" sz="1600" dirty="0"/>
              <a:t>，含义是在第</a:t>
            </a:r>
            <a:r>
              <a:rPr lang="en-US" altLang="zh-CN" sz="1600" dirty="0" err="1"/>
              <a:t>i</a:t>
            </a:r>
            <a:r>
              <a:rPr lang="zh-CN" altLang="zh-CN" sz="1600" dirty="0"/>
              <a:t>条四元式引用，是活跃的。 </a:t>
            </a:r>
          </a:p>
        </p:txBody>
      </p:sp>
    </p:spTree>
    <p:extLst>
      <p:ext uri="{BB962C8B-B14F-4D97-AF65-F5344CB8AC3E}">
        <p14:creationId xmlns:p14="http://schemas.microsoft.com/office/powerpoint/2010/main" val="2106363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grpId="0" nodeType="afterEffect">
                                  <p:stCondLst>
                                    <p:cond delay="0"/>
                                  </p:stCondLst>
                                  <p:childTnLst>
                                    <p:set>
                                      <p:cBhvr>
                                        <p:cTn id="51" dur="1" fill="hold">
                                          <p:stCondLst>
                                            <p:cond delay="0"/>
                                          </p:stCondLst>
                                        </p:cTn>
                                        <p:tgtEl>
                                          <p:spTgt spid="1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7"/>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childTnLst>
                          </p:cTn>
                        </p:par>
                        <p:par>
                          <p:cTn id="71" fill="hold">
                            <p:stCondLst>
                              <p:cond delay="0"/>
                            </p:stCondLst>
                            <p:childTnLst>
                              <p:par>
                                <p:cTn id="72" presetID="1" presetClass="entr" presetSubtype="0" fill="hold" grpId="0" nodeType="afterEffect">
                                  <p:stCondLst>
                                    <p:cond delay="0"/>
                                  </p:stCondLst>
                                  <p:childTnLst>
                                    <p:set>
                                      <p:cBhvr>
                                        <p:cTn id="73" dur="1" fill="hold">
                                          <p:stCondLst>
                                            <p:cond delay="0"/>
                                          </p:stCondLst>
                                        </p:cTn>
                                        <p:tgtEl>
                                          <p:spTgt spid="22"/>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23"/>
                                        </p:tgtEl>
                                        <p:attrNameLst>
                                          <p:attrName>style.visibility</p:attrName>
                                        </p:attrNameLst>
                                      </p:cBhvr>
                                      <p:to>
                                        <p:strVal val="visible"/>
                                      </p:to>
                                    </p:set>
                                  </p:childTnLst>
                                </p:cTn>
                              </p:par>
                            </p:childTnLst>
                          </p:cTn>
                        </p:par>
                        <p:par>
                          <p:cTn id="78" fill="hold">
                            <p:stCondLst>
                              <p:cond delay="0"/>
                            </p:stCondLst>
                            <p:childTnLst>
                              <p:par>
                                <p:cTn id="79" presetID="1" presetClass="entr" presetSubtype="0" fill="hold" grpId="0" nodeType="afterEffect">
                                  <p:stCondLst>
                                    <p:cond delay="0"/>
                                  </p:stCondLst>
                                  <p:childTnLst>
                                    <p:set>
                                      <p:cBhvr>
                                        <p:cTn id="80" dur="1" fill="hold">
                                          <p:stCondLst>
                                            <p:cond delay="0"/>
                                          </p:stCondLst>
                                        </p:cTn>
                                        <p:tgtEl>
                                          <p:spTgt spid="2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6"/>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7"/>
                                        </p:tgtEl>
                                        <p:attrNameLst>
                                          <p:attrName>style.visibility</p:attrName>
                                        </p:attrNameLst>
                                      </p:cBhvr>
                                      <p:to>
                                        <p:strVal val="visible"/>
                                      </p:to>
                                    </p:set>
                                  </p:childTnLst>
                                </p:cTn>
                              </p:par>
                            </p:childTnLst>
                          </p:cTn>
                        </p:par>
                        <p:par>
                          <p:cTn id="93" fill="hold">
                            <p:stCondLst>
                              <p:cond delay="0"/>
                            </p:stCondLst>
                            <p:childTnLst>
                              <p:par>
                                <p:cTn id="94" presetID="1" presetClass="entr" presetSubtype="0" fill="hold" grpId="0" nodeType="afterEffect">
                                  <p:stCondLst>
                                    <p:cond delay="0"/>
                                  </p:stCondLst>
                                  <p:childTnLst>
                                    <p:set>
                                      <p:cBhvr>
                                        <p:cTn id="95" dur="1" fill="hold">
                                          <p:stCondLst>
                                            <p:cond delay="0"/>
                                          </p:stCondLst>
                                        </p:cTn>
                                        <p:tgtEl>
                                          <p:spTgt spid="28"/>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29"/>
                                        </p:tgtEl>
                                        <p:attrNameLst>
                                          <p:attrName>style.visibility</p:attrName>
                                        </p:attrNameLst>
                                      </p:cBhvr>
                                      <p:to>
                                        <p:strVal val="visible"/>
                                      </p:to>
                                    </p:set>
                                  </p:childTnLst>
                                </p:cTn>
                              </p:par>
                            </p:childTnLst>
                          </p:cTn>
                        </p:par>
                        <p:par>
                          <p:cTn id="100" fill="hold">
                            <p:stCondLst>
                              <p:cond delay="0"/>
                            </p:stCondLst>
                            <p:childTnLst>
                              <p:par>
                                <p:cTn id="101" presetID="1" presetClass="entr" presetSubtype="0" fill="hold" grpId="0" nodeType="afterEffect">
                                  <p:stCondLst>
                                    <p:cond delay="0"/>
                                  </p:stCondLst>
                                  <p:childTnLst>
                                    <p:set>
                                      <p:cBhvr>
                                        <p:cTn id="10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normAutofit fontScale="90000"/>
          </a:bodyPr>
          <a:lstStyle/>
          <a:p>
            <a:endParaRPr lang="zh-CN" altLang="en-US"/>
          </a:p>
        </p:txBody>
      </p:sp>
    </p:spTree>
    <p:extLst>
      <p:ext uri="{BB962C8B-B14F-4D97-AF65-F5344CB8AC3E}">
        <p14:creationId xmlns:p14="http://schemas.microsoft.com/office/powerpoint/2010/main" val="15967058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560" y="1990818"/>
            <a:ext cx="7688323" cy="1323439"/>
          </a:xfrm>
          <a:prstGeom prst="rect">
            <a:avLst/>
          </a:prstGeom>
        </p:spPr>
        <p:txBody>
          <a:bodyPr wrap="none">
            <a:spAutoFit/>
          </a:bodyPr>
          <a:lstStyle/>
          <a:p>
            <a:r>
              <a:rPr lang="en-US" altLang="zh-CN" sz="4400" b="1" dirty="0">
                <a:solidFill>
                  <a:srgbClr val="CC0099"/>
                </a:solidFill>
                <a:ea typeface="隶书" pitchFamily="49" charset="-122"/>
              </a:rPr>
              <a:t>4</a:t>
            </a:r>
            <a:r>
              <a:rPr lang="zh-CN" altLang="en-US" sz="4400" b="1" dirty="0">
                <a:solidFill>
                  <a:srgbClr val="CC0099"/>
                </a:solidFill>
                <a:ea typeface="隶书" pitchFamily="49" charset="-122"/>
              </a:rPr>
              <a:t>、基本块的代码生成</a:t>
            </a:r>
            <a:endParaRPr lang="en-US" altLang="zh-CN" sz="4400" b="1" dirty="0">
              <a:solidFill>
                <a:srgbClr val="CC0099"/>
              </a:solidFill>
              <a:ea typeface="隶书" pitchFamily="49" charset="-122"/>
            </a:endParaRPr>
          </a:p>
          <a:p>
            <a:r>
              <a:rPr lang="en-US" altLang="zh-CN" sz="3600" b="1" dirty="0">
                <a:solidFill>
                  <a:srgbClr val="CC0099"/>
                </a:solidFill>
                <a:ea typeface="隶书" pitchFamily="49" charset="-122"/>
              </a:rPr>
              <a:t>       ——</a:t>
            </a:r>
            <a:r>
              <a:rPr lang="zh-CN" altLang="en-US" sz="3600" b="1" dirty="0">
                <a:solidFill>
                  <a:srgbClr val="CC0099"/>
                </a:solidFill>
                <a:ea typeface="隶书" pitchFamily="49" charset="-122"/>
              </a:rPr>
              <a:t>寄存器描述器和地址描述器</a:t>
            </a:r>
          </a:p>
        </p:txBody>
      </p:sp>
    </p:spTree>
    <p:extLst>
      <p:ext uri="{BB962C8B-B14F-4D97-AF65-F5344CB8AC3E}">
        <p14:creationId xmlns:p14="http://schemas.microsoft.com/office/powerpoint/2010/main" val="30925745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内容占位符 2"/>
          <p:cNvSpPr>
            <a:spLocks noGrp="1"/>
          </p:cNvSpPr>
          <p:nvPr>
            <p:ph idx="1"/>
          </p:nvPr>
        </p:nvSpPr>
        <p:spPr>
          <a:xfrm>
            <a:off x="467544" y="915566"/>
            <a:ext cx="7920880" cy="3600400"/>
          </a:xfrm>
          <a:solidFill>
            <a:schemeClr val="bg1"/>
          </a:solidFill>
        </p:spPr>
        <p:txBody>
          <a:bodyPr>
            <a:noAutofit/>
          </a:bodyPr>
          <a:lstStyle/>
          <a:p>
            <a:pPr marL="342900" indent="-342900">
              <a:lnSpc>
                <a:spcPct val="120000"/>
              </a:lnSpc>
              <a:spcBef>
                <a:spcPts val="0"/>
              </a:spcBef>
              <a:defRPr/>
            </a:pPr>
            <a:r>
              <a:rPr lang="zh-CN" altLang="zh-CN" sz="2000" b="1" dirty="0">
                <a:solidFill>
                  <a:srgbClr val="FF0000"/>
                </a:solidFill>
              </a:rPr>
              <a:t>寄存器的分配</a:t>
            </a:r>
            <a:r>
              <a:rPr lang="zh-CN" altLang="zh-CN" sz="2000" dirty="0"/>
              <a:t>问题是指在变量多、可用寄存器少的情况下所产生的寄存器使用问题。对寄存器的使用有两种形式：寄存器的分配和指派。</a:t>
            </a:r>
            <a:endParaRPr lang="en-US" altLang="zh-CN" sz="2000" dirty="0"/>
          </a:p>
          <a:p>
            <a:pPr marL="342900" indent="-342900">
              <a:lnSpc>
                <a:spcPct val="120000"/>
              </a:lnSpc>
              <a:spcBef>
                <a:spcPts val="0"/>
              </a:spcBef>
              <a:defRPr/>
            </a:pPr>
            <a:r>
              <a:rPr lang="zh-CN" altLang="zh-CN" sz="2000" dirty="0">
                <a:solidFill>
                  <a:srgbClr val="FF0000"/>
                </a:solidFill>
              </a:rPr>
              <a:t>寄存器的分配</a:t>
            </a:r>
            <a:r>
              <a:rPr lang="zh-CN" altLang="en-US" sz="2000" dirty="0"/>
              <a:t>：</a:t>
            </a:r>
            <a:r>
              <a:rPr lang="zh-CN" altLang="zh-CN" sz="2000" dirty="0"/>
              <a:t>决定让哪个变量放在某个寄存器中。在使用期间，这个寄存器就存放该变量的值</a:t>
            </a:r>
            <a:endParaRPr lang="en-US" altLang="zh-CN" sz="2000" dirty="0"/>
          </a:p>
          <a:p>
            <a:pPr marL="342900" indent="-342900">
              <a:lnSpc>
                <a:spcPct val="120000"/>
              </a:lnSpc>
              <a:spcBef>
                <a:spcPts val="0"/>
              </a:spcBef>
              <a:defRPr/>
            </a:pPr>
            <a:r>
              <a:rPr lang="zh-CN" altLang="en-US" sz="2000" dirty="0">
                <a:solidFill>
                  <a:srgbClr val="FF0000"/>
                </a:solidFill>
              </a:rPr>
              <a:t>寄存器的指派</a:t>
            </a:r>
            <a:r>
              <a:rPr lang="zh-CN" altLang="en-US" sz="2000" dirty="0"/>
              <a:t>：</a:t>
            </a:r>
            <a:r>
              <a:rPr lang="zh-CN" altLang="zh-CN" sz="2000" dirty="0"/>
              <a:t>为一个变量选择一个寄存器，称为把寄存器指派给该变量</a:t>
            </a:r>
            <a:r>
              <a:rPr lang="en-US" altLang="zh-CN" sz="2000" dirty="0"/>
              <a:t>   </a:t>
            </a:r>
          </a:p>
        </p:txBody>
      </p:sp>
      <p:sp>
        <p:nvSpPr>
          <p:cNvPr id="34819" name="标题 1"/>
          <p:cNvSpPr>
            <a:spLocks noGrp="1"/>
          </p:cNvSpPr>
          <p:nvPr>
            <p:ph type="title"/>
          </p:nvPr>
        </p:nvSpPr>
        <p:spPr>
          <a:xfrm>
            <a:off x="107504" y="0"/>
            <a:ext cx="7772400" cy="771550"/>
          </a:xfrm>
        </p:spPr>
        <p:txBody>
          <a:bodyPr>
            <a:normAutofit/>
          </a:bodyPr>
          <a:lstStyle/>
          <a:p>
            <a:r>
              <a:rPr lang="zh-CN" altLang="zh-CN" sz="3200" dirty="0">
                <a:solidFill>
                  <a:srgbClr val="CC0099"/>
                </a:solidFill>
              </a:rPr>
              <a:t>寄存器描述和地址描述</a:t>
            </a:r>
            <a:endParaRPr lang="zh-CN" altLang="en-US" sz="3200" dirty="0">
              <a:solidFill>
                <a:srgbClr val="CC0099"/>
              </a:solidFill>
            </a:endParaRPr>
          </a:p>
        </p:txBody>
      </p:sp>
    </p:spTree>
    <p:extLst>
      <p:ext uri="{BB962C8B-B14F-4D97-AF65-F5344CB8AC3E}">
        <p14:creationId xmlns:p14="http://schemas.microsoft.com/office/powerpoint/2010/main" val="23292236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内容占位符 2"/>
          <p:cNvSpPr>
            <a:spLocks noGrp="1"/>
          </p:cNvSpPr>
          <p:nvPr>
            <p:ph idx="1"/>
          </p:nvPr>
        </p:nvSpPr>
        <p:spPr>
          <a:xfrm>
            <a:off x="323528" y="627534"/>
            <a:ext cx="8280920" cy="3312368"/>
          </a:xfrm>
          <a:solidFill>
            <a:schemeClr val="bg1"/>
          </a:solidFill>
        </p:spPr>
        <p:txBody>
          <a:bodyPr>
            <a:noAutofit/>
          </a:bodyPr>
          <a:lstStyle/>
          <a:p>
            <a:r>
              <a:rPr lang="zh-CN" altLang="zh-CN" sz="1800" dirty="0"/>
              <a:t>为一个中间代码</a:t>
            </a:r>
            <a:r>
              <a:rPr lang="en-US" altLang="zh-CN" b="1" dirty="0">
                <a:solidFill>
                  <a:srgbClr val="FF0000"/>
                </a:solidFill>
              </a:rPr>
              <a:t>i:(op, B, C, A)</a:t>
            </a:r>
            <a:r>
              <a:rPr lang="zh-CN" altLang="zh-CN" sz="1800" dirty="0"/>
              <a:t>中的结果</a:t>
            </a:r>
            <a:r>
              <a:rPr lang="en-US" altLang="zh-CN" sz="1800" dirty="0"/>
              <a:t>A</a:t>
            </a:r>
            <a:r>
              <a:rPr lang="zh-CN" altLang="en-US" sz="1800" dirty="0"/>
              <a:t>指派</a:t>
            </a:r>
            <a:r>
              <a:rPr lang="zh-CN" altLang="zh-CN" sz="1800" dirty="0"/>
              <a:t>寄存器时，应遵循以下原则</a:t>
            </a:r>
            <a:r>
              <a:rPr lang="zh-CN" altLang="en-US" sz="1800" dirty="0"/>
              <a:t>：</a:t>
            </a:r>
            <a:endParaRPr lang="zh-CN" altLang="zh-CN" sz="1800" dirty="0"/>
          </a:p>
          <a:p>
            <a:pPr lvl="1">
              <a:buClr>
                <a:srgbClr val="FF0000"/>
              </a:buClr>
              <a:buFont typeface="Verdana" panose="020B0604030504040204" pitchFamily="34" charset="0"/>
              <a:buChar char="‒"/>
            </a:pPr>
            <a:r>
              <a:rPr lang="zh-CN" altLang="en-US" sz="1800" b="1" dirty="0">
                <a:solidFill>
                  <a:srgbClr val="FF0000"/>
                </a:solidFill>
              </a:rPr>
              <a:t>选</a:t>
            </a:r>
            <a:r>
              <a:rPr lang="en-US" altLang="zh-CN" sz="1800" b="1" dirty="0">
                <a:solidFill>
                  <a:srgbClr val="FF0000"/>
                </a:solidFill>
              </a:rPr>
              <a:t>B</a:t>
            </a:r>
            <a:r>
              <a:rPr lang="zh-CN" altLang="en-US" sz="1800" dirty="0"/>
              <a:t>：</a:t>
            </a:r>
            <a:r>
              <a:rPr lang="zh-CN" altLang="zh-CN" sz="1800" dirty="0"/>
              <a:t>如果</a:t>
            </a:r>
            <a:r>
              <a:rPr lang="en-US" altLang="zh-CN" sz="1800" dirty="0"/>
              <a:t>B</a:t>
            </a:r>
            <a:r>
              <a:rPr lang="zh-CN" altLang="en-US" sz="1800" dirty="0">
                <a:solidFill>
                  <a:srgbClr val="FF0000"/>
                </a:solidFill>
              </a:rPr>
              <a:t>独占</a:t>
            </a:r>
            <a:r>
              <a:rPr lang="zh-CN" altLang="zh-CN" sz="1800" dirty="0">
                <a:solidFill>
                  <a:srgbClr val="FF0000"/>
                </a:solidFill>
              </a:rPr>
              <a:t>寄存器</a:t>
            </a:r>
            <a:r>
              <a:rPr lang="en-US" altLang="zh-CN" sz="1800" dirty="0" err="1">
                <a:solidFill>
                  <a:srgbClr val="FF0000"/>
                </a:solidFill>
              </a:rPr>
              <a:t>Ri</a:t>
            </a:r>
            <a:r>
              <a:rPr lang="zh-CN" altLang="zh-CN" sz="1800" dirty="0">
                <a:solidFill>
                  <a:srgbClr val="FF0000"/>
                </a:solidFill>
              </a:rPr>
              <a:t>中</a:t>
            </a:r>
            <a:r>
              <a:rPr lang="zh-CN" altLang="en-US" sz="1800" dirty="0"/>
              <a:t>；或者</a:t>
            </a:r>
            <a:r>
              <a:rPr lang="en-US" altLang="zh-CN" sz="1800" dirty="0">
                <a:solidFill>
                  <a:srgbClr val="0000CC"/>
                </a:solidFill>
              </a:rPr>
              <a:t>B</a:t>
            </a:r>
            <a:r>
              <a:rPr lang="zh-CN" altLang="zh-CN" sz="1800" dirty="0">
                <a:solidFill>
                  <a:srgbClr val="0000CC"/>
                </a:solidFill>
              </a:rPr>
              <a:t>以后不再引用，</a:t>
            </a:r>
            <a:r>
              <a:rPr lang="zh-CN" altLang="en-US" sz="1800" dirty="0">
                <a:solidFill>
                  <a:srgbClr val="0000CC"/>
                </a:solidFill>
              </a:rPr>
              <a:t>或者</a:t>
            </a:r>
            <a:r>
              <a:rPr lang="en-US" altLang="zh-CN" sz="1800" dirty="0">
                <a:solidFill>
                  <a:srgbClr val="0000CC"/>
                </a:solidFill>
              </a:rPr>
              <a:t>B</a:t>
            </a:r>
            <a:r>
              <a:rPr lang="zh-CN" altLang="en-US" sz="1800" dirty="0">
                <a:solidFill>
                  <a:srgbClr val="0000CC"/>
                </a:solidFill>
              </a:rPr>
              <a:t>和</a:t>
            </a:r>
            <a:r>
              <a:rPr lang="en-US" altLang="zh-CN" sz="1800" dirty="0">
                <a:solidFill>
                  <a:srgbClr val="0000CC"/>
                </a:solidFill>
              </a:rPr>
              <a:t>A</a:t>
            </a:r>
            <a:r>
              <a:rPr lang="zh-CN" altLang="en-US" sz="1800" dirty="0">
                <a:solidFill>
                  <a:srgbClr val="0000CC"/>
                </a:solidFill>
              </a:rPr>
              <a:t>是同一个标识符</a:t>
            </a:r>
            <a:r>
              <a:rPr lang="zh-CN" altLang="en-US" sz="1800" dirty="0"/>
              <a:t>；</a:t>
            </a:r>
            <a:r>
              <a:rPr lang="zh-CN" altLang="zh-CN" sz="1800" dirty="0"/>
              <a:t>则选择</a:t>
            </a:r>
            <a:r>
              <a:rPr lang="en-US" altLang="zh-CN" sz="1800" dirty="0" err="1"/>
              <a:t>Ri</a:t>
            </a:r>
            <a:r>
              <a:rPr lang="zh-CN" altLang="zh-CN" sz="1800" dirty="0"/>
              <a:t>作为存放</a:t>
            </a:r>
            <a:r>
              <a:rPr lang="en-US" altLang="zh-CN" sz="1800" dirty="0"/>
              <a:t>A</a:t>
            </a:r>
            <a:r>
              <a:rPr lang="zh-CN" altLang="zh-CN" sz="1800" dirty="0"/>
              <a:t>；</a:t>
            </a:r>
          </a:p>
          <a:p>
            <a:pPr lvl="1">
              <a:buClr>
                <a:srgbClr val="FF0000"/>
              </a:buClr>
              <a:buFont typeface="Verdana" panose="020B0604030504040204" pitchFamily="34" charset="0"/>
              <a:buChar char="‒"/>
            </a:pPr>
            <a:r>
              <a:rPr lang="zh-CN" altLang="en-US" sz="1800" b="1" dirty="0">
                <a:solidFill>
                  <a:srgbClr val="FF0000"/>
                </a:solidFill>
              </a:rPr>
              <a:t>选空闲</a:t>
            </a:r>
            <a:r>
              <a:rPr lang="zh-CN" altLang="en-US" sz="1800" dirty="0"/>
              <a:t>：</a:t>
            </a:r>
            <a:r>
              <a:rPr lang="zh-CN" altLang="zh-CN" sz="1800" dirty="0"/>
              <a:t>从空闲寄存器中选择一个寄存器</a:t>
            </a:r>
            <a:r>
              <a:rPr lang="en-US" altLang="zh-CN" sz="1800" dirty="0" err="1"/>
              <a:t>Ri</a:t>
            </a:r>
            <a:r>
              <a:rPr lang="zh-CN" altLang="zh-CN" sz="1800" dirty="0"/>
              <a:t>来存放</a:t>
            </a:r>
            <a:r>
              <a:rPr lang="en-US" altLang="zh-CN" sz="1800" dirty="0"/>
              <a:t>A</a:t>
            </a:r>
            <a:r>
              <a:rPr lang="zh-CN" altLang="zh-CN" sz="1800" dirty="0"/>
              <a:t>；</a:t>
            </a:r>
            <a:r>
              <a:rPr lang="en-US" altLang="zh-CN" sz="1800" dirty="0"/>
              <a:t> </a:t>
            </a:r>
            <a:endParaRPr lang="zh-CN" altLang="zh-CN" sz="1800" dirty="0"/>
          </a:p>
          <a:p>
            <a:pPr lvl="1">
              <a:buClr>
                <a:srgbClr val="FF0000"/>
              </a:buClr>
              <a:buFont typeface="Verdana" panose="020B0604030504040204" pitchFamily="34" charset="0"/>
              <a:buChar char="‒"/>
            </a:pPr>
            <a:r>
              <a:rPr lang="zh-CN" altLang="en-US" sz="1800" b="1" dirty="0">
                <a:solidFill>
                  <a:srgbClr val="FF0000"/>
                </a:solidFill>
              </a:rPr>
              <a:t>抢占</a:t>
            </a:r>
            <a:r>
              <a:rPr lang="zh-CN" altLang="en-US" sz="1800" dirty="0"/>
              <a:t>：</a:t>
            </a:r>
            <a:r>
              <a:rPr lang="zh-CN" altLang="zh-CN" sz="1800" dirty="0"/>
              <a:t>从已分配寄存器中选取</a:t>
            </a:r>
            <a:r>
              <a:rPr lang="zh-CN" altLang="en-US" sz="1800" dirty="0"/>
              <a:t>一个寄存器来存放</a:t>
            </a:r>
            <a:r>
              <a:rPr lang="en-US" altLang="zh-CN" sz="1800" dirty="0"/>
              <a:t>A</a:t>
            </a:r>
            <a:r>
              <a:rPr lang="zh-CN" altLang="en-US" sz="1800" dirty="0"/>
              <a:t>，这时需要考虑：</a:t>
            </a:r>
            <a:endParaRPr lang="en-US" altLang="zh-CN" sz="1800" dirty="0"/>
          </a:p>
          <a:p>
            <a:pPr lvl="2">
              <a:buClr>
                <a:srgbClr val="FF0000"/>
              </a:buClr>
              <a:buFont typeface="Verdana" panose="020B0604030504040204" pitchFamily="34" charset="0"/>
              <a:buChar char="‒"/>
            </a:pPr>
            <a:r>
              <a:rPr lang="en-US" altLang="zh-CN" sz="1800" dirty="0"/>
              <a:t>(1)</a:t>
            </a:r>
            <a:r>
              <a:rPr lang="zh-CN" altLang="en-US" sz="1800" dirty="0"/>
              <a:t>如果这个寄存器中的值有用，需要保存其值；</a:t>
            </a:r>
            <a:endParaRPr lang="en-US" altLang="zh-CN" sz="1800" dirty="0"/>
          </a:p>
          <a:p>
            <a:pPr lvl="2">
              <a:buClr>
                <a:srgbClr val="FF0000"/>
              </a:buClr>
              <a:buFont typeface="Verdana" panose="020B0604030504040204" pitchFamily="34" charset="0"/>
              <a:buChar char="‒"/>
            </a:pPr>
            <a:r>
              <a:rPr lang="en-US" altLang="zh-CN" sz="1800" dirty="0"/>
              <a:t>(2)</a:t>
            </a:r>
            <a:r>
              <a:rPr lang="zh-CN" altLang="en-US" sz="1800" dirty="0"/>
              <a:t>寄存器中的值是否会马上使用，一般考虑抢占</a:t>
            </a:r>
            <a:r>
              <a:rPr lang="zh-CN" altLang="zh-CN" sz="1800" dirty="0"/>
              <a:t>其值在</a:t>
            </a:r>
            <a:r>
              <a:rPr lang="zh-CN" altLang="zh-CN" sz="1800" dirty="0">
                <a:solidFill>
                  <a:srgbClr val="FF0000"/>
                </a:solidFill>
              </a:rPr>
              <a:t>最远的将来</a:t>
            </a:r>
            <a:r>
              <a:rPr lang="zh-CN" altLang="zh-CN" sz="1800" dirty="0"/>
              <a:t>才会使用的寄存器</a:t>
            </a:r>
            <a:r>
              <a:rPr lang="en-US" altLang="zh-CN" sz="1800" dirty="0" err="1"/>
              <a:t>Ri</a:t>
            </a:r>
            <a:r>
              <a:rPr lang="zh-CN" altLang="zh-CN" sz="1800" dirty="0"/>
              <a:t>。</a:t>
            </a:r>
          </a:p>
        </p:txBody>
      </p:sp>
      <p:sp>
        <p:nvSpPr>
          <p:cNvPr id="34819" name="标题 1"/>
          <p:cNvSpPr>
            <a:spLocks noGrp="1"/>
          </p:cNvSpPr>
          <p:nvPr>
            <p:ph type="title"/>
          </p:nvPr>
        </p:nvSpPr>
        <p:spPr>
          <a:xfrm>
            <a:off x="107504" y="-92546"/>
            <a:ext cx="7772400" cy="699542"/>
          </a:xfrm>
        </p:spPr>
        <p:txBody>
          <a:bodyPr>
            <a:normAutofit/>
          </a:bodyPr>
          <a:lstStyle/>
          <a:p>
            <a:r>
              <a:rPr lang="zh-CN" altLang="zh-CN" sz="3200" dirty="0">
                <a:solidFill>
                  <a:srgbClr val="CC0099"/>
                </a:solidFill>
              </a:rPr>
              <a:t>寄存器描述和地址描述</a:t>
            </a:r>
            <a:endParaRPr lang="zh-CN" altLang="en-US" sz="3200" dirty="0">
              <a:solidFill>
                <a:srgbClr val="CC0099"/>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979218884"/>
              </p:ext>
            </p:extLst>
          </p:nvPr>
        </p:nvGraphicFramePr>
        <p:xfrm>
          <a:off x="4427984" y="3219822"/>
          <a:ext cx="4219603" cy="2088232"/>
        </p:xfrm>
        <a:graphic>
          <a:graphicData uri="http://schemas.openxmlformats.org/presentationml/2006/ole">
            <mc:AlternateContent xmlns:mc="http://schemas.openxmlformats.org/markup-compatibility/2006">
              <mc:Choice xmlns:v="urn:schemas-microsoft-com:vml" Requires="v">
                <p:oleObj name="Visio" r:id="rId2" imgW="4331835" imgH="2122529" progId="Visio.Drawing.11">
                  <p:embed/>
                </p:oleObj>
              </mc:Choice>
              <mc:Fallback>
                <p:oleObj name="Visio" r:id="rId2" imgW="4331835" imgH="2122529" progId="Visio.Drawing.11">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4" y="3219822"/>
                        <a:ext cx="4219603" cy="2088232"/>
                      </a:xfrm>
                      <a:prstGeom prst="rect">
                        <a:avLst/>
                      </a:prstGeom>
                      <a:solidFill>
                        <a:schemeClr val="accent3">
                          <a:lumMod val="20000"/>
                          <a:lumOff val="80000"/>
                        </a:schemeClr>
                      </a:solidFill>
                      <a:ln>
                        <a:noFill/>
                      </a:ln>
                    </p:spPr>
                  </p:pic>
                </p:oleObj>
              </mc:Fallback>
            </mc:AlternateContent>
          </a:graphicData>
        </a:graphic>
      </p:graphicFrame>
    </p:spTree>
    <p:extLst>
      <p:ext uri="{BB962C8B-B14F-4D97-AF65-F5344CB8AC3E}">
        <p14:creationId xmlns:p14="http://schemas.microsoft.com/office/powerpoint/2010/main" val="701799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2227">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22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22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22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2227">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2227">
                                            <p:txEl>
                                              <p:pRg st="4" end="4"/>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22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uiExpand="1" build="p"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内容占位符 2"/>
          <p:cNvSpPr>
            <a:spLocks noGrp="1"/>
          </p:cNvSpPr>
          <p:nvPr>
            <p:ph idx="1"/>
          </p:nvPr>
        </p:nvSpPr>
        <p:spPr>
          <a:xfrm>
            <a:off x="467544" y="942931"/>
            <a:ext cx="7920880" cy="792088"/>
          </a:xfrm>
          <a:solidFill>
            <a:schemeClr val="bg1"/>
          </a:solidFill>
        </p:spPr>
        <p:txBody>
          <a:bodyPr>
            <a:noAutofit/>
          </a:bodyPr>
          <a:lstStyle/>
          <a:p>
            <a:r>
              <a:rPr lang="zh-CN" altLang="zh-CN" sz="2000" dirty="0">
                <a:solidFill>
                  <a:srgbClr val="FF0000"/>
                </a:solidFill>
              </a:rPr>
              <a:t>寄存器描述器</a:t>
            </a:r>
            <a:r>
              <a:rPr lang="zh-CN" altLang="en-US" sz="2000" dirty="0"/>
              <a:t>：</a:t>
            </a:r>
            <a:r>
              <a:rPr lang="zh-CN" altLang="zh-CN" sz="2000" dirty="0"/>
              <a:t>使用一个数组来描述寄存器的使用情况</a:t>
            </a:r>
            <a:r>
              <a:rPr lang="zh-CN" altLang="en-US" sz="2000" dirty="0"/>
              <a:t>，</a:t>
            </a:r>
            <a:r>
              <a:rPr lang="zh-CN" altLang="zh-CN" sz="2000" dirty="0"/>
              <a:t>记录每个寄存器的当前内容</a:t>
            </a:r>
          </a:p>
        </p:txBody>
      </p:sp>
      <p:sp>
        <p:nvSpPr>
          <p:cNvPr id="34819" name="标题 1"/>
          <p:cNvSpPr>
            <a:spLocks noGrp="1"/>
          </p:cNvSpPr>
          <p:nvPr>
            <p:ph type="title"/>
          </p:nvPr>
        </p:nvSpPr>
        <p:spPr>
          <a:xfrm>
            <a:off x="107504" y="0"/>
            <a:ext cx="7772400" cy="771550"/>
          </a:xfrm>
        </p:spPr>
        <p:txBody>
          <a:bodyPr>
            <a:normAutofit/>
          </a:bodyPr>
          <a:lstStyle/>
          <a:p>
            <a:r>
              <a:rPr lang="zh-CN" altLang="zh-CN" sz="3200" dirty="0">
                <a:solidFill>
                  <a:srgbClr val="CC0099"/>
                </a:solidFill>
              </a:rPr>
              <a:t>寄存器描述</a:t>
            </a:r>
            <a:r>
              <a:rPr lang="zh-CN" altLang="en-US" sz="3200" dirty="0">
                <a:solidFill>
                  <a:srgbClr val="CC0099"/>
                </a:solidFill>
              </a:rPr>
              <a:t>器</a:t>
            </a:r>
          </a:p>
        </p:txBody>
      </p:sp>
      <p:graphicFrame>
        <p:nvGraphicFramePr>
          <p:cNvPr id="2" name="表格 1"/>
          <p:cNvGraphicFramePr>
            <a:graphicFrameLocks noGrp="1"/>
          </p:cNvGraphicFramePr>
          <p:nvPr>
            <p:extLst>
              <p:ext uri="{D42A27DB-BD31-4B8C-83A1-F6EECF244321}">
                <p14:modId xmlns:p14="http://schemas.microsoft.com/office/powerpoint/2010/main" val="708334676"/>
              </p:ext>
            </p:extLst>
          </p:nvPr>
        </p:nvGraphicFramePr>
        <p:xfrm>
          <a:off x="6174068" y="1811020"/>
          <a:ext cx="2731760" cy="1097280"/>
        </p:xfrm>
        <a:graphic>
          <a:graphicData uri="http://schemas.openxmlformats.org/drawingml/2006/table">
            <a:tbl>
              <a:tblPr>
                <a:tableStyleId>{5C22544A-7EE6-4342-B048-85BDC9FD1C3A}</a:tableStyleId>
              </a:tblPr>
              <a:tblGrid>
                <a:gridCol w="1334837">
                  <a:extLst>
                    <a:ext uri="{9D8B030D-6E8A-4147-A177-3AD203B41FA5}">
                      <a16:colId xmlns:a16="http://schemas.microsoft.com/office/drawing/2014/main" val="20000"/>
                    </a:ext>
                  </a:extLst>
                </a:gridCol>
                <a:gridCol w="1396923">
                  <a:extLst>
                    <a:ext uri="{9D8B030D-6E8A-4147-A177-3AD203B41FA5}">
                      <a16:colId xmlns:a16="http://schemas.microsoft.com/office/drawing/2014/main" val="20001"/>
                    </a:ext>
                  </a:extLst>
                </a:gridCol>
              </a:tblGrid>
              <a:tr h="0">
                <a:tc>
                  <a:txBody>
                    <a:bodyPr/>
                    <a:lstStyle/>
                    <a:p>
                      <a:pPr algn="ctr">
                        <a:spcAft>
                          <a:spcPts val="0"/>
                        </a:spcAft>
                      </a:pPr>
                      <a:r>
                        <a:rPr lang="zh-CN" sz="1800" kern="100" dirty="0">
                          <a:effectLst/>
                        </a:rPr>
                        <a:t>寄存器号</a:t>
                      </a:r>
                      <a:endParaRPr lang="zh-CN" sz="2400" kern="100" dirty="0">
                        <a:effectLst/>
                        <a:latin typeface="Calibri"/>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变量</a:t>
                      </a:r>
                      <a:r>
                        <a:rPr lang="en-US" sz="1800" kern="100">
                          <a:effectLst/>
                        </a:rPr>
                        <a:t>VAR</a:t>
                      </a:r>
                      <a:endParaRPr lang="zh-CN" sz="2400" kern="100">
                        <a:effectLst/>
                        <a:latin typeface="Calibri"/>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a:spcAft>
                          <a:spcPts val="0"/>
                        </a:spcAft>
                      </a:pPr>
                      <a:r>
                        <a:rPr lang="en-US" sz="1800" kern="100" dirty="0">
                          <a:effectLst/>
                        </a:rPr>
                        <a:t>AX</a:t>
                      </a:r>
                      <a:endParaRPr lang="zh-CN" sz="2400" kern="100" dirty="0">
                        <a:effectLst/>
                        <a:latin typeface="Calibri"/>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T1</a:t>
                      </a:r>
                      <a:r>
                        <a:rPr lang="zh-CN" sz="1800" kern="100">
                          <a:effectLst/>
                        </a:rPr>
                        <a:t>，</a:t>
                      </a:r>
                      <a:r>
                        <a:rPr lang="en-US" sz="1800" kern="100">
                          <a:effectLst/>
                        </a:rPr>
                        <a:t>a</a:t>
                      </a:r>
                      <a:endParaRPr lang="zh-CN" sz="2400" kern="100">
                        <a:effectLst/>
                        <a:latin typeface="Calibri"/>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spcAft>
                          <a:spcPts val="0"/>
                        </a:spcAft>
                      </a:pPr>
                      <a:r>
                        <a:rPr lang="en-US" sz="1800" kern="100">
                          <a:effectLst/>
                        </a:rPr>
                        <a:t>BX</a:t>
                      </a:r>
                      <a:endParaRPr lang="zh-CN" sz="2400" kern="100">
                        <a:effectLst/>
                        <a:latin typeface="Calibri"/>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b</a:t>
                      </a:r>
                      <a:endParaRPr lang="zh-CN" sz="2400" kern="100">
                        <a:effectLst/>
                        <a:latin typeface="Calibri"/>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spcAft>
                          <a:spcPts val="0"/>
                        </a:spcAft>
                      </a:pPr>
                      <a:r>
                        <a:rPr lang="en-US" sz="1800" kern="100">
                          <a:effectLst/>
                        </a:rPr>
                        <a:t>……</a:t>
                      </a:r>
                      <a:endParaRPr lang="zh-CN" sz="2400" kern="100">
                        <a:effectLst/>
                        <a:latin typeface="Calibri"/>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 </a:t>
                      </a:r>
                      <a:endParaRPr lang="zh-CN" sz="2400" kern="100" dirty="0">
                        <a:effectLst/>
                        <a:latin typeface="Calibri"/>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矩形 2"/>
          <p:cNvSpPr/>
          <p:nvPr/>
        </p:nvSpPr>
        <p:spPr>
          <a:xfrm>
            <a:off x="6390092" y="1378972"/>
            <a:ext cx="2262158" cy="369332"/>
          </a:xfrm>
          <a:prstGeom prst="rect">
            <a:avLst/>
          </a:prstGeom>
        </p:spPr>
        <p:txBody>
          <a:bodyPr wrap="none">
            <a:spAutoFit/>
          </a:bodyPr>
          <a:lstStyle/>
          <a:p>
            <a:r>
              <a:rPr lang="zh-CN" altLang="zh-CN" dirty="0"/>
              <a:t>寄存器描述器的结构</a:t>
            </a:r>
            <a:endParaRPr lang="zh-CN" altLang="en-US" dirty="0"/>
          </a:p>
        </p:txBody>
      </p:sp>
      <p:sp>
        <p:nvSpPr>
          <p:cNvPr id="4" name="矩形 3"/>
          <p:cNvSpPr/>
          <p:nvPr/>
        </p:nvSpPr>
        <p:spPr>
          <a:xfrm>
            <a:off x="2555776" y="3768591"/>
            <a:ext cx="6548360" cy="132343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182563" indent="-182563">
              <a:buClr>
                <a:srgbClr val="FF0000"/>
              </a:buClr>
              <a:buFont typeface="Verdana" panose="020B0604030504040204" pitchFamily="34" charset="0"/>
              <a:buChar char="‒"/>
            </a:pPr>
            <a:r>
              <a:rPr lang="zh-CN" altLang="en-US" sz="2000" dirty="0"/>
              <a:t>选</a:t>
            </a:r>
            <a:r>
              <a:rPr lang="en-US" altLang="zh-CN" sz="2000" dirty="0"/>
              <a:t>B</a:t>
            </a:r>
            <a:r>
              <a:rPr lang="zh-CN" altLang="en-US" sz="2000" dirty="0"/>
              <a:t>：</a:t>
            </a:r>
            <a:r>
              <a:rPr lang="zh-CN" altLang="zh-CN" sz="2000" dirty="0"/>
              <a:t>如果</a:t>
            </a:r>
            <a:r>
              <a:rPr lang="en-US" altLang="zh-CN" sz="2000" dirty="0"/>
              <a:t>B</a:t>
            </a:r>
            <a:r>
              <a:rPr lang="zh-CN" altLang="en-US" sz="2000" dirty="0">
                <a:solidFill>
                  <a:srgbClr val="FF0000"/>
                </a:solidFill>
              </a:rPr>
              <a:t>独占</a:t>
            </a:r>
            <a:r>
              <a:rPr lang="zh-CN" altLang="zh-CN" sz="2000" dirty="0">
                <a:solidFill>
                  <a:srgbClr val="FF0000"/>
                </a:solidFill>
              </a:rPr>
              <a:t>寄存器</a:t>
            </a:r>
            <a:r>
              <a:rPr lang="en-US" altLang="zh-CN" sz="2000" dirty="0" err="1">
                <a:solidFill>
                  <a:srgbClr val="FF0000"/>
                </a:solidFill>
              </a:rPr>
              <a:t>Ri</a:t>
            </a:r>
            <a:r>
              <a:rPr lang="zh-CN" altLang="zh-CN" sz="2000" dirty="0">
                <a:solidFill>
                  <a:srgbClr val="FF0000"/>
                </a:solidFill>
              </a:rPr>
              <a:t>中</a:t>
            </a:r>
            <a:r>
              <a:rPr lang="zh-CN" altLang="en-US" sz="2000" dirty="0"/>
              <a:t>；或者</a:t>
            </a:r>
            <a:r>
              <a:rPr lang="en-US" altLang="zh-CN" sz="2000" dirty="0">
                <a:solidFill>
                  <a:srgbClr val="0000CC"/>
                </a:solidFill>
              </a:rPr>
              <a:t>B</a:t>
            </a:r>
            <a:r>
              <a:rPr lang="zh-CN" altLang="zh-CN" sz="2000" dirty="0">
                <a:solidFill>
                  <a:srgbClr val="0000CC"/>
                </a:solidFill>
              </a:rPr>
              <a:t>以后不再引用，</a:t>
            </a:r>
            <a:r>
              <a:rPr lang="zh-CN" altLang="en-US" sz="2000" dirty="0">
                <a:solidFill>
                  <a:srgbClr val="0000CC"/>
                </a:solidFill>
              </a:rPr>
              <a:t>或者</a:t>
            </a:r>
            <a:r>
              <a:rPr lang="en-US" altLang="zh-CN" sz="2000" dirty="0">
                <a:solidFill>
                  <a:srgbClr val="0000CC"/>
                </a:solidFill>
              </a:rPr>
              <a:t>B</a:t>
            </a:r>
            <a:r>
              <a:rPr lang="zh-CN" altLang="en-US" sz="2000" dirty="0">
                <a:solidFill>
                  <a:srgbClr val="0000CC"/>
                </a:solidFill>
              </a:rPr>
              <a:t>和</a:t>
            </a:r>
            <a:r>
              <a:rPr lang="en-US" altLang="zh-CN" sz="2000" dirty="0">
                <a:solidFill>
                  <a:srgbClr val="0000CC"/>
                </a:solidFill>
              </a:rPr>
              <a:t>A</a:t>
            </a:r>
            <a:r>
              <a:rPr lang="zh-CN" altLang="en-US" sz="2000" dirty="0">
                <a:solidFill>
                  <a:srgbClr val="0000CC"/>
                </a:solidFill>
              </a:rPr>
              <a:t>是同一个标识符</a:t>
            </a:r>
            <a:r>
              <a:rPr lang="zh-CN" altLang="en-US" sz="2000" dirty="0"/>
              <a:t>；</a:t>
            </a:r>
            <a:r>
              <a:rPr lang="zh-CN" altLang="zh-CN" sz="2000" dirty="0"/>
              <a:t>则选择</a:t>
            </a:r>
            <a:r>
              <a:rPr lang="en-US" altLang="zh-CN" sz="2000" dirty="0" err="1"/>
              <a:t>Ri</a:t>
            </a:r>
            <a:r>
              <a:rPr lang="zh-CN" altLang="zh-CN" sz="2000" dirty="0"/>
              <a:t>作为存放</a:t>
            </a:r>
            <a:r>
              <a:rPr lang="en-US" altLang="zh-CN" sz="2000" dirty="0"/>
              <a:t>A</a:t>
            </a:r>
            <a:r>
              <a:rPr lang="zh-CN" altLang="zh-CN" sz="2000" dirty="0"/>
              <a:t>；</a:t>
            </a:r>
          </a:p>
          <a:p>
            <a:pPr marL="182563" indent="-182563">
              <a:buClr>
                <a:srgbClr val="FF0000"/>
              </a:buClr>
              <a:buFont typeface="Verdana" panose="020B0604030504040204" pitchFamily="34" charset="0"/>
              <a:buChar char="‒"/>
            </a:pPr>
            <a:r>
              <a:rPr lang="zh-CN" altLang="en-US" sz="2000" dirty="0"/>
              <a:t>选空闲：</a:t>
            </a:r>
            <a:r>
              <a:rPr lang="zh-CN" altLang="zh-CN" sz="2000" dirty="0"/>
              <a:t>从空闲寄存器中选择一个寄存器</a:t>
            </a:r>
            <a:r>
              <a:rPr lang="en-US" altLang="zh-CN" sz="2000" dirty="0" err="1"/>
              <a:t>Ri</a:t>
            </a:r>
            <a:r>
              <a:rPr lang="zh-CN" altLang="zh-CN" sz="2000" dirty="0"/>
              <a:t>来存放</a:t>
            </a:r>
            <a:r>
              <a:rPr lang="en-US" altLang="zh-CN" sz="2000" dirty="0"/>
              <a:t>A</a:t>
            </a:r>
            <a:r>
              <a:rPr lang="zh-CN" altLang="zh-CN" sz="2000" dirty="0"/>
              <a:t>；</a:t>
            </a:r>
            <a:r>
              <a:rPr lang="en-US" altLang="zh-CN" sz="2000" dirty="0"/>
              <a:t> </a:t>
            </a:r>
            <a:endParaRPr lang="zh-CN" altLang="zh-CN" sz="2000" dirty="0"/>
          </a:p>
          <a:p>
            <a:pPr marL="182563" indent="-182563">
              <a:buClr>
                <a:srgbClr val="FF0000"/>
              </a:buClr>
              <a:buFont typeface="Verdana" panose="020B0604030504040204" pitchFamily="34" charset="0"/>
              <a:buChar char="‒"/>
            </a:pPr>
            <a:r>
              <a:rPr lang="zh-CN" altLang="en-US" sz="2000" dirty="0"/>
              <a:t>抢占：</a:t>
            </a:r>
            <a:r>
              <a:rPr lang="zh-CN" altLang="zh-CN" sz="2000" dirty="0"/>
              <a:t>从已分配寄存器中选取</a:t>
            </a:r>
            <a:r>
              <a:rPr lang="zh-CN" altLang="en-US" sz="2000" dirty="0"/>
              <a:t>一个寄存器来存放</a:t>
            </a:r>
            <a:r>
              <a:rPr lang="en-US" altLang="zh-CN" sz="2000" dirty="0"/>
              <a:t>A</a:t>
            </a:r>
            <a:r>
              <a:rPr lang="zh-CN" altLang="en-US" sz="2000" dirty="0"/>
              <a:t>，</a:t>
            </a:r>
            <a:endParaRPr lang="zh-CN" altLang="zh-CN" sz="2000" dirty="0"/>
          </a:p>
        </p:txBody>
      </p:sp>
      <p:sp>
        <p:nvSpPr>
          <p:cNvPr id="7" name="内容占位符 2"/>
          <p:cNvSpPr txBox="1">
            <a:spLocks/>
          </p:cNvSpPr>
          <p:nvPr/>
        </p:nvSpPr>
        <p:spPr>
          <a:xfrm>
            <a:off x="467544" y="1807027"/>
            <a:ext cx="5184576" cy="792088"/>
          </a:xfrm>
          <a:prstGeom prst="rect">
            <a:avLst/>
          </a:prstGeom>
          <a:solidFill>
            <a:schemeClr val="bg1"/>
          </a:solidFill>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r>
              <a:rPr lang="zh-CN" altLang="zh-CN" sz="2000" dirty="0"/>
              <a:t>每当需要为一个变量指派一个新的寄存器时，就需要查看寄存器描述器</a:t>
            </a:r>
          </a:p>
        </p:txBody>
      </p:sp>
      <p:sp>
        <p:nvSpPr>
          <p:cNvPr id="8" name="内容占位符 2"/>
          <p:cNvSpPr txBox="1">
            <a:spLocks/>
          </p:cNvSpPr>
          <p:nvPr/>
        </p:nvSpPr>
        <p:spPr>
          <a:xfrm>
            <a:off x="467544" y="2643758"/>
            <a:ext cx="5184576" cy="792088"/>
          </a:xfrm>
          <a:prstGeom prst="rect">
            <a:avLst/>
          </a:prstGeom>
          <a:solidFill>
            <a:schemeClr val="bg1"/>
          </a:solidFill>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r>
              <a:rPr lang="zh-CN" altLang="zh-CN" sz="2000" dirty="0"/>
              <a:t>任一给定时刻每个寄存器将保留零个或多个变量的值</a:t>
            </a:r>
          </a:p>
        </p:txBody>
      </p:sp>
    </p:spTree>
    <p:extLst>
      <p:ext uri="{BB962C8B-B14F-4D97-AF65-F5344CB8AC3E}">
        <p14:creationId xmlns:p14="http://schemas.microsoft.com/office/powerpoint/2010/main" val="1583618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7" grpId="0" animBg="1"/>
      <p:bldP spid="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内容占位符 2"/>
          <p:cNvSpPr>
            <a:spLocks noGrp="1"/>
          </p:cNvSpPr>
          <p:nvPr>
            <p:ph idx="1"/>
          </p:nvPr>
        </p:nvSpPr>
        <p:spPr>
          <a:xfrm>
            <a:off x="467544" y="942931"/>
            <a:ext cx="7920880" cy="792088"/>
          </a:xfrm>
          <a:solidFill>
            <a:schemeClr val="bg1"/>
          </a:solidFill>
        </p:spPr>
        <p:txBody>
          <a:bodyPr>
            <a:noAutofit/>
          </a:bodyPr>
          <a:lstStyle/>
          <a:p>
            <a:r>
              <a:rPr lang="zh-CN" altLang="zh-CN" sz="2000" dirty="0"/>
              <a:t>在代码生成过程中，当一个指令需要引用某个变量时，需要知道该变量的值在</a:t>
            </a:r>
            <a:r>
              <a:rPr lang="zh-CN" altLang="en-US" sz="2000" dirty="0"/>
              <a:t>哪个</a:t>
            </a:r>
            <a:r>
              <a:rPr lang="zh-CN" altLang="zh-CN" sz="2000" dirty="0"/>
              <a:t>寄存器中，还是在内存变量中，地址是多少等信息</a:t>
            </a:r>
          </a:p>
        </p:txBody>
      </p:sp>
      <p:sp>
        <p:nvSpPr>
          <p:cNvPr id="34819" name="标题 1"/>
          <p:cNvSpPr>
            <a:spLocks noGrp="1"/>
          </p:cNvSpPr>
          <p:nvPr>
            <p:ph type="title"/>
          </p:nvPr>
        </p:nvSpPr>
        <p:spPr>
          <a:xfrm>
            <a:off x="107504" y="0"/>
            <a:ext cx="7772400" cy="771550"/>
          </a:xfrm>
        </p:spPr>
        <p:txBody>
          <a:bodyPr>
            <a:normAutofit/>
          </a:bodyPr>
          <a:lstStyle/>
          <a:p>
            <a:r>
              <a:rPr lang="zh-CN" altLang="en-US" sz="3200" dirty="0">
                <a:solidFill>
                  <a:srgbClr val="CC0099"/>
                </a:solidFill>
              </a:rPr>
              <a:t>地址</a:t>
            </a:r>
            <a:r>
              <a:rPr lang="zh-CN" altLang="zh-CN" sz="3200" dirty="0">
                <a:solidFill>
                  <a:srgbClr val="CC0099"/>
                </a:solidFill>
              </a:rPr>
              <a:t>描述</a:t>
            </a:r>
            <a:r>
              <a:rPr lang="zh-CN" altLang="en-US" sz="3200" dirty="0">
                <a:solidFill>
                  <a:srgbClr val="CC0099"/>
                </a:solidFill>
              </a:rPr>
              <a:t>器</a:t>
            </a:r>
          </a:p>
        </p:txBody>
      </p:sp>
      <p:sp>
        <p:nvSpPr>
          <p:cNvPr id="3" name="矩形 2"/>
          <p:cNvSpPr/>
          <p:nvPr/>
        </p:nvSpPr>
        <p:spPr>
          <a:xfrm>
            <a:off x="6390092" y="1618486"/>
            <a:ext cx="2031325" cy="369332"/>
          </a:xfrm>
          <a:prstGeom prst="rect">
            <a:avLst/>
          </a:prstGeom>
        </p:spPr>
        <p:txBody>
          <a:bodyPr wrap="none">
            <a:spAutoFit/>
          </a:bodyPr>
          <a:lstStyle/>
          <a:p>
            <a:r>
              <a:rPr lang="zh-CN" altLang="en-US" dirty="0"/>
              <a:t>地址</a:t>
            </a:r>
            <a:r>
              <a:rPr lang="zh-CN" altLang="zh-CN" dirty="0"/>
              <a:t>描述器的结构</a:t>
            </a:r>
            <a:endParaRPr lang="zh-CN" altLang="en-US" dirty="0"/>
          </a:p>
        </p:txBody>
      </p:sp>
      <p:sp>
        <p:nvSpPr>
          <p:cNvPr id="7" name="内容占位符 2"/>
          <p:cNvSpPr txBox="1">
            <a:spLocks/>
          </p:cNvSpPr>
          <p:nvPr/>
        </p:nvSpPr>
        <p:spPr>
          <a:xfrm>
            <a:off x="467544" y="1851670"/>
            <a:ext cx="5184576" cy="792088"/>
          </a:xfrm>
          <a:prstGeom prst="rect">
            <a:avLst/>
          </a:prstGeom>
          <a:solidFill>
            <a:schemeClr val="bg1"/>
          </a:solidFill>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r>
              <a:rPr lang="zh-CN" altLang="zh-CN" sz="2000" dirty="0">
                <a:solidFill>
                  <a:srgbClr val="FF0000"/>
                </a:solidFill>
              </a:rPr>
              <a:t>变量地址描述</a:t>
            </a:r>
            <a:r>
              <a:rPr lang="zh-CN" altLang="en-US" sz="2000" dirty="0">
                <a:solidFill>
                  <a:srgbClr val="FF0000"/>
                </a:solidFill>
              </a:rPr>
              <a:t>器</a:t>
            </a:r>
            <a:r>
              <a:rPr lang="zh-CN" altLang="en-US" sz="2000" dirty="0"/>
              <a:t>：</a:t>
            </a:r>
            <a:r>
              <a:rPr lang="zh-CN" altLang="zh-CN" sz="2000" dirty="0"/>
              <a:t>用来动态记录各变量的当前值的存放位置</a:t>
            </a:r>
          </a:p>
        </p:txBody>
      </p:sp>
      <p:sp>
        <p:nvSpPr>
          <p:cNvPr id="8" name="内容占位符 2"/>
          <p:cNvSpPr txBox="1">
            <a:spLocks/>
          </p:cNvSpPr>
          <p:nvPr/>
        </p:nvSpPr>
        <p:spPr>
          <a:xfrm>
            <a:off x="467544" y="2787774"/>
            <a:ext cx="5184576" cy="792088"/>
          </a:xfrm>
          <a:prstGeom prst="rect">
            <a:avLst/>
          </a:prstGeom>
          <a:solidFill>
            <a:schemeClr val="bg1"/>
          </a:solidFill>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r>
              <a:rPr lang="zh-CN" altLang="en-US" sz="2000" dirty="0"/>
              <a:t>在某时刻，一个变量可能存储在一个或多个位置</a:t>
            </a:r>
            <a:endParaRPr lang="zh-CN" altLang="zh-CN" sz="2000" dirty="0"/>
          </a:p>
        </p:txBody>
      </p:sp>
      <p:graphicFrame>
        <p:nvGraphicFramePr>
          <p:cNvPr id="5" name="表格 4"/>
          <p:cNvGraphicFramePr>
            <a:graphicFrameLocks noGrp="1"/>
          </p:cNvGraphicFramePr>
          <p:nvPr>
            <p:extLst>
              <p:ext uri="{D42A27DB-BD31-4B8C-83A1-F6EECF244321}">
                <p14:modId xmlns:p14="http://schemas.microsoft.com/office/powerpoint/2010/main" val="501089137"/>
              </p:ext>
            </p:extLst>
          </p:nvPr>
        </p:nvGraphicFramePr>
        <p:xfrm>
          <a:off x="6029979" y="1987818"/>
          <a:ext cx="3004718" cy="1304013"/>
        </p:xfrm>
        <a:graphic>
          <a:graphicData uri="http://schemas.openxmlformats.org/drawingml/2006/table">
            <a:tbl>
              <a:tblPr>
                <a:tableStyleId>{5C22544A-7EE6-4342-B048-85BDC9FD1C3A}</a:tableStyleId>
              </a:tblPr>
              <a:tblGrid>
                <a:gridCol w="558245">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gridCol w="1438361">
                  <a:extLst>
                    <a:ext uri="{9D8B030D-6E8A-4147-A177-3AD203B41FA5}">
                      <a16:colId xmlns:a16="http://schemas.microsoft.com/office/drawing/2014/main" val="20002"/>
                    </a:ext>
                  </a:extLst>
                </a:gridCol>
              </a:tblGrid>
              <a:tr h="257616">
                <a:tc>
                  <a:txBody>
                    <a:bodyPr/>
                    <a:lstStyle/>
                    <a:p>
                      <a:pPr algn="ctr">
                        <a:spcAft>
                          <a:spcPts val="0"/>
                        </a:spcAft>
                      </a:pPr>
                      <a:r>
                        <a:rPr lang="zh-CN" sz="1400" kern="100" dirty="0">
                          <a:effectLst/>
                        </a:rPr>
                        <a:t>变量</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400" kern="100">
                          <a:effectLst/>
                        </a:rPr>
                        <a:t>寄存器号</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400" kern="100">
                          <a:effectLst/>
                        </a:rPr>
                        <a:t>内存</a:t>
                      </a:r>
                      <a:r>
                        <a:rPr lang="en-US" sz="1400" kern="100">
                          <a:effectLst/>
                        </a:rPr>
                        <a:t>MEM</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3549">
                <a:tc>
                  <a:txBody>
                    <a:bodyPr/>
                    <a:lstStyle/>
                    <a:p>
                      <a:pPr algn="ctr">
                        <a:spcAft>
                          <a:spcPts val="0"/>
                        </a:spcAft>
                      </a:pPr>
                      <a:r>
                        <a:rPr lang="en-US" sz="1400" kern="100">
                          <a:effectLst/>
                        </a:rPr>
                        <a:t>T1</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AX</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 </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57616">
                <a:tc>
                  <a:txBody>
                    <a:bodyPr/>
                    <a:lstStyle/>
                    <a:p>
                      <a:pPr algn="ctr">
                        <a:spcAft>
                          <a:spcPts val="0"/>
                        </a:spcAft>
                      </a:pPr>
                      <a:r>
                        <a:rPr lang="en-US" sz="1400" kern="100">
                          <a:effectLst/>
                        </a:rPr>
                        <a:t>a</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BX</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DS:[offset+4]</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57616">
                <a:tc>
                  <a:txBody>
                    <a:bodyPr/>
                    <a:lstStyle/>
                    <a:p>
                      <a:pPr algn="ctr">
                        <a:spcAft>
                          <a:spcPts val="0"/>
                        </a:spcAft>
                      </a:pPr>
                      <a:r>
                        <a:rPr lang="en-US" sz="1400" kern="100">
                          <a:effectLst/>
                        </a:rPr>
                        <a:t>b</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 </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DS:[offset+6]</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57616">
                <a:tc>
                  <a:txBody>
                    <a:bodyPr/>
                    <a:lstStyle/>
                    <a:p>
                      <a:pPr algn="ctr">
                        <a:spcAft>
                          <a:spcPts val="0"/>
                        </a:spcAft>
                      </a:pPr>
                      <a:r>
                        <a:rPr lang="en-US" sz="1400" kern="100">
                          <a:effectLst/>
                        </a:rPr>
                        <a:t> </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effectLst/>
                        </a:rPr>
                        <a:t>……</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effectLst/>
                        </a:rPr>
                        <a:t> </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矩形 8"/>
          <p:cNvSpPr/>
          <p:nvPr/>
        </p:nvSpPr>
        <p:spPr>
          <a:xfrm>
            <a:off x="2555776" y="3768591"/>
            <a:ext cx="6548360" cy="132343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182563" indent="-182563">
              <a:buClr>
                <a:srgbClr val="FF0000"/>
              </a:buClr>
              <a:buFont typeface="Verdana" panose="020B0604030504040204" pitchFamily="34" charset="0"/>
              <a:buChar char="‒"/>
            </a:pPr>
            <a:r>
              <a:rPr lang="zh-CN" altLang="en-US" sz="2000" dirty="0"/>
              <a:t>选</a:t>
            </a:r>
            <a:r>
              <a:rPr lang="en-US" altLang="zh-CN" sz="2000" dirty="0"/>
              <a:t>B</a:t>
            </a:r>
            <a:r>
              <a:rPr lang="zh-CN" altLang="en-US" sz="2000" dirty="0"/>
              <a:t>：</a:t>
            </a:r>
            <a:r>
              <a:rPr lang="zh-CN" altLang="zh-CN" sz="2000" dirty="0"/>
              <a:t>如果</a:t>
            </a:r>
            <a:r>
              <a:rPr lang="en-US" altLang="zh-CN" sz="2000" dirty="0"/>
              <a:t>B</a:t>
            </a:r>
            <a:r>
              <a:rPr lang="zh-CN" altLang="en-US" sz="2000" dirty="0">
                <a:solidFill>
                  <a:srgbClr val="FF0000"/>
                </a:solidFill>
              </a:rPr>
              <a:t>独占</a:t>
            </a:r>
            <a:r>
              <a:rPr lang="zh-CN" altLang="zh-CN" sz="2000" dirty="0">
                <a:solidFill>
                  <a:srgbClr val="FF0000"/>
                </a:solidFill>
              </a:rPr>
              <a:t>寄存器</a:t>
            </a:r>
            <a:r>
              <a:rPr lang="en-US" altLang="zh-CN" sz="2000" dirty="0" err="1">
                <a:solidFill>
                  <a:srgbClr val="FF0000"/>
                </a:solidFill>
              </a:rPr>
              <a:t>Ri</a:t>
            </a:r>
            <a:r>
              <a:rPr lang="zh-CN" altLang="zh-CN" sz="2000" dirty="0">
                <a:solidFill>
                  <a:srgbClr val="FF0000"/>
                </a:solidFill>
              </a:rPr>
              <a:t>中</a:t>
            </a:r>
            <a:r>
              <a:rPr lang="zh-CN" altLang="en-US" sz="2000" dirty="0"/>
              <a:t>；或者</a:t>
            </a:r>
            <a:r>
              <a:rPr lang="en-US" altLang="zh-CN" sz="2000" dirty="0">
                <a:solidFill>
                  <a:srgbClr val="0000CC"/>
                </a:solidFill>
              </a:rPr>
              <a:t>B</a:t>
            </a:r>
            <a:r>
              <a:rPr lang="zh-CN" altLang="zh-CN" sz="2000" dirty="0">
                <a:solidFill>
                  <a:srgbClr val="0000CC"/>
                </a:solidFill>
              </a:rPr>
              <a:t>以后不再引用，</a:t>
            </a:r>
            <a:r>
              <a:rPr lang="zh-CN" altLang="en-US" sz="2000" dirty="0">
                <a:solidFill>
                  <a:srgbClr val="0000CC"/>
                </a:solidFill>
              </a:rPr>
              <a:t>或者</a:t>
            </a:r>
            <a:r>
              <a:rPr lang="en-US" altLang="zh-CN" sz="2000" dirty="0">
                <a:solidFill>
                  <a:srgbClr val="0000CC"/>
                </a:solidFill>
              </a:rPr>
              <a:t>B</a:t>
            </a:r>
            <a:r>
              <a:rPr lang="zh-CN" altLang="en-US" sz="2000" dirty="0">
                <a:solidFill>
                  <a:srgbClr val="0000CC"/>
                </a:solidFill>
              </a:rPr>
              <a:t>和</a:t>
            </a:r>
            <a:r>
              <a:rPr lang="en-US" altLang="zh-CN" sz="2000" dirty="0">
                <a:solidFill>
                  <a:srgbClr val="0000CC"/>
                </a:solidFill>
              </a:rPr>
              <a:t>A</a:t>
            </a:r>
            <a:r>
              <a:rPr lang="zh-CN" altLang="en-US" sz="2000" dirty="0">
                <a:solidFill>
                  <a:srgbClr val="0000CC"/>
                </a:solidFill>
              </a:rPr>
              <a:t>是同一个标识符</a:t>
            </a:r>
            <a:r>
              <a:rPr lang="zh-CN" altLang="en-US" sz="2000" dirty="0"/>
              <a:t>；</a:t>
            </a:r>
            <a:r>
              <a:rPr lang="zh-CN" altLang="zh-CN" sz="2000" dirty="0"/>
              <a:t>则选择</a:t>
            </a:r>
            <a:r>
              <a:rPr lang="en-US" altLang="zh-CN" sz="2000" dirty="0" err="1"/>
              <a:t>Ri</a:t>
            </a:r>
            <a:r>
              <a:rPr lang="zh-CN" altLang="zh-CN" sz="2000" dirty="0"/>
              <a:t>作为存放</a:t>
            </a:r>
            <a:r>
              <a:rPr lang="en-US" altLang="zh-CN" sz="2000" dirty="0"/>
              <a:t>A</a:t>
            </a:r>
            <a:r>
              <a:rPr lang="zh-CN" altLang="zh-CN" sz="2000" dirty="0"/>
              <a:t>；</a:t>
            </a:r>
          </a:p>
          <a:p>
            <a:pPr marL="182563" indent="-182563">
              <a:buClr>
                <a:srgbClr val="FF0000"/>
              </a:buClr>
              <a:buFont typeface="Verdana" panose="020B0604030504040204" pitchFamily="34" charset="0"/>
              <a:buChar char="‒"/>
            </a:pPr>
            <a:r>
              <a:rPr lang="zh-CN" altLang="en-US" sz="2000" dirty="0"/>
              <a:t>选空闲：</a:t>
            </a:r>
            <a:r>
              <a:rPr lang="zh-CN" altLang="zh-CN" sz="2000" dirty="0"/>
              <a:t>从空闲寄存器中选择一个寄存器</a:t>
            </a:r>
            <a:r>
              <a:rPr lang="en-US" altLang="zh-CN" sz="2000" dirty="0" err="1"/>
              <a:t>Ri</a:t>
            </a:r>
            <a:r>
              <a:rPr lang="zh-CN" altLang="zh-CN" sz="2000" dirty="0"/>
              <a:t>来存放</a:t>
            </a:r>
            <a:r>
              <a:rPr lang="en-US" altLang="zh-CN" sz="2000" dirty="0"/>
              <a:t>A</a:t>
            </a:r>
            <a:r>
              <a:rPr lang="zh-CN" altLang="zh-CN" sz="2000" dirty="0"/>
              <a:t>；</a:t>
            </a:r>
            <a:r>
              <a:rPr lang="en-US" altLang="zh-CN" sz="2000" dirty="0"/>
              <a:t> </a:t>
            </a:r>
            <a:endParaRPr lang="zh-CN" altLang="zh-CN" sz="2000" dirty="0"/>
          </a:p>
          <a:p>
            <a:pPr marL="182563" indent="-182563">
              <a:buClr>
                <a:srgbClr val="FF0000"/>
              </a:buClr>
              <a:buFont typeface="Verdana" panose="020B0604030504040204" pitchFamily="34" charset="0"/>
              <a:buChar char="‒"/>
            </a:pPr>
            <a:r>
              <a:rPr lang="zh-CN" altLang="en-US" sz="2000" dirty="0"/>
              <a:t>抢占：</a:t>
            </a:r>
            <a:r>
              <a:rPr lang="zh-CN" altLang="zh-CN" sz="2000" dirty="0"/>
              <a:t>从已分配寄存器中选取</a:t>
            </a:r>
            <a:r>
              <a:rPr lang="zh-CN" altLang="en-US" sz="2000" dirty="0"/>
              <a:t>一个寄存器来存放</a:t>
            </a:r>
            <a:r>
              <a:rPr lang="en-US" altLang="zh-CN" sz="2000" dirty="0"/>
              <a:t>A</a:t>
            </a:r>
            <a:r>
              <a:rPr lang="zh-CN" altLang="en-US" sz="2000" dirty="0"/>
              <a:t>，</a:t>
            </a:r>
            <a:endParaRPr lang="zh-CN" altLang="zh-CN" sz="2000" dirty="0"/>
          </a:p>
        </p:txBody>
      </p:sp>
    </p:spTree>
    <p:extLst>
      <p:ext uri="{BB962C8B-B14F-4D97-AF65-F5344CB8AC3E}">
        <p14:creationId xmlns:p14="http://schemas.microsoft.com/office/powerpoint/2010/main" val="1886384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8" grpId="0" animBg="1"/>
      <p:bldP spid="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7544" y="771550"/>
            <a:ext cx="8229600" cy="4032448"/>
          </a:xfrm>
        </p:spPr>
        <p:style>
          <a:lnRef idx="2">
            <a:schemeClr val="accent1"/>
          </a:lnRef>
          <a:fillRef idx="1">
            <a:schemeClr val="lt1"/>
          </a:fillRef>
          <a:effectRef idx="0">
            <a:schemeClr val="accent1"/>
          </a:effectRef>
          <a:fontRef idx="minor">
            <a:schemeClr val="dk1"/>
          </a:fontRef>
        </p:style>
        <p:txBody>
          <a:bodyPr>
            <a:noAutofit/>
          </a:bodyPr>
          <a:lstStyle/>
          <a:p>
            <a:pPr>
              <a:lnSpc>
                <a:spcPct val="120000"/>
              </a:lnSpc>
              <a:spcBef>
                <a:spcPts val="0"/>
              </a:spcBef>
            </a:pPr>
            <a:r>
              <a:rPr lang="zh-CN" altLang="en-US" sz="1800" dirty="0"/>
              <a:t>（</a:t>
            </a:r>
            <a:r>
              <a:rPr lang="en-US" altLang="zh-CN" sz="1800" dirty="0"/>
              <a:t>1</a:t>
            </a:r>
            <a:r>
              <a:rPr lang="zh-CN" altLang="zh-CN" sz="1800" dirty="0"/>
              <a:t>）</a:t>
            </a:r>
            <a:r>
              <a:rPr lang="zh-CN" altLang="en-US" sz="1800" b="1" dirty="0">
                <a:solidFill>
                  <a:srgbClr val="FF0000"/>
                </a:solidFill>
              </a:rPr>
              <a:t>选</a:t>
            </a:r>
            <a:r>
              <a:rPr lang="en-US" altLang="zh-CN" sz="1800" b="1" dirty="0">
                <a:solidFill>
                  <a:srgbClr val="FF0000"/>
                </a:solidFill>
              </a:rPr>
              <a:t>y</a:t>
            </a:r>
            <a:r>
              <a:rPr lang="zh-CN" altLang="en-US" sz="1800" b="1" dirty="0">
                <a:solidFill>
                  <a:srgbClr val="FF0000"/>
                </a:solidFill>
              </a:rPr>
              <a:t>所在的寄存器</a:t>
            </a:r>
            <a:r>
              <a:rPr lang="zh-CN" altLang="en-US" sz="1800" dirty="0"/>
              <a:t>：</a:t>
            </a:r>
            <a:r>
              <a:rPr lang="zh-CN" altLang="zh-CN" sz="1800" dirty="0"/>
              <a:t>如果</a:t>
            </a:r>
            <a:r>
              <a:rPr lang="en-US" altLang="zh-CN" sz="1800" dirty="0"/>
              <a:t>y</a:t>
            </a:r>
            <a:r>
              <a:rPr lang="zh-CN" altLang="zh-CN" sz="1800" dirty="0"/>
              <a:t>在寄存器</a:t>
            </a:r>
            <a:r>
              <a:rPr lang="en-US" altLang="zh-CN" sz="1800" dirty="0" err="1"/>
              <a:t>R</a:t>
            </a:r>
            <a:r>
              <a:rPr lang="en-US" altLang="zh-CN" sz="1800" baseline="-25000" dirty="0" err="1"/>
              <a:t>i</a:t>
            </a:r>
            <a:r>
              <a:rPr lang="zh-CN" altLang="zh-CN" sz="1800" dirty="0"/>
              <a:t>中，</a:t>
            </a:r>
            <a:r>
              <a:rPr lang="zh-CN" altLang="en-US" sz="1800" dirty="0"/>
              <a:t>在下面两种情况下</a:t>
            </a:r>
            <a:r>
              <a:rPr lang="zh-CN" altLang="zh-CN" sz="1800" dirty="0"/>
              <a:t>，返回</a:t>
            </a:r>
            <a:r>
              <a:rPr lang="en-US" altLang="zh-CN" sz="1800" dirty="0"/>
              <a:t>y</a:t>
            </a:r>
            <a:r>
              <a:rPr lang="zh-CN" altLang="en-US" sz="1800" dirty="0"/>
              <a:t>所在</a:t>
            </a:r>
            <a:r>
              <a:rPr lang="zh-CN" altLang="zh-CN" sz="1800" dirty="0"/>
              <a:t>的寄存器作为</a:t>
            </a:r>
            <a:r>
              <a:rPr lang="en-US" altLang="zh-CN" sz="1800" dirty="0"/>
              <a:t>R</a:t>
            </a:r>
            <a:r>
              <a:rPr lang="zh-CN" altLang="zh-CN" sz="1800" dirty="0"/>
              <a:t>，并更新</a:t>
            </a:r>
            <a:r>
              <a:rPr lang="en-US" altLang="zh-CN" sz="1800" dirty="0"/>
              <a:t>y</a:t>
            </a:r>
            <a:r>
              <a:rPr lang="zh-CN" altLang="zh-CN" sz="1800" dirty="0"/>
              <a:t>的地址描述器</a:t>
            </a:r>
            <a:r>
              <a:rPr lang="zh-CN" altLang="en-US" sz="1800" dirty="0"/>
              <a:t>，</a:t>
            </a:r>
            <a:r>
              <a:rPr lang="zh-CN" altLang="zh-CN" sz="1800" dirty="0">
                <a:solidFill>
                  <a:srgbClr val="FF0000"/>
                </a:solidFill>
              </a:rPr>
              <a:t>删除</a:t>
            </a:r>
            <a:r>
              <a:rPr lang="en-US" altLang="zh-CN" sz="1800" dirty="0">
                <a:solidFill>
                  <a:srgbClr val="FF0000"/>
                </a:solidFill>
              </a:rPr>
              <a:t>y</a:t>
            </a:r>
            <a:r>
              <a:rPr lang="zh-CN" altLang="zh-CN" sz="1800" dirty="0">
                <a:solidFill>
                  <a:srgbClr val="FF0000"/>
                </a:solidFill>
              </a:rPr>
              <a:t>和</a:t>
            </a:r>
            <a:r>
              <a:rPr lang="en-US" altLang="zh-CN" sz="1800" dirty="0">
                <a:solidFill>
                  <a:srgbClr val="FF0000"/>
                </a:solidFill>
              </a:rPr>
              <a:t>R</a:t>
            </a:r>
            <a:r>
              <a:rPr lang="zh-CN" altLang="zh-CN" sz="1800" dirty="0">
                <a:solidFill>
                  <a:srgbClr val="FF0000"/>
                </a:solidFill>
              </a:rPr>
              <a:t>之间的关系</a:t>
            </a:r>
            <a:r>
              <a:rPr lang="zh-CN" altLang="zh-CN" sz="1800" dirty="0"/>
              <a:t>。</a:t>
            </a:r>
            <a:endParaRPr lang="en-US" altLang="zh-CN" sz="1800" dirty="0"/>
          </a:p>
          <a:p>
            <a:pPr lvl="1">
              <a:lnSpc>
                <a:spcPct val="120000"/>
              </a:lnSpc>
              <a:spcBef>
                <a:spcPts val="0"/>
              </a:spcBef>
            </a:pPr>
            <a:r>
              <a:rPr lang="zh-CN" altLang="zh-CN" sz="1800" dirty="0"/>
              <a:t>如果</a:t>
            </a:r>
            <a:r>
              <a:rPr lang="en-US" altLang="zh-CN" sz="1800" dirty="0"/>
              <a:t>y</a:t>
            </a:r>
            <a:r>
              <a:rPr lang="zh-CN" altLang="zh-CN" sz="1800" dirty="0"/>
              <a:t>在寄存器</a:t>
            </a:r>
            <a:r>
              <a:rPr lang="en-US" altLang="zh-CN" sz="1800" dirty="0" err="1"/>
              <a:t>R</a:t>
            </a:r>
            <a:r>
              <a:rPr lang="en-US" altLang="zh-CN" sz="1800" baseline="-25000" dirty="0" err="1"/>
              <a:t>i</a:t>
            </a:r>
            <a:r>
              <a:rPr lang="zh-CN" altLang="zh-CN" sz="1800" dirty="0"/>
              <a:t>中，且</a:t>
            </a:r>
            <a:r>
              <a:rPr lang="en-US" altLang="zh-CN" sz="1800" dirty="0" err="1"/>
              <a:t>R</a:t>
            </a:r>
            <a:r>
              <a:rPr lang="en-US" altLang="zh-CN" sz="1800" baseline="-25000" dirty="0" err="1"/>
              <a:t>i</a:t>
            </a:r>
            <a:r>
              <a:rPr lang="zh-CN" altLang="zh-CN" sz="1800" dirty="0"/>
              <a:t>没有保留其他任何变量</a:t>
            </a:r>
            <a:endParaRPr lang="en-US" altLang="zh-CN" sz="1800" dirty="0"/>
          </a:p>
          <a:p>
            <a:pPr lvl="1">
              <a:lnSpc>
                <a:spcPct val="120000"/>
              </a:lnSpc>
              <a:spcBef>
                <a:spcPts val="0"/>
              </a:spcBef>
            </a:pPr>
            <a:r>
              <a:rPr lang="zh-CN" altLang="zh-CN" sz="1800" dirty="0"/>
              <a:t>此外，或者</a:t>
            </a:r>
            <a:r>
              <a:rPr lang="en-US" altLang="zh-CN" sz="1800" dirty="0"/>
              <a:t>y</a:t>
            </a:r>
            <a:r>
              <a:rPr lang="zh-CN" altLang="zh-CN" sz="1800" dirty="0"/>
              <a:t>和</a:t>
            </a:r>
            <a:r>
              <a:rPr lang="en-US" altLang="zh-CN" sz="1800" dirty="0"/>
              <a:t>x</a:t>
            </a:r>
            <a:r>
              <a:rPr lang="zh-CN" altLang="zh-CN" sz="1800" dirty="0"/>
              <a:t>是同一变量</a:t>
            </a:r>
            <a:r>
              <a:rPr lang="zh-CN" altLang="en-US" sz="1800" dirty="0"/>
              <a:t>标识符</a:t>
            </a:r>
            <a:r>
              <a:rPr lang="zh-CN" altLang="zh-CN" sz="1800" dirty="0"/>
              <a:t>，或者</a:t>
            </a:r>
            <a:r>
              <a:rPr lang="en-US" altLang="zh-CN" sz="1800" dirty="0"/>
              <a:t>y</a:t>
            </a:r>
            <a:r>
              <a:rPr lang="zh-CN" altLang="zh-CN" sz="1800" dirty="0"/>
              <a:t>在执行完</a:t>
            </a:r>
            <a:r>
              <a:rPr lang="en-US" altLang="zh-CN" sz="1800" dirty="0"/>
              <a:t>i:(op,y,z,x)</a:t>
            </a:r>
            <a:r>
              <a:rPr lang="zh-CN" altLang="zh-CN" sz="1800" dirty="0"/>
              <a:t>以后</a:t>
            </a:r>
            <a:r>
              <a:rPr lang="en-US" altLang="zh-CN" sz="1800" dirty="0"/>
              <a:t>y</a:t>
            </a:r>
            <a:r>
              <a:rPr lang="zh-CN" altLang="zh-CN" sz="1800" dirty="0"/>
              <a:t>为非活跃、无引用（可以查阅引用信息和活跃信息）</a:t>
            </a:r>
          </a:p>
          <a:p>
            <a:pPr>
              <a:lnSpc>
                <a:spcPct val="120000"/>
              </a:lnSpc>
              <a:spcBef>
                <a:spcPts val="0"/>
              </a:spcBef>
            </a:pPr>
            <a:r>
              <a:rPr lang="zh-CN" altLang="zh-CN" sz="1800" dirty="0"/>
              <a:t>（</a:t>
            </a:r>
            <a:r>
              <a:rPr lang="en-US" altLang="zh-CN" sz="1800" dirty="0"/>
              <a:t>2</a:t>
            </a:r>
            <a:r>
              <a:rPr lang="zh-CN" altLang="zh-CN" sz="1800" dirty="0"/>
              <a:t>）如果</a:t>
            </a:r>
            <a:r>
              <a:rPr lang="en-US" altLang="zh-CN" sz="1800" dirty="0"/>
              <a:t>(1)</a:t>
            </a:r>
            <a:r>
              <a:rPr lang="zh-CN" altLang="zh-CN" sz="1800" dirty="0"/>
              <a:t>失败，则当有空闲寄存器时就返回一个空闲寄存器</a:t>
            </a:r>
            <a:r>
              <a:rPr lang="en-US" altLang="zh-CN" sz="1800" dirty="0" err="1"/>
              <a:t>R</a:t>
            </a:r>
            <a:r>
              <a:rPr lang="en-US" altLang="zh-CN" sz="1800" baseline="-25000" dirty="0" err="1"/>
              <a:t>i</a:t>
            </a:r>
            <a:r>
              <a:rPr lang="zh-CN" altLang="zh-CN" sz="1800" dirty="0"/>
              <a:t>作为</a:t>
            </a:r>
            <a:r>
              <a:rPr lang="en-US" altLang="zh-CN" sz="1800" dirty="0"/>
              <a:t>R</a:t>
            </a:r>
            <a:r>
              <a:rPr lang="zh-CN" altLang="zh-CN" sz="1800" dirty="0"/>
              <a:t>。</a:t>
            </a:r>
            <a:endParaRPr lang="en-US" altLang="zh-CN" sz="1800" dirty="0"/>
          </a:p>
          <a:p>
            <a:pPr>
              <a:lnSpc>
                <a:spcPct val="120000"/>
              </a:lnSpc>
              <a:spcBef>
                <a:spcPts val="0"/>
              </a:spcBef>
            </a:pPr>
            <a:r>
              <a:rPr lang="zh-CN" altLang="zh-CN" sz="1800" dirty="0"/>
              <a:t>（</a:t>
            </a:r>
            <a:r>
              <a:rPr lang="en-US" altLang="zh-CN" sz="1800" dirty="0"/>
              <a:t>3</a:t>
            </a:r>
            <a:r>
              <a:rPr lang="zh-CN" altLang="zh-CN" sz="1800" dirty="0"/>
              <a:t>）如果</a:t>
            </a:r>
            <a:r>
              <a:rPr lang="en-US" altLang="zh-CN" sz="1800" dirty="0"/>
              <a:t>(2)</a:t>
            </a:r>
            <a:r>
              <a:rPr lang="zh-CN" altLang="zh-CN" sz="1800" dirty="0"/>
              <a:t>失败，则从已分配的寄存器中选取一个</a:t>
            </a:r>
            <a:r>
              <a:rPr lang="en-US" altLang="zh-CN" sz="1800" dirty="0" err="1"/>
              <a:t>R</a:t>
            </a:r>
            <a:r>
              <a:rPr lang="en-US" altLang="zh-CN" sz="1800" baseline="-25000" dirty="0" err="1"/>
              <a:t>i</a:t>
            </a:r>
            <a:r>
              <a:rPr lang="zh-CN" altLang="zh-CN" sz="1800" dirty="0"/>
              <a:t>为所需的寄存器</a:t>
            </a:r>
            <a:r>
              <a:rPr lang="en-US" altLang="zh-CN" sz="1800" dirty="0"/>
              <a:t>R</a:t>
            </a:r>
            <a:r>
              <a:rPr lang="zh-CN" altLang="zh-CN" sz="1800" dirty="0"/>
              <a:t>返回，这时最好要使</a:t>
            </a:r>
            <a:r>
              <a:rPr lang="en-US" altLang="zh-CN" sz="1800" dirty="0" err="1"/>
              <a:t>R</a:t>
            </a:r>
            <a:r>
              <a:rPr lang="en-US" altLang="zh-CN" sz="1800" baseline="-25000" dirty="0" err="1"/>
              <a:t>i</a:t>
            </a:r>
            <a:r>
              <a:rPr lang="zh-CN" altLang="zh-CN" sz="1800" dirty="0"/>
              <a:t>满足以下条件：</a:t>
            </a:r>
            <a:endParaRPr lang="en-US" altLang="zh-CN" sz="1800" dirty="0"/>
          </a:p>
          <a:p>
            <a:pPr lvl="1">
              <a:lnSpc>
                <a:spcPct val="120000"/>
              </a:lnSpc>
              <a:spcBef>
                <a:spcPts val="0"/>
              </a:spcBef>
            </a:pPr>
            <a:r>
              <a:rPr lang="zh-CN" altLang="zh-CN" sz="1800" dirty="0">
                <a:solidFill>
                  <a:srgbClr val="FF0000"/>
                </a:solidFill>
              </a:rPr>
              <a:t>寄存器</a:t>
            </a:r>
            <a:r>
              <a:rPr lang="en-US" altLang="zh-CN" sz="1800" dirty="0" err="1">
                <a:solidFill>
                  <a:srgbClr val="FF0000"/>
                </a:solidFill>
              </a:rPr>
              <a:t>R</a:t>
            </a:r>
            <a:r>
              <a:rPr lang="en-US" altLang="zh-CN" sz="1800" baseline="-25000" dirty="0" err="1">
                <a:solidFill>
                  <a:srgbClr val="FF0000"/>
                </a:solidFill>
              </a:rPr>
              <a:t>i</a:t>
            </a:r>
            <a:r>
              <a:rPr lang="zh-CN" altLang="zh-CN" sz="1800" dirty="0">
                <a:solidFill>
                  <a:srgbClr val="FF0000"/>
                </a:solidFill>
              </a:rPr>
              <a:t>对应的变量的值也同时存放在内存单元中</a:t>
            </a:r>
            <a:r>
              <a:rPr lang="zh-CN" altLang="zh-CN" sz="1800" dirty="0"/>
              <a:t>；</a:t>
            </a:r>
            <a:endParaRPr lang="en-US" altLang="zh-CN" sz="1800" dirty="0"/>
          </a:p>
          <a:p>
            <a:pPr lvl="1">
              <a:lnSpc>
                <a:spcPct val="120000"/>
              </a:lnSpc>
              <a:spcBef>
                <a:spcPts val="0"/>
              </a:spcBef>
            </a:pPr>
            <a:r>
              <a:rPr lang="zh-CN" altLang="zh-CN" sz="1800" dirty="0"/>
              <a:t>或者</a:t>
            </a:r>
            <a:r>
              <a:rPr lang="zh-CN" altLang="zh-CN" sz="1800" dirty="0">
                <a:solidFill>
                  <a:srgbClr val="0000CC"/>
                </a:solidFill>
              </a:rPr>
              <a:t>以后不会被引用</a:t>
            </a:r>
            <a:r>
              <a:rPr lang="zh-CN" altLang="en-US" sz="1800" dirty="0">
                <a:solidFill>
                  <a:srgbClr val="0000CC"/>
                </a:solidFill>
              </a:rPr>
              <a:t>；</a:t>
            </a:r>
            <a:endParaRPr lang="en-US" altLang="zh-CN" sz="1800" dirty="0">
              <a:solidFill>
                <a:srgbClr val="0000CC"/>
              </a:solidFill>
            </a:endParaRPr>
          </a:p>
          <a:p>
            <a:pPr lvl="1">
              <a:lnSpc>
                <a:spcPct val="120000"/>
              </a:lnSpc>
              <a:spcBef>
                <a:spcPts val="0"/>
              </a:spcBef>
            </a:pPr>
            <a:r>
              <a:rPr lang="zh-CN" altLang="zh-CN" sz="1800" dirty="0"/>
              <a:t>或者</a:t>
            </a:r>
            <a:r>
              <a:rPr lang="zh-CN" altLang="zh-CN" sz="1800" dirty="0">
                <a:solidFill>
                  <a:srgbClr val="CC00FF"/>
                </a:solidFill>
              </a:rPr>
              <a:t>在最远的将来才会被引用</a:t>
            </a:r>
            <a:r>
              <a:rPr lang="zh-CN" altLang="zh-CN" sz="1800" dirty="0"/>
              <a:t>（可以查阅引用信息和活跃信息）。</a:t>
            </a:r>
            <a:r>
              <a:rPr lang="zh-CN" altLang="en-US" sz="1800" dirty="0"/>
              <a:t>这种情况下，需</a:t>
            </a:r>
            <a:r>
              <a:rPr lang="zh-CN" altLang="zh-CN" sz="1800" dirty="0"/>
              <a:t>要为选中的</a:t>
            </a:r>
            <a:r>
              <a:rPr lang="en-US" altLang="zh-CN" sz="1800" dirty="0" err="1"/>
              <a:t>R</a:t>
            </a:r>
            <a:r>
              <a:rPr lang="en-US" altLang="zh-CN" sz="1800" baseline="-25000" dirty="0" err="1"/>
              <a:t>i</a:t>
            </a:r>
            <a:r>
              <a:rPr lang="zh-CN" altLang="zh-CN" sz="1800" dirty="0"/>
              <a:t>生成存数指令。</a:t>
            </a:r>
          </a:p>
          <a:p>
            <a:pPr>
              <a:lnSpc>
                <a:spcPct val="120000"/>
              </a:lnSpc>
              <a:spcBef>
                <a:spcPts val="0"/>
              </a:spcBef>
            </a:pPr>
            <a:endParaRPr lang="zh-CN" altLang="en-US" sz="1800" dirty="0"/>
          </a:p>
        </p:txBody>
      </p:sp>
      <p:sp>
        <p:nvSpPr>
          <p:cNvPr id="3" name="标题 2"/>
          <p:cNvSpPr>
            <a:spLocks noGrp="1"/>
          </p:cNvSpPr>
          <p:nvPr>
            <p:ph type="title"/>
          </p:nvPr>
        </p:nvSpPr>
        <p:spPr>
          <a:xfrm>
            <a:off x="107504" y="123478"/>
            <a:ext cx="3960440" cy="576064"/>
          </a:xfrm>
        </p:spPr>
        <p:txBody>
          <a:bodyPr>
            <a:normAutofit fontScale="90000"/>
          </a:bodyPr>
          <a:lstStyle/>
          <a:p>
            <a:r>
              <a:rPr lang="zh-CN" altLang="zh-CN" dirty="0">
                <a:effectLst/>
              </a:rPr>
              <a:t> </a:t>
            </a:r>
            <a:r>
              <a:rPr lang="zh-CN" altLang="zh-CN" dirty="0">
                <a:solidFill>
                  <a:srgbClr val="9900CC"/>
                </a:solidFill>
                <a:effectLst/>
              </a:rPr>
              <a:t>寄存器</a:t>
            </a:r>
            <a:r>
              <a:rPr lang="zh-CN" altLang="en-US" dirty="0">
                <a:solidFill>
                  <a:srgbClr val="9900CC"/>
                </a:solidFill>
                <a:effectLst/>
              </a:rPr>
              <a:t>指派算法</a:t>
            </a:r>
            <a:endParaRPr lang="zh-CN" altLang="en-US" dirty="0">
              <a:solidFill>
                <a:srgbClr val="9900CC"/>
              </a:solidFill>
            </a:endParaRPr>
          </a:p>
        </p:txBody>
      </p:sp>
      <p:sp>
        <p:nvSpPr>
          <p:cNvPr id="5" name="矩形 4"/>
          <p:cNvSpPr/>
          <p:nvPr/>
        </p:nvSpPr>
        <p:spPr>
          <a:xfrm>
            <a:off x="5436096" y="69903"/>
            <a:ext cx="3312368" cy="738664"/>
          </a:xfrm>
          <a:prstGeom prst="rect">
            <a:avLst/>
          </a:prstGeom>
        </p:spPr>
        <p:txBody>
          <a:bodyPr wrap="square">
            <a:spAutoFit/>
          </a:bodyPr>
          <a:lstStyle/>
          <a:p>
            <a:r>
              <a:rPr lang="zh-CN" altLang="zh-CN" dirty="0"/>
              <a:t>为中间代码</a:t>
            </a:r>
            <a:r>
              <a:rPr lang="en-US" altLang="zh-CN" sz="2400" b="1" dirty="0">
                <a:solidFill>
                  <a:srgbClr val="FF0000"/>
                </a:solidFill>
              </a:rPr>
              <a:t>i:(op, y, z, x)</a:t>
            </a:r>
            <a:r>
              <a:rPr lang="zh-CN" altLang="zh-CN" dirty="0"/>
              <a:t>中的结果</a:t>
            </a:r>
            <a:r>
              <a:rPr lang="en-US" altLang="zh-CN" b="1" dirty="0">
                <a:solidFill>
                  <a:srgbClr val="FF0000"/>
                </a:solidFill>
              </a:rPr>
              <a:t>x</a:t>
            </a:r>
            <a:r>
              <a:rPr lang="zh-CN" altLang="en-US" dirty="0"/>
              <a:t>指派</a:t>
            </a:r>
            <a:r>
              <a:rPr lang="zh-CN" altLang="zh-CN" dirty="0"/>
              <a:t>寄存器</a:t>
            </a:r>
            <a:endParaRPr lang="zh-CN" altLang="en-US" dirty="0"/>
          </a:p>
        </p:txBody>
      </p:sp>
    </p:spTree>
    <p:extLst>
      <p:ext uri="{BB962C8B-B14F-4D97-AF65-F5344CB8AC3E}">
        <p14:creationId xmlns:p14="http://schemas.microsoft.com/office/powerpoint/2010/main" val="1131071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536" y="915566"/>
            <a:ext cx="8229600" cy="3394472"/>
          </a:xfrm>
        </p:spPr>
        <p:txBody>
          <a:bodyPr>
            <a:noAutofit/>
          </a:bodyPr>
          <a:lstStyle/>
          <a:p>
            <a:pPr marL="274638" indent="-274638" algn="just"/>
            <a:r>
              <a:rPr lang="zh-CN" altLang="zh-CN" sz="2000" kern="100" dirty="0">
                <a:latin typeface="Times New Roman" panose="02020603050405020304" pitchFamily="18" charset="0"/>
              </a:rPr>
              <a:t>对选中的寄存器变量</a:t>
            </a:r>
            <a:r>
              <a:rPr lang="en-US" altLang="zh-CN" sz="2000" kern="100" dirty="0" err="1">
                <a:latin typeface="Times New Roman" panose="02020603050405020304" pitchFamily="18" charset="0"/>
              </a:rPr>
              <a:t>R</a:t>
            </a:r>
            <a:r>
              <a:rPr lang="en-US" altLang="zh-CN" sz="2000" kern="100" baseline="-25000" dirty="0" err="1">
                <a:latin typeface="Times New Roman" panose="02020603050405020304" pitchFamily="18" charset="0"/>
              </a:rPr>
              <a:t>i</a:t>
            </a:r>
            <a:r>
              <a:rPr lang="zh-CN" altLang="zh-CN" sz="2000" kern="100" dirty="0">
                <a:latin typeface="Times New Roman" panose="02020603050405020304" pitchFamily="18" charset="0"/>
              </a:rPr>
              <a:t>，对它所对应的每一个变量</a:t>
            </a:r>
            <a:r>
              <a:rPr lang="en-US" altLang="zh-CN" sz="2000" kern="100" dirty="0">
                <a:latin typeface="Times New Roman" panose="02020603050405020304" pitchFamily="18" charset="0"/>
              </a:rPr>
              <a:t>M</a:t>
            </a:r>
            <a:r>
              <a:rPr lang="zh-CN" altLang="zh-CN" sz="2000" kern="100" dirty="0">
                <a:latin typeface="Times New Roman" panose="02020603050405020304" pitchFamily="18" charset="0"/>
              </a:rPr>
              <a:t>（可以查寄存器描述器），如果</a:t>
            </a:r>
            <a:r>
              <a:rPr lang="en-US" altLang="zh-CN" sz="2000" kern="100" dirty="0">
                <a:solidFill>
                  <a:srgbClr val="FF0000"/>
                </a:solidFill>
                <a:latin typeface="Times New Roman" panose="02020603050405020304" pitchFamily="18" charset="0"/>
              </a:rPr>
              <a:t>M</a:t>
            </a:r>
            <a:r>
              <a:rPr lang="zh-CN" altLang="zh-CN" sz="2000" kern="100" dirty="0">
                <a:solidFill>
                  <a:srgbClr val="FF0000"/>
                </a:solidFill>
                <a:latin typeface="Times New Roman" panose="02020603050405020304" pitchFamily="18" charset="0"/>
              </a:rPr>
              <a:t>不是</a:t>
            </a:r>
            <a:r>
              <a:rPr lang="en-US" altLang="zh-CN" sz="2000" kern="100" dirty="0">
                <a:solidFill>
                  <a:srgbClr val="FF0000"/>
                </a:solidFill>
                <a:latin typeface="Times New Roman" panose="02020603050405020304" pitchFamily="18" charset="0"/>
              </a:rPr>
              <a:t>x</a:t>
            </a:r>
            <a:r>
              <a:rPr lang="zh-CN" altLang="zh-CN" sz="2000" kern="100" dirty="0">
                <a:latin typeface="Times New Roman" panose="02020603050405020304" pitchFamily="18" charset="0"/>
              </a:rPr>
              <a:t>，或者</a:t>
            </a:r>
            <a:r>
              <a:rPr lang="en-US" altLang="zh-CN" sz="2000" kern="100" dirty="0">
                <a:solidFill>
                  <a:srgbClr val="0000CC"/>
                </a:solidFill>
                <a:latin typeface="Times New Roman" panose="02020603050405020304" pitchFamily="18" charset="0"/>
              </a:rPr>
              <a:t>M</a:t>
            </a:r>
            <a:r>
              <a:rPr lang="zh-CN" altLang="zh-CN" sz="2000" kern="100" dirty="0">
                <a:solidFill>
                  <a:srgbClr val="0000CC"/>
                </a:solidFill>
                <a:latin typeface="Times New Roman" panose="02020603050405020304" pitchFamily="18" charset="0"/>
              </a:rPr>
              <a:t>是</a:t>
            </a:r>
            <a:r>
              <a:rPr lang="en-US" altLang="zh-CN" sz="2000" kern="100" dirty="0">
                <a:solidFill>
                  <a:srgbClr val="0000CC"/>
                </a:solidFill>
                <a:latin typeface="Times New Roman" panose="02020603050405020304" pitchFamily="18" charset="0"/>
              </a:rPr>
              <a:t>x</a:t>
            </a:r>
            <a:r>
              <a:rPr lang="zh-CN" altLang="zh-CN" sz="2000" kern="100" dirty="0">
                <a:solidFill>
                  <a:srgbClr val="0000CC"/>
                </a:solidFill>
                <a:latin typeface="Times New Roman" panose="02020603050405020304" pitchFamily="18" charset="0"/>
              </a:rPr>
              <a:t>又是</a:t>
            </a:r>
            <a:r>
              <a:rPr lang="en-US" altLang="zh-CN" sz="2000" kern="100" dirty="0">
                <a:solidFill>
                  <a:srgbClr val="0000CC"/>
                </a:solidFill>
                <a:latin typeface="Times New Roman" panose="02020603050405020304" pitchFamily="18" charset="0"/>
              </a:rPr>
              <a:t>z</a:t>
            </a:r>
            <a:r>
              <a:rPr lang="zh-CN" altLang="zh-CN" sz="2000" kern="100" dirty="0">
                <a:solidFill>
                  <a:srgbClr val="0000CC"/>
                </a:solidFill>
                <a:latin typeface="Times New Roman" panose="02020603050405020304" pitchFamily="18" charset="0"/>
              </a:rPr>
              <a:t>，但不是</a:t>
            </a:r>
            <a:r>
              <a:rPr lang="en-US" altLang="zh-CN" sz="2000" kern="100" dirty="0">
                <a:solidFill>
                  <a:srgbClr val="0000CC"/>
                </a:solidFill>
                <a:latin typeface="Times New Roman" panose="02020603050405020304" pitchFamily="18" charset="0"/>
              </a:rPr>
              <a:t>y</a:t>
            </a:r>
            <a:r>
              <a:rPr lang="zh-CN" altLang="zh-CN" sz="2000" kern="100" dirty="0">
                <a:solidFill>
                  <a:srgbClr val="0000CC"/>
                </a:solidFill>
                <a:latin typeface="Times New Roman" panose="02020603050405020304" pitchFamily="18" charset="0"/>
              </a:rPr>
              <a:t>，并且</a:t>
            </a:r>
            <a:r>
              <a:rPr lang="en-US" altLang="zh-CN" sz="2000" kern="100" dirty="0">
                <a:solidFill>
                  <a:srgbClr val="0000CC"/>
                </a:solidFill>
                <a:latin typeface="Times New Roman" panose="02020603050405020304" pitchFamily="18" charset="0"/>
              </a:rPr>
              <a:t>y</a:t>
            </a:r>
            <a:r>
              <a:rPr lang="zh-CN" altLang="zh-CN" sz="2000" kern="100" dirty="0">
                <a:solidFill>
                  <a:srgbClr val="0000CC"/>
                </a:solidFill>
                <a:latin typeface="Times New Roman" panose="02020603050405020304" pitchFamily="18" charset="0"/>
              </a:rPr>
              <a:t>不在</a:t>
            </a:r>
            <a:r>
              <a:rPr lang="en-US" altLang="zh-CN" sz="2000" kern="100" dirty="0" err="1">
                <a:solidFill>
                  <a:srgbClr val="0000CC"/>
                </a:solidFill>
                <a:latin typeface="Times New Roman" panose="02020603050405020304" pitchFamily="18" charset="0"/>
              </a:rPr>
              <a:t>R</a:t>
            </a:r>
            <a:r>
              <a:rPr lang="en-US" altLang="zh-CN" sz="2000" kern="100" baseline="-25000" dirty="0" err="1">
                <a:solidFill>
                  <a:srgbClr val="0000CC"/>
                </a:solidFill>
                <a:latin typeface="Times New Roman" panose="02020603050405020304" pitchFamily="18" charset="0"/>
              </a:rPr>
              <a:t>i</a:t>
            </a:r>
            <a:r>
              <a:rPr lang="zh-CN" altLang="zh-CN" sz="2000" kern="100" dirty="0">
                <a:solidFill>
                  <a:srgbClr val="0000CC"/>
                </a:solidFill>
                <a:latin typeface="Times New Roman" panose="02020603050405020304" pitchFamily="18" charset="0"/>
              </a:rPr>
              <a:t>寄存器中</a:t>
            </a:r>
            <a:r>
              <a:rPr lang="zh-CN" altLang="zh-CN" sz="2000" kern="100" dirty="0">
                <a:latin typeface="Times New Roman" panose="02020603050405020304" pitchFamily="18" charset="0"/>
              </a:rPr>
              <a:t>。则：</a:t>
            </a:r>
          </a:p>
          <a:p>
            <a:pPr marL="274638" indent="-274638" algn="just"/>
            <a:r>
              <a:rPr lang="zh-CN" altLang="zh-CN" sz="2000" kern="100" dirty="0">
                <a:latin typeface="Times New Roman" panose="02020603050405020304" pitchFamily="18" charset="0"/>
              </a:rPr>
              <a:t>（</a:t>
            </a:r>
            <a:r>
              <a:rPr lang="en-US" altLang="zh-CN" sz="2000" kern="100" dirty="0">
                <a:latin typeface="Times New Roman" panose="02020603050405020304" pitchFamily="18" charset="0"/>
              </a:rPr>
              <a:t>1</a:t>
            </a:r>
            <a:r>
              <a:rPr lang="zh-CN" altLang="zh-CN" sz="2000" kern="100" dirty="0">
                <a:latin typeface="Times New Roman" panose="02020603050405020304" pitchFamily="18" charset="0"/>
              </a:rPr>
              <a:t>）生成存数指令：如果</a:t>
            </a:r>
            <a:r>
              <a:rPr lang="en-US" altLang="zh-CN" sz="2000" kern="100" dirty="0">
                <a:latin typeface="Times New Roman" panose="02020603050405020304" pitchFamily="18" charset="0"/>
              </a:rPr>
              <a:t>M</a:t>
            </a:r>
            <a:r>
              <a:rPr lang="zh-CN" altLang="zh-CN" sz="2000" kern="100" dirty="0">
                <a:latin typeface="Times New Roman" panose="02020603050405020304" pitchFamily="18" charset="0"/>
              </a:rPr>
              <a:t>没有在存储单元中（可以查地址描述器），则将它存放到一个内存单元中（通过指令</a:t>
            </a:r>
            <a:r>
              <a:rPr lang="en-US" altLang="zh-CN" sz="2000" b="1" kern="100" dirty="0">
                <a:solidFill>
                  <a:srgbClr val="FF0000"/>
                </a:solidFill>
                <a:latin typeface="+mn-lt"/>
                <a:ea typeface="Arial Unicode MS" panose="020B0604020202020204" pitchFamily="34" charset="-122"/>
                <a:cs typeface="Arial Unicode MS" panose="020B0604020202020204" pitchFamily="34" charset="-122"/>
              </a:rPr>
              <a:t>MOV M</a:t>
            </a:r>
            <a:r>
              <a:rPr lang="en-US" altLang="zh-CN" sz="2000" b="1" dirty="0">
                <a:latin typeface="+mn-lt"/>
              </a:rPr>
              <a:t>'</a:t>
            </a:r>
            <a:r>
              <a:rPr lang="zh-CN" altLang="zh-CN" sz="2000" b="1" kern="100" dirty="0">
                <a:solidFill>
                  <a:srgbClr val="FF0000"/>
                </a:solidFill>
                <a:latin typeface="+mn-lt"/>
                <a:ea typeface="Arial Unicode MS" panose="020B0604020202020204" pitchFamily="34" charset="-122"/>
                <a:cs typeface="Arial Unicode MS" panose="020B0604020202020204" pitchFamily="34" charset="-122"/>
              </a:rPr>
              <a:t>，</a:t>
            </a:r>
            <a:r>
              <a:rPr lang="en-US" altLang="zh-CN" sz="2000" b="1" kern="100" dirty="0">
                <a:solidFill>
                  <a:srgbClr val="FF0000"/>
                </a:solidFill>
                <a:latin typeface="+mn-lt"/>
                <a:ea typeface="Arial Unicode MS" panose="020B0604020202020204" pitchFamily="34" charset="-122"/>
                <a:cs typeface="Arial Unicode MS" panose="020B0604020202020204" pitchFamily="34" charset="-122"/>
              </a:rPr>
              <a:t>R</a:t>
            </a:r>
            <a:r>
              <a:rPr lang="zh-CN" altLang="zh-CN" sz="2000" kern="100" dirty="0">
                <a:latin typeface="Times New Roman" panose="02020603050405020304" pitchFamily="18" charset="0"/>
              </a:rPr>
              <a:t>来实现，</a:t>
            </a:r>
            <a:r>
              <a:rPr lang="en-US" altLang="zh-CN" sz="2000" kern="100" dirty="0">
                <a:latin typeface="Times New Roman" panose="02020603050405020304" pitchFamily="18" charset="0"/>
              </a:rPr>
              <a:t>M</a:t>
            </a:r>
            <a:r>
              <a:rPr lang="en-US" altLang="zh-CN" sz="2000" b="1" dirty="0">
                <a:latin typeface="+mn-lt"/>
              </a:rPr>
              <a:t>'</a:t>
            </a:r>
            <a:r>
              <a:rPr lang="zh-CN" altLang="zh-CN" sz="2000" kern="100" dirty="0">
                <a:latin typeface="Times New Roman" panose="02020603050405020304" pitchFamily="18" charset="0"/>
              </a:rPr>
              <a:t>是</a:t>
            </a:r>
            <a:r>
              <a:rPr lang="en-US" altLang="zh-CN" sz="2000" kern="100" dirty="0">
                <a:latin typeface="Times New Roman" panose="02020603050405020304" pitchFamily="18" charset="0"/>
              </a:rPr>
              <a:t>M</a:t>
            </a:r>
            <a:r>
              <a:rPr lang="zh-CN" altLang="zh-CN" sz="2000" kern="100" dirty="0">
                <a:latin typeface="Times New Roman" panose="02020603050405020304" pitchFamily="18" charset="0"/>
              </a:rPr>
              <a:t>的存储地址）。</a:t>
            </a:r>
          </a:p>
          <a:p>
            <a:pPr marL="274638" indent="-274638" algn="just"/>
            <a:r>
              <a:rPr lang="zh-CN" altLang="zh-CN" sz="2000" kern="100" dirty="0">
                <a:latin typeface="+mn-lt"/>
              </a:rPr>
              <a:t>（</a:t>
            </a:r>
            <a:r>
              <a:rPr lang="en-US" altLang="zh-CN" sz="2000" kern="100" dirty="0">
                <a:latin typeface="+mn-lt"/>
              </a:rPr>
              <a:t>2</a:t>
            </a:r>
            <a:r>
              <a:rPr lang="zh-CN" altLang="zh-CN" sz="2000" kern="100" dirty="0">
                <a:latin typeface="+mn-lt"/>
              </a:rPr>
              <a:t>）更新</a:t>
            </a:r>
            <a:r>
              <a:rPr lang="en-US" altLang="zh-CN" sz="2000" kern="100" dirty="0">
                <a:latin typeface="+mn-lt"/>
              </a:rPr>
              <a:t>M</a:t>
            </a:r>
            <a:r>
              <a:rPr lang="zh-CN" altLang="zh-CN" sz="2000" kern="100" dirty="0">
                <a:latin typeface="+mn-lt"/>
              </a:rPr>
              <a:t>的地址描述器：如果</a:t>
            </a:r>
            <a:r>
              <a:rPr lang="en-US" altLang="zh-CN" sz="2000" kern="100" dirty="0">
                <a:latin typeface="+mn-lt"/>
              </a:rPr>
              <a:t>M</a:t>
            </a:r>
            <a:r>
              <a:rPr lang="zh-CN" altLang="zh-CN" sz="2000" kern="100" dirty="0">
                <a:latin typeface="+mn-lt"/>
              </a:rPr>
              <a:t>是</a:t>
            </a:r>
            <a:r>
              <a:rPr lang="en-US" altLang="zh-CN" sz="2000" kern="100" dirty="0">
                <a:latin typeface="+mn-lt"/>
              </a:rPr>
              <a:t>y</a:t>
            </a:r>
            <a:r>
              <a:rPr lang="zh-CN" altLang="zh-CN" sz="2000" kern="100" dirty="0">
                <a:latin typeface="+mn-lt"/>
              </a:rPr>
              <a:t>，或者</a:t>
            </a:r>
            <a:r>
              <a:rPr lang="en-US" altLang="zh-CN" sz="2000" kern="100" dirty="0">
                <a:latin typeface="+mn-lt"/>
              </a:rPr>
              <a:t>M</a:t>
            </a:r>
            <a:r>
              <a:rPr lang="zh-CN" altLang="zh-CN" sz="2000" kern="100" dirty="0">
                <a:latin typeface="+mn-lt"/>
              </a:rPr>
              <a:t>是</a:t>
            </a:r>
            <a:r>
              <a:rPr lang="en-US" altLang="zh-CN" sz="2000" kern="100" dirty="0">
                <a:latin typeface="+mn-lt"/>
              </a:rPr>
              <a:t>z</a:t>
            </a:r>
            <a:r>
              <a:rPr lang="zh-CN" altLang="zh-CN" sz="2000" kern="100" dirty="0">
                <a:latin typeface="+mn-lt"/>
              </a:rPr>
              <a:t>但同时在寄存器描述器中</a:t>
            </a:r>
            <a:r>
              <a:rPr lang="en-US" altLang="zh-CN" sz="2000" kern="100" dirty="0">
                <a:latin typeface="+mn-lt"/>
              </a:rPr>
              <a:t>y</a:t>
            </a:r>
            <a:r>
              <a:rPr lang="zh-CN" altLang="zh-CN" sz="2000" kern="100" dirty="0">
                <a:latin typeface="+mn-lt"/>
              </a:rPr>
              <a:t>和</a:t>
            </a:r>
            <a:r>
              <a:rPr lang="en-US" altLang="zh-CN" sz="2000" kern="100" dirty="0" err="1">
                <a:latin typeface="+mn-lt"/>
              </a:rPr>
              <a:t>R</a:t>
            </a:r>
            <a:r>
              <a:rPr lang="en-US" altLang="zh-CN" sz="2000" kern="100" baseline="-25000" dirty="0" err="1">
                <a:latin typeface="+mn-lt"/>
              </a:rPr>
              <a:t>i</a:t>
            </a:r>
            <a:r>
              <a:rPr lang="zh-CN" altLang="zh-CN" sz="2000" kern="100" dirty="0">
                <a:latin typeface="+mn-lt"/>
              </a:rPr>
              <a:t>有对应关系（即</a:t>
            </a:r>
            <a:r>
              <a:rPr lang="en-US" altLang="zh-CN" sz="2000" kern="100" dirty="0">
                <a:latin typeface="+mn-lt"/>
              </a:rPr>
              <a:t>y</a:t>
            </a:r>
            <a:r>
              <a:rPr lang="zh-CN" altLang="zh-CN" sz="2000" kern="100" dirty="0">
                <a:latin typeface="+mn-lt"/>
              </a:rPr>
              <a:t>在</a:t>
            </a:r>
            <a:r>
              <a:rPr lang="en-US" altLang="zh-CN" sz="2000" kern="100" dirty="0" err="1">
                <a:latin typeface="+mn-lt"/>
              </a:rPr>
              <a:t>R</a:t>
            </a:r>
            <a:r>
              <a:rPr lang="en-US" altLang="zh-CN" sz="2000" kern="100" baseline="-25000" dirty="0" err="1">
                <a:latin typeface="+mn-lt"/>
              </a:rPr>
              <a:t>i</a:t>
            </a:r>
            <a:r>
              <a:rPr lang="zh-CN" altLang="zh-CN" sz="2000" kern="100" dirty="0">
                <a:latin typeface="+mn-lt"/>
              </a:rPr>
              <a:t>中），则更新</a:t>
            </a:r>
            <a:r>
              <a:rPr lang="en-US" altLang="zh-CN" sz="2000" kern="100" dirty="0">
                <a:latin typeface="+mn-lt"/>
              </a:rPr>
              <a:t>M</a:t>
            </a:r>
            <a:r>
              <a:rPr lang="zh-CN" altLang="zh-CN" sz="2000" kern="100" dirty="0">
                <a:latin typeface="+mn-lt"/>
              </a:rPr>
              <a:t>的地址描述器，记录</a:t>
            </a:r>
            <a:r>
              <a:rPr lang="en-US" altLang="zh-CN" sz="2000" kern="100" dirty="0">
                <a:latin typeface="+mn-lt"/>
              </a:rPr>
              <a:t>M</a:t>
            </a:r>
            <a:r>
              <a:rPr lang="zh-CN" altLang="zh-CN" sz="2000" kern="100" dirty="0">
                <a:latin typeface="+mn-lt"/>
              </a:rPr>
              <a:t>既在</a:t>
            </a:r>
            <a:r>
              <a:rPr lang="en-US" altLang="zh-CN" sz="2000" kern="100" dirty="0">
                <a:latin typeface="+mn-lt"/>
              </a:rPr>
              <a:t>M</a:t>
            </a:r>
            <a:r>
              <a:rPr lang="en-US" altLang="zh-CN" sz="2000" b="1" dirty="0">
                <a:latin typeface="+mn-lt"/>
              </a:rPr>
              <a:t>'</a:t>
            </a:r>
            <a:r>
              <a:rPr lang="zh-CN" altLang="zh-CN" sz="2000" kern="100" dirty="0">
                <a:latin typeface="+mn-lt"/>
              </a:rPr>
              <a:t>中，又在</a:t>
            </a:r>
            <a:r>
              <a:rPr lang="en-US" altLang="zh-CN" sz="2000" kern="100" dirty="0" err="1">
                <a:latin typeface="+mn-lt"/>
              </a:rPr>
              <a:t>R</a:t>
            </a:r>
            <a:r>
              <a:rPr lang="en-US" altLang="zh-CN" sz="2000" kern="100" baseline="-25000" dirty="0" err="1">
                <a:latin typeface="+mn-lt"/>
              </a:rPr>
              <a:t>i</a:t>
            </a:r>
            <a:r>
              <a:rPr lang="zh-CN" altLang="zh-CN" sz="2000" kern="100" dirty="0">
                <a:latin typeface="+mn-lt"/>
              </a:rPr>
              <a:t>中，否则只在地址描述器中记录</a:t>
            </a:r>
            <a:r>
              <a:rPr lang="en-US" altLang="zh-CN" sz="2000" kern="100" dirty="0">
                <a:latin typeface="+mn-lt"/>
              </a:rPr>
              <a:t>M</a:t>
            </a:r>
            <a:r>
              <a:rPr lang="zh-CN" altLang="zh-CN" sz="2000" kern="100" dirty="0">
                <a:latin typeface="+mn-lt"/>
              </a:rPr>
              <a:t>在地址</a:t>
            </a:r>
            <a:r>
              <a:rPr lang="en-US" altLang="zh-CN" sz="2000" kern="100" dirty="0">
                <a:latin typeface="+mn-lt"/>
              </a:rPr>
              <a:t>M</a:t>
            </a:r>
            <a:r>
              <a:rPr lang="en-US" altLang="zh-CN" sz="2000" b="1" dirty="0">
                <a:latin typeface="+mn-lt"/>
              </a:rPr>
              <a:t>'</a:t>
            </a:r>
            <a:r>
              <a:rPr lang="zh-CN" altLang="zh-CN" sz="2000" kern="100" dirty="0">
                <a:latin typeface="+mn-lt"/>
              </a:rPr>
              <a:t>中</a:t>
            </a:r>
            <a:r>
              <a:rPr lang="zh-CN" altLang="zh-CN" sz="2000" kern="100" dirty="0">
                <a:latin typeface="Times New Roman" panose="02020603050405020304" pitchFamily="18" charset="0"/>
              </a:rPr>
              <a:t>；</a:t>
            </a:r>
          </a:p>
          <a:p>
            <a:pPr marL="274638" indent="-274638" algn="just"/>
            <a:r>
              <a:rPr lang="zh-CN" altLang="zh-CN" sz="2000" kern="100" dirty="0">
                <a:latin typeface="Times New Roman" panose="02020603050405020304" pitchFamily="18" charset="0"/>
              </a:rPr>
              <a:t>（</a:t>
            </a:r>
            <a:r>
              <a:rPr lang="en-US" altLang="zh-CN" sz="2000" kern="100" dirty="0">
                <a:latin typeface="Times New Roman" panose="02020603050405020304" pitchFamily="18" charset="0"/>
              </a:rPr>
              <a:t>3</a:t>
            </a:r>
            <a:r>
              <a:rPr lang="zh-CN" altLang="zh-CN" sz="2000" kern="100" dirty="0">
                <a:latin typeface="Times New Roman" panose="02020603050405020304" pitchFamily="18" charset="0"/>
              </a:rPr>
              <a:t>）删除寄存器描述器中</a:t>
            </a:r>
            <a:r>
              <a:rPr lang="en-US" altLang="zh-CN" sz="2000" kern="100" dirty="0" err="1">
                <a:latin typeface="Times New Roman" panose="02020603050405020304" pitchFamily="18" charset="0"/>
              </a:rPr>
              <a:t>R</a:t>
            </a:r>
            <a:r>
              <a:rPr lang="en-US" altLang="zh-CN" sz="2000" kern="100" baseline="-25000" dirty="0" err="1">
                <a:latin typeface="Times New Roman" panose="02020603050405020304" pitchFamily="18" charset="0"/>
              </a:rPr>
              <a:t>i</a:t>
            </a:r>
            <a:r>
              <a:rPr lang="zh-CN" altLang="zh-CN" sz="2000" kern="100" dirty="0">
                <a:latin typeface="Times New Roman" panose="02020603050405020304" pitchFamily="18" charset="0"/>
              </a:rPr>
              <a:t>和</a:t>
            </a:r>
            <a:r>
              <a:rPr lang="en-US" altLang="zh-CN" sz="2000" kern="100" dirty="0">
                <a:latin typeface="Times New Roman" panose="02020603050405020304" pitchFamily="18" charset="0"/>
              </a:rPr>
              <a:t>M</a:t>
            </a:r>
            <a:r>
              <a:rPr lang="zh-CN" altLang="zh-CN" sz="2000" kern="100" dirty="0">
                <a:latin typeface="Times New Roman" panose="02020603050405020304" pitchFamily="18" charset="0"/>
              </a:rPr>
              <a:t>的对应关系。</a:t>
            </a:r>
          </a:p>
        </p:txBody>
      </p:sp>
      <p:sp>
        <p:nvSpPr>
          <p:cNvPr id="3" name="标题 2"/>
          <p:cNvSpPr>
            <a:spLocks noGrp="1"/>
          </p:cNvSpPr>
          <p:nvPr>
            <p:ph type="title"/>
          </p:nvPr>
        </p:nvSpPr>
        <p:spPr/>
        <p:txBody>
          <a:bodyPr>
            <a:normAutofit fontScale="90000"/>
          </a:bodyPr>
          <a:lstStyle/>
          <a:p>
            <a:r>
              <a:rPr lang="zh-CN" altLang="en-US" dirty="0"/>
              <a:t>保存寄存器中的数据</a:t>
            </a:r>
          </a:p>
        </p:txBody>
      </p:sp>
      <p:graphicFrame>
        <p:nvGraphicFramePr>
          <p:cNvPr id="4" name="表格 3"/>
          <p:cNvGraphicFramePr>
            <a:graphicFrameLocks noGrp="1"/>
          </p:cNvGraphicFramePr>
          <p:nvPr>
            <p:extLst>
              <p:ext uri="{D42A27DB-BD31-4B8C-83A1-F6EECF244321}">
                <p14:modId xmlns:p14="http://schemas.microsoft.com/office/powerpoint/2010/main" val="2197322187"/>
              </p:ext>
            </p:extLst>
          </p:nvPr>
        </p:nvGraphicFramePr>
        <p:xfrm>
          <a:off x="6412240" y="4011910"/>
          <a:ext cx="2731760" cy="1097280"/>
        </p:xfrm>
        <a:graphic>
          <a:graphicData uri="http://schemas.openxmlformats.org/drawingml/2006/table">
            <a:tbl>
              <a:tblPr>
                <a:tableStyleId>{5C22544A-7EE6-4342-B048-85BDC9FD1C3A}</a:tableStyleId>
              </a:tblPr>
              <a:tblGrid>
                <a:gridCol w="1334837">
                  <a:extLst>
                    <a:ext uri="{9D8B030D-6E8A-4147-A177-3AD203B41FA5}">
                      <a16:colId xmlns:a16="http://schemas.microsoft.com/office/drawing/2014/main" val="20000"/>
                    </a:ext>
                  </a:extLst>
                </a:gridCol>
                <a:gridCol w="1396923">
                  <a:extLst>
                    <a:ext uri="{9D8B030D-6E8A-4147-A177-3AD203B41FA5}">
                      <a16:colId xmlns:a16="http://schemas.microsoft.com/office/drawing/2014/main" val="20001"/>
                    </a:ext>
                  </a:extLst>
                </a:gridCol>
              </a:tblGrid>
              <a:tr h="0">
                <a:tc>
                  <a:txBody>
                    <a:bodyPr/>
                    <a:lstStyle/>
                    <a:p>
                      <a:pPr algn="ctr">
                        <a:spcAft>
                          <a:spcPts val="0"/>
                        </a:spcAft>
                      </a:pPr>
                      <a:r>
                        <a:rPr lang="zh-CN" sz="1800" kern="100" dirty="0">
                          <a:effectLst/>
                        </a:rPr>
                        <a:t>寄存器号</a:t>
                      </a:r>
                      <a:endParaRPr lang="zh-CN" sz="2400" kern="100" dirty="0">
                        <a:effectLst/>
                        <a:latin typeface="Calibri"/>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变量</a:t>
                      </a:r>
                      <a:r>
                        <a:rPr lang="en-US" sz="1800" kern="100">
                          <a:effectLst/>
                        </a:rPr>
                        <a:t>VAR</a:t>
                      </a:r>
                      <a:endParaRPr lang="zh-CN" sz="2400" kern="100">
                        <a:effectLst/>
                        <a:latin typeface="Calibri"/>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a:spcAft>
                          <a:spcPts val="0"/>
                        </a:spcAft>
                      </a:pPr>
                      <a:r>
                        <a:rPr lang="en-US" sz="1800" kern="100" dirty="0">
                          <a:effectLst/>
                        </a:rPr>
                        <a:t>AX</a:t>
                      </a:r>
                      <a:endParaRPr lang="zh-CN" sz="2400" kern="100" dirty="0">
                        <a:effectLst/>
                        <a:latin typeface="Calibri"/>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T1</a:t>
                      </a:r>
                      <a:r>
                        <a:rPr lang="zh-CN" sz="1800" kern="100" dirty="0">
                          <a:effectLst/>
                        </a:rPr>
                        <a:t>，</a:t>
                      </a:r>
                      <a:r>
                        <a:rPr lang="en-US" altLang="zh-CN" sz="1800" kern="100" dirty="0">
                          <a:effectLst/>
                        </a:rPr>
                        <a:t>x, z</a:t>
                      </a:r>
                      <a:endParaRPr lang="zh-CN" sz="2400" kern="100" dirty="0">
                        <a:effectLst/>
                        <a:latin typeface="Calibri"/>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spcAft>
                          <a:spcPts val="0"/>
                        </a:spcAft>
                      </a:pPr>
                      <a:r>
                        <a:rPr lang="en-US" sz="1800" kern="100">
                          <a:effectLst/>
                        </a:rPr>
                        <a:t>BX</a:t>
                      </a:r>
                      <a:endParaRPr lang="zh-CN" sz="2400" kern="100">
                        <a:effectLst/>
                        <a:latin typeface="Calibri"/>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b</a:t>
                      </a:r>
                      <a:endParaRPr lang="zh-CN" sz="2400" kern="100">
                        <a:effectLst/>
                        <a:latin typeface="Calibri"/>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spcAft>
                          <a:spcPts val="0"/>
                        </a:spcAft>
                      </a:pPr>
                      <a:r>
                        <a:rPr lang="en-US" sz="1800" kern="100" dirty="0">
                          <a:effectLst/>
                        </a:rPr>
                        <a:t>……</a:t>
                      </a:r>
                      <a:endParaRPr lang="zh-CN" sz="2400" kern="100" dirty="0">
                        <a:effectLst/>
                        <a:latin typeface="Calibri"/>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 </a:t>
                      </a:r>
                      <a:endParaRPr lang="zh-CN" sz="2400" kern="100" dirty="0">
                        <a:effectLst/>
                        <a:latin typeface="Calibri"/>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矩形 4"/>
          <p:cNvSpPr/>
          <p:nvPr/>
        </p:nvSpPr>
        <p:spPr>
          <a:xfrm>
            <a:off x="5436096" y="69903"/>
            <a:ext cx="3312368" cy="738664"/>
          </a:xfrm>
          <a:prstGeom prst="rect">
            <a:avLst/>
          </a:prstGeom>
        </p:spPr>
        <p:txBody>
          <a:bodyPr wrap="square">
            <a:spAutoFit/>
          </a:bodyPr>
          <a:lstStyle/>
          <a:p>
            <a:r>
              <a:rPr lang="zh-CN" altLang="zh-CN" dirty="0"/>
              <a:t>为中间代码</a:t>
            </a:r>
            <a:r>
              <a:rPr lang="en-US" altLang="zh-CN" sz="2400" b="1" dirty="0">
                <a:solidFill>
                  <a:srgbClr val="FF0000"/>
                </a:solidFill>
              </a:rPr>
              <a:t>i:(op, y, z, x)</a:t>
            </a:r>
            <a:r>
              <a:rPr lang="zh-CN" altLang="zh-CN" dirty="0"/>
              <a:t>中的结果</a:t>
            </a:r>
            <a:r>
              <a:rPr lang="en-US" altLang="zh-CN" dirty="0"/>
              <a:t>A</a:t>
            </a:r>
            <a:r>
              <a:rPr lang="zh-CN" altLang="en-US" dirty="0"/>
              <a:t>指派</a:t>
            </a:r>
            <a:r>
              <a:rPr lang="zh-CN" altLang="zh-CN" dirty="0"/>
              <a:t>寄存器</a:t>
            </a:r>
            <a:endParaRPr lang="zh-CN" altLang="en-US" dirty="0"/>
          </a:p>
        </p:txBody>
      </p:sp>
    </p:spTree>
    <p:extLst>
      <p:ext uri="{BB962C8B-B14F-4D97-AF65-F5344CB8AC3E}">
        <p14:creationId xmlns:p14="http://schemas.microsoft.com/office/powerpoint/2010/main" val="1109086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normAutofit fontScale="90000"/>
          </a:bodyPr>
          <a:lstStyle/>
          <a:p>
            <a:endParaRPr lang="zh-CN" altLang="en-US"/>
          </a:p>
        </p:txBody>
      </p:sp>
    </p:spTree>
    <p:extLst>
      <p:ext uri="{BB962C8B-B14F-4D97-AF65-F5344CB8AC3E}">
        <p14:creationId xmlns:p14="http://schemas.microsoft.com/office/powerpoint/2010/main" val="35311359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560" y="1990818"/>
            <a:ext cx="7128792" cy="769441"/>
          </a:xfrm>
          <a:prstGeom prst="rect">
            <a:avLst/>
          </a:prstGeom>
        </p:spPr>
        <p:txBody>
          <a:bodyPr wrap="square">
            <a:spAutoFit/>
          </a:bodyPr>
          <a:lstStyle/>
          <a:p>
            <a:r>
              <a:rPr lang="en-US" altLang="zh-CN" sz="4400" b="1" dirty="0">
                <a:solidFill>
                  <a:srgbClr val="CC0099"/>
                </a:solidFill>
                <a:ea typeface="隶书" pitchFamily="49" charset="-122"/>
              </a:rPr>
              <a:t>4</a:t>
            </a:r>
            <a:r>
              <a:rPr lang="zh-CN" altLang="en-US" sz="4400" b="1" dirty="0">
                <a:solidFill>
                  <a:srgbClr val="CC0099"/>
                </a:solidFill>
                <a:ea typeface="隶书" pitchFamily="49" charset="-122"/>
              </a:rPr>
              <a:t>、基本块的代码生成算法</a:t>
            </a:r>
            <a:endParaRPr lang="en-US" altLang="zh-CN" sz="4400" b="1" dirty="0">
              <a:solidFill>
                <a:srgbClr val="CC0099"/>
              </a:solidFill>
              <a:ea typeface="隶书" pitchFamily="49" charset="-122"/>
            </a:endParaRPr>
          </a:p>
        </p:txBody>
      </p:sp>
    </p:spTree>
    <p:extLst>
      <p:ext uri="{BB962C8B-B14F-4D97-AF65-F5344CB8AC3E}">
        <p14:creationId xmlns:p14="http://schemas.microsoft.com/office/powerpoint/2010/main" val="13593506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9512" y="987574"/>
            <a:ext cx="8640960" cy="4011910"/>
          </a:xfrm>
        </p:spPr>
        <p:style>
          <a:lnRef idx="2">
            <a:schemeClr val="accent1"/>
          </a:lnRef>
          <a:fillRef idx="1">
            <a:schemeClr val="lt1"/>
          </a:fillRef>
          <a:effectRef idx="0">
            <a:schemeClr val="accent1"/>
          </a:effectRef>
          <a:fontRef idx="minor">
            <a:schemeClr val="dk1"/>
          </a:fontRef>
        </p:style>
        <p:txBody>
          <a:bodyPr>
            <a:noAutofit/>
          </a:bodyPr>
          <a:lstStyle/>
          <a:p>
            <a:pPr marL="227965">
              <a:lnSpc>
                <a:spcPct val="90000"/>
              </a:lnSpc>
              <a:spcBef>
                <a:spcPts val="0"/>
              </a:spcBef>
            </a:pPr>
            <a:r>
              <a:rPr lang="zh-CN" altLang="zh-CN" sz="1800" dirty="0">
                <a:solidFill>
                  <a:srgbClr val="000000"/>
                </a:solidFill>
                <a:cs typeface="Times New Roman" panose="02020603050405020304" pitchFamily="18" charset="0"/>
              </a:rPr>
              <a:t>（</a:t>
            </a:r>
            <a:r>
              <a:rPr lang="en-US" altLang="zh-CN" sz="1800" dirty="0">
                <a:solidFill>
                  <a:srgbClr val="000000"/>
                </a:solidFill>
                <a:cs typeface="宋体" panose="02010600030101010101" pitchFamily="2" charset="-122"/>
              </a:rPr>
              <a:t>1</a:t>
            </a:r>
            <a:r>
              <a:rPr lang="zh-CN" altLang="zh-CN" sz="1800" dirty="0">
                <a:solidFill>
                  <a:srgbClr val="000000"/>
                </a:solidFill>
                <a:cs typeface="Times New Roman" panose="02020603050405020304" pitchFamily="18" charset="0"/>
              </a:rPr>
              <a:t>）</a:t>
            </a:r>
            <a:r>
              <a:rPr lang="en-US" altLang="zh-CN" sz="1800" dirty="0" err="1">
                <a:solidFill>
                  <a:srgbClr val="000000"/>
                </a:solidFill>
                <a:cs typeface="宋体" panose="02010600030101010101" pitchFamily="2" charset="-122"/>
              </a:rPr>
              <a:t>getreg</a:t>
            </a:r>
            <a:r>
              <a:rPr lang="en-US" altLang="zh-CN" sz="1800" dirty="0">
                <a:solidFill>
                  <a:srgbClr val="000000"/>
                </a:solidFill>
                <a:cs typeface="宋体" panose="02010600030101010101" pitchFamily="2" charset="-122"/>
              </a:rPr>
              <a:t>(</a:t>
            </a:r>
            <a:r>
              <a:rPr lang="en-US" altLang="zh-CN" sz="1800" dirty="0" err="1">
                <a:solidFill>
                  <a:srgbClr val="000000"/>
                </a:solidFill>
                <a:cs typeface="宋体" panose="02010600030101010101" pitchFamily="2" charset="-122"/>
              </a:rPr>
              <a:t>i</a:t>
            </a:r>
            <a:r>
              <a:rPr lang="en-US" altLang="zh-CN" sz="1800" dirty="0">
                <a:solidFill>
                  <a:srgbClr val="000000"/>
                </a:solidFill>
                <a:cs typeface="宋体" panose="02010600030101010101" pitchFamily="2" charset="-122"/>
              </a:rPr>
              <a:t>: (</a:t>
            </a:r>
            <a:r>
              <a:rPr lang="en-US" altLang="zh-CN" sz="1800" dirty="0" err="1">
                <a:solidFill>
                  <a:srgbClr val="000000"/>
                </a:solidFill>
                <a:cs typeface="宋体" panose="02010600030101010101" pitchFamily="2" charset="-122"/>
              </a:rPr>
              <a:t>op,y,z,x</a:t>
            </a:r>
            <a:r>
              <a:rPr lang="en-US" altLang="zh-CN" sz="1800" dirty="0">
                <a:solidFill>
                  <a:srgbClr val="000000"/>
                </a:solidFill>
                <a:cs typeface="宋体" panose="02010600030101010101" pitchFamily="2" charset="-122"/>
              </a:rPr>
              <a:t>),R ) /*</a:t>
            </a:r>
            <a:r>
              <a:rPr lang="zh-CN" altLang="zh-CN" sz="1800" dirty="0">
                <a:solidFill>
                  <a:srgbClr val="000000"/>
                </a:solidFill>
                <a:cs typeface="Times New Roman" panose="02020603050405020304" pitchFamily="18" charset="0"/>
              </a:rPr>
              <a:t>调用寄存器分配，返回分配给</a:t>
            </a:r>
            <a:r>
              <a:rPr lang="en-US" altLang="zh-CN" sz="1800" dirty="0">
                <a:solidFill>
                  <a:srgbClr val="000000"/>
                </a:solidFill>
                <a:cs typeface="宋体" panose="02010600030101010101" pitchFamily="2" charset="-122"/>
              </a:rPr>
              <a:t>x</a:t>
            </a:r>
            <a:r>
              <a:rPr lang="zh-CN" altLang="zh-CN" sz="1800" dirty="0">
                <a:solidFill>
                  <a:srgbClr val="000000"/>
                </a:solidFill>
                <a:cs typeface="Times New Roman" panose="02020603050405020304" pitchFamily="18" charset="0"/>
              </a:rPr>
              <a:t>的寄存器</a:t>
            </a:r>
            <a:r>
              <a:rPr lang="en-US" altLang="zh-CN" sz="1800" dirty="0">
                <a:solidFill>
                  <a:srgbClr val="000000"/>
                </a:solidFill>
                <a:cs typeface="宋体" panose="02010600030101010101" pitchFamily="2" charset="-122"/>
              </a:rPr>
              <a:t>R */</a:t>
            </a:r>
            <a:endParaRPr lang="zh-CN" altLang="zh-CN" sz="1800" dirty="0">
              <a:solidFill>
                <a:srgbClr val="000000"/>
              </a:solidFill>
              <a:cs typeface="宋体" panose="02010600030101010101" pitchFamily="2" charset="-122"/>
            </a:endParaRPr>
          </a:p>
          <a:p>
            <a:pPr marL="227965">
              <a:lnSpc>
                <a:spcPct val="90000"/>
              </a:lnSpc>
              <a:spcBef>
                <a:spcPts val="0"/>
              </a:spcBef>
            </a:pPr>
            <a:r>
              <a:rPr lang="zh-CN" altLang="zh-CN" sz="1800" dirty="0">
                <a:solidFill>
                  <a:srgbClr val="000000"/>
                </a:solidFill>
                <a:cs typeface="Times New Roman" panose="02020603050405020304" pitchFamily="18" charset="0"/>
              </a:rPr>
              <a:t>（</a:t>
            </a:r>
            <a:r>
              <a:rPr lang="en-US" altLang="zh-CN" sz="1800" dirty="0">
                <a:solidFill>
                  <a:srgbClr val="000000"/>
                </a:solidFill>
                <a:cs typeface="宋体" panose="02010600030101010101" pitchFamily="2" charset="-122"/>
              </a:rPr>
              <a:t>2</a:t>
            </a:r>
            <a:r>
              <a:rPr lang="zh-CN" altLang="zh-CN" sz="1800" dirty="0">
                <a:solidFill>
                  <a:srgbClr val="000000"/>
                </a:solidFill>
                <a:cs typeface="Times New Roman" panose="02020603050405020304" pitchFamily="18" charset="0"/>
              </a:rPr>
              <a:t>）</a:t>
            </a:r>
            <a:r>
              <a:rPr lang="en-US" altLang="zh-CN" sz="1800" dirty="0">
                <a:solidFill>
                  <a:srgbClr val="000000"/>
                </a:solidFill>
                <a:cs typeface="Times New Roman" panose="02020603050405020304" pitchFamily="18" charset="0"/>
              </a:rPr>
              <a:t>if</a:t>
            </a:r>
            <a:r>
              <a:rPr lang="en-US" altLang="zh-CN" sz="1800" dirty="0">
                <a:solidFill>
                  <a:srgbClr val="000000"/>
                </a:solidFill>
                <a:cs typeface="宋体" panose="02010600030101010101" pitchFamily="2" charset="-122"/>
              </a:rPr>
              <a:t> (</a:t>
            </a:r>
            <a:r>
              <a:rPr lang="en-US" altLang="zh-CN" sz="1800" dirty="0" err="1">
                <a:solidFill>
                  <a:srgbClr val="000000"/>
                </a:solidFill>
                <a:cs typeface="宋体" panose="02010600030101010101" pitchFamily="2" charset="-122"/>
              </a:rPr>
              <a:t>addr</a:t>
            </a:r>
            <a:r>
              <a:rPr lang="en-US" altLang="zh-CN" sz="1800" dirty="0">
                <a:solidFill>
                  <a:srgbClr val="000000"/>
                </a:solidFill>
                <a:cs typeface="宋体" panose="02010600030101010101" pitchFamily="2" charset="-122"/>
              </a:rPr>
              <a:t>(y) ≠ R)  {  /*</a:t>
            </a:r>
            <a:r>
              <a:rPr lang="zh-CN" altLang="zh-CN" sz="1800" dirty="0">
                <a:solidFill>
                  <a:srgbClr val="000000"/>
                </a:solidFill>
                <a:cs typeface="Times New Roman" panose="02020603050405020304" pitchFamily="18" charset="0"/>
              </a:rPr>
              <a:t>查看变量地址描述器，判断</a:t>
            </a:r>
            <a:r>
              <a:rPr lang="en-US" altLang="zh-CN" sz="1800" dirty="0">
                <a:solidFill>
                  <a:srgbClr val="000000"/>
                </a:solidFill>
                <a:cs typeface="宋体" panose="02010600030101010101" pitchFamily="2" charset="-122"/>
              </a:rPr>
              <a:t>y</a:t>
            </a:r>
            <a:r>
              <a:rPr lang="zh-CN" altLang="zh-CN" sz="1800" dirty="0">
                <a:solidFill>
                  <a:srgbClr val="000000"/>
                </a:solidFill>
                <a:cs typeface="Times New Roman" panose="02020603050405020304" pitchFamily="18" charset="0"/>
              </a:rPr>
              <a:t>是否在寄存器中</a:t>
            </a:r>
            <a:r>
              <a:rPr lang="en-US" altLang="zh-CN" sz="1800" dirty="0">
                <a:solidFill>
                  <a:srgbClr val="000000"/>
                </a:solidFill>
                <a:cs typeface="宋体" panose="02010600030101010101" pitchFamily="2" charset="-122"/>
              </a:rPr>
              <a:t>*/</a:t>
            </a:r>
            <a:endParaRPr lang="zh-CN" altLang="zh-CN" sz="1800" dirty="0">
              <a:solidFill>
                <a:srgbClr val="000000"/>
              </a:solidFill>
              <a:cs typeface="宋体" panose="02010600030101010101" pitchFamily="2" charset="-122"/>
            </a:endParaRPr>
          </a:p>
          <a:p>
            <a:pPr marL="266700" indent="366713">
              <a:lnSpc>
                <a:spcPct val="90000"/>
              </a:lnSpc>
              <a:spcBef>
                <a:spcPts val="0"/>
              </a:spcBef>
            </a:pPr>
            <a:r>
              <a:rPr lang="nl-NL" altLang="zh-CN" sz="1800" dirty="0">
                <a:solidFill>
                  <a:srgbClr val="000000"/>
                </a:solidFill>
                <a:cs typeface="宋体" panose="02010600030101010101" pitchFamily="2" charset="-122"/>
              </a:rPr>
              <a:t>    genobj(MOV R,addr(y));/* y</a:t>
            </a:r>
            <a:r>
              <a:rPr lang="zh-CN" altLang="zh-CN" sz="1800" dirty="0">
                <a:solidFill>
                  <a:srgbClr val="000000"/>
                </a:solidFill>
                <a:cs typeface="Times New Roman" panose="02020603050405020304" pitchFamily="18" charset="0"/>
              </a:rPr>
              <a:t>不在</a:t>
            </a:r>
            <a:r>
              <a:rPr lang="en-US" altLang="zh-CN" sz="1800" dirty="0">
                <a:solidFill>
                  <a:srgbClr val="000000"/>
                </a:solidFill>
                <a:cs typeface="Times New Roman" panose="02020603050405020304" pitchFamily="18" charset="0"/>
              </a:rPr>
              <a:t>R</a:t>
            </a:r>
            <a:r>
              <a:rPr lang="zh-CN" altLang="zh-CN" sz="1800" dirty="0">
                <a:solidFill>
                  <a:srgbClr val="000000"/>
                </a:solidFill>
                <a:cs typeface="Times New Roman" panose="02020603050405020304" pitchFamily="18" charset="0"/>
              </a:rPr>
              <a:t>中，生成取数指令，将</a:t>
            </a:r>
            <a:r>
              <a:rPr lang="nl-NL" altLang="zh-CN" sz="1800" dirty="0">
                <a:solidFill>
                  <a:srgbClr val="000000"/>
                </a:solidFill>
                <a:cs typeface="宋体" panose="02010600030101010101" pitchFamily="2" charset="-122"/>
              </a:rPr>
              <a:t>y</a:t>
            </a:r>
            <a:r>
              <a:rPr lang="zh-CN" altLang="zh-CN" sz="1800" dirty="0">
                <a:solidFill>
                  <a:srgbClr val="000000"/>
                </a:solidFill>
                <a:cs typeface="Times New Roman" panose="02020603050405020304" pitchFamily="18" charset="0"/>
              </a:rPr>
              <a:t>放到</a:t>
            </a:r>
            <a:r>
              <a:rPr lang="nl-NL" altLang="zh-CN" sz="1800" dirty="0">
                <a:solidFill>
                  <a:srgbClr val="000000"/>
                </a:solidFill>
                <a:cs typeface="宋体" panose="02010600030101010101" pitchFamily="2" charset="-122"/>
              </a:rPr>
              <a:t>R</a:t>
            </a:r>
            <a:r>
              <a:rPr lang="zh-CN" altLang="zh-CN" sz="1800" dirty="0">
                <a:solidFill>
                  <a:srgbClr val="000000"/>
                </a:solidFill>
                <a:cs typeface="Times New Roman" panose="02020603050405020304" pitchFamily="18" charset="0"/>
              </a:rPr>
              <a:t>中</a:t>
            </a:r>
            <a:r>
              <a:rPr lang="nl-NL" altLang="zh-CN" sz="1800" dirty="0">
                <a:solidFill>
                  <a:srgbClr val="000000"/>
                </a:solidFill>
                <a:cs typeface="宋体" panose="02010600030101010101" pitchFamily="2" charset="-122"/>
              </a:rPr>
              <a:t>*/</a:t>
            </a:r>
            <a:endParaRPr lang="zh-CN" altLang="zh-CN" sz="1800" dirty="0">
              <a:solidFill>
                <a:srgbClr val="000000"/>
              </a:solidFill>
              <a:cs typeface="宋体" panose="02010600030101010101" pitchFamily="2" charset="-122"/>
            </a:endParaRPr>
          </a:p>
          <a:p>
            <a:pPr marL="365125" indent="-98425">
              <a:lnSpc>
                <a:spcPct val="90000"/>
              </a:lnSpc>
              <a:spcBef>
                <a:spcPts val="0"/>
              </a:spcBef>
            </a:pPr>
            <a:r>
              <a:rPr lang="nl-NL" altLang="zh-CN" sz="1800" dirty="0">
                <a:solidFill>
                  <a:srgbClr val="000000"/>
                </a:solidFill>
                <a:cs typeface="宋体" panose="02010600030101010101" pitchFamily="2" charset="-122"/>
              </a:rPr>
              <a:t>    }</a:t>
            </a:r>
            <a:endParaRPr lang="zh-CN" altLang="zh-CN" sz="1800" dirty="0">
              <a:solidFill>
                <a:srgbClr val="000000"/>
              </a:solidFill>
              <a:cs typeface="宋体" panose="02010600030101010101" pitchFamily="2" charset="-122"/>
            </a:endParaRPr>
          </a:p>
          <a:p>
            <a:pPr marL="227965">
              <a:lnSpc>
                <a:spcPct val="90000"/>
              </a:lnSpc>
              <a:spcBef>
                <a:spcPts val="0"/>
              </a:spcBef>
            </a:pPr>
            <a:r>
              <a:rPr lang="zh-CN" altLang="zh-CN" sz="1800" dirty="0">
                <a:solidFill>
                  <a:srgbClr val="000000"/>
                </a:solidFill>
                <a:cs typeface="宋体" panose="02010600030101010101" pitchFamily="2" charset="-122"/>
              </a:rPr>
              <a:t>（</a:t>
            </a:r>
            <a:r>
              <a:rPr lang="nl-NL" altLang="zh-CN" sz="1800" dirty="0">
                <a:solidFill>
                  <a:srgbClr val="000000"/>
                </a:solidFill>
                <a:cs typeface="宋体" panose="02010600030101010101" pitchFamily="2" charset="-122"/>
              </a:rPr>
              <a:t>3</a:t>
            </a:r>
            <a:r>
              <a:rPr lang="zh-CN" altLang="zh-CN" sz="1800" dirty="0">
                <a:solidFill>
                  <a:srgbClr val="000000"/>
                </a:solidFill>
                <a:cs typeface="宋体" panose="02010600030101010101" pitchFamily="2" charset="-122"/>
              </a:rPr>
              <a:t>）</a:t>
            </a:r>
            <a:r>
              <a:rPr lang="nl-NL" altLang="zh-CN" sz="1800" dirty="0">
                <a:solidFill>
                  <a:srgbClr val="000000"/>
                </a:solidFill>
                <a:cs typeface="宋体" panose="02010600030101010101" pitchFamily="2" charset="-122"/>
              </a:rPr>
              <a:t>genobj(op R,addr(z)) ;  /* y</a:t>
            </a:r>
            <a:r>
              <a:rPr lang="zh-CN" altLang="en-US" sz="1800" dirty="0">
                <a:solidFill>
                  <a:srgbClr val="000000"/>
                </a:solidFill>
                <a:cs typeface="宋体" panose="02010600030101010101" pitchFamily="2" charset="-122"/>
              </a:rPr>
              <a:t>已经</a:t>
            </a:r>
            <a:r>
              <a:rPr lang="zh-CN" altLang="zh-CN" sz="1800" dirty="0">
                <a:solidFill>
                  <a:srgbClr val="000000"/>
                </a:solidFill>
                <a:cs typeface="宋体" panose="02010600030101010101" pitchFamily="2" charset="-122"/>
              </a:rPr>
              <a:t>在寄存器中</a:t>
            </a:r>
            <a:r>
              <a:rPr lang="zh-CN" altLang="en-US" sz="1800" dirty="0">
                <a:solidFill>
                  <a:srgbClr val="000000"/>
                </a:solidFill>
                <a:cs typeface="宋体" panose="02010600030101010101" pitchFamily="2" charset="-122"/>
              </a:rPr>
              <a:t>了</a:t>
            </a:r>
            <a:r>
              <a:rPr lang="zh-CN" altLang="zh-CN" sz="1800" dirty="0">
                <a:solidFill>
                  <a:srgbClr val="000000"/>
                </a:solidFill>
                <a:cs typeface="宋体" panose="02010600030101010101" pitchFamily="2" charset="-122"/>
              </a:rPr>
              <a:t>，进行运算</a:t>
            </a:r>
            <a:r>
              <a:rPr lang="nl-NL" altLang="zh-CN" sz="1800" dirty="0">
                <a:solidFill>
                  <a:srgbClr val="000000"/>
                </a:solidFill>
                <a:cs typeface="宋体" panose="02010600030101010101" pitchFamily="2" charset="-122"/>
              </a:rPr>
              <a:t>*/</a:t>
            </a:r>
            <a:endParaRPr lang="zh-CN" altLang="zh-CN" sz="1800" dirty="0">
              <a:solidFill>
                <a:srgbClr val="000000"/>
              </a:solidFill>
              <a:cs typeface="宋体" panose="02010600030101010101" pitchFamily="2" charset="-122"/>
            </a:endParaRPr>
          </a:p>
          <a:p>
            <a:pPr marL="227965">
              <a:lnSpc>
                <a:spcPct val="90000"/>
              </a:lnSpc>
              <a:spcBef>
                <a:spcPts val="0"/>
              </a:spcBef>
            </a:pPr>
            <a:r>
              <a:rPr lang="zh-CN" altLang="zh-CN" sz="1800" dirty="0">
                <a:solidFill>
                  <a:srgbClr val="000000"/>
                </a:solidFill>
                <a:cs typeface="Times New Roman" panose="02020603050405020304" pitchFamily="18" charset="0"/>
              </a:rPr>
              <a:t>（</a:t>
            </a:r>
            <a:r>
              <a:rPr lang="nl-NL" altLang="zh-CN" sz="1800" dirty="0">
                <a:solidFill>
                  <a:srgbClr val="000000"/>
                </a:solidFill>
                <a:cs typeface="宋体" panose="02010600030101010101" pitchFamily="2" charset="-122"/>
              </a:rPr>
              <a:t>4</a:t>
            </a:r>
            <a:r>
              <a:rPr lang="zh-CN" altLang="zh-CN" sz="1800" dirty="0">
                <a:solidFill>
                  <a:srgbClr val="000000"/>
                </a:solidFill>
                <a:cs typeface="Times New Roman" panose="02020603050405020304" pitchFamily="18" charset="0"/>
              </a:rPr>
              <a:t>）</a:t>
            </a:r>
            <a:r>
              <a:rPr lang="nl-NL" altLang="zh-CN" sz="1800" dirty="0">
                <a:solidFill>
                  <a:srgbClr val="000000"/>
                </a:solidFill>
                <a:cs typeface="宋体" panose="02010600030101010101" pitchFamily="2" charset="-122"/>
              </a:rPr>
              <a:t>delete(y,R);  /*</a:t>
            </a:r>
            <a:r>
              <a:rPr lang="zh-CN" altLang="zh-CN" sz="1800" dirty="0">
                <a:solidFill>
                  <a:srgbClr val="000000"/>
                </a:solidFill>
                <a:cs typeface="Times New Roman" panose="02020603050405020304" pitchFamily="18" charset="0"/>
              </a:rPr>
              <a:t>删除地址描述器中</a:t>
            </a:r>
            <a:r>
              <a:rPr lang="nl-NL" altLang="zh-CN" sz="1800" dirty="0">
                <a:solidFill>
                  <a:srgbClr val="000000"/>
                </a:solidFill>
                <a:cs typeface="宋体" panose="02010600030101010101" pitchFamily="2" charset="-122"/>
              </a:rPr>
              <a:t>y</a:t>
            </a:r>
            <a:r>
              <a:rPr lang="zh-CN" altLang="zh-CN" sz="1800" dirty="0">
                <a:solidFill>
                  <a:srgbClr val="000000"/>
                </a:solidFill>
                <a:cs typeface="Times New Roman" panose="02020603050405020304" pitchFamily="18" charset="0"/>
              </a:rPr>
              <a:t>和</a:t>
            </a:r>
            <a:r>
              <a:rPr lang="nl-NL" altLang="zh-CN" sz="1800" dirty="0">
                <a:solidFill>
                  <a:srgbClr val="000000"/>
                </a:solidFill>
                <a:cs typeface="宋体" panose="02010600030101010101" pitchFamily="2" charset="-122"/>
              </a:rPr>
              <a:t>R</a:t>
            </a:r>
            <a:r>
              <a:rPr lang="zh-CN" altLang="zh-CN" sz="1800" dirty="0">
                <a:solidFill>
                  <a:srgbClr val="000000"/>
                </a:solidFill>
                <a:cs typeface="Times New Roman" panose="02020603050405020304" pitchFamily="18" charset="0"/>
              </a:rPr>
              <a:t>的对应关系</a:t>
            </a:r>
            <a:r>
              <a:rPr lang="nl-NL" altLang="zh-CN" sz="1800" dirty="0">
                <a:solidFill>
                  <a:srgbClr val="000000"/>
                </a:solidFill>
                <a:cs typeface="宋体" panose="02010600030101010101" pitchFamily="2" charset="-122"/>
              </a:rPr>
              <a:t>*/</a:t>
            </a:r>
            <a:endParaRPr lang="zh-CN" altLang="zh-CN" sz="1800" dirty="0">
              <a:solidFill>
                <a:srgbClr val="000000"/>
              </a:solidFill>
              <a:cs typeface="宋体" panose="02010600030101010101" pitchFamily="2" charset="-122"/>
            </a:endParaRPr>
          </a:p>
          <a:p>
            <a:pPr marL="227965">
              <a:lnSpc>
                <a:spcPct val="90000"/>
              </a:lnSpc>
              <a:spcBef>
                <a:spcPts val="0"/>
              </a:spcBef>
            </a:pPr>
            <a:r>
              <a:rPr lang="zh-CN" altLang="zh-CN" sz="1800" dirty="0">
                <a:solidFill>
                  <a:srgbClr val="000000"/>
                </a:solidFill>
                <a:cs typeface="Times New Roman" panose="02020603050405020304" pitchFamily="18" charset="0"/>
              </a:rPr>
              <a:t>（</a:t>
            </a:r>
            <a:r>
              <a:rPr lang="nl-NL" altLang="zh-CN" sz="1800" dirty="0">
                <a:solidFill>
                  <a:srgbClr val="000000"/>
                </a:solidFill>
                <a:cs typeface="宋体" panose="02010600030101010101" pitchFamily="2" charset="-122"/>
              </a:rPr>
              <a:t>5</a:t>
            </a:r>
            <a:r>
              <a:rPr lang="zh-CN" altLang="zh-CN" sz="1800" dirty="0">
                <a:solidFill>
                  <a:srgbClr val="000000"/>
                </a:solidFill>
                <a:cs typeface="Times New Roman" panose="02020603050405020304" pitchFamily="18" charset="0"/>
              </a:rPr>
              <a:t>）</a:t>
            </a:r>
            <a:r>
              <a:rPr lang="nl-NL" altLang="zh-CN" sz="1800" dirty="0">
                <a:solidFill>
                  <a:srgbClr val="000000"/>
                </a:solidFill>
                <a:cs typeface="Times New Roman" panose="02020603050405020304" pitchFamily="18" charset="0"/>
              </a:rPr>
              <a:t>fill</a:t>
            </a:r>
            <a:r>
              <a:rPr lang="nl-NL" altLang="zh-CN" sz="1800" dirty="0">
                <a:solidFill>
                  <a:srgbClr val="000000"/>
                </a:solidFill>
                <a:cs typeface="宋体" panose="02010600030101010101" pitchFamily="2" charset="-122"/>
              </a:rPr>
              <a:t>(x,R);  /*</a:t>
            </a:r>
            <a:r>
              <a:rPr lang="zh-CN" altLang="zh-CN" sz="1800" dirty="0">
                <a:solidFill>
                  <a:srgbClr val="000000"/>
                </a:solidFill>
                <a:cs typeface="Times New Roman" panose="02020603050405020304" pitchFamily="18" charset="0"/>
              </a:rPr>
              <a:t>填写寄存器描述器和地址描述器，</a:t>
            </a:r>
            <a:r>
              <a:rPr lang="nl-NL" altLang="zh-CN" sz="1800" dirty="0">
                <a:solidFill>
                  <a:srgbClr val="000000"/>
                </a:solidFill>
                <a:cs typeface="宋体" panose="02010600030101010101" pitchFamily="2" charset="-122"/>
              </a:rPr>
              <a:t>R</a:t>
            </a:r>
            <a:r>
              <a:rPr lang="zh-CN" altLang="zh-CN" sz="1800" dirty="0">
                <a:solidFill>
                  <a:srgbClr val="000000"/>
                </a:solidFill>
                <a:cs typeface="Times New Roman" panose="02020603050405020304" pitchFamily="18" charset="0"/>
              </a:rPr>
              <a:t>中存放</a:t>
            </a:r>
            <a:r>
              <a:rPr lang="nl-NL" altLang="zh-CN" sz="1800" dirty="0">
                <a:solidFill>
                  <a:srgbClr val="000000"/>
                </a:solidFill>
                <a:cs typeface="宋体" panose="02010600030101010101" pitchFamily="2" charset="-122"/>
              </a:rPr>
              <a:t>x</a:t>
            </a:r>
            <a:r>
              <a:rPr lang="zh-CN" altLang="zh-CN" sz="1800" dirty="0">
                <a:solidFill>
                  <a:srgbClr val="000000"/>
                </a:solidFill>
                <a:cs typeface="Times New Roman" panose="02020603050405020304" pitchFamily="18" charset="0"/>
              </a:rPr>
              <a:t>，</a:t>
            </a:r>
            <a:r>
              <a:rPr lang="nl-NL" altLang="zh-CN" sz="1800" dirty="0">
                <a:solidFill>
                  <a:srgbClr val="000000"/>
                </a:solidFill>
                <a:cs typeface="宋体" panose="02010600030101010101" pitchFamily="2" charset="-122"/>
              </a:rPr>
              <a:t>x</a:t>
            </a:r>
            <a:r>
              <a:rPr lang="zh-CN" altLang="zh-CN" sz="1800" dirty="0">
                <a:solidFill>
                  <a:srgbClr val="000000"/>
                </a:solidFill>
                <a:cs typeface="Times New Roman" panose="02020603050405020304" pitchFamily="18" charset="0"/>
              </a:rPr>
              <a:t>存放在</a:t>
            </a:r>
            <a:r>
              <a:rPr lang="nl-NL" altLang="zh-CN" sz="1800" dirty="0">
                <a:solidFill>
                  <a:srgbClr val="000000"/>
                </a:solidFill>
                <a:cs typeface="宋体" panose="02010600030101010101" pitchFamily="2" charset="-122"/>
              </a:rPr>
              <a:t>R</a:t>
            </a:r>
            <a:r>
              <a:rPr lang="zh-CN" altLang="zh-CN" sz="1800" dirty="0">
                <a:solidFill>
                  <a:srgbClr val="000000"/>
                </a:solidFill>
                <a:cs typeface="Times New Roman" panose="02020603050405020304" pitchFamily="18" charset="0"/>
              </a:rPr>
              <a:t>中</a:t>
            </a:r>
            <a:r>
              <a:rPr lang="nl-NL" altLang="zh-CN" sz="1800" dirty="0">
                <a:solidFill>
                  <a:srgbClr val="000000"/>
                </a:solidFill>
                <a:cs typeface="宋体" panose="02010600030101010101" pitchFamily="2" charset="-122"/>
              </a:rPr>
              <a:t>*/</a:t>
            </a:r>
            <a:endParaRPr lang="zh-CN" altLang="zh-CN" sz="1800" dirty="0">
              <a:solidFill>
                <a:srgbClr val="000000"/>
              </a:solidFill>
              <a:cs typeface="宋体" panose="02010600030101010101" pitchFamily="2" charset="-122"/>
            </a:endParaRPr>
          </a:p>
          <a:p>
            <a:pPr marL="227965">
              <a:lnSpc>
                <a:spcPct val="90000"/>
              </a:lnSpc>
              <a:spcBef>
                <a:spcPts val="0"/>
              </a:spcBef>
            </a:pPr>
            <a:r>
              <a:rPr lang="zh-CN" altLang="zh-CN" sz="1800" dirty="0">
                <a:solidFill>
                  <a:srgbClr val="000000"/>
                </a:solidFill>
                <a:cs typeface="Times New Roman" panose="02020603050405020304" pitchFamily="18" charset="0"/>
              </a:rPr>
              <a:t>（</a:t>
            </a:r>
            <a:r>
              <a:rPr lang="nl-NL" altLang="zh-CN" sz="1800" dirty="0">
                <a:solidFill>
                  <a:srgbClr val="000000"/>
                </a:solidFill>
                <a:cs typeface="宋体" panose="02010600030101010101" pitchFamily="2" charset="-122"/>
              </a:rPr>
              <a:t>6</a:t>
            </a:r>
            <a:r>
              <a:rPr lang="zh-CN" altLang="zh-CN" sz="1800" dirty="0">
                <a:solidFill>
                  <a:srgbClr val="000000"/>
                </a:solidFill>
                <a:cs typeface="Times New Roman" panose="02020603050405020304" pitchFamily="18" charset="0"/>
              </a:rPr>
              <a:t>）</a:t>
            </a:r>
            <a:r>
              <a:rPr lang="nl-NL" altLang="zh-CN" sz="1800" dirty="0">
                <a:solidFill>
                  <a:srgbClr val="000000"/>
                </a:solidFill>
                <a:cs typeface="宋体" panose="02010600030101010101" pitchFamily="2" charset="-122"/>
              </a:rPr>
              <a:t>for </a:t>
            </a:r>
            <a:r>
              <a:rPr lang="zh-CN" altLang="zh-CN" sz="1800" dirty="0">
                <a:solidFill>
                  <a:srgbClr val="000000"/>
                </a:solidFill>
                <a:cs typeface="Times New Roman" panose="02020603050405020304" pitchFamily="18" charset="0"/>
              </a:rPr>
              <a:t>每个</a:t>
            </a:r>
            <a:r>
              <a:rPr lang="nl-NL" altLang="zh-CN" sz="1800" dirty="0">
                <a:solidFill>
                  <a:srgbClr val="000000"/>
                </a:solidFill>
                <a:cs typeface="宋体" panose="02010600030101010101" pitchFamily="2" charset="-122"/>
              </a:rPr>
              <a:t>Rk ≠R  delete(x,Rk);/*</a:t>
            </a:r>
            <a:r>
              <a:rPr lang="zh-CN" altLang="zh-CN" sz="1800" dirty="0">
                <a:solidFill>
                  <a:srgbClr val="000000"/>
                </a:solidFill>
                <a:cs typeface="Times New Roman" panose="02020603050405020304" pitchFamily="18" charset="0"/>
              </a:rPr>
              <a:t>删除以前</a:t>
            </a:r>
            <a:r>
              <a:rPr lang="nl-NL" altLang="zh-CN" sz="1800" dirty="0">
                <a:solidFill>
                  <a:srgbClr val="000000"/>
                </a:solidFill>
                <a:cs typeface="宋体" panose="02010600030101010101" pitchFamily="2" charset="-122"/>
              </a:rPr>
              <a:t>x</a:t>
            </a:r>
            <a:r>
              <a:rPr lang="zh-CN" altLang="zh-CN" sz="1800" dirty="0">
                <a:solidFill>
                  <a:srgbClr val="000000"/>
                </a:solidFill>
                <a:cs typeface="Times New Roman" panose="02020603050405020304" pitchFamily="18" charset="0"/>
              </a:rPr>
              <a:t>与其它寄存器的对应关系</a:t>
            </a:r>
            <a:r>
              <a:rPr lang="nl-NL" altLang="zh-CN" sz="1800" dirty="0">
                <a:solidFill>
                  <a:srgbClr val="000000"/>
                </a:solidFill>
                <a:cs typeface="宋体" panose="02010600030101010101" pitchFamily="2" charset="-122"/>
              </a:rPr>
              <a:t>*/</a:t>
            </a:r>
            <a:endParaRPr lang="zh-CN" altLang="zh-CN" sz="1800" dirty="0">
              <a:solidFill>
                <a:srgbClr val="000000"/>
              </a:solidFill>
              <a:cs typeface="宋体" panose="02010600030101010101" pitchFamily="2" charset="-122"/>
            </a:endParaRPr>
          </a:p>
          <a:p>
            <a:pPr marL="227965">
              <a:lnSpc>
                <a:spcPct val="90000"/>
              </a:lnSpc>
              <a:spcBef>
                <a:spcPts val="0"/>
              </a:spcBef>
            </a:pPr>
            <a:r>
              <a:rPr lang="zh-CN" altLang="zh-CN" sz="1800" dirty="0">
                <a:solidFill>
                  <a:srgbClr val="000000"/>
                </a:solidFill>
                <a:cs typeface="Times New Roman" panose="02020603050405020304" pitchFamily="18" charset="0"/>
              </a:rPr>
              <a:t>（</a:t>
            </a:r>
            <a:r>
              <a:rPr lang="nl-NL" altLang="zh-CN" sz="1800" dirty="0">
                <a:solidFill>
                  <a:srgbClr val="000000"/>
                </a:solidFill>
                <a:cs typeface="宋体" panose="02010600030101010101" pitchFamily="2" charset="-122"/>
              </a:rPr>
              <a:t>7</a:t>
            </a:r>
            <a:r>
              <a:rPr lang="zh-CN" altLang="zh-CN" sz="1800" dirty="0">
                <a:solidFill>
                  <a:srgbClr val="000000"/>
                </a:solidFill>
                <a:cs typeface="Times New Roman" panose="02020603050405020304" pitchFamily="18" charset="0"/>
              </a:rPr>
              <a:t>）</a:t>
            </a:r>
            <a:r>
              <a:rPr lang="nl-NL" altLang="zh-CN" sz="1800" dirty="0">
                <a:solidFill>
                  <a:srgbClr val="000000"/>
                </a:solidFill>
                <a:cs typeface="Times New Roman" panose="02020603050405020304" pitchFamily="18" charset="0"/>
              </a:rPr>
              <a:t>for</a:t>
            </a:r>
            <a:r>
              <a:rPr lang="nl-NL" altLang="zh-CN" sz="1800" dirty="0">
                <a:solidFill>
                  <a:srgbClr val="000000"/>
                </a:solidFill>
                <a:cs typeface="宋体" panose="02010600030101010101" pitchFamily="2" charset="-122"/>
              </a:rPr>
              <a:t> </a:t>
            </a:r>
            <a:r>
              <a:rPr lang="zh-CN" altLang="zh-CN" sz="1800" dirty="0">
                <a:solidFill>
                  <a:srgbClr val="000000"/>
                </a:solidFill>
                <a:cs typeface="Times New Roman" panose="02020603050405020304" pitchFamily="18" charset="0"/>
              </a:rPr>
              <a:t>每个</a:t>
            </a:r>
            <a:r>
              <a:rPr lang="nl-NL" altLang="zh-CN" sz="1800" dirty="0">
                <a:solidFill>
                  <a:srgbClr val="000000"/>
                </a:solidFill>
                <a:cs typeface="宋体" panose="02010600030101010101" pitchFamily="2" charset="-122"/>
              </a:rPr>
              <a:t>Rk  {/*</a:t>
            </a:r>
            <a:r>
              <a:rPr lang="zh-CN" altLang="zh-CN" sz="1800" dirty="0">
                <a:solidFill>
                  <a:srgbClr val="000000"/>
                </a:solidFill>
                <a:cs typeface="Times New Roman" panose="02020603050405020304" pitchFamily="18" charset="0"/>
              </a:rPr>
              <a:t>对不活跃、无引用的</a:t>
            </a:r>
            <a:r>
              <a:rPr lang="nl-NL" altLang="zh-CN" sz="1800" dirty="0">
                <a:solidFill>
                  <a:srgbClr val="000000"/>
                </a:solidFill>
                <a:cs typeface="宋体" panose="02010600030101010101" pitchFamily="2" charset="-122"/>
              </a:rPr>
              <a:t>y</a:t>
            </a:r>
            <a:r>
              <a:rPr lang="zh-CN" altLang="zh-CN" sz="1800" dirty="0">
                <a:solidFill>
                  <a:srgbClr val="000000"/>
                </a:solidFill>
                <a:cs typeface="Times New Roman" panose="02020603050405020304" pitchFamily="18" charset="0"/>
              </a:rPr>
              <a:t>或</a:t>
            </a:r>
            <a:r>
              <a:rPr lang="nl-NL" altLang="zh-CN" sz="1800" dirty="0">
                <a:solidFill>
                  <a:srgbClr val="000000"/>
                </a:solidFill>
                <a:cs typeface="宋体" panose="02010600030101010101" pitchFamily="2" charset="-122"/>
              </a:rPr>
              <a:t>z</a:t>
            </a:r>
            <a:r>
              <a:rPr lang="zh-CN" altLang="zh-CN" sz="1800" dirty="0">
                <a:solidFill>
                  <a:srgbClr val="000000"/>
                </a:solidFill>
                <a:cs typeface="Times New Roman" panose="02020603050405020304" pitchFamily="18" charset="0"/>
              </a:rPr>
              <a:t>从寄存器中删除</a:t>
            </a:r>
            <a:r>
              <a:rPr lang="nl-NL" altLang="zh-CN" sz="1800" dirty="0">
                <a:solidFill>
                  <a:srgbClr val="000000"/>
                </a:solidFill>
                <a:cs typeface="宋体" panose="02010600030101010101" pitchFamily="2" charset="-122"/>
              </a:rPr>
              <a:t>*/</a:t>
            </a:r>
            <a:endParaRPr lang="zh-CN" altLang="zh-CN" sz="1800" dirty="0">
              <a:solidFill>
                <a:srgbClr val="000000"/>
              </a:solidFill>
              <a:cs typeface="宋体" panose="02010600030101010101" pitchFamily="2" charset="-122"/>
            </a:endParaRPr>
          </a:p>
          <a:p>
            <a:pPr marL="211455" indent="-98425">
              <a:lnSpc>
                <a:spcPct val="90000"/>
              </a:lnSpc>
              <a:spcBef>
                <a:spcPts val="0"/>
              </a:spcBef>
            </a:pPr>
            <a:r>
              <a:rPr lang="nl-NL" altLang="zh-CN" sz="1800" dirty="0">
                <a:solidFill>
                  <a:srgbClr val="000000"/>
                </a:solidFill>
                <a:cs typeface="宋体" panose="02010600030101010101" pitchFamily="2" charset="-122"/>
              </a:rPr>
              <a:t>          if</a:t>
            </a:r>
            <a:r>
              <a:rPr lang="en-US" altLang="zh-CN" sz="1800" dirty="0">
                <a:solidFill>
                  <a:srgbClr val="000000"/>
                </a:solidFill>
                <a:cs typeface="宋体" panose="02010600030101010101" pitchFamily="2" charset="-122"/>
              </a:rPr>
              <a:t> (y(</a:t>
            </a:r>
            <a:r>
              <a:rPr lang="en-US" altLang="zh-CN" sz="1800" dirty="0" err="1">
                <a:solidFill>
                  <a:srgbClr val="000000"/>
                </a:solidFill>
                <a:cs typeface="宋体" panose="02010600030101010101" pitchFamily="2" charset="-122"/>
              </a:rPr>
              <a:t>i</a:t>
            </a:r>
            <a:r>
              <a:rPr lang="en-US" altLang="zh-CN" sz="1800" dirty="0">
                <a:solidFill>
                  <a:srgbClr val="000000"/>
                </a:solidFill>
                <a:cs typeface="宋体" panose="02010600030101010101" pitchFamily="2" charset="-122"/>
              </a:rPr>
              <a:t>)=(N,N)) delete(</a:t>
            </a:r>
            <a:r>
              <a:rPr lang="en-US" altLang="zh-CN" sz="1800" dirty="0" err="1">
                <a:solidFill>
                  <a:srgbClr val="000000"/>
                </a:solidFill>
                <a:cs typeface="宋体" panose="02010600030101010101" pitchFamily="2" charset="-122"/>
              </a:rPr>
              <a:t>y,Rk</a:t>
            </a:r>
            <a:r>
              <a:rPr lang="en-US" altLang="zh-CN" sz="1800" dirty="0">
                <a:solidFill>
                  <a:srgbClr val="000000"/>
                </a:solidFill>
                <a:cs typeface="宋体" panose="02010600030101010101" pitchFamily="2" charset="-122"/>
              </a:rPr>
              <a:t>);</a:t>
            </a:r>
            <a:endParaRPr lang="zh-CN" altLang="zh-CN" sz="1800" dirty="0">
              <a:solidFill>
                <a:srgbClr val="000000"/>
              </a:solidFill>
              <a:cs typeface="宋体" panose="02010600030101010101" pitchFamily="2" charset="-122"/>
            </a:endParaRPr>
          </a:p>
          <a:p>
            <a:pPr marL="211455" indent="-98425">
              <a:lnSpc>
                <a:spcPct val="90000"/>
              </a:lnSpc>
              <a:spcBef>
                <a:spcPts val="0"/>
              </a:spcBef>
            </a:pPr>
            <a:r>
              <a:rPr lang="en-US" altLang="zh-CN" sz="1800" dirty="0">
                <a:solidFill>
                  <a:srgbClr val="000000"/>
                </a:solidFill>
                <a:cs typeface="宋体" panose="02010600030101010101" pitchFamily="2" charset="-122"/>
              </a:rPr>
              <a:t>          if (z(</a:t>
            </a:r>
            <a:r>
              <a:rPr lang="en-US" altLang="zh-CN" sz="1800" dirty="0" err="1">
                <a:solidFill>
                  <a:srgbClr val="000000"/>
                </a:solidFill>
                <a:cs typeface="宋体" panose="02010600030101010101" pitchFamily="2" charset="-122"/>
              </a:rPr>
              <a:t>i</a:t>
            </a:r>
            <a:r>
              <a:rPr lang="en-US" altLang="zh-CN" sz="1800" dirty="0">
                <a:solidFill>
                  <a:srgbClr val="000000"/>
                </a:solidFill>
                <a:cs typeface="宋体" panose="02010600030101010101" pitchFamily="2" charset="-122"/>
              </a:rPr>
              <a:t>)=(N,N)) delete(</a:t>
            </a:r>
            <a:r>
              <a:rPr lang="en-US" altLang="zh-CN" sz="1800" dirty="0" err="1">
                <a:solidFill>
                  <a:srgbClr val="000000"/>
                </a:solidFill>
                <a:cs typeface="宋体" panose="02010600030101010101" pitchFamily="2" charset="-122"/>
              </a:rPr>
              <a:t>z,Rk</a:t>
            </a:r>
            <a:r>
              <a:rPr lang="en-US" altLang="zh-CN" sz="1800" dirty="0">
                <a:solidFill>
                  <a:srgbClr val="000000"/>
                </a:solidFill>
                <a:cs typeface="宋体" panose="02010600030101010101" pitchFamily="2" charset="-122"/>
              </a:rPr>
              <a:t>);</a:t>
            </a:r>
            <a:endParaRPr lang="zh-CN" altLang="zh-CN" sz="1800" dirty="0">
              <a:solidFill>
                <a:srgbClr val="000000"/>
              </a:solidFill>
              <a:cs typeface="宋体" panose="02010600030101010101" pitchFamily="2" charset="-122"/>
            </a:endParaRPr>
          </a:p>
          <a:p>
            <a:pPr marL="211455" indent="-98425">
              <a:lnSpc>
                <a:spcPct val="90000"/>
              </a:lnSpc>
              <a:spcBef>
                <a:spcPts val="0"/>
              </a:spcBef>
            </a:pPr>
            <a:r>
              <a:rPr lang="en-US" altLang="zh-CN" sz="1800" dirty="0">
                <a:solidFill>
                  <a:srgbClr val="000000"/>
                </a:solidFill>
                <a:cs typeface="宋体" panose="02010600030101010101" pitchFamily="2" charset="-122"/>
              </a:rPr>
              <a:t>    }</a:t>
            </a:r>
            <a:endParaRPr lang="zh-CN" altLang="zh-CN" sz="1800" dirty="0">
              <a:solidFill>
                <a:srgbClr val="000000"/>
              </a:solidFill>
              <a:cs typeface="宋体" panose="02010600030101010101" pitchFamily="2" charset="-122"/>
            </a:endParaRPr>
          </a:p>
        </p:txBody>
      </p:sp>
      <p:sp>
        <p:nvSpPr>
          <p:cNvPr id="3" name="标题 2"/>
          <p:cNvSpPr>
            <a:spLocks noGrp="1"/>
          </p:cNvSpPr>
          <p:nvPr>
            <p:ph type="title"/>
          </p:nvPr>
        </p:nvSpPr>
        <p:spPr>
          <a:xfrm>
            <a:off x="0" y="-1"/>
            <a:ext cx="8229600" cy="808567"/>
          </a:xfrm>
        </p:spPr>
        <p:txBody>
          <a:bodyPr>
            <a:normAutofit/>
          </a:bodyPr>
          <a:lstStyle/>
          <a:p>
            <a:r>
              <a:rPr lang="zh-CN" altLang="zh-CN" dirty="0">
                <a:effectLst/>
              </a:rPr>
              <a:t>基本块的代码生成</a:t>
            </a:r>
            <a:endParaRPr lang="zh-CN" altLang="en-US" dirty="0"/>
          </a:p>
        </p:txBody>
      </p:sp>
      <p:sp>
        <p:nvSpPr>
          <p:cNvPr id="4" name="矩形 3"/>
          <p:cNvSpPr/>
          <p:nvPr/>
        </p:nvSpPr>
        <p:spPr>
          <a:xfrm>
            <a:off x="5436096" y="69903"/>
            <a:ext cx="3312368" cy="738664"/>
          </a:xfrm>
          <a:prstGeom prst="rect">
            <a:avLst/>
          </a:prstGeom>
        </p:spPr>
        <p:txBody>
          <a:bodyPr wrap="square">
            <a:spAutoFit/>
          </a:bodyPr>
          <a:lstStyle/>
          <a:p>
            <a:r>
              <a:rPr lang="zh-CN" altLang="zh-CN" dirty="0"/>
              <a:t>为中间代码</a:t>
            </a:r>
            <a:r>
              <a:rPr lang="en-US" altLang="zh-CN" sz="2400" b="1" dirty="0">
                <a:solidFill>
                  <a:srgbClr val="FF0000"/>
                </a:solidFill>
              </a:rPr>
              <a:t>i:(op, y, z, x)</a:t>
            </a:r>
            <a:r>
              <a:rPr lang="zh-CN" altLang="zh-CN" dirty="0"/>
              <a:t>中</a:t>
            </a:r>
            <a:r>
              <a:rPr lang="zh-CN" altLang="en-US" dirty="0"/>
              <a:t>生成目标代码</a:t>
            </a:r>
          </a:p>
        </p:txBody>
      </p:sp>
    </p:spTree>
    <p:extLst>
      <p:ext uri="{BB962C8B-B14F-4D97-AF65-F5344CB8AC3E}">
        <p14:creationId xmlns:p14="http://schemas.microsoft.com/office/powerpoint/2010/main" val="1920938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
                                            <p:txEl>
                                              <p:pRg st="10" end="1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3186666222"/>
              </p:ext>
            </p:extLst>
          </p:nvPr>
        </p:nvGraphicFramePr>
        <p:xfrm>
          <a:off x="827584" y="1037220"/>
          <a:ext cx="8064501" cy="4054078"/>
        </p:xfrm>
        <a:graphic>
          <a:graphicData uri="http://schemas.openxmlformats.org/drawingml/2006/table">
            <a:tbl>
              <a:tblPr/>
              <a:tblGrid>
                <a:gridCol w="1759967">
                  <a:extLst>
                    <a:ext uri="{9D8B030D-6E8A-4147-A177-3AD203B41FA5}">
                      <a16:colId xmlns:a16="http://schemas.microsoft.com/office/drawing/2014/main" val="20000"/>
                    </a:ext>
                  </a:extLst>
                </a:gridCol>
                <a:gridCol w="1552401">
                  <a:extLst>
                    <a:ext uri="{9D8B030D-6E8A-4147-A177-3AD203B41FA5}">
                      <a16:colId xmlns:a16="http://schemas.microsoft.com/office/drawing/2014/main" val="20001"/>
                    </a:ext>
                  </a:extLst>
                </a:gridCol>
                <a:gridCol w="2461966">
                  <a:extLst>
                    <a:ext uri="{9D8B030D-6E8A-4147-A177-3AD203B41FA5}">
                      <a16:colId xmlns:a16="http://schemas.microsoft.com/office/drawing/2014/main" val="20002"/>
                    </a:ext>
                  </a:extLst>
                </a:gridCol>
                <a:gridCol w="2290167">
                  <a:extLst>
                    <a:ext uri="{9D8B030D-6E8A-4147-A177-3AD203B41FA5}">
                      <a16:colId xmlns:a16="http://schemas.microsoft.com/office/drawing/2014/main" val="20003"/>
                    </a:ext>
                  </a:extLst>
                </a:gridCol>
              </a:tblGrid>
              <a:tr h="457209">
                <a:tc>
                  <a:txBody>
                    <a:bodyPr/>
                    <a:lstStyle/>
                    <a:p>
                      <a:pPr algn="ctr">
                        <a:spcAft>
                          <a:spcPts val="0"/>
                        </a:spcAft>
                      </a:pP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四元式</a:t>
                      </a:r>
                    </a:p>
                  </a:txBody>
                  <a:tcPr marL="68577" marR="6857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spcAft>
                          <a:spcPts val="0"/>
                        </a:spcAft>
                      </a:pPr>
                      <a:r>
                        <a:rPr lang="zh-CN" sz="1800" kern="1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生成的代码</a:t>
                      </a: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spcAft>
                          <a:spcPts val="0"/>
                        </a:spcAft>
                      </a:pPr>
                      <a:r>
                        <a:rPr lang="zh-CN" sz="1800" kern="1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寄存器描述</a:t>
                      </a:r>
                    </a:p>
                  </a:txBody>
                  <a:tcPr marL="68577" marR="68577"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spcAft>
                          <a:spcPts val="0"/>
                        </a:spcAft>
                      </a:pPr>
                      <a:r>
                        <a:rPr lang="zh-CN" sz="1800" kern="10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地址描述器</a:t>
                      </a:r>
                    </a:p>
                  </a:txBody>
                  <a:tcPr marL="68577" marR="68577" marT="0" marB="0" anchor="ctr">
                    <a:lnL w="19050" cap="flat" cmpd="dbl"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799304">
                <a:tc>
                  <a:txBody>
                    <a:bodyPr/>
                    <a:lstStyle/>
                    <a:p>
                      <a:pPr algn="just">
                        <a:spcAft>
                          <a:spcPts val="0"/>
                        </a:spcAft>
                      </a:pPr>
                      <a:r>
                        <a:rPr 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fr-FR"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-,a,b,T1</a:t>
                      </a:r>
                      <a:r>
                        <a:rPr 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endParaRPr lang="zh-CN" altLang="en-US"/>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endParaRPr lang="zh-CN" altLang="en-US"/>
                    </a:p>
                  </a:txBody>
                  <a:tcPr marL="68577" marR="68577"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endParaRPr lang="zh-CN" altLang="en-US" dirty="0"/>
                    </a:p>
                  </a:txBody>
                  <a:tcPr marL="68577" marR="68577" marT="0" marB="0" anchor="ctr">
                    <a:lnL w="19050" cap="flat" cmpd="dbl"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198957">
                <a:tc>
                  <a:txBody>
                    <a:bodyPr/>
                    <a:lstStyle/>
                    <a:p>
                      <a:pPr algn="just">
                        <a:spcAft>
                          <a:spcPts val="0"/>
                        </a:spcAft>
                      </a:pPr>
                      <a:r>
                        <a:rPr 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fr-FR"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-,a,c,T2</a:t>
                      </a:r>
                      <a:r>
                        <a:rPr 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endParaRPr lang="zh-CN" altLang="en-US"/>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endParaRPr lang="zh-CN" altLang="en-US"/>
                    </a:p>
                  </a:txBody>
                  <a:tcPr marL="68577" marR="68577"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endParaRPr lang="zh-CN" altLang="en-US" dirty="0"/>
                    </a:p>
                  </a:txBody>
                  <a:tcPr marL="68577" marR="68577" marT="0" marB="0" anchor="ctr">
                    <a:lnL w="19050" cap="flat" cmpd="dbl"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99304">
                <a:tc>
                  <a:txBody>
                    <a:bodyPr/>
                    <a:lstStyle/>
                    <a:p>
                      <a:pPr algn="just">
                        <a:spcAft>
                          <a:spcPts val="0"/>
                        </a:spcAft>
                      </a:pPr>
                      <a:r>
                        <a:rPr 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fr-FR"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+,T1,T2,T3</a:t>
                      </a:r>
                      <a:r>
                        <a:rPr 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8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endParaRPr lang="zh-CN" altLang="en-US"/>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endParaRPr lang="zh-CN" altLang="en-US"/>
                    </a:p>
                  </a:txBody>
                  <a:tcPr marL="68577" marR="68577"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endParaRPr lang="zh-CN" altLang="en-US" dirty="0"/>
                    </a:p>
                  </a:txBody>
                  <a:tcPr marL="68577" marR="68577" marT="0" marB="0" anchor="ctr">
                    <a:lnL w="19050" cap="flat" cmpd="dbl"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99304">
                <a:tc>
                  <a:txBody>
                    <a:bodyPr/>
                    <a:lstStyle/>
                    <a:p>
                      <a:pPr algn="just">
                        <a:spcBef>
                          <a:spcPts val="600"/>
                        </a:spcBef>
                        <a:spcAft>
                          <a:spcPts val="0"/>
                        </a:spcAft>
                      </a:pP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fr-FR"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+,T2,T3,d</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p>
                  </a:txBody>
                  <a:tcPr marL="68577" marR="6857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endParaRPr lang="zh-CN" altLang="en-US"/>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endParaRPr lang="zh-CN" altLang="en-US"/>
                    </a:p>
                  </a:txBody>
                  <a:tcPr marL="68577" marR="68577"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endParaRPr lang="zh-CN" altLang="en-US" dirty="0"/>
                    </a:p>
                  </a:txBody>
                  <a:tcPr marL="68577" marR="68577" marT="0" marB="0" anchor="ctr">
                    <a:lnL w="19050" cap="flat" cmpd="dbl"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3" name="表格 2"/>
          <p:cNvGraphicFramePr>
            <a:graphicFrameLocks noGrp="1"/>
          </p:cNvGraphicFramePr>
          <p:nvPr>
            <p:extLst>
              <p:ext uri="{D42A27DB-BD31-4B8C-83A1-F6EECF244321}">
                <p14:modId xmlns:p14="http://schemas.microsoft.com/office/powerpoint/2010/main" val="4180163821"/>
              </p:ext>
            </p:extLst>
          </p:nvPr>
        </p:nvGraphicFramePr>
        <p:xfrm>
          <a:off x="2587946" y="1484414"/>
          <a:ext cx="6304534" cy="799304"/>
        </p:xfrm>
        <a:graphic>
          <a:graphicData uri="http://schemas.openxmlformats.org/drawingml/2006/table">
            <a:tbl>
              <a:tblPr/>
              <a:tblGrid>
                <a:gridCol w="1552006">
                  <a:extLst>
                    <a:ext uri="{9D8B030D-6E8A-4147-A177-3AD203B41FA5}">
                      <a16:colId xmlns:a16="http://schemas.microsoft.com/office/drawing/2014/main" val="20000"/>
                    </a:ext>
                  </a:extLst>
                </a:gridCol>
                <a:gridCol w="2462361">
                  <a:extLst>
                    <a:ext uri="{9D8B030D-6E8A-4147-A177-3AD203B41FA5}">
                      <a16:colId xmlns:a16="http://schemas.microsoft.com/office/drawing/2014/main" val="20001"/>
                    </a:ext>
                  </a:extLst>
                </a:gridCol>
                <a:gridCol w="2290167">
                  <a:extLst>
                    <a:ext uri="{9D8B030D-6E8A-4147-A177-3AD203B41FA5}">
                      <a16:colId xmlns:a16="http://schemas.microsoft.com/office/drawing/2014/main" val="20002"/>
                    </a:ext>
                  </a:extLst>
                </a:gridCol>
              </a:tblGrid>
              <a:tr h="799304">
                <a:tc>
                  <a:txBody>
                    <a:bodyPr/>
                    <a:lstStyle/>
                    <a:p>
                      <a:pPr algn="ctr">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MOV </a:t>
                      </a:r>
                      <a:r>
                        <a:rPr lang="en-US" sz="1800" kern="100"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AX,a</a:t>
                      </a: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p>
                      <a:pPr algn="ctr">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SUB </a:t>
                      </a:r>
                      <a:r>
                        <a:rPr lang="en-US" sz="1800" kern="100"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AX,b</a:t>
                      </a:r>
                      <a:endPar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AX</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初始时是空闲的</a:t>
                      </a:r>
                    </a:p>
                    <a:p>
                      <a:pPr algn="ctr">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AX</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包含</a:t>
                      </a: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T1</a:t>
                      </a:r>
                      <a:endPar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nchor="ctr">
                    <a:lnL w="12700" cap="flat" cmpd="sng" algn="ctr">
                      <a:noFill/>
                      <a:prstDash val="solid"/>
                      <a:round/>
                      <a:headEnd type="none" w="med" len="med"/>
                      <a:tailEnd type="none" w="med" len="med"/>
                    </a:lnL>
                    <a:lnR w="19050" cap="flat" cmpd="dbl"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Bef>
                          <a:spcPts val="600"/>
                        </a:spcBef>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T1</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在</a:t>
                      </a: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AX</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中</a:t>
                      </a:r>
                    </a:p>
                  </a:txBody>
                  <a:tcPr marL="68577" marR="68577" marT="0" marB="0" anchor="ctr">
                    <a:lnL w="19050" cap="flat" cmpd="dbl"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537877068"/>
              </p:ext>
            </p:extLst>
          </p:nvPr>
        </p:nvGraphicFramePr>
        <p:xfrm>
          <a:off x="2587946" y="2283718"/>
          <a:ext cx="6304534" cy="1198957"/>
        </p:xfrm>
        <a:graphic>
          <a:graphicData uri="http://schemas.openxmlformats.org/drawingml/2006/table">
            <a:tbl>
              <a:tblPr/>
              <a:tblGrid>
                <a:gridCol w="1552006">
                  <a:extLst>
                    <a:ext uri="{9D8B030D-6E8A-4147-A177-3AD203B41FA5}">
                      <a16:colId xmlns:a16="http://schemas.microsoft.com/office/drawing/2014/main" val="20000"/>
                    </a:ext>
                  </a:extLst>
                </a:gridCol>
                <a:gridCol w="2462361">
                  <a:extLst>
                    <a:ext uri="{9D8B030D-6E8A-4147-A177-3AD203B41FA5}">
                      <a16:colId xmlns:a16="http://schemas.microsoft.com/office/drawing/2014/main" val="20001"/>
                    </a:ext>
                  </a:extLst>
                </a:gridCol>
                <a:gridCol w="2290167">
                  <a:extLst>
                    <a:ext uri="{9D8B030D-6E8A-4147-A177-3AD203B41FA5}">
                      <a16:colId xmlns:a16="http://schemas.microsoft.com/office/drawing/2014/main" val="20002"/>
                    </a:ext>
                  </a:extLst>
                </a:gridCol>
              </a:tblGrid>
              <a:tr h="1198957">
                <a:tc>
                  <a:txBody>
                    <a:bodyPr/>
                    <a:lstStyle/>
                    <a:p>
                      <a:pPr algn="ctr">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MOV </a:t>
                      </a:r>
                      <a:r>
                        <a:rPr lang="en-US" sz="1800" kern="100"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BX,a</a:t>
                      </a: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p>
                      <a:pPr algn="ctr">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SUB </a:t>
                      </a:r>
                      <a:r>
                        <a:rPr lang="en-US" sz="1800" kern="100"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BX,c</a:t>
                      </a:r>
                      <a:endPar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BX</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初始时是空闲的</a:t>
                      </a:r>
                    </a:p>
                    <a:p>
                      <a:pPr algn="ctr">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AX</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包含</a:t>
                      </a: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T1 </a:t>
                      </a:r>
                      <a:endPar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p>
                      <a:pPr algn="ctr">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BX</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包含</a:t>
                      </a: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T2</a:t>
                      </a:r>
                      <a:endPar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nchor="ctr">
                    <a:lnL w="12700" cap="flat" cmpd="sng" algn="ctr">
                      <a:noFill/>
                      <a:prstDash val="solid"/>
                      <a:round/>
                      <a:headEnd type="none" w="med" len="med"/>
                      <a:tailEnd type="none" w="med" len="med"/>
                    </a:lnL>
                    <a:lnR w="19050" cap="flat" cmpd="dbl"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T1</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在</a:t>
                      </a:r>
                      <a:r>
                        <a:rPr lang="fr-FR"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AX</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中</a:t>
                      </a:r>
                    </a:p>
                    <a:p>
                      <a:pPr algn="ctr">
                        <a:spcAft>
                          <a:spcPts val="0"/>
                        </a:spcAft>
                      </a:pPr>
                      <a:r>
                        <a:rPr lang="fr-FR"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T2</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在</a:t>
                      </a:r>
                      <a:r>
                        <a:rPr lang="fr-FR"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BX</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中</a:t>
                      </a:r>
                    </a:p>
                  </a:txBody>
                  <a:tcPr marL="68577" marR="68577" marT="0" marB="0" anchor="ctr">
                    <a:lnL w="19050" cap="flat" cmpd="dbl"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469195593"/>
              </p:ext>
            </p:extLst>
          </p:nvPr>
        </p:nvGraphicFramePr>
        <p:xfrm>
          <a:off x="2587946" y="3500638"/>
          <a:ext cx="6304534" cy="799304"/>
        </p:xfrm>
        <a:graphic>
          <a:graphicData uri="http://schemas.openxmlformats.org/drawingml/2006/table">
            <a:tbl>
              <a:tblPr/>
              <a:tblGrid>
                <a:gridCol w="1552006">
                  <a:extLst>
                    <a:ext uri="{9D8B030D-6E8A-4147-A177-3AD203B41FA5}">
                      <a16:colId xmlns:a16="http://schemas.microsoft.com/office/drawing/2014/main" val="20000"/>
                    </a:ext>
                  </a:extLst>
                </a:gridCol>
                <a:gridCol w="2462361">
                  <a:extLst>
                    <a:ext uri="{9D8B030D-6E8A-4147-A177-3AD203B41FA5}">
                      <a16:colId xmlns:a16="http://schemas.microsoft.com/office/drawing/2014/main" val="20001"/>
                    </a:ext>
                  </a:extLst>
                </a:gridCol>
                <a:gridCol w="2290167">
                  <a:extLst>
                    <a:ext uri="{9D8B030D-6E8A-4147-A177-3AD203B41FA5}">
                      <a16:colId xmlns:a16="http://schemas.microsoft.com/office/drawing/2014/main" val="20002"/>
                    </a:ext>
                  </a:extLst>
                </a:gridCol>
              </a:tblGrid>
              <a:tr h="799304">
                <a:tc>
                  <a:txBody>
                    <a:bodyPr/>
                    <a:lstStyle/>
                    <a:p>
                      <a:pPr algn="ctr">
                        <a:spcBef>
                          <a:spcPts val="600"/>
                        </a:spcBef>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ADD AX,BX</a:t>
                      </a:r>
                      <a:endPar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AX</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包含</a:t>
                      </a: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T3</a:t>
                      </a:r>
                      <a:endPar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p>
                      <a:pPr algn="ctr">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BX</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包含</a:t>
                      </a: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T2</a:t>
                      </a:r>
                      <a:endPar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nchor="ctr">
                    <a:lnL w="12700" cap="flat" cmpd="sng" algn="ctr">
                      <a:noFill/>
                      <a:prstDash val="solid"/>
                      <a:round/>
                      <a:headEnd type="none" w="med" len="med"/>
                      <a:tailEnd type="none" w="med" len="med"/>
                    </a:lnL>
                    <a:lnR w="19050" cap="flat" cmpd="dbl"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T2</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在</a:t>
                      </a: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BX</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中</a:t>
                      </a:r>
                    </a:p>
                    <a:p>
                      <a:pPr algn="ctr">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T3</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在</a:t>
                      </a: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AX</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中</a:t>
                      </a:r>
                    </a:p>
                  </a:txBody>
                  <a:tcPr marL="68577" marR="68577" marT="0" marB="0" anchor="ctr">
                    <a:lnL w="19050" cap="flat" cmpd="dbl"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862533729"/>
              </p:ext>
            </p:extLst>
          </p:nvPr>
        </p:nvGraphicFramePr>
        <p:xfrm>
          <a:off x="2587946" y="4320540"/>
          <a:ext cx="6304534" cy="799304"/>
        </p:xfrm>
        <a:graphic>
          <a:graphicData uri="http://schemas.openxmlformats.org/drawingml/2006/table">
            <a:tbl>
              <a:tblPr/>
              <a:tblGrid>
                <a:gridCol w="1552006">
                  <a:extLst>
                    <a:ext uri="{9D8B030D-6E8A-4147-A177-3AD203B41FA5}">
                      <a16:colId xmlns:a16="http://schemas.microsoft.com/office/drawing/2014/main" val="20000"/>
                    </a:ext>
                  </a:extLst>
                </a:gridCol>
                <a:gridCol w="2462361">
                  <a:extLst>
                    <a:ext uri="{9D8B030D-6E8A-4147-A177-3AD203B41FA5}">
                      <a16:colId xmlns:a16="http://schemas.microsoft.com/office/drawing/2014/main" val="20001"/>
                    </a:ext>
                  </a:extLst>
                </a:gridCol>
                <a:gridCol w="2290167">
                  <a:extLst>
                    <a:ext uri="{9D8B030D-6E8A-4147-A177-3AD203B41FA5}">
                      <a16:colId xmlns:a16="http://schemas.microsoft.com/office/drawing/2014/main" val="20002"/>
                    </a:ext>
                  </a:extLst>
                </a:gridCol>
              </a:tblGrid>
              <a:tr h="799304">
                <a:tc>
                  <a:txBody>
                    <a:bodyPr/>
                    <a:lstStyle/>
                    <a:p>
                      <a:pPr algn="ctr">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ADD </a:t>
                      </a:r>
                      <a:r>
                        <a:rPr lang="en-US" alt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B</a:t>
                      </a: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X,</a:t>
                      </a:r>
                      <a:r>
                        <a:rPr lang="en-US" alt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a:t>
                      </a: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X </a:t>
                      </a:r>
                      <a:endPar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p>
                      <a:pPr algn="ctr">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MOV </a:t>
                      </a:r>
                      <a:r>
                        <a:rPr lang="en-US" sz="1800" kern="100"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d,</a:t>
                      </a:r>
                      <a:r>
                        <a:rPr lang="en-US" altLang="zh-CN" sz="1800" kern="100"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B</a:t>
                      </a:r>
                      <a:r>
                        <a:rPr lang="en-US" sz="1800" kern="100" dirty="0" err="1">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X</a:t>
                      </a:r>
                      <a:endPar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Bef>
                          <a:spcPts val="600"/>
                        </a:spcBef>
                        <a:spcAft>
                          <a:spcPts val="0"/>
                        </a:spcAft>
                      </a:pPr>
                      <a:r>
                        <a:rPr lang="en-US" alt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B</a:t>
                      </a: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X</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包含</a:t>
                      </a: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txBody>
                  <a:tcPr marL="68577" marR="68577" marT="0" marB="0" anchor="ctr">
                    <a:lnL w="12700" cap="flat" cmpd="sng" algn="ctr">
                      <a:noFill/>
                      <a:prstDash val="solid"/>
                      <a:round/>
                      <a:headEnd type="none" w="med" len="med"/>
                      <a:tailEnd type="none" w="med" len="med"/>
                    </a:lnL>
                    <a:lnR w="19050" cap="flat" cmpd="dbl"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d</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在</a:t>
                      </a:r>
                      <a:r>
                        <a:rPr lang="en-US" alt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B</a:t>
                      </a: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X</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中</a:t>
                      </a:r>
                    </a:p>
                    <a:p>
                      <a:pPr algn="ctr">
                        <a:spcAft>
                          <a:spcPts val="0"/>
                        </a:spcAft>
                      </a:pPr>
                      <a:r>
                        <a:rPr lang="en-US"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d</a:t>
                      </a:r>
                      <a:r>
                        <a:rPr lang="zh-CN" sz="1800" kern="1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在存储器中</a:t>
                      </a:r>
                    </a:p>
                  </a:txBody>
                  <a:tcPr marL="68577" marR="68577" marT="0" marB="0" anchor="ctr">
                    <a:lnL w="19050" cap="flat" cmpd="dbl"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7" name="标题 2"/>
          <p:cNvSpPr txBox="1">
            <a:spLocks/>
          </p:cNvSpPr>
          <p:nvPr/>
        </p:nvSpPr>
        <p:spPr>
          <a:xfrm>
            <a:off x="0" y="-1"/>
            <a:ext cx="8229600" cy="808567"/>
          </a:xfrm>
          <a:prstGeom prst="rect">
            <a:avLst/>
          </a:prstGeom>
        </p:spPr>
        <p:txBody>
          <a:bodyPr>
            <a:normAutofit fontScale="77500" lnSpcReduction="20000"/>
          </a:bodyPr>
          <a:lstStyle>
            <a:lvl1pPr algn="l" rtl="0" eaLnBrk="1" latinLnBrk="0" hangingPunct="1">
              <a:spcBef>
                <a:spcPct val="0"/>
              </a:spcBef>
              <a:buNone/>
              <a:defRPr kumimoji="0" sz="3600" b="1" kern="1200">
                <a:solidFill>
                  <a:schemeClr val="tx2"/>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defRPr>
            </a:lvl1pPr>
            <a:extLst/>
          </a:lstStyle>
          <a:p>
            <a:r>
              <a:rPr lang="zh-CN" altLang="en-US" dirty="0">
                <a:effectLst/>
              </a:rPr>
              <a:t>例：对下面的基本块，假定只有</a:t>
            </a:r>
            <a:r>
              <a:rPr lang="en-US" altLang="zh-CN" dirty="0">
                <a:effectLst/>
              </a:rPr>
              <a:t>d</a:t>
            </a:r>
            <a:r>
              <a:rPr lang="zh-CN" altLang="en-US" dirty="0">
                <a:effectLst/>
              </a:rPr>
              <a:t>在</a:t>
            </a:r>
            <a:r>
              <a:rPr lang="zh-CN" altLang="zh-CN" dirty="0">
                <a:effectLst/>
              </a:rPr>
              <a:t>基本块</a:t>
            </a:r>
            <a:r>
              <a:rPr lang="zh-CN" altLang="en-US" dirty="0">
                <a:effectLst/>
              </a:rPr>
              <a:t>出口后活跃，利用刚才介绍的算法生成目标代码。</a:t>
            </a:r>
            <a:endParaRPr lang="zh-CN" altLang="en-US" dirty="0"/>
          </a:p>
        </p:txBody>
      </p:sp>
      <p:graphicFrame>
        <p:nvGraphicFramePr>
          <p:cNvPr id="8" name="表格 7"/>
          <p:cNvGraphicFramePr>
            <a:graphicFrameLocks noGrp="1"/>
          </p:cNvGraphicFramePr>
          <p:nvPr>
            <p:extLst>
              <p:ext uri="{D42A27DB-BD31-4B8C-83A1-F6EECF244321}">
                <p14:modId xmlns:p14="http://schemas.microsoft.com/office/powerpoint/2010/main" val="461222132"/>
              </p:ext>
            </p:extLst>
          </p:nvPr>
        </p:nvGraphicFramePr>
        <p:xfrm>
          <a:off x="3855694" y="35486"/>
          <a:ext cx="5256583" cy="1618115"/>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20000"/>
                    </a:ext>
                  </a:extLst>
                </a:gridCol>
                <a:gridCol w="1728192">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1008112">
                  <a:extLst>
                    <a:ext uri="{9D8B030D-6E8A-4147-A177-3AD203B41FA5}">
                      <a16:colId xmlns:a16="http://schemas.microsoft.com/office/drawing/2014/main" val="20003"/>
                    </a:ext>
                  </a:extLst>
                </a:gridCol>
                <a:gridCol w="936103">
                  <a:extLst>
                    <a:ext uri="{9D8B030D-6E8A-4147-A177-3AD203B41FA5}">
                      <a16:colId xmlns:a16="http://schemas.microsoft.com/office/drawing/2014/main" val="20004"/>
                    </a:ext>
                  </a:extLst>
                </a:gridCol>
              </a:tblGrid>
              <a:tr h="323623">
                <a:tc>
                  <a:txBody>
                    <a:bodyPr/>
                    <a:lstStyle/>
                    <a:p>
                      <a:pPr algn="ctr">
                        <a:spcAft>
                          <a:spcPts val="0"/>
                        </a:spcAft>
                      </a:pPr>
                      <a:r>
                        <a:rPr lang="zh-CN" sz="1600" kern="100" dirty="0">
                          <a:effectLst/>
                        </a:rPr>
                        <a:t>序号</a:t>
                      </a:r>
                      <a:endParaRPr lang="zh-CN" sz="16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dirty="0">
                          <a:effectLst/>
                        </a:rPr>
                        <a:t>四元式</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结果</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左变量</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右变量</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3623">
                <a:tc>
                  <a:txBody>
                    <a:bodyPr/>
                    <a:lstStyle/>
                    <a:p>
                      <a:pPr algn="ctr"/>
                      <a:r>
                        <a:rPr lang="en-US" sz="1800" kern="100" dirty="0">
                          <a:effectLst/>
                        </a:rPr>
                        <a:t>1</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sz="1800" kern="100" dirty="0">
                          <a:effectLst/>
                        </a:rPr>
                        <a:t>（－</a:t>
                      </a:r>
                      <a:r>
                        <a:rPr lang="fr-FR" sz="1800" kern="100" dirty="0">
                          <a:effectLst/>
                        </a:rPr>
                        <a:t>,a,b,T1</a:t>
                      </a:r>
                      <a:r>
                        <a:rPr lang="zh-CN" sz="1800" kern="100" dirty="0">
                          <a:effectLst/>
                        </a:rPr>
                        <a:t>）</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800">
                          <a:solidFill>
                            <a:srgbClr val="000000"/>
                          </a:solidFill>
                          <a:effectLst/>
                          <a:latin typeface="Times New Roman"/>
                          <a:cs typeface="宋体"/>
                        </a:rPr>
                        <a:t>(3,Y)</a:t>
                      </a:r>
                      <a:endParaRPr lang="zh-CN" sz="1800">
                        <a:solidFill>
                          <a:srgbClr val="000000"/>
                        </a:solidFill>
                        <a:effectLst/>
                        <a:latin typeface="Times New Roman"/>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800">
                          <a:solidFill>
                            <a:srgbClr val="000000"/>
                          </a:solidFill>
                          <a:effectLst/>
                          <a:latin typeface="Times New Roman"/>
                          <a:cs typeface="宋体"/>
                        </a:rPr>
                        <a:t>(2,Y)</a:t>
                      </a:r>
                      <a:endParaRPr lang="zh-CN" sz="1800">
                        <a:solidFill>
                          <a:srgbClr val="000000"/>
                        </a:solidFill>
                        <a:effectLst/>
                        <a:latin typeface="Times New Roman"/>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800">
                          <a:solidFill>
                            <a:srgbClr val="000000"/>
                          </a:solidFill>
                          <a:effectLst/>
                          <a:latin typeface="Times New Roman"/>
                          <a:cs typeface="宋体"/>
                        </a:rPr>
                        <a:t>(N,N)</a:t>
                      </a:r>
                      <a:endParaRPr lang="zh-CN" sz="1800">
                        <a:solidFill>
                          <a:srgbClr val="000000"/>
                        </a:solidFill>
                        <a:effectLst/>
                        <a:latin typeface="Times New Roman"/>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23623">
                <a:tc>
                  <a:txBody>
                    <a:bodyPr/>
                    <a:lstStyle/>
                    <a:p>
                      <a:pPr algn="ctr"/>
                      <a:r>
                        <a:rPr lang="en-US" sz="1800" kern="100">
                          <a:effectLst/>
                        </a:rPr>
                        <a:t>2</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sz="1800" kern="100" dirty="0">
                          <a:effectLst/>
                        </a:rPr>
                        <a:t>（－</a:t>
                      </a:r>
                      <a:r>
                        <a:rPr lang="fr-FR" sz="1800" kern="100" dirty="0">
                          <a:effectLst/>
                        </a:rPr>
                        <a:t>,a,c,T2</a:t>
                      </a:r>
                      <a:r>
                        <a:rPr lang="zh-CN" sz="1800" kern="100" dirty="0">
                          <a:effectLst/>
                        </a:rPr>
                        <a:t>）</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800" dirty="0">
                          <a:solidFill>
                            <a:srgbClr val="000000"/>
                          </a:solidFill>
                          <a:effectLst/>
                          <a:latin typeface="Times New Roman"/>
                          <a:cs typeface="宋体"/>
                        </a:rPr>
                        <a:t>(3,Y)</a:t>
                      </a:r>
                      <a:endParaRPr lang="zh-CN" sz="1800" dirty="0">
                        <a:solidFill>
                          <a:srgbClr val="000000"/>
                        </a:solidFill>
                        <a:effectLst/>
                        <a:latin typeface="Times New Roman"/>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800">
                          <a:solidFill>
                            <a:srgbClr val="000000"/>
                          </a:solidFill>
                          <a:effectLst/>
                          <a:latin typeface="Times New Roman"/>
                          <a:cs typeface="宋体"/>
                        </a:rPr>
                        <a:t>(N,N)</a:t>
                      </a:r>
                      <a:endParaRPr lang="zh-CN" sz="1800">
                        <a:solidFill>
                          <a:srgbClr val="000000"/>
                        </a:solidFill>
                        <a:effectLst/>
                        <a:latin typeface="Times New Roman"/>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800">
                          <a:solidFill>
                            <a:srgbClr val="000000"/>
                          </a:solidFill>
                          <a:effectLst/>
                          <a:latin typeface="Times New Roman"/>
                          <a:cs typeface="宋体"/>
                        </a:rPr>
                        <a:t>(N,N)</a:t>
                      </a:r>
                      <a:endParaRPr lang="zh-CN" sz="1800">
                        <a:solidFill>
                          <a:srgbClr val="000000"/>
                        </a:solidFill>
                        <a:effectLst/>
                        <a:latin typeface="Times New Roman"/>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23623">
                <a:tc>
                  <a:txBody>
                    <a:bodyPr/>
                    <a:lstStyle/>
                    <a:p>
                      <a:pPr algn="ctr"/>
                      <a:r>
                        <a:rPr lang="en-US" sz="1800" kern="100">
                          <a:effectLst/>
                        </a:rPr>
                        <a:t>3</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sz="1800" kern="100" dirty="0">
                          <a:effectLst/>
                        </a:rPr>
                        <a:t>（＋</a:t>
                      </a:r>
                      <a:r>
                        <a:rPr lang="fr-FR" sz="1800" kern="100" dirty="0">
                          <a:effectLst/>
                        </a:rPr>
                        <a:t>,T1,T2,T3</a:t>
                      </a:r>
                      <a:r>
                        <a:rPr lang="zh-CN" sz="1800" kern="100" dirty="0">
                          <a:effectLst/>
                        </a:rPr>
                        <a:t>）</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800">
                          <a:solidFill>
                            <a:srgbClr val="000000"/>
                          </a:solidFill>
                          <a:effectLst/>
                          <a:latin typeface="Times New Roman"/>
                          <a:cs typeface="宋体"/>
                        </a:rPr>
                        <a:t>(4,Y)</a:t>
                      </a:r>
                      <a:endParaRPr lang="zh-CN" sz="1800">
                        <a:solidFill>
                          <a:srgbClr val="000000"/>
                        </a:solidFill>
                        <a:effectLst/>
                        <a:latin typeface="Times New Roman"/>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800">
                          <a:solidFill>
                            <a:srgbClr val="000000"/>
                          </a:solidFill>
                          <a:effectLst/>
                          <a:latin typeface="Times New Roman"/>
                          <a:cs typeface="宋体"/>
                        </a:rPr>
                        <a:t>(N,N)</a:t>
                      </a:r>
                      <a:endParaRPr lang="zh-CN" sz="1800">
                        <a:solidFill>
                          <a:srgbClr val="000000"/>
                        </a:solidFill>
                        <a:effectLst/>
                        <a:latin typeface="Times New Roman"/>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800">
                          <a:solidFill>
                            <a:srgbClr val="000000"/>
                          </a:solidFill>
                          <a:effectLst/>
                          <a:latin typeface="Times New Roman"/>
                          <a:cs typeface="宋体"/>
                        </a:rPr>
                        <a:t>(4,Y)</a:t>
                      </a:r>
                      <a:endParaRPr lang="zh-CN" sz="1800">
                        <a:solidFill>
                          <a:srgbClr val="000000"/>
                        </a:solidFill>
                        <a:effectLst/>
                        <a:latin typeface="Times New Roman"/>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23623">
                <a:tc>
                  <a:txBody>
                    <a:bodyPr/>
                    <a:lstStyle/>
                    <a:p>
                      <a:pPr algn="ctr"/>
                      <a:r>
                        <a:rPr lang="en-US" sz="1800" kern="100">
                          <a:effectLst/>
                        </a:rPr>
                        <a:t>4</a:t>
                      </a:r>
                      <a:endParaRPr lang="zh-CN" sz="1800" kern="10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sz="1800" kern="100" dirty="0">
                          <a:effectLst/>
                        </a:rPr>
                        <a:t>（＋</a:t>
                      </a:r>
                      <a:r>
                        <a:rPr lang="fr-FR" sz="1800" kern="100" dirty="0">
                          <a:effectLst/>
                        </a:rPr>
                        <a:t>,T2,T3,d</a:t>
                      </a:r>
                      <a:r>
                        <a:rPr lang="zh-CN" sz="1800" kern="100" dirty="0">
                          <a:effectLst/>
                        </a:rPr>
                        <a:t>）</a:t>
                      </a:r>
                      <a:endParaRPr lang="zh-CN" sz="1800" kern="100" dirty="0">
                        <a:effectLst/>
                        <a:latin typeface="Calibri"/>
                        <a:cs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800">
                          <a:solidFill>
                            <a:srgbClr val="000000"/>
                          </a:solidFill>
                          <a:effectLst/>
                          <a:latin typeface="Times New Roman"/>
                          <a:cs typeface="宋体"/>
                        </a:rPr>
                        <a:t>(N,Y)</a:t>
                      </a:r>
                      <a:endParaRPr lang="zh-CN" sz="1800">
                        <a:solidFill>
                          <a:srgbClr val="000000"/>
                        </a:solidFill>
                        <a:effectLst/>
                        <a:latin typeface="Times New Roman"/>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800">
                          <a:solidFill>
                            <a:srgbClr val="000000"/>
                          </a:solidFill>
                          <a:effectLst/>
                          <a:latin typeface="Times New Roman"/>
                          <a:cs typeface="宋体"/>
                        </a:rPr>
                        <a:t>(N,N)</a:t>
                      </a:r>
                      <a:endParaRPr lang="zh-CN" sz="1800">
                        <a:solidFill>
                          <a:srgbClr val="000000"/>
                        </a:solidFill>
                        <a:effectLst/>
                        <a:latin typeface="Times New Roman"/>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800" dirty="0">
                          <a:solidFill>
                            <a:srgbClr val="000000"/>
                          </a:solidFill>
                          <a:effectLst/>
                          <a:latin typeface="Times New Roman"/>
                          <a:cs typeface="宋体"/>
                        </a:rPr>
                        <a:t>(N,N)</a:t>
                      </a:r>
                      <a:endParaRPr lang="zh-CN" sz="1800" dirty="0">
                        <a:solidFill>
                          <a:srgbClr val="000000"/>
                        </a:solidFill>
                        <a:effectLst/>
                        <a:latin typeface="Times New Roman"/>
                        <a:cs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内容占位符 1"/>
          <p:cNvSpPr txBox="1">
            <a:spLocks/>
          </p:cNvSpPr>
          <p:nvPr/>
        </p:nvSpPr>
        <p:spPr>
          <a:xfrm>
            <a:off x="5796136" y="0"/>
            <a:ext cx="3347864" cy="2499742"/>
          </a:xfrm>
          <a:prstGeom prst="rect">
            <a:avLst/>
          </a:prstGeom>
        </p:spPr>
        <p:style>
          <a:lnRef idx="2">
            <a:schemeClr val="accent1"/>
          </a:lnRef>
          <a:fillRef idx="1">
            <a:schemeClr val="lt1"/>
          </a:fillRef>
          <a:effectRef idx="0">
            <a:schemeClr val="accent1"/>
          </a:effectRef>
          <a:fontRef idx="minor">
            <a:schemeClr val="dk1"/>
          </a:fontRef>
        </p:style>
        <p:txBody>
          <a:bodyPr>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pPr marL="0" indent="0">
              <a:lnSpc>
                <a:spcPct val="90000"/>
              </a:lnSpc>
              <a:spcBef>
                <a:spcPts val="0"/>
              </a:spcBef>
              <a:buNone/>
            </a:pPr>
            <a:r>
              <a:rPr lang="zh-CN" altLang="zh-CN" sz="1500" dirty="0">
                <a:solidFill>
                  <a:srgbClr val="000000"/>
                </a:solidFill>
                <a:cs typeface="Times New Roman" panose="02020603050405020304" pitchFamily="18" charset="0"/>
              </a:rPr>
              <a:t>（</a:t>
            </a:r>
            <a:r>
              <a:rPr lang="en-US" altLang="zh-CN" sz="1500" dirty="0">
                <a:solidFill>
                  <a:srgbClr val="000000"/>
                </a:solidFill>
                <a:cs typeface="宋体" panose="02010600030101010101" pitchFamily="2" charset="-122"/>
              </a:rPr>
              <a:t>1</a:t>
            </a:r>
            <a:r>
              <a:rPr lang="zh-CN" altLang="zh-CN" sz="1500" dirty="0">
                <a:solidFill>
                  <a:srgbClr val="000000"/>
                </a:solidFill>
                <a:cs typeface="Times New Roman" panose="02020603050405020304" pitchFamily="18" charset="0"/>
              </a:rPr>
              <a:t>）</a:t>
            </a:r>
            <a:r>
              <a:rPr lang="en-US" altLang="zh-CN" sz="1500" dirty="0" err="1">
                <a:solidFill>
                  <a:srgbClr val="000000"/>
                </a:solidFill>
                <a:cs typeface="宋体" panose="02010600030101010101" pitchFamily="2" charset="-122"/>
              </a:rPr>
              <a:t>getreg</a:t>
            </a:r>
            <a:r>
              <a:rPr lang="en-US" altLang="zh-CN" sz="1500" dirty="0">
                <a:solidFill>
                  <a:srgbClr val="000000"/>
                </a:solidFill>
                <a:cs typeface="宋体" panose="02010600030101010101" pitchFamily="2" charset="-122"/>
              </a:rPr>
              <a:t>(</a:t>
            </a:r>
            <a:r>
              <a:rPr lang="en-US" altLang="zh-CN" sz="1500" dirty="0" err="1">
                <a:solidFill>
                  <a:srgbClr val="000000"/>
                </a:solidFill>
                <a:cs typeface="宋体" panose="02010600030101010101" pitchFamily="2" charset="-122"/>
              </a:rPr>
              <a:t>i</a:t>
            </a:r>
            <a:r>
              <a:rPr lang="en-US" altLang="zh-CN" sz="1500" dirty="0">
                <a:solidFill>
                  <a:srgbClr val="000000"/>
                </a:solidFill>
                <a:cs typeface="宋体" panose="02010600030101010101" pitchFamily="2" charset="-122"/>
              </a:rPr>
              <a:t>: (</a:t>
            </a:r>
            <a:r>
              <a:rPr lang="en-US" altLang="zh-CN" sz="1500" dirty="0" err="1">
                <a:solidFill>
                  <a:srgbClr val="000000"/>
                </a:solidFill>
                <a:cs typeface="宋体" panose="02010600030101010101" pitchFamily="2" charset="-122"/>
              </a:rPr>
              <a:t>op,y,z,x</a:t>
            </a:r>
            <a:r>
              <a:rPr lang="en-US" altLang="zh-CN" sz="1500" dirty="0">
                <a:solidFill>
                  <a:srgbClr val="000000"/>
                </a:solidFill>
                <a:cs typeface="宋体" panose="02010600030101010101" pitchFamily="2" charset="-122"/>
              </a:rPr>
              <a:t>),R )</a:t>
            </a:r>
            <a:endParaRPr lang="zh-CN" altLang="zh-CN" sz="1500" dirty="0">
              <a:solidFill>
                <a:srgbClr val="000000"/>
              </a:solidFill>
              <a:cs typeface="宋体" panose="02010600030101010101" pitchFamily="2" charset="-122"/>
            </a:endParaRPr>
          </a:p>
          <a:p>
            <a:pPr marL="0" indent="0">
              <a:lnSpc>
                <a:spcPct val="90000"/>
              </a:lnSpc>
              <a:spcBef>
                <a:spcPts val="0"/>
              </a:spcBef>
              <a:buNone/>
            </a:pPr>
            <a:r>
              <a:rPr lang="zh-CN" altLang="zh-CN" sz="1500" dirty="0">
                <a:solidFill>
                  <a:srgbClr val="000000"/>
                </a:solidFill>
                <a:cs typeface="Times New Roman" panose="02020603050405020304" pitchFamily="18" charset="0"/>
              </a:rPr>
              <a:t>（</a:t>
            </a:r>
            <a:r>
              <a:rPr lang="en-US" altLang="zh-CN" sz="1500" dirty="0">
                <a:solidFill>
                  <a:srgbClr val="000000"/>
                </a:solidFill>
                <a:cs typeface="宋体" panose="02010600030101010101" pitchFamily="2" charset="-122"/>
              </a:rPr>
              <a:t>2</a:t>
            </a:r>
            <a:r>
              <a:rPr lang="zh-CN" altLang="zh-CN" sz="1500" dirty="0">
                <a:solidFill>
                  <a:srgbClr val="000000"/>
                </a:solidFill>
                <a:cs typeface="Times New Roman" panose="02020603050405020304" pitchFamily="18" charset="0"/>
              </a:rPr>
              <a:t>）</a:t>
            </a:r>
            <a:r>
              <a:rPr lang="en-US" altLang="zh-CN" sz="1500" dirty="0">
                <a:solidFill>
                  <a:srgbClr val="000000"/>
                </a:solidFill>
                <a:cs typeface="Times New Roman" panose="02020603050405020304" pitchFamily="18" charset="0"/>
              </a:rPr>
              <a:t>if</a:t>
            </a:r>
            <a:r>
              <a:rPr lang="en-US" altLang="zh-CN" sz="1500" dirty="0">
                <a:solidFill>
                  <a:srgbClr val="000000"/>
                </a:solidFill>
                <a:cs typeface="宋体" panose="02010600030101010101" pitchFamily="2" charset="-122"/>
              </a:rPr>
              <a:t> (</a:t>
            </a:r>
            <a:r>
              <a:rPr lang="en-US" altLang="zh-CN" sz="1500" dirty="0" err="1">
                <a:solidFill>
                  <a:srgbClr val="000000"/>
                </a:solidFill>
                <a:cs typeface="宋体" panose="02010600030101010101" pitchFamily="2" charset="-122"/>
              </a:rPr>
              <a:t>addr</a:t>
            </a:r>
            <a:r>
              <a:rPr lang="en-US" altLang="zh-CN" sz="1500" dirty="0">
                <a:solidFill>
                  <a:srgbClr val="000000"/>
                </a:solidFill>
                <a:cs typeface="宋体" panose="02010600030101010101" pitchFamily="2" charset="-122"/>
              </a:rPr>
              <a:t>(y) ≠ R)  {  </a:t>
            </a:r>
            <a:endParaRPr lang="zh-CN" altLang="zh-CN" sz="1500" dirty="0">
              <a:solidFill>
                <a:srgbClr val="000000"/>
              </a:solidFill>
              <a:cs typeface="宋体" panose="02010600030101010101" pitchFamily="2" charset="-122"/>
            </a:endParaRPr>
          </a:p>
          <a:p>
            <a:pPr marL="266700" indent="0">
              <a:lnSpc>
                <a:spcPct val="90000"/>
              </a:lnSpc>
              <a:spcBef>
                <a:spcPts val="0"/>
              </a:spcBef>
              <a:buNone/>
            </a:pPr>
            <a:r>
              <a:rPr lang="nl-NL" altLang="zh-CN" sz="1500" dirty="0">
                <a:solidFill>
                  <a:srgbClr val="000000"/>
                </a:solidFill>
                <a:cs typeface="宋体" panose="02010600030101010101" pitchFamily="2" charset="-122"/>
              </a:rPr>
              <a:t>    genobj(MOV R,addr(y));</a:t>
            </a:r>
            <a:endParaRPr lang="zh-CN" altLang="zh-CN" sz="1500" dirty="0">
              <a:solidFill>
                <a:srgbClr val="000000"/>
              </a:solidFill>
              <a:cs typeface="宋体" panose="02010600030101010101" pitchFamily="2" charset="-122"/>
            </a:endParaRPr>
          </a:p>
          <a:p>
            <a:pPr marL="266700" indent="0">
              <a:lnSpc>
                <a:spcPct val="90000"/>
              </a:lnSpc>
              <a:spcBef>
                <a:spcPts val="0"/>
              </a:spcBef>
              <a:buNone/>
            </a:pPr>
            <a:r>
              <a:rPr lang="nl-NL" altLang="zh-CN" sz="1500" dirty="0">
                <a:solidFill>
                  <a:srgbClr val="000000"/>
                </a:solidFill>
                <a:cs typeface="宋体" panose="02010600030101010101" pitchFamily="2" charset="-122"/>
              </a:rPr>
              <a:t>    }</a:t>
            </a:r>
            <a:endParaRPr lang="zh-CN" altLang="zh-CN" sz="1500" dirty="0">
              <a:solidFill>
                <a:srgbClr val="000000"/>
              </a:solidFill>
              <a:cs typeface="宋体" panose="02010600030101010101" pitchFamily="2" charset="-122"/>
            </a:endParaRPr>
          </a:p>
          <a:p>
            <a:pPr marL="0" indent="0">
              <a:lnSpc>
                <a:spcPct val="90000"/>
              </a:lnSpc>
              <a:spcBef>
                <a:spcPts val="0"/>
              </a:spcBef>
              <a:buNone/>
            </a:pPr>
            <a:r>
              <a:rPr lang="zh-CN" altLang="zh-CN" sz="1500" dirty="0">
                <a:solidFill>
                  <a:srgbClr val="000000"/>
                </a:solidFill>
                <a:cs typeface="宋体" panose="02010600030101010101" pitchFamily="2" charset="-122"/>
              </a:rPr>
              <a:t>（</a:t>
            </a:r>
            <a:r>
              <a:rPr lang="nl-NL" altLang="zh-CN" sz="1500" dirty="0">
                <a:solidFill>
                  <a:srgbClr val="000000"/>
                </a:solidFill>
                <a:cs typeface="宋体" panose="02010600030101010101" pitchFamily="2" charset="-122"/>
              </a:rPr>
              <a:t>3</a:t>
            </a:r>
            <a:r>
              <a:rPr lang="zh-CN" altLang="zh-CN" sz="1500" dirty="0">
                <a:solidFill>
                  <a:srgbClr val="000000"/>
                </a:solidFill>
                <a:cs typeface="宋体" panose="02010600030101010101" pitchFamily="2" charset="-122"/>
              </a:rPr>
              <a:t>）</a:t>
            </a:r>
            <a:r>
              <a:rPr lang="nl-NL" altLang="zh-CN" sz="1500" dirty="0">
                <a:solidFill>
                  <a:srgbClr val="000000"/>
                </a:solidFill>
                <a:cs typeface="宋体" panose="02010600030101010101" pitchFamily="2" charset="-122"/>
              </a:rPr>
              <a:t>genobj(op R,addr(z)) ;</a:t>
            </a:r>
            <a:endParaRPr lang="zh-CN" altLang="zh-CN" sz="1500" dirty="0">
              <a:solidFill>
                <a:srgbClr val="000000"/>
              </a:solidFill>
              <a:cs typeface="宋体" panose="02010600030101010101" pitchFamily="2" charset="-122"/>
            </a:endParaRPr>
          </a:p>
          <a:p>
            <a:pPr marL="0" indent="0">
              <a:lnSpc>
                <a:spcPct val="90000"/>
              </a:lnSpc>
              <a:spcBef>
                <a:spcPts val="0"/>
              </a:spcBef>
              <a:buNone/>
            </a:pPr>
            <a:r>
              <a:rPr lang="zh-CN" altLang="zh-CN" sz="1500" dirty="0">
                <a:solidFill>
                  <a:srgbClr val="000000"/>
                </a:solidFill>
                <a:cs typeface="Times New Roman" panose="02020603050405020304" pitchFamily="18" charset="0"/>
              </a:rPr>
              <a:t>（</a:t>
            </a:r>
            <a:r>
              <a:rPr lang="nl-NL" altLang="zh-CN" sz="1500" dirty="0">
                <a:solidFill>
                  <a:srgbClr val="000000"/>
                </a:solidFill>
                <a:cs typeface="宋体" panose="02010600030101010101" pitchFamily="2" charset="-122"/>
              </a:rPr>
              <a:t>4</a:t>
            </a:r>
            <a:r>
              <a:rPr lang="zh-CN" altLang="zh-CN" sz="1500" dirty="0">
                <a:solidFill>
                  <a:srgbClr val="000000"/>
                </a:solidFill>
                <a:cs typeface="Times New Roman" panose="02020603050405020304" pitchFamily="18" charset="0"/>
              </a:rPr>
              <a:t>）</a:t>
            </a:r>
            <a:r>
              <a:rPr lang="nl-NL" altLang="zh-CN" sz="1500" dirty="0">
                <a:solidFill>
                  <a:srgbClr val="000000"/>
                </a:solidFill>
                <a:cs typeface="宋体" panose="02010600030101010101" pitchFamily="2" charset="-122"/>
              </a:rPr>
              <a:t>delete(y,R); </a:t>
            </a:r>
            <a:endParaRPr lang="zh-CN" altLang="zh-CN" sz="1500" dirty="0">
              <a:solidFill>
                <a:srgbClr val="000000"/>
              </a:solidFill>
              <a:cs typeface="宋体" panose="02010600030101010101" pitchFamily="2" charset="-122"/>
            </a:endParaRPr>
          </a:p>
          <a:p>
            <a:pPr marL="0" indent="0">
              <a:lnSpc>
                <a:spcPct val="90000"/>
              </a:lnSpc>
              <a:spcBef>
                <a:spcPts val="0"/>
              </a:spcBef>
              <a:buNone/>
            </a:pPr>
            <a:r>
              <a:rPr lang="zh-CN" altLang="zh-CN" sz="1500" dirty="0">
                <a:solidFill>
                  <a:srgbClr val="000000"/>
                </a:solidFill>
                <a:cs typeface="Times New Roman" panose="02020603050405020304" pitchFamily="18" charset="0"/>
              </a:rPr>
              <a:t>（</a:t>
            </a:r>
            <a:r>
              <a:rPr lang="nl-NL" altLang="zh-CN" sz="1500" dirty="0">
                <a:solidFill>
                  <a:srgbClr val="000000"/>
                </a:solidFill>
                <a:cs typeface="宋体" panose="02010600030101010101" pitchFamily="2" charset="-122"/>
              </a:rPr>
              <a:t>5</a:t>
            </a:r>
            <a:r>
              <a:rPr lang="zh-CN" altLang="zh-CN" sz="1500" dirty="0">
                <a:solidFill>
                  <a:srgbClr val="000000"/>
                </a:solidFill>
                <a:cs typeface="Times New Roman" panose="02020603050405020304" pitchFamily="18" charset="0"/>
              </a:rPr>
              <a:t>）</a:t>
            </a:r>
            <a:r>
              <a:rPr lang="nl-NL" altLang="zh-CN" sz="1500" dirty="0">
                <a:solidFill>
                  <a:srgbClr val="000000"/>
                </a:solidFill>
                <a:cs typeface="Times New Roman" panose="02020603050405020304" pitchFamily="18" charset="0"/>
              </a:rPr>
              <a:t>fill</a:t>
            </a:r>
            <a:r>
              <a:rPr lang="nl-NL" altLang="zh-CN" sz="1500" dirty="0">
                <a:solidFill>
                  <a:srgbClr val="000000"/>
                </a:solidFill>
                <a:cs typeface="宋体" panose="02010600030101010101" pitchFamily="2" charset="-122"/>
              </a:rPr>
              <a:t>(x,R); </a:t>
            </a:r>
            <a:endParaRPr lang="zh-CN" altLang="zh-CN" sz="1500" dirty="0">
              <a:solidFill>
                <a:srgbClr val="000000"/>
              </a:solidFill>
              <a:cs typeface="宋体" panose="02010600030101010101" pitchFamily="2" charset="-122"/>
            </a:endParaRPr>
          </a:p>
          <a:p>
            <a:pPr marL="0" indent="0">
              <a:lnSpc>
                <a:spcPct val="90000"/>
              </a:lnSpc>
              <a:spcBef>
                <a:spcPts val="0"/>
              </a:spcBef>
              <a:buNone/>
            </a:pPr>
            <a:r>
              <a:rPr lang="zh-CN" altLang="zh-CN" sz="1500" dirty="0">
                <a:solidFill>
                  <a:srgbClr val="000000"/>
                </a:solidFill>
                <a:cs typeface="Times New Roman" panose="02020603050405020304" pitchFamily="18" charset="0"/>
              </a:rPr>
              <a:t>（</a:t>
            </a:r>
            <a:r>
              <a:rPr lang="nl-NL" altLang="zh-CN" sz="1500" dirty="0">
                <a:solidFill>
                  <a:srgbClr val="000000"/>
                </a:solidFill>
                <a:cs typeface="宋体" panose="02010600030101010101" pitchFamily="2" charset="-122"/>
              </a:rPr>
              <a:t>6</a:t>
            </a:r>
            <a:r>
              <a:rPr lang="zh-CN" altLang="zh-CN" sz="1500" dirty="0">
                <a:solidFill>
                  <a:srgbClr val="000000"/>
                </a:solidFill>
                <a:cs typeface="Times New Roman" panose="02020603050405020304" pitchFamily="18" charset="0"/>
              </a:rPr>
              <a:t>）</a:t>
            </a:r>
            <a:r>
              <a:rPr lang="nl-NL" altLang="zh-CN" sz="1500" dirty="0">
                <a:solidFill>
                  <a:srgbClr val="000000"/>
                </a:solidFill>
                <a:cs typeface="宋体" panose="02010600030101010101" pitchFamily="2" charset="-122"/>
              </a:rPr>
              <a:t>for </a:t>
            </a:r>
            <a:r>
              <a:rPr lang="zh-CN" altLang="zh-CN" sz="1500" dirty="0">
                <a:solidFill>
                  <a:srgbClr val="000000"/>
                </a:solidFill>
                <a:cs typeface="Times New Roman" panose="02020603050405020304" pitchFamily="18" charset="0"/>
              </a:rPr>
              <a:t>每个</a:t>
            </a:r>
            <a:r>
              <a:rPr lang="nl-NL" altLang="zh-CN" sz="1500" dirty="0">
                <a:solidFill>
                  <a:srgbClr val="000000"/>
                </a:solidFill>
                <a:cs typeface="宋体" panose="02010600030101010101" pitchFamily="2" charset="-122"/>
              </a:rPr>
              <a:t>Rk ≠R  delete(x,Rk);</a:t>
            </a:r>
            <a:endParaRPr lang="zh-CN" altLang="zh-CN" sz="1500" dirty="0">
              <a:solidFill>
                <a:srgbClr val="000000"/>
              </a:solidFill>
              <a:cs typeface="宋体" panose="02010600030101010101" pitchFamily="2" charset="-122"/>
            </a:endParaRPr>
          </a:p>
          <a:p>
            <a:pPr marL="0" indent="0">
              <a:lnSpc>
                <a:spcPct val="90000"/>
              </a:lnSpc>
              <a:spcBef>
                <a:spcPts val="0"/>
              </a:spcBef>
              <a:buNone/>
            </a:pPr>
            <a:r>
              <a:rPr lang="zh-CN" altLang="zh-CN" sz="1500" dirty="0">
                <a:solidFill>
                  <a:srgbClr val="000000"/>
                </a:solidFill>
                <a:cs typeface="Times New Roman" panose="02020603050405020304" pitchFamily="18" charset="0"/>
              </a:rPr>
              <a:t>（</a:t>
            </a:r>
            <a:r>
              <a:rPr lang="nl-NL" altLang="zh-CN" sz="1500" dirty="0">
                <a:solidFill>
                  <a:srgbClr val="000000"/>
                </a:solidFill>
                <a:cs typeface="宋体" panose="02010600030101010101" pitchFamily="2" charset="-122"/>
              </a:rPr>
              <a:t>7</a:t>
            </a:r>
            <a:r>
              <a:rPr lang="zh-CN" altLang="zh-CN" sz="1500" dirty="0">
                <a:solidFill>
                  <a:srgbClr val="000000"/>
                </a:solidFill>
                <a:cs typeface="Times New Roman" panose="02020603050405020304" pitchFamily="18" charset="0"/>
              </a:rPr>
              <a:t>）</a:t>
            </a:r>
            <a:r>
              <a:rPr lang="nl-NL" altLang="zh-CN" sz="1500" dirty="0">
                <a:solidFill>
                  <a:srgbClr val="000000"/>
                </a:solidFill>
                <a:cs typeface="Times New Roman" panose="02020603050405020304" pitchFamily="18" charset="0"/>
              </a:rPr>
              <a:t>for</a:t>
            </a:r>
            <a:r>
              <a:rPr lang="nl-NL" altLang="zh-CN" sz="1500" dirty="0">
                <a:solidFill>
                  <a:srgbClr val="000000"/>
                </a:solidFill>
                <a:cs typeface="宋体" panose="02010600030101010101" pitchFamily="2" charset="-122"/>
              </a:rPr>
              <a:t> </a:t>
            </a:r>
            <a:r>
              <a:rPr lang="zh-CN" altLang="zh-CN" sz="1500" dirty="0">
                <a:solidFill>
                  <a:srgbClr val="000000"/>
                </a:solidFill>
                <a:cs typeface="Times New Roman" panose="02020603050405020304" pitchFamily="18" charset="0"/>
              </a:rPr>
              <a:t>每个</a:t>
            </a:r>
            <a:r>
              <a:rPr lang="nl-NL" altLang="zh-CN" sz="1500" dirty="0">
                <a:solidFill>
                  <a:srgbClr val="000000"/>
                </a:solidFill>
                <a:cs typeface="宋体" panose="02010600030101010101" pitchFamily="2" charset="-122"/>
              </a:rPr>
              <a:t>Rk  {</a:t>
            </a:r>
            <a:endParaRPr lang="zh-CN" altLang="zh-CN" sz="1500" dirty="0">
              <a:solidFill>
                <a:srgbClr val="000000"/>
              </a:solidFill>
              <a:cs typeface="宋体" panose="02010600030101010101" pitchFamily="2" charset="-122"/>
            </a:endParaRPr>
          </a:p>
          <a:p>
            <a:pPr marL="113030" indent="0">
              <a:lnSpc>
                <a:spcPct val="90000"/>
              </a:lnSpc>
              <a:spcBef>
                <a:spcPts val="0"/>
              </a:spcBef>
              <a:buNone/>
            </a:pPr>
            <a:r>
              <a:rPr lang="nl-NL" altLang="zh-CN" sz="1500" dirty="0">
                <a:solidFill>
                  <a:srgbClr val="000000"/>
                </a:solidFill>
                <a:cs typeface="宋体" panose="02010600030101010101" pitchFamily="2" charset="-122"/>
              </a:rPr>
              <a:t>          if</a:t>
            </a:r>
            <a:r>
              <a:rPr lang="en-US" altLang="zh-CN" sz="1500" dirty="0">
                <a:solidFill>
                  <a:srgbClr val="000000"/>
                </a:solidFill>
                <a:cs typeface="宋体" panose="02010600030101010101" pitchFamily="2" charset="-122"/>
              </a:rPr>
              <a:t> (y(</a:t>
            </a:r>
            <a:r>
              <a:rPr lang="en-US" altLang="zh-CN" sz="1500" dirty="0" err="1">
                <a:solidFill>
                  <a:srgbClr val="000000"/>
                </a:solidFill>
                <a:cs typeface="宋体" panose="02010600030101010101" pitchFamily="2" charset="-122"/>
              </a:rPr>
              <a:t>i</a:t>
            </a:r>
            <a:r>
              <a:rPr lang="en-US" altLang="zh-CN" sz="1500" dirty="0">
                <a:solidFill>
                  <a:srgbClr val="000000"/>
                </a:solidFill>
                <a:cs typeface="宋体" panose="02010600030101010101" pitchFamily="2" charset="-122"/>
              </a:rPr>
              <a:t>)=(N,N)) delete(</a:t>
            </a:r>
            <a:r>
              <a:rPr lang="en-US" altLang="zh-CN" sz="1500" dirty="0" err="1">
                <a:solidFill>
                  <a:srgbClr val="000000"/>
                </a:solidFill>
                <a:cs typeface="宋体" panose="02010600030101010101" pitchFamily="2" charset="-122"/>
              </a:rPr>
              <a:t>y,Rk</a:t>
            </a:r>
            <a:r>
              <a:rPr lang="en-US" altLang="zh-CN" sz="1500" dirty="0">
                <a:solidFill>
                  <a:srgbClr val="000000"/>
                </a:solidFill>
                <a:cs typeface="宋体" panose="02010600030101010101" pitchFamily="2" charset="-122"/>
              </a:rPr>
              <a:t>);</a:t>
            </a:r>
            <a:endParaRPr lang="zh-CN" altLang="zh-CN" sz="1500" dirty="0">
              <a:solidFill>
                <a:srgbClr val="000000"/>
              </a:solidFill>
              <a:cs typeface="宋体" panose="02010600030101010101" pitchFamily="2" charset="-122"/>
            </a:endParaRPr>
          </a:p>
          <a:p>
            <a:pPr marL="113030" indent="0">
              <a:lnSpc>
                <a:spcPct val="90000"/>
              </a:lnSpc>
              <a:spcBef>
                <a:spcPts val="0"/>
              </a:spcBef>
              <a:buNone/>
            </a:pPr>
            <a:r>
              <a:rPr lang="en-US" altLang="zh-CN" sz="1500" dirty="0">
                <a:solidFill>
                  <a:srgbClr val="000000"/>
                </a:solidFill>
                <a:cs typeface="宋体" panose="02010600030101010101" pitchFamily="2" charset="-122"/>
              </a:rPr>
              <a:t>          if (z(</a:t>
            </a:r>
            <a:r>
              <a:rPr lang="en-US" altLang="zh-CN" sz="1500" dirty="0" err="1">
                <a:solidFill>
                  <a:srgbClr val="000000"/>
                </a:solidFill>
                <a:cs typeface="宋体" panose="02010600030101010101" pitchFamily="2" charset="-122"/>
              </a:rPr>
              <a:t>i</a:t>
            </a:r>
            <a:r>
              <a:rPr lang="en-US" altLang="zh-CN" sz="1500" dirty="0">
                <a:solidFill>
                  <a:srgbClr val="000000"/>
                </a:solidFill>
                <a:cs typeface="宋体" panose="02010600030101010101" pitchFamily="2" charset="-122"/>
              </a:rPr>
              <a:t>)=(N,N)) delete(</a:t>
            </a:r>
            <a:r>
              <a:rPr lang="en-US" altLang="zh-CN" sz="1500" dirty="0" err="1">
                <a:solidFill>
                  <a:srgbClr val="000000"/>
                </a:solidFill>
                <a:cs typeface="宋体" panose="02010600030101010101" pitchFamily="2" charset="-122"/>
              </a:rPr>
              <a:t>z,Rk</a:t>
            </a:r>
            <a:r>
              <a:rPr lang="en-US" altLang="zh-CN" sz="1500" dirty="0">
                <a:solidFill>
                  <a:srgbClr val="000000"/>
                </a:solidFill>
                <a:cs typeface="宋体" panose="02010600030101010101" pitchFamily="2" charset="-122"/>
              </a:rPr>
              <a:t>);</a:t>
            </a:r>
            <a:endParaRPr lang="zh-CN" altLang="zh-CN" sz="1500" dirty="0">
              <a:solidFill>
                <a:srgbClr val="000000"/>
              </a:solidFill>
              <a:cs typeface="宋体" panose="02010600030101010101" pitchFamily="2" charset="-122"/>
            </a:endParaRPr>
          </a:p>
          <a:p>
            <a:pPr marL="113030" indent="0">
              <a:lnSpc>
                <a:spcPct val="90000"/>
              </a:lnSpc>
              <a:spcBef>
                <a:spcPts val="0"/>
              </a:spcBef>
              <a:buNone/>
            </a:pPr>
            <a:r>
              <a:rPr lang="en-US" altLang="zh-CN" sz="1500" dirty="0">
                <a:solidFill>
                  <a:srgbClr val="000000"/>
                </a:solidFill>
                <a:cs typeface="宋体" panose="02010600030101010101" pitchFamily="2" charset="-122"/>
              </a:rPr>
              <a:t>      }</a:t>
            </a:r>
            <a:endParaRPr lang="zh-CN" altLang="zh-CN" sz="1500" dirty="0">
              <a:solidFill>
                <a:srgbClr val="000000"/>
              </a:solidFill>
              <a:cs typeface="宋体" panose="02010600030101010101" pitchFamily="2" charset="-122"/>
            </a:endParaRPr>
          </a:p>
        </p:txBody>
      </p:sp>
    </p:spTree>
    <p:extLst>
      <p:ext uri="{BB962C8B-B14F-4D97-AF65-F5344CB8AC3E}">
        <p14:creationId xmlns:p14="http://schemas.microsoft.com/office/powerpoint/2010/main" val="3417768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2"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3"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9" grpId="2" animBg="1"/>
      <p:bldP spid="9" grpId="3"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normAutofit fontScale="90000"/>
          </a:bodyPr>
          <a:lstStyle/>
          <a:p>
            <a:endParaRPr lang="zh-CN" altLang="en-US"/>
          </a:p>
        </p:txBody>
      </p:sp>
    </p:spTree>
    <p:extLst>
      <p:ext uri="{BB962C8B-B14F-4D97-AF65-F5344CB8AC3E}">
        <p14:creationId xmlns:p14="http://schemas.microsoft.com/office/powerpoint/2010/main" val="19912424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560" y="1990818"/>
            <a:ext cx="7128792" cy="769441"/>
          </a:xfrm>
          <a:prstGeom prst="rect">
            <a:avLst/>
          </a:prstGeom>
        </p:spPr>
        <p:txBody>
          <a:bodyPr wrap="square">
            <a:spAutoFit/>
          </a:bodyPr>
          <a:lstStyle/>
          <a:p>
            <a:r>
              <a:rPr lang="en-US" altLang="zh-CN" sz="4400" b="1" dirty="0">
                <a:solidFill>
                  <a:srgbClr val="CC0099"/>
                </a:solidFill>
                <a:ea typeface="隶书" pitchFamily="49" charset="-122"/>
              </a:rPr>
              <a:t>5</a:t>
            </a:r>
            <a:r>
              <a:rPr lang="zh-CN" altLang="en-US" sz="4400" b="1" dirty="0">
                <a:solidFill>
                  <a:srgbClr val="CC0099"/>
                </a:solidFill>
                <a:ea typeface="隶书" pitchFamily="49" charset="-122"/>
              </a:rPr>
              <a:t>、从</a:t>
            </a:r>
            <a:r>
              <a:rPr lang="en-US" altLang="zh-CN" sz="4400" b="1" dirty="0">
                <a:solidFill>
                  <a:srgbClr val="CC0099"/>
                </a:solidFill>
                <a:ea typeface="隶书" pitchFamily="49" charset="-122"/>
              </a:rPr>
              <a:t>DAG</a:t>
            </a:r>
            <a:r>
              <a:rPr lang="zh-CN" altLang="en-US" sz="4400" b="1" dirty="0">
                <a:solidFill>
                  <a:srgbClr val="CC0099"/>
                </a:solidFill>
                <a:ea typeface="隶书" pitchFamily="49" charset="-122"/>
              </a:rPr>
              <a:t>生成目标代码</a:t>
            </a:r>
            <a:endParaRPr lang="en-US" altLang="zh-CN" sz="4400" b="1" dirty="0">
              <a:solidFill>
                <a:srgbClr val="CC0099"/>
              </a:solidFill>
              <a:ea typeface="隶书" pitchFamily="49" charset="-122"/>
            </a:endParaRPr>
          </a:p>
        </p:txBody>
      </p:sp>
    </p:spTree>
    <p:extLst>
      <p:ext uri="{BB962C8B-B14F-4D97-AF65-F5344CB8AC3E}">
        <p14:creationId xmlns:p14="http://schemas.microsoft.com/office/powerpoint/2010/main" val="28554883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79512" y="195486"/>
            <a:ext cx="7772400" cy="457200"/>
          </a:xfrm>
          <a:noFill/>
        </p:spPr>
        <p:txBody>
          <a:bodyPr>
            <a:noAutofit/>
          </a:bodyPr>
          <a:lstStyle/>
          <a:p>
            <a:pPr eaLnBrk="1" hangingPunct="1"/>
            <a:r>
              <a:rPr lang="zh-CN" altLang="en-US" b="1" dirty="0">
                <a:solidFill>
                  <a:srgbClr val="CC0099"/>
                </a:solidFill>
                <a:ea typeface="隶书" pitchFamily="49" charset="-122"/>
              </a:rPr>
              <a:t>从</a:t>
            </a:r>
            <a:r>
              <a:rPr lang="en-US" altLang="zh-CN" b="1" dirty="0">
                <a:solidFill>
                  <a:srgbClr val="CC0099"/>
                </a:solidFill>
                <a:ea typeface="隶书" pitchFamily="49" charset="-122"/>
              </a:rPr>
              <a:t>DAG</a:t>
            </a:r>
            <a:r>
              <a:rPr lang="zh-CN" altLang="en-US" b="1" dirty="0">
                <a:solidFill>
                  <a:srgbClr val="CC0099"/>
                </a:solidFill>
                <a:ea typeface="隶书" pitchFamily="49" charset="-122"/>
              </a:rPr>
              <a:t>生成目标代码</a:t>
            </a:r>
          </a:p>
        </p:txBody>
      </p:sp>
      <p:sp>
        <p:nvSpPr>
          <p:cNvPr id="43011" name="Rectangle 3"/>
          <p:cNvSpPr>
            <a:spLocks noGrp="1" noChangeArrowheads="1"/>
          </p:cNvSpPr>
          <p:nvPr>
            <p:ph type="body" idx="1"/>
          </p:nvPr>
        </p:nvSpPr>
        <p:spPr>
          <a:xfrm>
            <a:off x="685800" y="1143000"/>
            <a:ext cx="7772400" cy="3429000"/>
          </a:xfrm>
        </p:spPr>
        <p:txBody>
          <a:bodyPr>
            <a:normAutofit/>
          </a:bodyPr>
          <a:lstStyle/>
          <a:p>
            <a:r>
              <a:rPr lang="zh-CN" altLang="en-US" sz="2200" dirty="0"/>
              <a:t>为了生成更有效的目标代码，要考虑的另一个问题是：对基本块中的中间代码序列，应按照什么顺序来生成其目标代码呢？ </a:t>
            </a:r>
          </a:p>
          <a:p>
            <a:r>
              <a:rPr lang="zh-CN" altLang="en-US" sz="2200" dirty="0"/>
              <a:t>在描述运算的</a:t>
            </a:r>
            <a:r>
              <a:rPr lang="en-US" altLang="zh-CN" sz="2200" dirty="0"/>
              <a:t>DAG</a:t>
            </a:r>
            <a:r>
              <a:rPr lang="zh-CN" altLang="en-US" sz="2200" dirty="0"/>
              <a:t>中，每个内节点表示一个操作，基本块的运算次序已经体现在</a:t>
            </a:r>
            <a:r>
              <a:rPr lang="en-US" altLang="zh-CN" sz="2200" dirty="0"/>
              <a:t>DAG</a:t>
            </a:r>
            <a:r>
              <a:rPr lang="zh-CN" altLang="en-US" sz="2200" dirty="0"/>
              <a:t>结构中，对一个给定的</a:t>
            </a:r>
            <a:r>
              <a:rPr lang="en-US" altLang="zh-CN" sz="2200" dirty="0"/>
              <a:t>DAG</a:t>
            </a:r>
            <a:r>
              <a:rPr lang="zh-CN" altLang="en-US" sz="2200" dirty="0"/>
              <a:t>，可以很容易地重新组织最终的计算顺序。 </a:t>
            </a:r>
          </a:p>
        </p:txBody>
      </p:sp>
    </p:spTree>
    <p:extLst>
      <p:ext uri="{BB962C8B-B14F-4D97-AF65-F5344CB8AC3E}">
        <p14:creationId xmlns:p14="http://schemas.microsoft.com/office/powerpoint/2010/main" val="2626954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179387" y="119598"/>
            <a:ext cx="5272277"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200" b="1" dirty="0">
                <a:solidFill>
                  <a:srgbClr val="000000"/>
                </a:solidFill>
                <a:latin typeface="宋体" pitchFamily="2" charset="-122"/>
              </a:rPr>
              <a:t>例：赋值语句：</a:t>
            </a:r>
            <a:r>
              <a:rPr lang="en-US" altLang="zh-CN" sz="2200" dirty="0"/>
              <a:t>X </a:t>
            </a:r>
            <a:r>
              <a:rPr lang="zh-CN" altLang="en-US" sz="2200" dirty="0"/>
              <a:t>＝</a:t>
            </a:r>
            <a:r>
              <a:rPr lang="en-US" altLang="zh-CN" sz="2200" dirty="0"/>
              <a:t>(A</a:t>
            </a:r>
            <a:r>
              <a:rPr lang="zh-CN" altLang="en-US" sz="2200" dirty="0"/>
              <a:t>＋</a:t>
            </a:r>
            <a:r>
              <a:rPr lang="en-US" altLang="zh-CN" sz="2200" dirty="0"/>
              <a:t>B)</a:t>
            </a:r>
            <a:r>
              <a:rPr lang="zh-CN" altLang="en-US" sz="2200" dirty="0"/>
              <a:t>－</a:t>
            </a:r>
            <a:r>
              <a:rPr lang="en-US" altLang="zh-CN" sz="2200" dirty="0"/>
              <a:t>(E</a:t>
            </a:r>
            <a:r>
              <a:rPr lang="zh-CN" altLang="en-US" sz="2200" dirty="0"/>
              <a:t>－</a:t>
            </a:r>
            <a:r>
              <a:rPr lang="en-US" altLang="zh-CN" sz="2200" dirty="0"/>
              <a:t>(C</a:t>
            </a:r>
            <a:r>
              <a:rPr lang="zh-CN" altLang="en-US" sz="2200" dirty="0"/>
              <a:t>＋</a:t>
            </a:r>
            <a:r>
              <a:rPr lang="en-US" altLang="zh-CN" sz="2200" dirty="0"/>
              <a:t>D));</a:t>
            </a:r>
          </a:p>
          <a:p>
            <a:pPr eaLnBrk="1" hangingPunct="1">
              <a:spcBef>
                <a:spcPct val="0"/>
              </a:spcBef>
              <a:buFontTx/>
              <a:buNone/>
            </a:pPr>
            <a:r>
              <a:rPr lang="zh-CN" altLang="en-US" sz="2200" b="1" dirty="0">
                <a:solidFill>
                  <a:srgbClr val="000000"/>
                </a:solidFill>
                <a:latin typeface="宋体" pitchFamily="2" charset="-122"/>
              </a:rPr>
              <a:t>的中间代码为：</a:t>
            </a:r>
          </a:p>
        </p:txBody>
      </p:sp>
      <p:pic>
        <p:nvPicPr>
          <p:cNvPr id="44035" name="Picture 68" descr="图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1632" y="0"/>
            <a:ext cx="3112368" cy="247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6" name="Rectangle 69"/>
          <p:cNvSpPr>
            <a:spLocks noChangeArrowheads="1"/>
          </p:cNvSpPr>
          <p:nvPr/>
        </p:nvSpPr>
        <p:spPr bwMode="auto">
          <a:xfrm>
            <a:off x="2196358" y="1888539"/>
            <a:ext cx="1943546" cy="3170099"/>
          </a:xfrm>
          <a:prstGeom prst="rect">
            <a:avLst/>
          </a:prstGeom>
          <a:solidFill>
            <a:schemeClr val="bg1"/>
          </a:solidFill>
          <a:ln w="28575">
            <a:solidFill>
              <a:srgbClr val="00FF00"/>
            </a:solidFill>
            <a:miter lim="800000"/>
            <a:headEnd/>
            <a:tailEnd/>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dirty="0"/>
              <a:t>MOV  AX, A</a:t>
            </a:r>
          </a:p>
          <a:p>
            <a:pPr eaLnBrk="1" hangingPunct="1">
              <a:spcBef>
                <a:spcPct val="0"/>
              </a:spcBef>
              <a:buFontTx/>
              <a:buNone/>
            </a:pPr>
            <a:r>
              <a:rPr lang="en-US" altLang="zh-CN" sz="2000" dirty="0"/>
              <a:t>ADD   AX, B</a:t>
            </a:r>
          </a:p>
          <a:p>
            <a:pPr eaLnBrk="1" hangingPunct="1">
              <a:spcBef>
                <a:spcPct val="0"/>
              </a:spcBef>
              <a:buFontTx/>
              <a:buNone/>
            </a:pPr>
            <a:r>
              <a:rPr lang="en-US" altLang="zh-CN" sz="2000" dirty="0"/>
              <a:t>MOV  BX, C</a:t>
            </a:r>
          </a:p>
          <a:p>
            <a:pPr eaLnBrk="1" hangingPunct="1">
              <a:spcBef>
                <a:spcPct val="0"/>
              </a:spcBef>
              <a:buFontTx/>
              <a:buNone/>
            </a:pPr>
            <a:r>
              <a:rPr lang="en-US" altLang="zh-CN" sz="2000" dirty="0"/>
              <a:t>ADD   BX, D </a:t>
            </a:r>
            <a:r>
              <a:rPr lang="en-US" altLang="zh-CN" sz="2000" dirty="0">
                <a:solidFill>
                  <a:srgbClr val="FF0000"/>
                </a:solidFill>
              </a:rPr>
              <a:t>MOV   T1, AX </a:t>
            </a:r>
            <a:r>
              <a:rPr lang="en-US" altLang="zh-CN" sz="2000" dirty="0"/>
              <a:t>MOV   AX, E  SUB     AX, BX </a:t>
            </a:r>
            <a:r>
              <a:rPr lang="en-US" altLang="zh-CN" sz="2000" dirty="0">
                <a:solidFill>
                  <a:srgbClr val="FF0000"/>
                </a:solidFill>
              </a:rPr>
              <a:t>MOV   BX, T1 </a:t>
            </a:r>
            <a:r>
              <a:rPr lang="en-US" altLang="zh-CN" sz="2000" dirty="0"/>
              <a:t>SUB     BX, AX MOV   X, BX</a:t>
            </a:r>
          </a:p>
        </p:txBody>
      </p:sp>
      <p:sp>
        <p:nvSpPr>
          <p:cNvPr id="2" name="矩形 1"/>
          <p:cNvSpPr/>
          <p:nvPr/>
        </p:nvSpPr>
        <p:spPr>
          <a:xfrm>
            <a:off x="456843" y="1032287"/>
            <a:ext cx="1450861" cy="1446550"/>
          </a:xfrm>
          <a:prstGeom prst="rect">
            <a:avLst/>
          </a:prstGeom>
          <a:ln>
            <a:solidFill>
              <a:schemeClr val="bg2">
                <a:lumMod val="50000"/>
              </a:schemeClr>
            </a:solidFill>
          </a:ln>
        </p:spPr>
        <p:txBody>
          <a:bodyPr wrap="square">
            <a:spAutoFit/>
          </a:bodyPr>
          <a:lstStyle/>
          <a:p>
            <a:pPr lvl="0">
              <a:spcBef>
                <a:spcPct val="0"/>
              </a:spcBef>
            </a:pPr>
            <a:r>
              <a:rPr lang="en-US" altLang="zh-CN" sz="2200" dirty="0">
                <a:solidFill>
                  <a:prstClr val="black"/>
                </a:solidFill>
                <a:latin typeface="Times New Roman" panose="02020603050405020304" pitchFamily="18" charset="0"/>
                <a:cs typeface="Times New Roman" panose="02020603050405020304" pitchFamily="18" charset="0"/>
              </a:rPr>
              <a:t>T1 = A+B               </a:t>
            </a:r>
          </a:p>
          <a:p>
            <a:pPr lvl="0">
              <a:spcBef>
                <a:spcPct val="0"/>
              </a:spcBef>
            </a:pPr>
            <a:r>
              <a:rPr lang="en-US" altLang="zh-CN" sz="2200" dirty="0">
                <a:solidFill>
                  <a:prstClr val="black"/>
                </a:solidFill>
                <a:latin typeface="Times New Roman" panose="02020603050405020304" pitchFamily="18" charset="0"/>
                <a:cs typeface="Times New Roman" panose="02020603050405020304" pitchFamily="18" charset="0"/>
              </a:rPr>
              <a:t>T2 = C+D </a:t>
            </a:r>
          </a:p>
          <a:p>
            <a:pPr lvl="0">
              <a:spcBef>
                <a:spcPct val="0"/>
              </a:spcBef>
            </a:pPr>
            <a:r>
              <a:rPr lang="en-US" altLang="zh-CN" sz="2200" dirty="0">
                <a:solidFill>
                  <a:prstClr val="black"/>
                </a:solidFill>
                <a:latin typeface="Times New Roman" panose="02020603050405020304" pitchFamily="18" charset="0"/>
                <a:cs typeface="Times New Roman" panose="02020603050405020304" pitchFamily="18" charset="0"/>
              </a:rPr>
              <a:t>T3 = E-T2                </a:t>
            </a:r>
          </a:p>
          <a:p>
            <a:pPr lvl="0">
              <a:spcBef>
                <a:spcPct val="0"/>
              </a:spcBef>
            </a:pPr>
            <a:r>
              <a:rPr lang="en-US" altLang="zh-CN" sz="2200" dirty="0">
                <a:solidFill>
                  <a:prstClr val="black"/>
                </a:solidFill>
                <a:latin typeface="Times New Roman" panose="02020603050405020304" pitchFamily="18" charset="0"/>
                <a:cs typeface="Times New Roman" panose="02020603050405020304" pitchFamily="18" charset="0"/>
              </a:rPr>
              <a:t>X = T1-T3</a:t>
            </a:r>
            <a:endParaRPr lang="en-US" altLang="zh-CN" sz="2200" b="1" dirty="0">
              <a:solidFill>
                <a:srgbClr val="000000"/>
              </a:solidFill>
              <a:latin typeface="Times New Roman" panose="02020603050405020304" pitchFamily="18" charset="0"/>
              <a:cs typeface="Times New Roman" panose="02020603050405020304" pitchFamily="18" charset="0"/>
            </a:endParaRPr>
          </a:p>
        </p:txBody>
      </p:sp>
      <p:sp>
        <p:nvSpPr>
          <p:cNvPr id="3" name="直角上箭头 2"/>
          <p:cNvSpPr/>
          <p:nvPr/>
        </p:nvSpPr>
        <p:spPr>
          <a:xfrm rot="5400000">
            <a:off x="1159209" y="2363239"/>
            <a:ext cx="848870" cy="1080071"/>
          </a:xfrm>
          <a:prstGeom prst="bentUp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9" name="Rectangle 3"/>
          <p:cNvSpPr txBox="1">
            <a:spLocks noChangeArrowheads="1"/>
          </p:cNvSpPr>
          <p:nvPr/>
        </p:nvSpPr>
        <p:spPr bwMode="auto">
          <a:xfrm>
            <a:off x="6588224" y="2490269"/>
            <a:ext cx="1944216" cy="2509503"/>
          </a:xfrm>
          <a:prstGeom prst="rect">
            <a:avLst/>
          </a:prstGeom>
          <a:noFill/>
          <a:ln w="9525">
            <a:solidFill>
              <a:srgbClr val="00B050"/>
            </a:solidFill>
            <a:miter lim="800000"/>
            <a:headEnd/>
            <a:tailEnd/>
          </a:ln>
        </p:spPr>
        <p:txBody>
          <a:bodyPr/>
          <a:lstStyle/>
          <a:p>
            <a:pPr marL="342900" indent="-342900" eaLnBrk="1" hangingPunct="1">
              <a:defRPr/>
            </a:pPr>
            <a:r>
              <a:rPr lang="en-US" altLang="zh-CN" sz="2000" kern="0" dirty="0">
                <a:latin typeface="Times New Roman" panose="02020603050405020304" pitchFamily="18" charset="0"/>
                <a:cs typeface="Times New Roman" panose="02020603050405020304" pitchFamily="18" charset="0"/>
              </a:rPr>
              <a:t>MOV AX, C</a:t>
            </a:r>
          </a:p>
          <a:p>
            <a:pPr marL="342900" indent="-342900" eaLnBrk="1" hangingPunct="1">
              <a:defRPr/>
            </a:pPr>
            <a:r>
              <a:rPr lang="en-US" altLang="zh-CN" sz="2000" kern="0" dirty="0">
                <a:latin typeface="Times New Roman" panose="02020603050405020304" pitchFamily="18" charset="0"/>
                <a:cs typeface="Times New Roman" panose="02020603050405020304" pitchFamily="18" charset="0"/>
              </a:rPr>
              <a:t>ADD AX,D</a:t>
            </a:r>
          </a:p>
          <a:p>
            <a:pPr marL="342900" indent="-342900" eaLnBrk="1" hangingPunct="1">
              <a:defRPr/>
            </a:pPr>
            <a:r>
              <a:rPr lang="en-US" altLang="zh-CN" sz="2000" kern="0" dirty="0">
                <a:latin typeface="Times New Roman" panose="02020603050405020304" pitchFamily="18" charset="0"/>
                <a:cs typeface="Times New Roman" panose="02020603050405020304" pitchFamily="18" charset="0"/>
              </a:rPr>
              <a:t>MOV  BX, E</a:t>
            </a:r>
          </a:p>
          <a:p>
            <a:pPr marL="342900" indent="-342900" eaLnBrk="1" hangingPunct="1">
              <a:defRPr/>
            </a:pPr>
            <a:r>
              <a:rPr lang="en-US" altLang="zh-CN" sz="2000" kern="0" dirty="0">
                <a:latin typeface="Times New Roman" panose="02020603050405020304" pitchFamily="18" charset="0"/>
                <a:cs typeface="Times New Roman" panose="02020603050405020304" pitchFamily="18" charset="0"/>
              </a:rPr>
              <a:t>SUB BX, AX</a:t>
            </a:r>
          </a:p>
          <a:p>
            <a:pPr marL="342900" indent="-342900" eaLnBrk="1" hangingPunct="1">
              <a:defRPr/>
            </a:pPr>
            <a:r>
              <a:rPr lang="en-US" altLang="zh-CN" sz="2000" kern="0" dirty="0">
                <a:latin typeface="Times New Roman" panose="02020603050405020304" pitchFamily="18" charset="0"/>
                <a:cs typeface="Times New Roman" panose="02020603050405020304" pitchFamily="18" charset="0"/>
              </a:rPr>
              <a:t>MOV AX, A</a:t>
            </a:r>
          </a:p>
          <a:p>
            <a:pPr marL="342900" indent="-342900" eaLnBrk="1" hangingPunct="1">
              <a:defRPr/>
            </a:pPr>
            <a:r>
              <a:rPr lang="en-US" altLang="zh-CN" sz="2000" kern="0" dirty="0">
                <a:latin typeface="Times New Roman" panose="02020603050405020304" pitchFamily="18" charset="0"/>
                <a:cs typeface="Times New Roman" panose="02020603050405020304" pitchFamily="18" charset="0"/>
              </a:rPr>
              <a:t>ADD AX, B</a:t>
            </a:r>
          </a:p>
          <a:p>
            <a:pPr marL="342900" indent="-342900" eaLnBrk="1" hangingPunct="1">
              <a:defRPr/>
            </a:pPr>
            <a:r>
              <a:rPr lang="en-US" altLang="zh-CN" sz="2000" kern="0" dirty="0">
                <a:latin typeface="Times New Roman" panose="02020603050405020304" pitchFamily="18" charset="0"/>
                <a:cs typeface="Times New Roman" panose="02020603050405020304" pitchFamily="18" charset="0"/>
              </a:rPr>
              <a:t>SUB AX, BX</a:t>
            </a:r>
          </a:p>
          <a:p>
            <a:pPr marL="342900" indent="-342900" eaLnBrk="1" hangingPunct="1">
              <a:defRPr/>
            </a:pPr>
            <a:r>
              <a:rPr lang="en-US" altLang="zh-CN" sz="2000" kern="0" dirty="0">
                <a:latin typeface="Times New Roman" panose="02020603050405020304" pitchFamily="18" charset="0"/>
                <a:cs typeface="Times New Roman" panose="02020603050405020304" pitchFamily="18" charset="0"/>
              </a:rPr>
              <a:t>MOV  X, AX</a:t>
            </a:r>
          </a:p>
          <a:p>
            <a:pPr marL="342900" indent="-342900" eaLnBrk="1" hangingPunct="1">
              <a:defRPr/>
            </a:pPr>
            <a:endParaRPr lang="en-US" altLang="zh-CN" sz="2000" dirty="0">
              <a:latin typeface="Times New Roman" panose="02020603050405020304" pitchFamily="18" charset="0"/>
              <a:cs typeface="Times New Roman" panose="02020603050405020304" pitchFamily="18" charset="0"/>
            </a:endParaRPr>
          </a:p>
        </p:txBody>
      </p:sp>
      <p:sp>
        <p:nvSpPr>
          <p:cNvPr id="10" name="矩形 9"/>
          <p:cNvSpPr/>
          <p:nvPr/>
        </p:nvSpPr>
        <p:spPr>
          <a:xfrm>
            <a:off x="4750148" y="1899079"/>
            <a:ext cx="1244251" cy="1323439"/>
          </a:xfrm>
          <a:prstGeom prst="rect">
            <a:avLst/>
          </a:prstGeom>
          <a:ln>
            <a:solidFill>
              <a:schemeClr val="bg2">
                <a:lumMod val="50000"/>
              </a:schemeClr>
            </a:solidFill>
          </a:ln>
        </p:spPr>
        <p:txBody>
          <a:bodyPr wrap="none">
            <a:spAutoFit/>
          </a:bodyPr>
          <a:lstStyle/>
          <a:p>
            <a:r>
              <a:rPr lang="en-US" altLang="zh-CN" sz="2000" kern="0" dirty="0">
                <a:latin typeface="Times New Roman" panose="02020603050405020304" pitchFamily="18" charset="0"/>
                <a:cs typeface="Times New Roman" panose="02020603050405020304" pitchFamily="18" charset="0"/>
              </a:rPr>
              <a:t>T2 =C+D</a:t>
            </a:r>
          </a:p>
          <a:p>
            <a:r>
              <a:rPr lang="en-US" altLang="zh-CN" sz="2000" kern="0" dirty="0">
                <a:latin typeface="Times New Roman" panose="02020603050405020304" pitchFamily="18" charset="0"/>
                <a:cs typeface="Times New Roman" panose="02020603050405020304" pitchFamily="18" charset="0"/>
              </a:rPr>
              <a:t>T3 =E-T2</a:t>
            </a:r>
          </a:p>
          <a:p>
            <a:r>
              <a:rPr lang="en-US" altLang="zh-CN" sz="2000" kern="0" dirty="0">
                <a:latin typeface="Times New Roman" panose="02020603050405020304" pitchFamily="18" charset="0"/>
                <a:cs typeface="Times New Roman" panose="02020603050405020304" pitchFamily="18" charset="0"/>
              </a:rPr>
              <a:t>T1 = A+B</a:t>
            </a:r>
          </a:p>
          <a:p>
            <a:r>
              <a:rPr lang="en-US" altLang="zh-CN" sz="2000" kern="0" dirty="0">
                <a:latin typeface="Times New Roman" panose="02020603050405020304" pitchFamily="18" charset="0"/>
                <a:cs typeface="Times New Roman" panose="02020603050405020304" pitchFamily="18" charset="0"/>
              </a:rPr>
              <a:t>X=T1-T3</a:t>
            </a:r>
            <a:endParaRPr lang="zh-CN" altLang="en-US" sz="2000" dirty="0">
              <a:latin typeface="Times New Roman" panose="02020603050405020304" pitchFamily="18" charset="0"/>
              <a:cs typeface="Times New Roman" panose="02020603050405020304" pitchFamily="18" charset="0"/>
            </a:endParaRPr>
          </a:p>
        </p:txBody>
      </p:sp>
      <p:sp>
        <p:nvSpPr>
          <p:cNvPr id="11" name="矩形 10"/>
          <p:cNvSpPr/>
          <p:nvPr/>
        </p:nvSpPr>
        <p:spPr>
          <a:xfrm>
            <a:off x="4283968" y="4275905"/>
            <a:ext cx="2286000" cy="600101"/>
          </a:xfrm>
          <a:prstGeom prst="rect">
            <a:avLst/>
          </a:prstGeom>
        </p:spPr>
        <p:txBody>
          <a:bodyPr>
            <a:spAutoFit/>
          </a:bodyPr>
          <a:lstStyle/>
          <a:p>
            <a:pPr lvl="0">
              <a:lnSpc>
                <a:spcPct val="80000"/>
              </a:lnSpc>
              <a:spcBef>
                <a:spcPct val="20000"/>
              </a:spcBef>
              <a:defRPr/>
            </a:pPr>
            <a:r>
              <a:rPr lang="zh-CN" altLang="en-US" sz="2000" b="1" dirty="0">
                <a:solidFill>
                  <a:srgbClr val="7D3C4A"/>
                </a:solidFill>
              </a:rPr>
              <a:t>原因：</a:t>
            </a:r>
            <a:r>
              <a:rPr lang="en-US" altLang="zh-CN" sz="2000" b="1" dirty="0">
                <a:solidFill>
                  <a:srgbClr val="7D3C4A"/>
                </a:solidFill>
              </a:rPr>
              <a:t>X</a:t>
            </a:r>
            <a:r>
              <a:rPr lang="zh-CN" altLang="en-US" sz="2000" b="1" dirty="0">
                <a:solidFill>
                  <a:srgbClr val="7D3C4A"/>
                </a:solidFill>
              </a:rPr>
              <a:t>的计算紧跟在</a:t>
            </a:r>
            <a:r>
              <a:rPr lang="en-US" altLang="zh-CN" sz="2000" b="1" dirty="0">
                <a:solidFill>
                  <a:srgbClr val="7D3C4A"/>
                </a:solidFill>
              </a:rPr>
              <a:t>T1</a:t>
            </a:r>
            <a:r>
              <a:rPr lang="zh-CN" altLang="en-US" sz="2000" b="1" dirty="0">
                <a:solidFill>
                  <a:srgbClr val="7D3C4A"/>
                </a:solidFill>
              </a:rPr>
              <a:t>之后</a:t>
            </a:r>
            <a:endParaRPr lang="zh-CN" altLang="en-US" sz="4000" dirty="0">
              <a:solidFill>
                <a:prstClr val="black"/>
              </a:solidFill>
            </a:endParaRPr>
          </a:p>
        </p:txBody>
      </p:sp>
      <p:sp>
        <p:nvSpPr>
          <p:cNvPr id="12" name="直角上箭头 11"/>
          <p:cNvSpPr/>
          <p:nvPr/>
        </p:nvSpPr>
        <p:spPr>
          <a:xfrm rot="5400000">
            <a:off x="5551697" y="3106918"/>
            <a:ext cx="848870" cy="1080071"/>
          </a:xfrm>
          <a:prstGeom prst="bentUp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 name="矩形 3"/>
          <p:cNvSpPr/>
          <p:nvPr/>
        </p:nvSpPr>
        <p:spPr>
          <a:xfrm>
            <a:off x="2627784" y="796706"/>
            <a:ext cx="2775119" cy="369332"/>
          </a:xfrm>
          <a:prstGeom prst="rect">
            <a:avLst/>
          </a:prstGeom>
        </p:spPr>
        <p:txBody>
          <a:bodyPr wrap="none">
            <a:spAutoFit/>
          </a:bodyPr>
          <a:lstStyle/>
          <a:p>
            <a:r>
              <a:rPr lang="zh-CN" altLang="en-US" b="1" dirty="0">
                <a:ea typeface="楷体_GB2312" pitchFamily="1" charset="-122"/>
              </a:rPr>
              <a:t>利用</a:t>
            </a:r>
            <a:r>
              <a:rPr lang="en-US" altLang="zh-CN" b="1" dirty="0">
                <a:ea typeface="楷体_GB2312" pitchFamily="1" charset="-122"/>
              </a:rPr>
              <a:t>DAG</a:t>
            </a:r>
            <a:r>
              <a:rPr lang="zh-CN" altLang="en-US" b="1" dirty="0">
                <a:ea typeface="楷体_GB2312" pitchFamily="1" charset="-122"/>
              </a:rPr>
              <a:t>重排序后的代码</a:t>
            </a:r>
            <a:endParaRPr lang="zh-CN" altLang="en-US" dirty="0"/>
          </a:p>
        </p:txBody>
      </p:sp>
      <p:sp>
        <p:nvSpPr>
          <p:cNvPr id="5" name="圆角右箭头 4"/>
          <p:cNvSpPr/>
          <p:nvPr/>
        </p:nvSpPr>
        <p:spPr>
          <a:xfrm rot="5400000">
            <a:off x="3384428" y="-307145"/>
            <a:ext cx="718960" cy="3672408"/>
          </a:xfrm>
          <a:prstGeom prst="bentArrow">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2937180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0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6" grpId="0" animBg="1"/>
      <p:bldP spid="3" grpId="0" animBg="1"/>
      <p:bldP spid="9" grpId="0" animBg="1"/>
      <p:bldP spid="10" grpId="0" animBg="1"/>
      <p:bldP spid="11" grpId="0"/>
      <p:bldP spid="12" grpId="0" animBg="1"/>
      <p:bldP spid="4" grpId="0"/>
      <p:bldP spid="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251520" y="29231"/>
            <a:ext cx="7772400" cy="627460"/>
          </a:xfrm>
        </p:spPr>
        <p:txBody>
          <a:bodyPr>
            <a:normAutofit fontScale="90000"/>
          </a:bodyPr>
          <a:lstStyle/>
          <a:p>
            <a:r>
              <a:rPr lang="zh-CN" altLang="zh-CN" dirty="0"/>
              <a:t>为</a:t>
            </a:r>
            <a:r>
              <a:rPr lang="en-US" altLang="zh-CN" dirty="0"/>
              <a:t>DAG</a:t>
            </a:r>
            <a:r>
              <a:rPr lang="zh-CN" altLang="zh-CN" dirty="0"/>
              <a:t>表示的中间代码排序</a:t>
            </a:r>
            <a:endParaRPr lang="zh-CN" altLang="en-US" dirty="0"/>
          </a:p>
        </p:txBody>
      </p:sp>
      <p:sp>
        <p:nvSpPr>
          <p:cNvPr id="46083" name="内容占位符 2"/>
          <p:cNvSpPr>
            <a:spLocks noGrp="1"/>
          </p:cNvSpPr>
          <p:nvPr>
            <p:ph idx="1"/>
          </p:nvPr>
        </p:nvSpPr>
        <p:spPr>
          <a:xfrm>
            <a:off x="273950" y="1938545"/>
            <a:ext cx="6242266" cy="3204955"/>
          </a:xfrm>
        </p:spPr>
        <p:style>
          <a:lnRef idx="2">
            <a:schemeClr val="accent1"/>
          </a:lnRef>
          <a:fillRef idx="1">
            <a:schemeClr val="lt1"/>
          </a:fillRef>
          <a:effectRef idx="0">
            <a:schemeClr val="accent1"/>
          </a:effectRef>
          <a:fontRef idx="minor">
            <a:schemeClr val="dk1"/>
          </a:fontRef>
        </p:style>
        <p:txBody>
          <a:bodyPr>
            <a:normAutofit/>
          </a:bodyPr>
          <a:lstStyle/>
          <a:p>
            <a:pPr lvl="0">
              <a:lnSpc>
                <a:spcPct val="90000"/>
              </a:lnSpc>
              <a:spcBef>
                <a:spcPct val="0"/>
              </a:spcBef>
              <a:buNone/>
            </a:pPr>
            <a:r>
              <a:rPr lang="zh-CN" altLang="zh-CN" sz="1800" b="1" dirty="0">
                <a:solidFill>
                  <a:srgbClr val="0000CC"/>
                </a:solidFill>
              </a:rPr>
              <a:t>（</a:t>
            </a:r>
            <a:r>
              <a:rPr lang="en-US" altLang="zh-CN" sz="1800" b="1" dirty="0">
                <a:solidFill>
                  <a:srgbClr val="0000CC"/>
                </a:solidFill>
              </a:rPr>
              <a:t>2</a:t>
            </a:r>
            <a:r>
              <a:rPr lang="zh-CN" altLang="zh-CN" sz="1800" b="1" dirty="0">
                <a:solidFill>
                  <a:srgbClr val="0000CC"/>
                </a:solidFill>
              </a:rPr>
              <a:t>）</a:t>
            </a:r>
            <a:r>
              <a:rPr lang="zh-CN" altLang="en-US" sz="1800" b="1" dirty="0">
                <a:solidFill>
                  <a:srgbClr val="0000CC"/>
                </a:solidFill>
              </a:rPr>
              <a:t>循环对结点进行排序：</a:t>
            </a:r>
            <a:endParaRPr lang="en-US" altLang="zh-CN" sz="1800" b="1" dirty="0">
              <a:solidFill>
                <a:srgbClr val="0000CC"/>
              </a:solidFill>
            </a:endParaRPr>
          </a:p>
          <a:p>
            <a:pPr lvl="0">
              <a:lnSpc>
                <a:spcPct val="90000"/>
              </a:lnSpc>
              <a:spcBef>
                <a:spcPct val="0"/>
              </a:spcBef>
              <a:buNone/>
            </a:pPr>
            <a:r>
              <a:rPr lang="en-US" altLang="zh-CN" sz="1800" dirty="0"/>
              <a:t>     </a:t>
            </a:r>
            <a:r>
              <a:rPr lang="en-US" altLang="zh-CN" sz="1800" dirty="0" err="1"/>
              <a:t>i</a:t>
            </a:r>
            <a:r>
              <a:rPr lang="en-US" altLang="zh-CN" sz="1800" dirty="0"/>
              <a:t>=N</a:t>
            </a:r>
            <a:r>
              <a:rPr lang="zh-CN" altLang="en-US" sz="1800" dirty="0"/>
              <a:t>；</a:t>
            </a:r>
            <a:endParaRPr lang="en-US" altLang="zh-CN" sz="1800" dirty="0"/>
          </a:p>
          <a:p>
            <a:pPr>
              <a:lnSpc>
                <a:spcPct val="90000"/>
              </a:lnSpc>
              <a:spcBef>
                <a:spcPct val="0"/>
              </a:spcBef>
              <a:buFontTx/>
              <a:buNone/>
            </a:pPr>
            <a:r>
              <a:rPr lang="en-US" altLang="zh-CN" sz="1800" dirty="0"/>
              <a:t>     WHILE </a:t>
            </a:r>
            <a:r>
              <a:rPr lang="zh-CN" altLang="zh-CN" sz="1800" dirty="0"/>
              <a:t>（存在未列入表的内部结点） </a:t>
            </a:r>
            <a:r>
              <a:rPr lang="en-US" altLang="zh-CN" sz="1800" dirty="0"/>
              <a:t>DO {</a:t>
            </a:r>
            <a:endParaRPr lang="zh-CN" altLang="zh-CN" sz="1800" dirty="0"/>
          </a:p>
          <a:p>
            <a:pPr>
              <a:lnSpc>
                <a:spcPct val="90000"/>
              </a:lnSpc>
              <a:spcBef>
                <a:spcPct val="0"/>
              </a:spcBef>
              <a:buFontTx/>
              <a:buNone/>
            </a:pPr>
            <a:r>
              <a:rPr lang="en-US" altLang="zh-CN" sz="1800" dirty="0">
                <a:solidFill>
                  <a:srgbClr val="FF0000"/>
                </a:solidFill>
              </a:rPr>
              <a:t>        </a:t>
            </a:r>
            <a:r>
              <a:rPr lang="zh-CN" altLang="zh-CN" sz="1800" dirty="0">
                <a:solidFill>
                  <a:srgbClr val="FF0000"/>
                </a:solidFill>
              </a:rPr>
              <a:t>选取一个未列入</a:t>
            </a:r>
            <a:r>
              <a:rPr lang="zh-CN" altLang="en-US" sz="1800" dirty="0">
                <a:solidFill>
                  <a:srgbClr val="FF0000"/>
                </a:solidFill>
              </a:rPr>
              <a:t>数组</a:t>
            </a:r>
            <a:r>
              <a:rPr lang="zh-CN" altLang="zh-CN" sz="1800" dirty="0">
                <a:solidFill>
                  <a:srgbClr val="FF0000"/>
                </a:solidFill>
              </a:rPr>
              <a:t>的</a:t>
            </a:r>
            <a:r>
              <a:rPr lang="zh-CN" altLang="en-US" sz="1800" dirty="0">
                <a:solidFill>
                  <a:srgbClr val="FF0000"/>
                </a:solidFill>
              </a:rPr>
              <a:t>、</a:t>
            </a:r>
            <a:r>
              <a:rPr lang="zh-CN" altLang="zh-CN" sz="1800" dirty="0">
                <a:solidFill>
                  <a:srgbClr val="FF0000"/>
                </a:solidFill>
              </a:rPr>
              <a:t>其全部父结点均已列入</a:t>
            </a:r>
            <a:r>
              <a:rPr lang="en-US" altLang="zh-CN" sz="1800" dirty="0">
                <a:solidFill>
                  <a:srgbClr val="FF0000"/>
                </a:solidFill>
              </a:rPr>
              <a:t>T</a:t>
            </a:r>
            <a:endParaRPr lang="zh-CN" altLang="zh-CN" sz="1800" dirty="0">
              <a:solidFill>
                <a:srgbClr val="FF0000"/>
              </a:solidFill>
            </a:endParaRPr>
          </a:p>
          <a:p>
            <a:pPr>
              <a:lnSpc>
                <a:spcPct val="90000"/>
              </a:lnSpc>
              <a:spcBef>
                <a:spcPct val="0"/>
              </a:spcBef>
              <a:buFontTx/>
              <a:buNone/>
            </a:pPr>
            <a:r>
              <a:rPr lang="en-US" altLang="zh-CN" sz="1800" dirty="0">
                <a:solidFill>
                  <a:srgbClr val="FF0000"/>
                </a:solidFill>
              </a:rPr>
              <a:t>            </a:t>
            </a:r>
            <a:r>
              <a:rPr lang="zh-CN" altLang="zh-CN" sz="1800" dirty="0">
                <a:solidFill>
                  <a:srgbClr val="FF0000"/>
                </a:solidFill>
              </a:rPr>
              <a:t>或者没有父结点的结点</a:t>
            </a:r>
            <a:r>
              <a:rPr lang="en-US" altLang="zh-CN" sz="1800" dirty="0">
                <a:solidFill>
                  <a:srgbClr val="FF0000"/>
                </a:solidFill>
              </a:rPr>
              <a:t>n;</a:t>
            </a:r>
            <a:endParaRPr lang="zh-CN" altLang="zh-CN" sz="1800" dirty="0">
              <a:solidFill>
                <a:srgbClr val="FF0000"/>
              </a:solidFill>
            </a:endParaRPr>
          </a:p>
          <a:p>
            <a:pPr>
              <a:lnSpc>
                <a:spcPct val="90000"/>
              </a:lnSpc>
              <a:spcBef>
                <a:spcPct val="0"/>
              </a:spcBef>
              <a:buFontTx/>
              <a:buNone/>
            </a:pPr>
            <a:r>
              <a:rPr lang="en-US" altLang="zh-CN" sz="1800" dirty="0">
                <a:solidFill>
                  <a:srgbClr val="FF0000"/>
                </a:solidFill>
              </a:rPr>
              <a:t>        T[</a:t>
            </a:r>
            <a:r>
              <a:rPr lang="en-US" altLang="zh-CN" sz="1800" dirty="0" err="1">
                <a:solidFill>
                  <a:srgbClr val="FF0000"/>
                </a:solidFill>
              </a:rPr>
              <a:t>i</a:t>
            </a:r>
            <a:r>
              <a:rPr lang="en-US" altLang="zh-CN" sz="1800" dirty="0">
                <a:solidFill>
                  <a:srgbClr val="FF0000"/>
                </a:solidFill>
              </a:rPr>
              <a:t>]=n; </a:t>
            </a:r>
            <a:r>
              <a:rPr lang="en-US" altLang="zh-CN" sz="1800" dirty="0" err="1">
                <a:solidFill>
                  <a:srgbClr val="FF0000"/>
                </a:solidFill>
              </a:rPr>
              <a:t>i</a:t>
            </a:r>
            <a:r>
              <a:rPr lang="en-US" altLang="zh-CN" sz="1800" dirty="0">
                <a:solidFill>
                  <a:srgbClr val="FF0000"/>
                </a:solidFill>
              </a:rPr>
              <a:t>=</a:t>
            </a:r>
            <a:r>
              <a:rPr lang="en-US" altLang="zh-CN" sz="1800" dirty="0" err="1">
                <a:solidFill>
                  <a:srgbClr val="FF0000"/>
                </a:solidFill>
              </a:rPr>
              <a:t>i</a:t>
            </a:r>
            <a:r>
              <a:rPr lang="en-US" altLang="zh-CN" sz="1800" dirty="0">
                <a:solidFill>
                  <a:srgbClr val="FF0000"/>
                </a:solidFill>
              </a:rPr>
              <a:t> - 1;    /*</a:t>
            </a:r>
            <a:r>
              <a:rPr lang="zh-CN" altLang="zh-CN" sz="1800" dirty="0">
                <a:solidFill>
                  <a:srgbClr val="FF0000"/>
                </a:solidFill>
              </a:rPr>
              <a:t>将</a:t>
            </a:r>
            <a:r>
              <a:rPr lang="en-US" altLang="zh-CN" sz="1800" dirty="0">
                <a:solidFill>
                  <a:srgbClr val="FF0000"/>
                </a:solidFill>
              </a:rPr>
              <a:t> n </a:t>
            </a:r>
            <a:r>
              <a:rPr lang="zh-CN" altLang="zh-CN" sz="1800" dirty="0">
                <a:solidFill>
                  <a:srgbClr val="FF0000"/>
                </a:solidFill>
              </a:rPr>
              <a:t>列入表中；</a:t>
            </a:r>
            <a:r>
              <a:rPr lang="en-US" altLang="zh-CN" sz="1800" dirty="0">
                <a:solidFill>
                  <a:srgbClr val="FF0000"/>
                </a:solidFill>
              </a:rPr>
              <a:t>*/</a:t>
            </a:r>
            <a:endParaRPr lang="zh-CN" altLang="zh-CN" sz="1800" dirty="0">
              <a:solidFill>
                <a:srgbClr val="FF0000"/>
              </a:solidFill>
            </a:endParaRPr>
          </a:p>
          <a:p>
            <a:pPr>
              <a:lnSpc>
                <a:spcPct val="90000"/>
              </a:lnSpc>
              <a:spcBef>
                <a:spcPct val="0"/>
              </a:spcBef>
              <a:buFontTx/>
              <a:buNone/>
            </a:pPr>
            <a:r>
              <a:rPr lang="en-US" altLang="zh-CN" sz="1800" dirty="0">
                <a:solidFill>
                  <a:srgbClr val="FF0000"/>
                </a:solidFill>
              </a:rPr>
              <a:t>        WHILE (n</a:t>
            </a:r>
            <a:r>
              <a:rPr lang="zh-CN" altLang="zh-CN" sz="1800" dirty="0">
                <a:solidFill>
                  <a:srgbClr val="FF0000"/>
                </a:solidFill>
              </a:rPr>
              <a:t>的最左子结点</a:t>
            </a:r>
            <a:r>
              <a:rPr lang="en-US" altLang="zh-CN" sz="1800" dirty="0">
                <a:solidFill>
                  <a:srgbClr val="FF0000"/>
                </a:solidFill>
              </a:rPr>
              <a:t>m</a:t>
            </a:r>
            <a:r>
              <a:rPr lang="zh-CN" altLang="zh-CN" sz="1800" dirty="0">
                <a:solidFill>
                  <a:srgbClr val="FF0000"/>
                </a:solidFill>
              </a:rPr>
              <a:t>不是叶结点并且其</a:t>
            </a:r>
            <a:br>
              <a:rPr lang="en-US" altLang="zh-CN" sz="1800" dirty="0">
                <a:solidFill>
                  <a:srgbClr val="FF0000"/>
                </a:solidFill>
              </a:rPr>
            </a:br>
            <a:r>
              <a:rPr lang="en-US" altLang="zh-CN" sz="1800" dirty="0">
                <a:solidFill>
                  <a:srgbClr val="FF0000"/>
                </a:solidFill>
              </a:rPr>
              <a:t>            </a:t>
            </a:r>
            <a:r>
              <a:rPr lang="zh-CN" altLang="zh-CN" sz="1800" dirty="0">
                <a:solidFill>
                  <a:srgbClr val="FF0000"/>
                </a:solidFill>
              </a:rPr>
              <a:t>所有父结点均已列入表中</a:t>
            </a:r>
            <a:r>
              <a:rPr lang="en-US" altLang="zh-CN" sz="1800" dirty="0">
                <a:solidFill>
                  <a:srgbClr val="FF0000"/>
                </a:solidFill>
              </a:rPr>
              <a:t>)  DO  {</a:t>
            </a:r>
            <a:endParaRPr lang="zh-CN" altLang="zh-CN" sz="1800" dirty="0">
              <a:solidFill>
                <a:srgbClr val="FF0000"/>
              </a:solidFill>
            </a:endParaRPr>
          </a:p>
          <a:p>
            <a:pPr>
              <a:lnSpc>
                <a:spcPct val="90000"/>
              </a:lnSpc>
              <a:spcBef>
                <a:spcPct val="0"/>
              </a:spcBef>
              <a:buFontTx/>
              <a:buNone/>
            </a:pPr>
            <a:r>
              <a:rPr lang="en-US" altLang="zh-CN" sz="1800" dirty="0">
                <a:solidFill>
                  <a:srgbClr val="0000CC"/>
                </a:solidFill>
              </a:rPr>
              <a:t>            T[</a:t>
            </a:r>
            <a:r>
              <a:rPr lang="en-US" altLang="zh-CN" sz="1800" dirty="0" err="1">
                <a:solidFill>
                  <a:srgbClr val="0000CC"/>
                </a:solidFill>
              </a:rPr>
              <a:t>i</a:t>
            </a:r>
            <a:r>
              <a:rPr lang="en-US" altLang="zh-CN" sz="1800" dirty="0">
                <a:solidFill>
                  <a:srgbClr val="0000CC"/>
                </a:solidFill>
              </a:rPr>
              <a:t>]=m; </a:t>
            </a:r>
            <a:r>
              <a:rPr lang="en-US" altLang="zh-CN" sz="1800" dirty="0" err="1">
                <a:solidFill>
                  <a:srgbClr val="0000CC"/>
                </a:solidFill>
              </a:rPr>
              <a:t>i</a:t>
            </a:r>
            <a:r>
              <a:rPr lang="en-US" altLang="zh-CN" sz="1800" dirty="0">
                <a:solidFill>
                  <a:srgbClr val="0000CC"/>
                </a:solidFill>
              </a:rPr>
              <a:t>=</a:t>
            </a:r>
            <a:r>
              <a:rPr lang="en-US" altLang="zh-CN" sz="1800" dirty="0" err="1">
                <a:solidFill>
                  <a:srgbClr val="0000CC"/>
                </a:solidFill>
              </a:rPr>
              <a:t>i</a:t>
            </a:r>
            <a:r>
              <a:rPr lang="en-US" altLang="zh-CN" sz="1800" dirty="0">
                <a:solidFill>
                  <a:srgbClr val="0000CC"/>
                </a:solidFill>
              </a:rPr>
              <a:t> -1;    /*</a:t>
            </a:r>
            <a:r>
              <a:rPr lang="zh-CN" altLang="zh-CN" sz="1800" dirty="0">
                <a:solidFill>
                  <a:srgbClr val="0000CC"/>
                </a:solidFill>
              </a:rPr>
              <a:t>将</a:t>
            </a:r>
            <a:r>
              <a:rPr lang="en-US" altLang="zh-CN" sz="1800" dirty="0">
                <a:solidFill>
                  <a:srgbClr val="0000CC"/>
                </a:solidFill>
              </a:rPr>
              <a:t>m</a:t>
            </a:r>
            <a:r>
              <a:rPr lang="zh-CN" altLang="zh-CN" sz="1800" dirty="0">
                <a:solidFill>
                  <a:srgbClr val="0000CC"/>
                </a:solidFill>
              </a:rPr>
              <a:t>列入表中</a:t>
            </a:r>
            <a:r>
              <a:rPr lang="en-US" altLang="zh-CN" sz="1800" dirty="0">
                <a:solidFill>
                  <a:srgbClr val="0000CC"/>
                </a:solidFill>
              </a:rPr>
              <a:t>*/</a:t>
            </a:r>
            <a:endParaRPr lang="zh-CN" altLang="zh-CN" sz="1800" dirty="0">
              <a:solidFill>
                <a:srgbClr val="0000CC"/>
              </a:solidFill>
            </a:endParaRPr>
          </a:p>
          <a:p>
            <a:pPr>
              <a:lnSpc>
                <a:spcPct val="90000"/>
              </a:lnSpc>
              <a:spcBef>
                <a:spcPct val="0"/>
              </a:spcBef>
              <a:buFontTx/>
              <a:buNone/>
            </a:pPr>
            <a:r>
              <a:rPr lang="en-US" altLang="zh-CN" sz="1800" dirty="0">
                <a:solidFill>
                  <a:srgbClr val="0000CC"/>
                </a:solidFill>
              </a:rPr>
              <a:t>            n</a:t>
            </a:r>
            <a:r>
              <a:rPr lang="zh-CN" altLang="zh-CN" sz="1800" dirty="0">
                <a:solidFill>
                  <a:srgbClr val="0000CC"/>
                </a:solidFill>
              </a:rPr>
              <a:t>＝</a:t>
            </a:r>
            <a:r>
              <a:rPr lang="en-US" altLang="zh-CN" sz="1800" dirty="0">
                <a:solidFill>
                  <a:srgbClr val="0000CC"/>
                </a:solidFill>
              </a:rPr>
              <a:t>m;</a:t>
            </a:r>
            <a:endParaRPr lang="zh-CN" altLang="zh-CN" sz="1800" dirty="0">
              <a:solidFill>
                <a:srgbClr val="0000CC"/>
              </a:solidFill>
            </a:endParaRPr>
          </a:p>
          <a:p>
            <a:pPr>
              <a:lnSpc>
                <a:spcPct val="90000"/>
              </a:lnSpc>
              <a:spcBef>
                <a:spcPct val="0"/>
              </a:spcBef>
              <a:buFontTx/>
              <a:buNone/>
            </a:pPr>
            <a:r>
              <a:rPr lang="en-US" altLang="zh-CN" sz="1800" dirty="0">
                <a:solidFill>
                  <a:srgbClr val="FF0000"/>
                </a:solidFill>
              </a:rPr>
              <a:t>         }</a:t>
            </a:r>
            <a:endParaRPr lang="zh-CN" altLang="zh-CN" sz="1800" dirty="0">
              <a:solidFill>
                <a:srgbClr val="FF0000"/>
              </a:solidFill>
            </a:endParaRPr>
          </a:p>
          <a:p>
            <a:pPr>
              <a:lnSpc>
                <a:spcPct val="90000"/>
              </a:lnSpc>
              <a:spcBef>
                <a:spcPct val="0"/>
              </a:spcBef>
              <a:buFontTx/>
              <a:buNone/>
            </a:pPr>
            <a:r>
              <a:rPr lang="en-US" altLang="zh-CN" sz="1800" dirty="0">
                <a:solidFill>
                  <a:srgbClr val="FF0000"/>
                </a:solidFill>
              </a:rPr>
              <a:t>      }</a:t>
            </a:r>
            <a:endParaRPr lang="zh-CN" altLang="zh-CN" sz="1800" dirty="0">
              <a:solidFill>
                <a:srgbClr val="FF0000"/>
              </a:solidFill>
            </a:endParaRPr>
          </a:p>
        </p:txBody>
      </p:sp>
      <p:sp>
        <p:nvSpPr>
          <p:cNvPr id="2" name="矩形 1"/>
          <p:cNvSpPr/>
          <p:nvPr/>
        </p:nvSpPr>
        <p:spPr>
          <a:xfrm>
            <a:off x="273950" y="1347614"/>
            <a:ext cx="6242266" cy="5909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65760" lvl="0" indent="-256032">
              <a:lnSpc>
                <a:spcPct val="90000"/>
              </a:lnSpc>
              <a:spcBef>
                <a:spcPct val="0"/>
              </a:spcBef>
              <a:buClr>
                <a:srgbClr val="2DA2BF"/>
              </a:buClr>
              <a:buSzPct val="68000"/>
            </a:pPr>
            <a:r>
              <a:rPr lang="zh-CN" altLang="zh-CN" b="1" dirty="0">
                <a:solidFill>
                  <a:srgbClr val="0000CC"/>
                </a:solidFill>
                <a:latin typeface="宋体" panose="02010600030101010101" pitchFamily="2" charset="-122"/>
                <a:ea typeface="宋体" panose="02010600030101010101" pitchFamily="2" charset="-122"/>
              </a:rPr>
              <a:t>（</a:t>
            </a:r>
            <a:r>
              <a:rPr lang="en-US" altLang="zh-CN" b="1" dirty="0">
                <a:solidFill>
                  <a:srgbClr val="0000CC"/>
                </a:solidFill>
                <a:latin typeface="宋体" panose="02010600030101010101" pitchFamily="2" charset="-122"/>
                <a:ea typeface="宋体" panose="02010600030101010101" pitchFamily="2" charset="-122"/>
              </a:rPr>
              <a:t>1</a:t>
            </a:r>
            <a:r>
              <a:rPr lang="zh-CN" altLang="zh-CN" b="1" dirty="0">
                <a:solidFill>
                  <a:srgbClr val="0000CC"/>
                </a:solidFill>
                <a:latin typeface="宋体" panose="02010600030101010101" pitchFamily="2" charset="-122"/>
                <a:ea typeface="宋体" panose="02010600030101010101" pitchFamily="2" charset="-122"/>
              </a:rPr>
              <a:t>）</a:t>
            </a:r>
            <a:r>
              <a:rPr lang="zh-CN" altLang="en-US" b="1" dirty="0">
                <a:solidFill>
                  <a:srgbClr val="0000CC"/>
                </a:solidFill>
                <a:latin typeface="宋体" panose="02010600030101010101" pitchFamily="2" charset="-122"/>
                <a:ea typeface="宋体" panose="02010600030101010101" pitchFamily="2" charset="-122"/>
              </a:rPr>
              <a:t>初始化：</a:t>
            </a:r>
            <a:endParaRPr lang="en-US" altLang="zh-CN" b="1" dirty="0">
              <a:solidFill>
                <a:srgbClr val="0000CC"/>
              </a:solidFill>
              <a:latin typeface="宋体" panose="02010600030101010101" pitchFamily="2" charset="-122"/>
              <a:ea typeface="宋体" panose="02010600030101010101" pitchFamily="2" charset="-122"/>
            </a:endParaRPr>
          </a:p>
          <a:p>
            <a:pPr marL="365760" lvl="0" indent="-256032">
              <a:lnSpc>
                <a:spcPct val="90000"/>
              </a:lnSpc>
              <a:spcBef>
                <a:spcPct val="0"/>
              </a:spcBef>
              <a:buClr>
                <a:srgbClr val="2DA2BF"/>
              </a:buClr>
              <a:buSzPct val="68000"/>
            </a:pPr>
            <a:r>
              <a:rPr lang="en-US" altLang="zh-CN" dirty="0">
                <a:solidFill>
                  <a:prstClr val="black"/>
                </a:solidFill>
                <a:latin typeface="宋体" panose="02010600030101010101" pitchFamily="2" charset="-122"/>
                <a:ea typeface="宋体" panose="02010600030101010101" pitchFamily="2" charset="-122"/>
              </a:rPr>
              <a:t>      FOR k=1 TO N DO T[K]=0;   /*</a:t>
            </a:r>
            <a:r>
              <a:rPr lang="zh-CN" altLang="zh-CN" dirty="0">
                <a:solidFill>
                  <a:prstClr val="black"/>
                </a:solidFill>
                <a:latin typeface="宋体" panose="02010600030101010101" pitchFamily="2" charset="-122"/>
                <a:ea typeface="宋体" panose="02010600030101010101" pitchFamily="2" charset="-122"/>
              </a:rPr>
              <a:t>置初值</a:t>
            </a:r>
            <a:r>
              <a:rPr lang="en-US" altLang="zh-CN" dirty="0">
                <a:solidFill>
                  <a:prstClr val="black"/>
                </a:solidFill>
                <a:latin typeface="宋体" panose="02010600030101010101" pitchFamily="2" charset="-122"/>
                <a:ea typeface="宋体" panose="02010600030101010101" pitchFamily="2" charset="-122"/>
              </a:rPr>
              <a:t>*/</a:t>
            </a:r>
            <a:endParaRPr lang="zh-CN" altLang="zh-CN" dirty="0">
              <a:solidFill>
                <a:prstClr val="black"/>
              </a:solidFill>
              <a:latin typeface="宋体" panose="02010600030101010101" pitchFamily="2" charset="-122"/>
              <a:ea typeface="宋体" panose="02010600030101010101" pitchFamily="2" charset="-122"/>
            </a:endParaRPr>
          </a:p>
        </p:txBody>
      </p:sp>
      <p:sp>
        <p:nvSpPr>
          <p:cNvPr id="3" name="矩形 2"/>
          <p:cNvSpPr/>
          <p:nvPr/>
        </p:nvSpPr>
        <p:spPr>
          <a:xfrm>
            <a:off x="179512" y="701283"/>
            <a:ext cx="6696744" cy="646331"/>
          </a:xfrm>
          <a:prstGeom prst="rect">
            <a:avLst/>
          </a:prstGeom>
        </p:spPr>
        <p:txBody>
          <a:bodyPr wrap="square">
            <a:spAutoFit/>
          </a:bodyPr>
          <a:lstStyle/>
          <a:p>
            <a:r>
              <a:rPr lang="zh-CN" altLang="zh-CN" dirty="0"/>
              <a:t>输入是带有标记的</a:t>
            </a:r>
            <a:r>
              <a:rPr lang="en-US" altLang="zh-CN" dirty="0"/>
              <a:t>DAG</a:t>
            </a:r>
            <a:r>
              <a:rPr lang="zh-CN" altLang="zh-CN" dirty="0"/>
              <a:t>，内部结点的顺序号为</a:t>
            </a:r>
            <a:r>
              <a:rPr lang="en-US" altLang="zh-CN" dirty="0"/>
              <a:t>1</a:t>
            </a:r>
            <a:r>
              <a:rPr lang="zh-CN" altLang="zh-CN" dirty="0"/>
              <a:t>，</a:t>
            </a:r>
            <a:r>
              <a:rPr lang="en-US" altLang="zh-CN" dirty="0"/>
              <a:t>2…</a:t>
            </a:r>
            <a:r>
              <a:rPr lang="zh-CN" altLang="zh-CN" dirty="0"/>
              <a:t>，</a:t>
            </a:r>
            <a:r>
              <a:rPr lang="en-US" altLang="zh-CN" dirty="0"/>
              <a:t>N</a:t>
            </a:r>
            <a:r>
              <a:rPr lang="zh-CN" altLang="zh-CN" dirty="0"/>
              <a:t>。</a:t>
            </a:r>
          </a:p>
          <a:p>
            <a:r>
              <a:rPr lang="zh-CN" altLang="zh-CN" dirty="0"/>
              <a:t>输出是一个数组</a:t>
            </a:r>
            <a:r>
              <a:rPr lang="en-US" altLang="zh-CN" dirty="0"/>
              <a:t>T</a:t>
            </a:r>
            <a:r>
              <a:rPr lang="zh-CN" altLang="zh-CN" dirty="0"/>
              <a:t>，存放排序后的</a:t>
            </a:r>
            <a:r>
              <a:rPr lang="en-US" altLang="zh-CN" dirty="0"/>
              <a:t>DAG</a:t>
            </a:r>
            <a:r>
              <a:rPr lang="zh-CN" altLang="zh-CN" dirty="0"/>
              <a:t>结点。</a:t>
            </a:r>
          </a:p>
        </p:txBody>
      </p:sp>
      <p:sp>
        <p:nvSpPr>
          <p:cNvPr id="7" name="内容占位符 2"/>
          <p:cNvSpPr txBox="1">
            <a:spLocks/>
          </p:cNvSpPr>
          <p:nvPr/>
        </p:nvSpPr>
        <p:spPr>
          <a:xfrm>
            <a:off x="4468569" y="4690547"/>
            <a:ext cx="4641564" cy="452953"/>
          </a:xfrm>
          <a:prstGeom prst="rect">
            <a:avLst/>
          </a:prstGeom>
        </p:spPr>
        <p:style>
          <a:lnRef idx="2">
            <a:schemeClr val="accent1"/>
          </a:lnRef>
          <a:fillRef idx="1">
            <a:schemeClr val="lt1"/>
          </a:fillRef>
          <a:effectRef idx="0">
            <a:schemeClr val="accent1"/>
          </a:effectRef>
          <a:fontRef idx="minor">
            <a:schemeClr val="dk1"/>
          </a:fontRef>
        </p:style>
        <p:txBody>
          <a:bodyPr vert="horz">
            <a:normAutofit fontScale="92500"/>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pPr>
              <a:spcBef>
                <a:spcPct val="0"/>
              </a:spcBef>
              <a:buFontTx/>
              <a:buNone/>
            </a:pPr>
            <a:r>
              <a:rPr lang="zh-CN" altLang="zh-CN" sz="1800" dirty="0"/>
              <a:t>最后</a:t>
            </a:r>
            <a:r>
              <a:rPr lang="en-US" altLang="zh-CN" sz="1800" dirty="0"/>
              <a:t>T[1],T[2],…,T[N]</a:t>
            </a:r>
            <a:r>
              <a:rPr lang="zh-CN" altLang="zh-CN" sz="1800" dirty="0"/>
              <a:t>即为所求的结点顺序</a:t>
            </a:r>
            <a:endParaRPr lang="zh-CN" altLang="en-US" sz="1800" dirty="0"/>
          </a:p>
        </p:txBody>
      </p:sp>
      <p:pic>
        <p:nvPicPr>
          <p:cNvPr id="4" name="Picture 68" descr="图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216" y="483518"/>
            <a:ext cx="2627783" cy="2092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1817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22860"/>
            <a:ext cx="8229600" cy="576064"/>
          </a:xfrm>
        </p:spPr>
        <p:txBody>
          <a:bodyPr>
            <a:normAutofit fontScale="90000"/>
          </a:bodyPr>
          <a:lstStyle/>
          <a:p>
            <a:r>
              <a:rPr lang="zh-CN" altLang="en-US" dirty="0"/>
              <a:t>例：利用</a:t>
            </a:r>
            <a:r>
              <a:rPr lang="en-US" altLang="zh-CN" dirty="0"/>
              <a:t>DAG</a:t>
            </a:r>
            <a:r>
              <a:rPr lang="zh-CN" altLang="en-US" dirty="0"/>
              <a:t>重排下述中间代码</a:t>
            </a:r>
          </a:p>
        </p:txBody>
      </p:sp>
      <p:sp>
        <p:nvSpPr>
          <p:cNvPr id="7" name="内容占位符 2"/>
          <p:cNvSpPr txBox="1">
            <a:spLocks/>
          </p:cNvSpPr>
          <p:nvPr/>
        </p:nvSpPr>
        <p:spPr>
          <a:xfrm>
            <a:off x="4067944" y="1938545"/>
            <a:ext cx="5076056" cy="2793445"/>
          </a:xfrm>
          <a:prstGeom prst="rect">
            <a:avLst/>
          </a:prstGeom>
        </p:spPr>
        <p:style>
          <a:lnRef idx="2">
            <a:schemeClr val="accent1"/>
          </a:lnRef>
          <a:fillRef idx="1">
            <a:schemeClr val="lt1"/>
          </a:fillRef>
          <a:effectRef idx="0">
            <a:schemeClr val="accent1"/>
          </a:effectRef>
          <a:fontRef idx="minor">
            <a:schemeClr val="dk1"/>
          </a:fontRef>
        </p:style>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pPr marL="365125" indent="-365125">
              <a:lnSpc>
                <a:spcPct val="90000"/>
              </a:lnSpc>
              <a:spcBef>
                <a:spcPct val="0"/>
              </a:spcBef>
              <a:buFont typeface="Wingdings 3"/>
              <a:buNone/>
            </a:pPr>
            <a:r>
              <a:rPr lang="zh-CN" altLang="zh-CN" sz="1600" b="1" dirty="0">
                <a:solidFill>
                  <a:srgbClr val="0000CC"/>
                </a:solidFill>
              </a:rPr>
              <a:t>（</a:t>
            </a:r>
            <a:r>
              <a:rPr lang="en-US" altLang="zh-CN" sz="1600" b="1" dirty="0">
                <a:solidFill>
                  <a:srgbClr val="0000CC"/>
                </a:solidFill>
              </a:rPr>
              <a:t>2</a:t>
            </a:r>
            <a:r>
              <a:rPr lang="zh-CN" altLang="zh-CN" sz="1600" b="1" dirty="0">
                <a:solidFill>
                  <a:srgbClr val="0000CC"/>
                </a:solidFill>
              </a:rPr>
              <a:t>）</a:t>
            </a:r>
            <a:r>
              <a:rPr lang="zh-CN" altLang="en-US" sz="1600" b="1" dirty="0">
                <a:solidFill>
                  <a:srgbClr val="0000CC"/>
                </a:solidFill>
              </a:rPr>
              <a:t>循环对结点进行排序：</a:t>
            </a:r>
            <a:endParaRPr lang="en-US" altLang="zh-CN" sz="1600" b="1" dirty="0">
              <a:solidFill>
                <a:srgbClr val="0000CC"/>
              </a:solidFill>
            </a:endParaRPr>
          </a:p>
          <a:p>
            <a:pPr marL="365125" indent="-365125">
              <a:lnSpc>
                <a:spcPct val="90000"/>
              </a:lnSpc>
              <a:spcBef>
                <a:spcPct val="0"/>
              </a:spcBef>
              <a:buFont typeface="Wingdings 3"/>
              <a:buNone/>
            </a:pPr>
            <a:r>
              <a:rPr lang="en-US" altLang="zh-CN" sz="1600" dirty="0" err="1"/>
              <a:t>i</a:t>
            </a:r>
            <a:r>
              <a:rPr lang="en-US" altLang="zh-CN" sz="1600" dirty="0"/>
              <a:t>=N</a:t>
            </a:r>
            <a:r>
              <a:rPr lang="zh-CN" altLang="en-US" sz="1600" dirty="0"/>
              <a:t>；</a:t>
            </a:r>
            <a:endParaRPr lang="en-US" altLang="zh-CN" sz="1600" dirty="0"/>
          </a:p>
          <a:p>
            <a:pPr marL="365125" indent="-365125">
              <a:lnSpc>
                <a:spcPct val="90000"/>
              </a:lnSpc>
              <a:spcBef>
                <a:spcPct val="0"/>
              </a:spcBef>
              <a:buFontTx/>
              <a:buNone/>
            </a:pPr>
            <a:r>
              <a:rPr lang="en-US" altLang="zh-CN" sz="1600" dirty="0"/>
              <a:t>WHILE </a:t>
            </a:r>
            <a:r>
              <a:rPr lang="zh-CN" altLang="zh-CN" sz="1600" dirty="0"/>
              <a:t>（存在未列入表的内部结点） </a:t>
            </a:r>
            <a:r>
              <a:rPr lang="en-US" altLang="zh-CN" sz="1600" dirty="0"/>
              <a:t>DO {</a:t>
            </a:r>
            <a:endParaRPr lang="zh-CN" altLang="zh-CN" sz="1600" dirty="0"/>
          </a:p>
          <a:p>
            <a:pPr marL="365125" indent="-365125">
              <a:lnSpc>
                <a:spcPct val="90000"/>
              </a:lnSpc>
              <a:spcBef>
                <a:spcPct val="0"/>
              </a:spcBef>
              <a:buFontTx/>
              <a:buNone/>
            </a:pPr>
            <a:r>
              <a:rPr lang="en-US" altLang="zh-CN" sz="1600" dirty="0">
                <a:solidFill>
                  <a:srgbClr val="FF0000"/>
                </a:solidFill>
              </a:rPr>
              <a:t>    </a:t>
            </a:r>
            <a:r>
              <a:rPr lang="zh-CN" altLang="zh-CN" sz="1600" dirty="0">
                <a:solidFill>
                  <a:srgbClr val="FF0000"/>
                </a:solidFill>
              </a:rPr>
              <a:t>选取一个未列入</a:t>
            </a:r>
            <a:r>
              <a:rPr lang="zh-CN" altLang="en-US" sz="1600" dirty="0">
                <a:solidFill>
                  <a:srgbClr val="FF0000"/>
                </a:solidFill>
              </a:rPr>
              <a:t>数组</a:t>
            </a:r>
            <a:r>
              <a:rPr lang="zh-CN" altLang="zh-CN" sz="1600" dirty="0">
                <a:solidFill>
                  <a:srgbClr val="FF0000"/>
                </a:solidFill>
              </a:rPr>
              <a:t>的</a:t>
            </a:r>
            <a:r>
              <a:rPr lang="zh-CN" altLang="en-US" sz="1600" dirty="0">
                <a:solidFill>
                  <a:srgbClr val="FF0000"/>
                </a:solidFill>
              </a:rPr>
              <a:t>、</a:t>
            </a:r>
            <a:r>
              <a:rPr lang="zh-CN" altLang="zh-CN" sz="1600" dirty="0">
                <a:solidFill>
                  <a:srgbClr val="FF0000"/>
                </a:solidFill>
              </a:rPr>
              <a:t>其全部父结点均已列入</a:t>
            </a:r>
            <a:r>
              <a:rPr lang="en-US" altLang="zh-CN" sz="1600" dirty="0">
                <a:solidFill>
                  <a:srgbClr val="FF0000"/>
                </a:solidFill>
              </a:rPr>
              <a:t>T</a:t>
            </a:r>
            <a:endParaRPr lang="zh-CN" altLang="zh-CN" sz="1600" dirty="0">
              <a:solidFill>
                <a:srgbClr val="FF0000"/>
              </a:solidFill>
            </a:endParaRPr>
          </a:p>
          <a:p>
            <a:pPr marL="365125" indent="-365125">
              <a:lnSpc>
                <a:spcPct val="90000"/>
              </a:lnSpc>
              <a:spcBef>
                <a:spcPct val="0"/>
              </a:spcBef>
              <a:buFontTx/>
              <a:buNone/>
            </a:pPr>
            <a:r>
              <a:rPr lang="en-US" altLang="zh-CN" sz="1600" dirty="0">
                <a:solidFill>
                  <a:srgbClr val="FF0000"/>
                </a:solidFill>
              </a:rPr>
              <a:t>        </a:t>
            </a:r>
            <a:r>
              <a:rPr lang="zh-CN" altLang="zh-CN" sz="1600" dirty="0">
                <a:solidFill>
                  <a:srgbClr val="FF0000"/>
                </a:solidFill>
              </a:rPr>
              <a:t>或者没有父结点的结点</a:t>
            </a:r>
            <a:r>
              <a:rPr lang="en-US" altLang="zh-CN" sz="1600" dirty="0">
                <a:solidFill>
                  <a:srgbClr val="FF0000"/>
                </a:solidFill>
              </a:rPr>
              <a:t>n;</a:t>
            </a:r>
            <a:endParaRPr lang="zh-CN" altLang="zh-CN" sz="1600" dirty="0">
              <a:solidFill>
                <a:srgbClr val="FF0000"/>
              </a:solidFill>
            </a:endParaRPr>
          </a:p>
          <a:p>
            <a:pPr marL="365125" indent="-365125">
              <a:lnSpc>
                <a:spcPct val="90000"/>
              </a:lnSpc>
              <a:spcBef>
                <a:spcPct val="0"/>
              </a:spcBef>
              <a:buFontTx/>
              <a:buNone/>
            </a:pPr>
            <a:r>
              <a:rPr lang="en-US" altLang="zh-CN" sz="1600" dirty="0">
                <a:solidFill>
                  <a:srgbClr val="FF0000"/>
                </a:solidFill>
              </a:rPr>
              <a:t>    T[</a:t>
            </a:r>
            <a:r>
              <a:rPr lang="en-US" altLang="zh-CN" sz="1600" dirty="0" err="1">
                <a:solidFill>
                  <a:srgbClr val="FF0000"/>
                </a:solidFill>
              </a:rPr>
              <a:t>i</a:t>
            </a:r>
            <a:r>
              <a:rPr lang="en-US" altLang="zh-CN" sz="1600" dirty="0">
                <a:solidFill>
                  <a:srgbClr val="FF0000"/>
                </a:solidFill>
              </a:rPr>
              <a:t>]=n; </a:t>
            </a:r>
            <a:r>
              <a:rPr lang="en-US" altLang="zh-CN" sz="1600" dirty="0" err="1">
                <a:solidFill>
                  <a:srgbClr val="FF0000"/>
                </a:solidFill>
              </a:rPr>
              <a:t>i</a:t>
            </a:r>
            <a:r>
              <a:rPr lang="en-US" altLang="zh-CN" sz="1600" dirty="0">
                <a:solidFill>
                  <a:srgbClr val="FF0000"/>
                </a:solidFill>
              </a:rPr>
              <a:t>=</a:t>
            </a:r>
            <a:r>
              <a:rPr lang="en-US" altLang="zh-CN" sz="1600" dirty="0" err="1">
                <a:solidFill>
                  <a:srgbClr val="FF0000"/>
                </a:solidFill>
              </a:rPr>
              <a:t>i</a:t>
            </a:r>
            <a:r>
              <a:rPr lang="en-US" altLang="zh-CN" sz="1600" dirty="0">
                <a:solidFill>
                  <a:srgbClr val="FF0000"/>
                </a:solidFill>
              </a:rPr>
              <a:t> - 1;    /*</a:t>
            </a:r>
            <a:r>
              <a:rPr lang="zh-CN" altLang="zh-CN" sz="1600" dirty="0">
                <a:solidFill>
                  <a:srgbClr val="FF0000"/>
                </a:solidFill>
              </a:rPr>
              <a:t>将</a:t>
            </a:r>
            <a:r>
              <a:rPr lang="en-US" altLang="zh-CN" sz="1600" dirty="0">
                <a:solidFill>
                  <a:srgbClr val="FF0000"/>
                </a:solidFill>
              </a:rPr>
              <a:t> n </a:t>
            </a:r>
            <a:r>
              <a:rPr lang="zh-CN" altLang="zh-CN" sz="1600" dirty="0">
                <a:solidFill>
                  <a:srgbClr val="FF0000"/>
                </a:solidFill>
              </a:rPr>
              <a:t>列入表中；</a:t>
            </a:r>
            <a:r>
              <a:rPr lang="en-US" altLang="zh-CN" sz="1600" dirty="0">
                <a:solidFill>
                  <a:srgbClr val="FF0000"/>
                </a:solidFill>
              </a:rPr>
              <a:t>*/</a:t>
            </a:r>
            <a:endParaRPr lang="zh-CN" altLang="zh-CN" sz="1600" dirty="0">
              <a:solidFill>
                <a:srgbClr val="FF0000"/>
              </a:solidFill>
            </a:endParaRPr>
          </a:p>
          <a:p>
            <a:pPr marL="365125" indent="-365125">
              <a:lnSpc>
                <a:spcPct val="90000"/>
              </a:lnSpc>
              <a:spcBef>
                <a:spcPct val="0"/>
              </a:spcBef>
              <a:buFontTx/>
              <a:buNone/>
            </a:pPr>
            <a:r>
              <a:rPr lang="en-US" altLang="zh-CN" sz="1600" dirty="0">
                <a:solidFill>
                  <a:srgbClr val="FF0000"/>
                </a:solidFill>
              </a:rPr>
              <a:t>    WHILE (n</a:t>
            </a:r>
            <a:r>
              <a:rPr lang="zh-CN" altLang="zh-CN" sz="1600" dirty="0">
                <a:solidFill>
                  <a:srgbClr val="FF0000"/>
                </a:solidFill>
              </a:rPr>
              <a:t>的最左子结点</a:t>
            </a:r>
            <a:r>
              <a:rPr lang="en-US" altLang="zh-CN" sz="1600" dirty="0">
                <a:solidFill>
                  <a:srgbClr val="FF0000"/>
                </a:solidFill>
              </a:rPr>
              <a:t>m</a:t>
            </a:r>
            <a:r>
              <a:rPr lang="zh-CN" altLang="zh-CN" sz="1600" dirty="0">
                <a:solidFill>
                  <a:srgbClr val="FF0000"/>
                </a:solidFill>
              </a:rPr>
              <a:t>不是叶结点并且其</a:t>
            </a:r>
            <a:br>
              <a:rPr lang="en-US" altLang="zh-CN" sz="1600" dirty="0">
                <a:solidFill>
                  <a:srgbClr val="FF0000"/>
                </a:solidFill>
              </a:rPr>
            </a:br>
            <a:r>
              <a:rPr lang="en-US" altLang="zh-CN" sz="1600" dirty="0">
                <a:solidFill>
                  <a:srgbClr val="FF0000"/>
                </a:solidFill>
              </a:rPr>
              <a:t>        </a:t>
            </a:r>
            <a:r>
              <a:rPr lang="zh-CN" altLang="zh-CN" sz="1600" dirty="0">
                <a:solidFill>
                  <a:srgbClr val="FF0000"/>
                </a:solidFill>
              </a:rPr>
              <a:t>所有父结点均已列入表中</a:t>
            </a:r>
            <a:r>
              <a:rPr lang="en-US" altLang="zh-CN" sz="1600" dirty="0">
                <a:solidFill>
                  <a:srgbClr val="FF0000"/>
                </a:solidFill>
              </a:rPr>
              <a:t>)  DO  {</a:t>
            </a:r>
            <a:endParaRPr lang="zh-CN" altLang="zh-CN" sz="1600" dirty="0">
              <a:solidFill>
                <a:srgbClr val="FF0000"/>
              </a:solidFill>
            </a:endParaRPr>
          </a:p>
          <a:p>
            <a:pPr marL="365125" indent="-365125">
              <a:lnSpc>
                <a:spcPct val="90000"/>
              </a:lnSpc>
              <a:spcBef>
                <a:spcPct val="0"/>
              </a:spcBef>
              <a:buFontTx/>
              <a:buNone/>
            </a:pPr>
            <a:r>
              <a:rPr lang="en-US" altLang="zh-CN" sz="1600" dirty="0">
                <a:solidFill>
                  <a:srgbClr val="0000CC"/>
                </a:solidFill>
              </a:rPr>
              <a:t>        T[</a:t>
            </a:r>
            <a:r>
              <a:rPr lang="en-US" altLang="zh-CN" sz="1600" dirty="0" err="1">
                <a:solidFill>
                  <a:srgbClr val="0000CC"/>
                </a:solidFill>
              </a:rPr>
              <a:t>i</a:t>
            </a:r>
            <a:r>
              <a:rPr lang="en-US" altLang="zh-CN" sz="1600" dirty="0">
                <a:solidFill>
                  <a:srgbClr val="0000CC"/>
                </a:solidFill>
              </a:rPr>
              <a:t>]=m; </a:t>
            </a:r>
            <a:r>
              <a:rPr lang="en-US" altLang="zh-CN" sz="1600" dirty="0" err="1">
                <a:solidFill>
                  <a:srgbClr val="0000CC"/>
                </a:solidFill>
              </a:rPr>
              <a:t>i</a:t>
            </a:r>
            <a:r>
              <a:rPr lang="en-US" altLang="zh-CN" sz="1600" dirty="0">
                <a:solidFill>
                  <a:srgbClr val="0000CC"/>
                </a:solidFill>
              </a:rPr>
              <a:t>=</a:t>
            </a:r>
            <a:r>
              <a:rPr lang="en-US" altLang="zh-CN" sz="1600" dirty="0" err="1">
                <a:solidFill>
                  <a:srgbClr val="0000CC"/>
                </a:solidFill>
              </a:rPr>
              <a:t>i</a:t>
            </a:r>
            <a:r>
              <a:rPr lang="en-US" altLang="zh-CN" sz="1600" dirty="0">
                <a:solidFill>
                  <a:srgbClr val="0000CC"/>
                </a:solidFill>
              </a:rPr>
              <a:t> -1;    /*</a:t>
            </a:r>
            <a:r>
              <a:rPr lang="zh-CN" altLang="zh-CN" sz="1600" dirty="0">
                <a:solidFill>
                  <a:srgbClr val="0000CC"/>
                </a:solidFill>
              </a:rPr>
              <a:t>将</a:t>
            </a:r>
            <a:r>
              <a:rPr lang="en-US" altLang="zh-CN" sz="1600" dirty="0">
                <a:solidFill>
                  <a:srgbClr val="0000CC"/>
                </a:solidFill>
              </a:rPr>
              <a:t>m</a:t>
            </a:r>
            <a:r>
              <a:rPr lang="zh-CN" altLang="zh-CN" sz="1600" dirty="0">
                <a:solidFill>
                  <a:srgbClr val="0000CC"/>
                </a:solidFill>
              </a:rPr>
              <a:t>列入表中</a:t>
            </a:r>
            <a:r>
              <a:rPr lang="en-US" altLang="zh-CN" sz="1600" dirty="0">
                <a:solidFill>
                  <a:srgbClr val="0000CC"/>
                </a:solidFill>
              </a:rPr>
              <a:t>*/</a:t>
            </a:r>
            <a:endParaRPr lang="zh-CN" altLang="zh-CN" sz="1600" dirty="0">
              <a:solidFill>
                <a:srgbClr val="0000CC"/>
              </a:solidFill>
            </a:endParaRPr>
          </a:p>
          <a:p>
            <a:pPr marL="365125" indent="-365125">
              <a:lnSpc>
                <a:spcPct val="90000"/>
              </a:lnSpc>
              <a:spcBef>
                <a:spcPct val="0"/>
              </a:spcBef>
              <a:buFontTx/>
              <a:buNone/>
            </a:pPr>
            <a:r>
              <a:rPr lang="en-US" altLang="zh-CN" sz="1600" dirty="0">
                <a:solidFill>
                  <a:srgbClr val="0000CC"/>
                </a:solidFill>
              </a:rPr>
              <a:t>        n</a:t>
            </a:r>
            <a:r>
              <a:rPr lang="zh-CN" altLang="zh-CN" sz="1600" dirty="0">
                <a:solidFill>
                  <a:srgbClr val="0000CC"/>
                </a:solidFill>
              </a:rPr>
              <a:t>＝</a:t>
            </a:r>
            <a:r>
              <a:rPr lang="en-US" altLang="zh-CN" sz="1600" dirty="0">
                <a:solidFill>
                  <a:srgbClr val="0000CC"/>
                </a:solidFill>
              </a:rPr>
              <a:t>m;</a:t>
            </a:r>
            <a:endParaRPr lang="zh-CN" altLang="zh-CN" sz="1600" dirty="0">
              <a:solidFill>
                <a:srgbClr val="0000CC"/>
              </a:solidFill>
            </a:endParaRPr>
          </a:p>
          <a:p>
            <a:pPr marL="365125" indent="-365125">
              <a:lnSpc>
                <a:spcPct val="90000"/>
              </a:lnSpc>
              <a:spcBef>
                <a:spcPct val="0"/>
              </a:spcBef>
              <a:buFontTx/>
              <a:buNone/>
            </a:pPr>
            <a:r>
              <a:rPr lang="en-US" altLang="zh-CN" sz="1600" dirty="0">
                <a:solidFill>
                  <a:srgbClr val="FF0000"/>
                </a:solidFill>
              </a:rPr>
              <a:t>     }</a:t>
            </a:r>
            <a:endParaRPr lang="zh-CN" altLang="zh-CN" sz="1600" dirty="0">
              <a:solidFill>
                <a:srgbClr val="FF0000"/>
              </a:solidFill>
            </a:endParaRPr>
          </a:p>
          <a:p>
            <a:pPr marL="365125" indent="-365125">
              <a:lnSpc>
                <a:spcPct val="90000"/>
              </a:lnSpc>
              <a:spcBef>
                <a:spcPct val="0"/>
              </a:spcBef>
              <a:buFontTx/>
              <a:buNone/>
            </a:pPr>
            <a:r>
              <a:rPr lang="en-US" altLang="zh-CN" sz="1600" dirty="0">
                <a:solidFill>
                  <a:srgbClr val="FF0000"/>
                </a:solidFill>
              </a:rPr>
              <a:t>  }</a:t>
            </a:r>
            <a:endParaRPr lang="zh-CN" altLang="zh-CN" sz="1600" dirty="0">
              <a:solidFill>
                <a:srgbClr val="FF0000"/>
              </a:solidFill>
            </a:endParaRPr>
          </a:p>
        </p:txBody>
      </p:sp>
      <p:graphicFrame>
        <p:nvGraphicFramePr>
          <p:cNvPr id="5" name="Object 2"/>
          <p:cNvGraphicFramePr>
            <a:graphicFrameLocks noChangeAspect="1"/>
          </p:cNvGraphicFramePr>
          <p:nvPr>
            <p:extLst>
              <p:ext uri="{D42A27DB-BD31-4B8C-83A1-F6EECF244321}">
                <p14:modId xmlns:p14="http://schemas.microsoft.com/office/powerpoint/2010/main" val="2969265654"/>
              </p:ext>
            </p:extLst>
          </p:nvPr>
        </p:nvGraphicFramePr>
        <p:xfrm>
          <a:off x="467544" y="2806457"/>
          <a:ext cx="3751338" cy="2213565"/>
        </p:xfrm>
        <a:graphic>
          <a:graphicData uri="http://schemas.openxmlformats.org/presentationml/2006/ole">
            <mc:AlternateContent xmlns:mc="http://schemas.openxmlformats.org/markup-compatibility/2006">
              <mc:Choice xmlns:v="urn:schemas-microsoft-com:vml" Requires="v">
                <p:oleObj name="Visio" r:id="rId2" imgW="2570570" imgH="1477630" progId="Visio.Drawing.11">
                  <p:embed/>
                </p:oleObj>
              </mc:Choice>
              <mc:Fallback>
                <p:oleObj name="Visio" r:id="rId2" imgW="2570570" imgH="1477630"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2806457"/>
                        <a:ext cx="3751338" cy="2213565"/>
                      </a:xfrm>
                      <a:prstGeom prst="rect">
                        <a:avLst/>
                      </a:prstGeom>
                      <a:solidFill>
                        <a:schemeClr val="bg1"/>
                      </a:solidFill>
                      <a:ln>
                        <a:noFill/>
                      </a:ln>
                    </p:spPr>
                  </p:pic>
                </p:oleObj>
              </mc:Fallback>
            </mc:AlternateContent>
          </a:graphicData>
        </a:graphic>
      </p:graphicFrame>
      <p:sp>
        <p:nvSpPr>
          <p:cNvPr id="4" name="Rectangle 1"/>
          <p:cNvSpPr>
            <a:spLocks noChangeArrowheads="1"/>
          </p:cNvSpPr>
          <p:nvPr/>
        </p:nvSpPr>
        <p:spPr bwMode="auto">
          <a:xfrm>
            <a:off x="250826" y="644371"/>
            <a:ext cx="1584642" cy="2308324"/>
          </a:xfrm>
          <a:prstGeom prst="rect">
            <a:avLst/>
          </a:prstGeom>
          <a:noFill/>
          <a:ln w="9525">
            <a:solidFill>
              <a:schemeClr val="bg2">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lang="zh-CN" altLang="fr-FR" sz="1800" dirty="0">
                <a:cs typeface="Times New Roman" panose="02020603050405020304" pitchFamily="18" charset="0"/>
              </a:rPr>
              <a:t>（＋</a:t>
            </a:r>
            <a:r>
              <a:rPr lang="fr-FR" altLang="zh-CN" sz="1800" dirty="0">
                <a:cs typeface="Times New Roman" panose="02020603050405020304" pitchFamily="18" charset="0"/>
              </a:rPr>
              <a:t>,A,B, T</a:t>
            </a:r>
            <a:r>
              <a:rPr lang="fr-FR" altLang="zh-CN" sz="1800" baseline="-30000" dirty="0">
                <a:cs typeface="Times New Roman" panose="02020603050405020304" pitchFamily="18" charset="0"/>
              </a:rPr>
              <a:t>1</a:t>
            </a:r>
            <a:r>
              <a:rPr lang="zh-CN" altLang="fr-FR" sz="1800" dirty="0">
                <a:cs typeface="Times New Roman" panose="02020603050405020304" pitchFamily="18" charset="0"/>
              </a:rPr>
              <a:t>） </a:t>
            </a:r>
          </a:p>
          <a:p>
            <a:pPr>
              <a:spcBef>
                <a:spcPct val="0"/>
              </a:spcBef>
              <a:buFontTx/>
              <a:buNone/>
            </a:pPr>
            <a:r>
              <a:rPr lang="zh-CN" altLang="fr-FR" sz="1800" dirty="0">
                <a:cs typeface="Times New Roman" panose="02020603050405020304" pitchFamily="18" charset="0"/>
              </a:rPr>
              <a:t>（－</a:t>
            </a:r>
            <a:r>
              <a:rPr lang="fr-FR" altLang="zh-CN" sz="1800" dirty="0">
                <a:cs typeface="Times New Roman" panose="02020603050405020304" pitchFamily="18" charset="0"/>
              </a:rPr>
              <a:t>,A,B, T</a:t>
            </a:r>
            <a:r>
              <a:rPr lang="fr-FR" altLang="zh-CN" sz="1800" baseline="-30000" dirty="0">
                <a:cs typeface="Times New Roman" panose="02020603050405020304" pitchFamily="18" charset="0"/>
              </a:rPr>
              <a:t>2</a:t>
            </a:r>
            <a:r>
              <a:rPr lang="zh-CN" altLang="fr-FR" sz="1800" dirty="0">
                <a:cs typeface="Times New Roman" panose="02020603050405020304" pitchFamily="18" charset="0"/>
              </a:rPr>
              <a:t>） </a:t>
            </a:r>
          </a:p>
          <a:p>
            <a:pPr>
              <a:spcBef>
                <a:spcPct val="0"/>
              </a:spcBef>
              <a:buFontTx/>
              <a:buNone/>
            </a:pPr>
            <a:r>
              <a:rPr lang="zh-CN" altLang="fr-FR" sz="1800" dirty="0">
                <a:cs typeface="Times New Roman" panose="02020603050405020304" pitchFamily="18" charset="0"/>
              </a:rPr>
              <a:t>（*</a:t>
            </a:r>
            <a:r>
              <a:rPr lang="fr-FR" altLang="zh-CN" sz="1800" dirty="0">
                <a:cs typeface="Times New Roman" panose="02020603050405020304" pitchFamily="18" charset="0"/>
              </a:rPr>
              <a:t>, T</a:t>
            </a:r>
            <a:r>
              <a:rPr lang="fr-FR" altLang="zh-CN" sz="1800" baseline="-30000" dirty="0">
                <a:cs typeface="Times New Roman" panose="02020603050405020304" pitchFamily="18" charset="0"/>
              </a:rPr>
              <a:t>1</a:t>
            </a:r>
            <a:r>
              <a:rPr lang="fr-FR" altLang="zh-CN" sz="1800" dirty="0">
                <a:cs typeface="Times New Roman" panose="02020603050405020304" pitchFamily="18" charset="0"/>
              </a:rPr>
              <a:t>, T</a:t>
            </a:r>
            <a:r>
              <a:rPr lang="fr-FR" altLang="zh-CN" sz="1800" baseline="-30000" dirty="0">
                <a:cs typeface="Times New Roman" panose="02020603050405020304" pitchFamily="18" charset="0"/>
              </a:rPr>
              <a:t>2</a:t>
            </a:r>
            <a:r>
              <a:rPr lang="fr-FR" altLang="zh-CN" sz="1800" dirty="0">
                <a:cs typeface="Times New Roman" panose="02020603050405020304" pitchFamily="18" charset="0"/>
              </a:rPr>
              <a:t>, F</a:t>
            </a:r>
            <a:r>
              <a:rPr lang="zh-CN" altLang="fr-FR" sz="1800" dirty="0">
                <a:cs typeface="Times New Roman" panose="02020603050405020304" pitchFamily="18" charset="0"/>
              </a:rPr>
              <a:t>）</a:t>
            </a:r>
          </a:p>
          <a:p>
            <a:pPr>
              <a:spcBef>
                <a:spcPct val="0"/>
              </a:spcBef>
              <a:buFontTx/>
              <a:buNone/>
            </a:pPr>
            <a:r>
              <a:rPr lang="zh-CN" altLang="fr-FR" sz="1800" dirty="0">
                <a:cs typeface="Times New Roman" panose="02020603050405020304" pitchFamily="18" charset="0"/>
              </a:rPr>
              <a:t>（－</a:t>
            </a:r>
            <a:r>
              <a:rPr lang="fr-FR" altLang="zh-CN" sz="1800" dirty="0">
                <a:cs typeface="Times New Roman" panose="02020603050405020304" pitchFamily="18" charset="0"/>
              </a:rPr>
              <a:t>,A,B, T</a:t>
            </a:r>
            <a:r>
              <a:rPr lang="fr-FR" altLang="zh-CN" sz="1800" baseline="-30000" dirty="0">
                <a:cs typeface="Times New Roman" panose="02020603050405020304" pitchFamily="18" charset="0"/>
              </a:rPr>
              <a:t>1</a:t>
            </a:r>
            <a:r>
              <a:rPr lang="zh-CN" altLang="fr-FR" sz="1800" dirty="0">
                <a:cs typeface="Times New Roman" panose="02020603050405020304" pitchFamily="18" charset="0"/>
              </a:rPr>
              <a:t>） </a:t>
            </a:r>
          </a:p>
          <a:p>
            <a:pPr>
              <a:spcBef>
                <a:spcPct val="0"/>
              </a:spcBef>
              <a:buFontTx/>
              <a:buNone/>
            </a:pPr>
            <a:r>
              <a:rPr lang="zh-CN" altLang="fr-FR" sz="1800" dirty="0">
                <a:cs typeface="Times New Roman" panose="02020603050405020304" pitchFamily="18" charset="0"/>
              </a:rPr>
              <a:t>（－</a:t>
            </a:r>
            <a:r>
              <a:rPr lang="fr-FR" altLang="zh-CN" sz="1800" dirty="0">
                <a:cs typeface="Times New Roman" panose="02020603050405020304" pitchFamily="18" charset="0"/>
              </a:rPr>
              <a:t>,A,C, T</a:t>
            </a:r>
            <a:r>
              <a:rPr lang="fr-FR" altLang="zh-CN" sz="1800" baseline="-30000" dirty="0">
                <a:cs typeface="Times New Roman" panose="02020603050405020304" pitchFamily="18" charset="0"/>
              </a:rPr>
              <a:t>2</a:t>
            </a:r>
            <a:r>
              <a:rPr lang="zh-CN" altLang="fr-FR" sz="1800" dirty="0">
                <a:cs typeface="Times New Roman" panose="02020603050405020304" pitchFamily="18" charset="0"/>
              </a:rPr>
              <a:t>） </a:t>
            </a:r>
          </a:p>
          <a:p>
            <a:pPr>
              <a:spcBef>
                <a:spcPct val="0"/>
              </a:spcBef>
              <a:buFontTx/>
              <a:buNone/>
            </a:pPr>
            <a:r>
              <a:rPr lang="zh-CN" altLang="fr-FR" sz="1800" dirty="0">
                <a:cs typeface="Times New Roman" panose="02020603050405020304" pitchFamily="18" charset="0"/>
              </a:rPr>
              <a:t>（－</a:t>
            </a:r>
            <a:r>
              <a:rPr lang="fr-FR" altLang="zh-CN" sz="1800" dirty="0">
                <a:cs typeface="Times New Roman" panose="02020603050405020304" pitchFamily="18" charset="0"/>
              </a:rPr>
              <a:t>,B,C, T</a:t>
            </a:r>
            <a:r>
              <a:rPr lang="fr-FR" altLang="zh-CN" sz="1800" baseline="-30000" dirty="0">
                <a:cs typeface="Times New Roman" panose="02020603050405020304" pitchFamily="18" charset="0"/>
              </a:rPr>
              <a:t>3</a:t>
            </a:r>
            <a:r>
              <a:rPr lang="zh-CN" altLang="fr-FR" sz="1800" dirty="0">
                <a:cs typeface="Times New Roman" panose="02020603050405020304" pitchFamily="18" charset="0"/>
              </a:rPr>
              <a:t>） </a:t>
            </a:r>
          </a:p>
          <a:p>
            <a:pPr>
              <a:spcBef>
                <a:spcPct val="0"/>
              </a:spcBef>
              <a:buFontTx/>
              <a:buNone/>
            </a:pPr>
            <a:r>
              <a:rPr lang="zh-CN" altLang="fr-FR" sz="1800" dirty="0">
                <a:cs typeface="Times New Roman" panose="02020603050405020304" pitchFamily="18" charset="0"/>
              </a:rPr>
              <a:t>（*</a:t>
            </a:r>
            <a:r>
              <a:rPr lang="fr-FR" altLang="zh-CN" sz="1800" dirty="0">
                <a:cs typeface="Times New Roman" panose="02020603050405020304" pitchFamily="18" charset="0"/>
              </a:rPr>
              <a:t>, T</a:t>
            </a:r>
            <a:r>
              <a:rPr lang="fr-FR" altLang="zh-CN" sz="1800" baseline="-30000" dirty="0">
                <a:cs typeface="Times New Roman" panose="02020603050405020304" pitchFamily="18" charset="0"/>
              </a:rPr>
              <a:t>1</a:t>
            </a:r>
            <a:r>
              <a:rPr lang="fr-FR" altLang="zh-CN" sz="1800" dirty="0">
                <a:cs typeface="Times New Roman" panose="02020603050405020304" pitchFamily="18" charset="0"/>
              </a:rPr>
              <a:t>, T</a:t>
            </a:r>
            <a:r>
              <a:rPr lang="fr-FR" altLang="zh-CN" sz="1800" baseline="-30000" dirty="0">
                <a:cs typeface="Times New Roman" panose="02020603050405020304" pitchFamily="18" charset="0"/>
              </a:rPr>
              <a:t>2</a:t>
            </a:r>
            <a:r>
              <a:rPr lang="fr-FR" altLang="zh-CN" sz="1800" dirty="0">
                <a:cs typeface="Times New Roman" panose="02020603050405020304" pitchFamily="18" charset="0"/>
              </a:rPr>
              <a:t>, T</a:t>
            </a:r>
            <a:r>
              <a:rPr lang="fr-FR" altLang="zh-CN" sz="1800" baseline="-30000" dirty="0">
                <a:cs typeface="Times New Roman" panose="02020603050405020304" pitchFamily="18" charset="0"/>
              </a:rPr>
              <a:t>1</a:t>
            </a:r>
            <a:r>
              <a:rPr lang="zh-CN" altLang="fr-FR" sz="1800" dirty="0">
                <a:cs typeface="Times New Roman" panose="02020603050405020304" pitchFamily="18" charset="0"/>
              </a:rPr>
              <a:t>）</a:t>
            </a:r>
          </a:p>
          <a:p>
            <a:pPr>
              <a:spcBef>
                <a:spcPct val="0"/>
              </a:spcBef>
              <a:buFontTx/>
              <a:buNone/>
            </a:pPr>
            <a:r>
              <a:rPr lang="zh-CN" altLang="fr-FR" sz="1800" dirty="0">
                <a:cs typeface="Times New Roman" panose="02020603050405020304" pitchFamily="18" charset="0"/>
              </a:rPr>
              <a:t>（*</a:t>
            </a:r>
            <a:r>
              <a:rPr lang="fr-FR" altLang="zh-CN" sz="1800" dirty="0">
                <a:cs typeface="Times New Roman" panose="02020603050405020304" pitchFamily="18" charset="0"/>
              </a:rPr>
              <a:t>, T</a:t>
            </a:r>
            <a:r>
              <a:rPr lang="fr-FR" altLang="zh-CN" sz="1800" baseline="-30000" dirty="0">
                <a:cs typeface="Times New Roman" panose="02020603050405020304" pitchFamily="18" charset="0"/>
              </a:rPr>
              <a:t>1</a:t>
            </a:r>
            <a:r>
              <a:rPr lang="fr-FR" altLang="zh-CN" sz="1800" dirty="0">
                <a:cs typeface="Times New Roman" panose="02020603050405020304" pitchFamily="18" charset="0"/>
              </a:rPr>
              <a:t>, T</a:t>
            </a:r>
            <a:r>
              <a:rPr lang="fr-FR" altLang="zh-CN" sz="1800" baseline="-30000" dirty="0">
                <a:cs typeface="Times New Roman" panose="02020603050405020304" pitchFamily="18" charset="0"/>
              </a:rPr>
              <a:t>3</a:t>
            </a:r>
            <a:r>
              <a:rPr lang="fr-FR" altLang="zh-CN" sz="1800" dirty="0">
                <a:cs typeface="Times New Roman" panose="02020603050405020304" pitchFamily="18" charset="0"/>
              </a:rPr>
              <a:t>,G</a:t>
            </a:r>
            <a:r>
              <a:rPr lang="zh-CN" altLang="fr-FR" sz="1800" dirty="0">
                <a:cs typeface="Times New Roman" panose="02020603050405020304" pitchFamily="18" charset="0"/>
              </a:rPr>
              <a:t>） </a:t>
            </a:r>
          </a:p>
        </p:txBody>
      </p:sp>
      <p:sp>
        <p:nvSpPr>
          <p:cNvPr id="6" name="Rectangle 4"/>
          <p:cNvSpPr>
            <a:spLocks noChangeArrowheads="1"/>
          </p:cNvSpPr>
          <p:nvPr/>
        </p:nvSpPr>
        <p:spPr bwMode="auto">
          <a:xfrm>
            <a:off x="2124522" y="640188"/>
            <a:ext cx="1583382" cy="20313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lang="zh-CN" altLang="fr-FR" sz="1800" dirty="0">
                <a:cs typeface="Times New Roman" panose="02020603050405020304" pitchFamily="18" charset="0"/>
              </a:rPr>
              <a:t>（－</a:t>
            </a:r>
            <a:r>
              <a:rPr lang="fr-FR" altLang="zh-CN" sz="1800" dirty="0">
                <a:cs typeface="Times New Roman" panose="02020603050405020304" pitchFamily="18" charset="0"/>
              </a:rPr>
              <a:t>,B,C, T</a:t>
            </a:r>
            <a:r>
              <a:rPr lang="fr-FR" altLang="zh-CN" sz="1800" baseline="-30000" dirty="0">
                <a:cs typeface="Times New Roman" panose="02020603050405020304" pitchFamily="18" charset="0"/>
              </a:rPr>
              <a:t>3</a:t>
            </a:r>
            <a:r>
              <a:rPr lang="zh-CN" altLang="fr-FR" sz="1800" dirty="0">
                <a:cs typeface="Times New Roman" panose="02020603050405020304" pitchFamily="18" charset="0"/>
              </a:rPr>
              <a:t>） </a:t>
            </a:r>
          </a:p>
          <a:p>
            <a:pPr>
              <a:spcBef>
                <a:spcPct val="0"/>
              </a:spcBef>
              <a:buFontTx/>
              <a:buNone/>
            </a:pPr>
            <a:r>
              <a:rPr lang="zh-CN" altLang="fr-FR" sz="1800" dirty="0">
                <a:cs typeface="Times New Roman" panose="02020603050405020304" pitchFamily="18" charset="0"/>
              </a:rPr>
              <a:t>（－</a:t>
            </a:r>
            <a:r>
              <a:rPr lang="fr-FR" altLang="zh-CN" sz="1800" dirty="0">
                <a:cs typeface="Times New Roman" panose="02020603050405020304" pitchFamily="18" charset="0"/>
              </a:rPr>
              <a:t>,A,C, T</a:t>
            </a:r>
            <a:r>
              <a:rPr lang="fr-FR" altLang="zh-CN" sz="1800" baseline="-30000" dirty="0">
                <a:cs typeface="Times New Roman" panose="02020603050405020304" pitchFamily="18" charset="0"/>
              </a:rPr>
              <a:t>2</a:t>
            </a:r>
            <a:r>
              <a:rPr lang="zh-CN" altLang="fr-FR" sz="1800" dirty="0">
                <a:cs typeface="Times New Roman" panose="02020603050405020304" pitchFamily="18" charset="0"/>
              </a:rPr>
              <a:t>） </a:t>
            </a:r>
          </a:p>
          <a:p>
            <a:pPr>
              <a:spcBef>
                <a:spcPct val="0"/>
              </a:spcBef>
              <a:buFontTx/>
              <a:buNone/>
            </a:pPr>
            <a:r>
              <a:rPr lang="zh-CN" altLang="pt-PT" sz="1800" dirty="0">
                <a:cs typeface="Times New Roman" panose="02020603050405020304" pitchFamily="18" charset="0"/>
              </a:rPr>
              <a:t>（－</a:t>
            </a:r>
            <a:r>
              <a:rPr lang="pt-PT" altLang="zh-CN" sz="1800" dirty="0">
                <a:cs typeface="Times New Roman" panose="02020603050405020304" pitchFamily="18" charset="0"/>
              </a:rPr>
              <a:t>,A,B, R</a:t>
            </a:r>
            <a:r>
              <a:rPr lang="pt-PT" altLang="zh-CN" sz="1800" baseline="-30000" dirty="0">
                <a:cs typeface="Times New Roman" panose="02020603050405020304" pitchFamily="18" charset="0"/>
              </a:rPr>
              <a:t>1</a:t>
            </a:r>
            <a:r>
              <a:rPr lang="zh-CN" altLang="pt-PT" sz="1800" dirty="0">
                <a:cs typeface="Times New Roman" panose="02020603050405020304" pitchFamily="18" charset="0"/>
              </a:rPr>
              <a:t>） </a:t>
            </a:r>
          </a:p>
          <a:p>
            <a:pPr>
              <a:spcBef>
                <a:spcPct val="0"/>
              </a:spcBef>
              <a:buFontTx/>
              <a:buNone/>
            </a:pPr>
            <a:r>
              <a:rPr lang="zh-CN" altLang="pt-PT" sz="1800" dirty="0">
                <a:cs typeface="Times New Roman" panose="02020603050405020304" pitchFamily="18" charset="0"/>
              </a:rPr>
              <a:t>（*</a:t>
            </a:r>
            <a:r>
              <a:rPr lang="pt-PT" altLang="zh-CN" sz="1800" dirty="0">
                <a:cs typeface="Times New Roman" panose="02020603050405020304" pitchFamily="18" charset="0"/>
              </a:rPr>
              <a:t>, R</a:t>
            </a:r>
            <a:r>
              <a:rPr lang="pt-PT" altLang="zh-CN" sz="1800" baseline="-30000" dirty="0">
                <a:cs typeface="Times New Roman" panose="02020603050405020304" pitchFamily="18" charset="0"/>
              </a:rPr>
              <a:t>1</a:t>
            </a:r>
            <a:r>
              <a:rPr lang="pt-PT" altLang="zh-CN" sz="1800" dirty="0">
                <a:cs typeface="Times New Roman" panose="02020603050405020304" pitchFamily="18" charset="0"/>
              </a:rPr>
              <a:t>, T</a:t>
            </a:r>
            <a:r>
              <a:rPr lang="pt-PT" altLang="zh-CN" sz="1800" baseline="-30000" dirty="0">
                <a:cs typeface="Times New Roman" panose="02020603050405020304" pitchFamily="18" charset="0"/>
              </a:rPr>
              <a:t>2</a:t>
            </a:r>
            <a:r>
              <a:rPr lang="pt-PT" altLang="zh-CN" sz="1800" dirty="0">
                <a:cs typeface="Times New Roman" panose="02020603050405020304" pitchFamily="18" charset="0"/>
              </a:rPr>
              <a:t>, T</a:t>
            </a:r>
            <a:r>
              <a:rPr lang="pt-PT" altLang="zh-CN" sz="1800" baseline="-30000" dirty="0">
                <a:cs typeface="Times New Roman" panose="02020603050405020304" pitchFamily="18" charset="0"/>
              </a:rPr>
              <a:t>1</a:t>
            </a:r>
            <a:r>
              <a:rPr lang="zh-CN" altLang="pt-PT" sz="1800" dirty="0">
                <a:cs typeface="Times New Roman" panose="02020603050405020304" pitchFamily="18" charset="0"/>
              </a:rPr>
              <a:t>）</a:t>
            </a:r>
          </a:p>
          <a:p>
            <a:pPr>
              <a:spcBef>
                <a:spcPct val="0"/>
              </a:spcBef>
              <a:buFontTx/>
              <a:buNone/>
            </a:pPr>
            <a:r>
              <a:rPr lang="zh-CN" altLang="fr-FR" sz="1800" dirty="0">
                <a:cs typeface="Times New Roman" panose="02020603050405020304" pitchFamily="18" charset="0"/>
              </a:rPr>
              <a:t>（*</a:t>
            </a:r>
            <a:r>
              <a:rPr lang="fr-FR" altLang="zh-CN" sz="1800" dirty="0">
                <a:cs typeface="Times New Roman" panose="02020603050405020304" pitchFamily="18" charset="0"/>
              </a:rPr>
              <a:t>, T</a:t>
            </a:r>
            <a:r>
              <a:rPr lang="fr-FR" altLang="zh-CN" sz="1800" baseline="-30000" dirty="0">
                <a:cs typeface="Times New Roman" panose="02020603050405020304" pitchFamily="18" charset="0"/>
              </a:rPr>
              <a:t>1</a:t>
            </a:r>
            <a:r>
              <a:rPr lang="fr-FR" altLang="zh-CN" sz="1800" dirty="0">
                <a:cs typeface="Times New Roman" panose="02020603050405020304" pitchFamily="18" charset="0"/>
              </a:rPr>
              <a:t>, T</a:t>
            </a:r>
            <a:r>
              <a:rPr lang="fr-FR" altLang="zh-CN" sz="1800" baseline="-30000" dirty="0">
                <a:cs typeface="Times New Roman" panose="02020603050405020304" pitchFamily="18" charset="0"/>
              </a:rPr>
              <a:t>3</a:t>
            </a:r>
            <a:r>
              <a:rPr lang="fr-FR" altLang="zh-CN" sz="1800" dirty="0">
                <a:cs typeface="Times New Roman" panose="02020603050405020304" pitchFamily="18" charset="0"/>
              </a:rPr>
              <a:t>,G</a:t>
            </a:r>
            <a:r>
              <a:rPr lang="zh-CN" altLang="fr-FR" sz="1800" dirty="0">
                <a:cs typeface="Times New Roman" panose="02020603050405020304" pitchFamily="18" charset="0"/>
              </a:rPr>
              <a:t>）</a:t>
            </a:r>
          </a:p>
          <a:p>
            <a:pPr>
              <a:spcBef>
                <a:spcPct val="0"/>
              </a:spcBef>
              <a:buFontTx/>
              <a:buNone/>
            </a:pPr>
            <a:r>
              <a:rPr lang="zh-CN" altLang="fr-FR" sz="1800" dirty="0">
                <a:cs typeface="Times New Roman" panose="02020603050405020304" pitchFamily="18" charset="0"/>
              </a:rPr>
              <a:t>（＋</a:t>
            </a:r>
            <a:r>
              <a:rPr lang="fr-FR" altLang="zh-CN" sz="1800" dirty="0">
                <a:cs typeface="Times New Roman" panose="02020603050405020304" pitchFamily="18" charset="0"/>
              </a:rPr>
              <a:t>,A,B, R</a:t>
            </a:r>
            <a:r>
              <a:rPr lang="fr-FR" altLang="zh-CN" sz="1800" baseline="-30000" dirty="0">
                <a:cs typeface="Times New Roman" panose="02020603050405020304" pitchFamily="18" charset="0"/>
              </a:rPr>
              <a:t>2</a:t>
            </a:r>
            <a:r>
              <a:rPr lang="zh-CN" altLang="fr-FR" sz="1800" dirty="0">
                <a:cs typeface="Times New Roman" panose="02020603050405020304" pitchFamily="18" charset="0"/>
              </a:rPr>
              <a:t>） </a:t>
            </a:r>
          </a:p>
          <a:p>
            <a:pPr>
              <a:spcBef>
                <a:spcPct val="0"/>
              </a:spcBef>
              <a:buFontTx/>
              <a:buNone/>
            </a:pPr>
            <a:r>
              <a:rPr lang="zh-CN" altLang="fr-FR" sz="1800" dirty="0">
                <a:cs typeface="Times New Roman" panose="02020603050405020304" pitchFamily="18" charset="0"/>
              </a:rPr>
              <a:t>（*</a:t>
            </a:r>
            <a:r>
              <a:rPr lang="fr-FR" altLang="zh-CN" sz="1800" dirty="0">
                <a:cs typeface="Times New Roman" panose="02020603050405020304" pitchFamily="18" charset="0"/>
              </a:rPr>
              <a:t>, R</a:t>
            </a:r>
            <a:r>
              <a:rPr lang="fr-FR" altLang="zh-CN" sz="1800" baseline="-30000" dirty="0">
                <a:cs typeface="Times New Roman" panose="02020603050405020304" pitchFamily="18" charset="0"/>
              </a:rPr>
              <a:t>1</a:t>
            </a:r>
            <a:r>
              <a:rPr lang="fr-FR" altLang="zh-CN" sz="1800" dirty="0">
                <a:cs typeface="Times New Roman" panose="02020603050405020304" pitchFamily="18" charset="0"/>
              </a:rPr>
              <a:t>, R</a:t>
            </a:r>
            <a:r>
              <a:rPr lang="fr-FR" altLang="zh-CN" sz="1800" baseline="-30000" dirty="0">
                <a:cs typeface="Times New Roman" panose="02020603050405020304" pitchFamily="18" charset="0"/>
              </a:rPr>
              <a:t>2</a:t>
            </a:r>
            <a:r>
              <a:rPr lang="fr-FR" altLang="zh-CN" sz="1800" dirty="0">
                <a:cs typeface="Times New Roman" panose="02020603050405020304" pitchFamily="18" charset="0"/>
              </a:rPr>
              <a:t>, F</a:t>
            </a:r>
            <a:r>
              <a:rPr lang="zh-CN" altLang="fr-FR" sz="1800" dirty="0">
                <a:cs typeface="Times New Roman" panose="02020603050405020304" pitchFamily="18" charset="0"/>
              </a:rPr>
              <a:t>）</a:t>
            </a:r>
          </a:p>
        </p:txBody>
      </p:sp>
      <p:graphicFrame>
        <p:nvGraphicFramePr>
          <p:cNvPr id="9" name="表格 8"/>
          <p:cNvGraphicFramePr>
            <a:graphicFrameLocks noGrp="1"/>
          </p:cNvGraphicFramePr>
          <p:nvPr>
            <p:extLst>
              <p:ext uri="{D42A27DB-BD31-4B8C-83A1-F6EECF244321}">
                <p14:modId xmlns:p14="http://schemas.microsoft.com/office/powerpoint/2010/main" val="1349243651"/>
              </p:ext>
            </p:extLst>
          </p:nvPr>
        </p:nvGraphicFramePr>
        <p:xfrm>
          <a:off x="4067944" y="771550"/>
          <a:ext cx="5004048" cy="864096"/>
        </p:xfrm>
        <a:graphic>
          <a:graphicData uri="http://schemas.openxmlformats.org/drawingml/2006/table">
            <a:tbl>
              <a:tblPr firstRow="1" bandRow="1">
                <a:tableStyleId>{5C22544A-7EE6-4342-B048-85BDC9FD1C3A}</a:tableStyleId>
              </a:tblPr>
              <a:tblGrid>
                <a:gridCol w="714864">
                  <a:extLst>
                    <a:ext uri="{9D8B030D-6E8A-4147-A177-3AD203B41FA5}">
                      <a16:colId xmlns:a16="http://schemas.microsoft.com/office/drawing/2014/main" val="20000"/>
                    </a:ext>
                  </a:extLst>
                </a:gridCol>
                <a:gridCol w="714864">
                  <a:extLst>
                    <a:ext uri="{9D8B030D-6E8A-4147-A177-3AD203B41FA5}">
                      <a16:colId xmlns:a16="http://schemas.microsoft.com/office/drawing/2014/main" val="20001"/>
                    </a:ext>
                  </a:extLst>
                </a:gridCol>
                <a:gridCol w="714864">
                  <a:extLst>
                    <a:ext uri="{9D8B030D-6E8A-4147-A177-3AD203B41FA5}">
                      <a16:colId xmlns:a16="http://schemas.microsoft.com/office/drawing/2014/main" val="20002"/>
                    </a:ext>
                  </a:extLst>
                </a:gridCol>
                <a:gridCol w="714864">
                  <a:extLst>
                    <a:ext uri="{9D8B030D-6E8A-4147-A177-3AD203B41FA5}">
                      <a16:colId xmlns:a16="http://schemas.microsoft.com/office/drawing/2014/main" val="20003"/>
                    </a:ext>
                  </a:extLst>
                </a:gridCol>
                <a:gridCol w="714864">
                  <a:extLst>
                    <a:ext uri="{9D8B030D-6E8A-4147-A177-3AD203B41FA5}">
                      <a16:colId xmlns:a16="http://schemas.microsoft.com/office/drawing/2014/main" val="20004"/>
                    </a:ext>
                  </a:extLst>
                </a:gridCol>
                <a:gridCol w="714864">
                  <a:extLst>
                    <a:ext uri="{9D8B030D-6E8A-4147-A177-3AD203B41FA5}">
                      <a16:colId xmlns:a16="http://schemas.microsoft.com/office/drawing/2014/main" val="20005"/>
                    </a:ext>
                  </a:extLst>
                </a:gridCol>
                <a:gridCol w="714864">
                  <a:extLst>
                    <a:ext uri="{9D8B030D-6E8A-4147-A177-3AD203B41FA5}">
                      <a16:colId xmlns:a16="http://schemas.microsoft.com/office/drawing/2014/main" val="20006"/>
                    </a:ext>
                  </a:extLst>
                </a:gridCol>
              </a:tblGrid>
              <a:tr h="370840">
                <a:tc>
                  <a:txBody>
                    <a:bodyPr/>
                    <a:lstStyle/>
                    <a:p>
                      <a:pPr algn="ctr"/>
                      <a:r>
                        <a:rPr lang="en-US" altLang="zh-CN" b="0" dirty="0">
                          <a:solidFill>
                            <a:schemeClr val="tx1"/>
                          </a:solidFill>
                        </a:rPr>
                        <a:t>T[1]</a:t>
                      </a:r>
                      <a:endParaRPr lang="zh-CN"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rPr>
                        <a:t>T[2]</a:t>
                      </a:r>
                      <a:endParaRPr lang="zh-CN"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rPr>
                        <a:t>T[3]</a:t>
                      </a:r>
                      <a:endParaRPr lang="zh-CN"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rPr>
                        <a:t>T[4]</a:t>
                      </a:r>
                      <a:endParaRPr lang="zh-CN"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rPr>
                        <a:t>T[5]</a:t>
                      </a:r>
                      <a:endParaRPr lang="zh-CN"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rPr>
                        <a:t>T[6]</a:t>
                      </a:r>
                      <a:endParaRPr lang="zh-CN"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rPr>
                        <a:t>T[7]</a:t>
                      </a:r>
                      <a:endParaRPr lang="zh-CN"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93256">
                <a:tc>
                  <a:txBody>
                    <a:bodyPr/>
                    <a:lstStyle/>
                    <a:p>
                      <a:pPr algn="ctr"/>
                      <a:r>
                        <a:rPr lang="en-US" altLang="zh-CN" dirty="0">
                          <a:solidFill>
                            <a:schemeClr val="tx1"/>
                          </a:solidFill>
                        </a:rPr>
                        <a:t>0</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solidFill>
                            <a:schemeClr val="tx1"/>
                          </a:solidFill>
                        </a:rPr>
                        <a:t>0</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solidFill>
                            <a:schemeClr val="tx1"/>
                          </a:solidFill>
                        </a:rPr>
                        <a:t>0</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solidFill>
                            <a:schemeClr val="tx1"/>
                          </a:solidFill>
                        </a:rPr>
                        <a:t>0</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solidFill>
                            <a:schemeClr val="tx1"/>
                          </a:solidFill>
                        </a:rPr>
                        <a:t>0</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solidFill>
                            <a:schemeClr val="tx1"/>
                          </a:solidFill>
                        </a:rPr>
                        <a:t>0</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solidFill>
                            <a:schemeClr val="tx1"/>
                          </a:solidFill>
                        </a:rPr>
                        <a:t>0</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10" name="TextBox 9"/>
          <p:cNvSpPr txBox="1"/>
          <p:nvPr/>
        </p:nvSpPr>
        <p:spPr>
          <a:xfrm>
            <a:off x="8388424" y="1203598"/>
            <a:ext cx="611560" cy="400110"/>
          </a:xfrm>
          <a:prstGeom prst="rect">
            <a:avLst/>
          </a:prstGeom>
          <a:solidFill>
            <a:schemeClr val="bg1"/>
          </a:solidFill>
        </p:spPr>
        <p:txBody>
          <a:bodyPr wrap="square" rtlCol="0">
            <a:spAutoFit/>
          </a:bodyPr>
          <a:lstStyle/>
          <a:p>
            <a:pPr algn="ctr"/>
            <a:r>
              <a:rPr lang="en-US" altLang="zh-CN" sz="2000" dirty="0"/>
              <a:t>n3</a:t>
            </a:r>
            <a:endParaRPr lang="zh-CN" altLang="en-US" sz="2000" dirty="0"/>
          </a:p>
        </p:txBody>
      </p:sp>
      <p:sp>
        <p:nvSpPr>
          <p:cNvPr id="11" name="TextBox 10"/>
          <p:cNvSpPr txBox="1"/>
          <p:nvPr/>
        </p:nvSpPr>
        <p:spPr>
          <a:xfrm>
            <a:off x="7676896" y="1203598"/>
            <a:ext cx="611560" cy="400110"/>
          </a:xfrm>
          <a:prstGeom prst="rect">
            <a:avLst/>
          </a:prstGeom>
          <a:solidFill>
            <a:schemeClr val="bg1"/>
          </a:solidFill>
        </p:spPr>
        <p:txBody>
          <a:bodyPr wrap="square" rtlCol="0">
            <a:spAutoFit/>
          </a:bodyPr>
          <a:lstStyle/>
          <a:p>
            <a:pPr algn="ctr"/>
            <a:r>
              <a:rPr lang="en-US" altLang="zh-CN" sz="2000" dirty="0"/>
              <a:t>n1</a:t>
            </a:r>
            <a:endParaRPr lang="zh-CN" altLang="en-US" sz="2000" dirty="0"/>
          </a:p>
        </p:txBody>
      </p:sp>
      <p:sp>
        <p:nvSpPr>
          <p:cNvPr id="12" name="TextBox 11"/>
          <p:cNvSpPr txBox="1"/>
          <p:nvPr/>
        </p:nvSpPr>
        <p:spPr>
          <a:xfrm>
            <a:off x="6984776" y="1203598"/>
            <a:ext cx="611560" cy="400110"/>
          </a:xfrm>
          <a:prstGeom prst="rect">
            <a:avLst/>
          </a:prstGeom>
          <a:solidFill>
            <a:schemeClr val="bg1"/>
          </a:solidFill>
        </p:spPr>
        <p:txBody>
          <a:bodyPr wrap="square" rtlCol="0">
            <a:spAutoFit/>
          </a:bodyPr>
          <a:lstStyle/>
          <a:p>
            <a:pPr algn="ctr"/>
            <a:r>
              <a:rPr lang="en-US" altLang="zh-CN" sz="2000" dirty="0"/>
              <a:t>n7</a:t>
            </a:r>
            <a:endParaRPr lang="zh-CN" altLang="en-US" sz="2000" dirty="0"/>
          </a:p>
        </p:txBody>
      </p:sp>
      <p:sp>
        <p:nvSpPr>
          <p:cNvPr id="13" name="TextBox 12"/>
          <p:cNvSpPr txBox="1"/>
          <p:nvPr/>
        </p:nvSpPr>
        <p:spPr>
          <a:xfrm>
            <a:off x="6264696" y="1203598"/>
            <a:ext cx="611560" cy="400110"/>
          </a:xfrm>
          <a:prstGeom prst="rect">
            <a:avLst/>
          </a:prstGeom>
          <a:solidFill>
            <a:schemeClr val="bg1"/>
          </a:solidFill>
        </p:spPr>
        <p:txBody>
          <a:bodyPr wrap="square" rtlCol="0">
            <a:spAutoFit/>
          </a:bodyPr>
          <a:lstStyle/>
          <a:p>
            <a:pPr algn="ctr"/>
            <a:r>
              <a:rPr lang="en-US" altLang="zh-CN" sz="2000" dirty="0"/>
              <a:t>n6</a:t>
            </a:r>
            <a:endParaRPr lang="zh-CN" altLang="en-US" sz="2000" dirty="0"/>
          </a:p>
        </p:txBody>
      </p:sp>
      <p:sp>
        <p:nvSpPr>
          <p:cNvPr id="14" name="TextBox 13"/>
          <p:cNvSpPr txBox="1"/>
          <p:nvPr/>
        </p:nvSpPr>
        <p:spPr>
          <a:xfrm>
            <a:off x="5508104" y="1203598"/>
            <a:ext cx="611560" cy="400110"/>
          </a:xfrm>
          <a:prstGeom prst="rect">
            <a:avLst/>
          </a:prstGeom>
          <a:solidFill>
            <a:schemeClr val="bg1"/>
          </a:solidFill>
        </p:spPr>
        <p:txBody>
          <a:bodyPr wrap="square" rtlCol="0">
            <a:spAutoFit/>
          </a:bodyPr>
          <a:lstStyle/>
          <a:p>
            <a:pPr algn="ctr"/>
            <a:r>
              <a:rPr lang="en-US" altLang="zh-CN" sz="2000" dirty="0"/>
              <a:t>n2</a:t>
            </a:r>
            <a:endParaRPr lang="zh-CN" altLang="en-US" sz="2000" dirty="0"/>
          </a:p>
        </p:txBody>
      </p:sp>
      <p:sp>
        <p:nvSpPr>
          <p:cNvPr id="15" name="TextBox 14"/>
          <p:cNvSpPr txBox="1"/>
          <p:nvPr/>
        </p:nvSpPr>
        <p:spPr>
          <a:xfrm>
            <a:off x="4860032" y="1203598"/>
            <a:ext cx="611560" cy="400110"/>
          </a:xfrm>
          <a:prstGeom prst="rect">
            <a:avLst/>
          </a:prstGeom>
          <a:solidFill>
            <a:schemeClr val="bg1"/>
          </a:solidFill>
        </p:spPr>
        <p:txBody>
          <a:bodyPr wrap="square" rtlCol="0">
            <a:spAutoFit/>
          </a:bodyPr>
          <a:lstStyle/>
          <a:p>
            <a:pPr algn="ctr"/>
            <a:r>
              <a:rPr lang="en-US" altLang="zh-CN" sz="2000" dirty="0"/>
              <a:t>n4</a:t>
            </a:r>
            <a:endParaRPr lang="zh-CN" altLang="en-US" sz="2000" dirty="0"/>
          </a:p>
        </p:txBody>
      </p:sp>
      <p:sp>
        <p:nvSpPr>
          <p:cNvPr id="16" name="TextBox 15"/>
          <p:cNvSpPr txBox="1"/>
          <p:nvPr/>
        </p:nvSpPr>
        <p:spPr>
          <a:xfrm>
            <a:off x="4139952" y="1203598"/>
            <a:ext cx="611560" cy="400110"/>
          </a:xfrm>
          <a:prstGeom prst="rect">
            <a:avLst/>
          </a:prstGeom>
          <a:solidFill>
            <a:schemeClr val="bg1"/>
          </a:solidFill>
        </p:spPr>
        <p:txBody>
          <a:bodyPr wrap="square" rtlCol="0">
            <a:spAutoFit/>
          </a:bodyPr>
          <a:lstStyle/>
          <a:p>
            <a:pPr algn="ctr"/>
            <a:r>
              <a:rPr lang="en-US" altLang="zh-CN" sz="2000" dirty="0"/>
              <a:t>n5</a:t>
            </a:r>
            <a:endParaRPr lang="zh-CN" altLang="en-US" sz="2000" dirty="0"/>
          </a:p>
        </p:txBody>
      </p:sp>
    </p:spTree>
    <p:extLst>
      <p:ext uri="{BB962C8B-B14F-4D97-AF65-F5344CB8AC3E}">
        <p14:creationId xmlns:p14="http://schemas.microsoft.com/office/powerpoint/2010/main" val="1419244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4" presetClass="entr" presetSubtype="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 to="" calcmode="lin" valueType="num">
                                      <p:cBhvr>
                                        <p:cTn id="47" dur="1" fill="hold"/>
                                        <p:tgtEl>
                                          <p:spTgt spid="6"/>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10" grpId="0" animBg="1"/>
      <p:bldP spid="11" grpId="0" animBg="1"/>
      <p:bldP spid="12" grpId="0" animBg="1"/>
      <p:bldP spid="13" grpId="0" animBg="1"/>
      <p:bldP spid="14" grpId="0" animBg="1"/>
      <p:bldP spid="15" grpId="0" animBg="1"/>
      <p:bldP spid="1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normAutofit fontScale="90000"/>
          </a:bodyPr>
          <a:lstStyle/>
          <a:p>
            <a:endParaRPr lang="zh-CN" altLang="en-US"/>
          </a:p>
        </p:txBody>
      </p:sp>
    </p:spTree>
    <p:extLst>
      <p:ext uri="{BB962C8B-B14F-4D97-AF65-F5344CB8AC3E}">
        <p14:creationId xmlns:p14="http://schemas.microsoft.com/office/powerpoint/2010/main" val="35210974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07504" y="-67865"/>
            <a:ext cx="7772400" cy="857250"/>
          </a:xfrm>
        </p:spPr>
        <p:txBody>
          <a:bodyPr>
            <a:normAutofit/>
          </a:bodyPr>
          <a:lstStyle/>
          <a:p>
            <a:pPr eaLnBrk="1" hangingPunct="1"/>
            <a:r>
              <a:rPr lang="zh-CN" altLang="en-US" b="1" dirty="0">
                <a:solidFill>
                  <a:srgbClr val="CC0099"/>
                </a:solidFill>
                <a:ea typeface="隶书" pitchFamily="49" charset="-122"/>
              </a:rPr>
              <a:t>目标代码生成器的设计</a:t>
            </a:r>
          </a:p>
        </p:txBody>
      </p:sp>
      <p:sp>
        <p:nvSpPr>
          <p:cNvPr id="48131" name="Rectangle 3"/>
          <p:cNvSpPr>
            <a:spLocks noGrp="1" noChangeArrowheads="1"/>
          </p:cNvSpPr>
          <p:nvPr>
            <p:ph type="body" idx="1"/>
          </p:nvPr>
        </p:nvSpPr>
        <p:spPr/>
        <p:txBody>
          <a:bodyPr/>
          <a:lstStyle/>
          <a:p>
            <a:pPr eaLnBrk="1" hangingPunct="1"/>
            <a:endParaRPr lang="zh-CN" altLang="zh-CN" dirty="0"/>
          </a:p>
        </p:txBody>
      </p:sp>
      <p:pic>
        <p:nvPicPr>
          <p:cNvPr id="48132" name="Picture 4" descr="图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789386"/>
            <a:ext cx="4607916" cy="127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50">
            <a:extLst>
              <a:ext uri="{FF2B5EF4-FFF2-40B4-BE49-F238E27FC236}">
                <a16:creationId xmlns:a16="http://schemas.microsoft.com/office/drawing/2014/main" id="{346C4D6F-612E-338F-E417-BC5A5930D255}"/>
              </a:ext>
            </a:extLst>
          </p:cNvPr>
          <p:cNvSpPr>
            <a:spLocks noChangeArrowheads="1"/>
          </p:cNvSpPr>
          <p:nvPr/>
        </p:nvSpPr>
        <p:spPr bwMode="auto">
          <a:xfrm>
            <a:off x="482838" y="22422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a:extLst>
              <a:ext uri="{FF2B5EF4-FFF2-40B4-BE49-F238E27FC236}">
                <a16:creationId xmlns:a16="http://schemas.microsoft.com/office/drawing/2014/main" id="{69ACE5EE-65DE-F280-1FDD-0061AAEDB784}"/>
              </a:ext>
            </a:extLst>
          </p:cNvPr>
          <p:cNvGraphicFramePr>
            <a:graphicFrameLocks noChangeAspect="1"/>
          </p:cNvGraphicFramePr>
          <p:nvPr>
            <p:extLst>
              <p:ext uri="{D42A27DB-BD31-4B8C-83A1-F6EECF244321}">
                <p14:modId xmlns:p14="http://schemas.microsoft.com/office/powerpoint/2010/main" val="3086167667"/>
              </p:ext>
            </p:extLst>
          </p:nvPr>
        </p:nvGraphicFramePr>
        <p:xfrm>
          <a:off x="1029703" y="2462338"/>
          <a:ext cx="7635650" cy="2269652"/>
        </p:xfrm>
        <a:graphic>
          <a:graphicData uri="http://schemas.openxmlformats.org/presentationml/2006/ole">
            <mc:AlternateContent xmlns:mc="http://schemas.openxmlformats.org/markup-compatibility/2006">
              <mc:Choice xmlns:v="urn:schemas-microsoft-com:vml" Requires="v">
                <p:oleObj name="Visio" r:id="rId4" imgW="6505456" imgH="1933586" progId="Visio.Drawing.11">
                  <p:embed/>
                </p:oleObj>
              </mc:Choice>
              <mc:Fallback>
                <p:oleObj name="Visio" r:id="rId4" imgW="6505456" imgH="1933586"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9703" y="2462338"/>
                        <a:ext cx="7635650" cy="2269652"/>
                      </a:xfrm>
                      <a:prstGeom prst="rect">
                        <a:avLst/>
                      </a:prstGeom>
                      <a:noFill/>
                    </p:spPr>
                  </p:pic>
                </p:oleObj>
              </mc:Fallback>
            </mc:AlternateContent>
          </a:graphicData>
        </a:graphic>
      </p:graphicFrame>
    </p:spTree>
    <p:extLst>
      <p:ext uri="{BB962C8B-B14F-4D97-AF65-F5344CB8AC3E}">
        <p14:creationId xmlns:p14="http://schemas.microsoft.com/office/powerpoint/2010/main" val="1844604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6"/>
          <p:cNvSpPr>
            <a:spLocks noChangeArrowheads="1"/>
          </p:cNvSpPr>
          <p:nvPr/>
        </p:nvSpPr>
        <p:spPr bwMode="auto">
          <a:xfrm>
            <a:off x="4695825" y="-838468"/>
            <a:ext cx="19329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endParaRPr lang="zh-CN" altLang="en-US" sz="2800"/>
          </a:p>
        </p:txBody>
      </p:sp>
      <p:sp>
        <p:nvSpPr>
          <p:cNvPr id="2" name="Rectangle 4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a:extLst>
              <a:ext uri="{FF2B5EF4-FFF2-40B4-BE49-F238E27FC236}">
                <a16:creationId xmlns:a16="http://schemas.microsoft.com/office/drawing/2014/main" id="{D35B68E3-04A2-BC65-67C8-5726DAEFCB13}"/>
              </a:ext>
            </a:extLst>
          </p:cNvPr>
          <p:cNvGraphicFramePr>
            <a:graphicFrameLocks noChangeAspect="1"/>
          </p:cNvGraphicFramePr>
          <p:nvPr>
            <p:extLst>
              <p:ext uri="{D42A27DB-BD31-4B8C-83A1-F6EECF244321}">
                <p14:modId xmlns:p14="http://schemas.microsoft.com/office/powerpoint/2010/main" val="2619011761"/>
              </p:ext>
            </p:extLst>
          </p:nvPr>
        </p:nvGraphicFramePr>
        <p:xfrm>
          <a:off x="4572000" y="315249"/>
          <a:ext cx="3240360" cy="4508790"/>
        </p:xfrm>
        <a:graphic>
          <a:graphicData uri="http://schemas.openxmlformats.org/presentationml/2006/ole">
            <mc:AlternateContent xmlns:mc="http://schemas.openxmlformats.org/markup-compatibility/2006">
              <mc:Choice xmlns:v="urn:schemas-microsoft-com:vml" Requires="v">
                <p:oleObj name="Visio" r:id="rId3" imgW="3362425" imgH="4676889" progId="Visio.Drawing.15">
                  <p:embed/>
                </p:oleObj>
              </mc:Choice>
              <mc:Fallback>
                <p:oleObj name="Visio" r:id="rId3" imgW="3362425" imgH="4676889" progId="Visio.Drawing.15">
                  <p:embed/>
                  <p:pic>
                    <p:nvPicPr>
                      <p:cNvPr id="0" name="Object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15249"/>
                        <a:ext cx="3240360" cy="4508790"/>
                      </a:xfrm>
                      <a:prstGeom prst="rect">
                        <a:avLst/>
                      </a:prstGeom>
                      <a:noFill/>
                    </p:spPr>
                  </p:pic>
                </p:oleObj>
              </mc:Fallback>
            </mc:AlternateContent>
          </a:graphicData>
        </a:graphic>
      </p:graphicFrame>
      <p:sp>
        <p:nvSpPr>
          <p:cNvPr id="7" name="文本框 6">
            <a:extLst>
              <a:ext uri="{FF2B5EF4-FFF2-40B4-BE49-F238E27FC236}">
                <a16:creationId xmlns:a16="http://schemas.microsoft.com/office/drawing/2014/main" id="{35E597B6-BBC4-4CA9-7FB6-35C113F6B9FC}"/>
              </a:ext>
            </a:extLst>
          </p:cNvPr>
          <p:cNvSpPr txBox="1"/>
          <p:nvPr/>
        </p:nvSpPr>
        <p:spPr>
          <a:xfrm>
            <a:off x="179512" y="684658"/>
            <a:ext cx="3877985" cy="369332"/>
          </a:xfrm>
          <a:prstGeom prst="rect">
            <a:avLst/>
          </a:prstGeom>
          <a:noFill/>
        </p:spPr>
        <p:txBody>
          <a:bodyPr wrap="none" rtlCol="0">
            <a:spAutoFit/>
          </a:bodyPr>
          <a:lstStyle/>
          <a:p>
            <a:r>
              <a:rPr lang="zh-CN" altLang="en-US" dirty="0"/>
              <a:t>不带优化的目标代码生成的总的框架</a:t>
            </a:r>
          </a:p>
        </p:txBody>
      </p:sp>
      <p:sp>
        <p:nvSpPr>
          <p:cNvPr id="8" name="文本框 7">
            <a:extLst>
              <a:ext uri="{FF2B5EF4-FFF2-40B4-BE49-F238E27FC236}">
                <a16:creationId xmlns:a16="http://schemas.microsoft.com/office/drawing/2014/main" id="{E4CAFAAB-4F67-9FA4-8296-EB992599F633}"/>
              </a:ext>
            </a:extLst>
          </p:cNvPr>
          <p:cNvSpPr txBox="1"/>
          <p:nvPr/>
        </p:nvSpPr>
        <p:spPr>
          <a:xfrm>
            <a:off x="323528" y="2872556"/>
            <a:ext cx="3873347" cy="923330"/>
          </a:xfrm>
          <a:prstGeom prst="rect">
            <a:avLst/>
          </a:prstGeom>
          <a:noFill/>
        </p:spPr>
        <p:txBody>
          <a:bodyPr wrap="square" rtlCol="0">
            <a:spAutoFit/>
          </a:bodyPr>
          <a:lstStyle/>
          <a:p>
            <a:r>
              <a:rPr lang="zh-CN" altLang="en-US" dirty="0"/>
              <a:t>生成目标代码的工作中，还要调用寄存器分配函数，同时生成寄存器描述器和地址描述器</a:t>
            </a:r>
          </a:p>
        </p:txBody>
      </p:sp>
      <p:sp>
        <p:nvSpPr>
          <p:cNvPr id="9" name="文本框 8">
            <a:extLst>
              <a:ext uri="{FF2B5EF4-FFF2-40B4-BE49-F238E27FC236}">
                <a16:creationId xmlns:a16="http://schemas.microsoft.com/office/drawing/2014/main" id="{49954249-291C-1120-52BA-542A11F5F2FE}"/>
              </a:ext>
            </a:extLst>
          </p:cNvPr>
          <p:cNvSpPr txBox="1"/>
          <p:nvPr/>
        </p:nvSpPr>
        <p:spPr>
          <a:xfrm>
            <a:off x="363970" y="1868622"/>
            <a:ext cx="3873347" cy="923330"/>
          </a:xfrm>
          <a:prstGeom prst="rect">
            <a:avLst/>
          </a:prstGeom>
          <a:noFill/>
        </p:spPr>
        <p:txBody>
          <a:bodyPr wrap="square" rtlCol="0">
            <a:spAutoFit/>
          </a:bodyPr>
          <a:lstStyle/>
          <a:p>
            <a:r>
              <a:rPr lang="zh-CN" altLang="en-US" dirty="0"/>
              <a:t>获取一个基本块后，可以调用对应的函数对基本块进行优化，如</a:t>
            </a:r>
            <a:r>
              <a:rPr lang="en-US" altLang="zh-CN" dirty="0"/>
              <a:t>DAG</a:t>
            </a:r>
            <a:r>
              <a:rPr lang="zh-CN" altLang="en-US" dirty="0"/>
              <a:t>优化，或者其它优化方式</a:t>
            </a:r>
          </a:p>
        </p:txBody>
      </p:sp>
    </p:spTree>
    <p:extLst>
      <p:ext uri="{BB962C8B-B14F-4D97-AF65-F5344CB8AC3E}">
        <p14:creationId xmlns:p14="http://schemas.microsoft.com/office/powerpoint/2010/main" val="2905375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BE9F69A-C342-ECBC-74A8-A40A22BD1A40}"/>
              </a:ext>
            </a:extLst>
          </p:cNvPr>
          <p:cNvSpPr txBox="1"/>
          <p:nvPr/>
        </p:nvSpPr>
        <p:spPr>
          <a:xfrm>
            <a:off x="827584" y="483518"/>
            <a:ext cx="1107996" cy="646331"/>
          </a:xfrm>
          <a:prstGeom prst="rect">
            <a:avLst/>
          </a:prstGeom>
          <a:noFill/>
        </p:spPr>
        <p:txBody>
          <a:bodyPr wrap="none" rtlCol="0">
            <a:spAutoFit/>
          </a:bodyPr>
          <a:lstStyle/>
          <a:p>
            <a:r>
              <a:rPr lang="zh-CN" altLang="en-US" sz="3600" dirty="0"/>
              <a:t>总结</a:t>
            </a:r>
          </a:p>
        </p:txBody>
      </p:sp>
      <p:graphicFrame>
        <p:nvGraphicFramePr>
          <p:cNvPr id="6" name="对象 5">
            <a:extLst>
              <a:ext uri="{FF2B5EF4-FFF2-40B4-BE49-F238E27FC236}">
                <a16:creationId xmlns:a16="http://schemas.microsoft.com/office/drawing/2014/main" id="{158E3BA4-9F43-9AA4-A171-E570890F1C31}"/>
              </a:ext>
            </a:extLst>
          </p:cNvPr>
          <p:cNvGraphicFramePr>
            <a:graphicFrameLocks noChangeAspect="1"/>
          </p:cNvGraphicFramePr>
          <p:nvPr>
            <p:extLst>
              <p:ext uri="{D42A27DB-BD31-4B8C-83A1-F6EECF244321}">
                <p14:modId xmlns:p14="http://schemas.microsoft.com/office/powerpoint/2010/main" val="4098090776"/>
              </p:ext>
            </p:extLst>
          </p:nvPr>
        </p:nvGraphicFramePr>
        <p:xfrm>
          <a:off x="1547664" y="776967"/>
          <a:ext cx="6768752" cy="4071430"/>
        </p:xfrm>
        <a:graphic>
          <a:graphicData uri="http://schemas.openxmlformats.org/presentationml/2006/ole">
            <mc:AlternateContent xmlns:mc="http://schemas.openxmlformats.org/markup-compatibility/2006">
              <mc:Choice xmlns:v="urn:schemas-microsoft-com:vml" Requires="v">
                <p:oleObj name="Visio" r:id="rId2" imgW="5057694" imgH="3047909" progId="Visio.Drawing.15">
                  <p:embed/>
                </p:oleObj>
              </mc:Choice>
              <mc:Fallback>
                <p:oleObj name="Visio" r:id="rId2" imgW="5057694" imgH="3047909" progId="Visio.Drawing.15">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776967"/>
                        <a:ext cx="6768752" cy="4071430"/>
                      </a:xfrm>
                      <a:prstGeom prst="rect">
                        <a:avLst/>
                      </a:prstGeom>
                      <a:noFill/>
                    </p:spPr>
                  </p:pic>
                </p:oleObj>
              </mc:Fallback>
            </mc:AlternateContent>
          </a:graphicData>
        </a:graphic>
      </p:graphicFrame>
    </p:spTree>
    <p:extLst>
      <p:ext uri="{BB962C8B-B14F-4D97-AF65-F5344CB8AC3E}">
        <p14:creationId xmlns:p14="http://schemas.microsoft.com/office/powerpoint/2010/main" val="6986437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模板1">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模板1</Template>
  <TotalTime>18239</TotalTime>
  <Words>7184</Words>
  <Application>Microsoft Office PowerPoint</Application>
  <PresentationFormat>全屏显示(16:9)</PresentationFormat>
  <Paragraphs>888</Paragraphs>
  <Slides>63</Slides>
  <Notes>21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63</vt:i4>
      </vt:variant>
    </vt:vector>
  </HeadingPairs>
  <TitlesOfParts>
    <vt:vector size="77" baseType="lpstr">
      <vt:lpstr>隶书</vt:lpstr>
      <vt:lpstr>宋体</vt:lpstr>
      <vt:lpstr>Arial</vt:lpstr>
      <vt:lpstr>Calibri</vt:lpstr>
      <vt:lpstr>Lucida Sans Unicode</vt:lpstr>
      <vt:lpstr>Symbol</vt:lpstr>
      <vt:lpstr>Times New Roman</vt:lpstr>
      <vt:lpstr>Verdana</vt:lpstr>
      <vt:lpstr>Wingdings</vt:lpstr>
      <vt:lpstr>Wingdings 2</vt:lpstr>
      <vt:lpstr>Wingdings 3</vt:lpstr>
      <vt:lpstr>模板1</vt:lpstr>
      <vt:lpstr>Visio</vt:lpstr>
      <vt:lpstr>Microsoft Visio 2003-2010 绘图</vt:lpstr>
      <vt:lpstr>第八章 目标代码生成</vt:lpstr>
      <vt:lpstr>本章要求</vt:lpstr>
      <vt:lpstr>目标代码生成所处的位置：</vt:lpstr>
      <vt:lpstr>代码生成中问题探究</vt:lpstr>
      <vt:lpstr>1.代码生成器的输入</vt:lpstr>
      <vt:lpstr>2.代码生成器的输出：目标程序</vt:lpstr>
      <vt:lpstr>3.指令选择</vt:lpstr>
      <vt:lpstr>指令选择的例子</vt:lpstr>
      <vt:lpstr>4.寄存器分配</vt:lpstr>
      <vt:lpstr>寄存器分配</vt:lpstr>
      <vt:lpstr>5.计算次序选择</vt:lpstr>
      <vt:lpstr>6.存储管理及地址计算</vt:lpstr>
      <vt:lpstr>一个代码生成器的输入</vt:lpstr>
      <vt:lpstr>指令地址的决定</vt:lpstr>
      <vt:lpstr>PowerPoint 演示文稿</vt:lpstr>
      <vt:lpstr>PowerPoint 演示文稿</vt:lpstr>
      <vt:lpstr>目标机及指令系统简介</vt:lpstr>
      <vt:lpstr>目标机及指令系统简介</vt:lpstr>
      <vt:lpstr>PowerPoint 演示文稿</vt:lpstr>
      <vt:lpstr>标志寄存器</vt:lpstr>
      <vt:lpstr>80x86指令系统介绍</vt:lpstr>
      <vt:lpstr>PowerPoint 演示文稿</vt:lpstr>
      <vt:lpstr>PowerPoint 演示文稿</vt:lpstr>
      <vt:lpstr>PowerPoint 演示文稿</vt:lpstr>
      <vt:lpstr>PowerPoint 演示文稿</vt:lpstr>
      <vt:lpstr>简单的代码生成器</vt:lpstr>
      <vt:lpstr>关系运算和布尔运算的目标代码生成</vt:lpstr>
      <vt:lpstr>条件跳转的目标代码生成</vt:lpstr>
      <vt:lpstr>函数相关四元式     的目标代码生成</vt:lpstr>
      <vt:lpstr>各个中间代码对应的目标代码列表(见附录C)</vt:lpstr>
      <vt:lpstr>例：利用简单的代码生成算法将这个赋值表达式翻译为目标代码</vt:lpstr>
      <vt:lpstr>main和sys的目标代码——构成完整的汇编程序的头和尾</vt:lpstr>
      <vt:lpstr>PowerPoint 演示文稿</vt:lpstr>
      <vt:lpstr>基本块的代码生成器</vt:lpstr>
      <vt:lpstr>基本块的代码生成器</vt:lpstr>
      <vt:lpstr>变量的引用信息和活跃信息</vt:lpstr>
      <vt:lpstr>变量A的引用信息和活跃信息</vt:lpstr>
      <vt:lpstr>引用信息和活跃信息</vt:lpstr>
      <vt:lpstr>某变量的引用信息和活跃信息的计算方法</vt:lpstr>
      <vt:lpstr>计算引用信息和活跃信息的算法</vt:lpstr>
      <vt:lpstr>例：计算这个赋值语句翻译后的四元式中有关变量的引用信息和活跃信息，d=(a-b)+(a-c)+(a-c);</vt:lpstr>
      <vt:lpstr>PowerPoint 演示文稿</vt:lpstr>
      <vt:lpstr>PowerPoint 演示文稿</vt:lpstr>
      <vt:lpstr>寄存器描述和地址描述</vt:lpstr>
      <vt:lpstr>寄存器描述和地址描述</vt:lpstr>
      <vt:lpstr>寄存器描述器</vt:lpstr>
      <vt:lpstr>地址描述器</vt:lpstr>
      <vt:lpstr> 寄存器指派算法</vt:lpstr>
      <vt:lpstr>保存寄存器中的数据</vt:lpstr>
      <vt:lpstr>PowerPoint 演示文稿</vt:lpstr>
      <vt:lpstr>PowerPoint 演示文稿</vt:lpstr>
      <vt:lpstr>基本块的代码生成</vt:lpstr>
      <vt:lpstr>PowerPoint 演示文稿</vt:lpstr>
      <vt:lpstr>PowerPoint 演示文稿</vt:lpstr>
      <vt:lpstr>PowerPoint 演示文稿</vt:lpstr>
      <vt:lpstr>从DAG生成目标代码</vt:lpstr>
      <vt:lpstr>PowerPoint 演示文稿</vt:lpstr>
      <vt:lpstr>为DAG表示的中间代码排序</vt:lpstr>
      <vt:lpstr>例：利用DAG重排下述中间代码</vt:lpstr>
      <vt:lpstr>PowerPoint 演示文稿</vt:lpstr>
      <vt:lpstr>目标代码生成器的设计</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第八章 目标代码生成</dc:title>
  <dc:creator>hxy</dc:creator>
  <cp:lastModifiedBy>CQUT</cp:lastModifiedBy>
  <cp:revision>172</cp:revision>
  <dcterms:created xsi:type="dcterms:W3CDTF">2020-04-19T12:20:57Z</dcterms:created>
  <dcterms:modified xsi:type="dcterms:W3CDTF">2023-08-05T05:55:37Z</dcterms:modified>
</cp:coreProperties>
</file>